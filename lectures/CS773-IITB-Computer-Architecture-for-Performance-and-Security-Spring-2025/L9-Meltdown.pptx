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56" r:id="rId2"/>
    <p:sldId id="1341" r:id="rId3"/>
    <p:sldId id="426" r:id="rId4"/>
    <p:sldId id="1345" r:id="rId5"/>
    <p:sldId id="1351" r:id="rId6"/>
    <p:sldId id="1350" r:id="rId7"/>
    <p:sldId id="1346" r:id="rId8"/>
    <p:sldId id="1347" r:id="rId9"/>
    <p:sldId id="1005" r:id="rId10"/>
    <p:sldId id="1348" r:id="rId11"/>
    <p:sldId id="1349" r:id="rId12"/>
    <p:sldId id="122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63" d="100"/>
          <a:sy n="63" d="100"/>
        </p:scale>
        <p:origin x="8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300273-A75A-40C8-A1BF-43497AA16139}" type="datetimeFigureOut">
              <a:rPr lang="en-IN" smtClean="0"/>
              <a:t>18-02-2025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9DD372-930E-48E8-B3B2-DE0E135E26B6}" type="slidenum">
              <a:rPr lang="en-IN" smtClean="0"/>
              <a:t>‹#›</a:t>
            </a:fld>
            <a:endParaRPr lang="en-IN"/>
          </a:p>
        </p:txBody>
      </p:sp>
    </p:spTree>
    <p:extLst>
      <p:ext uri="{BB962C8B-B14F-4D97-AF65-F5344CB8AC3E}">
        <p14:creationId xmlns:p14="http://schemas.microsoft.com/office/powerpoint/2010/main" val="1261707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s://www.cse.iitb.ac.in/~biswa/"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864CB-0AC2-496D-B597-B1F243F5BFD2}"/>
              </a:ext>
            </a:extLst>
          </p:cNvPr>
          <p:cNvSpPr>
            <a:spLocks noGrp="1"/>
          </p:cNvSpPr>
          <p:nvPr>
            <p:ph type="ctrTitle" hasCustomPrompt="1"/>
          </p:nvPr>
        </p:nvSpPr>
        <p:spPr>
          <a:xfrm>
            <a:off x="923777" y="1122363"/>
            <a:ext cx="10203767" cy="2387600"/>
          </a:xfrm>
        </p:spPr>
        <p:txBody>
          <a:bodyPr anchor="b"/>
          <a:lstStyle>
            <a:lvl1pPr algn="ctr">
              <a:defRPr sz="6000"/>
            </a:lvl1pPr>
          </a:lstStyle>
          <a:p>
            <a:r>
              <a:rPr lang="en-US" dirty="0"/>
              <a:t>CS305: Computer Architecture</a:t>
            </a:r>
            <a:endParaRPr lang="en-IN" dirty="0"/>
          </a:p>
        </p:txBody>
      </p:sp>
      <p:sp>
        <p:nvSpPr>
          <p:cNvPr id="3" name="Subtitle 2">
            <a:extLst>
              <a:ext uri="{FF2B5EF4-FFF2-40B4-BE49-F238E27FC236}">
                <a16:creationId xmlns:a16="http://schemas.microsoft.com/office/drawing/2014/main" id="{5AE45455-008C-4FEE-A9C6-8894363DCE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6" name="Slide Number Placeholder 5">
            <a:extLst>
              <a:ext uri="{FF2B5EF4-FFF2-40B4-BE49-F238E27FC236}">
                <a16:creationId xmlns:a16="http://schemas.microsoft.com/office/drawing/2014/main" id="{C42190CD-44DD-4170-8E27-65C897B7F8FF}"/>
              </a:ext>
            </a:extLst>
          </p:cNvPr>
          <p:cNvSpPr>
            <a:spLocks noGrp="1"/>
          </p:cNvSpPr>
          <p:nvPr>
            <p:ph type="sldNum" sz="quarter" idx="12"/>
          </p:nvPr>
        </p:nvSpPr>
        <p:spPr/>
        <p:txBody>
          <a:bodyPr/>
          <a:lstStyle>
            <a:lvl1pPr>
              <a:defRPr sz="2800">
                <a:solidFill>
                  <a:schemeClr val="tx1"/>
                </a:solidFill>
              </a:defRPr>
            </a:lvl1pPr>
          </a:lstStyle>
          <a:p>
            <a:fld id="{B8651ABE-1138-46C6-9A43-7FCD4EB2550C}" type="slidenum">
              <a:rPr lang="en-IN" smtClean="0"/>
              <a:pPr/>
              <a:t>‹#›</a:t>
            </a:fld>
            <a:endParaRPr lang="en-IN" dirty="0"/>
          </a:p>
        </p:txBody>
      </p:sp>
      <p:pic>
        <p:nvPicPr>
          <p:cNvPr id="8" name="Picture 7">
            <a:extLst>
              <a:ext uri="{FF2B5EF4-FFF2-40B4-BE49-F238E27FC236}">
                <a16:creationId xmlns:a16="http://schemas.microsoft.com/office/drawing/2014/main" id="{E7C8CE0C-3100-4BD4-A909-E56C19240112}"/>
              </a:ext>
            </a:extLst>
          </p:cNvPr>
          <p:cNvPicPr>
            <a:picLocks noChangeAspect="1"/>
          </p:cNvPicPr>
          <p:nvPr userDrawn="1"/>
        </p:nvPicPr>
        <p:blipFill>
          <a:blip r:embed="rId2"/>
          <a:stretch>
            <a:fillRect/>
          </a:stretch>
        </p:blipFill>
        <p:spPr>
          <a:xfrm>
            <a:off x="9167446" y="71035"/>
            <a:ext cx="2841820" cy="865176"/>
          </a:xfrm>
          <a:prstGeom prst="rect">
            <a:avLst/>
          </a:prstGeom>
        </p:spPr>
      </p:pic>
      <p:pic>
        <p:nvPicPr>
          <p:cNvPr id="1026" name="Picture 2" descr="IIT Bombay | IIT Bombay">
            <a:extLst>
              <a:ext uri="{FF2B5EF4-FFF2-40B4-BE49-F238E27FC236}">
                <a16:creationId xmlns:a16="http://schemas.microsoft.com/office/drawing/2014/main" id="{17C6F939-4954-4EA5-BA91-2B9038A7951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1582" y="26560"/>
            <a:ext cx="1130218" cy="110166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D6242A2-99C7-43EF-9FF6-5F0AFFFDA1DF}"/>
              </a:ext>
            </a:extLst>
          </p:cNvPr>
          <p:cNvSpPr txBox="1"/>
          <p:nvPr userDrawn="1"/>
        </p:nvSpPr>
        <p:spPr>
          <a:xfrm>
            <a:off x="0" y="6354386"/>
            <a:ext cx="6096000" cy="954107"/>
          </a:xfrm>
          <a:prstGeom prst="rect">
            <a:avLst/>
          </a:prstGeom>
          <a:noFill/>
        </p:spPr>
        <p:txBody>
          <a:bodyPr wrap="square">
            <a:spAutoFit/>
          </a:bodyPr>
          <a:lstStyle/>
          <a:p>
            <a:r>
              <a:rPr lang="en-IN" sz="2800" i="1" dirty="0">
                <a:hlinkClick r:id="rId4"/>
              </a:rPr>
              <a:t>https://www.cse.iitb.ac.in/~biswa/</a:t>
            </a:r>
            <a:endParaRPr lang="en-IN" sz="2800" i="1" dirty="0"/>
          </a:p>
          <a:p>
            <a:endParaRPr lang="en-IN" sz="2800" i="1" dirty="0"/>
          </a:p>
        </p:txBody>
      </p:sp>
    </p:spTree>
    <p:extLst>
      <p:ext uri="{BB962C8B-B14F-4D97-AF65-F5344CB8AC3E}">
        <p14:creationId xmlns:p14="http://schemas.microsoft.com/office/powerpoint/2010/main" val="167928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7915-0F56-4288-8471-3449AA5305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8DA509-FC2C-413C-8D9B-6E84963ADB7A}"/>
              </a:ext>
            </a:extLst>
          </p:cNvPr>
          <p:cNvSpPr>
            <a:spLocks noGrp="1"/>
          </p:cNvSpPr>
          <p:nvPr>
            <p:ph idx="1"/>
          </p:nvPr>
        </p:nvSpPr>
        <p:spPr/>
        <p:txBody>
          <a:bodyPr/>
          <a:lstStyle>
            <a:lvl1pPr>
              <a:defRPr sz="36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56542D7E-424B-47EC-A6D1-6B6B178453B5}"/>
              </a:ext>
            </a:extLst>
          </p:cNvPr>
          <p:cNvSpPr>
            <a:spLocks noGrp="1"/>
          </p:cNvSpPr>
          <p:nvPr>
            <p:ph type="ftr" sz="quarter" idx="11"/>
          </p:nvPr>
        </p:nvSpPr>
        <p:spPr/>
        <p:txBody>
          <a:bodyPr/>
          <a:lstStyle>
            <a:lvl1pPr>
              <a:defRPr sz="2800">
                <a:solidFill>
                  <a:schemeClr val="tx1"/>
                </a:solidFill>
              </a:defRPr>
            </a:lvl1pPr>
          </a:lstStyle>
          <a:p>
            <a:r>
              <a:rPr lang="en-IN" dirty="0"/>
              <a:t>Computer Architecture</a:t>
            </a:r>
          </a:p>
        </p:txBody>
      </p:sp>
      <p:sp>
        <p:nvSpPr>
          <p:cNvPr id="6" name="Slide Number Placeholder 5">
            <a:extLst>
              <a:ext uri="{FF2B5EF4-FFF2-40B4-BE49-F238E27FC236}">
                <a16:creationId xmlns:a16="http://schemas.microsoft.com/office/drawing/2014/main" id="{2962FB26-2A3A-4BC7-9A52-336ED9223FA4}"/>
              </a:ext>
            </a:extLst>
          </p:cNvPr>
          <p:cNvSpPr>
            <a:spLocks noGrp="1"/>
          </p:cNvSpPr>
          <p:nvPr>
            <p:ph type="sldNum" sz="quarter" idx="12"/>
          </p:nvPr>
        </p:nvSpPr>
        <p:spPr/>
        <p:txBody>
          <a:bodyPr/>
          <a:lstStyle>
            <a:lvl1pPr>
              <a:defRPr sz="2800">
                <a:solidFill>
                  <a:schemeClr val="tx1"/>
                </a:solidFill>
              </a:defRPr>
            </a:lvl1pPr>
          </a:lstStyle>
          <a:p>
            <a:fld id="{B8651ABE-1138-46C6-9A43-7FCD4EB2550C}" type="slidenum">
              <a:rPr lang="en-IN" smtClean="0"/>
              <a:pPr/>
              <a:t>‹#›</a:t>
            </a:fld>
            <a:endParaRPr lang="en-IN" dirty="0"/>
          </a:p>
        </p:txBody>
      </p:sp>
    </p:spTree>
    <p:extLst>
      <p:ext uri="{BB962C8B-B14F-4D97-AF65-F5344CB8AC3E}">
        <p14:creationId xmlns:p14="http://schemas.microsoft.com/office/powerpoint/2010/main" val="2715432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15600" y="582829"/>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2800"/>
              <a:buFont typeface="Cambria"/>
              <a:buNone/>
              <a:defRPr>
                <a:latin typeface="Cambria"/>
                <a:ea typeface="Cambria"/>
                <a:cs typeface="Cambria"/>
                <a:sym typeface="Cambria"/>
              </a:defRPr>
            </a:lvl2pPr>
            <a:lvl3pPr lvl="2">
              <a:spcBef>
                <a:spcPts val="0"/>
              </a:spcBef>
              <a:spcAft>
                <a:spcPts val="0"/>
              </a:spcAft>
              <a:buSzPts val="2800"/>
              <a:buFont typeface="Cambria"/>
              <a:buNone/>
              <a:defRPr>
                <a:latin typeface="Cambria"/>
                <a:ea typeface="Cambria"/>
                <a:cs typeface="Cambria"/>
                <a:sym typeface="Cambria"/>
              </a:defRPr>
            </a:lvl3pPr>
            <a:lvl4pPr lvl="3">
              <a:spcBef>
                <a:spcPts val="0"/>
              </a:spcBef>
              <a:spcAft>
                <a:spcPts val="0"/>
              </a:spcAft>
              <a:buSzPts val="2800"/>
              <a:buFont typeface="Cambria"/>
              <a:buNone/>
              <a:defRPr>
                <a:latin typeface="Cambria"/>
                <a:ea typeface="Cambria"/>
                <a:cs typeface="Cambria"/>
                <a:sym typeface="Cambria"/>
              </a:defRPr>
            </a:lvl4pPr>
            <a:lvl5pPr lvl="4">
              <a:spcBef>
                <a:spcPts val="0"/>
              </a:spcBef>
              <a:spcAft>
                <a:spcPts val="0"/>
              </a:spcAft>
              <a:buSzPts val="2800"/>
              <a:buFont typeface="Cambria"/>
              <a:buNone/>
              <a:defRPr>
                <a:latin typeface="Cambria"/>
                <a:ea typeface="Cambria"/>
                <a:cs typeface="Cambria"/>
                <a:sym typeface="Cambria"/>
              </a:defRPr>
            </a:lvl5pPr>
            <a:lvl6pPr lvl="5">
              <a:spcBef>
                <a:spcPts val="0"/>
              </a:spcBef>
              <a:spcAft>
                <a:spcPts val="0"/>
              </a:spcAft>
              <a:buSzPts val="2800"/>
              <a:buFont typeface="Cambria"/>
              <a:buNone/>
              <a:defRPr>
                <a:latin typeface="Cambria"/>
                <a:ea typeface="Cambria"/>
                <a:cs typeface="Cambria"/>
                <a:sym typeface="Cambria"/>
              </a:defRPr>
            </a:lvl6pPr>
            <a:lvl7pPr lvl="6">
              <a:spcBef>
                <a:spcPts val="0"/>
              </a:spcBef>
              <a:spcAft>
                <a:spcPts val="0"/>
              </a:spcAft>
              <a:buSzPts val="2800"/>
              <a:buFont typeface="Cambria"/>
              <a:buNone/>
              <a:defRPr>
                <a:latin typeface="Cambria"/>
                <a:ea typeface="Cambria"/>
                <a:cs typeface="Cambria"/>
                <a:sym typeface="Cambria"/>
              </a:defRPr>
            </a:lvl7pPr>
            <a:lvl8pPr lvl="7">
              <a:spcBef>
                <a:spcPts val="0"/>
              </a:spcBef>
              <a:spcAft>
                <a:spcPts val="0"/>
              </a:spcAft>
              <a:buSzPts val="2800"/>
              <a:buFont typeface="Cambria"/>
              <a:buNone/>
              <a:defRPr>
                <a:latin typeface="Cambria"/>
                <a:ea typeface="Cambria"/>
                <a:cs typeface="Cambria"/>
                <a:sym typeface="Cambria"/>
              </a:defRPr>
            </a:lvl8pPr>
            <a:lvl9pPr lvl="8">
              <a:spcBef>
                <a:spcPts val="0"/>
              </a:spcBef>
              <a:spcAft>
                <a:spcPts val="0"/>
              </a:spcAft>
              <a:buSzPts val="2800"/>
              <a:buFont typeface="Cambria"/>
              <a:buNone/>
              <a:defRPr>
                <a:latin typeface="Cambria"/>
                <a:ea typeface="Cambria"/>
                <a:cs typeface="Cambria"/>
                <a:sym typeface="Cambria"/>
              </a:defRPr>
            </a:lvl9pPr>
          </a:lstStyle>
          <a:p>
            <a:endParaRPr/>
          </a:p>
        </p:txBody>
      </p:sp>
      <p:sp>
        <p:nvSpPr>
          <p:cNvPr id="25" name="Google Shape;25;p4"/>
          <p:cNvSpPr txBox="1">
            <a:spLocks noGrp="1"/>
          </p:cNvSpPr>
          <p:nvPr>
            <p:ph type="body" idx="1"/>
          </p:nvPr>
        </p:nvSpPr>
        <p:spPr>
          <a:xfrm>
            <a:off x="415600" y="1536633"/>
            <a:ext cx="11360800" cy="5000800"/>
          </a:xfrm>
          <a:prstGeom prst="rect">
            <a:avLst/>
          </a:prstGeom>
        </p:spPr>
        <p:txBody>
          <a:bodyPr spcFirstLastPara="1" wrap="square" lIns="91425" tIns="91425" rIns="91425" bIns="91425" anchor="t" anchorCtr="0">
            <a:noAutofit/>
          </a:bodyPr>
          <a:lstStyle>
            <a:lvl1pPr marL="609585" lvl="0" indent="-558786">
              <a:spcBef>
                <a:spcPts val="0"/>
              </a:spcBef>
              <a:spcAft>
                <a:spcPts val="0"/>
              </a:spcAft>
              <a:buSzPts val="3000"/>
              <a:buChar char="●"/>
              <a:defRPr/>
            </a:lvl1pPr>
            <a:lvl2pPr marL="1219170" lvl="1" indent="-558786">
              <a:spcBef>
                <a:spcPts val="2133"/>
              </a:spcBef>
              <a:spcAft>
                <a:spcPts val="0"/>
              </a:spcAft>
              <a:buSzPts val="3000"/>
              <a:buFont typeface="Cambria"/>
              <a:buChar char="○"/>
              <a:defRPr>
                <a:latin typeface="Cambria"/>
                <a:ea typeface="Cambria"/>
                <a:cs typeface="Cambria"/>
                <a:sym typeface="Cambria"/>
              </a:defRPr>
            </a:lvl2pPr>
            <a:lvl3pPr marL="1828754" lvl="2" indent="-558786">
              <a:spcBef>
                <a:spcPts val="2133"/>
              </a:spcBef>
              <a:spcAft>
                <a:spcPts val="0"/>
              </a:spcAft>
              <a:buSzPts val="3000"/>
              <a:buFont typeface="Cambria"/>
              <a:buChar char="■"/>
              <a:defRPr>
                <a:latin typeface="Cambria"/>
                <a:ea typeface="Cambria"/>
                <a:cs typeface="Cambria"/>
                <a:sym typeface="Cambria"/>
              </a:defRPr>
            </a:lvl3pPr>
            <a:lvl4pPr marL="2438339" lvl="3" indent="-558786">
              <a:spcBef>
                <a:spcPts val="2133"/>
              </a:spcBef>
              <a:spcAft>
                <a:spcPts val="0"/>
              </a:spcAft>
              <a:buSzPts val="3000"/>
              <a:buFont typeface="Cambria"/>
              <a:buChar char="●"/>
              <a:defRPr>
                <a:latin typeface="Cambria"/>
                <a:ea typeface="Cambria"/>
                <a:cs typeface="Cambria"/>
                <a:sym typeface="Cambria"/>
              </a:defRPr>
            </a:lvl4pPr>
            <a:lvl5pPr marL="3047924" lvl="4" indent="-558786">
              <a:spcBef>
                <a:spcPts val="2133"/>
              </a:spcBef>
              <a:spcAft>
                <a:spcPts val="0"/>
              </a:spcAft>
              <a:buSzPts val="3000"/>
              <a:buFont typeface="Cambria"/>
              <a:buChar char="○"/>
              <a:defRPr>
                <a:latin typeface="Cambria"/>
                <a:ea typeface="Cambria"/>
                <a:cs typeface="Cambria"/>
                <a:sym typeface="Cambria"/>
              </a:defRPr>
            </a:lvl5pPr>
            <a:lvl6pPr marL="3657509" lvl="5" indent="-558786">
              <a:spcBef>
                <a:spcPts val="2133"/>
              </a:spcBef>
              <a:spcAft>
                <a:spcPts val="0"/>
              </a:spcAft>
              <a:buSzPts val="3000"/>
              <a:buFont typeface="Cambria"/>
              <a:buChar char="■"/>
              <a:defRPr>
                <a:latin typeface="Cambria"/>
                <a:ea typeface="Cambria"/>
                <a:cs typeface="Cambria"/>
                <a:sym typeface="Cambria"/>
              </a:defRPr>
            </a:lvl6pPr>
            <a:lvl7pPr marL="4267093" lvl="6" indent="-558786">
              <a:spcBef>
                <a:spcPts val="2133"/>
              </a:spcBef>
              <a:spcAft>
                <a:spcPts val="0"/>
              </a:spcAft>
              <a:buSzPts val="3000"/>
              <a:buFont typeface="Cambria"/>
              <a:buChar char="●"/>
              <a:defRPr>
                <a:latin typeface="Cambria"/>
                <a:ea typeface="Cambria"/>
                <a:cs typeface="Cambria"/>
                <a:sym typeface="Cambria"/>
              </a:defRPr>
            </a:lvl7pPr>
            <a:lvl8pPr marL="4876678" lvl="7" indent="-558786">
              <a:spcBef>
                <a:spcPts val="2133"/>
              </a:spcBef>
              <a:spcAft>
                <a:spcPts val="0"/>
              </a:spcAft>
              <a:buSzPts val="3000"/>
              <a:buFont typeface="Cambria"/>
              <a:buChar char="○"/>
              <a:defRPr>
                <a:latin typeface="Cambria"/>
                <a:ea typeface="Cambria"/>
                <a:cs typeface="Cambria"/>
                <a:sym typeface="Cambria"/>
              </a:defRPr>
            </a:lvl8pPr>
            <a:lvl9pPr marL="5486263" lvl="8" indent="-558786">
              <a:spcBef>
                <a:spcPts val="2133"/>
              </a:spcBef>
              <a:spcAft>
                <a:spcPts val="2133"/>
              </a:spcAft>
              <a:buSzPts val="3000"/>
              <a:buFont typeface="Cambria"/>
              <a:buChar char="■"/>
              <a:defRPr>
                <a:latin typeface="Cambria"/>
                <a:ea typeface="Cambria"/>
                <a:cs typeface="Cambria"/>
                <a:sym typeface="Cambria"/>
              </a:defRPr>
            </a:lvl9pPr>
          </a:lstStyle>
          <a:p>
            <a:endParaRPr/>
          </a:p>
        </p:txBody>
      </p:sp>
      <p:sp>
        <p:nvSpPr>
          <p:cNvPr id="26" name="Google Shape;26;p4"/>
          <p:cNvSpPr txBox="1">
            <a:spLocks noGrp="1"/>
          </p:cNvSpPr>
          <p:nvPr>
            <p:ph type="sldNum" idx="12"/>
          </p:nvPr>
        </p:nvSpPr>
        <p:spPr>
          <a:xfrm>
            <a:off x="11222173" y="6286400"/>
            <a:ext cx="920000" cy="524800"/>
          </a:xfrm>
          <a:prstGeom prst="rect">
            <a:avLst/>
          </a:prstGeom>
        </p:spPr>
        <p:txBody>
          <a:bodyPr spcFirstLastPara="1" wrap="square" lIns="91425" tIns="91425" rIns="91425" bIns="91425" anchor="ctr" anchorCtr="0">
            <a:noAutofit/>
          </a:bodyPr>
          <a:lstStyle>
            <a:lvl1pPr lvl="0" algn="r">
              <a:buNone/>
              <a:defRPr sz="2400">
                <a:solidFill>
                  <a:srgbClr val="B22222"/>
                </a:solidFill>
              </a:defRPr>
            </a:lvl1pPr>
            <a:lvl2pPr lvl="1" algn="r">
              <a:buNone/>
              <a:defRPr sz="2400">
                <a:solidFill>
                  <a:srgbClr val="B22222"/>
                </a:solidFill>
              </a:defRPr>
            </a:lvl2pPr>
            <a:lvl3pPr lvl="2" algn="r">
              <a:buNone/>
              <a:defRPr sz="2400">
                <a:solidFill>
                  <a:srgbClr val="B22222"/>
                </a:solidFill>
              </a:defRPr>
            </a:lvl3pPr>
            <a:lvl4pPr lvl="3" algn="r">
              <a:buNone/>
              <a:defRPr sz="2400">
                <a:solidFill>
                  <a:srgbClr val="B22222"/>
                </a:solidFill>
              </a:defRPr>
            </a:lvl4pPr>
            <a:lvl5pPr lvl="4" algn="r">
              <a:buNone/>
              <a:defRPr sz="2400">
                <a:solidFill>
                  <a:srgbClr val="B22222"/>
                </a:solidFill>
              </a:defRPr>
            </a:lvl5pPr>
            <a:lvl6pPr lvl="5" algn="r">
              <a:buNone/>
              <a:defRPr sz="2400">
                <a:solidFill>
                  <a:srgbClr val="B22222"/>
                </a:solidFill>
              </a:defRPr>
            </a:lvl6pPr>
            <a:lvl7pPr lvl="6" algn="r">
              <a:buNone/>
              <a:defRPr sz="2400">
                <a:solidFill>
                  <a:srgbClr val="B22222"/>
                </a:solidFill>
              </a:defRPr>
            </a:lvl7pPr>
            <a:lvl8pPr lvl="7" algn="r">
              <a:buNone/>
              <a:defRPr sz="2400">
                <a:solidFill>
                  <a:srgbClr val="B22222"/>
                </a:solidFill>
              </a:defRPr>
            </a:lvl8pPr>
            <a:lvl9pPr lvl="8" algn="r">
              <a:buNone/>
              <a:defRPr sz="2400">
                <a:solidFill>
                  <a:srgbClr val="B22222"/>
                </a:solidFill>
              </a:defRPr>
            </a:lvl9pPr>
          </a:lstStyle>
          <a:p>
            <a:fld id="{00000000-1234-1234-1234-123412341234}" type="slidenum">
              <a:rPr lang="en" smtClean="0"/>
              <a:pPr/>
              <a:t>‹#›</a:t>
            </a:fld>
            <a:endParaRPr lang="en"/>
          </a:p>
        </p:txBody>
      </p:sp>
      <p:cxnSp>
        <p:nvCxnSpPr>
          <p:cNvPr id="27" name="Google Shape;27;p4"/>
          <p:cNvCxnSpPr/>
          <p:nvPr/>
        </p:nvCxnSpPr>
        <p:spPr>
          <a:xfrm rot="10800000" flipH="1">
            <a:off x="511048" y="1464833"/>
            <a:ext cx="11459600" cy="1600"/>
          </a:xfrm>
          <a:prstGeom prst="straightConnector1">
            <a:avLst/>
          </a:prstGeom>
          <a:noFill/>
          <a:ln w="19050" cap="flat" cmpd="sng">
            <a:solidFill>
              <a:srgbClr val="B22222"/>
            </a:solidFill>
            <a:prstDash val="solid"/>
            <a:round/>
            <a:headEnd type="none" w="med" len="med"/>
            <a:tailEnd type="none" w="med" len="med"/>
          </a:ln>
        </p:spPr>
      </p:cxnSp>
      <p:sp>
        <p:nvSpPr>
          <p:cNvPr id="28" name="Google Shape;28;p4"/>
          <p:cNvSpPr txBox="1"/>
          <p:nvPr/>
        </p:nvSpPr>
        <p:spPr>
          <a:xfrm>
            <a:off x="5679767" y="6306767"/>
            <a:ext cx="4836800" cy="5060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endParaRPr sz="2400">
              <a:latin typeface="Cambria"/>
              <a:ea typeface="Cambria"/>
              <a:cs typeface="Cambria"/>
              <a:sym typeface="Cambria"/>
            </a:endParaRPr>
          </a:p>
        </p:txBody>
      </p:sp>
    </p:spTree>
    <p:extLst>
      <p:ext uri="{BB962C8B-B14F-4D97-AF65-F5344CB8AC3E}">
        <p14:creationId xmlns:p14="http://schemas.microsoft.com/office/powerpoint/2010/main" val="1589317827"/>
      </p:ext>
    </p:extLst>
  </p:cSld>
  <p:clrMapOvr>
    <a:masterClrMapping/>
  </p:clrMapOvr>
  <p:extLst>
    <p:ext uri="{DCECCB84-F9BA-43D5-87BE-67443E8EF086}">
      <p15:sldGuideLst xmlns:p15="http://schemas.microsoft.com/office/powerpoint/2012/main">
        <p15:guide id="1" pos="5660">
          <p15:clr>
            <a:srgbClr val="FA7B17"/>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D39DFA-22D9-4774-B6B2-CF85A485DC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2A882D-3562-4909-BF1E-D5DED97666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1BA480-B9BD-4D87-8604-BB9D03C403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B1926BC3-8D20-4FAA-A821-14CAB47B07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Computer Architecture</a:t>
            </a:r>
          </a:p>
        </p:txBody>
      </p:sp>
      <p:sp>
        <p:nvSpPr>
          <p:cNvPr id="6" name="Slide Number Placeholder 5">
            <a:extLst>
              <a:ext uri="{FF2B5EF4-FFF2-40B4-BE49-F238E27FC236}">
                <a16:creationId xmlns:a16="http://schemas.microsoft.com/office/drawing/2014/main" id="{896480A1-8C5A-4D78-A697-18D4DCC3C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651ABE-1138-46C6-9A43-7FCD4EB2550C}" type="slidenum">
              <a:rPr lang="en-IN" smtClean="0"/>
              <a:t>‹#›</a:t>
            </a:fld>
            <a:endParaRPr lang="en-IN"/>
          </a:p>
        </p:txBody>
      </p:sp>
    </p:spTree>
    <p:extLst>
      <p:ext uri="{BB962C8B-B14F-4D97-AF65-F5344CB8AC3E}">
        <p14:creationId xmlns:p14="http://schemas.microsoft.com/office/powerpoint/2010/main" val="1069062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meltdownattack.com/"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9D94-0FEA-4DBE-86DF-3FB8852D3B67}"/>
              </a:ext>
            </a:extLst>
          </p:cNvPr>
          <p:cNvSpPr>
            <a:spLocks noGrp="1"/>
          </p:cNvSpPr>
          <p:nvPr>
            <p:ph type="ctrTitle"/>
          </p:nvPr>
        </p:nvSpPr>
        <p:spPr/>
        <p:txBody>
          <a:bodyPr>
            <a:normAutofit fontScale="90000"/>
          </a:bodyPr>
          <a:lstStyle/>
          <a:p>
            <a:r>
              <a:rPr lang="en-US" dirty="0"/>
              <a:t>CS773-2025-Spring: </a:t>
            </a:r>
            <a:br>
              <a:rPr lang="en-US" dirty="0"/>
            </a:br>
            <a:r>
              <a:rPr lang="en-US" dirty="0"/>
              <a:t>Computer Architecture for Performance and Security</a:t>
            </a:r>
            <a:endParaRPr lang="en-IN" dirty="0"/>
          </a:p>
        </p:txBody>
      </p:sp>
      <p:sp>
        <p:nvSpPr>
          <p:cNvPr id="3" name="Subtitle 2">
            <a:extLst>
              <a:ext uri="{FF2B5EF4-FFF2-40B4-BE49-F238E27FC236}">
                <a16:creationId xmlns:a16="http://schemas.microsoft.com/office/drawing/2014/main" id="{8E3676AF-9222-4BBF-BBA7-BED9C767C74F}"/>
              </a:ext>
            </a:extLst>
          </p:cNvPr>
          <p:cNvSpPr>
            <a:spLocks noGrp="1"/>
          </p:cNvSpPr>
          <p:nvPr>
            <p:ph type="subTitle" idx="1"/>
          </p:nvPr>
        </p:nvSpPr>
        <p:spPr>
          <a:xfrm>
            <a:off x="1524000" y="3602038"/>
            <a:ext cx="10351008" cy="1655762"/>
          </a:xfrm>
        </p:spPr>
        <p:txBody>
          <a:bodyPr>
            <a:normAutofit/>
          </a:bodyPr>
          <a:lstStyle/>
          <a:p>
            <a:r>
              <a:rPr lang="en-US" sz="3600" dirty="0">
                <a:solidFill>
                  <a:srgbClr val="C00000"/>
                </a:solidFill>
              </a:rPr>
              <a:t>Lecture 9: </a:t>
            </a:r>
            <a:r>
              <a:rPr lang="en-US" sz="3600" dirty="0" err="1">
                <a:solidFill>
                  <a:srgbClr val="C00000"/>
                </a:solidFill>
              </a:rPr>
              <a:t>Spectre</a:t>
            </a:r>
            <a:r>
              <a:rPr lang="en-US" sz="3600" dirty="0">
                <a:solidFill>
                  <a:srgbClr val="C00000"/>
                </a:solidFill>
              </a:rPr>
              <a:t> Variant-II and Meltdown</a:t>
            </a:r>
          </a:p>
        </p:txBody>
      </p:sp>
    </p:spTree>
    <p:extLst>
      <p:ext uri="{BB962C8B-B14F-4D97-AF65-F5344CB8AC3E}">
        <p14:creationId xmlns:p14="http://schemas.microsoft.com/office/powerpoint/2010/main" val="384078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C6523-69CD-1ADB-E0A0-B6A73D5DA50F}"/>
              </a:ext>
            </a:extLst>
          </p:cNvPr>
          <p:cNvSpPr>
            <a:spLocks noGrp="1"/>
          </p:cNvSpPr>
          <p:nvPr>
            <p:ph type="title"/>
          </p:nvPr>
        </p:nvSpPr>
        <p:spPr>
          <a:xfrm>
            <a:off x="6746628" y="1783959"/>
            <a:ext cx="4645250" cy="2889114"/>
          </a:xfrm>
        </p:spPr>
        <p:txBody>
          <a:bodyPr vert="horz" lIns="91440" tIns="45720" rIns="91440" bIns="45720" rtlCol="0" anchor="b">
            <a:normAutofit fontScale="90000"/>
          </a:bodyPr>
          <a:lstStyle/>
          <a:p>
            <a:r>
              <a:rPr lang="en-US" sz="6000" kern="1200" dirty="0">
                <a:solidFill>
                  <a:schemeClr val="bg1"/>
                </a:solidFill>
                <a:latin typeface="+mj-lt"/>
                <a:ea typeface="+mj-ea"/>
                <a:cs typeface="+mj-cs"/>
              </a:rPr>
              <a:t>Phones on silence, please </a:t>
            </a:r>
            <a:br>
              <a:rPr lang="en-US" sz="6000" kern="1200" dirty="0">
                <a:solidFill>
                  <a:schemeClr val="bg1"/>
                </a:solidFill>
                <a:latin typeface="+mj-lt"/>
                <a:ea typeface="+mj-ea"/>
                <a:cs typeface="+mj-cs"/>
              </a:rPr>
            </a:br>
            <a:br>
              <a:rPr lang="en-US" sz="6000" kern="1200" dirty="0">
                <a:solidFill>
                  <a:schemeClr val="bg1"/>
                </a:solidFill>
                <a:latin typeface="+mj-lt"/>
                <a:ea typeface="+mj-ea"/>
                <a:cs typeface="+mj-cs"/>
              </a:rPr>
            </a:br>
            <a:r>
              <a:rPr lang="en-US" sz="6000" kern="1200" dirty="0">
                <a:solidFill>
                  <a:schemeClr val="bg1"/>
                </a:solidFill>
                <a:latin typeface="+mj-lt"/>
                <a:ea typeface="+mj-ea"/>
                <a:cs typeface="+mj-cs"/>
              </a:rPr>
              <a:t>Thank You </a:t>
            </a:r>
          </a:p>
        </p:txBody>
      </p:sp>
      <p:pic>
        <p:nvPicPr>
          <p:cNvPr id="1026" name="Picture 2">
            <a:extLst>
              <a:ext uri="{FF2B5EF4-FFF2-40B4-BE49-F238E27FC236}">
                <a16:creationId xmlns:a16="http://schemas.microsoft.com/office/drawing/2014/main" id="{ECD26085-0DC7-B122-B2F2-759682D4586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19382" y="514698"/>
            <a:ext cx="4047843" cy="4460433"/>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8A815155-21D3-E065-8AA6-0BD0D2289B4B}"/>
              </a:ext>
            </a:extLst>
          </p:cNvPr>
          <p:cNvSpPr>
            <a:spLocks noGrp="1"/>
          </p:cNvSpPr>
          <p:nvPr>
            <p:ph type="ftr" sz="quarter" idx="11"/>
          </p:nvPr>
        </p:nvSpPr>
        <p:spPr>
          <a:xfrm>
            <a:off x="6746626" y="6199632"/>
            <a:ext cx="4256653" cy="314067"/>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alpha val="80000"/>
                  </a:prstClr>
                </a:solidFill>
                <a:effectLst/>
                <a:uLnTx/>
                <a:uFillTx/>
                <a:latin typeface="Calibri" panose="020F0502020204030204"/>
                <a:ea typeface="+mn-ea"/>
                <a:cs typeface="+mn-cs"/>
              </a:rPr>
              <a:t>CASPER</a:t>
            </a:r>
          </a:p>
        </p:txBody>
      </p:sp>
    </p:spTree>
    <p:extLst>
      <p:ext uri="{BB962C8B-B14F-4D97-AF65-F5344CB8AC3E}">
        <p14:creationId xmlns:p14="http://schemas.microsoft.com/office/powerpoint/2010/main" val="1345765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D234C-A256-4C6A-B89D-00DC18B7BD51}"/>
              </a:ext>
            </a:extLst>
          </p:cNvPr>
          <p:cNvSpPr>
            <a:spLocks noGrp="1"/>
          </p:cNvSpPr>
          <p:nvPr>
            <p:ph type="title"/>
          </p:nvPr>
        </p:nvSpPr>
        <p:spPr/>
        <p:txBody>
          <a:bodyPr/>
          <a:lstStyle/>
          <a:p>
            <a:r>
              <a:rPr lang="en-US" dirty="0"/>
              <a:t>The threat model [Transient execution attacks]</a:t>
            </a:r>
          </a:p>
        </p:txBody>
      </p:sp>
      <p:sp>
        <p:nvSpPr>
          <p:cNvPr id="4" name="Slide Number Placeholder 3">
            <a:extLst>
              <a:ext uri="{FF2B5EF4-FFF2-40B4-BE49-F238E27FC236}">
                <a16:creationId xmlns:a16="http://schemas.microsoft.com/office/drawing/2014/main" id="{1CD6B6C9-439C-4AED-82A5-252BBB931044}"/>
              </a:ext>
            </a:extLst>
          </p:cNvPr>
          <p:cNvSpPr>
            <a:spLocks noGrp="1"/>
          </p:cNvSpPr>
          <p:nvPr>
            <p:ph type="sldNum" idx="12"/>
          </p:nvPr>
        </p:nvSpPr>
        <p:spPr/>
        <p:txBody>
          <a:bodyPr/>
          <a:lstStyle/>
          <a:p>
            <a:fld id="{00000000-1234-1234-1234-123412341234}" type="slidenum">
              <a:rPr lang="en" smtClean="0"/>
              <a:pPr/>
              <a:t>3</a:t>
            </a:fld>
            <a:endParaRPr lang="en" dirty="0"/>
          </a:p>
        </p:txBody>
      </p:sp>
      <p:graphicFrame>
        <p:nvGraphicFramePr>
          <p:cNvPr id="7" name="Table 6">
            <a:extLst>
              <a:ext uri="{FF2B5EF4-FFF2-40B4-BE49-F238E27FC236}">
                <a16:creationId xmlns:a16="http://schemas.microsoft.com/office/drawing/2014/main" id="{1C7B8ECA-097C-4ACB-BA6D-B67BBCCCBFB7}"/>
              </a:ext>
            </a:extLst>
          </p:cNvPr>
          <p:cNvGraphicFramePr>
            <a:graphicFrameLocks noGrp="1"/>
          </p:cNvGraphicFramePr>
          <p:nvPr/>
        </p:nvGraphicFramePr>
        <p:xfrm>
          <a:off x="1311998" y="2006920"/>
          <a:ext cx="694266" cy="1998135"/>
        </p:xfrm>
        <a:graphic>
          <a:graphicData uri="http://schemas.openxmlformats.org/drawingml/2006/table">
            <a:tbl>
              <a:tblPr firstRow="1" bandRow="1">
                <a:tableStyleId>{C083E6E3-FA7D-4D7B-A595-EF9225AFEA82}</a:tableStyleId>
              </a:tblPr>
              <a:tblGrid>
                <a:gridCol w="694266">
                  <a:extLst>
                    <a:ext uri="{9D8B030D-6E8A-4147-A177-3AD203B41FA5}">
                      <a16:colId xmlns:a16="http://schemas.microsoft.com/office/drawing/2014/main" val="4175008961"/>
                    </a:ext>
                  </a:extLst>
                </a:gridCol>
              </a:tblGrid>
              <a:tr h="399627">
                <a:tc>
                  <a:txBody>
                    <a:bodyPr/>
                    <a:lstStyle/>
                    <a:p>
                      <a:pPr algn="ctr"/>
                      <a:r>
                        <a:rPr lang="en-US" dirty="0"/>
                        <a:t>I</a:t>
                      </a:r>
                      <a:r>
                        <a:rPr lang="en-US" baseline="-25000" dirty="0"/>
                        <a:t>1</a:t>
                      </a:r>
                    </a:p>
                  </a:txBody>
                  <a:tcPr/>
                </a:tc>
                <a:extLst>
                  <a:ext uri="{0D108BD9-81ED-4DB2-BD59-A6C34878D82A}">
                    <a16:rowId xmlns:a16="http://schemas.microsoft.com/office/drawing/2014/main" val="2893747873"/>
                  </a:ext>
                </a:extLst>
              </a:tr>
              <a:tr h="399627">
                <a:tc>
                  <a:txBody>
                    <a:bodyPr/>
                    <a:lstStyle/>
                    <a:p>
                      <a:pPr algn="ctr"/>
                      <a:r>
                        <a:rPr lang="en-US" b="1" dirty="0"/>
                        <a:t>I</a:t>
                      </a:r>
                      <a:r>
                        <a:rPr lang="en-US" b="1" baseline="-25000" dirty="0"/>
                        <a:t>2</a:t>
                      </a:r>
                    </a:p>
                  </a:txBody>
                  <a:tcPr/>
                </a:tc>
                <a:extLst>
                  <a:ext uri="{0D108BD9-81ED-4DB2-BD59-A6C34878D82A}">
                    <a16:rowId xmlns:a16="http://schemas.microsoft.com/office/drawing/2014/main" val="1520212061"/>
                  </a:ext>
                </a:extLst>
              </a:tr>
              <a:tr h="399627">
                <a:tc>
                  <a:txBody>
                    <a:bodyPr/>
                    <a:lstStyle/>
                    <a:p>
                      <a:pPr algn="ctr"/>
                      <a:r>
                        <a:rPr lang="en-US" b="1" dirty="0"/>
                        <a:t>I</a:t>
                      </a:r>
                      <a:r>
                        <a:rPr lang="en-US" b="1" baseline="-25000" dirty="0"/>
                        <a:t>3</a:t>
                      </a:r>
                    </a:p>
                  </a:txBody>
                  <a:tcPr/>
                </a:tc>
                <a:extLst>
                  <a:ext uri="{0D108BD9-81ED-4DB2-BD59-A6C34878D82A}">
                    <a16:rowId xmlns:a16="http://schemas.microsoft.com/office/drawing/2014/main" val="1164199615"/>
                  </a:ext>
                </a:extLst>
              </a:tr>
              <a:tr h="399627">
                <a:tc>
                  <a:txBody>
                    <a:bodyPr/>
                    <a:lstStyle/>
                    <a:p>
                      <a:pPr algn="ctr"/>
                      <a:r>
                        <a:rPr lang="en-US" b="1" dirty="0"/>
                        <a:t>I</a:t>
                      </a:r>
                      <a:r>
                        <a:rPr lang="en-US" b="1" baseline="-25000" dirty="0"/>
                        <a:t>4</a:t>
                      </a:r>
                    </a:p>
                  </a:txBody>
                  <a:tcPr/>
                </a:tc>
                <a:extLst>
                  <a:ext uri="{0D108BD9-81ED-4DB2-BD59-A6C34878D82A}">
                    <a16:rowId xmlns:a16="http://schemas.microsoft.com/office/drawing/2014/main" val="1851495039"/>
                  </a:ext>
                </a:extLst>
              </a:tr>
              <a:tr h="399627">
                <a:tc>
                  <a:txBody>
                    <a:bodyPr/>
                    <a:lstStyle/>
                    <a:p>
                      <a:pPr algn="ctr"/>
                      <a:r>
                        <a:rPr lang="en-US" b="1" dirty="0"/>
                        <a:t>I</a:t>
                      </a:r>
                      <a:r>
                        <a:rPr lang="en-US" b="1" baseline="-25000" dirty="0"/>
                        <a:t>5</a:t>
                      </a:r>
                    </a:p>
                  </a:txBody>
                  <a:tcPr/>
                </a:tc>
                <a:extLst>
                  <a:ext uri="{0D108BD9-81ED-4DB2-BD59-A6C34878D82A}">
                    <a16:rowId xmlns:a16="http://schemas.microsoft.com/office/drawing/2014/main" val="4152625540"/>
                  </a:ext>
                </a:extLst>
              </a:tr>
            </a:tbl>
          </a:graphicData>
        </a:graphic>
      </p:graphicFrame>
      <p:cxnSp>
        <p:nvCxnSpPr>
          <p:cNvPr id="11" name="Straight Arrow Connector 10">
            <a:extLst>
              <a:ext uri="{FF2B5EF4-FFF2-40B4-BE49-F238E27FC236}">
                <a16:creationId xmlns:a16="http://schemas.microsoft.com/office/drawing/2014/main" id="{8ACED66E-D70B-477B-B4C0-20344D2A5CCF}"/>
              </a:ext>
            </a:extLst>
          </p:cNvPr>
          <p:cNvCxnSpPr>
            <a:cxnSpLocks/>
          </p:cNvCxnSpPr>
          <p:nvPr/>
        </p:nvCxnSpPr>
        <p:spPr>
          <a:xfrm>
            <a:off x="2006264" y="2167786"/>
            <a:ext cx="1312333" cy="0"/>
          </a:xfrm>
          <a:prstGeom prst="straightConnector1">
            <a:avLst/>
          </a:prstGeom>
          <a:ln w="28575" cap="flat" cmpd="sng" algn="ctr">
            <a:solidFill>
              <a:schemeClr val="accent2"/>
            </a:solidFill>
            <a:prstDash val="dashDot"/>
            <a:round/>
            <a:headEnd type="none"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13" name="Table 12">
            <a:extLst>
              <a:ext uri="{FF2B5EF4-FFF2-40B4-BE49-F238E27FC236}">
                <a16:creationId xmlns:a16="http://schemas.microsoft.com/office/drawing/2014/main" id="{55C940F1-64C8-49CD-9F6C-B31BC59EA02A}"/>
              </a:ext>
            </a:extLst>
          </p:cNvPr>
          <p:cNvGraphicFramePr>
            <a:graphicFrameLocks noGrp="1"/>
          </p:cNvGraphicFramePr>
          <p:nvPr/>
        </p:nvGraphicFramePr>
        <p:xfrm>
          <a:off x="5189730" y="2006920"/>
          <a:ext cx="694266" cy="1998135"/>
        </p:xfrm>
        <a:graphic>
          <a:graphicData uri="http://schemas.openxmlformats.org/drawingml/2006/table">
            <a:tbl>
              <a:tblPr firstRow="1" bandRow="1">
                <a:tableStyleId>{C083E6E3-FA7D-4D7B-A595-EF9225AFEA82}</a:tableStyleId>
              </a:tblPr>
              <a:tblGrid>
                <a:gridCol w="694266">
                  <a:extLst>
                    <a:ext uri="{9D8B030D-6E8A-4147-A177-3AD203B41FA5}">
                      <a16:colId xmlns:a16="http://schemas.microsoft.com/office/drawing/2014/main" val="4175008961"/>
                    </a:ext>
                  </a:extLst>
                </a:gridCol>
              </a:tblGrid>
              <a:tr h="399627">
                <a:tc>
                  <a:txBody>
                    <a:bodyPr/>
                    <a:lstStyle/>
                    <a:p>
                      <a:pPr algn="ctr"/>
                      <a:r>
                        <a:rPr lang="en-US" dirty="0"/>
                        <a:t>I</a:t>
                      </a:r>
                      <a:r>
                        <a:rPr lang="en-US" baseline="-25000" dirty="0"/>
                        <a:t>6</a:t>
                      </a:r>
                    </a:p>
                  </a:txBody>
                  <a:tcPr/>
                </a:tc>
                <a:extLst>
                  <a:ext uri="{0D108BD9-81ED-4DB2-BD59-A6C34878D82A}">
                    <a16:rowId xmlns:a16="http://schemas.microsoft.com/office/drawing/2014/main" val="2893747873"/>
                  </a:ext>
                </a:extLst>
              </a:tr>
              <a:tr h="399627">
                <a:tc>
                  <a:txBody>
                    <a:bodyPr/>
                    <a:lstStyle/>
                    <a:p>
                      <a:pPr algn="ctr"/>
                      <a:r>
                        <a:rPr lang="en-US" b="1" dirty="0"/>
                        <a:t>I</a:t>
                      </a:r>
                      <a:r>
                        <a:rPr lang="en-US" b="1" baseline="-25000" dirty="0"/>
                        <a:t>5</a:t>
                      </a:r>
                    </a:p>
                  </a:txBody>
                  <a:tcPr/>
                </a:tc>
                <a:extLst>
                  <a:ext uri="{0D108BD9-81ED-4DB2-BD59-A6C34878D82A}">
                    <a16:rowId xmlns:a16="http://schemas.microsoft.com/office/drawing/2014/main" val="1520212061"/>
                  </a:ext>
                </a:extLst>
              </a:tr>
              <a:tr h="399627">
                <a:tc>
                  <a:txBody>
                    <a:bodyPr/>
                    <a:lstStyle/>
                    <a:p>
                      <a:pPr algn="ctr"/>
                      <a:r>
                        <a:rPr lang="en-US" b="1" dirty="0"/>
                        <a:t>I</a:t>
                      </a:r>
                      <a:r>
                        <a:rPr lang="en-US" b="1" baseline="-25000" dirty="0"/>
                        <a:t>4</a:t>
                      </a:r>
                    </a:p>
                  </a:txBody>
                  <a:tcPr/>
                </a:tc>
                <a:extLst>
                  <a:ext uri="{0D108BD9-81ED-4DB2-BD59-A6C34878D82A}">
                    <a16:rowId xmlns:a16="http://schemas.microsoft.com/office/drawing/2014/main" val="1164199615"/>
                  </a:ext>
                </a:extLst>
              </a:tr>
              <a:tr h="399627">
                <a:tc>
                  <a:txBody>
                    <a:bodyPr/>
                    <a:lstStyle/>
                    <a:p>
                      <a:pPr algn="ctr"/>
                      <a:r>
                        <a:rPr lang="en-US" b="1" dirty="0"/>
                        <a:t>I</a:t>
                      </a:r>
                      <a:r>
                        <a:rPr lang="en-US" b="1" baseline="-25000" dirty="0"/>
                        <a:t>3</a:t>
                      </a:r>
                    </a:p>
                  </a:txBody>
                  <a:tcPr/>
                </a:tc>
                <a:extLst>
                  <a:ext uri="{0D108BD9-81ED-4DB2-BD59-A6C34878D82A}">
                    <a16:rowId xmlns:a16="http://schemas.microsoft.com/office/drawing/2014/main" val="1851495039"/>
                  </a:ext>
                </a:extLst>
              </a:tr>
              <a:tr h="399627">
                <a:tc>
                  <a:txBody>
                    <a:bodyPr/>
                    <a:lstStyle/>
                    <a:p>
                      <a:pPr algn="ctr"/>
                      <a:r>
                        <a:rPr lang="en-US" b="1" dirty="0"/>
                        <a:t>I</a:t>
                      </a:r>
                      <a:r>
                        <a:rPr lang="en-US" b="1" baseline="-25000" dirty="0"/>
                        <a:t>2</a:t>
                      </a:r>
                    </a:p>
                  </a:txBody>
                  <a:tcPr/>
                </a:tc>
                <a:extLst>
                  <a:ext uri="{0D108BD9-81ED-4DB2-BD59-A6C34878D82A}">
                    <a16:rowId xmlns:a16="http://schemas.microsoft.com/office/drawing/2014/main" val="4152625540"/>
                  </a:ext>
                </a:extLst>
              </a:tr>
            </a:tbl>
          </a:graphicData>
        </a:graphic>
      </p:graphicFrame>
      <p:cxnSp>
        <p:nvCxnSpPr>
          <p:cNvPr id="16" name="Straight Arrow Connector 15">
            <a:extLst>
              <a:ext uri="{FF2B5EF4-FFF2-40B4-BE49-F238E27FC236}">
                <a16:creationId xmlns:a16="http://schemas.microsoft.com/office/drawing/2014/main" id="{049A6044-F0AD-495B-AC66-A88116DFBA48}"/>
              </a:ext>
            </a:extLst>
          </p:cNvPr>
          <p:cNvCxnSpPr>
            <a:cxnSpLocks/>
          </p:cNvCxnSpPr>
          <p:nvPr/>
        </p:nvCxnSpPr>
        <p:spPr>
          <a:xfrm>
            <a:off x="2006264" y="2599586"/>
            <a:ext cx="922867" cy="0"/>
          </a:xfrm>
          <a:prstGeom prst="straightConnector1">
            <a:avLst/>
          </a:prstGeom>
          <a:ln w="28575" cap="flat" cmpd="sng" algn="ctr">
            <a:solidFill>
              <a:schemeClr val="accent2"/>
            </a:solidFill>
            <a:prstDash val="dash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DEA0BBF4-BF57-477A-BA7B-3318C1878542}"/>
              </a:ext>
            </a:extLst>
          </p:cNvPr>
          <p:cNvCxnSpPr>
            <a:cxnSpLocks/>
          </p:cNvCxnSpPr>
          <p:nvPr/>
        </p:nvCxnSpPr>
        <p:spPr>
          <a:xfrm>
            <a:off x="2006264" y="3005987"/>
            <a:ext cx="778933" cy="0"/>
          </a:xfrm>
          <a:prstGeom prst="straightConnector1">
            <a:avLst/>
          </a:prstGeom>
          <a:ln w="28575" cap="flat" cmpd="sng" algn="ctr">
            <a:solidFill>
              <a:schemeClr val="accent2"/>
            </a:solidFill>
            <a:prstDash val="dash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2EFA8802-7343-4A29-BCA5-AC01A134F738}"/>
              </a:ext>
            </a:extLst>
          </p:cNvPr>
          <p:cNvCxnSpPr>
            <a:cxnSpLocks/>
          </p:cNvCxnSpPr>
          <p:nvPr/>
        </p:nvCxnSpPr>
        <p:spPr>
          <a:xfrm>
            <a:off x="2006263" y="3344653"/>
            <a:ext cx="778934" cy="0"/>
          </a:xfrm>
          <a:prstGeom prst="straightConnector1">
            <a:avLst/>
          </a:prstGeom>
          <a:ln w="28575" cap="flat" cmpd="sng" algn="ctr">
            <a:solidFill>
              <a:schemeClr val="accent2"/>
            </a:solidFill>
            <a:prstDash val="dashDot"/>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0BBE10E0-7B45-447E-AE38-36AF9EFE359A}"/>
              </a:ext>
            </a:extLst>
          </p:cNvPr>
          <p:cNvCxnSpPr>
            <a:cxnSpLocks/>
          </p:cNvCxnSpPr>
          <p:nvPr/>
        </p:nvCxnSpPr>
        <p:spPr>
          <a:xfrm>
            <a:off x="2006263" y="3725653"/>
            <a:ext cx="778934" cy="0"/>
          </a:xfrm>
          <a:prstGeom prst="straightConnector1">
            <a:avLst/>
          </a:prstGeom>
          <a:ln w="28575" cap="flat" cmpd="sng" algn="ctr">
            <a:solidFill>
              <a:schemeClr val="accent2"/>
            </a:solidFill>
            <a:prstDash val="dash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Left Brace 23">
            <a:extLst>
              <a:ext uri="{FF2B5EF4-FFF2-40B4-BE49-F238E27FC236}">
                <a16:creationId xmlns:a16="http://schemas.microsoft.com/office/drawing/2014/main" id="{970AD78B-B956-4506-828C-0723E8FCEEFD}"/>
              </a:ext>
            </a:extLst>
          </p:cNvPr>
          <p:cNvSpPr/>
          <p:nvPr/>
        </p:nvSpPr>
        <p:spPr>
          <a:xfrm>
            <a:off x="943697" y="2802787"/>
            <a:ext cx="254000" cy="1151469"/>
          </a:xfrm>
          <a:prstGeom prst="leftBrace">
            <a:avLst/>
          </a:prstGeom>
          <a:ln w="2857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D20B2A52-8911-47D9-BF15-3B1DD3FE8E03}"/>
              </a:ext>
            </a:extLst>
          </p:cNvPr>
          <p:cNvSpPr txBox="1"/>
          <p:nvPr/>
        </p:nvSpPr>
        <p:spPr>
          <a:xfrm>
            <a:off x="3318597" y="2013897"/>
            <a:ext cx="829734" cy="307777"/>
          </a:xfrm>
          <a:prstGeom prst="rect">
            <a:avLst/>
          </a:prstGeom>
          <a:noFill/>
        </p:spPr>
        <p:txBody>
          <a:bodyPr wrap="square" rtlCol="0">
            <a:spAutoFit/>
          </a:bodyPr>
          <a:lstStyle/>
          <a:p>
            <a:r>
              <a:rPr lang="en-US" sz="1400" dirty="0"/>
              <a:t>LOAD</a:t>
            </a:r>
          </a:p>
        </p:txBody>
      </p:sp>
      <p:sp>
        <p:nvSpPr>
          <p:cNvPr id="26" name="TextBox 25">
            <a:extLst>
              <a:ext uri="{FF2B5EF4-FFF2-40B4-BE49-F238E27FC236}">
                <a16:creationId xmlns:a16="http://schemas.microsoft.com/office/drawing/2014/main" id="{5D42871B-EC52-4C89-8030-C73C3E264AC0}"/>
              </a:ext>
            </a:extLst>
          </p:cNvPr>
          <p:cNvSpPr txBox="1"/>
          <p:nvPr/>
        </p:nvSpPr>
        <p:spPr>
          <a:xfrm>
            <a:off x="2899497" y="2464120"/>
            <a:ext cx="1016001" cy="307777"/>
          </a:xfrm>
          <a:prstGeom prst="rect">
            <a:avLst/>
          </a:prstGeom>
          <a:noFill/>
        </p:spPr>
        <p:txBody>
          <a:bodyPr wrap="square" rtlCol="0">
            <a:spAutoFit/>
          </a:bodyPr>
          <a:lstStyle/>
          <a:p>
            <a:r>
              <a:rPr lang="en-US" sz="1400" dirty="0"/>
              <a:t>BRANCH</a:t>
            </a:r>
          </a:p>
        </p:txBody>
      </p:sp>
      <p:sp>
        <p:nvSpPr>
          <p:cNvPr id="27" name="TextBox 26">
            <a:extLst>
              <a:ext uri="{FF2B5EF4-FFF2-40B4-BE49-F238E27FC236}">
                <a16:creationId xmlns:a16="http://schemas.microsoft.com/office/drawing/2014/main" id="{DFF9D4AA-E699-452E-8009-EEF106B329F8}"/>
              </a:ext>
            </a:extLst>
          </p:cNvPr>
          <p:cNvSpPr txBox="1"/>
          <p:nvPr/>
        </p:nvSpPr>
        <p:spPr>
          <a:xfrm>
            <a:off x="2742863" y="3190764"/>
            <a:ext cx="829734" cy="307777"/>
          </a:xfrm>
          <a:prstGeom prst="rect">
            <a:avLst/>
          </a:prstGeom>
          <a:noFill/>
        </p:spPr>
        <p:txBody>
          <a:bodyPr wrap="square" rtlCol="0">
            <a:spAutoFit/>
          </a:bodyPr>
          <a:lstStyle/>
          <a:p>
            <a:r>
              <a:rPr lang="en-US" sz="1400" dirty="0"/>
              <a:t>ADD</a:t>
            </a:r>
          </a:p>
        </p:txBody>
      </p:sp>
      <p:sp>
        <p:nvSpPr>
          <p:cNvPr id="28" name="TextBox 27">
            <a:extLst>
              <a:ext uri="{FF2B5EF4-FFF2-40B4-BE49-F238E27FC236}">
                <a16:creationId xmlns:a16="http://schemas.microsoft.com/office/drawing/2014/main" id="{CA59BAA3-C6A6-45A3-98FF-C298743F8D35}"/>
              </a:ext>
            </a:extLst>
          </p:cNvPr>
          <p:cNvSpPr txBox="1"/>
          <p:nvPr/>
        </p:nvSpPr>
        <p:spPr>
          <a:xfrm>
            <a:off x="2742863" y="2854842"/>
            <a:ext cx="829734" cy="307777"/>
          </a:xfrm>
          <a:prstGeom prst="rect">
            <a:avLst/>
          </a:prstGeom>
          <a:noFill/>
        </p:spPr>
        <p:txBody>
          <a:bodyPr wrap="square" rtlCol="0">
            <a:spAutoFit/>
          </a:bodyPr>
          <a:lstStyle/>
          <a:p>
            <a:r>
              <a:rPr lang="en-US" sz="1400" dirty="0"/>
              <a:t>SUB</a:t>
            </a:r>
          </a:p>
        </p:txBody>
      </p:sp>
      <p:sp>
        <p:nvSpPr>
          <p:cNvPr id="29" name="TextBox 28">
            <a:extLst>
              <a:ext uri="{FF2B5EF4-FFF2-40B4-BE49-F238E27FC236}">
                <a16:creationId xmlns:a16="http://schemas.microsoft.com/office/drawing/2014/main" id="{29435876-EAB8-457B-AA80-861DB3883588}"/>
              </a:ext>
            </a:extLst>
          </p:cNvPr>
          <p:cNvSpPr txBox="1"/>
          <p:nvPr/>
        </p:nvSpPr>
        <p:spPr>
          <a:xfrm>
            <a:off x="2742863" y="3571764"/>
            <a:ext cx="829734" cy="307777"/>
          </a:xfrm>
          <a:prstGeom prst="rect">
            <a:avLst/>
          </a:prstGeom>
          <a:noFill/>
        </p:spPr>
        <p:txBody>
          <a:bodyPr wrap="square" rtlCol="0">
            <a:spAutoFit/>
          </a:bodyPr>
          <a:lstStyle/>
          <a:p>
            <a:r>
              <a:rPr lang="en-US" sz="1400" dirty="0"/>
              <a:t>MUL</a:t>
            </a:r>
          </a:p>
        </p:txBody>
      </p:sp>
      <p:sp>
        <p:nvSpPr>
          <p:cNvPr id="30" name="TextBox 29">
            <a:extLst>
              <a:ext uri="{FF2B5EF4-FFF2-40B4-BE49-F238E27FC236}">
                <a16:creationId xmlns:a16="http://schemas.microsoft.com/office/drawing/2014/main" id="{A57A129D-F36C-4AFD-81A3-7347545F1817}"/>
              </a:ext>
            </a:extLst>
          </p:cNvPr>
          <p:cNvSpPr txBox="1"/>
          <p:nvPr/>
        </p:nvSpPr>
        <p:spPr>
          <a:xfrm rot="5400000">
            <a:off x="-372866" y="3609862"/>
            <a:ext cx="2328329" cy="307777"/>
          </a:xfrm>
          <a:prstGeom prst="rect">
            <a:avLst/>
          </a:prstGeom>
          <a:noFill/>
        </p:spPr>
        <p:txBody>
          <a:bodyPr wrap="square" rtlCol="0">
            <a:spAutoFit/>
          </a:bodyPr>
          <a:lstStyle/>
          <a:p>
            <a:r>
              <a:rPr lang="en-US" sz="1400" dirty="0"/>
              <a:t>Speculative </a:t>
            </a:r>
            <a:r>
              <a:rPr lang="en-US" sz="1400" dirty="0" err="1"/>
              <a:t>instrs</a:t>
            </a:r>
            <a:r>
              <a:rPr lang="en-US" sz="1400" dirty="0"/>
              <a:t>.</a:t>
            </a:r>
          </a:p>
        </p:txBody>
      </p:sp>
      <p:sp>
        <p:nvSpPr>
          <p:cNvPr id="31" name="TextBox 30">
            <a:extLst>
              <a:ext uri="{FF2B5EF4-FFF2-40B4-BE49-F238E27FC236}">
                <a16:creationId xmlns:a16="http://schemas.microsoft.com/office/drawing/2014/main" id="{176423C6-F59B-4357-A05F-EE4A80E723EB}"/>
              </a:ext>
            </a:extLst>
          </p:cNvPr>
          <p:cNvSpPr txBox="1"/>
          <p:nvPr/>
        </p:nvSpPr>
        <p:spPr>
          <a:xfrm>
            <a:off x="1201930" y="4156200"/>
            <a:ext cx="1591733" cy="523220"/>
          </a:xfrm>
          <a:prstGeom prst="rect">
            <a:avLst/>
          </a:prstGeom>
          <a:noFill/>
        </p:spPr>
        <p:txBody>
          <a:bodyPr wrap="square" rtlCol="0">
            <a:spAutoFit/>
          </a:bodyPr>
          <a:lstStyle/>
          <a:p>
            <a:r>
              <a:rPr lang="en-US" sz="1400" b="1" dirty="0"/>
              <a:t>Instructions Sequence</a:t>
            </a:r>
          </a:p>
        </p:txBody>
      </p:sp>
      <p:sp>
        <p:nvSpPr>
          <p:cNvPr id="32" name="TextBox 31">
            <a:extLst>
              <a:ext uri="{FF2B5EF4-FFF2-40B4-BE49-F238E27FC236}">
                <a16:creationId xmlns:a16="http://schemas.microsoft.com/office/drawing/2014/main" id="{C8D14130-289E-4707-A3D4-849AC9BB85C2}"/>
              </a:ext>
            </a:extLst>
          </p:cNvPr>
          <p:cNvSpPr txBox="1"/>
          <p:nvPr/>
        </p:nvSpPr>
        <p:spPr>
          <a:xfrm>
            <a:off x="5189730" y="4263921"/>
            <a:ext cx="829734" cy="307777"/>
          </a:xfrm>
          <a:prstGeom prst="rect">
            <a:avLst/>
          </a:prstGeom>
          <a:noFill/>
        </p:spPr>
        <p:txBody>
          <a:bodyPr wrap="square" rtlCol="0">
            <a:spAutoFit/>
          </a:bodyPr>
          <a:lstStyle/>
          <a:p>
            <a:r>
              <a:rPr lang="en-US" sz="1400" b="1" dirty="0"/>
              <a:t>ROB</a:t>
            </a:r>
          </a:p>
        </p:txBody>
      </p:sp>
      <p:cxnSp>
        <p:nvCxnSpPr>
          <p:cNvPr id="33" name="Straight Arrow Connector 32">
            <a:extLst>
              <a:ext uri="{FF2B5EF4-FFF2-40B4-BE49-F238E27FC236}">
                <a16:creationId xmlns:a16="http://schemas.microsoft.com/office/drawing/2014/main" id="{09764AB9-25CA-4D7B-A4B6-E13ED4639FE1}"/>
              </a:ext>
            </a:extLst>
          </p:cNvPr>
          <p:cNvCxnSpPr>
            <a:cxnSpLocks/>
          </p:cNvCxnSpPr>
          <p:nvPr/>
        </p:nvCxnSpPr>
        <p:spPr>
          <a:xfrm flipH="1">
            <a:off x="5883997" y="3763750"/>
            <a:ext cx="389467" cy="0"/>
          </a:xfrm>
          <a:prstGeom prst="straightConnector1">
            <a:avLst/>
          </a:prstGeom>
          <a:ln w="28575" cap="flat" cmpd="sng" algn="ctr">
            <a:solidFill>
              <a:schemeClr val="accent2"/>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6" name="TextBox 35">
            <a:extLst>
              <a:ext uri="{FF2B5EF4-FFF2-40B4-BE49-F238E27FC236}">
                <a16:creationId xmlns:a16="http://schemas.microsoft.com/office/drawing/2014/main" id="{A34DB0A4-7AD6-4A4C-ACAC-D1142956A3AA}"/>
              </a:ext>
            </a:extLst>
          </p:cNvPr>
          <p:cNvSpPr txBox="1"/>
          <p:nvPr/>
        </p:nvSpPr>
        <p:spPr>
          <a:xfrm>
            <a:off x="6273464" y="3616046"/>
            <a:ext cx="829734" cy="523220"/>
          </a:xfrm>
          <a:prstGeom prst="rect">
            <a:avLst/>
          </a:prstGeom>
          <a:noFill/>
        </p:spPr>
        <p:txBody>
          <a:bodyPr wrap="square" rtlCol="0">
            <a:spAutoFit/>
          </a:bodyPr>
          <a:lstStyle/>
          <a:p>
            <a:pPr algn="ctr"/>
            <a:r>
              <a:rPr lang="en-US" sz="1400" b="1" dirty="0"/>
              <a:t>Head of ROB</a:t>
            </a:r>
          </a:p>
        </p:txBody>
      </p:sp>
      <p:cxnSp>
        <p:nvCxnSpPr>
          <p:cNvPr id="37" name="Straight Arrow Connector 36">
            <a:extLst>
              <a:ext uri="{FF2B5EF4-FFF2-40B4-BE49-F238E27FC236}">
                <a16:creationId xmlns:a16="http://schemas.microsoft.com/office/drawing/2014/main" id="{8217ECDF-217C-48C3-B577-4C75B8B4EC57}"/>
              </a:ext>
            </a:extLst>
          </p:cNvPr>
          <p:cNvCxnSpPr>
            <a:cxnSpLocks/>
          </p:cNvCxnSpPr>
          <p:nvPr/>
        </p:nvCxnSpPr>
        <p:spPr>
          <a:xfrm flipH="1" flipV="1">
            <a:off x="7103198" y="2006920"/>
            <a:ext cx="16934" cy="1990293"/>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TextBox 39">
            <a:extLst>
              <a:ext uri="{FF2B5EF4-FFF2-40B4-BE49-F238E27FC236}">
                <a16:creationId xmlns:a16="http://schemas.microsoft.com/office/drawing/2014/main" id="{D7B8E051-3BEF-4519-B88E-FF68CFA914AB}"/>
              </a:ext>
            </a:extLst>
          </p:cNvPr>
          <p:cNvSpPr txBox="1"/>
          <p:nvPr/>
        </p:nvSpPr>
        <p:spPr>
          <a:xfrm rot="5400000">
            <a:off x="6097993" y="2987812"/>
            <a:ext cx="2377826" cy="307777"/>
          </a:xfrm>
          <a:prstGeom prst="rect">
            <a:avLst/>
          </a:prstGeom>
          <a:noFill/>
        </p:spPr>
        <p:txBody>
          <a:bodyPr wrap="square" rtlCol="0">
            <a:spAutoFit/>
          </a:bodyPr>
          <a:lstStyle/>
          <a:p>
            <a:r>
              <a:rPr lang="en-US" sz="1400" dirty="0"/>
              <a:t>Squashed(Transient </a:t>
            </a:r>
            <a:r>
              <a:rPr lang="en-US" sz="1400" dirty="0" err="1"/>
              <a:t>instrs</a:t>
            </a:r>
            <a:r>
              <a:rPr lang="en-US" sz="1400" dirty="0"/>
              <a:t>.)</a:t>
            </a:r>
          </a:p>
        </p:txBody>
      </p:sp>
      <p:sp>
        <p:nvSpPr>
          <p:cNvPr id="41" name="Rectangle: Rounded Corners 40">
            <a:extLst>
              <a:ext uri="{FF2B5EF4-FFF2-40B4-BE49-F238E27FC236}">
                <a16:creationId xmlns:a16="http://schemas.microsoft.com/office/drawing/2014/main" id="{3374B364-1D24-47BF-B296-9A84704D46DE}"/>
              </a:ext>
            </a:extLst>
          </p:cNvPr>
          <p:cNvSpPr/>
          <p:nvPr/>
        </p:nvSpPr>
        <p:spPr>
          <a:xfrm>
            <a:off x="7990734" y="2194578"/>
            <a:ext cx="2328421" cy="726645"/>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FECE3EF0-05D4-4AC4-AD91-A7EF2DC29C61}"/>
              </a:ext>
            </a:extLst>
          </p:cNvPr>
          <p:cNvSpPr txBox="1"/>
          <p:nvPr/>
        </p:nvSpPr>
        <p:spPr>
          <a:xfrm>
            <a:off x="2707835" y="3700689"/>
            <a:ext cx="2117441" cy="609398"/>
          </a:xfrm>
          <a:prstGeom prst="rect">
            <a:avLst/>
          </a:prstGeom>
          <a:noFill/>
        </p:spPr>
        <p:txBody>
          <a:bodyPr wrap="square" rtlCol="0">
            <a:spAutoFit/>
          </a:bodyPr>
          <a:lstStyle/>
          <a:p>
            <a:pPr algn="ctr"/>
            <a:r>
              <a:rPr lang="en-US" b="1" dirty="0">
                <a:solidFill>
                  <a:srgbClr val="FF0000"/>
                </a:solidFill>
              </a:rPr>
              <a:t>Branch misprediction</a:t>
            </a:r>
          </a:p>
        </p:txBody>
      </p:sp>
      <p:sp>
        <p:nvSpPr>
          <p:cNvPr id="45" name="TextBox 44">
            <a:extLst>
              <a:ext uri="{FF2B5EF4-FFF2-40B4-BE49-F238E27FC236}">
                <a16:creationId xmlns:a16="http://schemas.microsoft.com/office/drawing/2014/main" id="{30E99CAC-E0F3-4FAE-A60D-2F0E12C073C1}"/>
              </a:ext>
            </a:extLst>
          </p:cNvPr>
          <p:cNvSpPr txBox="1"/>
          <p:nvPr/>
        </p:nvSpPr>
        <p:spPr>
          <a:xfrm>
            <a:off x="8081324" y="2185737"/>
            <a:ext cx="2103010" cy="738664"/>
          </a:xfrm>
          <a:prstGeom prst="rect">
            <a:avLst/>
          </a:prstGeom>
          <a:noFill/>
        </p:spPr>
        <p:txBody>
          <a:bodyPr wrap="square" rtlCol="0">
            <a:spAutoFit/>
          </a:bodyPr>
          <a:lstStyle/>
          <a:p>
            <a:pPr algn="ctr"/>
            <a:r>
              <a:rPr lang="en-US" sz="1400" b="1" dirty="0"/>
              <a:t>But, microarchitectural traces remain</a:t>
            </a:r>
          </a:p>
        </p:txBody>
      </p:sp>
      <p:pic>
        <p:nvPicPr>
          <p:cNvPr id="46" name="Picture 45">
            <a:extLst>
              <a:ext uri="{FF2B5EF4-FFF2-40B4-BE49-F238E27FC236}">
                <a16:creationId xmlns:a16="http://schemas.microsoft.com/office/drawing/2014/main" id="{953B49B7-8787-45E5-AF85-8CF826DEF55A}"/>
              </a:ext>
            </a:extLst>
          </p:cNvPr>
          <p:cNvPicPr>
            <a:picLocks/>
          </p:cNvPicPr>
          <p:nvPr/>
        </p:nvPicPr>
        <p:blipFill>
          <a:blip r:embed="rId2"/>
          <a:stretch>
            <a:fillRect/>
          </a:stretch>
        </p:blipFill>
        <p:spPr>
          <a:xfrm>
            <a:off x="4117611" y="3314314"/>
            <a:ext cx="585493" cy="612891"/>
          </a:xfrm>
          <a:prstGeom prst="rect">
            <a:avLst/>
          </a:prstGeom>
        </p:spPr>
      </p:pic>
      <p:sp>
        <p:nvSpPr>
          <p:cNvPr id="49" name="Double Wave 48">
            <a:extLst>
              <a:ext uri="{FF2B5EF4-FFF2-40B4-BE49-F238E27FC236}">
                <a16:creationId xmlns:a16="http://schemas.microsoft.com/office/drawing/2014/main" id="{28713CDF-7FEB-4648-9D99-090E2F29C423}"/>
              </a:ext>
            </a:extLst>
          </p:cNvPr>
          <p:cNvSpPr/>
          <p:nvPr/>
        </p:nvSpPr>
        <p:spPr>
          <a:xfrm>
            <a:off x="4614202" y="6034613"/>
            <a:ext cx="2008523" cy="796220"/>
          </a:xfrm>
          <a:prstGeom prst="doubleWave">
            <a:avLst/>
          </a:prstGeom>
          <a:solidFill>
            <a:schemeClr val="accent1">
              <a:lumMod val="20000"/>
              <a:lumOff val="80000"/>
            </a:schemeClr>
          </a:solid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D7E5E62C-AFAA-423B-9EB1-EFAA7C2D9EFD}"/>
              </a:ext>
            </a:extLst>
          </p:cNvPr>
          <p:cNvSpPr txBox="1"/>
          <p:nvPr/>
        </p:nvSpPr>
        <p:spPr>
          <a:xfrm>
            <a:off x="4591592" y="6181112"/>
            <a:ext cx="2008523" cy="584775"/>
          </a:xfrm>
          <a:prstGeom prst="rect">
            <a:avLst/>
          </a:prstGeom>
          <a:noFill/>
        </p:spPr>
        <p:txBody>
          <a:bodyPr wrap="square" rtlCol="0">
            <a:spAutoFit/>
          </a:bodyPr>
          <a:lstStyle/>
          <a:p>
            <a:pPr algn="ctr"/>
            <a:r>
              <a:rPr lang="en-US" sz="1400" b="1" dirty="0"/>
              <a:t>I can read the cache state change </a:t>
            </a:r>
            <a:r>
              <a:rPr lang="en-US" sz="1800" b="1" dirty="0">
                <a:solidFill>
                  <a:srgbClr val="FF0000"/>
                </a:solidFill>
              </a:rPr>
              <a:t>!!</a:t>
            </a:r>
            <a:endParaRPr lang="en-US" sz="1400" b="1" dirty="0">
              <a:solidFill>
                <a:srgbClr val="FF0000"/>
              </a:solidFill>
            </a:endParaRPr>
          </a:p>
        </p:txBody>
      </p:sp>
      <p:sp>
        <p:nvSpPr>
          <p:cNvPr id="3" name="Flowchart: Terminator 2">
            <a:extLst>
              <a:ext uri="{FF2B5EF4-FFF2-40B4-BE49-F238E27FC236}">
                <a16:creationId xmlns:a16="http://schemas.microsoft.com/office/drawing/2014/main" id="{1BBEA8F2-C861-40CB-BF3C-2158807E7B71}"/>
              </a:ext>
            </a:extLst>
          </p:cNvPr>
          <p:cNvSpPr/>
          <p:nvPr/>
        </p:nvSpPr>
        <p:spPr>
          <a:xfrm>
            <a:off x="2941826" y="2457772"/>
            <a:ext cx="880538" cy="355598"/>
          </a:xfrm>
          <a:prstGeom prst="flowChartTerminator">
            <a:avLst/>
          </a:prstGeom>
          <a:noFill/>
          <a:ln w="28575">
            <a:solidFill>
              <a:srgbClr val="B61C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Branching diagram">
            <a:extLst>
              <a:ext uri="{FF2B5EF4-FFF2-40B4-BE49-F238E27FC236}">
                <a16:creationId xmlns:a16="http://schemas.microsoft.com/office/drawing/2014/main" id="{D34DF998-75D6-4616-B9CD-56412ABFB1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3779197" y="2376726"/>
            <a:ext cx="601966" cy="601966"/>
          </a:xfrm>
          <a:prstGeom prst="rect">
            <a:avLst/>
          </a:prstGeom>
        </p:spPr>
      </p:pic>
      <p:graphicFrame>
        <p:nvGraphicFramePr>
          <p:cNvPr id="52" name="Table 51">
            <a:extLst>
              <a:ext uri="{FF2B5EF4-FFF2-40B4-BE49-F238E27FC236}">
                <a16:creationId xmlns:a16="http://schemas.microsoft.com/office/drawing/2014/main" id="{C8E9EA3C-FF42-46C8-9535-9A41F92382BD}"/>
              </a:ext>
            </a:extLst>
          </p:cNvPr>
          <p:cNvGraphicFramePr>
            <a:graphicFrameLocks noGrp="1"/>
          </p:cNvGraphicFramePr>
          <p:nvPr/>
        </p:nvGraphicFramePr>
        <p:xfrm>
          <a:off x="10328359" y="3967703"/>
          <a:ext cx="1448042" cy="2834640"/>
        </p:xfrm>
        <a:graphic>
          <a:graphicData uri="http://schemas.openxmlformats.org/drawingml/2006/table">
            <a:tbl>
              <a:tblPr firstRow="1" bandRow="1">
                <a:tableStyleId>{5C22544A-7EE6-4342-B048-85BDC9FD1C3A}</a:tableStyleId>
              </a:tblPr>
              <a:tblGrid>
                <a:gridCol w="724021">
                  <a:extLst>
                    <a:ext uri="{9D8B030D-6E8A-4147-A177-3AD203B41FA5}">
                      <a16:colId xmlns:a16="http://schemas.microsoft.com/office/drawing/2014/main" val="2494677285"/>
                    </a:ext>
                  </a:extLst>
                </a:gridCol>
                <a:gridCol w="724021">
                  <a:extLst>
                    <a:ext uri="{9D8B030D-6E8A-4147-A177-3AD203B41FA5}">
                      <a16:colId xmlns:a16="http://schemas.microsoft.com/office/drawing/2014/main" val="2731367003"/>
                    </a:ext>
                  </a:extLst>
                </a:gridCol>
              </a:tblGrid>
              <a:tr h="753777">
                <a:tc>
                  <a:txBody>
                    <a:bodyPr/>
                    <a:lstStyle/>
                    <a:p>
                      <a:pPr algn="ctr"/>
                      <a:endParaRPr lang="en-US" b="0" dirty="0">
                        <a:solidFill>
                          <a:schemeClr val="tx1"/>
                        </a:solidFill>
                      </a:endParaRPr>
                    </a:p>
                    <a:p>
                      <a:pPr algn="ctr"/>
                      <a:r>
                        <a:rPr lang="en-US" b="0" dirty="0">
                          <a:solidFill>
                            <a:schemeClr val="tx1"/>
                          </a:solidFill>
                        </a:rPr>
                        <a:t>A4F7</a:t>
                      </a:r>
                    </a:p>
                  </a:txBody>
                  <a:tcPr>
                    <a:solidFill>
                      <a:schemeClr val="accent1">
                        <a:lumMod val="60000"/>
                        <a:lumOff val="40000"/>
                      </a:schemeClr>
                    </a:solidFill>
                  </a:tcPr>
                </a:tc>
                <a:tc>
                  <a:txBody>
                    <a:bodyPr/>
                    <a:lstStyle/>
                    <a:p>
                      <a:pPr algn="ctr"/>
                      <a:endParaRPr lang="en-US" b="0" dirty="0">
                        <a:solidFill>
                          <a:schemeClr val="tx1"/>
                        </a:solidFill>
                      </a:endParaRPr>
                    </a:p>
                    <a:p>
                      <a:pPr algn="ctr"/>
                      <a:r>
                        <a:rPr lang="en-US" b="0" dirty="0">
                          <a:solidFill>
                            <a:schemeClr val="tx1"/>
                          </a:solidFill>
                        </a:rPr>
                        <a:t>D33A</a:t>
                      </a:r>
                    </a:p>
                    <a:p>
                      <a:pPr algn="ctr"/>
                      <a:endParaRPr lang="en-US" dirty="0"/>
                    </a:p>
                  </a:txBody>
                  <a:tcPr>
                    <a:solidFill>
                      <a:schemeClr val="accent1">
                        <a:lumMod val="60000"/>
                        <a:lumOff val="40000"/>
                      </a:schemeClr>
                    </a:solidFill>
                  </a:tcPr>
                </a:tc>
                <a:extLst>
                  <a:ext uri="{0D108BD9-81ED-4DB2-BD59-A6C34878D82A}">
                    <a16:rowId xmlns:a16="http://schemas.microsoft.com/office/drawing/2014/main" val="1977161375"/>
                  </a:ext>
                </a:extLst>
              </a:tr>
              <a:tr h="529248">
                <a:tc>
                  <a:txBody>
                    <a:bodyPr/>
                    <a:lstStyle/>
                    <a:p>
                      <a:pPr algn="ctr"/>
                      <a:endParaRPr lang="en-US" dirty="0"/>
                    </a:p>
                    <a:p>
                      <a:pPr algn="ctr"/>
                      <a:r>
                        <a:rPr lang="en-US" dirty="0"/>
                        <a:t>F44A</a:t>
                      </a:r>
                    </a:p>
                  </a:txBody>
                  <a:tcPr>
                    <a:solidFill>
                      <a:schemeClr val="accent1">
                        <a:lumMod val="60000"/>
                        <a:lumOff val="40000"/>
                      </a:schemeClr>
                    </a:solidFill>
                  </a:tcPr>
                </a:tc>
                <a:tc>
                  <a:txBody>
                    <a:bodyPr/>
                    <a:lstStyle/>
                    <a:p>
                      <a:pPr algn="ctr"/>
                      <a:endParaRPr lang="en-US" dirty="0"/>
                    </a:p>
                    <a:p>
                      <a:pPr algn="ctr"/>
                      <a:r>
                        <a:rPr lang="en-US" dirty="0"/>
                        <a:t>F12A</a:t>
                      </a:r>
                    </a:p>
                  </a:txBody>
                  <a:tcPr>
                    <a:solidFill>
                      <a:schemeClr val="accent1">
                        <a:lumMod val="60000"/>
                        <a:lumOff val="40000"/>
                      </a:schemeClr>
                    </a:solidFill>
                  </a:tcPr>
                </a:tc>
                <a:extLst>
                  <a:ext uri="{0D108BD9-81ED-4DB2-BD59-A6C34878D82A}">
                    <a16:rowId xmlns:a16="http://schemas.microsoft.com/office/drawing/2014/main" val="2611389479"/>
                  </a:ext>
                </a:extLst>
              </a:tr>
              <a:tr h="529248">
                <a:tc>
                  <a:txBody>
                    <a:bodyPr/>
                    <a:lstStyle/>
                    <a:p>
                      <a:pPr algn="ctr"/>
                      <a:endParaRPr lang="en-US" dirty="0"/>
                    </a:p>
                    <a:p>
                      <a:pPr algn="ctr"/>
                      <a:r>
                        <a:rPr lang="en-US" dirty="0"/>
                        <a:t>10A3</a:t>
                      </a:r>
                    </a:p>
                  </a:txBody>
                  <a:tcPr>
                    <a:solidFill>
                      <a:schemeClr val="accent1">
                        <a:lumMod val="60000"/>
                        <a:lumOff val="40000"/>
                      </a:schemeClr>
                    </a:solidFill>
                  </a:tcPr>
                </a:tc>
                <a:tc>
                  <a:txBody>
                    <a:bodyPr/>
                    <a:lstStyle/>
                    <a:p>
                      <a:pPr algn="ctr"/>
                      <a:endParaRPr lang="en-US" dirty="0"/>
                    </a:p>
                    <a:p>
                      <a:pPr algn="ctr"/>
                      <a:r>
                        <a:rPr lang="en-US" dirty="0"/>
                        <a:t>345B</a:t>
                      </a:r>
                    </a:p>
                  </a:txBody>
                  <a:tcPr>
                    <a:solidFill>
                      <a:schemeClr val="accent1">
                        <a:lumMod val="60000"/>
                        <a:lumOff val="40000"/>
                      </a:schemeClr>
                    </a:solidFill>
                  </a:tcPr>
                </a:tc>
                <a:extLst>
                  <a:ext uri="{0D108BD9-81ED-4DB2-BD59-A6C34878D82A}">
                    <a16:rowId xmlns:a16="http://schemas.microsoft.com/office/drawing/2014/main" val="3510986219"/>
                  </a:ext>
                </a:extLst>
              </a:tr>
              <a:tr h="529248">
                <a:tc>
                  <a:txBody>
                    <a:bodyPr/>
                    <a:lstStyle/>
                    <a:p>
                      <a:pPr algn="ctr"/>
                      <a:endParaRPr lang="en-US" dirty="0"/>
                    </a:p>
                    <a:p>
                      <a:pPr algn="ctr"/>
                      <a:r>
                        <a:rPr lang="en-US" dirty="0"/>
                        <a:t>1234</a:t>
                      </a:r>
                    </a:p>
                  </a:txBody>
                  <a:tcPr>
                    <a:solidFill>
                      <a:schemeClr val="accent1">
                        <a:lumMod val="60000"/>
                        <a:lumOff val="40000"/>
                      </a:schemeClr>
                    </a:solidFill>
                  </a:tcPr>
                </a:tc>
                <a:tc>
                  <a:txBody>
                    <a:bodyPr/>
                    <a:lstStyle/>
                    <a:p>
                      <a:pPr algn="ctr"/>
                      <a:endParaRPr lang="en-US" dirty="0"/>
                    </a:p>
                    <a:p>
                      <a:pPr algn="ctr"/>
                      <a:r>
                        <a:rPr lang="en-US" dirty="0"/>
                        <a:t>AB12</a:t>
                      </a:r>
                    </a:p>
                  </a:txBody>
                  <a:tcPr>
                    <a:solidFill>
                      <a:schemeClr val="accent1">
                        <a:lumMod val="60000"/>
                        <a:lumOff val="40000"/>
                      </a:schemeClr>
                    </a:solidFill>
                  </a:tcPr>
                </a:tc>
                <a:extLst>
                  <a:ext uri="{0D108BD9-81ED-4DB2-BD59-A6C34878D82A}">
                    <a16:rowId xmlns:a16="http://schemas.microsoft.com/office/drawing/2014/main" val="1251923358"/>
                  </a:ext>
                </a:extLst>
              </a:tr>
            </a:tbl>
          </a:graphicData>
        </a:graphic>
      </p:graphicFrame>
      <p:sp>
        <p:nvSpPr>
          <p:cNvPr id="53" name="Oval 52">
            <a:extLst>
              <a:ext uri="{FF2B5EF4-FFF2-40B4-BE49-F238E27FC236}">
                <a16:creationId xmlns:a16="http://schemas.microsoft.com/office/drawing/2014/main" id="{4CDC3605-E42C-4D84-BF17-57B69AADE0AC}"/>
              </a:ext>
            </a:extLst>
          </p:cNvPr>
          <p:cNvSpPr/>
          <p:nvPr/>
        </p:nvSpPr>
        <p:spPr>
          <a:xfrm>
            <a:off x="10360445" y="6246422"/>
            <a:ext cx="657226" cy="414067"/>
          </a:xfrm>
          <a:prstGeom prst="ellipse">
            <a:avLst/>
          </a:prstGeom>
          <a:noFill/>
          <a:ln w="38100">
            <a:solidFill>
              <a:srgbClr val="226D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Arrow: Bent-Up 53">
            <a:extLst>
              <a:ext uri="{FF2B5EF4-FFF2-40B4-BE49-F238E27FC236}">
                <a16:creationId xmlns:a16="http://schemas.microsoft.com/office/drawing/2014/main" id="{085DEA04-FD93-48D4-BFA5-064DA9366A79}"/>
              </a:ext>
            </a:extLst>
          </p:cNvPr>
          <p:cNvSpPr/>
          <p:nvPr/>
        </p:nvSpPr>
        <p:spPr>
          <a:xfrm rot="5400000">
            <a:off x="9820985" y="6041578"/>
            <a:ext cx="407939" cy="657225"/>
          </a:xfrm>
          <a:prstGeom prst="bentUp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00530117-576C-4A1E-922E-2658F508E132}"/>
              </a:ext>
            </a:extLst>
          </p:cNvPr>
          <p:cNvSpPr txBox="1"/>
          <p:nvPr/>
        </p:nvSpPr>
        <p:spPr>
          <a:xfrm>
            <a:off x="7344206" y="5398722"/>
            <a:ext cx="3209085" cy="646331"/>
          </a:xfrm>
          <a:prstGeom prst="rect">
            <a:avLst/>
          </a:prstGeom>
          <a:noFill/>
        </p:spPr>
        <p:txBody>
          <a:bodyPr wrap="square" rtlCol="0">
            <a:spAutoFit/>
          </a:bodyPr>
          <a:lstStyle/>
          <a:p>
            <a:pPr lvl="3" algn="ctr"/>
            <a:r>
              <a:rPr lang="en-US" b="1" dirty="0">
                <a:solidFill>
                  <a:srgbClr val="FFC000"/>
                </a:solidFill>
              </a:rPr>
              <a:t>SECRET DEPENDENT</a:t>
            </a:r>
          </a:p>
        </p:txBody>
      </p:sp>
      <p:sp>
        <p:nvSpPr>
          <p:cNvPr id="6" name="Rectangle 5">
            <a:extLst>
              <a:ext uri="{FF2B5EF4-FFF2-40B4-BE49-F238E27FC236}">
                <a16:creationId xmlns:a16="http://schemas.microsoft.com/office/drawing/2014/main" id="{EC448A1A-2941-419B-8711-3E8F1134B2DE}"/>
              </a:ext>
            </a:extLst>
          </p:cNvPr>
          <p:cNvSpPr/>
          <p:nvPr/>
        </p:nvSpPr>
        <p:spPr>
          <a:xfrm>
            <a:off x="3915498" y="5302727"/>
            <a:ext cx="488103" cy="726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47DB89AC-469A-4074-833D-CE3C41561EAB}"/>
              </a:ext>
            </a:extLst>
          </p:cNvPr>
          <p:cNvPicPr>
            <a:picLocks noChangeAspect="1"/>
          </p:cNvPicPr>
          <p:nvPr/>
        </p:nvPicPr>
        <p:blipFill>
          <a:blip r:embed="rId5"/>
          <a:stretch>
            <a:fillRect/>
          </a:stretch>
        </p:blipFill>
        <p:spPr>
          <a:xfrm>
            <a:off x="4009393" y="5355736"/>
            <a:ext cx="277875" cy="673636"/>
          </a:xfrm>
          <a:prstGeom prst="rect">
            <a:avLst/>
          </a:prstGeom>
        </p:spPr>
      </p:pic>
      <p:sp>
        <p:nvSpPr>
          <p:cNvPr id="58" name="Rectangle 57">
            <a:extLst>
              <a:ext uri="{FF2B5EF4-FFF2-40B4-BE49-F238E27FC236}">
                <a16:creationId xmlns:a16="http://schemas.microsoft.com/office/drawing/2014/main" id="{08849F79-86AF-49D5-A26E-323D5644667A}"/>
              </a:ext>
            </a:extLst>
          </p:cNvPr>
          <p:cNvSpPr/>
          <p:nvPr/>
        </p:nvSpPr>
        <p:spPr>
          <a:xfrm>
            <a:off x="6894493" y="5402661"/>
            <a:ext cx="600691" cy="7635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9" name="Picture 58">
            <a:extLst>
              <a:ext uri="{FF2B5EF4-FFF2-40B4-BE49-F238E27FC236}">
                <a16:creationId xmlns:a16="http://schemas.microsoft.com/office/drawing/2014/main" id="{BEE48936-C7B2-4A73-B724-956BC3A4D297}"/>
              </a:ext>
            </a:extLst>
          </p:cNvPr>
          <p:cNvPicPr>
            <a:picLocks noChangeAspect="1"/>
          </p:cNvPicPr>
          <p:nvPr/>
        </p:nvPicPr>
        <p:blipFill>
          <a:blip r:embed="rId5"/>
          <a:stretch>
            <a:fillRect/>
          </a:stretch>
        </p:blipFill>
        <p:spPr>
          <a:xfrm>
            <a:off x="6894493" y="5490384"/>
            <a:ext cx="277875" cy="673636"/>
          </a:xfrm>
          <a:prstGeom prst="rect">
            <a:avLst/>
          </a:prstGeom>
        </p:spPr>
      </p:pic>
      <p:pic>
        <p:nvPicPr>
          <p:cNvPr id="60" name="Picture 59">
            <a:extLst>
              <a:ext uri="{FF2B5EF4-FFF2-40B4-BE49-F238E27FC236}">
                <a16:creationId xmlns:a16="http://schemas.microsoft.com/office/drawing/2014/main" id="{A54B713E-3CB8-43C6-A5FD-8A8613D2AF2A}"/>
              </a:ext>
            </a:extLst>
          </p:cNvPr>
          <p:cNvPicPr>
            <a:picLocks noChangeAspect="1"/>
          </p:cNvPicPr>
          <p:nvPr/>
        </p:nvPicPr>
        <p:blipFill>
          <a:blip r:embed="rId5"/>
          <a:stretch>
            <a:fillRect/>
          </a:stretch>
        </p:blipFill>
        <p:spPr>
          <a:xfrm rot="10605012">
            <a:off x="7162659" y="5441727"/>
            <a:ext cx="277875" cy="673636"/>
          </a:xfrm>
          <a:prstGeom prst="rect">
            <a:avLst/>
          </a:prstGeom>
        </p:spPr>
      </p:pic>
      <p:sp>
        <p:nvSpPr>
          <p:cNvPr id="23" name="TextBox 22">
            <a:extLst>
              <a:ext uri="{FF2B5EF4-FFF2-40B4-BE49-F238E27FC236}">
                <a16:creationId xmlns:a16="http://schemas.microsoft.com/office/drawing/2014/main" id="{896D6EFA-AF71-4141-8CFD-5A80277E27B5}"/>
              </a:ext>
            </a:extLst>
          </p:cNvPr>
          <p:cNvSpPr txBox="1"/>
          <p:nvPr/>
        </p:nvSpPr>
        <p:spPr>
          <a:xfrm>
            <a:off x="3830268" y="6055567"/>
            <a:ext cx="657225" cy="461665"/>
          </a:xfrm>
          <a:prstGeom prst="rect">
            <a:avLst/>
          </a:prstGeom>
          <a:noFill/>
        </p:spPr>
        <p:txBody>
          <a:bodyPr wrap="square" rtlCol="0">
            <a:spAutoFit/>
          </a:bodyPr>
          <a:lstStyle/>
          <a:p>
            <a:r>
              <a:rPr lang="en-US" sz="1200" b="1" i="1" dirty="0"/>
              <a:t>Same thread</a:t>
            </a:r>
          </a:p>
        </p:txBody>
      </p:sp>
      <p:sp>
        <p:nvSpPr>
          <p:cNvPr id="62" name="TextBox 61">
            <a:extLst>
              <a:ext uri="{FF2B5EF4-FFF2-40B4-BE49-F238E27FC236}">
                <a16:creationId xmlns:a16="http://schemas.microsoft.com/office/drawing/2014/main" id="{DECFB620-D11E-44F4-A017-0D27BCB0567C}"/>
              </a:ext>
            </a:extLst>
          </p:cNvPr>
          <p:cNvSpPr txBox="1"/>
          <p:nvPr/>
        </p:nvSpPr>
        <p:spPr>
          <a:xfrm>
            <a:off x="6894493" y="6210421"/>
            <a:ext cx="657225" cy="276999"/>
          </a:xfrm>
          <a:prstGeom prst="rect">
            <a:avLst/>
          </a:prstGeom>
          <a:noFill/>
        </p:spPr>
        <p:txBody>
          <a:bodyPr wrap="square" rtlCol="0">
            <a:spAutoFit/>
          </a:bodyPr>
          <a:lstStyle/>
          <a:p>
            <a:r>
              <a:rPr lang="en-US" sz="1200" b="1" i="1" dirty="0"/>
              <a:t>SMT</a:t>
            </a:r>
          </a:p>
        </p:txBody>
      </p:sp>
      <p:sp>
        <p:nvSpPr>
          <p:cNvPr id="63" name="TextBox 62">
            <a:extLst>
              <a:ext uri="{FF2B5EF4-FFF2-40B4-BE49-F238E27FC236}">
                <a16:creationId xmlns:a16="http://schemas.microsoft.com/office/drawing/2014/main" id="{9BE99662-D997-4A36-9D9C-B5F6A669B026}"/>
              </a:ext>
            </a:extLst>
          </p:cNvPr>
          <p:cNvSpPr txBox="1"/>
          <p:nvPr/>
        </p:nvSpPr>
        <p:spPr>
          <a:xfrm>
            <a:off x="3870992" y="4999533"/>
            <a:ext cx="657225" cy="292388"/>
          </a:xfrm>
          <a:prstGeom prst="rect">
            <a:avLst/>
          </a:prstGeom>
          <a:noFill/>
        </p:spPr>
        <p:txBody>
          <a:bodyPr wrap="square" rtlCol="0">
            <a:spAutoFit/>
          </a:bodyPr>
          <a:lstStyle/>
          <a:p>
            <a:r>
              <a:rPr lang="en-US" sz="1300" b="1" i="1" dirty="0"/>
              <a:t>Core</a:t>
            </a:r>
          </a:p>
        </p:txBody>
      </p:sp>
      <p:sp>
        <p:nvSpPr>
          <p:cNvPr id="66" name="TextBox 65">
            <a:extLst>
              <a:ext uri="{FF2B5EF4-FFF2-40B4-BE49-F238E27FC236}">
                <a16:creationId xmlns:a16="http://schemas.microsoft.com/office/drawing/2014/main" id="{FBF5953E-44F4-4A57-90F3-3D9E065E6B06}"/>
              </a:ext>
            </a:extLst>
          </p:cNvPr>
          <p:cNvSpPr txBox="1"/>
          <p:nvPr/>
        </p:nvSpPr>
        <p:spPr>
          <a:xfrm>
            <a:off x="6908163" y="5061579"/>
            <a:ext cx="657225" cy="292388"/>
          </a:xfrm>
          <a:prstGeom prst="rect">
            <a:avLst/>
          </a:prstGeom>
          <a:noFill/>
        </p:spPr>
        <p:txBody>
          <a:bodyPr wrap="square" rtlCol="0">
            <a:spAutoFit/>
          </a:bodyPr>
          <a:lstStyle/>
          <a:p>
            <a:r>
              <a:rPr lang="en-US" sz="1300" b="1" i="1" dirty="0"/>
              <a:t>Core</a:t>
            </a:r>
          </a:p>
        </p:txBody>
      </p:sp>
      <p:pic>
        <p:nvPicPr>
          <p:cNvPr id="67" name="Picture 66">
            <a:extLst>
              <a:ext uri="{FF2B5EF4-FFF2-40B4-BE49-F238E27FC236}">
                <a16:creationId xmlns:a16="http://schemas.microsoft.com/office/drawing/2014/main" id="{6D241747-0D5A-45BE-A1CA-A51D00805BD6}"/>
              </a:ext>
            </a:extLst>
          </p:cNvPr>
          <p:cNvPicPr>
            <a:picLocks noChangeAspect="1"/>
          </p:cNvPicPr>
          <p:nvPr/>
        </p:nvPicPr>
        <p:blipFill>
          <a:blip r:embed="rId6"/>
          <a:stretch>
            <a:fillRect/>
          </a:stretch>
        </p:blipFill>
        <p:spPr>
          <a:xfrm>
            <a:off x="3189991" y="6011882"/>
            <a:ext cx="532366" cy="532366"/>
          </a:xfrm>
          <a:prstGeom prst="rect">
            <a:avLst/>
          </a:prstGeom>
        </p:spPr>
      </p:pic>
      <p:pic>
        <p:nvPicPr>
          <p:cNvPr id="69" name="Picture 68">
            <a:extLst>
              <a:ext uri="{FF2B5EF4-FFF2-40B4-BE49-F238E27FC236}">
                <a16:creationId xmlns:a16="http://schemas.microsoft.com/office/drawing/2014/main" id="{A565DED7-0901-4238-A527-F9DD3595E4E6}"/>
              </a:ext>
            </a:extLst>
          </p:cNvPr>
          <p:cNvPicPr>
            <a:picLocks noChangeAspect="1"/>
          </p:cNvPicPr>
          <p:nvPr/>
        </p:nvPicPr>
        <p:blipFill>
          <a:blip r:embed="rId6"/>
          <a:stretch>
            <a:fillRect/>
          </a:stretch>
        </p:blipFill>
        <p:spPr>
          <a:xfrm>
            <a:off x="7434463" y="5636391"/>
            <a:ext cx="392982" cy="392982"/>
          </a:xfrm>
          <a:prstGeom prst="rect">
            <a:avLst/>
          </a:prstGeom>
        </p:spPr>
      </p:pic>
      <p:sp>
        <p:nvSpPr>
          <p:cNvPr id="64" name="Text Placeholder 5">
            <a:extLst>
              <a:ext uri="{FF2B5EF4-FFF2-40B4-BE49-F238E27FC236}">
                <a16:creationId xmlns:a16="http://schemas.microsoft.com/office/drawing/2014/main" id="{B43E9037-7453-4E72-920F-7E52F9132A9F}"/>
              </a:ext>
            </a:extLst>
          </p:cNvPr>
          <p:cNvSpPr txBox="1">
            <a:spLocks/>
          </p:cNvSpPr>
          <p:nvPr/>
        </p:nvSpPr>
        <p:spPr>
          <a:xfrm>
            <a:off x="10414778" y="3582568"/>
            <a:ext cx="1257382" cy="538579"/>
          </a:xfrm>
          <a:prstGeom prst="rect">
            <a:avLst/>
          </a:prstGeom>
          <a:noFill/>
          <a:ln>
            <a:noFill/>
          </a:ln>
        </p:spPr>
        <p:txBody>
          <a:bodyPr spcFirstLastPara="1" wrap="square" lIns="91425" tIns="91425" rIns="91425" bIns="91425" rtlCol="0" anchor="t" anchorCtr="0">
            <a:spAutoFit/>
          </a:bodyPr>
          <a:lstStyle>
            <a:defPPr marR="0" lvl="0" algn="l" rtl="0">
              <a:lnSpc>
                <a:spcPct val="100000"/>
              </a:lnSpc>
              <a:spcBef>
                <a:spcPts val="0"/>
              </a:spcBef>
              <a:spcAft>
                <a:spcPts val="0"/>
              </a:spcAft>
            </a:defPPr>
            <a:lvl1pPr marL="548640" marR="0" lvl="0" indent="-502920" algn="l" rtl="0">
              <a:lnSpc>
                <a:spcPct val="115000"/>
              </a:lnSpc>
              <a:spcBef>
                <a:spcPts val="0"/>
              </a:spcBef>
              <a:spcAft>
                <a:spcPts val="0"/>
              </a:spcAft>
              <a:buClr>
                <a:srgbClr val="000000"/>
              </a:buClr>
              <a:buSzPts val="3000"/>
              <a:buFont typeface="Arial"/>
              <a:buChar char="●"/>
              <a:defRPr sz="3000" b="0" i="0" u="none" strike="noStrike" cap="none">
                <a:solidFill>
                  <a:srgbClr val="000000"/>
                </a:solidFill>
                <a:latin typeface="Arial"/>
                <a:ea typeface="Arial"/>
                <a:cs typeface="Arial"/>
                <a:sym typeface="Arial"/>
              </a:defRPr>
            </a:lvl1pPr>
            <a:lvl2pPr marL="1097280" marR="0" lvl="1" indent="-502920" algn="l" rtl="0">
              <a:lnSpc>
                <a:spcPct val="115000"/>
              </a:lnSpc>
              <a:spcBef>
                <a:spcPts val="1920"/>
              </a:spcBef>
              <a:spcAft>
                <a:spcPts val="0"/>
              </a:spcAft>
              <a:buClr>
                <a:schemeClr val="dk2"/>
              </a:buClr>
              <a:buSzPts val="3000"/>
              <a:buFont typeface="Arial"/>
              <a:buChar char="○"/>
              <a:defRPr sz="3000" b="0" i="0" u="none" strike="noStrike" cap="none">
                <a:solidFill>
                  <a:schemeClr val="dk2"/>
                </a:solidFill>
                <a:latin typeface="Arial"/>
                <a:ea typeface="Arial"/>
                <a:cs typeface="Arial"/>
                <a:sym typeface="Arial"/>
              </a:defRPr>
            </a:lvl2pPr>
            <a:lvl3pPr marL="1645920" marR="0" lvl="2" indent="-502920" algn="l" rtl="0">
              <a:lnSpc>
                <a:spcPct val="115000"/>
              </a:lnSpc>
              <a:spcBef>
                <a:spcPts val="1920"/>
              </a:spcBef>
              <a:spcAft>
                <a:spcPts val="0"/>
              </a:spcAft>
              <a:buClr>
                <a:schemeClr val="dk2"/>
              </a:buClr>
              <a:buSzPts val="3000"/>
              <a:buFont typeface="Arial"/>
              <a:buChar char="■"/>
              <a:defRPr sz="3000" b="0" i="0" u="none" strike="noStrike" cap="none">
                <a:solidFill>
                  <a:schemeClr val="dk2"/>
                </a:solidFill>
                <a:latin typeface="Arial"/>
                <a:ea typeface="Arial"/>
                <a:cs typeface="Arial"/>
                <a:sym typeface="Arial"/>
              </a:defRPr>
            </a:lvl3pPr>
            <a:lvl4pPr marL="2194560" marR="0" lvl="3" indent="-502920" algn="l" rtl="0">
              <a:lnSpc>
                <a:spcPct val="115000"/>
              </a:lnSpc>
              <a:spcBef>
                <a:spcPts val="1920"/>
              </a:spcBef>
              <a:spcAft>
                <a:spcPts val="0"/>
              </a:spcAft>
              <a:buClr>
                <a:schemeClr val="dk2"/>
              </a:buClr>
              <a:buSzPts val="3000"/>
              <a:buFont typeface="Arial"/>
              <a:buChar char="●"/>
              <a:defRPr sz="3000" b="0" i="0" u="none" strike="noStrike" cap="none">
                <a:solidFill>
                  <a:schemeClr val="dk2"/>
                </a:solidFill>
                <a:latin typeface="Arial"/>
                <a:ea typeface="Arial"/>
                <a:cs typeface="Arial"/>
                <a:sym typeface="Arial"/>
              </a:defRPr>
            </a:lvl4pPr>
            <a:lvl5pPr marL="2743200" marR="0" lvl="4" indent="-502920" algn="l" rtl="0">
              <a:lnSpc>
                <a:spcPct val="115000"/>
              </a:lnSpc>
              <a:spcBef>
                <a:spcPts val="1920"/>
              </a:spcBef>
              <a:spcAft>
                <a:spcPts val="0"/>
              </a:spcAft>
              <a:buClr>
                <a:schemeClr val="dk2"/>
              </a:buClr>
              <a:buSzPts val="3000"/>
              <a:buFont typeface="Arial"/>
              <a:buChar char="○"/>
              <a:defRPr sz="3000" b="0" i="0" u="none" strike="noStrike" cap="none">
                <a:solidFill>
                  <a:schemeClr val="dk2"/>
                </a:solidFill>
                <a:latin typeface="Arial"/>
                <a:ea typeface="Arial"/>
                <a:cs typeface="Arial"/>
                <a:sym typeface="Arial"/>
              </a:defRPr>
            </a:lvl5pPr>
            <a:lvl6pPr marL="3291840" marR="0" lvl="5" indent="-502920" algn="l" rtl="0">
              <a:lnSpc>
                <a:spcPct val="115000"/>
              </a:lnSpc>
              <a:spcBef>
                <a:spcPts val="1920"/>
              </a:spcBef>
              <a:spcAft>
                <a:spcPts val="0"/>
              </a:spcAft>
              <a:buClr>
                <a:schemeClr val="dk2"/>
              </a:buClr>
              <a:buSzPts val="3000"/>
              <a:buFont typeface="Arial"/>
              <a:buChar char="■"/>
              <a:defRPr sz="3000" b="0" i="0" u="none" strike="noStrike" cap="none">
                <a:solidFill>
                  <a:schemeClr val="dk2"/>
                </a:solidFill>
                <a:latin typeface="Arial"/>
                <a:ea typeface="Arial"/>
                <a:cs typeface="Arial"/>
                <a:sym typeface="Arial"/>
              </a:defRPr>
            </a:lvl6pPr>
            <a:lvl7pPr marL="3840480" marR="0" lvl="6" indent="-502920" algn="l" rtl="0">
              <a:lnSpc>
                <a:spcPct val="115000"/>
              </a:lnSpc>
              <a:spcBef>
                <a:spcPts val="1920"/>
              </a:spcBef>
              <a:spcAft>
                <a:spcPts val="0"/>
              </a:spcAft>
              <a:buClr>
                <a:schemeClr val="dk2"/>
              </a:buClr>
              <a:buSzPts val="3000"/>
              <a:buFont typeface="Arial"/>
              <a:buChar char="●"/>
              <a:defRPr sz="3000" b="0" i="0" u="none" strike="noStrike" cap="none">
                <a:solidFill>
                  <a:schemeClr val="dk2"/>
                </a:solidFill>
                <a:latin typeface="Arial"/>
                <a:ea typeface="Arial"/>
                <a:cs typeface="Arial"/>
                <a:sym typeface="Arial"/>
              </a:defRPr>
            </a:lvl7pPr>
            <a:lvl8pPr marL="4389120" marR="0" lvl="7" indent="-502920" algn="l" rtl="0">
              <a:lnSpc>
                <a:spcPct val="115000"/>
              </a:lnSpc>
              <a:spcBef>
                <a:spcPts val="1920"/>
              </a:spcBef>
              <a:spcAft>
                <a:spcPts val="0"/>
              </a:spcAft>
              <a:buClr>
                <a:schemeClr val="dk2"/>
              </a:buClr>
              <a:buSzPts val="3000"/>
              <a:buFont typeface="Arial"/>
              <a:buChar char="○"/>
              <a:defRPr sz="3000" b="0" i="0" u="none" strike="noStrike" cap="none">
                <a:solidFill>
                  <a:schemeClr val="dk2"/>
                </a:solidFill>
                <a:latin typeface="Arial"/>
                <a:ea typeface="Arial"/>
                <a:cs typeface="Arial"/>
                <a:sym typeface="Arial"/>
              </a:defRPr>
            </a:lvl8pPr>
            <a:lvl9pPr marL="4937760" marR="0" lvl="8" indent="-502920" algn="l" rtl="0">
              <a:lnSpc>
                <a:spcPct val="115000"/>
              </a:lnSpc>
              <a:spcBef>
                <a:spcPts val="1920"/>
              </a:spcBef>
              <a:spcAft>
                <a:spcPts val="1920"/>
              </a:spcAft>
              <a:buClr>
                <a:schemeClr val="dk2"/>
              </a:buClr>
              <a:buSzPts val="3000"/>
              <a:buFont typeface="Arial"/>
              <a:buChar char="■"/>
              <a:defRPr sz="3000" b="0" i="0" u="none" strike="noStrike" cap="none">
                <a:solidFill>
                  <a:schemeClr val="dk2"/>
                </a:solidFill>
                <a:latin typeface="Arial"/>
                <a:ea typeface="Arial"/>
                <a:cs typeface="Arial"/>
                <a:sym typeface="Arial"/>
              </a:defRPr>
            </a:lvl9pPr>
          </a:lstStyle>
          <a:p>
            <a:pPr marL="45720" indent="0">
              <a:buFont typeface="Arial"/>
              <a:buNone/>
            </a:pPr>
            <a:r>
              <a:rPr lang="en-US" sz="2000" b="1" dirty="0"/>
              <a:t>CACHE</a:t>
            </a:r>
            <a:endParaRPr lang="en-US" sz="2400" b="1" dirty="0"/>
          </a:p>
        </p:txBody>
      </p:sp>
    </p:spTree>
    <p:extLst>
      <p:ext uri="{BB962C8B-B14F-4D97-AF65-F5344CB8AC3E}">
        <p14:creationId xmlns:p14="http://schemas.microsoft.com/office/powerpoint/2010/main" val="373513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5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63"/>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6"/>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2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66"/>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59"/>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69"/>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6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2"/>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5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4" grpId="0" animBg="1"/>
      <p:bldP spid="25" grpId="0"/>
      <p:bldP spid="26" grpId="0"/>
      <p:bldP spid="27" grpId="0"/>
      <p:bldP spid="28" grpId="0"/>
      <p:bldP spid="29" grpId="0"/>
      <p:bldP spid="30" grpId="0"/>
      <p:bldP spid="31" grpId="0"/>
      <p:bldP spid="32" grpId="0"/>
      <p:bldP spid="36" grpId="0"/>
      <p:bldP spid="40" grpId="0"/>
      <p:bldP spid="41" grpId="0" animBg="1"/>
      <p:bldP spid="43" grpId="0"/>
      <p:bldP spid="45" grpId="0"/>
      <p:bldP spid="49" grpId="0" animBg="1"/>
      <p:bldP spid="50" grpId="0"/>
      <p:bldP spid="3" grpId="0" animBg="1"/>
      <p:bldP spid="53" grpId="0" animBg="1"/>
      <p:bldP spid="54" grpId="0" animBg="1"/>
      <p:bldP spid="55" grpId="0"/>
      <p:bldP spid="6" grpId="0" animBg="1"/>
      <p:bldP spid="58" grpId="0" animBg="1"/>
      <p:bldP spid="23" grpId="0"/>
      <p:bldP spid="62" grpId="0"/>
      <p:bldP spid="63" grpId="0"/>
      <p:bldP spid="66" grpId="0"/>
      <p:bldP spid="64"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DC151-8C0D-CBB9-804A-FAD3BD7F473E}"/>
              </a:ext>
            </a:extLst>
          </p:cNvPr>
          <p:cNvSpPr>
            <a:spLocks noGrp="1"/>
          </p:cNvSpPr>
          <p:nvPr>
            <p:ph type="title"/>
          </p:nvPr>
        </p:nvSpPr>
        <p:spPr/>
        <p:txBody>
          <a:bodyPr/>
          <a:lstStyle/>
          <a:p>
            <a:r>
              <a:rPr lang="en-US" dirty="0" err="1"/>
              <a:t>Spectre</a:t>
            </a:r>
            <a:r>
              <a:rPr lang="en-US" dirty="0"/>
              <a:t>: More details	</a:t>
            </a:r>
            <a:endParaRPr lang="en-IN" dirty="0"/>
          </a:p>
        </p:txBody>
      </p:sp>
      <p:sp>
        <p:nvSpPr>
          <p:cNvPr id="3" name="Text Placeholder 2">
            <a:extLst>
              <a:ext uri="{FF2B5EF4-FFF2-40B4-BE49-F238E27FC236}">
                <a16:creationId xmlns:a16="http://schemas.microsoft.com/office/drawing/2014/main" id="{69F4818F-3E6C-F8D7-7047-914F659012AB}"/>
              </a:ext>
            </a:extLst>
          </p:cNvPr>
          <p:cNvSpPr>
            <a:spLocks noGrp="1"/>
          </p:cNvSpPr>
          <p:nvPr>
            <p:ph type="body" idx="1"/>
          </p:nvPr>
        </p:nvSpPr>
        <p:spPr>
          <a:xfrm>
            <a:off x="415600" y="1346429"/>
            <a:ext cx="11873936" cy="5000800"/>
          </a:xfrm>
        </p:spPr>
        <p:txBody>
          <a:bodyPr/>
          <a:lstStyle/>
          <a:p>
            <a:r>
              <a:rPr lang="en-US" dirty="0">
                <a:solidFill>
                  <a:srgbClr val="C00000"/>
                </a:solidFill>
              </a:rPr>
              <a:t>Variant –I: </a:t>
            </a:r>
            <a:r>
              <a:rPr lang="en-US" dirty="0"/>
              <a:t>The attacker tries to affect the prediction of branch outcome. However, the branch predictor is indexed by PC. In reality, some bits of PC. For example, a 1024-entry branch predictor, then a 64-bit PC is hashed into a 10-bit index for the branch predictor.  </a:t>
            </a:r>
          </a:p>
          <a:p>
            <a:r>
              <a:rPr lang="en-US" dirty="0" err="1"/>
              <a:t>Spectre</a:t>
            </a:r>
            <a:r>
              <a:rPr lang="en-US" dirty="0"/>
              <a:t> (variant-I) can happen between two threads of the same core. </a:t>
            </a:r>
          </a:p>
          <a:p>
            <a:r>
              <a:rPr lang="en-US" dirty="0"/>
              <a:t>So it works even on a single core. Can happen at L1 cache/L2 cache/L3 cache </a:t>
            </a:r>
          </a:p>
          <a:p>
            <a:r>
              <a:rPr lang="en-US" dirty="0"/>
              <a:t>It is also possible to attack a core that is not using SMT. How? Context switch: The attacker comes, mis-trains, and a context switch happens, and the victim comes and starts accessing illegitimate addresses. </a:t>
            </a:r>
          </a:p>
          <a:p>
            <a:r>
              <a:rPr lang="en-US" dirty="0">
                <a:solidFill>
                  <a:srgbClr val="C00000"/>
                </a:solidFill>
              </a:rPr>
              <a:t>Variant-II: </a:t>
            </a:r>
            <a:r>
              <a:rPr lang="en-US" dirty="0"/>
              <a:t>It uses Branch Target Buffer and not branch predictor. Attacker writes an instruction that puts target into an address that is not accessible. This is also known as </a:t>
            </a:r>
            <a:r>
              <a:rPr lang="en-US" i="1" dirty="0"/>
              <a:t>branch target injection. Variant-I was bound check bypass. </a:t>
            </a:r>
            <a:r>
              <a:rPr lang="en-US" b="0" i="0" dirty="0">
                <a:solidFill>
                  <a:srgbClr val="262626"/>
                </a:solidFill>
                <a:effectLst/>
                <a:latin typeface="intel-clear"/>
              </a:rPr>
              <a:t>Indirect </a:t>
            </a:r>
            <a:r>
              <a:rPr lang="en-US" b="0" i="0" dirty="0">
                <a:solidFill>
                  <a:srgbClr val="53565A"/>
                </a:solidFill>
                <a:effectLst/>
                <a:latin typeface="Courier New" panose="02070309020205020404" pitchFamily="49" charset="0"/>
              </a:rPr>
              <a:t>JMP </a:t>
            </a:r>
            <a:r>
              <a:rPr lang="en-US" b="0" i="0" dirty="0">
                <a:solidFill>
                  <a:srgbClr val="262626"/>
                </a:solidFill>
                <a:effectLst/>
                <a:latin typeface="intel-clear"/>
              </a:rPr>
              <a:t>instructions consult the indirect branch predictor to direct speculative execution to the most likely target of the branch. </a:t>
            </a:r>
            <a:r>
              <a:rPr lang="en-US" dirty="0"/>
              <a:t> </a:t>
            </a:r>
            <a:endParaRPr lang="en-IN" dirty="0"/>
          </a:p>
        </p:txBody>
      </p:sp>
      <p:sp>
        <p:nvSpPr>
          <p:cNvPr id="4" name="Slide Number Placeholder 3">
            <a:extLst>
              <a:ext uri="{FF2B5EF4-FFF2-40B4-BE49-F238E27FC236}">
                <a16:creationId xmlns:a16="http://schemas.microsoft.com/office/drawing/2014/main" id="{BFEC549A-E47D-053A-6B21-14325F184C41}"/>
              </a:ext>
            </a:extLst>
          </p:cNvPr>
          <p:cNvSpPr>
            <a:spLocks noGrp="1"/>
          </p:cNvSpPr>
          <p:nvPr>
            <p:ph type="sldNum" idx="12"/>
          </p:nvPr>
        </p:nvSpPr>
        <p:spPr/>
        <p:txBody>
          <a:bodyPr/>
          <a:lstStyle/>
          <a:p>
            <a:fld id="{00000000-1234-1234-1234-123412341234}" type="slidenum">
              <a:rPr lang="en" smtClean="0"/>
              <a:pPr/>
              <a:t>4</a:t>
            </a:fld>
            <a:endParaRPr lang="en"/>
          </a:p>
        </p:txBody>
      </p:sp>
    </p:spTree>
    <p:extLst>
      <p:ext uri="{BB962C8B-B14F-4D97-AF65-F5344CB8AC3E}">
        <p14:creationId xmlns:p14="http://schemas.microsoft.com/office/powerpoint/2010/main" val="1267120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7CB19-8663-F045-93BA-87673AC3613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A73CA70-A2A5-A5D7-D4C6-3B909B288C7F}"/>
              </a:ext>
            </a:extLst>
          </p:cNvPr>
          <p:cNvSpPr>
            <a:spLocks noGrp="1"/>
          </p:cNvSpPr>
          <p:nvPr>
            <p:ph type="body" idx="1"/>
          </p:nvPr>
        </p:nvSpPr>
        <p:spPr/>
        <p:txBody>
          <a:bodyPr/>
          <a:lstStyle/>
          <a:p>
            <a:r>
              <a:rPr lang="en-US" dirty="0"/>
              <a:t>Variant-II continues </a:t>
            </a:r>
          </a:p>
          <a:p>
            <a:pPr marL="50799" indent="0">
              <a:buNone/>
            </a:pPr>
            <a:endParaRPr lang="en-US" dirty="0"/>
          </a:p>
          <a:p>
            <a:pPr marL="50799" indent="0">
              <a:buNone/>
            </a:pPr>
            <a:r>
              <a:rPr lang="en-US" dirty="0"/>
              <a:t>An attacker can jump to a </a:t>
            </a:r>
            <a:r>
              <a:rPr lang="en-US" dirty="0" err="1"/>
              <a:t>spectre</a:t>
            </a:r>
            <a:r>
              <a:rPr lang="en-US" dirty="0"/>
              <a:t> gadget code by </a:t>
            </a:r>
            <a:r>
              <a:rPr lang="en-US" dirty="0" err="1"/>
              <a:t>mistraining</a:t>
            </a:r>
            <a:r>
              <a:rPr lang="en-US" dirty="0"/>
              <a:t> the BTB so that a victim will jump to that code snippet and start executing it speculatively. </a:t>
            </a:r>
            <a:endParaRPr lang="en-IN" dirty="0"/>
          </a:p>
        </p:txBody>
      </p:sp>
      <p:sp>
        <p:nvSpPr>
          <p:cNvPr id="4" name="Slide Number Placeholder 3">
            <a:extLst>
              <a:ext uri="{FF2B5EF4-FFF2-40B4-BE49-F238E27FC236}">
                <a16:creationId xmlns:a16="http://schemas.microsoft.com/office/drawing/2014/main" id="{5B9417A9-C713-CEA5-5805-0D2FD3E6B420}"/>
              </a:ext>
            </a:extLst>
          </p:cNvPr>
          <p:cNvSpPr>
            <a:spLocks noGrp="1"/>
          </p:cNvSpPr>
          <p:nvPr>
            <p:ph type="sldNum" idx="12"/>
          </p:nvPr>
        </p:nvSpPr>
        <p:spPr/>
        <p:txBody>
          <a:bodyPr/>
          <a:lstStyle/>
          <a:p>
            <a:fld id="{00000000-1234-1234-1234-123412341234}" type="slidenum">
              <a:rPr lang="en" smtClean="0"/>
              <a:pPr/>
              <a:t>5</a:t>
            </a:fld>
            <a:endParaRPr lang="en"/>
          </a:p>
        </p:txBody>
      </p:sp>
    </p:spTree>
    <p:extLst>
      <p:ext uri="{BB962C8B-B14F-4D97-AF65-F5344CB8AC3E}">
        <p14:creationId xmlns:p14="http://schemas.microsoft.com/office/powerpoint/2010/main" val="3744424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79C32-82C6-CD6D-E24B-419E1A52E152}"/>
              </a:ext>
            </a:extLst>
          </p:cNvPr>
          <p:cNvSpPr>
            <a:spLocks noGrp="1"/>
          </p:cNvSpPr>
          <p:nvPr>
            <p:ph type="title"/>
          </p:nvPr>
        </p:nvSpPr>
        <p:spPr>
          <a:xfrm>
            <a:off x="838200" y="365125"/>
            <a:ext cx="10515600" cy="1325563"/>
          </a:xfrm>
        </p:spPr>
        <p:txBody>
          <a:bodyPr anchor="ctr">
            <a:normAutofit/>
          </a:bodyPr>
          <a:lstStyle/>
          <a:p>
            <a:r>
              <a:rPr lang="en-US" dirty="0"/>
              <a:t>Last 7 years: </a:t>
            </a:r>
            <a:r>
              <a:rPr lang="en-US" dirty="0" err="1"/>
              <a:t>Spectre</a:t>
            </a:r>
            <a:r>
              <a:rPr lang="en-US" dirty="0"/>
              <a:t> continues to ….</a:t>
            </a:r>
            <a:endParaRPr lang="en-IN" dirty="0"/>
          </a:p>
        </p:txBody>
      </p:sp>
      <p:pic>
        <p:nvPicPr>
          <p:cNvPr id="6" name="Picture 5" descr="A screenshot of a computer&#10;&#10;AI-generated content may be incorrect.">
            <a:extLst>
              <a:ext uri="{FF2B5EF4-FFF2-40B4-BE49-F238E27FC236}">
                <a16:creationId xmlns:a16="http://schemas.microsoft.com/office/drawing/2014/main" id="{59CD0368-5ED9-C496-A788-A8EFCB41AFAD}"/>
              </a:ext>
            </a:extLst>
          </p:cNvPr>
          <p:cNvPicPr>
            <a:picLocks noChangeAspect="1"/>
          </p:cNvPicPr>
          <p:nvPr/>
        </p:nvPicPr>
        <p:blipFill>
          <a:blip r:embed="rId2"/>
          <a:stretch>
            <a:fillRect/>
          </a:stretch>
        </p:blipFill>
        <p:spPr>
          <a:xfrm>
            <a:off x="838200" y="2988143"/>
            <a:ext cx="5162550" cy="2026301"/>
          </a:xfrm>
          <a:prstGeom prst="rect">
            <a:avLst/>
          </a:prstGeom>
          <a:noFill/>
        </p:spPr>
      </p:pic>
      <p:sp>
        <p:nvSpPr>
          <p:cNvPr id="4" name="Slide Number Placeholder 3">
            <a:extLst>
              <a:ext uri="{FF2B5EF4-FFF2-40B4-BE49-F238E27FC236}">
                <a16:creationId xmlns:a16="http://schemas.microsoft.com/office/drawing/2014/main" id="{A96F53D5-96C6-CF37-118B-21E2B354B540}"/>
              </a:ext>
            </a:extLst>
          </p:cNvPr>
          <p:cNvSpPr>
            <a:spLocks noGrp="1"/>
          </p:cNvSpPr>
          <p:nvPr>
            <p:ph type="sldNum" sz="quarter" idx="12"/>
          </p:nvPr>
        </p:nvSpPr>
        <p:spPr>
          <a:xfrm>
            <a:off x="8610600" y="6356350"/>
            <a:ext cx="2743200" cy="365125"/>
          </a:xfrm>
        </p:spPr>
        <p:txBody>
          <a:bodyPr anchor="ctr">
            <a:normAutofit/>
          </a:bodyPr>
          <a:lstStyle/>
          <a:p>
            <a:pPr>
              <a:lnSpc>
                <a:spcPct val="90000"/>
              </a:lnSpc>
              <a:spcAft>
                <a:spcPts val="600"/>
              </a:spcAft>
            </a:pPr>
            <a:fld id="{00000000-1234-1234-1234-123412341234}" type="slidenum">
              <a:rPr lang="en" sz="1800" smtClean="0"/>
              <a:pPr>
                <a:lnSpc>
                  <a:spcPct val="90000"/>
                </a:lnSpc>
                <a:spcAft>
                  <a:spcPts val="600"/>
                </a:spcAft>
              </a:pPr>
              <a:t>6</a:t>
            </a:fld>
            <a:endParaRPr lang="en" sz="1800"/>
          </a:p>
        </p:txBody>
      </p:sp>
      <p:pic>
        <p:nvPicPr>
          <p:cNvPr id="8" name="Picture 7" descr="A close-up of a sign&#10;&#10;AI-generated content may be incorrect.">
            <a:extLst>
              <a:ext uri="{FF2B5EF4-FFF2-40B4-BE49-F238E27FC236}">
                <a16:creationId xmlns:a16="http://schemas.microsoft.com/office/drawing/2014/main" id="{78C1F5CE-B79A-99E0-BE5E-9DE45276DE04}"/>
              </a:ext>
            </a:extLst>
          </p:cNvPr>
          <p:cNvPicPr>
            <a:picLocks noChangeAspect="1"/>
          </p:cNvPicPr>
          <p:nvPr/>
        </p:nvPicPr>
        <p:blipFill>
          <a:blip r:embed="rId3"/>
          <a:stretch>
            <a:fillRect/>
          </a:stretch>
        </p:blipFill>
        <p:spPr>
          <a:xfrm>
            <a:off x="6191250" y="2730016"/>
            <a:ext cx="5162550" cy="2542555"/>
          </a:xfrm>
          <a:prstGeom prst="rect">
            <a:avLst/>
          </a:prstGeom>
          <a:noFill/>
        </p:spPr>
      </p:pic>
    </p:spTree>
    <p:extLst>
      <p:ext uri="{BB962C8B-B14F-4D97-AF65-F5344CB8AC3E}">
        <p14:creationId xmlns:p14="http://schemas.microsoft.com/office/powerpoint/2010/main" val="421671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CA23-2916-7CCF-F5CE-5F7AE20506AD}"/>
              </a:ext>
            </a:extLst>
          </p:cNvPr>
          <p:cNvSpPr>
            <a:spLocks noGrp="1"/>
          </p:cNvSpPr>
          <p:nvPr>
            <p:ph type="title"/>
          </p:nvPr>
        </p:nvSpPr>
        <p:spPr/>
        <p:txBody>
          <a:bodyPr/>
          <a:lstStyle/>
          <a:p>
            <a:r>
              <a:rPr lang="en-US" dirty="0"/>
              <a:t>Summary of </a:t>
            </a:r>
            <a:r>
              <a:rPr lang="en-US" dirty="0" err="1"/>
              <a:t>Spectre</a:t>
            </a:r>
            <a:r>
              <a:rPr lang="en-US" dirty="0"/>
              <a:t> Attack: As an attacker </a:t>
            </a:r>
            <a:endParaRPr lang="en-IN" dirty="0"/>
          </a:p>
        </p:txBody>
      </p:sp>
      <p:sp>
        <p:nvSpPr>
          <p:cNvPr id="4" name="Slide Number Placeholder 3">
            <a:extLst>
              <a:ext uri="{FF2B5EF4-FFF2-40B4-BE49-F238E27FC236}">
                <a16:creationId xmlns:a16="http://schemas.microsoft.com/office/drawing/2014/main" id="{228ECCCF-8941-315C-21D5-EED357E75FA1}"/>
              </a:ext>
            </a:extLst>
          </p:cNvPr>
          <p:cNvSpPr>
            <a:spLocks noGrp="1"/>
          </p:cNvSpPr>
          <p:nvPr>
            <p:ph type="sldNum" idx="12"/>
          </p:nvPr>
        </p:nvSpPr>
        <p:spPr/>
        <p:txBody>
          <a:bodyPr/>
          <a:lstStyle/>
          <a:p>
            <a:fld id="{00000000-1234-1234-1234-123412341234}" type="slidenum">
              <a:rPr lang="en" smtClean="0"/>
              <a:pPr/>
              <a:t>7</a:t>
            </a:fld>
            <a:endParaRPr lang="en"/>
          </a:p>
        </p:txBody>
      </p:sp>
      <p:sp>
        <p:nvSpPr>
          <p:cNvPr id="6" name="TextBox 5">
            <a:extLst>
              <a:ext uri="{FF2B5EF4-FFF2-40B4-BE49-F238E27FC236}">
                <a16:creationId xmlns:a16="http://schemas.microsoft.com/office/drawing/2014/main" id="{F85FA318-A7E5-D42D-8525-035851097F1A}"/>
              </a:ext>
            </a:extLst>
          </p:cNvPr>
          <p:cNvSpPr txBox="1"/>
          <p:nvPr/>
        </p:nvSpPr>
        <p:spPr>
          <a:xfrm>
            <a:off x="304800" y="1487653"/>
            <a:ext cx="10917373" cy="2246769"/>
          </a:xfrm>
          <a:prstGeom prst="rect">
            <a:avLst/>
          </a:prstGeom>
          <a:noFill/>
        </p:spPr>
        <p:txBody>
          <a:bodyPr wrap="square">
            <a:spAutoFit/>
          </a:bodyPr>
          <a:lstStyle/>
          <a:p>
            <a:pPr algn="l"/>
            <a:r>
              <a:rPr lang="en-US" sz="2800" b="0" i="0" dirty="0">
                <a:solidFill>
                  <a:srgbClr val="020202"/>
                </a:solidFill>
                <a:effectLst/>
                <a:latin typeface="Lato" panose="020F0502020204030203" pitchFamily="34" charset="0"/>
              </a:rPr>
              <a:t>"Two paths diverged in a branch, and I—</a:t>
            </a:r>
            <a:br>
              <a:rPr lang="en-US" sz="2800" b="0" i="0" dirty="0">
                <a:solidFill>
                  <a:srgbClr val="020202"/>
                </a:solidFill>
                <a:effectLst/>
                <a:latin typeface="Lato" panose="020F0502020204030203" pitchFamily="34" charset="0"/>
              </a:rPr>
            </a:br>
            <a:r>
              <a:rPr lang="en-US" sz="2800" b="0" i="0" dirty="0">
                <a:solidFill>
                  <a:srgbClr val="020202"/>
                </a:solidFill>
                <a:effectLst/>
                <a:latin typeface="Lato" panose="020F0502020204030203" pitchFamily="34" charset="0"/>
              </a:rPr>
              <a:t>I took the </a:t>
            </a:r>
            <a:r>
              <a:rPr lang="en-US" sz="2800" b="0" i="0" dirty="0">
                <a:solidFill>
                  <a:srgbClr val="C00000"/>
                </a:solidFill>
                <a:effectLst/>
                <a:latin typeface="Lato" panose="020F0502020204030203" pitchFamily="34" charset="0"/>
              </a:rPr>
              <a:t>one </a:t>
            </a:r>
            <a:r>
              <a:rPr lang="en-US" sz="2800" dirty="0">
                <a:solidFill>
                  <a:srgbClr val="C00000"/>
                </a:solidFill>
                <a:latin typeface="Lato" panose="020F0502020204030203" pitchFamily="34" charset="0"/>
              </a:rPr>
              <a:t>less</a:t>
            </a:r>
            <a:r>
              <a:rPr lang="en-US" sz="2800" b="0" i="0" dirty="0">
                <a:solidFill>
                  <a:srgbClr val="C00000"/>
                </a:solidFill>
                <a:effectLst/>
                <a:latin typeface="Lato" panose="020F0502020204030203" pitchFamily="34" charset="0"/>
              </a:rPr>
              <a:t> </a:t>
            </a:r>
            <a:r>
              <a:rPr lang="en-US" sz="2800" b="0" i="0" dirty="0">
                <a:solidFill>
                  <a:srgbClr val="020202"/>
                </a:solidFill>
                <a:effectLst/>
                <a:latin typeface="Lato" panose="020F0502020204030203" pitchFamily="34" charset="0"/>
              </a:rPr>
              <a:t>traveled by,</a:t>
            </a:r>
            <a:br>
              <a:rPr lang="en-US" sz="2800" b="0" i="0" dirty="0">
                <a:solidFill>
                  <a:srgbClr val="020202"/>
                </a:solidFill>
                <a:effectLst/>
                <a:latin typeface="Lato" panose="020F0502020204030203" pitchFamily="34" charset="0"/>
              </a:rPr>
            </a:br>
            <a:r>
              <a:rPr lang="en-US" sz="2800" b="0" i="0" dirty="0">
                <a:solidFill>
                  <a:srgbClr val="020202"/>
                </a:solidFill>
                <a:effectLst/>
                <a:latin typeface="Lato" panose="020F0502020204030203" pitchFamily="34" charset="0"/>
              </a:rPr>
              <a:t>And that has made all the difference.“ </a:t>
            </a:r>
            <a:r>
              <a:rPr lang="en-US" sz="2800" b="0" i="0" dirty="0">
                <a:solidFill>
                  <a:srgbClr val="020202"/>
                </a:solidFill>
                <a:effectLst/>
                <a:latin typeface="Lato" panose="020F0502020204030203" pitchFamily="34" charset="0"/>
                <a:sym typeface="Wingdings" panose="05000000000000000000" pitchFamily="2" charset="2"/>
              </a:rPr>
              <a:t></a:t>
            </a:r>
            <a:br>
              <a:rPr lang="en-US" sz="2800" b="0" i="0" dirty="0">
                <a:solidFill>
                  <a:srgbClr val="020202"/>
                </a:solidFill>
                <a:effectLst/>
                <a:latin typeface="Lato" panose="020F0502020204030203" pitchFamily="34" charset="0"/>
              </a:rPr>
            </a:br>
            <a:endParaRPr lang="en-US" sz="2800" b="0" i="0" dirty="0">
              <a:solidFill>
                <a:srgbClr val="020202"/>
              </a:solidFill>
              <a:effectLst/>
              <a:latin typeface="Lato" panose="020F0502020204030203" pitchFamily="34" charset="0"/>
            </a:endParaRPr>
          </a:p>
          <a:p>
            <a:r>
              <a:rPr lang="en-US" sz="2800" dirty="0"/>
              <a:t>-</a:t>
            </a:r>
            <a:r>
              <a:rPr lang="en-US" sz="2800" dirty="0" err="1"/>
              <a:t>Frobert</a:t>
            </a:r>
            <a:r>
              <a:rPr lang="en-US" sz="2800" dirty="0"/>
              <a:t> Rost, </a:t>
            </a:r>
            <a:r>
              <a:rPr lang="en-US" sz="2800" i="1" dirty="0"/>
              <a:t>The Path/Road </a:t>
            </a:r>
            <a:r>
              <a:rPr lang="en-US" sz="2800" i="1" dirty="0">
                <a:solidFill>
                  <a:srgbClr val="C00000"/>
                </a:solidFill>
              </a:rPr>
              <a:t>Not Taken</a:t>
            </a:r>
            <a:endParaRPr lang="en-IN" sz="2800" dirty="0">
              <a:solidFill>
                <a:srgbClr val="C00000"/>
              </a:solidFill>
            </a:endParaRPr>
          </a:p>
        </p:txBody>
      </p:sp>
      <p:sp>
        <p:nvSpPr>
          <p:cNvPr id="7" name="TextBox 6">
            <a:extLst>
              <a:ext uri="{FF2B5EF4-FFF2-40B4-BE49-F238E27FC236}">
                <a16:creationId xmlns:a16="http://schemas.microsoft.com/office/drawing/2014/main" id="{393569B7-35CF-8BB2-3F14-0E06B69D7050}"/>
              </a:ext>
            </a:extLst>
          </p:cNvPr>
          <p:cNvSpPr txBox="1"/>
          <p:nvPr/>
        </p:nvSpPr>
        <p:spPr>
          <a:xfrm>
            <a:off x="415600" y="4078453"/>
            <a:ext cx="10917373" cy="2246769"/>
          </a:xfrm>
          <a:prstGeom prst="rect">
            <a:avLst/>
          </a:prstGeom>
          <a:noFill/>
        </p:spPr>
        <p:txBody>
          <a:bodyPr wrap="square">
            <a:spAutoFit/>
          </a:bodyPr>
          <a:lstStyle/>
          <a:p>
            <a:pPr algn="l"/>
            <a:r>
              <a:rPr lang="en-US" sz="2800" b="0" i="0" dirty="0">
                <a:solidFill>
                  <a:srgbClr val="020202"/>
                </a:solidFill>
                <a:effectLst/>
                <a:latin typeface="Lato" panose="020F0502020204030203" pitchFamily="34" charset="0"/>
              </a:rPr>
              <a:t>"Two paths diverged in a branch, and I—</a:t>
            </a:r>
            <a:br>
              <a:rPr lang="en-US" sz="2800" b="0" i="0" dirty="0">
                <a:solidFill>
                  <a:srgbClr val="020202"/>
                </a:solidFill>
                <a:effectLst/>
                <a:latin typeface="Lato" panose="020F0502020204030203" pitchFamily="34" charset="0"/>
              </a:rPr>
            </a:br>
            <a:r>
              <a:rPr lang="en-US" sz="2800" b="0" i="0" dirty="0">
                <a:solidFill>
                  <a:srgbClr val="020202"/>
                </a:solidFill>
                <a:effectLst/>
                <a:latin typeface="Lato" panose="020F0502020204030203" pitchFamily="34" charset="0"/>
              </a:rPr>
              <a:t>I took the one </a:t>
            </a:r>
            <a:r>
              <a:rPr lang="en-US" sz="2800" b="0" i="0" dirty="0">
                <a:solidFill>
                  <a:srgbClr val="C00000"/>
                </a:solidFill>
                <a:effectLst/>
                <a:latin typeface="Lato" panose="020F0502020204030203" pitchFamily="34" charset="0"/>
              </a:rPr>
              <a:t>more traveled by,</a:t>
            </a:r>
            <a:br>
              <a:rPr lang="en-US" sz="2800" b="0" i="0" dirty="0">
                <a:solidFill>
                  <a:srgbClr val="C00000"/>
                </a:solidFill>
                <a:effectLst/>
                <a:latin typeface="Lato" panose="020F0502020204030203" pitchFamily="34" charset="0"/>
              </a:rPr>
            </a:br>
            <a:r>
              <a:rPr lang="en-US" sz="2800" b="0" i="0" dirty="0">
                <a:solidFill>
                  <a:srgbClr val="020202"/>
                </a:solidFill>
                <a:effectLst/>
                <a:latin typeface="Lato" panose="020F0502020204030203" pitchFamily="34" charset="0"/>
              </a:rPr>
              <a:t>And that has made all the difference.“ </a:t>
            </a:r>
            <a:r>
              <a:rPr lang="en-US" sz="2800" b="0" i="0" dirty="0">
                <a:solidFill>
                  <a:srgbClr val="020202"/>
                </a:solidFill>
                <a:effectLst/>
                <a:latin typeface="Lato" panose="020F0502020204030203" pitchFamily="34" charset="0"/>
                <a:sym typeface="Wingdings" panose="05000000000000000000" pitchFamily="2" charset="2"/>
              </a:rPr>
              <a:t></a:t>
            </a:r>
            <a:br>
              <a:rPr lang="en-US" sz="2800" b="0" i="0" dirty="0">
                <a:solidFill>
                  <a:srgbClr val="020202"/>
                </a:solidFill>
                <a:effectLst/>
                <a:latin typeface="Lato" panose="020F0502020204030203" pitchFamily="34" charset="0"/>
              </a:rPr>
            </a:br>
            <a:endParaRPr lang="en-US" sz="2800" b="0" i="0" dirty="0">
              <a:solidFill>
                <a:srgbClr val="020202"/>
              </a:solidFill>
              <a:effectLst/>
              <a:latin typeface="Lato" panose="020F0502020204030203" pitchFamily="34" charset="0"/>
            </a:endParaRPr>
          </a:p>
          <a:p>
            <a:r>
              <a:rPr lang="en-US" sz="2800" dirty="0"/>
              <a:t>-</a:t>
            </a:r>
            <a:r>
              <a:rPr lang="en-US" sz="2800" dirty="0" err="1"/>
              <a:t>Frobert</a:t>
            </a:r>
            <a:r>
              <a:rPr lang="en-US" sz="2800" dirty="0"/>
              <a:t> Rost, </a:t>
            </a:r>
            <a:r>
              <a:rPr lang="en-US" sz="2800" i="1" dirty="0"/>
              <a:t>The Path </a:t>
            </a:r>
            <a:r>
              <a:rPr lang="en-US" sz="2800" i="1" dirty="0">
                <a:solidFill>
                  <a:srgbClr val="C00000"/>
                </a:solidFill>
              </a:rPr>
              <a:t>Taken</a:t>
            </a:r>
            <a:endParaRPr lang="en-IN" sz="2800" dirty="0">
              <a:solidFill>
                <a:srgbClr val="C00000"/>
              </a:solidFill>
            </a:endParaRPr>
          </a:p>
        </p:txBody>
      </p:sp>
    </p:spTree>
    <p:extLst>
      <p:ext uri="{BB962C8B-B14F-4D97-AF65-F5344CB8AC3E}">
        <p14:creationId xmlns:p14="http://schemas.microsoft.com/office/powerpoint/2010/main" val="1357842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E902D-AC45-1EAA-78FE-F372A6A51395}"/>
              </a:ext>
            </a:extLst>
          </p:cNvPr>
          <p:cNvSpPr>
            <a:spLocks noGrp="1"/>
          </p:cNvSpPr>
          <p:nvPr>
            <p:ph type="title"/>
          </p:nvPr>
        </p:nvSpPr>
        <p:spPr/>
        <p:txBody>
          <a:bodyPr/>
          <a:lstStyle/>
          <a:p>
            <a:r>
              <a:rPr lang="en-US" dirty="0"/>
              <a:t>Please read the paper (only one Section)</a:t>
            </a:r>
            <a:endParaRPr lang="en-IN" dirty="0"/>
          </a:p>
        </p:txBody>
      </p:sp>
      <p:sp>
        <p:nvSpPr>
          <p:cNvPr id="3" name="Text Placeholder 2">
            <a:extLst>
              <a:ext uri="{FF2B5EF4-FFF2-40B4-BE49-F238E27FC236}">
                <a16:creationId xmlns:a16="http://schemas.microsoft.com/office/drawing/2014/main" id="{F7FC6FFA-7763-C938-B974-9A29AD3AABE0}"/>
              </a:ext>
            </a:extLst>
          </p:cNvPr>
          <p:cNvSpPr>
            <a:spLocks noGrp="1"/>
          </p:cNvSpPr>
          <p:nvPr>
            <p:ph type="body" idx="1"/>
          </p:nvPr>
        </p:nvSpPr>
        <p:spPr/>
        <p:txBody>
          <a:bodyPr/>
          <a:lstStyle/>
          <a:p>
            <a:r>
              <a:rPr lang="en-US" dirty="0" err="1"/>
              <a:t>Spectre</a:t>
            </a:r>
            <a:r>
              <a:rPr lang="en-US" dirty="0"/>
              <a:t>-Variant (I and II)</a:t>
            </a:r>
            <a:endParaRPr lang="en-IN" dirty="0"/>
          </a:p>
        </p:txBody>
      </p:sp>
      <p:sp>
        <p:nvSpPr>
          <p:cNvPr id="4" name="Slide Number Placeholder 3">
            <a:extLst>
              <a:ext uri="{FF2B5EF4-FFF2-40B4-BE49-F238E27FC236}">
                <a16:creationId xmlns:a16="http://schemas.microsoft.com/office/drawing/2014/main" id="{CF5D23E7-161C-4F0F-9331-8B483913A59F}"/>
              </a:ext>
            </a:extLst>
          </p:cNvPr>
          <p:cNvSpPr>
            <a:spLocks noGrp="1"/>
          </p:cNvSpPr>
          <p:nvPr>
            <p:ph type="sldNum" idx="12"/>
          </p:nvPr>
        </p:nvSpPr>
        <p:spPr/>
        <p:txBody>
          <a:bodyPr/>
          <a:lstStyle/>
          <a:p>
            <a:fld id="{00000000-1234-1234-1234-123412341234}" type="slidenum">
              <a:rPr lang="en" smtClean="0"/>
              <a:pPr/>
              <a:t>8</a:t>
            </a:fld>
            <a:endParaRPr lang="en"/>
          </a:p>
        </p:txBody>
      </p:sp>
    </p:spTree>
    <p:extLst>
      <p:ext uri="{BB962C8B-B14F-4D97-AF65-F5344CB8AC3E}">
        <p14:creationId xmlns:p14="http://schemas.microsoft.com/office/powerpoint/2010/main" val="4049035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4E68F-DC8E-49C8-ABB9-D80A2BE1BCBB}"/>
              </a:ext>
            </a:extLst>
          </p:cNvPr>
          <p:cNvSpPr>
            <a:spLocks noGrp="1"/>
          </p:cNvSpPr>
          <p:nvPr>
            <p:ph type="title"/>
          </p:nvPr>
        </p:nvSpPr>
        <p:spPr/>
        <p:txBody>
          <a:bodyPr/>
          <a:lstStyle/>
          <a:p>
            <a:r>
              <a:rPr lang="en-IN" dirty="0"/>
              <a:t>Meltdown: The O3 Curse!!</a:t>
            </a:r>
          </a:p>
        </p:txBody>
      </p:sp>
      <p:sp>
        <p:nvSpPr>
          <p:cNvPr id="4" name="Slide Number Placeholder 3">
            <a:extLst>
              <a:ext uri="{FF2B5EF4-FFF2-40B4-BE49-F238E27FC236}">
                <a16:creationId xmlns:a16="http://schemas.microsoft.com/office/drawing/2014/main" id="{3BF9E85C-0C0F-409F-AFD4-A02D8BDCB0AA}"/>
              </a:ext>
            </a:extLst>
          </p:cNvPr>
          <p:cNvSpPr>
            <a:spLocks noGrp="1"/>
          </p:cNvSpPr>
          <p:nvPr>
            <p:ph type="sldNum" idx="12"/>
          </p:nvPr>
        </p:nvSpPr>
        <p:spPr/>
        <p:txBody>
          <a:bodyPr/>
          <a:lstStyle/>
          <a:p>
            <a:fld id="{00000000-1234-1234-1234-123412341234}" type="slidenum">
              <a:rPr lang="en" smtClean="0"/>
              <a:pPr/>
              <a:t>9</a:t>
            </a:fld>
            <a:endParaRPr lang="en"/>
          </a:p>
        </p:txBody>
      </p:sp>
      <p:sp>
        <p:nvSpPr>
          <p:cNvPr id="7" name="Rounded Rectangle 16">
            <a:extLst>
              <a:ext uri="{FF2B5EF4-FFF2-40B4-BE49-F238E27FC236}">
                <a16:creationId xmlns:a16="http://schemas.microsoft.com/office/drawing/2014/main" id="{B1201F53-9A6D-4197-A8AE-12BEEEFDBBA6}"/>
              </a:ext>
            </a:extLst>
          </p:cNvPr>
          <p:cNvSpPr/>
          <p:nvPr/>
        </p:nvSpPr>
        <p:spPr>
          <a:xfrm>
            <a:off x="454675" y="1944994"/>
            <a:ext cx="6491734" cy="1586308"/>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buAutoNum type="arabicPeriod"/>
            </a:pPr>
            <a:endParaRPr lang="en-US" altLang="en-US" sz="3200" dirty="0">
              <a:solidFill>
                <a:schemeClr val="tx1"/>
              </a:solidFill>
              <a:latin typeface="Cambria" panose="02040503050406030204" pitchFamily="18" charset="0"/>
            </a:endParaRPr>
          </a:p>
          <a:p>
            <a:pPr marL="514350" indent="-514350">
              <a:buAutoNum type="arabicPeriod"/>
            </a:pPr>
            <a:r>
              <a:rPr lang="en-US" altLang="en-US" sz="3200" dirty="0" err="1">
                <a:solidFill>
                  <a:schemeClr val="tx1"/>
                </a:solidFill>
                <a:latin typeface="Cambria" panose="02040503050406030204" pitchFamily="18" charset="0"/>
              </a:rPr>
              <a:t>raise_exception</a:t>
            </a:r>
            <a:r>
              <a:rPr lang="en-US" altLang="en-US" sz="3200" dirty="0">
                <a:solidFill>
                  <a:schemeClr val="tx1"/>
                </a:solidFill>
                <a:latin typeface="Cambria" panose="02040503050406030204" pitchFamily="18" charset="0"/>
              </a:rPr>
              <a:t>(); </a:t>
            </a:r>
          </a:p>
          <a:p>
            <a:pPr marL="514350" indent="-514350">
              <a:buAutoNum type="arabicPeriod"/>
            </a:pPr>
            <a:r>
              <a:rPr lang="en-US" altLang="en-US" sz="3200" dirty="0">
                <a:solidFill>
                  <a:schemeClr val="tx1"/>
                </a:solidFill>
                <a:latin typeface="Cambria" panose="02040503050406030204" pitchFamily="18" charset="0"/>
              </a:rPr>
              <a:t>// line below is never reached </a:t>
            </a:r>
          </a:p>
          <a:p>
            <a:pPr marL="514350" indent="-514350">
              <a:buAutoNum type="arabicPeriod"/>
            </a:pPr>
            <a:r>
              <a:rPr lang="en-US" altLang="en-US" sz="3200" dirty="0">
                <a:solidFill>
                  <a:srgbClr val="C00000"/>
                </a:solidFill>
                <a:latin typeface="Cambria" panose="02040503050406030204" pitchFamily="18" charset="0"/>
              </a:rPr>
              <a:t>secret=</a:t>
            </a:r>
            <a:r>
              <a:rPr lang="en-US" altLang="en-US" sz="3200" dirty="0" err="1">
                <a:solidFill>
                  <a:srgbClr val="C00000"/>
                </a:solidFill>
                <a:latin typeface="Cambria" panose="02040503050406030204" pitchFamily="18" charset="0"/>
              </a:rPr>
              <a:t>KernelArray</a:t>
            </a:r>
            <a:r>
              <a:rPr lang="en-US" altLang="en-US" sz="3200" dirty="0">
                <a:solidFill>
                  <a:srgbClr val="C00000"/>
                </a:solidFill>
                <a:latin typeface="Cambria" panose="02040503050406030204" pitchFamily="18" charset="0"/>
              </a:rPr>
              <a:t>[data*4096];</a:t>
            </a:r>
          </a:p>
          <a:p>
            <a:endParaRPr lang="en-US" altLang="en-US" sz="3200" b="1" dirty="0">
              <a:solidFill>
                <a:schemeClr val="tx1"/>
              </a:solidFill>
              <a:latin typeface="Cambria" panose="02040503050406030204" pitchFamily="18" charset="0"/>
            </a:endParaRPr>
          </a:p>
        </p:txBody>
      </p:sp>
      <p:sp>
        <p:nvSpPr>
          <p:cNvPr id="8" name="Rounded Rectangle 16">
            <a:extLst>
              <a:ext uri="{FF2B5EF4-FFF2-40B4-BE49-F238E27FC236}">
                <a16:creationId xmlns:a16="http://schemas.microsoft.com/office/drawing/2014/main" id="{1217EE85-C8F2-4B9F-8A5D-9B5A55728127}"/>
              </a:ext>
            </a:extLst>
          </p:cNvPr>
          <p:cNvSpPr/>
          <p:nvPr/>
        </p:nvSpPr>
        <p:spPr>
          <a:xfrm>
            <a:off x="454675" y="4380868"/>
            <a:ext cx="6491734" cy="1586308"/>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buAutoNum type="arabicPeriod"/>
            </a:pPr>
            <a:endParaRPr lang="en-US" altLang="en-US" sz="3200" dirty="0">
              <a:solidFill>
                <a:schemeClr val="tx1"/>
              </a:solidFill>
              <a:latin typeface="Cambria" panose="02040503050406030204" pitchFamily="18" charset="0"/>
            </a:endParaRPr>
          </a:p>
          <a:p>
            <a:pPr marL="514350" indent="-514350">
              <a:buAutoNum type="arabicPeriod"/>
            </a:pPr>
            <a:r>
              <a:rPr lang="en-US" altLang="en-US" sz="3200" dirty="0">
                <a:solidFill>
                  <a:srgbClr val="C00000"/>
                </a:solidFill>
                <a:latin typeface="Cambria" panose="02040503050406030204" pitchFamily="18" charset="0"/>
              </a:rPr>
              <a:t>secret=</a:t>
            </a:r>
            <a:r>
              <a:rPr lang="en-US" altLang="en-US" sz="3200" dirty="0" err="1">
                <a:solidFill>
                  <a:srgbClr val="C00000"/>
                </a:solidFill>
                <a:latin typeface="Cambria" panose="02040503050406030204" pitchFamily="18" charset="0"/>
              </a:rPr>
              <a:t>KernelArray</a:t>
            </a:r>
            <a:r>
              <a:rPr lang="en-US" altLang="en-US" sz="3200" dirty="0">
                <a:solidFill>
                  <a:srgbClr val="C00000"/>
                </a:solidFill>
                <a:latin typeface="Cambria" panose="02040503050406030204" pitchFamily="18" charset="0"/>
              </a:rPr>
              <a:t>[data*4096];</a:t>
            </a:r>
          </a:p>
          <a:p>
            <a:r>
              <a:rPr lang="en-US" altLang="en-US" sz="3200" dirty="0">
                <a:solidFill>
                  <a:schemeClr val="tx1"/>
                </a:solidFill>
                <a:latin typeface="Cambria" panose="02040503050406030204" pitchFamily="18" charset="0"/>
              </a:rPr>
              <a:t>2. </a:t>
            </a:r>
            <a:r>
              <a:rPr lang="en-US" altLang="en-US" sz="3200" dirty="0" err="1">
                <a:solidFill>
                  <a:schemeClr val="tx1"/>
                </a:solidFill>
                <a:latin typeface="Cambria" panose="02040503050406030204" pitchFamily="18" charset="0"/>
              </a:rPr>
              <a:t>raise_exception</a:t>
            </a:r>
            <a:r>
              <a:rPr lang="en-US" altLang="en-US" sz="3200" dirty="0">
                <a:solidFill>
                  <a:schemeClr val="tx1"/>
                </a:solidFill>
                <a:latin typeface="Cambria" panose="02040503050406030204" pitchFamily="18" charset="0"/>
              </a:rPr>
              <a:t>(); </a:t>
            </a:r>
          </a:p>
          <a:p>
            <a:endParaRPr lang="en-US" altLang="en-US" sz="3200" dirty="0">
              <a:solidFill>
                <a:srgbClr val="C00000"/>
              </a:solidFill>
              <a:latin typeface="Cambria" panose="02040503050406030204" pitchFamily="18" charset="0"/>
            </a:endParaRPr>
          </a:p>
          <a:p>
            <a:endParaRPr lang="en-US" altLang="en-US" sz="3200" b="1" dirty="0">
              <a:solidFill>
                <a:schemeClr val="tx1"/>
              </a:solidFill>
              <a:latin typeface="Cambria" panose="02040503050406030204" pitchFamily="18" charset="0"/>
            </a:endParaRPr>
          </a:p>
        </p:txBody>
      </p:sp>
      <p:cxnSp>
        <p:nvCxnSpPr>
          <p:cNvPr id="10" name="Connector: Curved 9">
            <a:extLst>
              <a:ext uri="{FF2B5EF4-FFF2-40B4-BE49-F238E27FC236}">
                <a16:creationId xmlns:a16="http://schemas.microsoft.com/office/drawing/2014/main" id="{9BFD71CD-20C5-4051-B580-40289B2263B9}"/>
              </a:ext>
            </a:extLst>
          </p:cNvPr>
          <p:cNvCxnSpPr>
            <a:stCxn id="7" idx="3"/>
            <a:endCxn id="8" idx="3"/>
          </p:cNvCxnSpPr>
          <p:nvPr/>
        </p:nvCxnSpPr>
        <p:spPr>
          <a:xfrm>
            <a:off x="6946409" y="2738148"/>
            <a:ext cx="12700" cy="2435874"/>
          </a:xfrm>
          <a:prstGeom prst="curvedConnector3">
            <a:avLst>
              <a:gd name="adj1" fmla="val 896022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087A4A0-FE9A-4E75-AF02-0B85C0B68ECB}"/>
              </a:ext>
            </a:extLst>
          </p:cNvPr>
          <p:cNvSpPr txBox="1"/>
          <p:nvPr/>
        </p:nvSpPr>
        <p:spPr>
          <a:xfrm>
            <a:off x="8376460" y="3617184"/>
            <a:ext cx="3305713" cy="954107"/>
          </a:xfrm>
          <a:prstGeom prst="rect">
            <a:avLst/>
          </a:prstGeom>
          <a:noFill/>
        </p:spPr>
        <p:txBody>
          <a:bodyPr wrap="none" rtlCol="0">
            <a:spAutoFit/>
          </a:bodyPr>
          <a:lstStyle/>
          <a:p>
            <a:r>
              <a:rPr lang="en-IN" sz="2800" dirty="0"/>
              <a:t>Out-of-order (O3) as </a:t>
            </a:r>
          </a:p>
          <a:p>
            <a:r>
              <a:rPr lang="en-IN" sz="2800" dirty="0"/>
              <a:t>it has no dependency</a:t>
            </a:r>
          </a:p>
        </p:txBody>
      </p:sp>
      <p:cxnSp>
        <p:nvCxnSpPr>
          <p:cNvPr id="14" name="Straight Arrow Connector 13">
            <a:extLst>
              <a:ext uri="{FF2B5EF4-FFF2-40B4-BE49-F238E27FC236}">
                <a16:creationId xmlns:a16="http://schemas.microsoft.com/office/drawing/2014/main" id="{D20051E5-75EC-49BA-909C-0EC289E66CCA}"/>
              </a:ext>
            </a:extLst>
          </p:cNvPr>
          <p:cNvCxnSpPr/>
          <p:nvPr/>
        </p:nvCxnSpPr>
        <p:spPr>
          <a:xfrm flipV="1">
            <a:off x="6239138" y="2167280"/>
            <a:ext cx="1854060" cy="5203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14AEA7C-C89A-408C-8D44-32B3381254C0}"/>
              </a:ext>
            </a:extLst>
          </p:cNvPr>
          <p:cNvSpPr txBox="1"/>
          <p:nvPr/>
        </p:nvSpPr>
        <p:spPr>
          <a:xfrm>
            <a:off x="8093198" y="1855151"/>
            <a:ext cx="1828514" cy="523220"/>
          </a:xfrm>
          <a:prstGeom prst="rect">
            <a:avLst/>
          </a:prstGeom>
          <a:noFill/>
        </p:spPr>
        <p:txBody>
          <a:bodyPr wrap="none" rtlCol="0">
            <a:spAutoFit/>
          </a:bodyPr>
          <a:lstStyle/>
          <a:p>
            <a:r>
              <a:rPr lang="en-IN" sz="2800" dirty="0"/>
              <a:t>Kernel Trap</a:t>
            </a:r>
          </a:p>
        </p:txBody>
      </p:sp>
      <p:cxnSp>
        <p:nvCxnSpPr>
          <p:cNvPr id="16" name="Straight Arrow Connector 15">
            <a:extLst>
              <a:ext uri="{FF2B5EF4-FFF2-40B4-BE49-F238E27FC236}">
                <a16:creationId xmlns:a16="http://schemas.microsoft.com/office/drawing/2014/main" id="{4F4552D4-98BF-44DC-9285-9AA84C016353}"/>
              </a:ext>
            </a:extLst>
          </p:cNvPr>
          <p:cNvCxnSpPr>
            <a:cxnSpLocks/>
          </p:cNvCxnSpPr>
          <p:nvPr/>
        </p:nvCxnSpPr>
        <p:spPr>
          <a:xfrm>
            <a:off x="6522400" y="4909301"/>
            <a:ext cx="2096199" cy="9610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9D2A021-AE81-42B2-A535-12547CFB5386}"/>
              </a:ext>
            </a:extLst>
          </p:cNvPr>
          <p:cNvSpPr txBox="1"/>
          <p:nvPr/>
        </p:nvSpPr>
        <p:spPr>
          <a:xfrm>
            <a:off x="8542090" y="5751951"/>
            <a:ext cx="3649910" cy="523220"/>
          </a:xfrm>
          <a:prstGeom prst="rect">
            <a:avLst/>
          </a:prstGeom>
          <a:noFill/>
        </p:spPr>
        <p:txBody>
          <a:bodyPr wrap="none" rtlCol="0">
            <a:spAutoFit/>
          </a:bodyPr>
          <a:lstStyle/>
          <a:p>
            <a:r>
              <a:rPr lang="en-IN" sz="2800" dirty="0"/>
              <a:t>What about page-fault?</a:t>
            </a:r>
          </a:p>
        </p:txBody>
      </p:sp>
      <p:pic>
        <p:nvPicPr>
          <p:cNvPr id="13" name="Picture 4" descr="Image result for meltdown">
            <a:extLst>
              <a:ext uri="{FF2B5EF4-FFF2-40B4-BE49-F238E27FC236}">
                <a16:creationId xmlns:a16="http://schemas.microsoft.com/office/drawing/2014/main" id="{77B40546-779F-4319-B090-F619791D1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4035" y="78131"/>
            <a:ext cx="904582" cy="12166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38F96F1-0ED6-C753-786B-66D2F506920D}"/>
              </a:ext>
            </a:extLst>
          </p:cNvPr>
          <p:cNvSpPr txBox="1"/>
          <p:nvPr/>
        </p:nvSpPr>
        <p:spPr>
          <a:xfrm>
            <a:off x="628158" y="6364134"/>
            <a:ext cx="6144768" cy="369332"/>
          </a:xfrm>
          <a:prstGeom prst="rect">
            <a:avLst/>
          </a:prstGeom>
          <a:noFill/>
        </p:spPr>
        <p:txBody>
          <a:bodyPr wrap="square">
            <a:spAutoFit/>
          </a:bodyPr>
          <a:lstStyle/>
          <a:p>
            <a:r>
              <a:rPr lang="en-IN" dirty="0"/>
              <a:t>https://meltdownattack.com/meltdown.pdf</a:t>
            </a:r>
          </a:p>
        </p:txBody>
      </p:sp>
    </p:spTree>
    <p:extLst>
      <p:ext uri="{BB962C8B-B14F-4D97-AF65-F5344CB8AC3E}">
        <p14:creationId xmlns:p14="http://schemas.microsoft.com/office/powerpoint/2010/main" val="27043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p:bldP spid="15"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C555B-F243-0991-4AC0-9C35DCA787F2}"/>
              </a:ext>
            </a:extLst>
          </p:cNvPr>
          <p:cNvSpPr>
            <a:spLocks noGrp="1"/>
          </p:cNvSpPr>
          <p:nvPr>
            <p:ph type="title"/>
          </p:nvPr>
        </p:nvSpPr>
        <p:spPr/>
        <p:txBody>
          <a:bodyPr/>
          <a:lstStyle/>
          <a:p>
            <a:r>
              <a:rPr lang="en-US" dirty="0"/>
              <a:t>How does it work? Same way as </a:t>
            </a:r>
            <a:r>
              <a:rPr lang="en-US" dirty="0" err="1"/>
              <a:t>Spectre</a:t>
            </a:r>
            <a:r>
              <a:rPr lang="en-US" dirty="0"/>
              <a:t> </a:t>
            </a:r>
            <a:endParaRPr lang="en-IN" dirty="0"/>
          </a:p>
        </p:txBody>
      </p:sp>
      <p:sp>
        <p:nvSpPr>
          <p:cNvPr id="3" name="Text Placeholder 2">
            <a:extLst>
              <a:ext uri="{FF2B5EF4-FFF2-40B4-BE49-F238E27FC236}">
                <a16:creationId xmlns:a16="http://schemas.microsoft.com/office/drawing/2014/main" id="{2966A1D9-5A74-6E22-E6FD-7665D47FC39E}"/>
              </a:ext>
            </a:extLst>
          </p:cNvPr>
          <p:cNvSpPr>
            <a:spLocks noGrp="1"/>
          </p:cNvSpPr>
          <p:nvPr>
            <p:ph type="body" idx="1"/>
          </p:nvPr>
        </p:nvSpPr>
        <p:spPr>
          <a:xfrm>
            <a:off x="321373" y="1451289"/>
            <a:ext cx="11360800" cy="5000800"/>
          </a:xfrm>
        </p:spPr>
        <p:txBody>
          <a:bodyPr/>
          <a:lstStyle/>
          <a:p>
            <a:r>
              <a:rPr lang="en-US" dirty="0"/>
              <a:t>Based on secret value, you access a particular cache set. The beauty of a meltdown attack is that you can dump the entire kernel into the cache </a:t>
            </a:r>
            <a:r>
              <a:rPr lang="en-US" dirty="0">
                <a:sym typeface="Wingdings" panose="05000000000000000000" pitchFamily="2" charset="2"/>
              </a:rPr>
              <a:t> </a:t>
            </a:r>
          </a:p>
          <a:p>
            <a:r>
              <a:rPr lang="en-US" dirty="0">
                <a:sym typeface="Wingdings" panose="05000000000000000000" pitchFamily="2" charset="2"/>
              </a:rPr>
              <a:t>Mitigation: Let’s understand the problem first. Before the Meltdown attack, the CR3 register that stores the base address of the page table remained the same, even if the user switched to kernel mode.</a:t>
            </a:r>
          </a:p>
          <a:p>
            <a:pPr marL="50799" indent="0">
              <a:buNone/>
            </a:pPr>
            <a:r>
              <a:rPr lang="en-US" dirty="0">
                <a:sym typeface="Wingdings" panose="05000000000000000000" pitchFamily="2" charset="2"/>
              </a:rPr>
              <a:t>What next: All addresses of the kernel is mapped to all processes too  </a:t>
            </a:r>
          </a:p>
          <a:p>
            <a:pPr marL="50799" indent="0">
              <a:buNone/>
            </a:pPr>
            <a:endParaRPr lang="en-US" dirty="0">
              <a:sym typeface="Wingdings" panose="05000000000000000000" pitchFamily="2" charset="2"/>
            </a:endParaRPr>
          </a:p>
          <a:p>
            <a:pPr marL="50799" indent="0">
              <a:buNone/>
            </a:pPr>
            <a:r>
              <a:rPr lang="en-US" dirty="0">
                <a:sym typeface="Wingdings" panose="05000000000000000000" pitchFamily="2" charset="2"/>
              </a:rPr>
              <a:t>Why? Switching time overhead is high if it wont be mapped </a:t>
            </a:r>
          </a:p>
          <a:p>
            <a:pPr marL="50799" indent="0">
              <a:buNone/>
            </a:pPr>
            <a:r>
              <a:rPr lang="en-IN" dirty="0">
                <a:solidFill>
                  <a:srgbClr val="C00000"/>
                </a:solidFill>
              </a:rPr>
              <a:t>Solution: </a:t>
            </a:r>
            <a:r>
              <a:rPr lang="en-IN" dirty="0"/>
              <a:t>KPTI (kernel page table isolation). A new CR3 register only for the kernel page table. So a user cannot access kernel addresses in user mode even speculatively </a:t>
            </a:r>
            <a:r>
              <a:rPr lang="en-IN" dirty="0">
                <a:sym typeface="Wingdings" panose="05000000000000000000" pitchFamily="2" charset="2"/>
              </a:rPr>
              <a:t> </a:t>
            </a:r>
            <a:r>
              <a:rPr lang="en-US" dirty="0"/>
              <a:t>Applied successfully on several Intel processors on various OSes (Linux-2.6.32 to 4.13.0), Windows 10, Docker, LXC, and </a:t>
            </a:r>
            <a:r>
              <a:rPr lang="en-US" dirty="0" err="1"/>
              <a:t>OpenVZ</a:t>
            </a:r>
            <a:r>
              <a:rPr lang="en-US" dirty="0"/>
              <a:t>.</a:t>
            </a:r>
          </a:p>
          <a:p>
            <a:pPr marL="50799" indent="0">
              <a:buNone/>
            </a:pPr>
            <a:endParaRPr lang="en-IN" dirty="0"/>
          </a:p>
        </p:txBody>
      </p:sp>
      <p:sp>
        <p:nvSpPr>
          <p:cNvPr id="4" name="Slide Number Placeholder 3">
            <a:extLst>
              <a:ext uri="{FF2B5EF4-FFF2-40B4-BE49-F238E27FC236}">
                <a16:creationId xmlns:a16="http://schemas.microsoft.com/office/drawing/2014/main" id="{6BC1CC29-DF65-0A58-1D6C-A386CA52C49F}"/>
              </a:ext>
            </a:extLst>
          </p:cNvPr>
          <p:cNvSpPr>
            <a:spLocks noGrp="1"/>
          </p:cNvSpPr>
          <p:nvPr>
            <p:ph type="sldNum" idx="12"/>
          </p:nvPr>
        </p:nvSpPr>
        <p:spPr/>
        <p:txBody>
          <a:bodyPr/>
          <a:lstStyle/>
          <a:p>
            <a:fld id="{00000000-1234-1234-1234-123412341234}" type="slidenum">
              <a:rPr lang="en" smtClean="0"/>
              <a:pPr/>
              <a:t>10</a:t>
            </a:fld>
            <a:endParaRPr lang="en"/>
          </a:p>
        </p:txBody>
      </p:sp>
    </p:spTree>
    <p:extLst>
      <p:ext uri="{BB962C8B-B14F-4D97-AF65-F5344CB8AC3E}">
        <p14:creationId xmlns:p14="http://schemas.microsoft.com/office/powerpoint/2010/main" val="504934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7A63D-16EE-3ADE-BE6A-E60EE181FFA6}"/>
              </a:ext>
            </a:extLst>
          </p:cNvPr>
          <p:cNvSpPr>
            <a:spLocks noGrp="1"/>
          </p:cNvSpPr>
          <p:nvPr>
            <p:ph type="title"/>
          </p:nvPr>
        </p:nvSpPr>
        <p:spPr/>
        <p:txBody>
          <a:bodyPr/>
          <a:lstStyle/>
          <a:p>
            <a:r>
              <a:rPr lang="en-US" dirty="0"/>
              <a:t>Real World Real Melt and Down</a:t>
            </a:r>
            <a:endParaRPr lang="en-IN" dirty="0"/>
          </a:p>
        </p:txBody>
      </p:sp>
      <p:sp>
        <p:nvSpPr>
          <p:cNvPr id="4" name="Slide Number Placeholder 3">
            <a:extLst>
              <a:ext uri="{FF2B5EF4-FFF2-40B4-BE49-F238E27FC236}">
                <a16:creationId xmlns:a16="http://schemas.microsoft.com/office/drawing/2014/main" id="{E5EA1DB0-B981-6807-7F61-3ED8B27A7F03}"/>
              </a:ext>
            </a:extLst>
          </p:cNvPr>
          <p:cNvSpPr>
            <a:spLocks noGrp="1"/>
          </p:cNvSpPr>
          <p:nvPr>
            <p:ph type="sldNum" idx="12"/>
          </p:nvPr>
        </p:nvSpPr>
        <p:spPr/>
        <p:txBody>
          <a:bodyPr/>
          <a:lstStyle/>
          <a:p>
            <a:fld id="{00000000-1234-1234-1234-123412341234}" type="slidenum">
              <a:rPr lang="en" smtClean="0"/>
              <a:pPr/>
              <a:t>11</a:t>
            </a:fld>
            <a:endParaRPr lang="en"/>
          </a:p>
        </p:txBody>
      </p:sp>
      <p:pic>
        <p:nvPicPr>
          <p:cNvPr id="5" name="Picture 4">
            <a:extLst>
              <a:ext uri="{FF2B5EF4-FFF2-40B4-BE49-F238E27FC236}">
                <a16:creationId xmlns:a16="http://schemas.microsoft.com/office/drawing/2014/main" id="{C45D3EF5-02D9-4490-8448-8EA0D42022A9}"/>
              </a:ext>
            </a:extLst>
          </p:cNvPr>
          <p:cNvPicPr>
            <a:picLocks noChangeAspect="1"/>
          </p:cNvPicPr>
          <p:nvPr/>
        </p:nvPicPr>
        <p:blipFill>
          <a:blip r:embed="rId2"/>
          <a:stretch>
            <a:fillRect/>
          </a:stretch>
        </p:blipFill>
        <p:spPr>
          <a:xfrm>
            <a:off x="538716" y="1988664"/>
            <a:ext cx="4759256" cy="4465632"/>
          </a:xfrm>
          <a:prstGeom prst="rect">
            <a:avLst/>
          </a:prstGeom>
        </p:spPr>
      </p:pic>
      <p:pic>
        <p:nvPicPr>
          <p:cNvPr id="6" name="Picture 5">
            <a:extLst>
              <a:ext uri="{FF2B5EF4-FFF2-40B4-BE49-F238E27FC236}">
                <a16:creationId xmlns:a16="http://schemas.microsoft.com/office/drawing/2014/main" id="{B1F6EB82-6D59-458C-AF93-80D3798A36C7}"/>
              </a:ext>
            </a:extLst>
          </p:cNvPr>
          <p:cNvPicPr>
            <a:picLocks noChangeAspect="1"/>
          </p:cNvPicPr>
          <p:nvPr/>
        </p:nvPicPr>
        <p:blipFill>
          <a:blip r:embed="rId3"/>
          <a:stretch>
            <a:fillRect/>
          </a:stretch>
        </p:blipFill>
        <p:spPr>
          <a:xfrm>
            <a:off x="6566403" y="2264889"/>
            <a:ext cx="4989344" cy="4106605"/>
          </a:xfrm>
          <a:prstGeom prst="rect">
            <a:avLst/>
          </a:prstGeom>
        </p:spPr>
      </p:pic>
    </p:spTree>
    <p:extLst>
      <p:ext uri="{BB962C8B-B14F-4D97-AF65-F5344CB8AC3E}">
        <p14:creationId xmlns:p14="http://schemas.microsoft.com/office/powerpoint/2010/main" val="2070038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2490-6F37-4532-92EE-08C4377D20DD}"/>
              </a:ext>
            </a:extLst>
          </p:cNvPr>
          <p:cNvSpPr>
            <a:spLocks noGrp="1"/>
          </p:cNvSpPr>
          <p:nvPr>
            <p:ph type="title"/>
          </p:nvPr>
        </p:nvSpPr>
        <p:spPr/>
        <p:txBody>
          <a:bodyPr/>
          <a:lstStyle/>
          <a:p>
            <a:r>
              <a:rPr lang="en-US" dirty="0"/>
              <a:t>Readings</a:t>
            </a:r>
            <a:endParaRPr lang="en-IN" dirty="0"/>
          </a:p>
        </p:txBody>
      </p:sp>
      <p:sp>
        <p:nvSpPr>
          <p:cNvPr id="3" name="Text Placeholder 2">
            <a:extLst>
              <a:ext uri="{FF2B5EF4-FFF2-40B4-BE49-F238E27FC236}">
                <a16:creationId xmlns:a16="http://schemas.microsoft.com/office/drawing/2014/main" id="{F668AE91-CD81-440A-9869-0927D0AD09CF}"/>
              </a:ext>
            </a:extLst>
          </p:cNvPr>
          <p:cNvSpPr>
            <a:spLocks noGrp="1"/>
          </p:cNvSpPr>
          <p:nvPr>
            <p:ph type="body" idx="1"/>
          </p:nvPr>
        </p:nvSpPr>
        <p:spPr/>
        <p:txBody>
          <a:bodyPr/>
          <a:lstStyle/>
          <a:p>
            <a:pPr marL="50799" indent="0">
              <a:buNone/>
            </a:pPr>
            <a:endParaRPr lang="en-US" dirty="0">
              <a:effectLst/>
            </a:endParaRPr>
          </a:p>
          <a:p>
            <a:r>
              <a:rPr lang="en-US" dirty="0" err="1"/>
              <a:t>Spectre</a:t>
            </a:r>
            <a:r>
              <a:rPr lang="en-US" dirty="0"/>
              <a:t> and Meltdown: </a:t>
            </a:r>
            <a:r>
              <a:rPr lang="en-US" dirty="0">
                <a:effectLst/>
                <a:hlinkClick r:id="rId2"/>
              </a:rPr>
              <a:t>https://meltdownattack.com/</a:t>
            </a:r>
            <a:endParaRPr lang="en-US" dirty="0">
              <a:effectLst/>
            </a:endParaRPr>
          </a:p>
          <a:p>
            <a:r>
              <a:rPr lang="en-US" dirty="0"/>
              <a:t>For meltdown, make sure KASLR is disabled if you want to attack now.</a:t>
            </a:r>
          </a:p>
          <a:p>
            <a:r>
              <a:rPr lang="en-US" dirty="0"/>
              <a:t>ASLR (Address space layout randomization) randomizes the location of binaries in memory.  </a:t>
            </a:r>
          </a:p>
          <a:p>
            <a:r>
              <a:rPr lang="en-US" dirty="0">
                <a:effectLst/>
              </a:rPr>
              <a:t>Also make sure, you disable meltdown mitigation patch</a:t>
            </a:r>
          </a:p>
          <a:p>
            <a:pPr marL="50799" indent="0">
              <a:buNone/>
            </a:pPr>
            <a:endParaRPr lang="en-US" dirty="0">
              <a:effectLst/>
            </a:endParaRPr>
          </a:p>
          <a:p>
            <a:pPr marL="50799" indent="0">
              <a:buNone/>
            </a:pPr>
            <a:endParaRPr lang="en-IN" dirty="0"/>
          </a:p>
        </p:txBody>
      </p:sp>
      <p:sp>
        <p:nvSpPr>
          <p:cNvPr id="4" name="Slide Number Placeholder 3">
            <a:extLst>
              <a:ext uri="{FF2B5EF4-FFF2-40B4-BE49-F238E27FC236}">
                <a16:creationId xmlns:a16="http://schemas.microsoft.com/office/drawing/2014/main" id="{2676A81D-3579-42E2-AF3C-7252E94DBE53}"/>
              </a:ext>
            </a:extLst>
          </p:cNvPr>
          <p:cNvSpPr>
            <a:spLocks noGrp="1"/>
          </p:cNvSpPr>
          <p:nvPr>
            <p:ph type="sldNum" idx="12"/>
          </p:nvPr>
        </p:nvSpPr>
        <p:spPr/>
        <p:txBody>
          <a:bodyPr/>
          <a:lstStyle/>
          <a:p>
            <a:fld id="{00000000-1234-1234-1234-123412341234}" type="slidenum">
              <a:rPr lang="en" smtClean="0"/>
              <a:pPr/>
              <a:t>12</a:t>
            </a:fld>
            <a:endParaRPr lang="en"/>
          </a:p>
        </p:txBody>
      </p:sp>
    </p:spTree>
    <p:extLst>
      <p:ext uri="{BB962C8B-B14F-4D97-AF65-F5344CB8AC3E}">
        <p14:creationId xmlns:p14="http://schemas.microsoft.com/office/powerpoint/2010/main" val="1750606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18367</TotalTime>
  <Words>723</Words>
  <Application>Microsoft Office PowerPoint</Application>
  <PresentationFormat>Widescreen</PresentationFormat>
  <Paragraphs>104</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Calibri Light</vt:lpstr>
      <vt:lpstr>Cambria</vt:lpstr>
      <vt:lpstr>Courier New</vt:lpstr>
      <vt:lpstr>intel-clear</vt:lpstr>
      <vt:lpstr>Lato</vt:lpstr>
      <vt:lpstr>Wingdings</vt:lpstr>
      <vt:lpstr>Office Theme</vt:lpstr>
      <vt:lpstr>CS773-2025-Spring:  Computer Architecture for Performance and Security</vt:lpstr>
      <vt:lpstr>Phones on silence, please   Thank You </vt:lpstr>
      <vt:lpstr>The threat model [Transient execution attacks]</vt:lpstr>
      <vt:lpstr>Spectre: More details </vt:lpstr>
      <vt:lpstr>PowerPoint Presentation</vt:lpstr>
      <vt:lpstr>Last 7 years: Spectre continues to ….</vt:lpstr>
      <vt:lpstr>Summary of Spectre Attack: As an attacker </vt:lpstr>
      <vt:lpstr>Please read the paper (only one Section)</vt:lpstr>
      <vt:lpstr>Meltdown: The O3 Curse!!</vt:lpstr>
      <vt:lpstr>How does it work? Same way as Spectre </vt:lpstr>
      <vt:lpstr>Real World Real Melt and Down</vt:lpstr>
      <vt:lpstr>Readings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Biswabandan</dc:creator>
  <cp:lastModifiedBy>Biswabandan</cp:lastModifiedBy>
  <cp:revision>1050</cp:revision>
  <dcterms:created xsi:type="dcterms:W3CDTF">2021-05-31T06:57:48Z</dcterms:created>
  <dcterms:modified xsi:type="dcterms:W3CDTF">2025-02-18T17:38:52Z</dcterms:modified>
</cp:coreProperties>
</file>