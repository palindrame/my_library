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1341" r:id="rId3"/>
    <p:sldId id="996" r:id="rId4"/>
    <p:sldId id="997" r:id="rId5"/>
    <p:sldId id="998" r:id="rId6"/>
    <p:sldId id="1002" r:id="rId7"/>
    <p:sldId id="1003" r:id="rId8"/>
    <p:sldId id="1001" r:id="rId9"/>
    <p:sldId id="999" r:id="rId10"/>
    <p:sldId id="1004" r:id="rId11"/>
    <p:sldId id="134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00273-A75A-40C8-A1BF-43497AA16139}" type="datetimeFigureOut">
              <a:rPr lang="en-IN" smtClean="0"/>
              <a:t>11-02-2025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DD372-930E-48E8-B3B2-DE0E135E26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70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cse.iitb.ac.in/~biswa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864CB-0AC2-496D-B597-B1F243F5BF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777" y="1122363"/>
            <a:ext cx="1020376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CS305: Computer Architecture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E45455-008C-4FEE-A9C6-8894363DC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190CD-44DD-4170-8E27-65C897B7F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C8CE0C-3100-4BD4-A909-E56C192401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67446" y="71035"/>
            <a:ext cx="2841820" cy="865176"/>
          </a:xfrm>
          <a:prstGeom prst="rect">
            <a:avLst/>
          </a:prstGeom>
        </p:spPr>
      </p:pic>
      <p:pic>
        <p:nvPicPr>
          <p:cNvPr id="1026" name="Picture 2" descr="IIT Bombay | IIT Bombay">
            <a:extLst>
              <a:ext uri="{FF2B5EF4-FFF2-40B4-BE49-F238E27FC236}">
                <a16:creationId xmlns:a16="http://schemas.microsoft.com/office/drawing/2014/main" id="{17C6F939-4954-4EA5-BA91-2B9038A795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2" y="26560"/>
            <a:ext cx="1130218" cy="110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6242A2-99C7-43EF-9FF6-5F0AFFFDA1DF}"/>
              </a:ext>
            </a:extLst>
          </p:cNvPr>
          <p:cNvSpPr txBox="1"/>
          <p:nvPr userDrawn="1"/>
        </p:nvSpPr>
        <p:spPr>
          <a:xfrm>
            <a:off x="0" y="6354386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i="1" dirty="0">
                <a:hlinkClick r:id="rId4"/>
              </a:rPr>
              <a:t>https://www.cse.iitb.ac.in/~biswa/</a:t>
            </a:r>
            <a:endParaRPr lang="en-IN" sz="2800" i="1" dirty="0"/>
          </a:p>
          <a:p>
            <a:endParaRPr lang="en-IN" sz="2800" i="1" dirty="0"/>
          </a:p>
        </p:txBody>
      </p:sp>
    </p:spTree>
    <p:extLst>
      <p:ext uri="{BB962C8B-B14F-4D97-AF65-F5344CB8AC3E}">
        <p14:creationId xmlns:p14="http://schemas.microsoft.com/office/powerpoint/2010/main" val="167928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97915-0F56-4288-8471-3449AA530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A509-FC2C-413C-8D9B-6E84963AD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42D7E-424B-47EC-A6D1-6B6B1784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IN" dirty="0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2FB26-2A3A-4BC7-9A52-336ED922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8651ABE-1138-46C6-9A43-7FCD4EB2550C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5432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415600" y="58282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5878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marL="1219170" lvl="1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marL="1828754" lvl="2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marL="2438339" lvl="3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marL="3047924" lvl="4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marL="3657509" lvl="5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marL="4267093" lvl="6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marL="4876678" lvl="7" indent="-558786">
              <a:spcBef>
                <a:spcPts val="2133"/>
              </a:spcBef>
              <a:spcAft>
                <a:spcPts val="0"/>
              </a:spcAft>
              <a:buSzPts val="30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marL="5486263" lvl="8" indent="-558786">
              <a:spcBef>
                <a:spcPts val="2133"/>
              </a:spcBef>
              <a:spcAft>
                <a:spcPts val="2133"/>
              </a:spcAft>
              <a:buSzPts val="30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11222173" y="6286400"/>
            <a:ext cx="920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400">
                <a:solidFill>
                  <a:srgbClr val="B22222"/>
                </a:solidFill>
              </a:defRPr>
            </a:lvl1pPr>
            <a:lvl2pPr lvl="1" algn="r">
              <a:buNone/>
              <a:defRPr sz="2400">
                <a:solidFill>
                  <a:srgbClr val="B22222"/>
                </a:solidFill>
              </a:defRPr>
            </a:lvl2pPr>
            <a:lvl3pPr lvl="2" algn="r">
              <a:buNone/>
              <a:defRPr sz="2400">
                <a:solidFill>
                  <a:srgbClr val="B22222"/>
                </a:solidFill>
              </a:defRPr>
            </a:lvl3pPr>
            <a:lvl4pPr lvl="3" algn="r">
              <a:buNone/>
              <a:defRPr sz="2400">
                <a:solidFill>
                  <a:srgbClr val="B22222"/>
                </a:solidFill>
              </a:defRPr>
            </a:lvl4pPr>
            <a:lvl5pPr lvl="4" algn="r">
              <a:buNone/>
              <a:defRPr sz="2400">
                <a:solidFill>
                  <a:srgbClr val="B22222"/>
                </a:solidFill>
              </a:defRPr>
            </a:lvl5pPr>
            <a:lvl6pPr lvl="5" algn="r">
              <a:buNone/>
              <a:defRPr sz="2400">
                <a:solidFill>
                  <a:srgbClr val="B22222"/>
                </a:solidFill>
              </a:defRPr>
            </a:lvl6pPr>
            <a:lvl7pPr lvl="6" algn="r">
              <a:buNone/>
              <a:defRPr sz="2400">
                <a:solidFill>
                  <a:srgbClr val="B22222"/>
                </a:solidFill>
              </a:defRPr>
            </a:lvl7pPr>
            <a:lvl8pPr lvl="7" algn="r">
              <a:buNone/>
              <a:defRPr sz="2400">
                <a:solidFill>
                  <a:srgbClr val="B22222"/>
                </a:solidFill>
              </a:defRPr>
            </a:lvl8pPr>
            <a:lvl9pPr lvl="8" algn="r">
              <a:buNone/>
              <a:defRPr sz="2400">
                <a:solidFill>
                  <a:srgbClr val="B2222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cxnSp>
        <p:nvCxnSpPr>
          <p:cNvPr id="27" name="Google Shape;27;p4"/>
          <p:cNvCxnSpPr/>
          <p:nvPr/>
        </p:nvCxnSpPr>
        <p:spPr>
          <a:xfrm rot="10800000" flipH="1">
            <a:off x="511048" y="1464833"/>
            <a:ext cx="11459600" cy="1600"/>
          </a:xfrm>
          <a:prstGeom prst="straightConnector1">
            <a:avLst/>
          </a:prstGeom>
          <a:noFill/>
          <a:ln w="19050" cap="flat" cmpd="sng">
            <a:solidFill>
              <a:srgbClr val="B2222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28;p4"/>
          <p:cNvSpPr txBox="1"/>
          <p:nvPr/>
        </p:nvSpPr>
        <p:spPr>
          <a:xfrm>
            <a:off x="5679767" y="6306767"/>
            <a:ext cx="4836800" cy="5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589317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60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D39DFA-22D9-4774-B6B2-CF85A485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A882D-3562-4909-BF1E-D5DED9766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BA480-B9BD-4D87-8604-BB9D03C40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26BC3-8D20-4FAA-A821-14CAB47B0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Computer Architecture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6480A1-8C5A-4D78-A697-18D4DCC3C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51ABE-1138-46C6-9A43-7FCD4EB255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06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9D94-0FEA-4DBE-86DF-3FB8852D3B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CS773-2025-Spring: </a:t>
            </a:r>
            <a:br>
              <a:rPr lang="en-US" dirty="0"/>
            </a:br>
            <a:r>
              <a:rPr lang="en-US" dirty="0"/>
              <a:t>Computer Architecture for Performance and Security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676AF-9222-4BBF-BBA7-BED9C767C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Lecture 8: Transient Execution Attacks </a:t>
            </a:r>
            <a:r>
              <a:rPr lang="en-US" sz="3600" dirty="0">
                <a:solidFill>
                  <a:srgbClr val="C00000"/>
                </a:solidFill>
                <a:sym typeface="Wingdings" panose="05000000000000000000" pitchFamily="2" charset="2"/>
              </a:rPr>
              <a:t> </a:t>
            </a:r>
            <a:endParaRPr lang="en-US" sz="3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78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C6523-69CD-1ADB-E0A0-B6A73D5D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6628" y="1783959"/>
            <a:ext cx="4645250" cy="288911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Phones on silence, please </a:t>
            </a:r>
            <a:b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D26085-0DC7-B122-B2F2-759682D45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9382" y="514698"/>
            <a:ext cx="4047843" cy="446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15155-21D3-E065-8AA6-0BD0D228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46626" y="6199632"/>
            <a:ext cx="4256653" cy="314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CASPER</a:t>
            </a:r>
          </a:p>
        </p:txBody>
      </p:sp>
    </p:spTree>
    <p:extLst>
      <p:ext uri="{BB962C8B-B14F-4D97-AF65-F5344CB8AC3E}">
        <p14:creationId xmlns:p14="http://schemas.microsoft.com/office/powerpoint/2010/main" val="134576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35C8-3C3E-4703-8A11-A7A548C20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Spectre and Meltdown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FE227-B952-4909-98BD-9121CA5232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sp>
        <p:nvSpPr>
          <p:cNvPr id="5" name="AutoShape 2" descr="Spectre">
            <a:extLst>
              <a:ext uri="{FF2B5EF4-FFF2-40B4-BE49-F238E27FC236}">
                <a16:creationId xmlns:a16="http://schemas.microsoft.com/office/drawing/2014/main" id="{556E48A0-B90E-4312-B1B6-7A19E1D32C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2" descr="Image result for images of spectre">
            <a:extLst>
              <a:ext uri="{FF2B5EF4-FFF2-40B4-BE49-F238E27FC236}">
                <a16:creationId xmlns:a16="http://schemas.microsoft.com/office/drawing/2014/main" id="{9DD49760-0B2A-45F6-B1BF-684D663D7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58" y="2333994"/>
            <a:ext cx="4306334" cy="3617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 result for meltdown">
            <a:extLst>
              <a:ext uri="{FF2B5EF4-FFF2-40B4-BE49-F238E27FC236}">
                <a16:creationId xmlns:a16="http://schemas.microsoft.com/office/drawing/2014/main" id="{545855CF-FD26-4570-B840-950EA3D2C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587" y="2333994"/>
            <a:ext cx="3043720" cy="3574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041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DDAD-B6EC-4284-BB24-0B1B8D88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Spectre in Action: Fasten Your Seat Belts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58836-C2FE-4792-8F3A-32833EF166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24AC949-13FB-42ED-BFAB-85FD99568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5639" y="3553584"/>
            <a:ext cx="3858477" cy="3056002"/>
          </a:xfrm>
          <a:prstGeom prst="rect">
            <a:avLst/>
          </a:prstGeom>
        </p:spPr>
      </p:pic>
      <p:sp>
        <p:nvSpPr>
          <p:cNvPr id="6" name="Rounded Rectangle 16">
            <a:extLst>
              <a:ext uri="{FF2B5EF4-FFF2-40B4-BE49-F238E27FC236}">
                <a16:creationId xmlns:a16="http://schemas.microsoft.com/office/drawing/2014/main" id="{7A5219BC-3891-4D21-8615-770F0C827F5F}"/>
              </a:ext>
            </a:extLst>
          </p:cNvPr>
          <p:cNvSpPr/>
          <p:nvPr/>
        </p:nvSpPr>
        <p:spPr>
          <a:xfrm>
            <a:off x="167571" y="1628531"/>
            <a:ext cx="10906268" cy="327684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00B050"/>
                </a:solidFill>
                <a:latin typeface="Cambria" panose="02040503050406030204" pitchFamily="18" charset="0"/>
              </a:rPr>
              <a:t>int CS773Array = [100, 200, 300];</a:t>
            </a: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int attacker = 4; </a:t>
            </a:r>
          </a:p>
          <a:p>
            <a:r>
              <a:rPr lang="en-US" altLang="en-US" sz="3200" dirty="0">
                <a:solidFill>
                  <a:srgbClr val="00B050"/>
                </a:solidFill>
                <a:latin typeface="Cambria" panose="02040503050406030204" pitchFamily="18" charset="0"/>
              </a:rPr>
              <a:t>if (attacker &lt; </a:t>
            </a:r>
            <a:r>
              <a:rPr lang="en-US" altLang="en-US" sz="3200" dirty="0" err="1">
                <a:solidFill>
                  <a:srgbClr val="00B050"/>
                </a:solidFill>
                <a:latin typeface="Cambria" panose="02040503050406030204" pitchFamily="18" charset="0"/>
              </a:rPr>
              <a:t>sizeof</a:t>
            </a:r>
            <a:r>
              <a:rPr lang="en-US" altLang="en-US" sz="3200" dirty="0">
                <a:solidFill>
                  <a:srgbClr val="00B050"/>
                </a:solidFill>
                <a:latin typeface="Cambria" panose="02040503050406030204" pitchFamily="18" charset="0"/>
              </a:rPr>
              <a:t>(CS773Array))</a:t>
            </a:r>
          </a:p>
          <a:p>
            <a:r>
              <a:rPr lang="en-US" altLang="en-US" sz="3200" dirty="0">
                <a:solidFill>
                  <a:srgbClr val="00B050"/>
                </a:solidFill>
                <a:latin typeface="Cambria" panose="02040503050406030204" pitchFamily="18" charset="0"/>
              </a:rPr>
              <a:t>            x = CS773Array[attacker]</a:t>
            </a:r>
          </a:p>
          <a:p>
            <a:endParaRPr lang="en-US" altLang="en-US" sz="3200" dirty="0">
              <a:solidFill>
                <a:srgbClr val="00B05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y=</a:t>
            </a:r>
            <a:r>
              <a:rPr lang="en-US" altLang="en-US" sz="3200" dirty="0" err="1">
                <a:solidFill>
                  <a:srgbClr val="C00000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EE893B-594F-4A88-95CA-0B9FF5B215E3}"/>
              </a:ext>
            </a:extLst>
          </p:cNvPr>
          <p:cNvSpPr txBox="1"/>
          <p:nvPr/>
        </p:nvSpPr>
        <p:spPr>
          <a:xfrm>
            <a:off x="6327685" y="2560395"/>
            <a:ext cx="37844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DRAM LOAD (make sure you </a:t>
            </a:r>
          </a:p>
          <a:p>
            <a:r>
              <a:rPr lang="en-IN" sz="2400" dirty="0"/>
              <a:t>thrash all from cache)</a:t>
            </a:r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AB719305-9E4C-4FC5-B91E-E07ED64B4DAA}"/>
              </a:ext>
            </a:extLst>
          </p:cNvPr>
          <p:cNvCxnSpPr>
            <a:cxnSpLocks/>
          </p:cNvCxnSpPr>
          <p:nvPr/>
        </p:nvCxnSpPr>
        <p:spPr>
          <a:xfrm flipV="1">
            <a:off x="5723221" y="2600613"/>
            <a:ext cx="1333672" cy="288896"/>
          </a:xfrm>
          <a:prstGeom prst="curvedConnector4">
            <a:avLst>
              <a:gd name="adj1" fmla="val -12553"/>
              <a:gd name="adj2" fmla="val 179129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F774FD9E-15AC-4FA4-84C3-146C310B1175}"/>
              </a:ext>
            </a:extLst>
          </p:cNvPr>
          <p:cNvCxnSpPr>
            <a:cxnSpLocks/>
          </p:cNvCxnSpPr>
          <p:nvPr/>
        </p:nvCxnSpPr>
        <p:spPr>
          <a:xfrm>
            <a:off x="3950475" y="3717896"/>
            <a:ext cx="1606652" cy="374170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AF93CA0-69D8-4FD4-BB08-9B871530CD61}"/>
              </a:ext>
            </a:extLst>
          </p:cNvPr>
          <p:cNvSpPr txBox="1"/>
          <p:nvPr/>
        </p:nvSpPr>
        <p:spPr>
          <a:xfrm>
            <a:off x="5581548" y="3568327"/>
            <a:ext cx="5679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DRAM LOAD (make sure you thrash all from </a:t>
            </a:r>
          </a:p>
          <a:p>
            <a:r>
              <a:rPr lang="en-IN" sz="2400" dirty="0"/>
              <a:t>cache)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5FDF5E-9062-FE01-CC1C-67FC49FB1F44}"/>
              </a:ext>
            </a:extLst>
          </p:cNvPr>
          <p:cNvSpPr txBox="1"/>
          <p:nvPr/>
        </p:nvSpPr>
        <p:spPr>
          <a:xfrm>
            <a:off x="2036064" y="5877457"/>
            <a:ext cx="4921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is the secret that is not accessible to the attacker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476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7EAA-E168-4255-8B3F-45A08542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Predictor and Speculative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2364C-3F4C-4652-9621-14B173FD42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pic>
        <p:nvPicPr>
          <p:cNvPr id="3074" name="Picture 2" descr="Tell Prediction Stock Vector Illustration And Royalty Free Tell Prediction  Clipart">
            <a:extLst>
              <a:ext uri="{FF2B5EF4-FFF2-40B4-BE49-F238E27FC236}">
                <a16:creationId xmlns:a16="http://schemas.microsoft.com/office/drawing/2014/main" id="{759A54E9-5B8F-4D08-9639-E636B9602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048" y="187245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D57B8C94-7DCB-4C35-A9AD-D8BBD24D68F8}"/>
              </a:ext>
            </a:extLst>
          </p:cNvPr>
          <p:cNvSpPr/>
          <p:nvPr/>
        </p:nvSpPr>
        <p:spPr>
          <a:xfrm>
            <a:off x="5198440" y="4370525"/>
            <a:ext cx="6127995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Branch predictor returns TRUE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Rounded Rectangle 16">
            <a:extLst>
              <a:ext uri="{FF2B5EF4-FFF2-40B4-BE49-F238E27FC236}">
                <a16:creationId xmlns:a16="http://schemas.microsoft.com/office/drawing/2014/main" id="{1AD4D88E-BC7F-4584-8875-1129FC251344}"/>
              </a:ext>
            </a:extLst>
          </p:cNvPr>
          <p:cNvSpPr/>
          <p:nvPr/>
        </p:nvSpPr>
        <p:spPr>
          <a:xfrm>
            <a:off x="167571" y="1628531"/>
            <a:ext cx="9567505" cy="223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CS773Array = [100, 200, 300];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attacker = 4; 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if (attacker &lt;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sizeof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(CS773Array))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           y =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11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7EAA-E168-4255-8B3F-45A08542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Predictor and Speculative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2364C-3F4C-4652-9621-14B173FD42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D57B8C94-7DCB-4C35-A9AD-D8BBD24D68F8}"/>
              </a:ext>
            </a:extLst>
          </p:cNvPr>
          <p:cNvSpPr/>
          <p:nvPr/>
        </p:nvSpPr>
        <p:spPr>
          <a:xfrm>
            <a:off x="5198440" y="4370525"/>
            <a:ext cx="6127995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Branch predictor returns TRUE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CD98BB88-1D55-4620-9071-F9EB452C4F42}"/>
              </a:ext>
            </a:extLst>
          </p:cNvPr>
          <p:cNvSpPr/>
          <p:nvPr/>
        </p:nvSpPr>
        <p:spPr>
          <a:xfrm>
            <a:off x="5572283" y="4970301"/>
            <a:ext cx="5754152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Attacker has mis-trained it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B1F4068F-8E45-4516-9584-471E7535654A}"/>
              </a:ext>
            </a:extLst>
          </p:cNvPr>
          <p:cNvSpPr/>
          <p:nvPr/>
        </p:nvSpPr>
        <p:spPr>
          <a:xfrm>
            <a:off x="1010387" y="4970301"/>
            <a:ext cx="4031443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T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3200" b="1" dirty="0" err="1">
                <a:solidFill>
                  <a:srgbClr val="C00000"/>
                </a:solidFill>
                <a:latin typeface="Cambria" panose="02040503050406030204" pitchFamily="18" charset="0"/>
              </a:rPr>
              <a:t>T</a:t>
            </a:r>
            <a:r>
              <a:rPr lang="en-US" altLang="en-US" sz="3200" b="1" dirty="0">
                <a:solidFill>
                  <a:srgbClr val="C00000"/>
                </a:solidFill>
                <a:latin typeface="Cambria" panose="02040503050406030204" pitchFamily="18" charset="0"/>
              </a:rPr>
              <a:t> </a:t>
            </a:r>
          </a:p>
        </p:txBody>
      </p:sp>
      <p:sp>
        <p:nvSpPr>
          <p:cNvPr id="12" name="Rounded Rectangle 16">
            <a:extLst>
              <a:ext uri="{FF2B5EF4-FFF2-40B4-BE49-F238E27FC236}">
                <a16:creationId xmlns:a16="http://schemas.microsoft.com/office/drawing/2014/main" id="{A15C36CE-8009-4286-A053-1593C115E5CA}"/>
              </a:ext>
            </a:extLst>
          </p:cNvPr>
          <p:cNvSpPr/>
          <p:nvPr/>
        </p:nvSpPr>
        <p:spPr>
          <a:xfrm>
            <a:off x="1419594" y="5870387"/>
            <a:ext cx="8340742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How? By using values less than 3 always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Rounded Rectangle 16">
            <a:extLst>
              <a:ext uri="{FF2B5EF4-FFF2-40B4-BE49-F238E27FC236}">
                <a16:creationId xmlns:a16="http://schemas.microsoft.com/office/drawing/2014/main" id="{AFD7E522-3F62-43A0-8DAD-E8E1D8918D1D}"/>
              </a:ext>
            </a:extLst>
          </p:cNvPr>
          <p:cNvSpPr/>
          <p:nvPr/>
        </p:nvSpPr>
        <p:spPr>
          <a:xfrm>
            <a:off x="167571" y="1628531"/>
            <a:ext cx="9567505" cy="223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CS773Array = [100, 200, 300];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attacker = 4; 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if (attacker &lt;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sizeof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(CS773Array))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           y =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pic>
        <p:nvPicPr>
          <p:cNvPr id="14" name="Picture 2" descr="Tell Prediction Stock Vector Illustration And Royalty Free Tell Prediction  Clipart">
            <a:extLst>
              <a:ext uri="{FF2B5EF4-FFF2-40B4-BE49-F238E27FC236}">
                <a16:creationId xmlns:a16="http://schemas.microsoft.com/office/drawing/2014/main" id="{9D1BB5AE-F582-470A-BD81-A699326D0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539" y="1644344"/>
            <a:ext cx="1021725" cy="102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452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7EAA-E168-4255-8B3F-45A08542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Predictor and Speculative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2364C-3F4C-4652-9621-14B173FD42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D57B8C94-7DCB-4C35-A9AD-D8BBD24D68F8}"/>
              </a:ext>
            </a:extLst>
          </p:cNvPr>
          <p:cNvSpPr/>
          <p:nvPr/>
        </p:nvSpPr>
        <p:spPr>
          <a:xfrm>
            <a:off x="5198440" y="4370525"/>
            <a:ext cx="6127995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Branch predictor returns TRUE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CD98BB88-1D55-4620-9071-F9EB452C4F42}"/>
              </a:ext>
            </a:extLst>
          </p:cNvPr>
          <p:cNvSpPr/>
          <p:nvPr/>
        </p:nvSpPr>
        <p:spPr>
          <a:xfrm>
            <a:off x="5572283" y="4970301"/>
            <a:ext cx="5754152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Attacker has mis-trained it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780D3861-4868-417F-A0E0-157B6EA21159}"/>
              </a:ext>
            </a:extLst>
          </p:cNvPr>
          <p:cNvSpPr/>
          <p:nvPr/>
        </p:nvSpPr>
        <p:spPr>
          <a:xfrm>
            <a:off x="4309299" y="5640186"/>
            <a:ext cx="7017136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Processor is on the wrong-path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Rounded Rectangle 16">
            <a:extLst>
              <a:ext uri="{FF2B5EF4-FFF2-40B4-BE49-F238E27FC236}">
                <a16:creationId xmlns:a16="http://schemas.microsoft.com/office/drawing/2014/main" id="{F1DA536D-429B-419E-BEC9-8B1273D69343}"/>
              </a:ext>
            </a:extLst>
          </p:cNvPr>
          <p:cNvSpPr/>
          <p:nvPr/>
        </p:nvSpPr>
        <p:spPr>
          <a:xfrm>
            <a:off x="167571" y="1628531"/>
            <a:ext cx="9567505" cy="223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CS773Array = [100, 200, 300];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attacker = 4; 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if (attacker &lt;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sizeof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(CS773Array))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           y =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063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7EAA-E168-4255-8B3F-45A08542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Predictor and Speculative Execution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2364C-3F4C-4652-9621-14B173FD42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D57B8C94-7DCB-4C35-A9AD-D8BBD24D68F8}"/>
              </a:ext>
            </a:extLst>
          </p:cNvPr>
          <p:cNvSpPr/>
          <p:nvPr/>
        </p:nvSpPr>
        <p:spPr>
          <a:xfrm>
            <a:off x="5198440" y="4370525"/>
            <a:ext cx="6127995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Branch predictor returns TRUE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CD98BB88-1D55-4620-9071-F9EB452C4F42}"/>
              </a:ext>
            </a:extLst>
          </p:cNvPr>
          <p:cNvSpPr/>
          <p:nvPr/>
        </p:nvSpPr>
        <p:spPr>
          <a:xfrm>
            <a:off x="5572283" y="4970301"/>
            <a:ext cx="5754152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Attacker has mis-trained it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780D3861-4868-417F-A0E0-157B6EA21159}"/>
              </a:ext>
            </a:extLst>
          </p:cNvPr>
          <p:cNvSpPr/>
          <p:nvPr/>
        </p:nvSpPr>
        <p:spPr>
          <a:xfrm>
            <a:off x="4309299" y="5640186"/>
            <a:ext cx="7017136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Processor is on the wrong-path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Rounded Rectangle 16">
            <a:extLst>
              <a:ext uri="{FF2B5EF4-FFF2-40B4-BE49-F238E27FC236}">
                <a16:creationId xmlns:a16="http://schemas.microsoft.com/office/drawing/2014/main" id="{41474E1F-6A5A-4E11-90D3-21BA9555340B}"/>
              </a:ext>
            </a:extLst>
          </p:cNvPr>
          <p:cNvSpPr/>
          <p:nvPr/>
        </p:nvSpPr>
        <p:spPr>
          <a:xfrm>
            <a:off x="2950329" y="6271914"/>
            <a:ext cx="8376106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Branch resolution latency 200 cycles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Rounded Rectangle 16">
            <a:extLst>
              <a:ext uri="{FF2B5EF4-FFF2-40B4-BE49-F238E27FC236}">
                <a16:creationId xmlns:a16="http://schemas.microsoft.com/office/drawing/2014/main" id="{2DBA9930-2851-4D04-995F-315B2ABE329B}"/>
              </a:ext>
            </a:extLst>
          </p:cNvPr>
          <p:cNvSpPr/>
          <p:nvPr/>
        </p:nvSpPr>
        <p:spPr>
          <a:xfrm>
            <a:off x="167571" y="1628531"/>
            <a:ext cx="9567505" cy="223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CS773Array = [100, 200, 300];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attacker = 4; 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if (attacker &lt;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sizeof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(CS773Array))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           y =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25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7EAA-E168-4255-8B3F-45A085429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Within these 200 cycles </a:t>
            </a:r>
            <a:r>
              <a:rPr lang="en-IN" dirty="0">
                <a:sym typeface="Wingdings" panose="05000000000000000000" pitchFamily="2" charset="2"/>
              </a:rPr>
              <a:t>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2364C-3F4C-4652-9621-14B173FD42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D57B8C94-7DCB-4C35-A9AD-D8BBD24D68F8}"/>
              </a:ext>
            </a:extLst>
          </p:cNvPr>
          <p:cNvSpPr/>
          <p:nvPr/>
        </p:nvSpPr>
        <p:spPr>
          <a:xfrm>
            <a:off x="5435881" y="4370525"/>
            <a:ext cx="5890554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CS773Array[4] is in L1/L2/L3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82CC58B5-60AC-4F0F-B714-3A5904298FF0}"/>
              </a:ext>
            </a:extLst>
          </p:cNvPr>
          <p:cNvSpPr/>
          <p:nvPr/>
        </p:nvSpPr>
        <p:spPr>
          <a:xfrm>
            <a:off x="5566388" y="5066062"/>
            <a:ext cx="5760047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The address is in the cache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Rounded Rectangle 16">
            <a:extLst>
              <a:ext uri="{FF2B5EF4-FFF2-40B4-BE49-F238E27FC236}">
                <a16:creationId xmlns:a16="http://schemas.microsoft.com/office/drawing/2014/main" id="{73F7C9A0-981C-46B8-81D0-2F860636B68D}"/>
              </a:ext>
            </a:extLst>
          </p:cNvPr>
          <p:cNvSpPr/>
          <p:nvPr/>
        </p:nvSpPr>
        <p:spPr>
          <a:xfrm>
            <a:off x="1419594" y="5829746"/>
            <a:ext cx="9906842" cy="5248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</a:rPr>
              <a:t>Yes, you guessed it right: F+R, P+P cache attacks </a:t>
            </a:r>
            <a:r>
              <a:rPr lang="en-US" altLang="en-US" sz="32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  </a:t>
            </a:r>
            <a:endParaRPr lang="en-US" altLang="en-US" sz="3200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6732BA79-3756-4FB0-A5DE-A37497455484}"/>
              </a:ext>
            </a:extLst>
          </p:cNvPr>
          <p:cNvSpPr/>
          <p:nvPr/>
        </p:nvSpPr>
        <p:spPr>
          <a:xfrm>
            <a:off x="167571" y="1635774"/>
            <a:ext cx="9567505" cy="223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CS773Array = [100, 200, 300];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int attacker = 4; 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if (attacker &lt;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sizeof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(CS773Array))</a:t>
            </a: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           y = </a:t>
            </a:r>
            <a:r>
              <a:rPr lang="en-US" altLang="en-US" sz="32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956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7DCE-DC3F-48AF-818F-EFAB9D52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ym typeface="Wingdings" panose="05000000000000000000" pitchFamily="2" charset="2"/>
              </a:rPr>
              <a:t>After say 200 cycles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4FEBF-F888-4522-B798-107B7C05F1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sp>
        <p:nvSpPr>
          <p:cNvPr id="5" name="Rounded Rectangle 16">
            <a:extLst>
              <a:ext uri="{FF2B5EF4-FFF2-40B4-BE49-F238E27FC236}">
                <a16:creationId xmlns:a16="http://schemas.microsoft.com/office/drawing/2014/main" id="{8252FA8C-F2C3-4F57-9CB0-63CA4A258A97}"/>
              </a:ext>
            </a:extLst>
          </p:cNvPr>
          <p:cNvSpPr/>
          <p:nvPr/>
        </p:nvSpPr>
        <p:spPr>
          <a:xfrm>
            <a:off x="167571" y="3849573"/>
            <a:ext cx="11360799" cy="266603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28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 y = </a:t>
            </a:r>
            <a:r>
              <a:rPr lang="en-US" altLang="en-US" sz="2800" dirty="0" err="1">
                <a:solidFill>
                  <a:srgbClr val="C00000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[CS773Array[attacker]*512] </a:t>
            </a:r>
          </a:p>
          <a:p>
            <a:endParaRPr lang="en-US" altLang="en-US" sz="2800" dirty="0">
              <a:solidFill>
                <a:srgbClr val="C00000"/>
              </a:solidFill>
              <a:latin typeface="Cambria" panose="02040503050406030204" pitchFamily="18" charset="0"/>
            </a:endParaRPr>
          </a:p>
          <a:p>
            <a:r>
              <a:rPr lang="en-US" altLang="en-US" sz="2800" dirty="0">
                <a:solidFill>
                  <a:schemeClr val="tx1"/>
                </a:solidFill>
                <a:latin typeface="Cambria" panose="02040503050406030204" pitchFamily="18" charset="0"/>
              </a:rPr>
              <a:t>LOAD </a:t>
            </a:r>
            <a:r>
              <a:rPr lang="en-US" altLang="en-US" sz="28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2800" dirty="0">
                <a:solidFill>
                  <a:schemeClr val="tx1"/>
                </a:solidFill>
                <a:latin typeface="Cambria" panose="02040503050406030204" pitchFamily="18" charset="0"/>
              </a:rPr>
              <a:t>[0]   60 ns</a:t>
            </a:r>
          </a:p>
          <a:p>
            <a:r>
              <a:rPr lang="en-US" altLang="en-US" sz="2800" dirty="0">
                <a:solidFill>
                  <a:schemeClr val="tx1"/>
                </a:solidFill>
                <a:latin typeface="Cambria" panose="02040503050406030204" pitchFamily="18" charset="0"/>
              </a:rPr>
              <a:t>LOAD </a:t>
            </a:r>
            <a:r>
              <a:rPr lang="en-US" altLang="en-US" sz="2800" dirty="0" err="1">
                <a:solidFill>
                  <a:schemeClr val="tx1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2800" dirty="0">
                <a:solidFill>
                  <a:schemeClr val="tx1"/>
                </a:solidFill>
                <a:latin typeface="Cambria" panose="02040503050406030204" pitchFamily="18" charset="0"/>
              </a:rPr>
              <a:t>[512] 60 ns</a:t>
            </a:r>
          </a:p>
          <a:p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LOAD </a:t>
            </a:r>
            <a:r>
              <a:rPr lang="en-US" altLang="en-US" sz="2800" dirty="0" err="1">
                <a:solidFill>
                  <a:srgbClr val="C00000"/>
                </a:solidFill>
                <a:latin typeface="Cambria" panose="02040503050406030204" pitchFamily="18" charset="0"/>
              </a:rPr>
              <a:t>MyArray</a:t>
            </a:r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[1024] 5 ns Bingo !! </a:t>
            </a:r>
            <a:r>
              <a:rPr lang="en-US" altLang="en-US" sz="2800" i="1" u="sng" dirty="0">
                <a:solidFill>
                  <a:srgbClr val="C00000"/>
                </a:solidFill>
                <a:latin typeface="Cambria" panose="02040503050406030204" pitchFamily="18" charset="0"/>
              </a:rPr>
              <a:t>CS773Array[attacker] = 2</a:t>
            </a:r>
          </a:p>
          <a:p>
            <a:pPr algn="ctr"/>
            <a:endParaRPr lang="en-US" altLang="en-US" sz="3200" b="1" dirty="0">
              <a:solidFill>
                <a:srgbClr val="C00000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ounded Rectangle 16">
            <a:extLst>
              <a:ext uri="{FF2B5EF4-FFF2-40B4-BE49-F238E27FC236}">
                <a16:creationId xmlns:a16="http://schemas.microsoft.com/office/drawing/2014/main" id="{F7376129-F2BD-4889-BB60-6F3F4AE4B616}"/>
              </a:ext>
            </a:extLst>
          </p:cNvPr>
          <p:cNvSpPr/>
          <p:nvPr/>
        </p:nvSpPr>
        <p:spPr>
          <a:xfrm>
            <a:off x="454675" y="1673352"/>
            <a:ext cx="7135136" cy="1146187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en-US" sz="3200" b="1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Processor realized it was a mistake and </a:t>
            </a:r>
          </a:p>
          <a:p>
            <a:r>
              <a:rPr lang="en-US" altLang="en-US" sz="3200" i="1" dirty="0">
                <a:solidFill>
                  <a:srgbClr val="C00000"/>
                </a:solidFill>
                <a:latin typeface="Cambria" panose="02040503050406030204" pitchFamily="18" charset="0"/>
              </a:rPr>
              <a:t>squashed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 all wrong path instructions</a:t>
            </a:r>
          </a:p>
          <a:p>
            <a:pPr algn="ctr"/>
            <a:endParaRPr lang="en-US" altLang="en-US" sz="3200" b="1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sp>
        <p:nvSpPr>
          <p:cNvPr id="7" name="Rounded Rectangle 16">
            <a:extLst>
              <a:ext uri="{FF2B5EF4-FFF2-40B4-BE49-F238E27FC236}">
                <a16:creationId xmlns:a16="http://schemas.microsoft.com/office/drawing/2014/main" id="{5E8A0785-3EF5-4FDD-A587-9BE581DB0544}"/>
              </a:ext>
            </a:extLst>
          </p:cNvPr>
          <p:cNvSpPr/>
          <p:nvPr/>
        </p:nvSpPr>
        <p:spPr>
          <a:xfrm>
            <a:off x="7027239" y="2983002"/>
            <a:ext cx="4807037" cy="61902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</a:rPr>
              <a:t>But cache has the data </a:t>
            </a:r>
            <a:r>
              <a:rPr lang="en-US" altLang="en-US" sz="3200" dirty="0">
                <a:solidFill>
                  <a:schemeClr val="tx1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 </a:t>
            </a:r>
            <a:endParaRPr lang="en-US" altLang="en-US" sz="32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72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F377-A2E5-0CB8-8A2A-AE1CF4490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</a:t>
            </a:r>
            <a:r>
              <a:rPr lang="en-US" dirty="0" err="1"/>
              <a:t>myarray</a:t>
            </a:r>
            <a:r>
              <a:rPr lang="en-US" dirty="0"/>
              <a:t> is not shared with the attacker?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F5EC4-866E-E761-3EEE-A5C0B4E67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it is possible to do </a:t>
            </a:r>
            <a:r>
              <a:rPr lang="en-US" dirty="0" err="1"/>
              <a:t>Spectre</a:t>
            </a:r>
            <a:r>
              <a:rPr lang="en-US" dirty="0"/>
              <a:t> attack </a:t>
            </a:r>
            <a:r>
              <a:rPr lang="en-US" dirty="0">
                <a:sym typeface="Wingdings" panose="05000000000000000000" pitchFamily="2" charset="2"/>
              </a:rPr>
              <a:t> </a:t>
            </a:r>
          </a:p>
          <a:p>
            <a:r>
              <a:rPr lang="en-US" dirty="0">
                <a:sym typeface="Wingdings" panose="05000000000000000000" pitchFamily="2" charset="2"/>
              </a:rPr>
              <a:t>How? </a:t>
            </a:r>
          </a:p>
          <a:p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CS773Array[attacker]</a:t>
            </a:r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 = 0</a:t>
            </a:r>
            <a:r>
              <a:rPr lang="en-US" altLang="en-US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, you access set 0 </a:t>
            </a:r>
          </a:p>
          <a:p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CS773Array[attacker]</a:t>
            </a:r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 = 1, you access set 1 </a:t>
            </a:r>
          </a:p>
          <a:p>
            <a:r>
              <a:rPr lang="en-US" altLang="en-US" sz="2800" dirty="0">
                <a:solidFill>
                  <a:srgbClr val="C00000"/>
                </a:solidFill>
                <a:latin typeface="Cambria" panose="02040503050406030204" pitchFamily="18" charset="0"/>
              </a:rPr>
              <a:t>CS773Array[attacker]</a:t>
            </a:r>
            <a:r>
              <a:rPr lang="en-US" altLang="en-US" dirty="0">
                <a:solidFill>
                  <a:srgbClr val="C00000"/>
                </a:solidFill>
                <a:latin typeface="Cambria" panose="02040503050406030204" pitchFamily="18" charset="0"/>
                <a:sym typeface="Wingdings" panose="05000000000000000000" pitchFamily="2" charset="2"/>
              </a:rPr>
              <a:t> = k, you access set k </a:t>
            </a:r>
          </a:p>
          <a:p>
            <a:endParaRPr lang="en-US" dirty="0">
              <a:latin typeface="Cambria" panose="02040503050406030204" pitchFamily="18" charset="0"/>
              <a:sym typeface="Wingdings" panose="05000000000000000000" pitchFamily="2" charset="2"/>
            </a:endParaRPr>
          </a:p>
          <a:p>
            <a:pPr marL="50799" indent="0">
              <a:buNone/>
            </a:pPr>
            <a:r>
              <a:rPr lang="en-US" dirty="0">
                <a:latin typeface="Cambria" panose="02040503050406030204" pitchFamily="18" charset="0"/>
                <a:sym typeface="Wingdings" panose="05000000000000000000" pitchFamily="2" charset="2"/>
              </a:rPr>
              <a:t>So, in summary, the attacker can do prime and probe on sets and check which sets show latency difference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1AEB8-0A01-DAD5-A2E1-86664339D7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01745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17445</TotalTime>
  <Words>575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</vt:lpstr>
      <vt:lpstr>Wingdings</vt:lpstr>
      <vt:lpstr>Office Theme</vt:lpstr>
      <vt:lpstr>CS773-2025-Spring:  Computer Architecture for Performance and Security</vt:lpstr>
      <vt:lpstr>Phones on silence, please   Thank You </vt:lpstr>
      <vt:lpstr>Spectre and Meltdown</vt:lpstr>
      <vt:lpstr>Spectre in Action: Fasten Your Seat Belts</vt:lpstr>
      <vt:lpstr>Branch Predictor and Speculative Execution</vt:lpstr>
      <vt:lpstr>Branch Predictor and Speculative Execution</vt:lpstr>
      <vt:lpstr>Branch Predictor and Speculative Execution</vt:lpstr>
      <vt:lpstr>Branch Predictor and Speculative Execution</vt:lpstr>
      <vt:lpstr>Within these 200 cycles  </vt:lpstr>
      <vt:lpstr>After say 200 cycles </vt:lpstr>
      <vt:lpstr>What if myarray is not shared with the attacker?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Biswabandan</dc:creator>
  <cp:lastModifiedBy>Biswabandan</cp:lastModifiedBy>
  <cp:revision>1014</cp:revision>
  <dcterms:created xsi:type="dcterms:W3CDTF">2021-05-31T06:57:48Z</dcterms:created>
  <dcterms:modified xsi:type="dcterms:W3CDTF">2025-02-11T04:08:54Z</dcterms:modified>
</cp:coreProperties>
</file>