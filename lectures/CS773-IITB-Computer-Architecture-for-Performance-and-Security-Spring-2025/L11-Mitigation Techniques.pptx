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1341" r:id="rId3"/>
    <p:sldId id="1344" r:id="rId4"/>
    <p:sldId id="452" r:id="rId5"/>
    <p:sldId id="1342" r:id="rId6"/>
    <p:sldId id="435" r:id="rId7"/>
    <p:sldId id="1354" r:id="rId8"/>
    <p:sldId id="453" r:id="rId9"/>
    <p:sldId id="1345" r:id="rId10"/>
    <p:sldId id="1346" r:id="rId11"/>
    <p:sldId id="1347" r:id="rId12"/>
    <p:sldId id="1348" r:id="rId13"/>
    <p:sldId id="1349" r:id="rId14"/>
    <p:sldId id="1350" r:id="rId15"/>
    <p:sldId id="1351" r:id="rId16"/>
    <p:sldId id="1353" r:id="rId17"/>
    <p:sldId id="135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21-02-2025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CS305: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8931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CS773-2025-Spring: </a:t>
            </a:r>
            <a:br>
              <a:rPr lang="en-US" dirty="0"/>
            </a:br>
            <a:r>
              <a:rPr lang="en-US" dirty="0"/>
              <a:t>Computer Architecture for Performance and 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156" y="3509963"/>
            <a:ext cx="10351008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11:  Mitigation Techniques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(Slides adapted from </a:t>
            </a:r>
            <a:r>
              <a:rPr lang="en-US" sz="3600" dirty="0" err="1">
                <a:solidFill>
                  <a:srgbClr val="C00000"/>
                </a:solidFill>
              </a:rPr>
              <a:t>Nishkarsh</a:t>
            </a:r>
            <a:r>
              <a:rPr lang="en-US" sz="3600" dirty="0">
                <a:solidFill>
                  <a:srgbClr val="C00000"/>
                </a:solidFill>
              </a:rPr>
              <a:t> and Chris)</a:t>
            </a: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6523-69CD-1ADB-E0A0-B6A73D5D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Phones on silence, please </a:t>
            </a:r>
            <a:b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D26085-0DC7-B122-B2F2-759682D4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382" y="514698"/>
            <a:ext cx="4047843" cy="446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15155-21D3-E065-8AA6-0BD0D228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6626" y="6199632"/>
            <a:ext cx="4256653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CASPER</a:t>
            </a:r>
          </a:p>
        </p:txBody>
      </p:sp>
    </p:spTree>
    <p:extLst>
      <p:ext uri="{BB962C8B-B14F-4D97-AF65-F5344CB8AC3E}">
        <p14:creationId xmlns:p14="http://schemas.microsoft.com/office/powerpoint/2010/main" val="134576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1C32-E760-E6DB-5C1A-72EAD21EA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04749"/>
            <a:ext cx="11360800" cy="763600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Mitigations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F26AD-1572-C8C9-1F19-F1D8FDCFC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852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5613-2728-4303-86D7-207F4667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mitigation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86034-331A-4F88-BD3F-45F05D4E94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31454-13C7-4C51-AA6B-1AF2A7240556}"/>
              </a:ext>
            </a:extLst>
          </p:cNvPr>
          <p:cNvSpPr txBox="1"/>
          <p:nvPr/>
        </p:nvSpPr>
        <p:spPr>
          <a:xfrm>
            <a:off x="779930" y="1721224"/>
            <a:ext cx="629724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(</a:t>
            </a:r>
            <a:r>
              <a:rPr lang="en-US" sz="2400" i="1" dirty="0"/>
              <a:t>x</a:t>
            </a:r>
            <a:r>
              <a:rPr lang="en-US" sz="2400" dirty="0"/>
              <a:t> &lt;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array1_size</a:t>
            </a:r>
            <a:r>
              <a:rPr lang="en-US" sz="2400" dirty="0"/>
              <a:t>)	 	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sz="2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Mispredict</a:t>
            </a:r>
            <a:endParaRPr lang="en-US" sz="2400" i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	secret</a:t>
            </a:r>
            <a:r>
              <a:rPr lang="en-US" sz="2400" dirty="0"/>
              <a:t> =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array1</a:t>
            </a:r>
            <a:r>
              <a:rPr lang="en-US" sz="2400" dirty="0"/>
              <a:t>[x];	     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Access</a:t>
            </a:r>
          </a:p>
          <a:p>
            <a:r>
              <a:rPr lang="en-US" sz="2400" dirty="0"/>
              <a:t>	y = </a:t>
            </a:r>
            <a:r>
              <a:rPr lang="en-US" sz="2400" dirty="0">
                <a:solidFill>
                  <a:schemeClr val="tx2">
                    <a:lumMod val="25000"/>
                  </a:schemeClr>
                </a:solidFill>
              </a:rPr>
              <a:t>array2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FF0000"/>
                </a:solidFill>
              </a:rPr>
              <a:t>secret </a:t>
            </a:r>
            <a:r>
              <a:rPr lang="en-US" sz="2400" dirty="0"/>
              <a:t>* 64];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Transmit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r>
              <a:rPr lang="en-US" sz="2400" i="1" dirty="0">
                <a:solidFill>
                  <a:schemeClr val="tx2">
                    <a:lumMod val="25000"/>
                  </a:schemeClr>
                </a:solidFill>
              </a:rPr>
              <a:t>array2[0]</a:t>
            </a:r>
          </a:p>
          <a:p>
            <a:r>
              <a:rPr lang="en-US" sz="2400" i="1" dirty="0">
                <a:solidFill>
                  <a:schemeClr val="tx2">
                    <a:lumMod val="25000"/>
                  </a:schemeClr>
                </a:solidFill>
              </a:rPr>
              <a:t>array2[64]</a:t>
            </a:r>
          </a:p>
          <a:p>
            <a:r>
              <a:rPr lang="en-US" sz="2400" i="1" dirty="0">
                <a:solidFill>
                  <a:schemeClr val="tx2">
                    <a:lumMod val="25000"/>
                  </a:schemeClr>
                </a:solidFill>
              </a:rPr>
              <a:t>array2[128]  </a:t>
            </a:r>
            <a:r>
              <a:rPr lang="en-US" sz="2400" b="1" i="1" dirty="0">
                <a:solidFill>
                  <a:schemeClr val="tx2">
                    <a:lumMod val="25000"/>
                  </a:schemeClr>
                </a:solidFill>
              </a:rPr>
              <a:t>. . .</a:t>
            </a:r>
            <a:r>
              <a:rPr lang="en-US" b="1" dirty="0"/>
              <a:t> 		     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// Inference</a:t>
            </a:r>
            <a:endParaRPr lang="en-US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038BC4-51B8-486B-A8B7-267FE99E2D6A}"/>
              </a:ext>
            </a:extLst>
          </p:cNvPr>
          <p:cNvSpPr/>
          <p:nvPr/>
        </p:nvSpPr>
        <p:spPr>
          <a:xfrm>
            <a:off x="8700247" y="1721224"/>
            <a:ext cx="1560755" cy="5782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226D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Mitigations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B347A0-483C-4E43-90A1-3F3E51A1ED03}"/>
              </a:ext>
            </a:extLst>
          </p:cNvPr>
          <p:cNvCxnSpPr>
            <a:cxnSpLocks/>
          </p:cNvCxnSpPr>
          <p:nvPr/>
        </p:nvCxnSpPr>
        <p:spPr>
          <a:xfrm>
            <a:off x="8422785" y="2684632"/>
            <a:ext cx="0" cy="39442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126B5D-E301-4757-A523-6C00580CDF37}"/>
              </a:ext>
            </a:extLst>
          </p:cNvPr>
          <p:cNvCxnSpPr>
            <a:cxnSpLocks/>
          </p:cNvCxnSpPr>
          <p:nvPr/>
        </p:nvCxnSpPr>
        <p:spPr>
          <a:xfrm>
            <a:off x="10542937" y="2684632"/>
            <a:ext cx="0" cy="39442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152D4B-F9E1-4C41-8EC7-A010D1D6DA99}"/>
              </a:ext>
            </a:extLst>
          </p:cNvPr>
          <p:cNvCxnSpPr>
            <a:cxnSpLocks/>
          </p:cNvCxnSpPr>
          <p:nvPr/>
        </p:nvCxnSpPr>
        <p:spPr>
          <a:xfrm>
            <a:off x="9498550" y="2290210"/>
            <a:ext cx="0" cy="39442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AEF9F3-63CE-4670-B244-A32A78289393}"/>
              </a:ext>
            </a:extLst>
          </p:cNvPr>
          <p:cNvCxnSpPr/>
          <p:nvPr/>
        </p:nvCxnSpPr>
        <p:spPr>
          <a:xfrm>
            <a:off x="8422785" y="2684632"/>
            <a:ext cx="212015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B10B6A-CE76-4736-8ACD-19C0CE6E6AEC}"/>
              </a:ext>
            </a:extLst>
          </p:cNvPr>
          <p:cNvSpPr/>
          <p:nvPr/>
        </p:nvSpPr>
        <p:spPr>
          <a:xfrm>
            <a:off x="9948507" y="3080999"/>
            <a:ext cx="1560755" cy="5782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226D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Invisible speculation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9B2921-F85C-41C4-B2CE-DDFA7D2A67B5}"/>
              </a:ext>
            </a:extLst>
          </p:cNvPr>
          <p:cNvSpPr/>
          <p:nvPr/>
        </p:nvSpPr>
        <p:spPr>
          <a:xfrm>
            <a:off x="7696130" y="3079054"/>
            <a:ext cx="1560755" cy="5782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226D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Delay based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0011FE0-51A9-49B3-A00C-20F79689A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327" y="3429000"/>
            <a:ext cx="739606" cy="739606"/>
          </a:xfrm>
          <a:prstGeom prst="rect">
            <a:avLst/>
          </a:prstGeom>
        </p:spPr>
      </p:pic>
      <p:pic>
        <p:nvPicPr>
          <p:cNvPr id="23" name="Graphic 22" descr="Blind">
            <a:extLst>
              <a:ext uri="{FF2B5EF4-FFF2-40B4-BE49-F238E27FC236}">
                <a16:creationId xmlns:a16="http://schemas.microsoft.com/office/drawing/2014/main" id="{AED3C04D-F0D7-45DF-89EA-0B5F4B5E7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3638" y="3348003"/>
            <a:ext cx="739605" cy="7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9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788A-0337-9D69-BCCE-01986144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932"/>
            <a:ext cx="13740000" cy="763600"/>
          </a:xfrm>
        </p:spPr>
        <p:txBody>
          <a:bodyPr/>
          <a:lstStyle/>
          <a:p>
            <a:r>
              <a:rPr lang="en-US" dirty="0" err="1"/>
              <a:t>GhostMinion</a:t>
            </a:r>
            <a:r>
              <a:rPr lang="en-US" dirty="0"/>
              <a:t> Cache </a:t>
            </a:r>
            <a:br>
              <a:rPr lang="en-US" dirty="0"/>
            </a:br>
            <a:r>
              <a:rPr lang="en-US" dirty="0"/>
              <a:t>[State-of-the-art, invisible speculation based ]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D8B2F-8096-EA93-2A67-F69CF008BD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9" name="Google Shape;106;p4">
            <a:extLst>
              <a:ext uri="{FF2B5EF4-FFF2-40B4-BE49-F238E27FC236}">
                <a16:creationId xmlns:a16="http://schemas.microsoft.com/office/drawing/2014/main" id="{69D52E88-CA57-58BF-589F-7BA3B4F9874A}"/>
              </a:ext>
            </a:extLst>
          </p:cNvPr>
          <p:cNvSpPr/>
          <p:nvPr/>
        </p:nvSpPr>
        <p:spPr>
          <a:xfrm>
            <a:off x="7810244" y="4295514"/>
            <a:ext cx="1228286" cy="485885"/>
          </a:xfrm>
          <a:prstGeom prst="roundRect">
            <a:avLst>
              <a:gd name="adj" fmla="val 16667"/>
            </a:avLst>
          </a:prstGeom>
          <a:solidFill>
            <a:srgbClr val="F4FF8D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L1D</a:t>
            </a:r>
            <a:endParaRPr/>
          </a:p>
        </p:txBody>
      </p:sp>
      <p:sp>
        <p:nvSpPr>
          <p:cNvPr id="10" name="Google Shape;107;p4">
            <a:extLst>
              <a:ext uri="{FF2B5EF4-FFF2-40B4-BE49-F238E27FC236}">
                <a16:creationId xmlns:a16="http://schemas.microsoft.com/office/drawing/2014/main" id="{E624AF18-F6ED-D822-2C4A-D974B2A3D0BB}"/>
              </a:ext>
            </a:extLst>
          </p:cNvPr>
          <p:cNvSpPr/>
          <p:nvPr/>
        </p:nvSpPr>
        <p:spPr>
          <a:xfrm>
            <a:off x="7568015" y="3469153"/>
            <a:ext cx="1712741" cy="485885"/>
          </a:xfrm>
          <a:prstGeom prst="roundRect">
            <a:avLst>
              <a:gd name="adj" fmla="val 16667"/>
            </a:avLst>
          </a:prstGeom>
          <a:solidFill>
            <a:srgbClr val="F4FF8D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/>
          </a:p>
        </p:txBody>
      </p:sp>
      <p:sp>
        <p:nvSpPr>
          <p:cNvPr id="11" name="Google Shape;108;p4">
            <a:extLst>
              <a:ext uri="{FF2B5EF4-FFF2-40B4-BE49-F238E27FC236}">
                <a16:creationId xmlns:a16="http://schemas.microsoft.com/office/drawing/2014/main" id="{FC966FCC-1C8C-6A21-0C21-5020987B3346}"/>
              </a:ext>
            </a:extLst>
          </p:cNvPr>
          <p:cNvSpPr/>
          <p:nvPr/>
        </p:nvSpPr>
        <p:spPr>
          <a:xfrm>
            <a:off x="7331503" y="2642792"/>
            <a:ext cx="2185768" cy="485885"/>
          </a:xfrm>
          <a:prstGeom prst="roundRect">
            <a:avLst>
              <a:gd name="adj" fmla="val 16667"/>
            </a:avLst>
          </a:prstGeom>
          <a:solidFill>
            <a:srgbClr val="F4FF8D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LLC</a:t>
            </a:r>
            <a:endParaRPr/>
          </a:p>
        </p:txBody>
      </p:sp>
      <p:sp>
        <p:nvSpPr>
          <p:cNvPr id="12" name="Google Shape;109;p4">
            <a:extLst>
              <a:ext uri="{FF2B5EF4-FFF2-40B4-BE49-F238E27FC236}">
                <a16:creationId xmlns:a16="http://schemas.microsoft.com/office/drawing/2014/main" id="{FAEA56A2-46AA-CA4E-93E1-63FD813F4140}"/>
              </a:ext>
            </a:extLst>
          </p:cNvPr>
          <p:cNvSpPr/>
          <p:nvPr/>
        </p:nvSpPr>
        <p:spPr>
          <a:xfrm>
            <a:off x="6336215" y="1847790"/>
            <a:ext cx="4176346" cy="485885"/>
          </a:xfrm>
          <a:prstGeom prst="roundRect">
            <a:avLst>
              <a:gd name="adj" fmla="val 16667"/>
            </a:avLst>
          </a:prstGeom>
          <a:solidFill>
            <a:srgbClr val="BAF8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DRAM</a:t>
            </a:r>
            <a:endParaRPr/>
          </a:p>
        </p:txBody>
      </p:sp>
      <p:cxnSp>
        <p:nvCxnSpPr>
          <p:cNvPr id="13" name="Google Shape;110;p4">
            <a:extLst>
              <a:ext uri="{FF2B5EF4-FFF2-40B4-BE49-F238E27FC236}">
                <a16:creationId xmlns:a16="http://schemas.microsoft.com/office/drawing/2014/main" id="{D4646B4D-8946-A682-87AD-A85D6B063C0F}"/>
              </a:ext>
            </a:extLst>
          </p:cNvPr>
          <p:cNvCxnSpPr/>
          <p:nvPr/>
        </p:nvCxnSpPr>
        <p:spPr>
          <a:xfrm rot="10800000">
            <a:off x="8424386" y="3955038"/>
            <a:ext cx="1" cy="3404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" name="Google Shape;111;p4">
            <a:extLst>
              <a:ext uri="{FF2B5EF4-FFF2-40B4-BE49-F238E27FC236}">
                <a16:creationId xmlns:a16="http://schemas.microsoft.com/office/drawing/2014/main" id="{5611FF88-72F8-65FC-5D8F-0F50E6C0B8A9}"/>
              </a:ext>
            </a:extLst>
          </p:cNvPr>
          <p:cNvCxnSpPr/>
          <p:nvPr/>
        </p:nvCxnSpPr>
        <p:spPr>
          <a:xfrm rot="10800000">
            <a:off x="8424385" y="3146982"/>
            <a:ext cx="0" cy="303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" name="Google Shape;112;p4">
            <a:extLst>
              <a:ext uri="{FF2B5EF4-FFF2-40B4-BE49-F238E27FC236}">
                <a16:creationId xmlns:a16="http://schemas.microsoft.com/office/drawing/2014/main" id="{1E4F64C3-EAC8-856E-0586-63A0F5587B70}"/>
              </a:ext>
            </a:extLst>
          </p:cNvPr>
          <p:cNvCxnSpPr/>
          <p:nvPr/>
        </p:nvCxnSpPr>
        <p:spPr>
          <a:xfrm rot="10800000">
            <a:off x="8424387" y="2333675"/>
            <a:ext cx="0" cy="303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113;p4">
            <a:extLst>
              <a:ext uri="{FF2B5EF4-FFF2-40B4-BE49-F238E27FC236}">
                <a16:creationId xmlns:a16="http://schemas.microsoft.com/office/drawing/2014/main" id="{EC0199A0-FC58-0764-65D7-D807890E633E}"/>
              </a:ext>
            </a:extLst>
          </p:cNvPr>
          <p:cNvSpPr/>
          <p:nvPr/>
        </p:nvSpPr>
        <p:spPr>
          <a:xfrm>
            <a:off x="7749257" y="5045468"/>
            <a:ext cx="2944546" cy="8218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cxnSp>
        <p:nvCxnSpPr>
          <p:cNvPr id="17" name="Google Shape;114;p4">
            <a:extLst>
              <a:ext uri="{FF2B5EF4-FFF2-40B4-BE49-F238E27FC236}">
                <a16:creationId xmlns:a16="http://schemas.microsoft.com/office/drawing/2014/main" id="{5C988C05-49E7-0844-ECA0-67B14C101526}"/>
              </a:ext>
            </a:extLst>
          </p:cNvPr>
          <p:cNvCxnSpPr/>
          <p:nvPr/>
        </p:nvCxnSpPr>
        <p:spPr>
          <a:xfrm rot="10800000">
            <a:off x="8424385" y="4781399"/>
            <a:ext cx="6156" cy="2793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" name="Google Shape;115;p4">
            <a:extLst>
              <a:ext uri="{FF2B5EF4-FFF2-40B4-BE49-F238E27FC236}">
                <a16:creationId xmlns:a16="http://schemas.microsoft.com/office/drawing/2014/main" id="{E096882E-312C-6E4D-2A4A-839731385D4D}"/>
              </a:ext>
            </a:extLst>
          </p:cNvPr>
          <p:cNvSpPr/>
          <p:nvPr/>
        </p:nvSpPr>
        <p:spPr>
          <a:xfrm>
            <a:off x="9793425" y="4284954"/>
            <a:ext cx="970670" cy="485885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GM</a:t>
            </a:r>
            <a:endParaRPr/>
          </a:p>
        </p:txBody>
      </p:sp>
      <p:cxnSp>
        <p:nvCxnSpPr>
          <p:cNvPr id="19" name="Google Shape;116;p4">
            <a:extLst>
              <a:ext uri="{FF2B5EF4-FFF2-40B4-BE49-F238E27FC236}">
                <a16:creationId xmlns:a16="http://schemas.microsoft.com/office/drawing/2014/main" id="{96DBEB23-C9AF-AF6F-F022-C1F8766A918A}"/>
              </a:ext>
            </a:extLst>
          </p:cNvPr>
          <p:cNvCxnSpPr/>
          <p:nvPr/>
        </p:nvCxnSpPr>
        <p:spPr>
          <a:xfrm rot="10800000">
            <a:off x="10272603" y="4765336"/>
            <a:ext cx="6156" cy="2793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" name="Google Shape;117;p4">
            <a:extLst>
              <a:ext uri="{FF2B5EF4-FFF2-40B4-BE49-F238E27FC236}">
                <a16:creationId xmlns:a16="http://schemas.microsoft.com/office/drawing/2014/main" id="{65585C24-C6E4-1023-5F72-760B15B0C87F}"/>
              </a:ext>
            </a:extLst>
          </p:cNvPr>
          <p:cNvSpPr/>
          <p:nvPr/>
        </p:nvSpPr>
        <p:spPr>
          <a:xfrm>
            <a:off x="2628653" y="4241722"/>
            <a:ext cx="1228286" cy="485885"/>
          </a:xfrm>
          <a:prstGeom prst="roundRect">
            <a:avLst>
              <a:gd name="adj" fmla="val 16667"/>
            </a:avLst>
          </a:prstGeom>
          <a:solidFill>
            <a:srgbClr val="F4FF8D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L1D</a:t>
            </a:r>
            <a:endParaRPr/>
          </a:p>
        </p:txBody>
      </p:sp>
      <p:sp>
        <p:nvSpPr>
          <p:cNvPr id="21" name="Google Shape;118;p4">
            <a:extLst>
              <a:ext uri="{FF2B5EF4-FFF2-40B4-BE49-F238E27FC236}">
                <a16:creationId xmlns:a16="http://schemas.microsoft.com/office/drawing/2014/main" id="{1E55288D-7DA9-492D-BCA1-E12306415D70}"/>
              </a:ext>
            </a:extLst>
          </p:cNvPr>
          <p:cNvSpPr/>
          <p:nvPr/>
        </p:nvSpPr>
        <p:spPr>
          <a:xfrm>
            <a:off x="2385708" y="3429000"/>
            <a:ext cx="1712741" cy="485885"/>
          </a:xfrm>
          <a:prstGeom prst="roundRect">
            <a:avLst>
              <a:gd name="adj" fmla="val 16667"/>
            </a:avLst>
          </a:prstGeom>
          <a:solidFill>
            <a:srgbClr val="F4FF8D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/>
          </a:p>
        </p:txBody>
      </p:sp>
      <p:sp>
        <p:nvSpPr>
          <p:cNvPr id="22" name="Google Shape;119;p4">
            <a:extLst>
              <a:ext uri="{FF2B5EF4-FFF2-40B4-BE49-F238E27FC236}">
                <a16:creationId xmlns:a16="http://schemas.microsoft.com/office/drawing/2014/main" id="{6458362B-2C0D-B052-3539-C7DD795E3FBE}"/>
              </a:ext>
            </a:extLst>
          </p:cNvPr>
          <p:cNvSpPr/>
          <p:nvPr/>
        </p:nvSpPr>
        <p:spPr>
          <a:xfrm>
            <a:off x="2149195" y="2597378"/>
            <a:ext cx="2185768" cy="485885"/>
          </a:xfrm>
          <a:prstGeom prst="roundRect">
            <a:avLst>
              <a:gd name="adj" fmla="val 16667"/>
            </a:avLst>
          </a:prstGeom>
          <a:solidFill>
            <a:srgbClr val="F4FF8D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LLC</a:t>
            </a:r>
            <a:endParaRPr/>
          </a:p>
        </p:txBody>
      </p:sp>
      <p:sp>
        <p:nvSpPr>
          <p:cNvPr id="23" name="Google Shape;120;p4">
            <a:extLst>
              <a:ext uri="{FF2B5EF4-FFF2-40B4-BE49-F238E27FC236}">
                <a16:creationId xmlns:a16="http://schemas.microsoft.com/office/drawing/2014/main" id="{2A47EB9B-ECD8-3534-1DBA-0792105C9DA8}"/>
              </a:ext>
            </a:extLst>
          </p:cNvPr>
          <p:cNvSpPr/>
          <p:nvPr/>
        </p:nvSpPr>
        <p:spPr>
          <a:xfrm>
            <a:off x="1153906" y="1826475"/>
            <a:ext cx="4176346" cy="485885"/>
          </a:xfrm>
          <a:prstGeom prst="roundRect">
            <a:avLst>
              <a:gd name="adj" fmla="val 16667"/>
            </a:avLst>
          </a:prstGeom>
          <a:solidFill>
            <a:srgbClr val="BAF8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DRAM</a:t>
            </a:r>
            <a:endParaRPr/>
          </a:p>
        </p:txBody>
      </p:sp>
      <p:cxnSp>
        <p:nvCxnSpPr>
          <p:cNvPr id="24" name="Google Shape;121;p4">
            <a:extLst>
              <a:ext uri="{FF2B5EF4-FFF2-40B4-BE49-F238E27FC236}">
                <a16:creationId xmlns:a16="http://schemas.microsoft.com/office/drawing/2014/main" id="{C6F14919-CFE2-7DE9-C3C3-1D6909EDCCB0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>
            <a:off x="3242079" y="3914885"/>
            <a:ext cx="600" cy="32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" name="Google Shape;122;p4">
            <a:extLst>
              <a:ext uri="{FF2B5EF4-FFF2-40B4-BE49-F238E27FC236}">
                <a16:creationId xmlns:a16="http://schemas.microsoft.com/office/drawing/2014/main" id="{AE55BCFE-206F-F48D-A082-FA45EB5650E4}"/>
              </a:ext>
            </a:extLst>
          </p:cNvPr>
          <p:cNvCxnSpPr>
            <a:stCxn id="22" idx="2"/>
            <a:endCxn id="21" idx="0"/>
          </p:cNvCxnSpPr>
          <p:nvPr/>
        </p:nvCxnSpPr>
        <p:spPr>
          <a:xfrm>
            <a:off x="3242079" y="3083263"/>
            <a:ext cx="0" cy="34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" name="Google Shape;123;p4">
            <a:extLst>
              <a:ext uri="{FF2B5EF4-FFF2-40B4-BE49-F238E27FC236}">
                <a16:creationId xmlns:a16="http://schemas.microsoft.com/office/drawing/2014/main" id="{020CAE25-D0E6-F521-003C-D03AAFA449A8}"/>
              </a:ext>
            </a:extLst>
          </p:cNvPr>
          <p:cNvSpPr/>
          <p:nvPr/>
        </p:nvSpPr>
        <p:spPr>
          <a:xfrm>
            <a:off x="1769806" y="4991676"/>
            <a:ext cx="2944546" cy="8218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cxnSp>
        <p:nvCxnSpPr>
          <p:cNvPr id="27" name="Google Shape;124;p4">
            <a:extLst>
              <a:ext uri="{FF2B5EF4-FFF2-40B4-BE49-F238E27FC236}">
                <a16:creationId xmlns:a16="http://schemas.microsoft.com/office/drawing/2014/main" id="{D9142381-68A5-BC80-12B1-21036847FB62}"/>
              </a:ext>
            </a:extLst>
          </p:cNvPr>
          <p:cNvCxnSpPr>
            <a:stCxn id="20" idx="2"/>
          </p:cNvCxnSpPr>
          <p:nvPr/>
        </p:nvCxnSpPr>
        <p:spPr>
          <a:xfrm flipH="1">
            <a:off x="3242196" y="4727607"/>
            <a:ext cx="600" cy="2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" name="Google Shape;125;p4">
            <a:extLst>
              <a:ext uri="{FF2B5EF4-FFF2-40B4-BE49-F238E27FC236}">
                <a16:creationId xmlns:a16="http://schemas.microsoft.com/office/drawing/2014/main" id="{D1E3D755-0A02-C314-7690-66C90CDCE534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3242079" y="2312360"/>
            <a:ext cx="0" cy="28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" name="Google Shape;126;p4">
            <a:extLst>
              <a:ext uri="{FF2B5EF4-FFF2-40B4-BE49-F238E27FC236}">
                <a16:creationId xmlns:a16="http://schemas.microsoft.com/office/drawing/2014/main" id="{C691CAA2-1BC9-9AEE-056F-5616F5BFA1D9}"/>
              </a:ext>
            </a:extLst>
          </p:cNvPr>
          <p:cNvCxnSpPr>
            <a:stCxn id="23" idx="1"/>
            <a:endCxn id="22" idx="1"/>
          </p:cNvCxnSpPr>
          <p:nvPr/>
        </p:nvCxnSpPr>
        <p:spPr>
          <a:xfrm>
            <a:off x="1153906" y="2069418"/>
            <a:ext cx="995400" cy="771000"/>
          </a:xfrm>
          <a:prstGeom prst="curvedConnector3">
            <a:avLst>
              <a:gd name="adj1" fmla="val -3107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" name="Google Shape;127;p4">
            <a:extLst>
              <a:ext uri="{FF2B5EF4-FFF2-40B4-BE49-F238E27FC236}">
                <a16:creationId xmlns:a16="http://schemas.microsoft.com/office/drawing/2014/main" id="{A44C978B-68E3-E45D-5639-E417817AF038}"/>
              </a:ext>
            </a:extLst>
          </p:cNvPr>
          <p:cNvCxnSpPr>
            <a:stCxn id="22" idx="1"/>
            <a:endCxn id="21" idx="1"/>
          </p:cNvCxnSpPr>
          <p:nvPr/>
        </p:nvCxnSpPr>
        <p:spPr>
          <a:xfrm>
            <a:off x="2149195" y="2840321"/>
            <a:ext cx="236400" cy="831600"/>
          </a:xfrm>
          <a:prstGeom prst="curvedConnector3">
            <a:avLst>
              <a:gd name="adj1" fmla="val -13841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128;p4">
            <a:extLst>
              <a:ext uri="{FF2B5EF4-FFF2-40B4-BE49-F238E27FC236}">
                <a16:creationId xmlns:a16="http://schemas.microsoft.com/office/drawing/2014/main" id="{C3F4FBA6-B1BF-5FE7-2B0B-D1188D7B7D71}"/>
              </a:ext>
            </a:extLst>
          </p:cNvPr>
          <p:cNvCxnSpPr>
            <a:stCxn id="21" idx="1"/>
            <a:endCxn id="20" idx="1"/>
          </p:cNvCxnSpPr>
          <p:nvPr/>
        </p:nvCxnSpPr>
        <p:spPr>
          <a:xfrm>
            <a:off x="2385708" y="3671943"/>
            <a:ext cx="243000" cy="812700"/>
          </a:xfrm>
          <a:prstGeom prst="curvedConnector3">
            <a:avLst>
              <a:gd name="adj1" fmla="val -14941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4">
            <a:extLst>
              <a:ext uri="{FF2B5EF4-FFF2-40B4-BE49-F238E27FC236}">
                <a16:creationId xmlns:a16="http://schemas.microsoft.com/office/drawing/2014/main" id="{F4774625-AFB6-C0E9-3A2D-CC4D0D96C3E4}"/>
              </a:ext>
            </a:extLst>
          </p:cNvPr>
          <p:cNvCxnSpPr>
            <a:stCxn id="20" idx="1"/>
            <a:endCxn id="26" idx="1"/>
          </p:cNvCxnSpPr>
          <p:nvPr/>
        </p:nvCxnSpPr>
        <p:spPr>
          <a:xfrm flipH="1">
            <a:off x="1769753" y="4484665"/>
            <a:ext cx="858900" cy="918000"/>
          </a:xfrm>
          <a:prstGeom prst="curvedConnector3">
            <a:avLst>
              <a:gd name="adj1" fmla="val 14644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" name="Google Shape;130;p4">
            <a:extLst>
              <a:ext uri="{FF2B5EF4-FFF2-40B4-BE49-F238E27FC236}">
                <a16:creationId xmlns:a16="http://schemas.microsoft.com/office/drawing/2014/main" id="{457CBC08-C5F9-7322-26D7-F1CB884127FB}"/>
              </a:ext>
            </a:extLst>
          </p:cNvPr>
          <p:cNvCxnSpPr>
            <a:stCxn id="12" idx="3"/>
            <a:endCxn id="18" idx="3"/>
          </p:cNvCxnSpPr>
          <p:nvPr/>
        </p:nvCxnSpPr>
        <p:spPr>
          <a:xfrm>
            <a:off x="10512561" y="2090732"/>
            <a:ext cx="251400" cy="2437200"/>
          </a:xfrm>
          <a:prstGeom prst="curvedConnector3">
            <a:avLst>
              <a:gd name="adj1" fmla="val 33005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" name="Google Shape;131;p4">
            <a:extLst>
              <a:ext uri="{FF2B5EF4-FFF2-40B4-BE49-F238E27FC236}">
                <a16:creationId xmlns:a16="http://schemas.microsoft.com/office/drawing/2014/main" id="{EBA87EDC-B56B-5B7F-C71B-5B2399955132}"/>
              </a:ext>
            </a:extLst>
          </p:cNvPr>
          <p:cNvCxnSpPr>
            <a:stCxn id="18" idx="1"/>
            <a:endCxn id="9" idx="3"/>
          </p:cNvCxnSpPr>
          <p:nvPr/>
        </p:nvCxnSpPr>
        <p:spPr>
          <a:xfrm flipH="1">
            <a:off x="9038625" y="4527897"/>
            <a:ext cx="754800" cy="10500"/>
          </a:xfrm>
          <a:prstGeom prst="curvedConnector3">
            <a:avLst>
              <a:gd name="adj1" fmla="val 50006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" name="Google Shape;132;p4">
            <a:extLst>
              <a:ext uri="{FF2B5EF4-FFF2-40B4-BE49-F238E27FC236}">
                <a16:creationId xmlns:a16="http://schemas.microsoft.com/office/drawing/2014/main" id="{46117D1A-267F-D5E1-3FC8-0B9A366432B6}"/>
              </a:ext>
            </a:extLst>
          </p:cNvPr>
          <p:cNvCxnSpPr>
            <a:stCxn id="9" idx="1"/>
            <a:endCxn id="10" idx="1"/>
          </p:cNvCxnSpPr>
          <p:nvPr/>
        </p:nvCxnSpPr>
        <p:spPr>
          <a:xfrm rot="10800000">
            <a:off x="7568144" y="3711957"/>
            <a:ext cx="242100" cy="826500"/>
          </a:xfrm>
          <a:prstGeom prst="curvedConnector3">
            <a:avLst>
              <a:gd name="adj1" fmla="val 24261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" name="Google Shape;133;p4">
            <a:extLst>
              <a:ext uri="{FF2B5EF4-FFF2-40B4-BE49-F238E27FC236}">
                <a16:creationId xmlns:a16="http://schemas.microsoft.com/office/drawing/2014/main" id="{EEE52AF2-0560-B75A-F7EC-FB02F2B8C209}"/>
              </a:ext>
            </a:extLst>
          </p:cNvPr>
          <p:cNvCxnSpPr>
            <a:stCxn id="10" idx="1"/>
            <a:endCxn id="11" idx="1"/>
          </p:cNvCxnSpPr>
          <p:nvPr/>
        </p:nvCxnSpPr>
        <p:spPr>
          <a:xfrm rot="10800000">
            <a:off x="7331615" y="2885596"/>
            <a:ext cx="236400" cy="826500"/>
          </a:xfrm>
          <a:prstGeom prst="curvedConnector3">
            <a:avLst>
              <a:gd name="adj1" fmla="val 261216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" name="Google Shape;134;p4">
            <a:extLst>
              <a:ext uri="{FF2B5EF4-FFF2-40B4-BE49-F238E27FC236}">
                <a16:creationId xmlns:a16="http://schemas.microsoft.com/office/drawing/2014/main" id="{EF30E07C-03CF-3F68-FEB3-B571BCDD06EA}"/>
              </a:ext>
            </a:extLst>
          </p:cNvPr>
          <p:cNvSpPr txBox="1"/>
          <p:nvPr/>
        </p:nvSpPr>
        <p:spPr>
          <a:xfrm>
            <a:off x="1425386" y="5972628"/>
            <a:ext cx="406553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Cache hierarchy</a:t>
            </a:r>
            <a:endParaRPr/>
          </a:p>
        </p:txBody>
      </p:sp>
      <p:sp>
        <p:nvSpPr>
          <p:cNvPr id="38" name="Google Shape;135;p4">
            <a:extLst>
              <a:ext uri="{FF2B5EF4-FFF2-40B4-BE49-F238E27FC236}">
                <a16:creationId xmlns:a16="http://schemas.microsoft.com/office/drawing/2014/main" id="{9B0BA7CA-6195-37F0-7D8E-A2ECA6E29488}"/>
              </a:ext>
            </a:extLst>
          </p:cNvPr>
          <p:cNvSpPr txBox="1"/>
          <p:nvPr/>
        </p:nvSpPr>
        <p:spPr>
          <a:xfrm>
            <a:off x="7885174" y="5956838"/>
            <a:ext cx="22044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GhostMinion</a:t>
            </a:r>
            <a:endParaRPr sz="28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136;p4">
            <a:extLst>
              <a:ext uri="{FF2B5EF4-FFF2-40B4-BE49-F238E27FC236}">
                <a16:creationId xmlns:a16="http://schemas.microsoft.com/office/drawing/2014/main" id="{3B49FC8C-3CD0-5DF7-C101-5516F7165D83}"/>
              </a:ext>
            </a:extLst>
          </p:cNvPr>
          <p:cNvSpPr txBox="1"/>
          <p:nvPr/>
        </p:nvSpPr>
        <p:spPr>
          <a:xfrm>
            <a:off x="8987399" y="4149387"/>
            <a:ext cx="878767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40" name="Google Shape;137;p4">
            <a:extLst>
              <a:ext uri="{FF2B5EF4-FFF2-40B4-BE49-F238E27FC236}">
                <a16:creationId xmlns:a16="http://schemas.microsoft.com/office/drawing/2014/main" id="{7341A38A-3AA4-D8EB-879D-B19D539786B8}"/>
              </a:ext>
            </a:extLst>
          </p:cNvPr>
          <p:cNvSpPr txBox="1"/>
          <p:nvPr/>
        </p:nvSpPr>
        <p:spPr>
          <a:xfrm>
            <a:off x="6573656" y="3973954"/>
            <a:ext cx="65114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Evict</a:t>
            </a:r>
            <a:endParaRPr/>
          </a:p>
        </p:txBody>
      </p:sp>
      <p:sp>
        <p:nvSpPr>
          <p:cNvPr id="41" name="Google Shape;138;p4">
            <a:extLst>
              <a:ext uri="{FF2B5EF4-FFF2-40B4-BE49-F238E27FC236}">
                <a16:creationId xmlns:a16="http://schemas.microsoft.com/office/drawing/2014/main" id="{7E51E98A-3602-9ACB-97B8-D1E465C10C5E}"/>
              </a:ext>
            </a:extLst>
          </p:cNvPr>
          <p:cNvSpPr txBox="1"/>
          <p:nvPr/>
        </p:nvSpPr>
        <p:spPr>
          <a:xfrm>
            <a:off x="6287122" y="3118288"/>
            <a:ext cx="65114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Evict</a:t>
            </a:r>
            <a:endParaRPr/>
          </a:p>
        </p:txBody>
      </p:sp>
      <p:cxnSp>
        <p:nvCxnSpPr>
          <p:cNvPr id="42" name="Google Shape;139;p4">
            <a:extLst>
              <a:ext uri="{FF2B5EF4-FFF2-40B4-BE49-F238E27FC236}">
                <a16:creationId xmlns:a16="http://schemas.microsoft.com/office/drawing/2014/main" id="{448AFE0B-25A1-A24C-2213-713D77F7CCFB}"/>
              </a:ext>
            </a:extLst>
          </p:cNvPr>
          <p:cNvCxnSpPr>
            <a:stCxn id="18" idx="3"/>
            <a:endCxn id="16" idx="3"/>
          </p:cNvCxnSpPr>
          <p:nvPr/>
        </p:nvCxnSpPr>
        <p:spPr>
          <a:xfrm flipH="1">
            <a:off x="10693895" y="4527897"/>
            <a:ext cx="70200" cy="928500"/>
          </a:xfrm>
          <a:prstGeom prst="curvedConnector3">
            <a:avLst>
              <a:gd name="adj1" fmla="val -466114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672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AD00-F9C5-414E-B00C-AF901B34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1" y="692557"/>
            <a:ext cx="11360800" cy="763560"/>
          </a:xfrm>
        </p:spPr>
        <p:txBody>
          <a:bodyPr/>
          <a:lstStyle/>
          <a:p>
            <a:r>
              <a:rPr lang="en-US" dirty="0"/>
              <a:t>Invisible Speculation and then redo accesses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6F44C-AF3D-4254-BF06-95908558CC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7DED12-164F-4B4B-A45D-091C664977E0}"/>
              </a:ext>
            </a:extLst>
          </p:cNvPr>
          <p:cNvSpPr/>
          <p:nvPr/>
        </p:nvSpPr>
        <p:spPr>
          <a:xfrm>
            <a:off x="5077754" y="1723179"/>
            <a:ext cx="1587903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81790D-B447-4C41-94C8-6E27F0D2BF81}"/>
              </a:ext>
            </a:extLst>
          </p:cNvPr>
          <p:cNvSpPr/>
          <p:nvPr/>
        </p:nvSpPr>
        <p:spPr>
          <a:xfrm>
            <a:off x="4577813" y="2812970"/>
            <a:ext cx="914400" cy="434947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L1D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3FB9CB-A116-4646-9F7D-0AD0CB0445AC}"/>
              </a:ext>
            </a:extLst>
          </p:cNvPr>
          <p:cNvSpPr/>
          <p:nvPr/>
        </p:nvSpPr>
        <p:spPr>
          <a:xfrm>
            <a:off x="5271389" y="3585852"/>
            <a:ext cx="1208411" cy="458843"/>
          </a:xfrm>
          <a:prstGeom prst="roundRect">
            <a:avLst/>
          </a:prstGeom>
          <a:solidFill>
            <a:srgbClr val="FFFF00"/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L2C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EDAC93-D909-47D9-AB07-D909F93F8631}"/>
              </a:ext>
            </a:extLst>
          </p:cNvPr>
          <p:cNvSpPr/>
          <p:nvPr/>
        </p:nvSpPr>
        <p:spPr>
          <a:xfrm>
            <a:off x="5035013" y="4389155"/>
            <a:ext cx="1673387" cy="46836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LLC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AD83CA-BA2F-45CD-B656-3E70665EAA7A}"/>
              </a:ext>
            </a:extLst>
          </p:cNvPr>
          <p:cNvSpPr/>
          <p:nvPr/>
        </p:nvSpPr>
        <p:spPr>
          <a:xfrm>
            <a:off x="4533202" y="5201984"/>
            <a:ext cx="2832424" cy="914400"/>
          </a:xfrm>
          <a:prstGeom prst="roundRect">
            <a:avLst/>
          </a:prstGeom>
          <a:solidFill>
            <a:srgbClr val="00B0F0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DRAM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52A44-5A55-456B-B7DF-FE1469B9CB78}"/>
              </a:ext>
            </a:extLst>
          </p:cNvPr>
          <p:cNvSpPr/>
          <p:nvPr/>
        </p:nvSpPr>
        <p:spPr>
          <a:xfrm>
            <a:off x="6208457" y="2812970"/>
            <a:ext cx="914400" cy="434947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130A80-7692-438E-8CED-342889178F1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871705" y="3030443"/>
            <a:ext cx="33675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EE04A7-E292-4734-B370-BA827E8066D6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871705" y="2637579"/>
            <a:ext cx="1" cy="392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A9E59D-EA54-49E6-B682-487092738AD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035013" y="3247917"/>
            <a:ext cx="0" cy="5738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6D5A5B-20DF-4515-B17F-29D81B30FBD8}"/>
              </a:ext>
            </a:extLst>
          </p:cNvPr>
          <p:cNvCxnSpPr/>
          <p:nvPr/>
        </p:nvCxnSpPr>
        <p:spPr>
          <a:xfrm flipV="1">
            <a:off x="6708400" y="3241392"/>
            <a:ext cx="0" cy="5738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08620B-E25F-48E9-991F-E6EA49BD5AC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5871707" y="4044695"/>
            <a:ext cx="3888" cy="3444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B98368-F06B-4C77-AB0E-8CFC0EE2977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871705" y="4857523"/>
            <a:ext cx="2" cy="3444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1C188C-6CEF-437A-BC31-01DB36CE6157}"/>
              </a:ext>
            </a:extLst>
          </p:cNvPr>
          <p:cNvCxnSpPr>
            <a:cxnSpLocks/>
          </p:cNvCxnSpPr>
          <p:nvPr/>
        </p:nvCxnSpPr>
        <p:spPr>
          <a:xfrm flipH="1">
            <a:off x="5457247" y="3030443"/>
            <a:ext cx="4144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C0E879-855E-422D-9F0F-757306459EAF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6479800" y="3815274"/>
            <a:ext cx="228600" cy="65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130D79-AC32-4DEA-8E8C-A4439AFA0948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035013" y="3815274"/>
            <a:ext cx="236376" cy="9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2F9BCB-CDA0-429F-95E5-A354577A5F23}"/>
              </a:ext>
            </a:extLst>
          </p:cNvPr>
          <p:cNvSpPr/>
          <p:nvPr/>
        </p:nvSpPr>
        <p:spPr>
          <a:xfrm>
            <a:off x="8101383" y="2078729"/>
            <a:ext cx="2615384" cy="9517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endParaRPr lang="en-US" sz="1600" b="1" dirty="0">
              <a:solidFill>
                <a:schemeClr val="tx1"/>
              </a:solidFill>
            </a:endParaRPr>
          </a:p>
          <a:p>
            <a:pPr lvl="2" algn="ctr"/>
            <a:r>
              <a:rPr lang="en-US" sz="1600" b="1" dirty="0">
                <a:solidFill>
                  <a:schemeClr val="tx1"/>
                </a:solidFill>
              </a:rPr>
              <a:t>Issue speculative LOADs invisibly</a:t>
            </a:r>
          </a:p>
          <a:p>
            <a:pPr lvl="2" algn="ctr"/>
            <a:endParaRPr lang="en-US" sz="16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8EAF79-CD5E-4B4E-BC95-471EA6C8AAB2}"/>
              </a:ext>
            </a:extLst>
          </p:cNvPr>
          <p:cNvCxnSpPr>
            <a:cxnSpLocks/>
          </p:cNvCxnSpPr>
          <p:nvPr/>
        </p:nvCxnSpPr>
        <p:spPr>
          <a:xfrm flipH="1" flipV="1">
            <a:off x="6665657" y="2239088"/>
            <a:ext cx="1281554" cy="258779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FE1F67-48AE-4AEA-AB57-552211888F8B}"/>
              </a:ext>
            </a:extLst>
          </p:cNvPr>
          <p:cNvCxnSpPr>
            <a:cxnSpLocks/>
          </p:cNvCxnSpPr>
          <p:nvPr/>
        </p:nvCxnSpPr>
        <p:spPr>
          <a:xfrm>
            <a:off x="4261452" y="2637579"/>
            <a:ext cx="0" cy="235465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C04FACE-FECA-4CD3-8122-0C0E01918D64}"/>
              </a:ext>
            </a:extLst>
          </p:cNvPr>
          <p:cNvSpPr txBox="1"/>
          <p:nvPr/>
        </p:nvSpPr>
        <p:spPr>
          <a:xfrm rot="5400000">
            <a:off x="2943399" y="3934028"/>
            <a:ext cx="2328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Speculative LOAD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0A875E-5FC3-4708-9132-8D277A44D4B3}"/>
              </a:ext>
            </a:extLst>
          </p:cNvPr>
          <p:cNvCxnSpPr>
            <a:cxnSpLocks/>
          </p:cNvCxnSpPr>
          <p:nvPr/>
        </p:nvCxnSpPr>
        <p:spPr>
          <a:xfrm flipV="1">
            <a:off x="7119410" y="3322744"/>
            <a:ext cx="0" cy="1788361"/>
          </a:xfrm>
          <a:prstGeom prst="straightConnector1">
            <a:avLst/>
          </a:prstGeom>
          <a:ln w="28575" cap="flat" cmpd="sng" algn="ctr">
            <a:solidFill>
              <a:srgbClr val="92D050"/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43B623-790C-4504-8E41-2E6293DD7D2F}"/>
              </a:ext>
            </a:extLst>
          </p:cNvPr>
          <p:cNvSpPr txBox="1"/>
          <p:nvPr/>
        </p:nvSpPr>
        <p:spPr>
          <a:xfrm rot="5400000">
            <a:off x="6145816" y="4063035"/>
            <a:ext cx="2328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Fill to SB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5EB9F80-D0B1-4F8F-8242-189D116CAE3D}"/>
              </a:ext>
            </a:extLst>
          </p:cNvPr>
          <p:cNvSpPr/>
          <p:nvPr/>
        </p:nvSpPr>
        <p:spPr>
          <a:xfrm>
            <a:off x="7829909" y="4389155"/>
            <a:ext cx="2615384" cy="9517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en-US" sz="1600" b="1" dirty="0">
                <a:solidFill>
                  <a:schemeClr val="tx1"/>
                </a:solidFill>
              </a:rPr>
              <a:t>No cache state change is observed</a:t>
            </a:r>
          </a:p>
        </p:txBody>
      </p:sp>
      <p:pic>
        <p:nvPicPr>
          <p:cNvPr id="46" name="Graphic 45" descr="Blind">
            <a:extLst>
              <a:ext uri="{FF2B5EF4-FFF2-40B4-BE49-F238E27FC236}">
                <a16:creationId xmlns:a16="http://schemas.microsoft.com/office/drawing/2014/main" id="{AED64E24-8C12-4840-9325-88FC358A7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7335" y="2812970"/>
            <a:ext cx="608488" cy="608488"/>
          </a:xfrm>
          <a:prstGeom prst="rect">
            <a:avLst/>
          </a:prstGeom>
        </p:spPr>
      </p:pic>
      <p:pic>
        <p:nvPicPr>
          <p:cNvPr id="48" name="Graphic 47" descr="Hourglass">
            <a:extLst>
              <a:ext uri="{FF2B5EF4-FFF2-40B4-BE49-F238E27FC236}">
                <a16:creationId xmlns:a16="http://schemas.microsoft.com/office/drawing/2014/main" id="{4E0E2DFB-938D-4621-85DE-60344D6AE3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5023" y="3349710"/>
            <a:ext cx="666458" cy="666458"/>
          </a:xfrm>
          <a:prstGeom prst="rect">
            <a:avLst/>
          </a:prstGeom>
        </p:spPr>
      </p:pic>
      <p:pic>
        <p:nvPicPr>
          <p:cNvPr id="50" name="Graphic 49" descr="Lock">
            <a:extLst>
              <a:ext uri="{FF2B5EF4-FFF2-40B4-BE49-F238E27FC236}">
                <a16:creationId xmlns:a16="http://schemas.microsoft.com/office/drawing/2014/main" id="{2EAA3357-1B92-4497-BC36-1E637934AC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62748" y="4947837"/>
            <a:ext cx="608488" cy="6084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229E480-6607-4D00-AD31-E7350649EBEF}"/>
              </a:ext>
            </a:extLst>
          </p:cNvPr>
          <p:cNvSpPr txBox="1"/>
          <p:nvPr/>
        </p:nvSpPr>
        <p:spPr>
          <a:xfrm>
            <a:off x="8267653" y="6431363"/>
            <a:ext cx="3175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SB = Speculative Buffer or a 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1F02B-60F0-2F11-7803-0B06FA54FBD3}"/>
              </a:ext>
            </a:extLst>
          </p:cNvPr>
          <p:cNvSpPr txBox="1"/>
          <p:nvPr/>
        </p:nvSpPr>
        <p:spPr>
          <a:xfrm>
            <a:off x="743712" y="6286400"/>
            <a:ext cx="7072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Redo step makes all speculative loads visible into the rest of the hierarchy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3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7" grpId="0" animBg="1"/>
      <p:bldP spid="33" grpId="0"/>
      <p:bldP spid="39" grpId="0"/>
      <p:bldP spid="44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D625-9687-071F-D3A7-C130F2DD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Rigid Definition of Safety in </a:t>
            </a:r>
            <a:r>
              <a:rPr lang="en-US" dirty="0" err="1"/>
              <a:t>GhostMinion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AD78-A47E-5CCA-96C5-9DC20EF42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an instruction commits then only it is secure/safe and then the address and data corresponding to that instruction are propagated into the cache hierarchy. </a:t>
            </a:r>
          </a:p>
          <a:p>
            <a:endParaRPr lang="en-US" dirty="0"/>
          </a:p>
          <a:p>
            <a:r>
              <a:rPr lang="en-US" dirty="0"/>
              <a:t>On a context switch, the GM cache is squashed.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997E0-DC7E-2ECA-E74F-E2714E749F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117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1041-6F17-4503-BEFD-6081AE0E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111819"/>
            <a:ext cx="12045696" cy="1234610"/>
          </a:xfrm>
        </p:spPr>
        <p:txBody>
          <a:bodyPr/>
          <a:lstStyle/>
          <a:p>
            <a:r>
              <a:rPr lang="en-US" dirty="0"/>
              <a:t>Block the covert channels! </a:t>
            </a:r>
            <a:r>
              <a:rPr lang="en-US" sz="2400" i="1" dirty="0"/>
              <a:t>[Spec Taint Tracking, </a:t>
            </a:r>
            <a:r>
              <a:rPr lang="en-US" sz="2400" i="1"/>
              <a:t>MICRO ’1, </a:t>
            </a:r>
            <a:r>
              <a:rPr lang="en-US" sz="2400" i="1" dirty="0"/>
              <a:t>delay based approach]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9F49C-490A-4DA2-A932-34A9E678F2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14088-2E25-4D25-BCD9-9DF77B1377A5}"/>
              </a:ext>
            </a:extLst>
          </p:cNvPr>
          <p:cNvSpPr txBox="1"/>
          <p:nvPr/>
        </p:nvSpPr>
        <p:spPr>
          <a:xfrm>
            <a:off x="779930" y="1721224"/>
            <a:ext cx="62972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(</a:t>
            </a:r>
            <a:r>
              <a:rPr lang="en-US" sz="2400" i="1" dirty="0"/>
              <a:t>x</a:t>
            </a:r>
            <a:r>
              <a:rPr lang="en-US" sz="2400" dirty="0"/>
              <a:t> &lt;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array1_size</a:t>
            </a:r>
            <a:r>
              <a:rPr lang="en-US" sz="2400" dirty="0"/>
              <a:t>)	 	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sz="2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Mispredict</a:t>
            </a:r>
            <a:endParaRPr lang="en-US" sz="2400" i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	secret</a:t>
            </a:r>
            <a:r>
              <a:rPr lang="en-US" sz="2400" dirty="0"/>
              <a:t> =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array1</a:t>
            </a:r>
            <a:r>
              <a:rPr lang="en-US" sz="2400" dirty="0"/>
              <a:t>[x];	   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Access</a:t>
            </a:r>
          </a:p>
          <a:p>
            <a:r>
              <a:rPr lang="en-US" sz="2400" dirty="0"/>
              <a:t>	y = </a:t>
            </a:r>
            <a:r>
              <a:rPr lang="en-US" sz="2400" dirty="0">
                <a:solidFill>
                  <a:schemeClr val="tx2">
                    <a:lumMod val="25000"/>
                  </a:schemeClr>
                </a:solidFill>
              </a:rPr>
              <a:t>array2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FF0000"/>
                </a:solidFill>
              </a:rPr>
              <a:t>secret</a:t>
            </a:r>
            <a:r>
              <a:rPr lang="en-US" sz="2400" dirty="0"/>
              <a:t>*64];   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Transmit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FC6D530-82E8-433D-A892-EBEE5A500714}"/>
              </a:ext>
            </a:extLst>
          </p:cNvPr>
          <p:cNvGraphicFramePr>
            <a:graphicFrameLocks noGrp="1"/>
          </p:cNvGraphicFramePr>
          <p:nvPr/>
        </p:nvGraphicFramePr>
        <p:xfrm>
          <a:off x="8592455" y="3337508"/>
          <a:ext cx="2409372" cy="300522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02343">
                  <a:extLst>
                    <a:ext uri="{9D8B030D-6E8A-4147-A177-3AD203B41FA5}">
                      <a16:colId xmlns:a16="http://schemas.microsoft.com/office/drawing/2014/main" val="3825175434"/>
                    </a:ext>
                  </a:extLst>
                </a:gridCol>
                <a:gridCol w="602343">
                  <a:extLst>
                    <a:ext uri="{9D8B030D-6E8A-4147-A177-3AD203B41FA5}">
                      <a16:colId xmlns:a16="http://schemas.microsoft.com/office/drawing/2014/main" val="4244581297"/>
                    </a:ext>
                  </a:extLst>
                </a:gridCol>
                <a:gridCol w="602343">
                  <a:extLst>
                    <a:ext uri="{9D8B030D-6E8A-4147-A177-3AD203B41FA5}">
                      <a16:colId xmlns:a16="http://schemas.microsoft.com/office/drawing/2014/main" val="1210213385"/>
                    </a:ext>
                  </a:extLst>
                </a:gridCol>
                <a:gridCol w="602343">
                  <a:extLst>
                    <a:ext uri="{9D8B030D-6E8A-4147-A177-3AD203B41FA5}">
                      <a16:colId xmlns:a16="http://schemas.microsoft.com/office/drawing/2014/main" val="1833693294"/>
                    </a:ext>
                  </a:extLst>
                </a:gridCol>
              </a:tblGrid>
              <a:tr h="751307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20295"/>
                  </a:ext>
                </a:extLst>
              </a:tr>
              <a:tr h="751307">
                <a:tc>
                  <a:txBody>
                    <a:bodyPr/>
                    <a:lstStyle/>
                    <a:p>
                      <a:endParaRPr lang="en-US">
                        <a:solidFill>
                          <a:srgbClr val="78FA9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926321"/>
                  </a:ext>
                </a:extLst>
              </a:tr>
              <a:tr h="751307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131762"/>
                  </a:ext>
                </a:extLst>
              </a:tr>
              <a:tr h="751307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78FA9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78FA9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17634"/>
                  </a:ext>
                </a:extLst>
              </a:tr>
            </a:tbl>
          </a:graphicData>
        </a:graphic>
      </p:graphicFrame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D6F8018-86F3-45EB-B36F-030DC32CDC1B}"/>
              </a:ext>
            </a:extLst>
          </p:cNvPr>
          <p:cNvSpPr/>
          <p:nvPr/>
        </p:nvSpPr>
        <p:spPr>
          <a:xfrm rot="8461860">
            <a:off x="7788192" y="2948943"/>
            <a:ext cx="920321" cy="695077"/>
          </a:xfrm>
          <a:custGeom>
            <a:avLst/>
            <a:gdLst>
              <a:gd name="connsiteX0" fmla="*/ 2489200 w 2489200"/>
              <a:gd name="connsiteY0" fmla="*/ 660400 h 744011"/>
              <a:gd name="connsiteX1" fmla="*/ 990600 w 2489200"/>
              <a:gd name="connsiteY1" fmla="*/ 685800 h 744011"/>
              <a:gd name="connsiteX2" fmla="*/ 0 w 2489200"/>
              <a:gd name="connsiteY2" fmla="*/ 0 h 744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9200" h="744011">
                <a:moveTo>
                  <a:pt x="2489200" y="660400"/>
                </a:moveTo>
                <a:cubicBezTo>
                  <a:pt x="1947333" y="728133"/>
                  <a:pt x="1405467" y="795867"/>
                  <a:pt x="990600" y="685800"/>
                </a:cubicBezTo>
                <a:cubicBezTo>
                  <a:pt x="575733" y="575733"/>
                  <a:pt x="299156" y="114300"/>
                  <a:pt x="0" y="0"/>
                </a:cubicBezTo>
              </a:path>
            </a:pathLst>
          </a:custGeom>
          <a:ln w="28575" cap="flat" cmpd="sng" algn="ctr">
            <a:solidFill>
              <a:srgbClr val="00B050"/>
            </a:solidFill>
            <a:prstDash val="lg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B576AB-C8A2-40E4-9178-4FCCB7271ADF}"/>
              </a:ext>
            </a:extLst>
          </p:cNvPr>
          <p:cNvSpPr txBox="1"/>
          <p:nvPr/>
        </p:nvSpPr>
        <p:spPr>
          <a:xfrm>
            <a:off x="6048616" y="3315671"/>
            <a:ext cx="2776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Secret dep. install</a:t>
            </a:r>
            <a:endParaRPr lang="en-U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8253B0-E998-45A0-9C91-1634CF6F529F}"/>
              </a:ext>
            </a:extLst>
          </p:cNvPr>
          <p:cNvSpPr txBox="1"/>
          <p:nvPr/>
        </p:nvSpPr>
        <p:spPr>
          <a:xfrm>
            <a:off x="8507566" y="6342736"/>
            <a:ext cx="2776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CACHE</a:t>
            </a: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EF38F92-8EEF-41E4-AAD9-96B99DDECBF0}"/>
              </a:ext>
            </a:extLst>
          </p:cNvPr>
          <p:cNvGraphicFramePr>
            <a:graphicFrameLocks noGrp="1"/>
          </p:cNvGraphicFramePr>
          <p:nvPr/>
        </p:nvGraphicFramePr>
        <p:xfrm>
          <a:off x="8604600" y="3337040"/>
          <a:ext cx="638627" cy="867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627">
                  <a:extLst>
                    <a:ext uri="{9D8B030D-6E8A-4147-A177-3AD203B41FA5}">
                      <a16:colId xmlns:a16="http://schemas.microsoft.com/office/drawing/2014/main" val="406164377"/>
                    </a:ext>
                  </a:extLst>
                </a:gridCol>
              </a:tblGrid>
              <a:tr h="86716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10533" marR="110533" marT="55267" marB="55267">
                    <a:solidFill>
                      <a:srgbClr val="D07E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88123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096D78B-26D5-4D9A-9C59-43A8963D3D3D}"/>
              </a:ext>
            </a:extLst>
          </p:cNvPr>
          <p:cNvSpPr txBox="1"/>
          <p:nvPr/>
        </p:nvSpPr>
        <p:spPr>
          <a:xfrm>
            <a:off x="779930" y="4043411"/>
            <a:ext cx="17475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6600"/>
                </a:solidFill>
              </a:rPr>
              <a:t>array2[0]</a:t>
            </a:r>
          </a:p>
          <a:p>
            <a:r>
              <a:rPr lang="en-US" sz="2400" i="1" dirty="0">
                <a:solidFill>
                  <a:srgbClr val="FF6600"/>
                </a:solidFill>
              </a:rPr>
              <a:t>array2[64]</a:t>
            </a:r>
          </a:p>
          <a:p>
            <a:r>
              <a:rPr lang="en-US" sz="2400" i="1" dirty="0">
                <a:solidFill>
                  <a:srgbClr val="FF6600"/>
                </a:solidFill>
              </a:rPr>
              <a:t>array2[128]</a:t>
            </a:r>
          </a:p>
          <a:p>
            <a:r>
              <a:rPr lang="en-US" sz="2400" b="1" i="1" dirty="0">
                <a:solidFill>
                  <a:srgbClr val="00B050"/>
                </a:solidFill>
              </a:rPr>
              <a:t>array[192]</a:t>
            </a:r>
            <a:endParaRPr lang="en-US" b="1" i="1" dirty="0">
              <a:solidFill>
                <a:srgbClr val="00B05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0DE947-47EA-42CB-A1DD-5D425B851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826" y="4198903"/>
            <a:ext cx="524880" cy="524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C0F1F0-C979-4944-A149-5641A5FFE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204" y="4977800"/>
            <a:ext cx="858800" cy="85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558D78A-1556-4054-9F46-599E601BA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220" y="3420464"/>
            <a:ext cx="700313" cy="7003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1B476A-863C-4354-9128-FF844447C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682113" y="2557274"/>
            <a:ext cx="967263" cy="96726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3084DE0-B3A6-47C9-9F9D-472E0FAB7B21}"/>
              </a:ext>
            </a:extLst>
          </p:cNvPr>
          <p:cNvSpPr txBox="1"/>
          <p:nvPr/>
        </p:nvSpPr>
        <p:spPr>
          <a:xfrm>
            <a:off x="6500516" y="2333778"/>
            <a:ext cx="420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Block the covert channel</a:t>
            </a:r>
            <a:endParaRPr lang="en-US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8C82ED4-BD00-4CB7-BF39-4C9D8BE08C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560" y="5732179"/>
            <a:ext cx="858800" cy="8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7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18" grpId="0"/>
      <p:bldP spid="19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8FBB-74BD-CE27-C752-35CB9BC2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 in Action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C04E6-F514-0650-02E6-DCD23BF13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A87F7A5-3005-80AB-C641-72D9998C6BA7}"/>
              </a:ext>
            </a:extLst>
          </p:cNvPr>
          <p:cNvSpPr txBox="1"/>
          <p:nvPr/>
        </p:nvSpPr>
        <p:spPr>
          <a:xfrm>
            <a:off x="1071778" y="2409900"/>
            <a:ext cx="4023360" cy="27108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Spectre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Variant</a:t>
            </a:r>
            <a:r>
              <a:rPr sz="1600" b="1" spc="-4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7E7E7E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98700" algn="l"/>
              </a:tabLst>
            </a:pPr>
            <a:r>
              <a:rPr sz="16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6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(addr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&lt;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N)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0" dirty="0">
                <a:latin typeface="Courier New"/>
                <a:cs typeface="Courier New"/>
              </a:rPr>
              <a:t>{</a:t>
            </a:r>
            <a:r>
              <a:rPr sz="1600" b="1" dirty="0"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 speculation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69265" marR="73723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load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[addr];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6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load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[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pc="-10" dirty="0"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53E19F90-4EFA-DBB0-5969-9AC5270800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0152" y="2197607"/>
            <a:ext cx="204216" cy="204215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49AF9F01-A733-3E62-2BF5-EA9F0F1DB08C}"/>
              </a:ext>
            </a:extLst>
          </p:cNvPr>
          <p:cNvSpPr txBox="1"/>
          <p:nvPr/>
        </p:nvSpPr>
        <p:spPr>
          <a:xfrm>
            <a:off x="8153527" y="2108454"/>
            <a:ext cx="18592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Speculation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CD043B5C-5DCC-9AD0-E850-7241DA71D906}"/>
              </a:ext>
            </a:extLst>
          </p:cNvPr>
          <p:cNvSpPr/>
          <p:nvPr/>
        </p:nvSpPr>
        <p:spPr>
          <a:xfrm>
            <a:off x="6995159" y="226313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D5B0034-D1E5-2C06-5989-284983C6170B}"/>
              </a:ext>
            </a:extLst>
          </p:cNvPr>
          <p:cNvSpPr/>
          <p:nvPr/>
        </p:nvSpPr>
        <p:spPr>
          <a:xfrm>
            <a:off x="982980" y="2851404"/>
            <a:ext cx="4447540" cy="445134"/>
          </a:xfrm>
          <a:custGeom>
            <a:avLst/>
            <a:gdLst/>
            <a:ahLst/>
            <a:cxnLst/>
            <a:rect l="l" t="t" r="r" b="b"/>
            <a:pathLst>
              <a:path w="4447540" h="445135">
                <a:moveTo>
                  <a:pt x="0" y="74168"/>
                </a:moveTo>
                <a:lnTo>
                  <a:pt x="5829" y="45273"/>
                </a:lnTo>
                <a:lnTo>
                  <a:pt x="21724" y="21701"/>
                </a:lnTo>
                <a:lnTo>
                  <a:pt x="45300" y="5820"/>
                </a:lnTo>
                <a:lnTo>
                  <a:pt x="74167" y="0"/>
                </a:lnTo>
                <a:lnTo>
                  <a:pt x="4372864" y="0"/>
                </a:lnTo>
                <a:lnTo>
                  <a:pt x="4401758" y="5820"/>
                </a:lnTo>
                <a:lnTo>
                  <a:pt x="4425330" y="21701"/>
                </a:lnTo>
                <a:lnTo>
                  <a:pt x="4441211" y="45273"/>
                </a:lnTo>
                <a:lnTo>
                  <a:pt x="4447032" y="74168"/>
                </a:lnTo>
                <a:lnTo>
                  <a:pt x="4447032" y="370840"/>
                </a:lnTo>
                <a:lnTo>
                  <a:pt x="4441211" y="399734"/>
                </a:lnTo>
                <a:lnTo>
                  <a:pt x="4425330" y="423306"/>
                </a:lnTo>
                <a:lnTo>
                  <a:pt x="4401758" y="439187"/>
                </a:lnTo>
                <a:lnTo>
                  <a:pt x="4372864" y="445008"/>
                </a:lnTo>
                <a:lnTo>
                  <a:pt x="74167" y="445008"/>
                </a:lnTo>
                <a:lnTo>
                  <a:pt x="45300" y="439187"/>
                </a:lnTo>
                <a:lnTo>
                  <a:pt x="21724" y="423306"/>
                </a:lnTo>
                <a:lnTo>
                  <a:pt x="5829" y="399734"/>
                </a:lnTo>
                <a:lnTo>
                  <a:pt x="0" y="370840"/>
                </a:lnTo>
                <a:lnTo>
                  <a:pt x="0" y="74168"/>
                </a:lnTo>
                <a:close/>
              </a:path>
            </a:pathLst>
          </a:custGeom>
          <a:ln w="1587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4327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642EB-C1FE-57E1-15FF-16FD10FA7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2C98CDF-B45E-9F9A-05FA-4292A9A42C0D}"/>
              </a:ext>
            </a:extLst>
          </p:cNvPr>
          <p:cNvSpPr txBox="1"/>
          <p:nvPr/>
        </p:nvSpPr>
        <p:spPr>
          <a:xfrm>
            <a:off x="1071778" y="2409900"/>
            <a:ext cx="4023360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Spectre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Variant</a:t>
            </a:r>
            <a:r>
              <a:rPr sz="1600" b="1" spc="-4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7E7E7E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98700" algn="l"/>
              </a:tabLst>
            </a:pPr>
            <a:r>
              <a:rPr sz="16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6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(addr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&lt;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N)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0" dirty="0">
                <a:latin typeface="Courier New"/>
                <a:cs typeface="Courier New"/>
              </a:rPr>
              <a:t>{</a:t>
            </a:r>
            <a:r>
              <a:rPr sz="1600" b="1" dirty="0"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 speculation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69265" marR="73723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load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[addr];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8D1A166-FE3A-D7F8-E697-801242FD6CA6}"/>
              </a:ext>
            </a:extLst>
          </p:cNvPr>
          <p:cNvSpPr txBox="1"/>
          <p:nvPr/>
        </p:nvSpPr>
        <p:spPr>
          <a:xfrm>
            <a:off x="1071778" y="4117975"/>
            <a:ext cx="255841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6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load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[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pc="-10" dirty="0"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126B50E1-9D12-1C79-7A6C-E51A3E6361C3}"/>
              </a:ext>
            </a:extLst>
          </p:cNvPr>
          <p:cNvSpPr/>
          <p:nvPr/>
        </p:nvSpPr>
        <p:spPr>
          <a:xfrm>
            <a:off x="982980" y="3296411"/>
            <a:ext cx="4447540" cy="707390"/>
          </a:xfrm>
          <a:custGeom>
            <a:avLst/>
            <a:gdLst/>
            <a:ahLst/>
            <a:cxnLst/>
            <a:rect l="l" t="t" r="r" b="b"/>
            <a:pathLst>
              <a:path w="4447540" h="707389">
                <a:moveTo>
                  <a:pt x="0" y="589280"/>
                </a:moveTo>
                <a:lnTo>
                  <a:pt x="9262" y="635180"/>
                </a:lnTo>
                <a:lnTo>
                  <a:pt x="34520" y="672639"/>
                </a:lnTo>
                <a:lnTo>
                  <a:pt x="71982" y="697882"/>
                </a:lnTo>
                <a:lnTo>
                  <a:pt x="117856" y="707136"/>
                </a:lnTo>
                <a:lnTo>
                  <a:pt x="4329176" y="707136"/>
                </a:lnTo>
                <a:lnTo>
                  <a:pt x="4375076" y="697882"/>
                </a:lnTo>
                <a:lnTo>
                  <a:pt x="4412535" y="672639"/>
                </a:lnTo>
                <a:lnTo>
                  <a:pt x="4437778" y="635180"/>
                </a:lnTo>
                <a:lnTo>
                  <a:pt x="4447032" y="589280"/>
                </a:lnTo>
                <a:lnTo>
                  <a:pt x="4447032" y="117855"/>
                </a:lnTo>
                <a:lnTo>
                  <a:pt x="4437778" y="71955"/>
                </a:lnTo>
                <a:lnTo>
                  <a:pt x="4412535" y="34496"/>
                </a:lnTo>
                <a:lnTo>
                  <a:pt x="4375076" y="9253"/>
                </a:lnTo>
                <a:lnTo>
                  <a:pt x="4329176" y="0"/>
                </a:lnTo>
                <a:lnTo>
                  <a:pt x="117856" y="0"/>
                </a:lnTo>
                <a:lnTo>
                  <a:pt x="71982" y="9253"/>
                </a:lnTo>
                <a:lnTo>
                  <a:pt x="34520" y="34496"/>
                </a:lnTo>
                <a:lnTo>
                  <a:pt x="9262" y="71955"/>
                </a:lnTo>
                <a:lnTo>
                  <a:pt x="0" y="117855"/>
                </a:lnTo>
                <a:lnTo>
                  <a:pt x="0" y="589280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7C8D4ECC-1788-892D-C0AC-FBF6F3103BAA}"/>
              </a:ext>
            </a:extLst>
          </p:cNvPr>
          <p:cNvGrpSpPr/>
          <p:nvPr/>
        </p:nvGrpSpPr>
        <p:grpSpPr>
          <a:xfrm>
            <a:off x="6550152" y="2197607"/>
            <a:ext cx="204470" cy="1207135"/>
            <a:chOff x="6550152" y="2197607"/>
            <a:chExt cx="204470" cy="1207135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1AA789A3-C209-ADA3-F94C-9EA9CC4837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0152" y="2197607"/>
              <a:ext cx="204216" cy="204215"/>
            </a:xfrm>
            <a:prstGeom prst="rect">
              <a:avLst/>
            </a:prstGeom>
          </p:spPr>
        </p:pic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9DBB93E3-1E0D-9596-1CD3-1D71A660BDE7}"/>
                </a:ext>
              </a:extLst>
            </p:cNvPr>
            <p:cNvSpPr/>
            <p:nvPr/>
          </p:nvSpPr>
          <p:spPr>
            <a:xfrm>
              <a:off x="6595110" y="2403347"/>
              <a:ext cx="114300" cy="801370"/>
            </a:xfrm>
            <a:custGeom>
              <a:avLst/>
              <a:gdLst/>
              <a:ahLst/>
              <a:cxnLst/>
              <a:rect l="l" t="t" r="r" b="b"/>
              <a:pathLst>
                <a:path w="114300" h="801369">
                  <a:moveTo>
                    <a:pt x="38100" y="686562"/>
                  </a:moveTo>
                  <a:lnTo>
                    <a:pt x="0" y="686562"/>
                  </a:lnTo>
                  <a:lnTo>
                    <a:pt x="57150" y="800862"/>
                  </a:lnTo>
                  <a:lnTo>
                    <a:pt x="104775" y="705612"/>
                  </a:lnTo>
                  <a:lnTo>
                    <a:pt x="38100" y="705612"/>
                  </a:lnTo>
                  <a:lnTo>
                    <a:pt x="38100" y="686562"/>
                  </a:lnTo>
                  <a:close/>
                </a:path>
                <a:path w="114300" h="801369">
                  <a:moveTo>
                    <a:pt x="76200" y="0"/>
                  </a:moveTo>
                  <a:lnTo>
                    <a:pt x="38100" y="0"/>
                  </a:lnTo>
                  <a:lnTo>
                    <a:pt x="38100" y="705612"/>
                  </a:lnTo>
                  <a:lnTo>
                    <a:pt x="76200" y="705612"/>
                  </a:lnTo>
                  <a:lnTo>
                    <a:pt x="76200" y="0"/>
                  </a:lnTo>
                  <a:close/>
                </a:path>
                <a:path w="114300" h="801369">
                  <a:moveTo>
                    <a:pt x="114300" y="686562"/>
                  </a:moveTo>
                  <a:lnTo>
                    <a:pt x="76200" y="686562"/>
                  </a:lnTo>
                  <a:lnTo>
                    <a:pt x="76200" y="705612"/>
                  </a:lnTo>
                  <a:lnTo>
                    <a:pt x="104775" y="705612"/>
                  </a:lnTo>
                  <a:lnTo>
                    <a:pt x="114300" y="686562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2">
              <a:extLst>
                <a:ext uri="{FF2B5EF4-FFF2-40B4-BE49-F238E27FC236}">
                  <a16:creationId xmlns:a16="http://schemas.microsoft.com/office/drawing/2014/main" id="{3825A1F8-7F76-128C-015D-749D759A43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0152" y="3203447"/>
              <a:ext cx="204216" cy="201167"/>
            </a:xfrm>
            <a:prstGeom prst="rect">
              <a:avLst/>
            </a:prstGeom>
          </p:spPr>
        </p:pic>
      </p:grpSp>
      <p:sp>
        <p:nvSpPr>
          <p:cNvPr id="12" name="object 13">
            <a:extLst>
              <a:ext uri="{FF2B5EF4-FFF2-40B4-BE49-F238E27FC236}">
                <a16:creationId xmlns:a16="http://schemas.microsoft.com/office/drawing/2014/main" id="{22024CEE-65B5-CC53-E6F2-4AAF7CDCED18}"/>
              </a:ext>
            </a:extLst>
          </p:cNvPr>
          <p:cNvSpPr txBox="1"/>
          <p:nvPr/>
        </p:nvSpPr>
        <p:spPr>
          <a:xfrm>
            <a:off x="8153527" y="2108454"/>
            <a:ext cx="18592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Speculation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2D618A51-AF9A-7462-8B15-B2C41DEBF9F9}"/>
              </a:ext>
            </a:extLst>
          </p:cNvPr>
          <p:cNvSpPr txBox="1"/>
          <p:nvPr/>
        </p:nvSpPr>
        <p:spPr>
          <a:xfrm>
            <a:off x="7643621" y="3011550"/>
            <a:ext cx="340931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Calibri"/>
                <a:cs typeface="Calibri"/>
              </a:rPr>
              <a:t>Speculative </a:t>
            </a:r>
            <a:r>
              <a:rPr sz="2000" b="1" dirty="0">
                <a:latin typeface="Calibri"/>
                <a:cs typeface="Calibri"/>
              </a:rPr>
              <a:t>access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instruction**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accesses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secret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571A7E55-29C8-49AE-815D-B4EF9E7C0D64}"/>
              </a:ext>
            </a:extLst>
          </p:cNvPr>
          <p:cNvSpPr/>
          <p:nvPr/>
        </p:nvSpPr>
        <p:spPr>
          <a:xfrm>
            <a:off x="6995159" y="226313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6E1F0C31-CDF9-B72A-0108-BE318B802982}"/>
              </a:ext>
            </a:extLst>
          </p:cNvPr>
          <p:cNvSpPr/>
          <p:nvPr/>
        </p:nvSpPr>
        <p:spPr>
          <a:xfrm>
            <a:off x="6995159" y="326897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C8DC013-DD0C-D612-6FA9-75995C14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5" y="582613"/>
            <a:ext cx="11360150" cy="763587"/>
          </a:xfrm>
        </p:spPr>
        <p:txBody>
          <a:bodyPr/>
          <a:lstStyle/>
          <a:p>
            <a:r>
              <a:rPr lang="en-US" dirty="0"/>
              <a:t>Speculative Execution in 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607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96DE-8BED-5F78-AAC4-5F236DB5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 in Action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C9F8D-3CED-3DB3-225F-CEBF776735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FCBA497-C3A8-0502-088C-FE31DA110D3E}"/>
              </a:ext>
            </a:extLst>
          </p:cNvPr>
          <p:cNvSpPr txBox="1"/>
          <p:nvPr/>
        </p:nvSpPr>
        <p:spPr>
          <a:xfrm>
            <a:off x="1071778" y="2409900"/>
            <a:ext cx="4023360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Spectre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Variant</a:t>
            </a:r>
            <a:r>
              <a:rPr sz="1600" b="1" spc="-4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7E7E7E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98700" algn="l"/>
              </a:tabLst>
            </a:pPr>
            <a:r>
              <a:rPr sz="16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6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(addr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&lt;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N)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0" dirty="0">
                <a:latin typeface="Courier New"/>
                <a:cs typeface="Courier New"/>
              </a:rPr>
              <a:t>{</a:t>
            </a:r>
            <a:r>
              <a:rPr sz="1600" b="1" dirty="0"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 speculation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69265" marR="73723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load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[addr];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D9216F2-B0FF-EFA5-A3DC-60758A151F64}"/>
              </a:ext>
            </a:extLst>
          </p:cNvPr>
          <p:cNvSpPr txBox="1"/>
          <p:nvPr/>
        </p:nvSpPr>
        <p:spPr>
          <a:xfrm>
            <a:off x="1528952" y="4117975"/>
            <a:ext cx="2101215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load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[</a:t>
            </a:r>
            <a:r>
              <a:rPr sz="16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pc="-10" dirty="0"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0422795-FBF5-E7D5-CF52-6527D5189D99}"/>
              </a:ext>
            </a:extLst>
          </p:cNvPr>
          <p:cNvSpPr txBox="1"/>
          <p:nvPr/>
        </p:nvSpPr>
        <p:spPr>
          <a:xfrm>
            <a:off x="1071778" y="4849748"/>
            <a:ext cx="1479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94E39C03-E5AD-DBD3-9B7B-90752F1EEF7B}"/>
              </a:ext>
            </a:extLst>
          </p:cNvPr>
          <p:cNvGrpSpPr/>
          <p:nvPr/>
        </p:nvGrpSpPr>
        <p:grpSpPr>
          <a:xfrm>
            <a:off x="542544" y="3986784"/>
            <a:ext cx="4895850" cy="902335"/>
            <a:chOff x="542544" y="3986784"/>
            <a:chExt cx="4895850" cy="902335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F6AE1C9-829F-AA7A-3080-73DAC82A7045}"/>
                </a:ext>
              </a:extLst>
            </p:cNvPr>
            <p:cNvSpPr/>
            <p:nvPr/>
          </p:nvSpPr>
          <p:spPr>
            <a:xfrm>
              <a:off x="982980" y="4091940"/>
              <a:ext cx="4447540" cy="643255"/>
            </a:xfrm>
            <a:custGeom>
              <a:avLst/>
              <a:gdLst/>
              <a:ahLst/>
              <a:cxnLst/>
              <a:rect l="l" t="t" r="r" b="b"/>
              <a:pathLst>
                <a:path w="4447540" h="643254">
                  <a:moveTo>
                    <a:pt x="0" y="107187"/>
                  </a:moveTo>
                  <a:lnTo>
                    <a:pt x="8423" y="65472"/>
                  </a:lnTo>
                  <a:lnTo>
                    <a:pt x="31395" y="31400"/>
                  </a:lnTo>
                  <a:lnTo>
                    <a:pt x="65467" y="8425"/>
                  </a:lnTo>
                  <a:lnTo>
                    <a:pt x="107187" y="0"/>
                  </a:lnTo>
                  <a:lnTo>
                    <a:pt x="4339844" y="0"/>
                  </a:lnTo>
                  <a:lnTo>
                    <a:pt x="4381559" y="8425"/>
                  </a:lnTo>
                  <a:lnTo>
                    <a:pt x="4415631" y="31400"/>
                  </a:lnTo>
                  <a:lnTo>
                    <a:pt x="4438606" y="65472"/>
                  </a:lnTo>
                  <a:lnTo>
                    <a:pt x="4447032" y="107187"/>
                  </a:lnTo>
                  <a:lnTo>
                    <a:pt x="4447032" y="535940"/>
                  </a:lnTo>
                  <a:lnTo>
                    <a:pt x="4438606" y="577655"/>
                  </a:lnTo>
                  <a:lnTo>
                    <a:pt x="4415631" y="611727"/>
                  </a:lnTo>
                  <a:lnTo>
                    <a:pt x="4381559" y="634702"/>
                  </a:lnTo>
                  <a:lnTo>
                    <a:pt x="4339844" y="643128"/>
                  </a:lnTo>
                  <a:lnTo>
                    <a:pt x="107187" y="643128"/>
                  </a:lnTo>
                  <a:lnTo>
                    <a:pt x="65467" y="634702"/>
                  </a:lnTo>
                  <a:lnTo>
                    <a:pt x="31395" y="611727"/>
                  </a:lnTo>
                  <a:lnTo>
                    <a:pt x="8423" y="577655"/>
                  </a:lnTo>
                  <a:lnTo>
                    <a:pt x="0" y="535940"/>
                  </a:lnTo>
                  <a:lnTo>
                    <a:pt x="0" y="107187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B5DAA3C4-45BA-E042-4E85-D1136080D37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544" y="3986784"/>
              <a:ext cx="899160" cy="902207"/>
            </a:xfrm>
            <a:prstGeom prst="rect">
              <a:avLst/>
            </a:prstGeom>
          </p:spPr>
        </p:pic>
      </p:grp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2A18D4CA-70D7-26F3-F21E-89E12548E267}"/>
              </a:ext>
            </a:extLst>
          </p:cNvPr>
          <p:cNvGrpSpPr/>
          <p:nvPr/>
        </p:nvGrpSpPr>
        <p:grpSpPr>
          <a:xfrm>
            <a:off x="6550152" y="2197607"/>
            <a:ext cx="204470" cy="2212975"/>
            <a:chOff x="6550152" y="2197607"/>
            <a:chExt cx="204470" cy="221297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0C6B77D1-FC78-3CFC-9389-6703607176E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0152" y="2197607"/>
              <a:ext cx="204216" cy="204215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0F3AB1-C96B-14C5-FE7B-373DAFCE8E5B}"/>
                </a:ext>
              </a:extLst>
            </p:cNvPr>
            <p:cNvSpPr/>
            <p:nvPr/>
          </p:nvSpPr>
          <p:spPr>
            <a:xfrm>
              <a:off x="6595110" y="2403347"/>
              <a:ext cx="114300" cy="801370"/>
            </a:xfrm>
            <a:custGeom>
              <a:avLst/>
              <a:gdLst/>
              <a:ahLst/>
              <a:cxnLst/>
              <a:rect l="l" t="t" r="r" b="b"/>
              <a:pathLst>
                <a:path w="114300" h="801369">
                  <a:moveTo>
                    <a:pt x="38100" y="686562"/>
                  </a:moveTo>
                  <a:lnTo>
                    <a:pt x="0" y="686562"/>
                  </a:lnTo>
                  <a:lnTo>
                    <a:pt x="57150" y="800862"/>
                  </a:lnTo>
                  <a:lnTo>
                    <a:pt x="104775" y="705612"/>
                  </a:lnTo>
                  <a:lnTo>
                    <a:pt x="38100" y="705612"/>
                  </a:lnTo>
                  <a:lnTo>
                    <a:pt x="38100" y="686562"/>
                  </a:lnTo>
                  <a:close/>
                </a:path>
                <a:path w="114300" h="801369">
                  <a:moveTo>
                    <a:pt x="76200" y="0"/>
                  </a:moveTo>
                  <a:lnTo>
                    <a:pt x="38100" y="0"/>
                  </a:lnTo>
                  <a:lnTo>
                    <a:pt x="38100" y="705612"/>
                  </a:lnTo>
                  <a:lnTo>
                    <a:pt x="76200" y="705612"/>
                  </a:lnTo>
                  <a:lnTo>
                    <a:pt x="76200" y="0"/>
                  </a:lnTo>
                  <a:close/>
                </a:path>
                <a:path w="114300" h="801369">
                  <a:moveTo>
                    <a:pt x="114300" y="686562"/>
                  </a:moveTo>
                  <a:lnTo>
                    <a:pt x="76200" y="686562"/>
                  </a:lnTo>
                  <a:lnTo>
                    <a:pt x="76200" y="705612"/>
                  </a:lnTo>
                  <a:lnTo>
                    <a:pt x="104775" y="705612"/>
                  </a:lnTo>
                  <a:lnTo>
                    <a:pt x="114300" y="686562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D2733A01-7D05-959F-454C-82AF5C0A2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0152" y="3203447"/>
              <a:ext cx="204216" cy="201167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80F90FB-4F0B-51F9-7CB6-2C6267F06948}"/>
                </a:ext>
              </a:extLst>
            </p:cNvPr>
            <p:cNvSpPr/>
            <p:nvPr/>
          </p:nvSpPr>
          <p:spPr>
            <a:xfrm>
              <a:off x="6595110" y="3406139"/>
              <a:ext cx="114300" cy="801370"/>
            </a:xfrm>
            <a:custGeom>
              <a:avLst/>
              <a:gdLst/>
              <a:ahLst/>
              <a:cxnLst/>
              <a:rect l="l" t="t" r="r" b="b"/>
              <a:pathLst>
                <a:path w="114300" h="801370">
                  <a:moveTo>
                    <a:pt x="38100" y="686562"/>
                  </a:moveTo>
                  <a:lnTo>
                    <a:pt x="0" y="686562"/>
                  </a:lnTo>
                  <a:lnTo>
                    <a:pt x="57150" y="800862"/>
                  </a:lnTo>
                  <a:lnTo>
                    <a:pt x="104775" y="705612"/>
                  </a:lnTo>
                  <a:lnTo>
                    <a:pt x="38100" y="705612"/>
                  </a:lnTo>
                  <a:lnTo>
                    <a:pt x="38100" y="686562"/>
                  </a:lnTo>
                  <a:close/>
                </a:path>
                <a:path w="114300" h="801370">
                  <a:moveTo>
                    <a:pt x="76200" y="0"/>
                  </a:moveTo>
                  <a:lnTo>
                    <a:pt x="38100" y="0"/>
                  </a:lnTo>
                  <a:lnTo>
                    <a:pt x="38100" y="705612"/>
                  </a:lnTo>
                  <a:lnTo>
                    <a:pt x="76200" y="705612"/>
                  </a:lnTo>
                  <a:lnTo>
                    <a:pt x="76200" y="0"/>
                  </a:lnTo>
                  <a:close/>
                </a:path>
                <a:path w="114300" h="801370">
                  <a:moveTo>
                    <a:pt x="114300" y="686562"/>
                  </a:moveTo>
                  <a:lnTo>
                    <a:pt x="76200" y="686562"/>
                  </a:lnTo>
                  <a:lnTo>
                    <a:pt x="76200" y="705612"/>
                  </a:lnTo>
                  <a:lnTo>
                    <a:pt x="104775" y="705612"/>
                  </a:lnTo>
                  <a:lnTo>
                    <a:pt x="114300" y="686562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F520B24D-5BF6-60BE-D552-7800C8A6373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0152" y="4206239"/>
              <a:ext cx="204216" cy="204216"/>
            </a:xfrm>
            <a:prstGeom prst="rect">
              <a:avLst/>
            </a:prstGeom>
          </p:spPr>
        </p:pic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B0FB3E97-4A8A-9FCB-FFC0-EDBB356202D1}"/>
              </a:ext>
            </a:extLst>
          </p:cNvPr>
          <p:cNvSpPr txBox="1"/>
          <p:nvPr/>
        </p:nvSpPr>
        <p:spPr>
          <a:xfrm>
            <a:off x="8153527" y="2108454"/>
            <a:ext cx="18592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Speculation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72B6966-D137-D8FA-8595-E23F51B31707}"/>
              </a:ext>
            </a:extLst>
          </p:cNvPr>
          <p:cNvSpPr txBox="1"/>
          <p:nvPr/>
        </p:nvSpPr>
        <p:spPr>
          <a:xfrm>
            <a:off x="7785354" y="3965828"/>
            <a:ext cx="259397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Creates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covert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channel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secret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853648F7-9991-7055-3099-28C223A7657F}"/>
              </a:ext>
            </a:extLst>
          </p:cNvPr>
          <p:cNvSpPr/>
          <p:nvPr/>
        </p:nvSpPr>
        <p:spPr>
          <a:xfrm>
            <a:off x="6995159" y="326897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43BDDFB-FF68-4293-F404-CEDDB77AE58A}"/>
              </a:ext>
            </a:extLst>
          </p:cNvPr>
          <p:cNvSpPr/>
          <p:nvPr/>
        </p:nvSpPr>
        <p:spPr>
          <a:xfrm>
            <a:off x="6995159" y="226313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A862CAC-DD3D-EFF8-324B-7F9C6A574F21}"/>
              </a:ext>
            </a:extLst>
          </p:cNvPr>
          <p:cNvSpPr/>
          <p:nvPr/>
        </p:nvSpPr>
        <p:spPr>
          <a:xfrm>
            <a:off x="6995159" y="4277867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7624"/>
                </a:lnTo>
                <a:lnTo>
                  <a:pt x="63500" y="47624"/>
                </a:lnTo>
                <a:lnTo>
                  <a:pt x="63500" y="28574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4"/>
                </a:moveTo>
                <a:lnTo>
                  <a:pt x="63500" y="28574"/>
                </a:lnTo>
                <a:lnTo>
                  <a:pt x="63500" y="47624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382270" h="76200">
                <a:moveTo>
                  <a:pt x="381889" y="28574"/>
                </a:moveTo>
                <a:lnTo>
                  <a:pt x="76200" y="28574"/>
                </a:lnTo>
                <a:lnTo>
                  <a:pt x="76200" y="47624"/>
                </a:lnTo>
                <a:lnTo>
                  <a:pt x="381889" y="47624"/>
                </a:lnTo>
                <a:lnTo>
                  <a:pt x="381889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9591DA9-8C3D-15FD-4816-5729669E67D8}"/>
              </a:ext>
            </a:extLst>
          </p:cNvPr>
          <p:cNvSpPr txBox="1"/>
          <p:nvPr/>
        </p:nvSpPr>
        <p:spPr>
          <a:xfrm>
            <a:off x="7643621" y="3011550"/>
            <a:ext cx="340931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Calibri"/>
                <a:cs typeface="Calibri"/>
              </a:rPr>
              <a:t>Speculative </a:t>
            </a:r>
            <a:r>
              <a:rPr sz="2000" b="1" dirty="0">
                <a:latin typeface="Calibri"/>
                <a:cs typeface="Calibri"/>
              </a:rPr>
              <a:t>access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instruction**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accesses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secret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1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8164-96A0-F44A-23D4-C6FF0656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 in Action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F0CF2-F930-5654-80AE-855572DB2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D8FEB62-C0DA-C190-24AB-A8295EFD1E4C}"/>
              </a:ext>
            </a:extLst>
          </p:cNvPr>
          <p:cNvSpPr txBox="1"/>
          <p:nvPr/>
        </p:nvSpPr>
        <p:spPr>
          <a:xfrm>
            <a:off x="1071778" y="2409900"/>
            <a:ext cx="4023360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Spectre</a:t>
            </a:r>
            <a:r>
              <a:rPr sz="1600" b="1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Variant</a:t>
            </a:r>
            <a:r>
              <a:rPr sz="1600" b="1" spc="-4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50" dirty="0">
                <a:solidFill>
                  <a:srgbClr val="7E7E7E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98700" algn="l"/>
              </a:tabLst>
            </a:pPr>
            <a:r>
              <a:rPr sz="16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6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(addr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&lt;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N)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0" dirty="0">
                <a:latin typeface="Courier New"/>
                <a:cs typeface="Courier New"/>
              </a:rPr>
              <a:t>{</a:t>
            </a:r>
            <a:r>
              <a:rPr sz="1600" b="1" dirty="0"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 speculation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69265" marR="73723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600" b="1" strike="sngStrike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trike="sngStrike" spc="-30" dirty="0">
                <a:latin typeface="Courier New"/>
                <a:cs typeface="Courier New"/>
              </a:rPr>
              <a:t> </a:t>
            </a:r>
            <a:r>
              <a:rPr sz="1600" b="1" strike="sngStrike" dirty="0">
                <a:latin typeface="Courier New"/>
                <a:cs typeface="Courier New"/>
              </a:rPr>
              <a:t>=</a:t>
            </a:r>
            <a:r>
              <a:rPr sz="1600" b="1" strike="sngStrike" spc="-25" dirty="0">
                <a:latin typeface="Courier New"/>
                <a:cs typeface="Courier New"/>
              </a:rPr>
              <a:t> </a:t>
            </a:r>
            <a:r>
              <a:rPr sz="1600" b="1" strike="sngStrike" dirty="0">
                <a:latin typeface="Courier New"/>
                <a:cs typeface="Courier New"/>
              </a:rPr>
              <a:t>load</a:t>
            </a:r>
            <a:r>
              <a:rPr sz="1600" b="1" strike="sngStrike" spc="-20" dirty="0">
                <a:latin typeface="Courier New"/>
                <a:cs typeface="Courier New"/>
              </a:rPr>
              <a:t> </a:t>
            </a:r>
            <a:r>
              <a:rPr sz="1600" b="1" strike="sngStrike" spc="-10" dirty="0">
                <a:latin typeface="Courier New"/>
                <a:cs typeface="Courier New"/>
              </a:rPr>
              <a:t>[addr];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5EB991A-D695-438F-7154-2B40465552E7}"/>
              </a:ext>
            </a:extLst>
          </p:cNvPr>
          <p:cNvSpPr txBox="1"/>
          <p:nvPr/>
        </p:nvSpPr>
        <p:spPr>
          <a:xfrm>
            <a:off x="1528952" y="4117975"/>
            <a:ext cx="2101215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6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600" b="1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trike="sngStrike" dirty="0">
                <a:latin typeface="Courier New"/>
                <a:cs typeface="Courier New"/>
              </a:rPr>
              <a:t>load</a:t>
            </a:r>
            <a:r>
              <a:rPr sz="1600" b="1" strike="sngStrike" spc="-40" dirty="0">
                <a:latin typeface="Courier New"/>
                <a:cs typeface="Courier New"/>
              </a:rPr>
              <a:t> </a:t>
            </a:r>
            <a:r>
              <a:rPr sz="1600" b="1" strike="sngStrike" spc="-10" dirty="0">
                <a:latin typeface="Courier New"/>
                <a:cs typeface="Courier New"/>
              </a:rPr>
              <a:t>[</a:t>
            </a:r>
            <a:r>
              <a:rPr sz="1600" b="1" strike="sngStrike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600" b="1" strike="sngStrike" spc="-10" dirty="0"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9E7D9B0-7F62-CCBA-7DC1-ABC957738C0C}"/>
              </a:ext>
            </a:extLst>
          </p:cNvPr>
          <p:cNvSpPr txBox="1"/>
          <p:nvPr/>
        </p:nvSpPr>
        <p:spPr>
          <a:xfrm>
            <a:off x="1071778" y="4849748"/>
            <a:ext cx="1479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CF896935-B7A7-2CCE-B3CC-A4C91B401E48}"/>
              </a:ext>
            </a:extLst>
          </p:cNvPr>
          <p:cNvGrpSpPr/>
          <p:nvPr/>
        </p:nvGrpSpPr>
        <p:grpSpPr>
          <a:xfrm>
            <a:off x="6550152" y="2197607"/>
            <a:ext cx="207645" cy="3215640"/>
            <a:chOff x="6550152" y="2197607"/>
            <a:chExt cx="207645" cy="3215640"/>
          </a:xfrm>
        </p:grpSpPr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1CC82461-2F11-3EC6-8E1B-C13B912177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0152" y="2197607"/>
              <a:ext cx="204216" cy="204215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0740B92B-528A-7DA7-0A8B-A25AF00E5A86}"/>
                </a:ext>
              </a:extLst>
            </p:cNvPr>
            <p:cNvSpPr/>
            <p:nvPr/>
          </p:nvSpPr>
          <p:spPr>
            <a:xfrm>
              <a:off x="6595110" y="2403347"/>
              <a:ext cx="114300" cy="801370"/>
            </a:xfrm>
            <a:custGeom>
              <a:avLst/>
              <a:gdLst/>
              <a:ahLst/>
              <a:cxnLst/>
              <a:rect l="l" t="t" r="r" b="b"/>
              <a:pathLst>
                <a:path w="114300" h="801369">
                  <a:moveTo>
                    <a:pt x="38100" y="686562"/>
                  </a:moveTo>
                  <a:lnTo>
                    <a:pt x="0" y="686562"/>
                  </a:lnTo>
                  <a:lnTo>
                    <a:pt x="57150" y="800862"/>
                  </a:lnTo>
                  <a:lnTo>
                    <a:pt x="104775" y="705612"/>
                  </a:lnTo>
                  <a:lnTo>
                    <a:pt x="38100" y="705612"/>
                  </a:lnTo>
                  <a:lnTo>
                    <a:pt x="38100" y="686562"/>
                  </a:lnTo>
                  <a:close/>
                </a:path>
                <a:path w="114300" h="801369">
                  <a:moveTo>
                    <a:pt x="76200" y="0"/>
                  </a:moveTo>
                  <a:lnTo>
                    <a:pt x="38100" y="0"/>
                  </a:lnTo>
                  <a:lnTo>
                    <a:pt x="38100" y="705612"/>
                  </a:lnTo>
                  <a:lnTo>
                    <a:pt x="76200" y="705612"/>
                  </a:lnTo>
                  <a:lnTo>
                    <a:pt x="76200" y="0"/>
                  </a:lnTo>
                  <a:close/>
                </a:path>
                <a:path w="114300" h="801369">
                  <a:moveTo>
                    <a:pt x="114300" y="686562"/>
                  </a:moveTo>
                  <a:lnTo>
                    <a:pt x="76200" y="686562"/>
                  </a:lnTo>
                  <a:lnTo>
                    <a:pt x="76200" y="705612"/>
                  </a:lnTo>
                  <a:lnTo>
                    <a:pt x="104775" y="705612"/>
                  </a:lnTo>
                  <a:lnTo>
                    <a:pt x="114300" y="686562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0AA925A5-FF81-141B-A6F1-83EDE14743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0152" y="3203447"/>
              <a:ext cx="204216" cy="201167"/>
            </a:xfrm>
            <a:prstGeom prst="rect">
              <a:avLst/>
            </a:prstGeom>
          </p:spPr>
        </p:pic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EF8A1D66-7599-C328-EC6F-16D2BF8A92B5}"/>
                </a:ext>
              </a:extLst>
            </p:cNvPr>
            <p:cNvSpPr/>
            <p:nvPr/>
          </p:nvSpPr>
          <p:spPr>
            <a:xfrm>
              <a:off x="6595110" y="3406139"/>
              <a:ext cx="114300" cy="801370"/>
            </a:xfrm>
            <a:custGeom>
              <a:avLst/>
              <a:gdLst/>
              <a:ahLst/>
              <a:cxnLst/>
              <a:rect l="l" t="t" r="r" b="b"/>
              <a:pathLst>
                <a:path w="114300" h="801370">
                  <a:moveTo>
                    <a:pt x="38100" y="686562"/>
                  </a:moveTo>
                  <a:lnTo>
                    <a:pt x="0" y="686562"/>
                  </a:lnTo>
                  <a:lnTo>
                    <a:pt x="57150" y="800862"/>
                  </a:lnTo>
                  <a:lnTo>
                    <a:pt x="104775" y="705612"/>
                  </a:lnTo>
                  <a:lnTo>
                    <a:pt x="38100" y="705612"/>
                  </a:lnTo>
                  <a:lnTo>
                    <a:pt x="38100" y="686562"/>
                  </a:lnTo>
                  <a:close/>
                </a:path>
                <a:path w="114300" h="801370">
                  <a:moveTo>
                    <a:pt x="76200" y="0"/>
                  </a:moveTo>
                  <a:lnTo>
                    <a:pt x="38100" y="0"/>
                  </a:lnTo>
                  <a:lnTo>
                    <a:pt x="38100" y="705612"/>
                  </a:lnTo>
                  <a:lnTo>
                    <a:pt x="76200" y="705612"/>
                  </a:lnTo>
                  <a:lnTo>
                    <a:pt x="76200" y="0"/>
                  </a:lnTo>
                  <a:close/>
                </a:path>
                <a:path w="114300" h="801370">
                  <a:moveTo>
                    <a:pt x="114300" y="686562"/>
                  </a:moveTo>
                  <a:lnTo>
                    <a:pt x="76200" y="686562"/>
                  </a:lnTo>
                  <a:lnTo>
                    <a:pt x="76200" y="705612"/>
                  </a:lnTo>
                  <a:lnTo>
                    <a:pt x="104775" y="705612"/>
                  </a:lnTo>
                  <a:lnTo>
                    <a:pt x="114300" y="686562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ED6F9C47-32BA-5C35-1DBC-DB04419789A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0152" y="4206239"/>
              <a:ext cx="204216" cy="204216"/>
            </a:xfrm>
            <a:prstGeom prst="rect">
              <a:avLst/>
            </a:prstGeom>
          </p:spPr>
        </p:pic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919EA0EA-7583-CC0C-8458-4A33A2B7649D}"/>
                </a:ext>
              </a:extLst>
            </p:cNvPr>
            <p:cNvSpPr/>
            <p:nvPr/>
          </p:nvSpPr>
          <p:spPr>
            <a:xfrm>
              <a:off x="6595110" y="4411979"/>
              <a:ext cx="114300" cy="801370"/>
            </a:xfrm>
            <a:custGeom>
              <a:avLst/>
              <a:gdLst/>
              <a:ahLst/>
              <a:cxnLst/>
              <a:rect l="l" t="t" r="r" b="b"/>
              <a:pathLst>
                <a:path w="114300" h="801370">
                  <a:moveTo>
                    <a:pt x="38100" y="686562"/>
                  </a:moveTo>
                  <a:lnTo>
                    <a:pt x="0" y="686562"/>
                  </a:lnTo>
                  <a:lnTo>
                    <a:pt x="57150" y="800862"/>
                  </a:lnTo>
                  <a:lnTo>
                    <a:pt x="104775" y="705612"/>
                  </a:lnTo>
                  <a:lnTo>
                    <a:pt x="38100" y="705612"/>
                  </a:lnTo>
                  <a:lnTo>
                    <a:pt x="38100" y="686562"/>
                  </a:lnTo>
                  <a:close/>
                </a:path>
                <a:path w="114300" h="801370">
                  <a:moveTo>
                    <a:pt x="76200" y="0"/>
                  </a:moveTo>
                  <a:lnTo>
                    <a:pt x="38100" y="0"/>
                  </a:lnTo>
                  <a:lnTo>
                    <a:pt x="38100" y="705612"/>
                  </a:lnTo>
                  <a:lnTo>
                    <a:pt x="76200" y="705612"/>
                  </a:lnTo>
                  <a:lnTo>
                    <a:pt x="76200" y="0"/>
                  </a:lnTo>
                  <a:close/>
                </a:path>
                <a:path w="114300" h="801370">
                  <a:moveTo>
                    <a:pt x="114300" y="686562"/>
                  </a:moveTo>
                  <a:lnTo>
                    <a:pt x="76200" y="686562"/>
                  </a:lnTo>
                  <a:lnTo>
                    <a:pt x="76200" y="705612"/>
                  </a:lnTo>
                  <a:lnTo>
                    <a:pt x="104775" y="705612"/>
                  </a:lnTo>
                  <a:lnTo>
                    <a:pt x="114300" y="686562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CD6F8C19-44F5-3428-C4D1-D32C275461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5209031"/>
              <a:ext cx="204216" cy="204215"/>
            </a:xfrm>
            <a:prstGeom prst="rect">
              <a:avLst/>
            </a:prstGeom>
          </p:spPr>
        </p:pic>
      </p:grpSp>
      <p:sp>
        <p:nvSpPr>
          <p:cNvPr id="16" name="object 14">
            <a:extLst>
              <a:ext uri="{FF2B5EF4-FFF2-40B4-BE49-F238E27FC236}">
                <a16:creationId xmlns:a16="http://schemas.microsoft.com/office/drawing/2014/main" id="{AF93E83E-7BDA-AD08-749D-44F9C79C3C32}"/>
              </a:ext>
            </a:extLst>
          </p:cNvPr>
          <p:cNvSpPr txBox="1"/>
          <p:nvPr/>
        </p:nvSpPr>
        <p:spPr>
          <a:xfrm>
            <a:off x="8153527" y="2108454"/>
            <a:ext cx="18592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Speculation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C52E149D-0345-893E-6D43-84CD579396DC}"/>
              </a:ext>
            </a:extLst>
          </p:cNvPr>
          <p:cNvSpPr txBox="1"/>
          <p:nvPr/>
        </p:nvSpPr>
        <p:spPr>
          <a:xfrm>
            <a:off x="7785354" y="3965828"/>
            <a:ext cx="259397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Creates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covert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channel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secret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BCF5A1FF-3B6D-06E3-82E5-F7537BEBD8E0}"/>
              </a:ext>
            </a:extLst>
          </p:cNvPr>
          <p:cNvSpPr/>
          <p:nvPr/>
        </p:nvSpPr>
        <p:spPr>
          <a:xfrm>
            <a:off x="6995159" y="326897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862E4464-E742-02A1-41EE-94CF32E24563}"/>
              </a:ext>
            </a:extLst>
          </p:cNvPr>
          <p:cNvSpPr/>
          <p:nvPr/>
        </p:nvSpPr>
        <p:spPr>
          <a:xfrm>
            <a:off x="6995159" y="2263139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382270" h="76200">
                <a:moveTo>
                  <a:pt x="38188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381889" y="47625"/>
                </a:lnTo>
                <a:lnTo>
                  <a:pt x="3818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51B0FE92-412A-83D4-3622-CBAFB62975F8}"/>
              </a:ext>
            </a:extLst>
          </p:cNvPr>
          <p:cNvSpPr/>
          <p:nvPr/>
        </p:nvSpPr>
        <p:spPr>
          <a:xfrm>
            <a:off x="6995159" y="4277867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7624"/>
                </a:lnTo>
                <a:lnTo>
                  <a:pt x="63500" y="47624"/>
                </a:lnTo>
                <a:lnTo>
                  <a:pt x="63500" y="28574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4"/>
                </a:moveTo>
                <a:lnTo>
                  <a:pt x="63500" y="28574"/>
                </a:lnTo>
                <a:lnTo>
                  <a:pt x="63500" y="47624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382270" h="76200">
                <a:moveTo>
                  <a:pt x="381889" y="28574"/>
                </a:moveTo>
                <a:lnTo>
                  <a:pt x="76200" y="28574"/>
                </a:lnTo>
                <a:lnTo>
                  <a:pt x="76200" y="47624"/>
                </a:lnTo>
                <a:lnTo>
                  <a:pt x="381889" y="47624"/>
                </a:lnTo>
                <a:lnTo>
                  <a:pt x="381889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F1D47A60-DABA-ABFC-09C7-BB78BFF1077C}"/>
              </a:ext>
            </a:extLst>
          </p:cNvPr>
          <p:cNvSpPr/>
          <p:nvPr/>
        </p:nvSpPr>
        <p:spPr>
          <a:xfrm>
            <a:off x="6995159" y="5283708"/>
            <a:ext cx="382270" cy="76200"/>
          </a:xfrm>
          <a:custGeom>
            <a:avLst/>
            <a:gdLst/>
            <a:ahLst/>
            <a:cxnLst/>
            <a:rect l="l" t="t" r="r" b="b"/>
            <a:pathLst>
              <a:path w="38227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7624"/>
                </a:lnTo>
                <a:lnTo>
                  <a:pt x="63500" y="47624"/>
                </a:lnTo>
                <a:lnTo>
                  <a:pt x="63500" y="28574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382270" h="76200">
                <a:moveTo>
                  <a:pt x="76200" y="28574"/>
                </a:moveTo>
                <a:lnTo>
                  <a:pt x="63500" y="28574"/>
                </a:lnTo>
                <a:lnTo>
                  <a:pt x="63500" y="47624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382270" h="76200">
                <a:moveTo>
                  <a:pt x="381889" y="28574"/>
                </a:moveTo>
                <a:lnTo>
                  <a:pt x="76200" y="28574"/>
                </a:lnTo>
                <a:lnTo>
                  <a:pt x="76200" y="47624"/>
                </a:lnTo>
                <a:lnTo>
                  <a:pt x="381889" y="47624"/>
                </a:lnTo>
                <a:lnTo>
                  <a:pt x="381889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82AB1613-1093-65EC-FF3A-AFB5A3131729}"/>
              </a:ext>
            </a:extLst>
          </p:cNvPr>
          <p:cNvSpPr txBox="1"/>
          <p:nvPr/>
        </p:nvSpPr>
        <p:spPr>
          <a:xfrm>
            <a:off x="298195" y="5142687"/>
            <a:ext cx="11637645" cy="8713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5345"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Speculation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ends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-</a:t>
            </a:r>
            <a:endParaRPr sz="2000" dirty="0">
              <a:latin typeface="Calibri"/>
              <a:cs typeface="Calibri"/>
            </a:endParaRPr>
          </a:p>
          <a:p>
            <a:pPr marL="5930900" algn="ctr">
              <a:lnSpc>
                <a:spcPts val="2270"/>
              </a:lnSpc>
            </a:pPr>
            <a:r>
              <a:rPr sz="2000" spc="-10" dirty="0">
                <a:latin typeface="Calibri"/>
                <a:cs typeface="Calibri"/>
              </a:rPr>
              <a:t>misspeculation!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16BF0053-BACA-9B1D-59DE-7BD4EA289755}"/>
              </a:ext>
            </a:extLst>
          </p:cNvPr>
          <p:cNvSpPr/>
          <p:nvPr/>
        </p:nvSpPr>
        <p:spPr>
          <a:xfrm>
            <a:off x="982980" y="2851404"/>
            <a:ext cx="4447540" cy="445134"/>
          </a:xfrm>
          <a:custGeom>
            <a:avLst/>
            <a:gdLst/>
            <a:ahLst/>
            <a:cxnLst/>
            <a:rect l="l" t="t" r="r" b="b"/>
            <a:pathLst>
              <a:path w="4447540" h="445135">
                <a:moveTo>
                  <a:pt x="0" y="74168"/>
                </a:moveTo>
                <a:lnTo>
                  <a:pt x="5829" y="45273"/>
                </a:lnTo>
                <a:lnTo>
                  <a:pt x="21724" y="21701"/>
                </a:lnTo>
                <a:lnTo>
                  <a:pt x="45300" y="5820"/>
                </a:lnTo>
                <a:lnTo>
                  <a:pt x="74167" y="0"/>
                </a:lnTo>
                <a:lnTo>
                  <a:pt x="4372864" y="0"/>
                </a:lnTo>
                <a:lnTo>
                  <a:pt x="4401758" y="5820"/>
                </a:lnTo>
                <a:lnTo>
                  <a:pt x="4425330" y="21701"/>
                </a:lnTo>
                <a:lnTo>
                  <a:pt x="4441211" y="45273"/>
                </a:lnTo>
                <a:lnTo>
                  <a:pt x="4447032" y="74168"/>
                </a:lnTo>
                <a:lnTo>
                  <a:pt x="4447032" y="370840"/>
                </a:lnTo>
                <a:lnTo>
                  <a:pt x="4441211" y="399734"/>
                </a:lnTo>
                <a:lnTo>
                  <a:pt x="4425330" y="423306"/>
                </a:lnTo>
                <a:lnTo>
                  <a:pt x="4401758" y="439187"/>
                </a:lnTo>
                <a:lnTo>
                  <a:pt x="4372864" y="445008"/>
                </a:lnTo>
                <a:lnTo>
                  <a:pt x="74167" y="445008"/>
                </a:lnTo>
                <a:lnTo>
                  <a:pt x="45300" y="439187"/>
                </a:lnTo>
                <a:lnTo>
                  <a:pt x="21724" y="423306"/>
                </a:lnTo>
                <a:lnTo>
                  <a:pt x="5829" y="399734"/>
                </a:lnTo>
                <a:lnTo>
                  <a:pt x="0" y="370840"/>
                </a:lnTo>
                <a:lnTo>
                  <a:pt x="0" y="74168"/>
                </a:lnTo>
                <a:close/>
              </a:path>
            </a:pathLst>
          </a:custGeom>
          <a:ln w="1587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209A534-6FF0-AF97-C373-68815128ACDE}"/>
              </a:ext>
            </a:extLst>
          </p:cNvPr>
          <p:cNvSpPr txBox="1"/>
          <p:nvPr/>
        </p:nvSpPr>
        <p:spPr>
          <a:xfrm>
            <a:off x="7643621" y="3011550"/>
            <a:ext cx="340931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Calibri"/>
                <a:cs typeface="Calibri"/>
              </a:rPr>
              <a:t>Speculative </a:t>
            </a:r>
            <a:r>
              <a:rPr sz="2000" b="1" dirty="0">
                <a:latin typeface="Calibri"/>
                <a:cs typeface="Calibri"/>
              </a:rPr>
              <a:t>access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instruction**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accesses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secret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5" name="object 25">
            <a:extLst>
              <a:ext uri="{FF2B5EF4-FFF2-40B4-BE49-F238E27FC236}">
                <a16:creationId xmlns:a16="http://schemas.microsoft.com/office/drawing/2014/main" id="{FEA7FF52-6249-A4F7-EC52-8BA2E3D6328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365" y="4052447"/>
            <a:ext cx="867210" cy="7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67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87D3-4557-735E-FDE8-2A18543E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 in terms of security?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EE5DF-90D9-D7AD-C3D2-70826CABE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A219D250-C377-B837-B3CB-61FC6AA604A3}"/>
              </a:ext>
            </a:extLst>
          </p:cNvPr>
          <p:cNvSpPr txBox="1"/>
          <p:nvPr/>
        </p:nvSpPr>
        <p:spPr>
          <a:xfrm>
            <a:off x="1408302" y="2311653"/>
            <a:ext cx="3357245" cy="3013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4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(addr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&lt;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N)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6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69900" marR="427990">
              <a:lnSpc>
                <a:spcPct val="100000"/>
              </a:lnSpc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[addr];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69900" marR="321310">
              <a:lnSpc>
                <a:spcPct val="100000"/>
              </a:lnSpc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simple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arithmetic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+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25" dirty="0">
                <a:latin typeface="Courier New"/>
                <a:cs typeface="Courier New"/>
              </a:rPr>
              <a:t>4;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cache/mem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10" dirty="0">
                <a:latin typeface="Courier New"/>
                <a:cs typeface="Courier New"/>
              </a:rPr>
              <a:t>];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25" dirty="0">
                <a:latin typeface="Courier New"/>
                <a:cs typeface="Courier New"/>
              </a:rPr>
              <a:t>……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A35A25B-B7CE-C831-699F-1AD1F3DF8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22461"/>
              </p:ext>
            </p:extLst>
          </p:nvPr>
        </p:nvGraphicFramePr>
        <p:xfrm>
          <a:off x="5662422" y="1865757"/>
          <a:ext cx="3834129" cy="267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94945" marR="1816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covert channel?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38430" indent="-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operand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secret?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protection?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13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671A-3C4A-0675-375F-8D967559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STT in action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5C3A4-C2FD-B0D2-9114-FD16353382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DD4DC08-E7C9-53AD-1693-A47D6880087E}"/>
              </a:ext>
            </a:extLst>
          </p:cNvPr>
          <p:cNvSpPr txBox="1"/>
          <p:nvPr/>
        </p:nvSpPr>
        <p:spPr>
          <a:xfrm>
            <a:off x="3700398" y="2896869"/>
            <a:ext cx="16211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4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(addr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&lt;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N)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6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C8EB314-A81D-B327-7801-784A2928BED4}"/>
              </a:ext>
            </a:extLst>
          </p:cNvPr>
          <p:cNvSpPr txBox="1"/>
          <p:nvPr/>
        </p:nvSpPr>
        <p:spPr>
          <a:xfrm>
            <a:off x="4157853" y="3323589"/>
            <a:ext cx="247713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[addr];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E8D781D0-3ABE-4103-891E-24F922CF9537}"/>
              </a:ext>
            </a:extLst>
          </p:cNvPr>
          <p:cNvSpPr txBox="1"/>
          <p:nvPr/>
        </p:nvSpPr>
        <p:spPr>
          <a:xfrm>
            <a:off x="3700398" y="3964051"/>
            <a:ext cx="3357245" cy="1945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32131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simple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arithmetic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+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25" dirty="0">
                <a:latin typeface="Courier New"/>
                <a:cs typeface="Courier New"/>
              </a:rPr>
              <a:t>4;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cache/mem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10" dirty="0">
                <a:latin typeface="Courier New"/>
                <a:cs typeface="Courier New"/>
              </a:rPr>
              <a:t>];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25" dirty="0">
                <a:latin typeface="Courier New"/>
                <a:cs typeface="Courier New"/>
              </a:rPr>
              <a:t>……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D7AE80E-707D-063D-6888-C787B5C9C24A}"/>
              </a:ext>
            </a:extLst>
          </p:cNvPr>
          <p:cNvSpPr txBox="1"/>
          <p:nvPr/>
        </p:nvSpPr>
        <p:spPr>
          <a:xfrm>
            <a:off x="6735826" y="2863722"/>
            <a:ext cx="971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8F8256B-F469-F660-1BB3-968ADD7D0FD5}"/>
              </a:ext>
            </a:extLst>
          </p:cNvPr>
          <p:cNvSpPr/>
          <p:nvPr/>
        </p:nvSpPr>
        <p:spPr>
          <a:xfrm>
            <a:off x="6181344" y="2991611"/>
            <a:ext cx="474980" cy="76200"/>
          </a:xfrm>
          <a:custGeom>
            <a:avLst/>
            <a:gdLst/>
            <a:ahLst/>
            <a:cxnLst/>
            <a:rect l="l" t="t" r="r" b="b"/>
            <a:pathLst>
              <a:path w="4749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474979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474979" h="76200">
                <a:moveTo>
                  <a:pt x="474599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474599" y="50800"/>
                </a:lnTo>
                <a:lnTo>
                  <a:pt x="474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90B0B4C6-1637-C1E3-FB10-67CE8B52AD05}"/>
              </a:ext>
            </a:extLst>
          </p:cNvPr>
          <p:cNvSpPr/>
          <p:nvPr/>
        </p:nvSpPr>
        <p:spPr>
          <a:xfrm>
            <a:off x="3622547" y="2805683"/>
            <a:ext cx="2042160" cy="451484"/>
          </a:xfrm>
          <a:custGeom>
            <a:avLst/>
            <a:gdLst/>
            <a:ahLst/>
            <a:cxnLst/>
            <a:rect l="l" t="t" r="r" b="b"/>
            <a:pathLst>
              <a:path w="2042160" h="451485">
                <a:moveTo>
                  <a:pt x="0" y="75183"/>
                </a:moveTo>
                <a:lnTo>
                  <a:pt x="5907" y="45916"/>
                </a:lnTo>
                <a:lnTo>
                  <a:pt x="22018" y="22018"/>
                </a:lnTo>
                <a:lnTo>
                  <a:pt x="45916" y="5907"/>
                </a:lnTo>
                <a:lnTo>
                  <a:pt x="75184" y="0"/>
                </a:lnTo>
                <a:lnTo>
                  <a:pt x="1966976" y="0"/>
                </a:lnTo>
                <a:lnTo>
                  <a:pt x="1996243" y="5907"/>
                </a:lnTo>
                <a:lnTo>
                  <a:pt x="2020141" y="22018"/>
                </a:lnTo>
                <a:lnTo>
                  <a:pt x="2036252" y="45916"/>
                </a:lnTo>
                <a:lnTo>
                  <a:pt x="2042160" y="75183"/>
                </a:lnTo>
                <a:lnTo>
                  <a:pt x="2042160" y="375919"/>
                </a:lnTo>
                <a:lnTo>
                  <a:pt x="2036252" y="405187"/>
                </a:lnTo>
                <a:lnTo>
                  <a:pt x="2020141" y="429085"/>
                </a:lnTo>
                <a:lnTo>
                  <a:pt x="1996243" y="445196"/>
                </a:lnTo>
                <a:lnTo>
                  <a:pt x="1966976" y="451103"/>
                </a:lnTo>
                <a:lnTo>
                  <a:pt x="75184" y="451103"/>
                </a:lnTo>
                <a:lnTo>
                  <a:pt x="45916" y="445196"/>
                </a:lnTo>
                <a:lnTo>
                  <a:pt x="22018" y="429085"/>
                </a:lnTo>
                <a:lnTo>
                  <a:pt x="5907" y="405187"/>
                </a:lnTo>
                <a:lnTo>
                  <a:pt x="0" y="375919"/>
                </a:lnTo>
                <a:lnTo>
                  <a:pt x="0" y="75183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264FF404-2B6F-5463-4826-25CC0A389BE1}"/>
              </a:ext>
            </a:extLst>
          </p:cNvPr>
          <p:cNvGrpSpPr/>
          <p:nvPr/>
        </p:nvGrpSpPr>
        <p:grpSpPr>
          <a:xfrm>
            <a:off x="1029906" y="2968751"/>
            <a:ext cx="2447925" cy="2580005"/>
            <a:chOff x="1029906" y="2968751"/>
            <a:chExt cx="2447925" cy="2580005"/>
          </a:xfrm>
        </p:grpSpPr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BF5B6DFA-E491-35D0-8AC9-28CE4A5E0C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0983" y="2968751"/>
              <a:ext cx="176783" cy="176784"/>
            </a:xfrm>
            <a:prstGeom prst="rect">
              <a:avLst/>
            </a:prstGeom>
          </p:spPr>
        </p:pic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3335C899-4363-416B-6CE1-D06EAF7FCAE5}"/>
                </a:ext>
              </a:extLst>
            </p:cNvPr>
            <p:cNvSpPr/>
            <p:nvPr/>
          </p:nvSpPr>
          <p:spPr>
            <a:xfrm>
              <a:off x="3335972" y="3145535"/>
              <a:ext cx="95250" cy="2403475"/>
            </a:xfrm>
            <a:custGeom>
              <a:avLst/>
              <a:gdLst/>
              <a:ahLst/>
              <a:cxnLst/>
              <a:rect l="l" t="t" r="r" b="b"/>
              <a:pathLst>
                <a:path w="95250" h="2403475">
                  <a:moveTo>
                    <a:pt x="31594" y="2307844"/>
                  </a:moveTo>
                  <a:lnTo>
                    <a:pt x="0" y="2307844"/>
                  </a:lnTo>
                  <a:lnTo>
                    <a:pt x="47307" y="2402966"/>
                  </a:lnTo>
                  <a:lnTo>
                    <a:pt x="87196" y="2323719"/>
                  </a:lnTo>
                  <a:lnTo>
                    <a:pt x="63309" y="2323719"/>
                  </a:lnTo>
                  <a:lnTo>
                    <a:pt x="31559" y="2323591"/>
                  </a:lnTo>
                  <a:lnTo>
                    <a:pt x="31594" y="2307844"/>
                  </a:lnTo>
                  <a:close/>
                </a:path>
                <a:path w="95250" h="2403475">
                  <a:moveTo>
                    <a:pt x="68389" y="0"/>
                  </a:moveTo>
                  <a:lnTo>
                    <a:pt x="36639" y="0"/>
                  </a:lnTo>
                  <a:lnTo>
                    <a:pt x="31594" y="2307844"/>
                  </a:lnTo>
                  <a:lnTo>
                    <a:pt x="31559" y="2323591"/>
                  </a:lnTo>
                  <a:lnTo>
                    <a:pt x="63309" y="2323719"/>
                  </a:lnTo>
                  <a:lnTo>
                    <a:pt x="68389" y="0"/>
                  </a:lnTo>
                  <a:close/>
                </a:path>
                <a:path w="95250" h="2403475">
                  <a:moveTo>
                    <a:pt x="95186" y="2307844"/>
                  </a:moveTo>
                  <a:lnTo>
                    <a:pt x="63344" y="2307844"/>
                  </a:lnTo>
                  <a:lnTo>
                    <a:pt x="63309" y="2323719"/>
                  </a:lnTo>
                  <a:lnTo>
                    <a:pt x="87196" y="2323719"/>
                  </a:lnTo>
                  <a:lnTo>
                    <a:pt x="95186" y="2307844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425DDEB5-19C2-BFDA-DB2A-0AAC173CBFEF}"/>
                </a:ext>
              </a:extLst>
            </p:cNvPr>
            <p:cNvSpPr/>
            <p:nvPr/>
          </p:nvSpPr>
          <p:spPr>
            <a:xfrm>
              <a:off x="1037844" y="3062985"/>
              <a:ext cx="2284095" cy="605790"/>
            </a:xfrm>
            <a:custGeom>
              <a:avLst/>
              <a:gdLst/>
              <a:ahLst/>
              <a:cxnLst/>
              <a:rect l="l" t="t" r="r" b="b"/>
              <a:pathLst>
                <a:path w="2284095" h="605789">
                  <a:moveTo>
                    <a:pt x="1528064" y="7874"/>
                  </a:moveTo>
                  <a:lnTo>
                    <a:pt x="99568" y="7874"/>
                  </a:lnTo>
                  <a:lnTo>
                    <a:pt x="60811" y="15698"/>
                  </a:lnTo>
                  <a:lnTo>
                    <a:pt x="29162" y="37036"/>
                  </a:lnTo>
                  <a:lnTo>
                    <a:pt x="7824" y="68685"/>
                  </a:lnTo>
                  <a:lnTo>
                    <a:pt x="0" y="107441"/>
                  </a:lnTo>
                  <a:lnTo>
                    <a:pt x="0" y="505713"/>
                  </a:lnTo>
                  <a:lnTo>
                    <a:pt x="7824" y="544470"/>
                  </a:lnTo>
                  <a:lnTo>
                    <a:pt x="29162" y="576119"/>
                  </a:lnTo>
                  <a:lnTo>
                    <a:pt x="60811" y="597457"/>
                  </a:lnTo>
                  <a:lnTo>
                    <a:pt x="99568" y="605282"/>
                  </a:lnTo>
                  <a:lnTo>
                    <a:pt x="1528064" y="605282"/>
                  </a:lnTo>
                  <a:lnTo>
                    <a:pt x="1566820" y="597457"/>
                  </a:lnTo>
                  <a:lnTo>
                    <a:pt x="1598469" y="576119"/>
                  </a:lnTo>
                  <a:lnTo>
                    <a:pt x="1619807" y="544470"/>
                  </a:lnTo>
                  <a:lnTo>
                    <a:pt x="1627632" y="505713"/>
                  </a:lnTo>
                  <a:lnTo>
                    <a:pt x="1627632" y="256793"/>
                  </a:lnTo>
                  <a:lnTo>
                    <a:pt x="2009358" y="107441"/>
                  </a:lnTo>
                  <a:lnTo>
                    <a:pt x="1627632" y="107441"/>
                  </a:lnTo>
                  <a:lnTo>
                    <a:pt x="1619807" y="68685"/>
                  </a:lnTo>
                  <a:lnTo>
                    <a:pt x="1598469" y="37036"/>
                  </a:lnTo>
                  <a:lnTo>
                    <a:pt x="1566820" y="15698"/>
                  </a:lnTo>
                  <a:lnTo>
                    <a:pt x="1528064" y="7874"/>
                  </a:lnTo>
                  <a:close/>
                </a:path>
                <a:path w="2284095" h="605789">
                  <a:moveTo>
                    <a:pt x="2283968" y="0"/>
                  </a:moveTo>
                  <a:lnTo>
                    <a:pt x="1627632" y="107441"/>
                  </a:lnTo>
                  <a:lnTo>
                    <a:pt x="2009358" y="107441"/>
                  </a:lnTo>
                  <a:lnTo>
                    <a:pt x="2283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4477D964-B6EB-395A-4B76-D06C25E6E5F8}"/>
                </a:ext>
              </a:extLst>
            </p:cNvPr>
            <p:cNvSpPr/>
            <p:nvPr/>
          </p:nvSpPr>
          <p:spPr>
            <a:xfrm>
              <a:off x="1037844" y="3062985"/>
              <a:ext cx="2284095" cy="605790"/>
            </a:xfrm>
            <a:custGeom>
              <a:avLst/>
              <a:gdLst/>
              <a:ahLst/>
              <a:cxnLst/>
              <a:rect l="l" t="t" r="r" b="b"/>
              <a:pathLst>
                <a:path w="2284095" h="605789">
                  <a:moveTo>
                    <a:pt x="0" y="107441"/>
                  </a:moveTo>
                  <a:lnTo>
                    <a:pt x="7824" y="68685"/>
                  </a:lnTo>
                  <a:lnTo>
                    <a:pt x="29162" y="37036"/>
                  </a:lnTo>
                  <a:lnTo>
                    <a:pt x="60811" y="15698"/>
                  </a:lnTo>
                  <a:lnTo>
                    <a:pt x="99568" y="7874"/>
                  </a:lnTo>
                  <a:lnTo>
                    <a:pt x="949451" y="7874"/>
                  </a:lnTo>
                  <a:lnTo>
                    <a:pt x="1356360" y="7874"/>
                  </a:lnTo>
                  <a:lnTo>
                    <a:pt x="1528064" y="7874"/>
                  </a:lnTo>
                  <a:lnTo>
                    <a:pt x="1566820" y="15698"/>
                  </a:lnTo>
                  <a:lnTo>
                    <a:pt x="1598469" y="37036"/>
                  </a:lnTo>
                  <a:lnTo>
                    <a:pt x="1619807" y="68685"/>
                  </a:lnTo>
                  <a:lnTo>
                    <a:pt x="1627632" y="107441"/>
                  </a:lnTo>
                  <a:lnTo>
                    <a:pt x="2283968" y="0"/>
                  </a:lnTo>
                  <a:lnTo>
                    <a:pt x="1627632" y="256793"/>
                  </a:lnTo>
                  <a:lnTo>
                    <a:pt x="1627632" y="505713"/>
                  </a:lnTo>
                  <a:lnTo>
                    <a:pt x="1619807" y="544470"/>
                  </a:lnTo>
                  <a:lnTo>
                    <a:pt x="1598469" y="576119"/>
                  </a:lnTo>
                  <a:lnTo>
                    <a:pt x="1566820" y="597457"/>
                  </a:lnTo>
                  <a:lnTo>
                    <a:pt x="1528064" y="605282"/>
                  </a:lnTo>
                  <a:lnTo>
                    <a:pt x="1356360" y="605282"/>
                  </a:lnTo>
                  <a:lnTo>
                    <a:pt x="949451" y="605282"/>
                  </a:lnTo>
                  <a:lnTo>
                    <a:pt x="99568" y="605282"/>
                  </a:lnTo>
                  <a:lnTo>
                    <a:pt x="60811" y="597457"/>
                  </a:lnTo>
                  <a:lnTo>
                    <a:pt x="29162" y="576119"/>
                  </a:lnTo>
                  <a:lnTo>
                    <a:pt x="7824" y="544470"/>
                  </a:lnTo>
                  <a:lnTo>
                    <a:pt x="0" y="505713"/>
                  </a:lnTo>
                  <a:lnTo>
                    <a:pt x="0" y="256793"/>
                  </a:lnTo>
                  <a:lnTo>
                    <a:pt x="0" y="107441"/>
                  </a:lnTo>
                  <a:close/>
                </a:path>
              </a:pathLst>
            </a:custGeom>
            <a:ln w="15875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B65760C8-5D06-2208-36E7-483F99197CAF}"/>
              </a:ext>
            </a:extLst>
          </p:cNvPr>
          <p:cNvSpPr txBox="1"/>
          <p:nvPr/>
        </p:nvSpPr>
        <p:spPr>
          <a:xfrm>
            <a:off x="1236370" y="3037458"/>
            <a:ext cx="122872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Speculation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C96E0F51-2939-ED47-99DF-DA554B804444}"/>
              </a:ext>
            </a:extLst>
          </p:cNvPr>
          <p:cNvGraphicFramePr>
            <a:graphicFrameLocks noGrp="1"/>
          </p:cNvGraphicFramePr>
          <p:nvPr/>
        </p:nvGraphicFramePr>
        <p:xfrm>
          <a:off x="7954518" y="2450973"/>
          <a:ext cx="3834129" cy="267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94945" marR="1816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covert channel?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38430" indent="-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operand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secret?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protection?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494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23AC-2471-0F3E-ECF8-AA5DC9F2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STT in action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0C18C-39D1-B720-1CE0-C7289E5D1C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2C29538-8611-4083-707F-2E708E9B4B46}"/>
              </a:ext>
            </a:extLst>
          </p:cNvPr>
          <p:cNvSpPr txBox="1"/>
          <p:nvPr/>
        </p:nvSpPr>
        <p:spPr>
          <a:xfrm>
            <a:off x="3700398" y="2896869"/>
            <a:ext cx="16211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4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(addr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&lt;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N)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6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C2CE85B-AA23-23D2-D12A-8F55AC8FEF82}"/>
              </a:ext>
            </a:extLst>
          </p:cNvPr>
          <p:cNvSpPr txBox="1"/>
          <p:nvPr/>
        </p:nvSpPr>
        <p:spPr>
          <a:xfrm>
            <a:off x="4157853" y="3323589"/>
            <a:ext cx="247713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[addr];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E31EBEB6-133D-CC57-0290-6444AF0BB216}"/>
              </a:ext>
            </a:extLst>
          </p:cNvPr>
          <p:cNvSpPr txBox="1"/>
          <p:nvPr/>
        </p:nvSpPr>
        <p:spPr>
          <a:xfrm>
            <a:off x="3700398" y="3964051"/>
            <a:ext cx="3357245" cy="1945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32131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simple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arithmetic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+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25" dirty="0">
                <a:latin typeface="Courier New"/>
                <a:cs typeface="Courier New"/>
              </a:rPr>
              <a:t>4;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cache/mem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10" dirty="0">
                <a:latin typeface="Courier New"/>
                <a:cs typeface="Courier New"/>
              </a:rPr>
              <a:t>];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25" dirty="0">
                <a:latin typeface="Courier New"/>
                <a:cs typeface="Courier New"/>
              </a:rPr>
              <a:t>……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C02C920-4742-2F68-B0B0-BFF94A180CEF}"/>
              </a:ext>
            </a:extLst>
          </p:cNvPr>
          <p:cNvSpPr/>
          <p:nvPr/>
        </p:nvSpPr>
        <p:spPr>
          <a:xfrm>
            <a:off x="4085844" y="3256788"/>
            <a:ext cx="2788920" cy="619125"/>
          </a:xfrm>
          <a:custGeom>
            <a:avLst/>
            <a:gdLst/>
            <a:ahLst/>
            <a:cxnLst/>
            <a:rect l="l" t="t" r="r" b="b"/>
            <a:pathLst>
              <a:path w="2788920" h="619125">
                <a:moveTo>
                  <a:pt x="0" y="103124"/>
                </a:moveTo>
                <a:lnTo>
                  <a:pt x="8112" y="63007"/>
                </a:lnTo>
                <a:lnTo>
                  <a:pt x="30225" y="30225"/>
                </a:lnTo>
                <a:lnTo>
                  <a:pt x="63007" y="8112"/>
                </a:lnTo>
                <a:lnTo>
                  <a:pt x="103123" y="0"/>
                </a:lnTo>
                <a:lnTo>
                  <a:pt x="2685796" y="0"/>
                </a:lnTo>
                <a:lnTo>
                  <a:pt x="2725912" y="8112"/>
                </a:lnTo>
                <a:lnTo>
                  <a:pt x="2758693" y="30225"/>
                </a:lnTo>
                <a:lnTo>
                  <a:pt x="2780807" y="63007"/>
                </a:lnTo>
                <a:lnTo>
                  <a:pt x="2788920" y="103124"/>
                </a:lnTo>
                <a:lnTo>
                  <a:pt x="2788920" y="515619"/>
                </a:lnTo>
                <a:lnTo>
                  <a:pt x="2780807" y="555736"/>
                </a:lnTo>
                <a:lnTo>
                  <a:pt x="2758694" y="588518"/>
                </a:lnTo>
                <a:lnTo>
                  <a:pt x="2725912" y="610631"/>
                </a:lnTo>
                <a:lnTo>
                  <a:pt x="2685796" y="618744"/>
                </a:lnTo>
                <a:lnTo>
                  <a:pt x="103123" y="618744"/>
                </a:lnTo>
                <a:lnTo>
                  <a:pt x="63007" y="610631"/>
                </a:lnTo>
                <a:lnTo>
                  <a:pt x="30225" y="588518"/>
                </a:lnTo>
                <a:lnTo>
                  <a:pt x="8112" y="555736"/>
                </a:lnTo>
                <a:lnTo>
                  <a:pt x="0" y="515619"/>
                </a:lnTo>
                <a:lnTo>
                  <a:pt x="0" y="103124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3F51175C-6210-94D5-E7BB-2114075F608D}"/>
              </a:ext>
            </a:extLst>
          </p:cNvPr>
          <p:cNvGrpSpPr/>
          <p:nvPr/>
        </p:nvGrpSpPr>
        <p:grpSpPr>
          <a:xfrm>
            <a:off x="1029906" y="2968751"/>
            <a:ext cx="2447925" cy="2580005"/>
            <a:chOff x="1029906" y="2968751"/>
            <a:chExt cx="2447925" cy="2580005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52388665-B9AA-B28F-70FA-094401FFF1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0983" y="2968751"/>
              <a:ext cx="176783" cy="176784"/>
            </a:xfrm>
            <a:prstGeom prst="rect">
              <a:avLst/>
            </a:prstGeom>
          </p:spPr>
        </p:pic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9BA31B57-47D8-9793-202F-6198AB7275DC}"/>
                </a:ext>
              </a:extLst>
            </p:cNvPr>
            <p:cNvSpPr/>
            <p:nvPr/>
          </p:nvSpPr>
          <p:spPr>
            <a:xfrm>
              <a:off x="3335972" y="3145535"/>
              <a:ext cx="95250" cy="2403475"/>
            </a:xfrm>
            <a:custGeom>
              <a:avLst/>
              <a:gdLst/>
              <a:ahLst/>
              <a:cxnLst/>
              <a:rect l="l" t="t" r="r" b="b"/>
              <a:pathLst>
                <a:path w="95250" h="2403475">
                  <a:moveTo>
                    <a:pt x="31594" y="2307844"/>
                  </a:moveTo>
                  <a:lnTo>
                    <a:pt x="0" y="2307844"/>
                  </a:lnTo>
                  <a:lnTo>
                    <a:pt x="47307" y="2402966"/>
                  </a:lnTo>
                  <a:lnTo>
                    <a:pt x="87196" y="2323719"/>
                  </a:lnTo>
                  <a:lnTo>
                    <a:pt x="63309" y="2323719"/>
                  </a:lnTo>
                  <a:lnTo>
                    <a:pt x="31559" y="2323591"/>
                  </a:lnTo>
                  <a:lnTo>
                    <a:pt x="31594" y="2307844"/>
                  </a:lnTo>
                  <a:close/>
                </a:path>
                <a:path w="95250" h="2403475">
                  <a:moveTo>
                    <a:pt x="68389" y="0"/>
                  </a:moveTo>
                  <a:lnTo>
                    <a:pt x="36639" y="0"/>
                  </a:lnTo>
                  <a:lnTo>
                    <a:pt x="31594" y="2307844"/>
                  </a:lnTo>
                  <a:lnTo>
                    <a:pt x="31559" y="2323591"/>
                  </a:lnTo>
                  <a:lnTo>
                    <a:pt x="63309" y="2323719"/>
                  </a:lnTo>
                  <a:lnTo>
                    <a:pt x="68389" y="0"/>
                  </a:lnTo>
                  <a:close/>
                </a:path>
                <a:path w="95250" h="2403475">
                  <a:moveTo>
                    <a:pt x="95186" y="2307844"/>
                  </a:moveTo>
                  <a:lnTo>
                    <a:pt x="63344" y="2307844"/>
                  </a:lnTo>
                  <a:lnTo>
                    <a:pt x="63309" y="2323719"/>
                  </a:lnTo>
                  <a:lnTo>
                    <a:pt x="87196" y="2323719"/>
                  </a:lnTo>
                  <a:lnTo>
                    <a:pt x="95186" y="2307844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BFF162E0-14EB-FF52-6202-8F6134650D68}"/>
                </a:ext>
              </a:extLst>
            </p:cNvPr>
            <p:cNvSpPr/>
            <p:nvPr/>
          </p:nvSpPr>
          <p:spPr>
            <a:xfrm>
              <a:off x="1037844" y="3062985"/>
              <a:ext cx="2284095" cy="605790"/>
            </a:xfrm>
            <a:custGeom>
              <a:avLst/>
              <a:gdLst/>
              <a:ahLst/>
              <a:cxnLst/>
              <a:rect l="l" t="t" r="r" b="b"/>
              <a:pathLst>
                <a:path w="2284095" h="605789">
                  <a:moveTo>
                    <a:pt x="1528064" y="7874"/>
                  </a:moveTo>
                  <a:lnTo>
                    <a:pt x="99568" y="7874"/>
                  </a:lnTo>
                  <a:lnTo>
                    <a:pt x="60811" y="15698"/>
                  </a:lnTo>
                  <a:lnTo>
                    <a:pt x="29162" y="37036"/>
                  </a:lnTo>
                  <a:lnTo>
                    <a:pt x="7824" y="68685"/>
                  </a:lnTo>
                  <a:lnTo>
                    <a:pt x="0" y="107441"/>
                  </a:lnTo>
                  <a:lnTo>
                    <a:pt x="0" y="505713"/>
                  </a:lnTo>
                  <a:lnTo>
                    <a:pt x="7824" y="544470"/>
                  </a:lnTo>
                  <a:lnTo>
                    <a:pt x="29162" y="576119"/>
                  </a:lnTo>
                  <a:lnTo>
                    <a:pt x="60811" y="597457"/>
                  </a:lnTo>
                  <a:lnTo>
                    <a:pt x="99568" y="605282"/>
                  </a:lnTo>
                  <a:lnTo>
                    <a:pt x="1528064" y="605282"/>
                  </a:lnTo>
                  <a:lnTo>
                    <a:pt x="1566820" y="597457"/>
                  </a:lnTo>
                  <a:lnTo>
                    <a:pt x="1598469" y="576119"/>
                  </a:lnTo>
                  <a:lnTo>
                    <a:pt x="1619807" y="544470"/>
                  </a:lnTo>
                  <a:lnTo>
                    <a:pt x="1627632" y="505713"/>
                  </a:lnTo>
                  <a:lnTo>
                    <a:pt x="1627632" y="256793"/>
                  </a:lnTo>
                  <a:lnTo>
                    <a:pt x="2009358" y="107441"/>
                  </a:lnTo>
                  <a:lnTo>
                    <a:pt x="1627632" y="107441"/>
                  </a:lnTo>
                  <a:lnTo>
                    <a:pt x="1619807" y="68685"/>
                  </a:lnTo>
                  <a:lnTo>
                    <a:pt x="1598469" y="37036"/>
                  </a:lnTo>
                  <a:lnTo>
                    <a:pt x="1566820" y="15698"/>
                  </a:lnTo>
                  <a:lnTo>
                    <a:pt x="1528064" y="7874"/>
                  </a:lnTo>
                  <a:close/>
                </a:path>
                <a:path w="2284095" h="605789">
                  <a:moveTo>
                    <a:pt x="2283968" y="0"/>
                  </a:moveTo>
                  <a:lnTo>
                    <a:pt x="1627632" y="107441"/>
                  </a:lnTo>
                  <a:lnTo>
                    <a:pt x="2009358" y="107441"/>
                  </a:lnTo>
                  <a:lnTo>
                    <a:pt x="2283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931FB454-853F-81C9-BD78-CB97111C38FE}"/>
                </a:ext>
              </a:extLst>
            </p:cNvPr>
            <p:cNvSpPr/>
            <p:nvPr/>
          </p:nvSpPr>
          <p:spPr>
            <a:xfrm>
              <a:off x="1037844" y="3062985"/>
              <a:ext cx="2284095" cy="605790"/>
            </a:xfrm>
            <a:custGeom>
              <a:avLst/>
              <a:gdLst/>
              <a:ahLst/>
              <a:cxnLst/>
              <a:rect l="l" t="t" r="r" b="b"/>
              <a:pathLst>
                <a:path w="2284095" h="605789">
                  <a:moveTo>
                    <a:pt x="0" y="107441"/>
                  </a:moveTo>
                  <a:lnTo>
                    <a:pt x="7824" y="68685"/>
                  </a:lnTo>
                  <a:lnTo>
                    <a:pt x="29162" y="37036"/>
                  </a:lnTo>
                  <a:lnTo>
                    <a:pt x="60811" y="15698"/>
                  </a:lnTo>
                  <a:lnTo>
                    <a:pt x="99568" y="7874"/>
                  </a:lnTo>
                  <a:lnTo>
                    <a:pt x="949451" y="7874"/>
                  </a:lnTo>
                  <a:lnTo>
                    <a:pt x="1356360" y="7874"/>
                  </a:lnTo>
                  <a:lnTo>
                    <a:pt x="1528064" y="7874"/>
                  </a:lnTo>
                  <a:lnTo>
                    <a:pt x="1566820" y="15698"/>
                  </a:lnTo>
                  <a:lnTo>
                    <a:pt x="1598469" y="37036"/>
                  </a:lnTo>
                  <a:lnTo>
                    <a:pt x="1619807" y="68685"/>
                  </a:lnTo>
                  <a:lnTo>
                    <a:pt x="1627632" y="107441"/>
                  </a:lnTo>
                  <a:lnTo>
                    <a:pt x="2283968" y="0"/>
                  </a:lnTo>
                  <a:lnTo>
                    <a:pt x="1627632" y="256793"/>
                  </a:lnTo>
                  <a:lnTo>
                    <a:pt x="1627632" y="505713"/>
                  </a:lnTo>
                  <a:lnTo>
                    <a:pt x="1619807" y="544470"/>
                  </a:lnTo>
                  <a:lnTo>
                    <a:pt x="1598469" y="576119"/>
                  </a:lnTo>
                  <a:lnTo>
                    <a:pt x="1566820" y="597457"/>
                  </a:lnTo>
                  <a:lnTo>
                    <a:pt x="1528064" y="605282"/>
                  </a:lnTo>
                  <a:lnTo>
                    <a:pt x="1356360" y="605282"/>
                  </a:lnTo>
                  <a:lnTo>
                    <a:pt x="949451" y="605282"/>
                  </a:lnTo>
                  <a:lnTo>
                    <a:pt x="99568" y="605282"/>
                  </a:lnTo>
                  <a:lnTo>
                    <a:pt x="60811" y="597457"/>
                  </a:lnTo>
                  <a:lnTo>
                    <a:pt x="29162" y="576119"/>
                  </a:lnTo>
                  <a:lnTo>
                    <a:pt x="7824" y="544470"/>
                  </a:lnTo>
                  <a:lnTo>
                    <a:pt x="0" y="505713"/>
                  </a:lnTo>
                  <a:lnTo>
                    <a:pt x="0" y="256793"/>
                  </a:lnTo>
                  <a:lnTo>
                    <a:pt x="0" y="107441"/>
                  </a:lnTo>
                  <a:close/>
                </a:path>
              </a:pathLst>
            </a:custGeom>
            <a:ln w="15875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55068DF8-1F7D-BF6C-2714-32775C371215}"/>
              </a:ext>
            </a:extLst>
          </p:cNvPr>
          <p:cNvSpPr txBox="1"/>
          <p:nvPr/>
        </p:nvSpPr>
        <p:spPr>
          <a:xfrm>
            <a:off x="1236370" y="3037458"/>
            <a:ext cx="122872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Speculation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45DCB418-EE37-7904-1ED4-08DD51051C2C}"/>
              </a:ext>
            </a:extLst>
          </p:cNvPr>
          <p:cNvGraphicFramePr>
            <a:graphicFrameLocks noGrp="1"/>
          </p:cNvGraphicFramePr>
          <p:nvPr/>
        </p:nvGraphicFramePr>
        <p:xfrm>
          <a:off x="7954518" y="2450973"/>
          <a:ext cx="3834129" cy="267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94945" marR="1816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covert channel?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38430" indent="-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operand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secret?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protection?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982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4FF5-39A0-9ACA-16AF-9E5AC3A0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STT in action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2CB9D-E069-5719-C332-2DFCCB4EEB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C19A121-74FD-0880-6ED3-996671BF1192}"/>
              </a:ext>
            </a:extLst>
          </p:cNvPr>
          <p:cNvSpPr txBox="1"/>
          <p:nvPr/>
        </p:nvSpPr>
        <p:spPr>
          <a:xfrm>
            <a:off x="3700398" y="2896869"/>
            <a:ext cx="16211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if</a:t>
            </a:r>
            <a:r>
              <a:rPr sz="1400" b="1" spc="-20" dirty="0">
                <a:solidFill>
                  <a:srgbClr val="FFC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(addr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&lt;</a:t>
            </a:r>
            <a:r>
              <a:rPr sz="1400" b="1" spc="-2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N)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6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5944988-C375-44A2-D0F4-92011261DF08}"/>
              </a:ext>
            </a:extLst>
          </p:cNvPr>
          <p:cNvSpPr txBox="1"/>
          <p:nvPr/>
        </p:nvSpPr>
        <p:spPr>
          <a:xfrm>
            <a:off x="4157853" y="3323589"/>
            <a:ext cx="247713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access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instruction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[addr];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141F236-08AA-5E79-9233-E04DB58C8B03}"/>
              </a:ext>
            </a:extLst>
          </p:cNvPr>
          <p:cNvSpPr txBox="1"/>
          <p:nvPr/>
        </p:nvSpPr>
        <p:spPr>
          <a:xfrm>
            <a:off x="3700398" y="3964051"/>
            <a:ext cx="3357245" cy="1945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32131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simple</a:t>
            </a:r>
            <a:r>
              <a:rPr sz="1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arithmetic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+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25" dirty="0">
                <a:latin typeface="Courier New"/>
                <a:cs typeface="Courier New"/>
              </a:rPr>
              <a:t>4;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cache/mem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ourier New"/>
                <a:cs typeface="Courier New"/>
              </a:rPr>
              <a:t>covert</a:t>
            </a:r>
            <a:r>
              <a:rPr sz="1400" b="1" spc="-5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7E7E7E"/>
                </a:solidFill>
                <a:latin typeface="Courier New"/>
                <a:cs typeface="Courier New"/>
              </a:rPr>
              <a:t>channel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load</a:t>
            </a:r>
            <a:r>
              <a:rPr sz="1400" b="1" spc="-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[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spec_val</a:t>
            </a:r>
            <a:r>
              <a:rPr sz="1400" b="1" spc="-10" dirty="0">
                <a:latin typeface="Courier New"/>
                <a:cs typeface="Courier New"/>
              </a:rPr>
              <a:t>];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25" dirty="0">
                <a:latin typeface="Courier New"/>
                <a:cs typeface="Courier New"/>
              </a:rPr>
              <a:t>……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A3DF2D3-8DFC-18D8-1EF1-F31D8A25BE41}"/>
              </a:ext>
            </a:extLst>
          </p:cNvPr>
          <p:cNvSpPr/>
          <p:nvPr/>
        </p:nvSpPr>
        <p:spPr>
          <a:xfrm>
            <a:off x="4085844" y="4564379"/>
            <a:ext cx="3081655" cy="619125"/>
          </a:xfrm>
          <a:custGeom>
            <a:avLst/>
            <a:gdLst/>
            <a:ahLst/>
            <a:cxnLst/>
            <a:rect l="l" t="t" r="r" b="b"/>
            <a:pathLst>
              <a:path w="3081654" h="619125">
                <a:moveTo>
                  <a:pt x="0" y="103124"/>
                </a:moveTo>
                <a:lnTo>
                  <a:pt x="8112" y="63007"/>
                </a:lnTo>
                <a:lnTo>
                  <a:pt x="30225" y="30226"/>
                </a:lnTo>
                <a:lnTo>
                  <a:pt x="63007" y="8112"/>
                </a:lnTo>
                <a:lnTo>
                  <a:pt x="103123" y="0"/>
                </a:lnTo>
                <a:lnTo>
                  <a:pt x="2978404" y="0"/>
                </a:lnTo>
                <a:lnTo>
                  <a:pt x="3018520" y="8112"/>
                </a:lnTo>
                <a:lnTo>
                  <a:pt x="3051302" y="30226"/>
                </a:lnTo>
                <a:lnTo>
                  <a:pt x="3073415" y="63007"/>
                </a:lnTo>
                <a:lnTo>
                  <a:pt x="3081528" y="103124"/>
                </a:lnTo>
                <a:lnTo>
                  <a:pt x="3081528" y="515620"/>
                </a:lnTo>
                <a:lnTo>
                  <a:pt x="3073415" y="555736"/>
                </a:lnTo>
                <a:lnTo>
                  <a:pt x="3051302" y="588518"/>
                </a:lnTo>
                <a:lnTo>
                  <a:pt x="3018520" y="610631"/>
                </a:lnTo>
                <a:lnTo>
                  <a:pt x="2978404" y="618744"/>
                </a:lnTo>
                <a:lnTo>
                  <a:pt x="103123" y="618744"/>
                </a:lnTo>
                <a:lnTo>
                  <a:pt x="63007" y="610631"/>
                </a:lnTo>
                <a:lnTo>
                  <a:pt x="30225" y="588518"/>
                </a:lnTo>
                <a:lnTo>
                  <a:pt x="8112" y="555736"/>
                </a:lnTo>
                <a:lnTo>
                  <a:pt x="0" y="515620"/>
                </a:lnTo>
                <a:lnTo>
                  <a:pt x="0" y="103124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20D364CB-65B7-5C8E-B76F-C76CF7A904BC}"/>
              </a:ext>
            </a:extLst>
          </p:cNvPr>
          <p:cNvGrpSpPr/>
          <p:nvPr/>
        </p:nvGrpSpPr>
        <p:grpSpPr>
          <a:xfrm>
            <a:off x="1029906" y="2968751"/>
            <a:ext cx="2447925" cy="2580005"/>
            <a:chOff x="1029906" y="2968751"/>
            <a:chExt cx="2447925" cy="2580005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A4BE1849-8B3E-9D00-C97F-543A96040FD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0983" y="2968751"/>
              <a:ext cx="176783" cy="176784"/>
            </a:xfrm>
            <a:prstGeom prst="rect">
              <a:avLst/>
            </a:prstGeom>
          </p:spPr>
        </p:pic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E183D28E-945D-5722-0E7B-998583EB8E4D}"/>
                </a:ext>
              </a:extLst>
            </p:cNvPr>
            <p:cNvSpPr/>
            <p:nvPr/>
          </p:nvSpPr>
          <p:spPr>
            <a:xfrm>
              <a:off x="3335972" y="3145535"/>
              <a:ext cx="95250" cy="2403475"/>
            </a:xfrm>
            <a:custGeom>
              <a:avLst/>
              <a:gdLst/>
              <a:ahLst/>
              <a:cxnLst/>
              <a:rect l="l" t="t" r="r" b="b"/>
              <a:pathLst>
                <a:path w="95250" h="2403475">
                  <a:moveTo>
                    <a:pt x="31594" y="2307844"/>
                  </a:moveTo>
                  <a:lnTo>
                    <a:pt x="0" y="2307844"/>
                  </a:lnTo>
                  <a:lnTo>
                    <a:pt x="47307" y="2402966"/>
                  </a:lnTo>
                  <a:lnTo>
                    <a:pt x="87196" y="2323719"/>
                  </a:lnTo>
                  <a:lnTo>
                    <a:pt x="63309" y="2323719"/>
                  </a:lnTo>
                  <a:lnTo>
                    <a:pt x="31559" y="2323591"/>
                  </a:lnTo>
                  <a:lnTo>
                    <a:pt x="31594" y="2307844"/>
                  </a:lnTo>
                  <a:close/>
                </a:path>
                <a:path w="95250" h="2403475">
                  <a:moveTo>
                    <a:pt x="68389" y="0"/>
                  </a:moveTo>
                  <a:lnTo>
                    <a:pt x="36639" y="0"/>
                  </a:lnTo>
                  <a:lnTo>
                    <a:pt x="31594" y="2307844"/>
                  </a:lnTo>
                  <a:lnTo>
                    <a:pt x="31559" y="2323591"/>
                  </a:lnTo>
                  <a:lnTo>
                    <a:pt x="63309" y="2323719"/>
                  </a:lnTo>
                  <a:lnTo>
                    <a:pt x="68389" y="0"/>
                  </a:lnTo>
                  <a:close/>
                </a:path>
                <a:path w="95250" h="2403475">
                  <a:moveTo>
                    <a:pt x="95186" y="2307844"/>
                  </a:moveTo>
                  <a:lnTo>
                    <a:pt x="63344" y="2307844"/>
                  </a:lnTo>
                  <a:lnTo>
                    <a:pt x="63309" y="2323719"/>
                  </a:lnTo>
                  <a:lnTo>
                    <a:pt x="87196" y="2323719"/>
                  </a:lnTo>
                  <a:lnTo>
                    <a:pt x="95186" y="2307844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AD4E4FE5-5D5D-B019-1E4E-39F2998E9E24}"/>
                </a:ext>
              </a:extLst>
            </p:cNvPr>
            <p:cNvSpPr/>
            <p:nvPr/>
          </p:nvSpPr>
          <p:spPr>
            <a:xfrm>
              <a:off x="1037844" y="3062985"/>
              <a:ext cx="2284095" cy="605790"/>
            </a:xfrm>
            <a:custGeom>
              <a:avLst/>
              <a:gdLst/>
              <a:ahLst/>
              <a:cxnLst/>
              <a:rect l="l" t="t" r="r" b="b"/>
              <a:pathLst>
                <a:path w="2284095" h="605789">
                  <a:moveTo>
                    <a:pt x="1528064" y="7874"/>
                  </a:moveTo>
                  <a:lnTo>
                    <a:pt x="99568" y="7874"/>
                  </a:lnTo>
                  <a:lnTo>
                    <a:pt x="60811" y="15698"/>
                  </a:lnTo>
                  <a:lnTo>
                    <a:pt x="29162" y="37036"/>
                  </a:lnTo>
                  <a:lnTo>
                    <a:pt x="7824" y="68685"/>
                  </a:lnTo>
                  <a:lnTo>
                    <a:pt x="0" y="107441"/>
                  </a:lnTo>
                  <a:lnTo>
                    <a:pt x="0" y="505713"/>
                  </a:lnTo>
                  <a:lnTo>
                    <a:pt x="7824" y="544470"/>
                  </a:lnTo>
                  <a:lnTo>
                    <a:pt x="29162" y="576119"/>
                  </a:lnTo>
                  <a:lnTo>
                    <a:pt x="60811" y="597457"/>
                  </a:lnTo>
                  <a:lnTo>
                    <a:pt x="99568" y="605282"/>
                  </a:lnTo>
                  <a:lnTo>
                    <a:pt x="1528064" y="605282"/>
                  </a:lnTo>
                  <a:lnTo>
                    <a:pt x="1566820" y="597457"/>
                  </a:lnTo>
                  <a:lnTo>
                    <a:pt x="1598469" y="576119"/>
                  </a:lnTo>
                  <a:lnTo>
                    <a:pt x="1619807" y="544470"/>
                  </a:lnTo>
                  <a:lnTo>
                    <a:pt x="1627632" y="505713"/>
                  </a:lnTo>
                  <a:lnTo>
                    <a:pt x="1627632" y="256793"/>
                  </a:lnTo>
                  <a:lnTo>
                    <a:pt x="2009358" y="107441"/>
                  </a:lnTo>
                  <a:lnTo>
                    <a:pt x="1627632" y="107441"/>
                  </a:lnTo>
                  <a:lnTo>
                    <a:pt x="1619807" y="68685"/>
                  </a:lnTo>
                  <a:lnTo>
                    <a:pt x="1598469" y="37036"/>
                  </a:lnTo>
                  <a:lnTo>
                    <a:pt x="1566820" y="15698"/>
                  </a:lnTo>
                  <a:lnTo>
                    <a:pt x="1528064" y="7874"/>
                  </a:lnTo>
                  <a:close/>
                </a:path>
                <a:path w="2284095" h="605789">
                  <a:moveTo>
                    <a:pt x="2283968" y="0"/>
                  </a:moveTo>
                  <a:lnTo>
                    <a:pt x="1627632" y="107441"/>
                  </a:lnTo>
                  <a:lnTo>
                    <a:pt x="2009358" y="107441"/>
                  </a:lnTo>
                  <a:lnTo>
                    <a:pt x="2283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4B3D5EF0-C5D2-B8A1-E40C-BF9CBB151BA1}"/>
                </a:ext>
              </a:extLst>
            </p:cNvPr>
            <p:cNvSpPr/>
            <p:nvPr/>
          </p:nvSpPr>
          <p:spPr>
            <a:xfrm>
              <a:off x="1037844" y="3062985"/>
              <a:ext cx="2284095" cy="605790"/>
            </a:xfrm>
            <a:custGeom>
              <a:avLst/>
              <a:gdLst/>
              <a:ahLst/>
              <a:cxnLst/>
              <a:rect l="l" t="t" r="r" b="b"/>
              <a:pathLst>
                <a:path w="2284095" h="605789">
                  <a:moveTo>
                    <a:pt x="0" y="107441"/>
                  </a:moveTo>
                  <a:lnTo>
                    <a:pt x="7824" y="68685"/>
                  </a:lnTo>
                  <a:lnTo>
                    <a:pt x="29162" y="37036"/>
                  </a:lnTo>
                  <a:lnTo>
                    <a:pt x="60811" y="15698"/>
                  </a:lnTo>
                  <a:lnTo>
                    <a:pt x="99568" y="7874"/>
                  </a:lnTo>
                  <a:lnTo>
                    <a:pt x="949451" y="7874"/>
                  </a:lnTo>
                  <a:lnTo>
                    <a:pt x="1356360" y="7874"/>
                  </a:lnTo>
                  <a:lnTo>
                    <a:pt x="1528064" y="7874"/>
                  </a:lnTo>
                  <a:lnTo>
                    <a:pt x="1566820" y="15698"/>
                  </a:lnTo>
                  <a:lnTo>
                    <a:pt x="1598469" y="37036"/>
                  </a:lnTo>
                  <a:lnTo>
                    <a:pt x="1619807" y="68685"/>
                  </a:lnTo>
                  <a:lnTo>
                    <a:pt x="1627632" y="107441"/>
                  </a:lnTo>
                  <a:lnTo>
                    <a:pt x="2283968" y="0"/>
                  </a:lnTo>
                  <a:lnTo>
                    <a:pt x="1627632" y="256793"/>
                  </a:lnTo>
                  <a:lnTo>
                    <a:pt x="1627632" y="505713"/>
                  </a:lnTo>
                  <a:lnTo>
                    <a:pt x="1619807" y="544470"/>
                  </a:lnTo>
                  <a:lnTo>
                    <a:pt x="1598469" y="576119"/>
                  </a:lnTo>
                  <a:lnTo>
                    <a:pt x="1566820" y="597457"/>
                  </a:lnTo>
                  <a:lnTo>
                    <a:pt x="1528064" y="605282"/>
                  </a:lnTo>
                  <a:lnTo>
                    <a:pt x="1356360" y="605282"/>
                  </a:lnTo>
                  <a:lnTo>
                    <a:pt x="949451" y="605282"/>
                  </a:lnTo>
                  <a:lnTo>
                    <a:pt x="99568" y="605282"/>
                  </a:lnTo>
                  <a:lnTo>
                    <a:pt x="60811" y="597457"/>
                  </a:lnTo>
                  <a:lnTo>
                    <a:pt x="29162" y="576119"/>
                  </a:lnTo>
                  <a:lnTo>
                    <a:pt x="7824" y="544470"/>
                  </a:lnTo>
                  <a:lnTo>
                    <a:pt x="0" y="505713"/>
                  </a:lnTo>
                  <a:lnTo>
                    <a:pt x="0" y="256793"/>
                  </a:lnTo>
                  <a:lnTo>
                    <a:pt x="0" y="107441"/>
                  </a:lnTo>
                  <a:close/>
                </a:path>
              </a:pathLst>
            </a:custGeom>
            <a:ln w="15875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C66A2051-CAAB-3190-45B8-69B1C71E6F1D}"/>
              </a:ext>
            </a:extLst>
          </p:cNvPr>
          <p:cNvSpPr txBox="1"/>
          <p:nvPr/>
        </p:nvSpPr>
        <p:spPr>
          <a:xfrm>
            <a:off x="1236370" y="3037458"/>
            <a:ext cx="122872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Speculation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starts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3681F315-F836-ABB4-B2A4-3C5D6124B728}"/>
              </a:ext>
            </a:extLst>
          </p:cNvPr>
          <p:cNvGraphicFramePr>
            <a:graphicFrameLocks noGrp="1"/>
          </p:cNvGraphicFramePr>
          <p:nvPr/>
        </p:nvGraphicFramePr>
        <p:xfrm>
          <a:off x="7954518" y="2450973"/>
          <a:ext cx="3834129" cy="267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94945" marR="1816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covert channel?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38430" indent="-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operand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secret?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protection?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D0D1CE4-1FAF-7778-6248-E3355850C8F0}"/>
              </a:ext>
            </a:extLst>
          </p:cNvPr>
          <p:cNvSpPr txBox="1"/>
          <p:nvPr/>
        </p:nvSpPr>
        <p:spPr>
          <a:xfrm>
            <a:off x="49827" y="6004165"/>
            <a:ext cx="11172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800" b="1" dirty="0">
                <a:latin typeface="Calibri"/>
                <a:cs typeface="Calibri"/>
              </a:rPr>
              <a:t>“Sufficient</a:t>
            </a:r>
            <a:r>
              <a:rPr lang="en-US" sz="1800" b="1" spc="-10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for</a:t>
            </a:r>
            <a:r>
              <a:rPr lang="en-US" sz="1800" b="1" spc="-6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security:</a:t>
            </a:r>
            <a:r>
              <a:rPr lang="en-US" sz="1800" b="1" spc="-90" dirty="0">
                <a:latin typeface="Calibri"/>
                <a:cs typeface="Calibri"/>
              </a:rPr>
              <a:t> </a:t>
            </a:r>
            <a:r>
              <a:rPr lang="en-US" sz="1800" b="1" spc="-10" dirty="0">
                <a:latin typeface="Calibri"/>
                <a:cs typeface="Calibri"/>
              </a:rPr>
              <a:t>prevent</a:t>
            </a:r>
            <a:r>
              <a:rPr lang="en-US" sz="1800" b="1" spc="-10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secrets</a:t>
            </a:r>
            <a:r>
              <a:rPr lang="en-US" sz="1800" b="1" spc="-10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from</a:t>
            </a:r>
            <a:r>
              <a:rPr lang="en-US" sz="1800" b="1" spc="-9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reaching</a:t>
            </a:r>
            <a:r>
              <a:rPr lang="en-US" sz="1800" b="1" spc="-9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covert</a:t>
            </a:r>
            <a:r>
              <a:rPr lang="en-US" sz="1800" b="1" spc="-80" dirty="0">
                <a:latin typeface="Calibri"/>
                <a:cs typeface="Calibri"/>
              </a:rPr>
              <a:t> </a:t>
            </a:r>
            <a:r>
              <a:rPr lang="en-US" sz="1800" b="1" spc="-10" dirty="0">
                <a:latin typeface="Calibri"/>
                <a:cs typeface="Calibri"/>
              </a:rPr>
              <a:t>channels” Delay transmitting the memory accesses </a:t>
            </a: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896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A335-F6E5-2F2A-C9B3-94837C12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safe as per STT?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B07AC-D829-70AB-E1C2-190E35668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branch resolutions, if resolved, even if it is transient, it will be guaranteed that it will commit. Then you can communicate the memory request to the memory hierarchy.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B4522-3A16-AE2A-6C82-56EB5DDEC9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121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17828</TotalTime>
  <Words>832</Words>
  <Application>Microsoft Office PowerPoint</Application>
  <PresentationFormat>Widescreen</PresentationFormat>
  <Paragraphs>220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Courier New</vt:lpstr>
      <vt:lpstr>Times New Roman</vt:lpstr>
      <vt:lpstr>Office Theme</vt:lpstr>
      <vt:lpstr>CS773-2025-Spring:  Computer Architecture for Performance and Security</vt:lpstr>
      <vt:lpstr>Phones on silence, please   Thank You </vt:lpstr>
      <vt:lpstr>Spectre Mitigations </vt:lpstr>
      <vt:lpstr>Classification of mitigation techniques</vt:lpstr>
      <vt:lpstr>GhostMinion Cache  [State-of-the-art, invisible speculation based ]</vt:lpstr>
      <vt:lpstr>Invisible Speculation and then redo accesses </vt:lpstr>
      <vt:lpstr>Rigid Definition of Safety in GhostMinion</vt:lpstr>
      <vt:lpstr>Block the covert channels! [Spec Taint Tracking, MICRO ’1, delay based approach]</vt:lpstr>
      <vt:lpstr>Speculative Execution in Action</vt:lpstr>
      <vt:lpstr>Speculative Execution in Action</vt:lpstr>
      <vt:lpstr>Speculative Execution in Action</vt:lpstr>
      <vt:lpstr>Speculative Execution in Action</vt:lpstr>
      <vt:lpstr>What we want in terms of security?</vt:lpstr>
      <vt:lpstr>STT in action</vt:lpstr>
      <vt:lpstr>STT in action</vt:lpstr>
      <vt:lpstr>STT in action</vt:lpstr>
      <vt:lpstr>How to find safe as per STT?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1065</cp:revision>
  <dcterms:created xsi:type="dcterms:W3CDTF">2021-05-31T06:57:48Z</dcterms:created>
  <dcterms:modified xsi:type="dcterms:W3CDTF">2025-02-21T07:36:51Z</dcterms:modified>
</cp:coreProperties>
</file>