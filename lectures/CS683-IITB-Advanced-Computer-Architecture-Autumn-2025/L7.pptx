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7713" r:id="rId3"/>
    <p:sldId id="7759" r:id="rId4"/>
    <p:sldId id="7760" r:id="rId5"/>
    <p:sldId id="7761" r:id="rId6"/>
    <p:sldId id="7762" r:id="rId7"/>
    <p:sldId id="7763" r:id="rId8"/>
    <p:sldId id="7764" r:id="rId9"/>
    <p:sldId id="7765" r:id="rId10"/>
    <p:sldId id="7904" r:id="rId11"/>
    <p:sldId id="7766" r:id="rId12"/>
    <p:sldId id="7768" r:id="rId13"/>
    <p:sldId id="7769" r:id="rId14"/>
    <p:sldId id="77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</a:t>
            </a:r>
            <a:r>
              <a:rPr lang="en-US"/>
              <a:t>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03544" cy="1655762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L7: Time to Shift the Gears </a:t>
            </a:r>
          </a:p>
          <a:p>
            <a:r>
              <a:rPr lang="en-US" sz="3600" dirty="0">
                <a:solidFill>
                  <a:srgbClr val="C00000"/>
                </a:solidFill>
              </a:rPr>
              <a:t>(Hardware Prefetching)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endParaRPr lang="en-US" sz="36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lectronic circuit board">
            <a:extLst>
              <a:ext uri="{FF2B5EF4-FFF2-40B4-BE49-F238E27FC236}">
                <a16:creationId xmlns:a16="http://schemas.microsoft.com/office/drawing/2014/main" id="{8D387A83-F038-115A-4069-9FD2E6CB91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573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878860-BC0A-5579-ABF0-ED55EBB21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Reducing Miss rate, Nah, Miss Latency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62886-ED3A-B029-A74B-CCDA1074C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Hardware Prefetching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ADE9F-98D4-8266-BD87-9FAC440E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CA6BD-3D8C-91C3-C5CC-266CEC6B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1934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A8C16-5129-6716-28AE-5311D008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Prefetching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55E0D-FDC8-05D0-431D-D460002D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DAC80-D56E-97C7-5EB5-5A754FA5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E510F880-38B6-2AE6-88D2-5F135AE17BDC}"/>
              </a:ext>
            </a:extLst>
          </p:cNvPr>
          <p:cNvGrpSpPr/>
          <p:nvPr/>
        </p:nvGrpSpPr>
        <p:grpSpPr>
          <a:xfrm>
            <a:off x="222250" y="1453642"/>
            <a:ext cx="10909300" cy="1252855"/>
            <a:chOff x="222250" y="1136650"/>
            <a:chExt cx="10909300" cy="1252855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5C4406EE-37DB-72AE-E99D-CC4F68C633F9}"/>
                </a:ext>
              </a:extLst>
            </p:cNvPr>
            <p:cNvSpPr/>
            <p:nvPr/>
          </p:nvSpPr>
          <p:spPr>
            <a:xfrm>
              <a:off x="228600" y="1143000"/>
              <a:ext cx="10896600" cy="1240155"/>
            </a:xfrm>
            <a:custGeom>
              <a:avLst/>
              <a:gdLst/>
              <a:ahLst/>
              <a:cxnLst/>
              <a:rect l="l" t="t" r="r" b="b"/>
              <a:pathLst>
                <a:path w="10896600" h="1240155">
                  <a:moveTo>
                    <a:pt x="10689971" y="0"/>
                  </a:moveTo>
                  <a:lnTo>
                    <a:pt x="206641" y="0"/>
                  </a:lnTo>
                  <a:lnTo>
                    <a:pt x="159261" y="5454"/>
                  </a:lnTo>
                  <a:lnTo>
                    <a:pt x="115767" y="20992"/>
                  </a:lnTo>
                  <a:lnTo>
                    <a:pt x="77399" y="45376"/>
                  </a:lnTo>
                  <a:lnTo>
                    <a:pt x="45397" y="77370"/>
                  </a:lnTo>
                  <a:lnTo>
                    <a:pt x="21003" y="115734"/>
                  </a:lnTo>
                  <a:lnTo>
                    <a:pt x="5457" y="159233"/>
                  </a:lnTo>
                  <a:lnTo>
                    <a:pt x="0" y="206628"/>
                  </a:lnTo>
                  <a:lnTo>
                    <a:pt x="0" y="1033145"/>
                  </a:lnTo>
                  <a:lnTo>
                    <a:pt x="5457" y="1080547"/>
                  </a:lnTo>
                  <a:lnTo>
                    <a:pt x="21003" y="1124064"/>
                  </a:lnTo>
                  <a:lnTo>
                    <a:pt x="45397" y="1162453"/>
                  </a:lnTo>
                  <a:lnTo>
                    <a:pt x="77399" y="1194474"/>
                  </a:lnTo>
                  <a:lnTo>
                    <a:pt x="115767" y="1218883"/>
                  </a:lnTo>
                  <a:lnTo>
                    <a:pt x="159261" y="1234439"/>
                  </a:lnTo>
                  <a:lnTo>
                    <a:pt x="206641" y="1239901"/>
                  </a:lnTo>
                  <a:lnTo>
                    <a:pt x="10689971" y="1239901"/>
                  </a:lnTo>
                  <a:lnTo>
                    <a:pt x="10737366" y="1234439"/>
                  </a:lnTo>
                  <a:lnTo>
                    <a:pt x="10780865" y="1218883"/>
                  </a:lnTo>
                  <a:lnTo>
                    <a:pt x="10819229" y="1194474"/>
                  </a:lnTo>
                  <a:lnTo>
                    <a:pt x="10851223" y="1162453"/>
                  </a:lnTo>
                  <a:lnTo>
                    <a:pt x="10875607" y="1124064"/>
                  </a:lnTo>
                  <a:lnTo>
                    <a:pt x="10891145" y="1080547"/>
                  </a:lnTo>
                  <a:lnTo>
                    <a:pt x="10896600" y="1033145"/>
                  </a:lnTo>
                  <a:lnTo>
                    <a:pt x="10896600" y="206628"/>
                  </a:lnTo>
                  <a:lnTo>
                    <a:pt x="10891145" y="159233"/>
                  </a:lnTo>
                  <a:lnTo>
                    <a:pt x="10875607" y="115734"/>
                  </a:lnTo>
                  <a:lnTo>
                    <a:pt x="10851223" y="77370"/>
                  </a:lnTo>
                  <a:lnTo>
                    <a:pt x="10819229" y="45376"/>
                  </a:lnTo>
                  <a:lnTo>
                    <a:pt x="10780865" y="20992"/>
                  </a:lnTo>
                  <a:lnTo>
                    <a:pt x="10737366" y="5454"/>
                  </a:lnTo>
                  <a:lnTo>
                    <a:pt x="1068997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B538BFF9-04D6-3265-83E7-E5E4F1C50015}"/>
                </a:ext>
              </a:extLst>
            </p:cNvPr>
            <p:cNvSpPr/>
            <p:nvPr/>
          </p:nvSpPr>
          <p:spPr>
            <a:xfrm>
              <a:off x="228600" y="1143000"/>
              <a:ext cx="10896600" cy="1240155"/>
            </a:xfrm>
            <a:custGeom>
              <a:avLst/>
              <a:gdLst/>
              <a:ahLst/>
              <a:cxnLst/>
              <a:rect l="l" t="t" r="r" b="b"/>
              <a:pathLst>
                <a:path w="10896600" h="1240155">
                  <a:moveTo>
                    <a:pt x="0" y="206628"/>
                  </a:moveTo>
                  <a:lnTo>
                    <a:pt x="5457" y="159233"/>
                  </a:lnTo>
                  <a:lnTo>
                    <a:pt x="21003" y="115734"/>
                  </a:lnTo>
                  <a:lnTo>
                    <a:pt x="45397" y="77370"/>
                  </a:lnTo>
                  <a:lnTo>
                    <a:pt x="77399" y="45376"/>
                  </a:lnTo>
                  <a:lnTo>
                    <a:pt x="115767" y="20992"/>
                  </a:lnTo>
                  <a:lnTo>
                    <a:pt x="159261" y="5454"/>
                  </a:lnTo>
                  <a:lnTo>
                    <a:pt x="206641" y="0"/>
                  </a:lnTo>
                  <a:lnTo>
                    <a:pt x="10689971" y="0"/>
                  </a:lnTo>
                  <a:lnTo>
                    <a:pt x="10737366" y="5454"/>
                  </a:lnTo>
                  <a:lnTo>
                    <a:pt x="10780865" y="20992"/>
                  </a:lnTo>
                  <a:lnTo>
                    <a:pt x="10819229" y="45376"/>
                  </a:lnTo>
                  <a:lnTo>
                    <a:pt x="10851223" y="77370"/>
                  </a:lnTo>
                  <a:lnTo>
                    <a:pt x="10875607" y="115734"/>
                  </a:lnTo>
                  <a:lnTo>
                    <a:pt x="10891145" y="159233"/>
                  </a:lnTo>
                  <a:lnTo>
                    <a:pt x="10896600" y="206628"/>
                  </a:lnTo>
                  <a:lnTo>
                    <a:pt x="10896600" y="1033145"/>
                  </a:lnTo>
                  <a:lnTo>
                    <a:pt x="10891145" y="1080547"/>
                  </a:lnTo>
                  <a:lnTo>
                    <a:pt x="10875607" y="1124064"/>
                  </a:lnTo>
                  <a:lnTo>
                    <a:pt x="10851223" y="1162453"/>
                  </a:lnTo>
                  <a:lnTo>
                    <a:pt x="10819229" y="1194474"/>
                  </a:lnTo>
                  <a:lnTo>
                    <a:pt x="10780865" y="1218883"/>
                  </a:lnTo>
                  <a:lnTo>
                    <a:pt x="10737366" y="1234439"/>
                  </a:lnTo>
                  <a:lnTo>
                    <a:pt x="10689971" y="1239901"/>
                  </a:lnTo>
                  <a:lnTo>
                    <a:pt x="206641" y="1239901"/>
                  </a:lnTo>
                  <a:lnTo>
                    <a:pt x="159261" y="1234439"/>
                  </a:lnTo>
                  <a:lnTo>
                    <a:pt x="115767" y="1218883"/>
                  </a:lnTo>
                  <a:lnTo>
                    <a:pt x="77399" y="1194474"/>
                  </a:lnTo>
                  <a:lnTo>
                    <a:pt x="45397" y="1162453"/>
                  </a:lnTo>
                  <a:lnTo>
                    <a:pt x="21003" y="1124064"/>
                  </a:lnTo>
                  <a:lnTo>
                    <a:pt x="5457" y="1080547"/>
                  </a:lnTo>
                  <a:lnTo>
                    <a:pt x="0" y="1033145"/>
                  </a:lnTo>
                  <a:lnTo>
                    <a:pt x="0" y="2066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6">
            <a:extLst>
              <a:ext uri="{FF2B5EF4-FFF2-40B4-BE49-F238E27FC236}">
                <a16:creationId xmlns:a16="http://schemas.microsoft.com/office/drawing/2014/main" id="{540BB1B7-19C9-E9BE-38C8-C49D50F2BBF5}"/>
              </a:ext>
            </a:extLst>
          </p:cNvPr>
          <p:cNvGrpSpPr/>
          <p:nvPr/>
        </p:nvGrpSpPr>
        <p:grpSpPr>
          <a:xfrm>
            <a:off x="222250" y="2880740"/>
            <a:ext cx="10680700" cy="1252855"/>
            <a:chOff x="222250" y="2563748"/>
            <a:chExt cx="10680700" cy="125285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3973757-B8FD-320D-B9FE-1D06A2A92D00}"/>
                </a:ext>
              </a:extLst>
            </p:cNvPr>
            <p:cNvSpPr/>
            <p:nvPr/>
          </p:nvSpPr>
          <p:spPr>
            <a:xfrm>
              <a:off x="228600" y="2570098"/>
              <a:ext cx="10668000" cy="1240155"/>
            </a:xfrm>
            <a:custGeom>
              <a:avLst/>
              <a:gdLst/>
              <a:ahLst/>
              <a:cxnLst/>
              <a:rect l="l" t="t" r="r" b="b"/>
              <a:pathLst>
                <a:path w="10668000" h="1240154">
                  <a:moveTo>
                    <a:pt x="10461371" y="0"/>
                  </a:moveTo>
                  <a:lnTo>
                    <a:pt x="206641" y="0"/>
                  </a:lnTo>
                  <a:lnTo>
                    <a:pt x="159261" y="5461"/>
                  </a:lnTo>
                  <a:lnTo>
                    <a:pt x="115767" y="21017"/>
                  </a:lnTo>
                  <a:lnTo>
                    <a:pt x="77399" y="45426"/>
                  </a:lnTo>
                  <a:lnTo>
                    <a:pt x="45397" y="77447"/>
                  </a:lnTo>
                  <a:lnTo>
                    <a:pt x="21003" y="115836"/>
                  </a:lnTo>
                  <a:lnTo>
                    <a:pt x="5457" y="159353"/>
                  </a:lnTo>
                  <a:lnTo>
                    <a:pt x="0" y="206755"/>
                  </a:lnTo>
                  <a:lnTo>
                    <a:pt x="0" y="1033272"/>
                  </a:lnTo>
                  <a:lnTo>
                    <a:pt x="5457" y="1080667"/>
                  </a:lnTo>
                  <a:lnTo>
                    <a:pt x="21003" y="1124166"/>
                  </a:lnTo>
                  <a:lnTo>
                    <a:pt x="45397" y="1162530"/>
                  </a:lnTo>
                  <a:lnTo>
                    <a:pt x="77399" y="1194524"/>
                  </a:lnTo>
                  <a:lnTo>
                    <a:pt x="115767" y="1218908"/>
                  </a:lnTo>
                  <a:lnTo>
                    <a:pt x="159261" y="1234446"/>
                  </a:lnTo>
                  <a:lnTo>
                    <a:pt x="206641" y="1239901"/>
                  </a:lnTo>
                  <a:lnTo>
                    <a:pt x="10461371" y="1239901"/>
                  </a:lnTo>
                  <a:lnTo>
                    <a:pt x="10508766" y="1234446"/>
                  </a:lnTo>
                  <a:lnTo>
                    <a:pt x="10552265" y="1218908"/>
                  </a:lnTo>
                  <a:lnTo>
                    <a:pt x="10590629" y="1194524"/>
                  </a:lnTo>
                  <a:lnTo>
                    <a:pt x="10622623" y="1162530"/>
                  </a:lnTo>
                  <a:lnTo>
                    <a:pt x="10647007" y="1124166"/>
                  </a:lnTo>
                  <a:lnTo>
                    <a:pt x="10662545" y="1080667"/>
                  </a:lnTo>
                  <a:lnTo>
                    <a:pt x="10668000" y="1033272"/>
                  </a:lnTo>
                  <a:lnTo>
                    <a:pt x="10668000" y="206755"/>
                  </a:lnTo>
                  <a:lnTo>
                    <a:pt x="10662545" y="159353"/>
                  </a:lnTo>
                  <a:lnTo>
                    <a:pt x="10647007" y="115836"/>
                  </a:lnTo>
                  <a:lnTo>
                    <a:pt x="10622623" y="77447"/>
                  </a:lnTo>
                  <a:lnTo>
                    <a:pt x="10590629" y="45426"/>
                  </a:lnTo>
                  <a:lnTo>
                    <a:pt x="10552265" y="21017"/>
                  </a:lnTo>
                  <a:lnTo>
                    <a:pt x="10508766" y="5461"/>
                  </a:lnTo>
                  <a:lnTo>
                    <a:pt x="1046137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DD8CB618-1819-EE4D-A92F-8D3DFDC2C5F1}"/>
                </a:ext>
              </a:extLst>
            </p:cNvPr>
            <p:cNvSpPr/>
            <p:nvPr/>
          </p:nvSpPr>
          <p:spPr>
            <a:xfrm>
              <a:off x="228600" y="2570098"/>
              <a:ext cx="10668000" cy="1240155"/>
            </a:xfrm>
            <a:custGeom>
              <a:avLst/>
              <a:gdLst/>
              <a:ahLst/>
              <a:cxnLst/>
              <a:rect l="l" t="t" r="r" b="b"/>
              <a:pathLst>
                <a:path w="10668000" h="1240154">
                  <a:moveTo>
                    <a:pt x="0" y="206755"/>
                  </a:moveTo>
                  <a:lnTo>
                    <a:pt x="5457" y="159353"/>
                  </a:lnTo>
                  <a:lnTo>
                    <a:pt x="21003" y="115836"/>
                  </a:lnTo>
                  <a:lnTo>
                    <a:pt x="45397" y="77447"/>
                  </a:lnTo>
                  <a:lnTo>
                    <a:pt x="77399" y="45426"/>
                  </a:lnTo>
                  <a:lnTo>
                    <a:pt x="115767" y="21017"/>
                  </a:lnTo>
                  <a:lnTo>
                    <a:pt x="159261" y="5461"/>
                  </a:lnTo>
                  <a:lnTo>
                    <a:pt x="206641" y="0"/>
                  </a:lnTo>
                  <a:lnTo>
                    <a:pt x="10461371" y="0"/>
                  </a:lnTo>
                  <a:lnTo>
                    <a:pt x="10508766" y="5461"/>
                  </a:lnTo>
                  <a:lnTo>
                    <a:pt x="10552265" y="21017"/>
                  </a:lnTo>
                  <a:lnTo>
                    <a:pt x="10590629" y="45426"/>
                  </a:lnTo>
                  <a:lnTo>
                    <a:pt x="10622623" y="77447"/>
                  </a:lnTo>
                  <a:lnTo>
                    <a:pt x="10647007" y="115836"/>
                  </a:lnTo>
                  <a:lnTo>
                    <a:pt x="10662545" y="159353"/>
                  </a:lnTo>
                  <a:lnTo>
                    <a:pt x="10668000" y="206755"/>
                  </a:lnTo>
                  <a:lnTo>
                    <a:pt x="10668000" y="1033272"/>
                  </a:lnTo>
                  <a:lnTo>
                    <a:pt x="10662545" y="1080667"/>
                  </a:lnTo>
                  <a:lnTo>
                    <a:pt x="10647007" y="1124166"/>
                  </a:lnTo>
                  <a:lnTo>
                    <a:pt x="10622623" y="1162530"/>
                  </a:lnTo>
                  <a:lnTo>
                    <a:pt x="10590629" y="1194524"/>
                  </a:lnTo>
                  <a:lnTo>
                    <a:pt x="10552265" y="1218908"/>
                  </a:lnTo>
                  <a:lnTo>
                    <a:pt x="10508766" y="1234446"/>
                  </a:lnTo>
                  <a:lnTo>
                    <a:pt x="10461371" y="1239901"/>
                  </a:lnTo>
                  <a:lnTo>
                    <a:pt x="206641" y="1239901"/>
                  </a:lnTo>
                  <a:lnTo>
                    <a:pt x="159261" y="1234446"/>
                  </a:lnTo>
                  <a:lnTo>
                    <a:pt x="115767" y="1218908"/>
                  </a:lnTo>
                  <a:lnTo>
                    <a:pt x="77399" y="1194524"/>
                  </a:lnTo>
                  <a:lnTo>
                    <a:pt x="45397" y="1162530"/>
                  </a:lnTo>
                  <a:lnTo>
                    <a:pt x="21003" y="1124166"/>
                  </a:lnTo>
                  <a:lnTo>
                    <a:pt x="5457" y="1080667"/>
                  </a:lnTo>
                  <a:lnTo>
                    <a:pt x="0" y="1033272"/>
                  </a:lnTo>
                  <a:lnTo>
                    <a:pt x="0" y="20675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9">
            <a:extLst>
              <a:ext uri="{FF2B5EF4-FFF2-40B4-BE49-F238E27FC236}">
                <a16:creationId xmlns:a16="http://schemas.microsoft.com/office/drawing/2014/main" id="{E52F6B1B-1EA4-80C9-D4BB-BABA696A2BA2}"/>
              </a:ext>
            </a:extLst>
          </p:cNvPr>
          <p:cNvGrpSpPr/>
          <p:nvPr/>
        </p:nvGrpSpPr>
        <p:grpSpPr>
          <a:xfrm>
            <a:off x="222250" y="4785740"/>
            <a:ext cx="11671300" cy="1252855"/>
            <a:chOff x="222250" y="4468748"/>
            <a:chExt cx="11671300" cy="1252855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9FE4E965-04D9-FC23-7C33-02070EB2F9D6}"/>
                </a:ext>
              </a:extLst>
            </p:cNvPr>
            <p:cNvSpPr/>
            <p:nvPr/>
          </p:nvSpPr>
          <p:spPr>
            <a:xfrm>
              <a:off x="228600" y="4475098"/>
              <a:ext cx="11658600" cy="1240155"/>
            </a:xfrm>
            <a:custGeom>
              <a:avLst/>
              <a:gdLst/>
              <a:ahLst/>
              <a:cxnLst/>
              <a:rect l="l" t="t" r="r" b="b"/>
              <a:pathLst>
                <a:path w="11658600" h="1240154">
                  <a:moveTo>
                    <a:pt x="11451971" y="0"/>
                  </a:moveTo>
                  <a:lnTo>
                    <a:pt x="206641" y="0"/>
                  </a:lnTo>
                  <a:lnTo>
                    <a:pt x="159261" y="5461"/>
                  </a:lnTo>
                  <a:lnTo>
                    <a:pt x="115767" y="21017"/>
                  </a:lnTo>
                  <a:lnTo>
                    <a:pt x="77399" y="45426"/>
                  </a:lnTo>
                  <a:lnTo>
                    <a:pt x="45397" y="77447"/>
                  </a:lnTo>
                  <a:lnTo>
                    <a:pt x="21003" y="115836"/>
                  </a:lnTo>
                  <a:lnTo>
                    <a:pt x="5457" y="159353"/>
                  </a:lnTo>
                  <a:lnTo>
                    <a:pt x="0" y="206756"/>
                  </a:lnTo>
                  <a:lnTo>
                    <a:pt x="0" y="1033272"/>
                  </a:lnTo>
                  <a:lnTo>
                    <a:pt x="5457" y="1080647"/>
                  </a:lnTo>
                  <a:lnTo>
                    <a:pt x="21003" y="1124138"/>
                  </a:lnTo>
                  <a:lnTo>
                    <a:pt x="45397" y="1162504"/>
                  </a:lnTo>
                  <a:lnTo>
                    <a:pt x="77399" y="1194504"/>
                  </a:lnTo>
                  <a:lnTo>
                    <a:pt x="115767" y="1218897"/>
                  </a:lnTo>
                  <a:lnTo>
                    <a:pt x="159261" y="1234443"/>
                  </a:lnTo>
                  <a:lnTo>
                    <a:pt x="206641" y="1239901"/>
                  </a:lnTo>
                  <a:lnTo>
                    <a:pt x="11451971" y="1239901"/>
                  </a:lnTo>
                  <a:lnTo>
                    <a:pt x="11499366" y="1234443"/>
                  </a:lnTo>
                  <a:lnTo>
                    <a:pt x="11542865" y="1218897"/>
                  </a:lnTo>
                  <a:lnTo>
                    <a:pt x="11581229" y="1194504"/>
                  </a:lnTo>
                  <a:lnTo>
                    <a:pt x="11613223" y="1162504"/>
                  </a:lnTo>
                  <a:lnTo>
                    <a:pt x="11637607" y="1124138"/>
                  </a:lnTo>
                  <a:lnTo>
                    <a:pt x="11653145" y="1080647"/>
                  </a:lnTo>
                  <a:lnTo>
                    <a:pt x="11658600" y="1033272"/>
                  </a:lnTo>
                  <a:lnTo>
                    <a:pt x="11658600" y="206756"/>
                  </a:lnTo>
                  <a:lnTo>
                    <a:pt x="11653145" y="159353"/>
                  </a:lnTo>
                  <a:lnTo>
                    <a:pt x="11637607" y="115836"/>
                  </a:lnTo>
                  <a:lnTo>
                    <a:pt x="11613223" y="77447"/>
                  </a:lnTo>
                  <a:lnTo>
                    <a:pt x="11581229" y="45426"/>
                  </a:lnTo>
                  <a:lnTo>
                    <a:pt x="11542865" y="21017"/>
                  </a:lnTo>
                  <a:lnTo>
                    <a:pt x="11499366" y="5461"/>
                  </a:lnTo>
                  <a:lnTo>
                    <a:pt x="1145197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7B5F93DB-2DA5-4A0B-A4EB-F1C2CF382109}"/>
                </a:ext>
              </a:extLst>
            </p:cNvPr>
            <p:cNvSpPr/>
            <p:nvPr/>
          </p:nvSpPr>
          <p:spPr>
            <a:xfrm>
              <a:off x="228600" y="4475098"/>
              <a:ext cx="11658600" cy="1240155"/>
            </a:xfrm>
            <a:custGeom>
              <a:avLst/>
              <a:gdLst/>
              <a:ahLst/>
              <a:cxnLst/>
              <a:rect l="l" t="t" r="r" b="b"/>
              <a:pathLst>
                <a:path w="11658600" h="1240154">
                  <a:moveTo>
                    <a:pt x="0" y="206756"/>
                  </a:moveTo>
                  <a:lnTo>
                    <a:pt x="5457" y="159353"/>
                  </a:lnTo>
                  <a:lnTo>
                    <a:pt x="21003" y="115836"/>
                  </a:lnTo>
                  <a:lnTo>
                    <a:pt x="45397" y="77447"/>
                  </a:lnTo>
                  <a:lnTo>
                    <a:pt x="77399" y="45426"/>
                  </a:lnTo>
                  <a:lnTo>
                    <a:pt x="115767" y="21017"/>
                  </a:lnTo>
                  <a:lnTo>
                    <a:pt x="159261" y="5461"/>
                  </a:lnTo>
                  <a:lnTo>
                    <a:pt x="206641" y="0"/>
                  </a:lnTo>
                  <a:lnTo>
                    <a:pt x="11451971" y="0"/>
                  </a:lnTo>
                  <a:lnTo>
                    <a:pt x="11499366" y="5461"/>
                  </a:lnTo>
                  <a:lnTo>
                    <a:pt x="11542865" y="21017"/>
                  </a:lnTo>
                  <a:lnTo>
                    <a:pt x="11581229" y="45426"/>
                  </a:lnTo>
                  <a:lnTo>
                    <a:pt x="11613223" y="77447"/>
                  </a:lnTo>
                  <a:lnTo>
                    <a:pt x="11637607" y="115836"/>
                  </a:lnTo>
                  <a:lnTo>
                    <a:pt x="11653145" y="159353"/>
                  </a:lnTo>
                  <a:lnTo>
                    <a:pt x="11658600" y="206756"/>
                  </a:lnTo>
                  <a:lnTo>
                    <a:pt x="11658600" y="1033272"/>
                  </a:lnTo>
                  <a:lnTo>
                    <a:pt x="11653145" y="1080647"/>
                  </a:lnTo>
                  <a:lnTo>
                    <a:pt x="11637607" y="1124138"/>
                  </a:lnTo>
                  <a:lnTo>
                    <a:pt x="11613223" y="1162504"/>
                  </a:lnTo>
                  <a:lnTo>
                    <a:pt x="11581229" y="1194504"/>
                  </a:lnTo>
                  <a:lnTo>
                    <a:pt x="11542865" y="1218897"/>
                  </a:lnTo>
                  <a:lnTo>
                    <a:pt x="11499366" y="1234443"/>
                  </a:lnTo>
                  <a:lnTo>
                    <a:pt x="11451971" y="1239901"/>
                  </a:lnTo>
                  <a:lnTo>
                    <a:pt x="206641" y="1239901"/>
                  </a:lnTo>
                  <a:lnTo>
                    <a:pt x="159261" y="1234443"/>
                  </a:lnTo>
                  <a:lnTo>
                    <a:pt x="115767" y="1218897"/>
                  </a:lnTo>
                  <a:lnTo>
                    <a:pt x="77399" y="1194504"/>
                  </a:lnTo>
                  <a:lnTo>
                    <a:pt x="45397" y="1162504"/>
                  </a:lnTo>
                  <a:lnTo>
                    <a:pt x="21003" y="1124138"/>
                  </a:lnTo>
                  <a:lnTo>
                    <a:pt x="5457" y="1080647"/>
                  </a:lnTo>
                  <a:lnTo>
                    <a:pt x="0" y="1033272"/>
                  </a:lnTo>
                  <a:lnTo>
                    <a:pt x="0" y="2067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2">
            <a:extLst>
              <a:ext uri="{FF2B5EF4-FFF2-40B4-BE49-F238E27FC236}">
                <a16:creationId xmlns:a16="http://schemas.microsoft.com/office/drawing/2014/main" id="{5FE11AB9-0FC4-0D9E-CC54-B63FC057AB70}"/>
              </a:ext>
            </a:extLst>
          </p:cNvPr>
          <p:cNvSpPr txBox="1"/>
          <p:nvPr/>
        </p:nvSpPr>
        <p:spPr>
          <a:xfrm>
            <a:off x="535635" y="1631696"/>
            <a:ext cx="10521950" cy="4211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C00000"/>
                </a:solidFill>
                <a:latin typeface="Cambria"/>
                <a:cs typeface="Cambria"/>
              </a:rPr>
              <a:t>What?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Latency-hiding technique </a:t>
            </a:r>
            <a:r>
              <a:rPr sz="2800" i="1" spc="-5" dirty="0">
                <a:latin typeface="Cambria"/>
                <a:cs typeface="Cambria"/>
              </a:rPr>
              <a:t>-</a:t>
            </a:r>
            <a:r>
              <a:rPr sz="2800" i="1" spc="-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Fetches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data</a:t>
            </a:r>
            <a:r>
              <a:rPr sz="2800" spc="-15" dirty="0">
                <a:latin typeface="Cambria"/>
                <a:cs typeface="Cambria"/>
              </a:rPr>
              <a:t> before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 </a:t>
            </a:r>
            <a:r>
              <a:rPr sz="2800" spc="-15" dirty="0">
                <a:latin typeface="Cambria"/>
                <a:cs typeface="Cambria"/>
              </a:rPr>
              <a:t>core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demands.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i="1" spc="-15" dirty="0">
                <a:solidFill>
                  <a:srgbClr val="C00000"/>
                </a:solidFill>
                <a:latin typeface="Cambria"/>
                <a:cs typeface="Cambria"/>
              </a:rPr>
              <a:t>Why?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Cambria"/>
                <a:cs typeface="Cambria"/>
              </a:rPr>
              <a:t>Off-chip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DRAM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latency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has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grown</a:t>
            </a:r>
            <a:r>
              <a:rPr sz="2800" spc="-5" dirty="0">
                <a:latin typeface="Cambria"/>
                <a:cs typeface="Cambria"/>
              </a:rPr>
              <a:t> up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to</a:t>
            </a:r>
            <a:r>
              <a:rPr sz="2800" spc="-5" dirty="0">
                <a:latin typeface="Cambria"/>
                <a:cs typeface="Cambria"/>
              </a:rPr>
              <a:t> 400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to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800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cycles.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3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7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i="1" spc="-10" dirty="0">
                <a:solidFill>
                  <a:srgbClr val="C00000"/>
                </a:solidFill>
                <a:latin typeface="Cambria"/>
                <a:cs typeface="Cambria"/>
              </a:rPr>
              <a:t>How?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20" dirty="0">
                <a:latin typeface="Cambria"/>
                <a:cs typeface="Cambria"/>
              </a:rPr>
              <a:t>By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observing/predicting</a:t>
            </a:r>
            <a:r>
              <a:rPr sz="2800" spc="4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demand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access </a:t>
            </a:r>
            <a:r>
              <a:rPr sz="2800" spc="-25" dirty="0">
                <a:latin typeface="Cambria"/>
                <a:cs typeface="Cambria"/>
              </a:rPr>
              <a:t>(LOAD/STORE)</a:t>
            </a:r>
            <a:r>
              <a:rPr sz="2800" spc="4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patterns.</a:t>
            </a:r>
            <a:endParaRPr sz="28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70893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35E2-80E3-2EA3-3D06-9DE904F5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42F8F-A24B-0605-2F0B-C31D1948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CAB1D-62E2-8099-4876-934CE17D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5EDAE925-61CF-199E-A500-E01A6F679DFA}"/>
              </a:ext>
            </a:extLst>
          </p:cNvPr>
          <p:cNvGrpSpPr/>
          <p:nvPr/>
        </p:nvGrpSpPr>
        <p:grpSpPr>
          <a:xfrm>
            <a:off x="5754624" y="1416494"/>
            <a:ext cx="4584065" cy="2714625"/>
            <a:chOff x="5791200" y="1277238"/>
            <a:chExt cx="4584065" cy="2714625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D5AAB816-C2BA-BA3A-4815-B0D17FEB95A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1141" y="1277238"/>
              <a:ext cx="1033705" cy="2714585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98F516BF-4F47-D7F1-6E34-49E940CA925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7282" y="1732787"/>
              <a:ext cx="986055" cy="1609343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487E7896-9A07-63C5-6CB6-0C113394C37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1200" y="1670304"/>
              <a:ext cx="1152144" cy="1508760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52A7E920-4F77-6DD6-0A78-7B7E82458B7F}"/>
                </a:ext>
              </a:extLst>
            </p:cNvPr>
            <p:cNvSpPr/>
            <p:nvPr/>
          </p:nvSpPr>
          <p:spPr>
            <a:xfrm>
              <a:off x="5840857" y="1752600"/>
              <a:ext cx="899160" cy="1524000"/>
            </a:xfrm>
            <a:custGeom>
              <a:avLst/>
              <a:gdLst/>
              <a:ahLst/>
              <a:cxnLst/>
              <a:rect l="l" t="t" r="r" b="b"/>
              <a:pathLst>
                <a:path w="899159" h="1524000">
                  <a:moveTo>
                    <a:pt x="749299" y="0"/>
                  </a:moveTo>
                  <a:lnTo>
                    <a:pt x="149859" y="0"/>
                  </a:lnTo>
                  <a:lnTo>
                    <a:pt x="102526" y="7636"/>
                  </a:lnTo>
                  <a:lnTo>
                    <a:pt x="61392" y="28903"/>
                  </a:lnTo>
                  <a:lnTo>
                    <a:pt x="28939" y="61337"/>
                  </a:lnTo>
                  <a:lnTo>
                    <a:pt x="7648" y="102477"/>
                  </a:lnTo>
                  <a:lnTo>
                    <a:pt x="0" y="149860"/>
                  </a:lnTo>
                  <a:lnTo>
                    <a:pt x="0" y="1374139"/>
                  </a:lnTo>
                  <a:lnTo>
                    <a:pt x="7648" y="1421522"/>
                  </a:lnTo>
                  <a:lnTo>
                    <a:pt x="28939" y="1462662"/>
                  </a:lnTo>
                  <a:lnTo>
                    <a:pt x="61392" y="1495096"/>
                  </a:lnTo>
                  <a:lnTo>
                    <a:pt x="102526" y="1516363"/>
                  </a:lnTo>
                  <a:lnTo>
                    <a:pt x="149859" y="1524000"/>
                  </a:lnTo>
                  <a:lnTo>
                    <a:pt x="749299" y="1524000"/>
                  </a:lnTo>
                  <a:lnTo>
                    <a:pt x="796682" y="1516363"/>
                  </a:lnTo>
                  <a:lnTo>
                    <a:pt x="837822" y="1495096"/>
                  </a:lnTo>
                  <a:lnTo>
                    <a:pt x="870256" y="1462662"/>
                  </a:lnTo>
                  <a:lnTo>
                    <a:pt x="891523" y="1421522"/>
                  </a:lnTo>
                  <a:lnTo>
                    <a:pt x="899160" y="1374139"/>
                  </a:lnTo>
                  <a:lnTo>
                    <a:pt x="899160" y="149860"/>
                  </a:lnTo>
                  <a:lnTo>
                    <a:pt x="891523" y="102477"/>
                  </a:lnTo>
                  <a:lnTo>
                    <a:pt x="870256" y="61337"/>
                  </a:lnTo>
                  <a:lnTo>
                    <a:pt x="837822" y="28903"/>
                  </a:lnTo>
                  <a:lnTo>
                    <a:pt x="796682" y="7636"/>
                  </a:lnTo>
                  <a:lnTo>
                    <a:pt x="74929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6E4780D9-1DDE-B03D-32B4-4428BF225F46}"/>
                </a:ext>
              </a:extLst>
            </p:cNvPr>
            <p:cNvSpPr/>
            <p:nvPr/>
          </p:nvSpPr>
          <p:spPr>
            <a:xfrm>
              <a:off x="5840857" y="1752600"/>
              <a:ext cx="899160" cy="1524000"/>
            </a:xfrm>
            <a:custGeom>
              <a:avLst/>
              <a:gdLst/>
              <a:ahLst/>
              <a:cxnLst/>
              <a:rect l="l" t="t" r="r" b="b"/>
              <a:pathLst>
                <a:path w="899159" h="1524000">
                  <a:moveTo>
                    <a:pt x="149859" y="1524000"/>
                  </a:moveTo>
                  <a:lnTo>
                    <a:pt x="102526" y="1516363"/>
                  </a:lnTo>
                  <a:lnTo>
                    <a:pt x="61392" y="1495096"/>
                  </a:lnTo>
                  <a:lnTo>
                    <a:pt x="28939" y="1462662"/>
                  </a:lnTo>
                  <a:lnTo>
                    <a:pt x="7648" y="1421522"/>
                  </a:lnTo>
                  <a:lnTo>
                    <a:pt x="0" y="1374139"/>
                  </a:lnTo>
                  <a:lnTo>
                    <a:pt x="0" y="149860"/>
                  </a:lnTo>
                  <a:lnTo>
                    <a:pt x="7648" y="102477"/>
                  </a:lnTo>
                  <a:lnTo>
                    <a:pt x="28939" y="61337"/>
                  </a:lnTo>
                  <a:lnTo>
                    <a:pt x="61392" y="28903"/>
                  </a:lnTo>
                  <a:lnTo>
                    <a:pt x="102526" y="7636"/>
                  </a:lnTo>
                  <a:lnTo>
                    <a:pt x="149859" y="0"/>
                  </a:lnTo>
                  <a:lnTo>
                    <a:pt x="749299" y="0"/>
                  </a:lnTo>
                  <a:lnTo>
                    <a:pt x="796682" y="7636"/>
                  </a:lnTo>
                  <a:lnTo>
                    <a:pt x="837822" y="28903"/>
                  </a:lnTo>
                  <a:lnTo>
                    <a:pt x="870256" y="61337"/>
                  </a:lnTo>
                  <a:lnTo>
                    <a:pt x="891523" y="102477"/>
                  </a:lnTo>
                  <a:lnTo>
                    <a:pt x="899160" y="149860"/>
                  </a:lnTo>
                  <a:lnTo>
                    <a:pt x="899160" y="1374139"/>
                  </a:lnTo>
                  <a:lnTo>
                    <a:pt x="891523" y="1421522"/>
                  </a:lnTo>
                  <a:lnTo>
                    <a:pt x="870256" y="1462662"/>
                  </a:lnTo>
                  <a:lnTo>
                    <a:pt x="837822" y="1495096"/>
                  </a:lnTo>
                  <a:lnTo>
                    <a:pt x="796682" y="1516363"/>
                  </a:lnTo>
                  <a:lnTo>
                    <a:pt x="749299" y="1524000"/>
                  </a:lnTo>
                  <a:lnTo>
                    <a:pt x="149859" y="1524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70E73EA-A714-7A0F-793E-CD9DC7A77303}"/>
              </a:ext>
            </a:extLst>
          </p:cNvPr>
          <p:cNvSpPr txBox="1"/>
          <p:nvPr/>
        </p:nvSpPr>
        <p:spPr>
          <a:xfrm>
            <a:off x="6031890" y="2349229"/>
            <a:ext cx="533400" cy="4978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900"/>
              </a:lnSpc>
            </a:pP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L2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3" name="object 10">
            <a:extLst>
              <a:ext uri="{FF2B5EF4-FFF2-40B4-BE49-F238E27FC236}">
                <a16:creationId xmlns:a16="http://schemas.microsoft.com/office/drawing/2014/main" id="{AD5054DA-62D8-B5B6-EE8A-431736FB60D1}"/>
              </a:ext>
            </a:extLst>
          </p:cNvPr>
          <p:cNvGrpSpPr/>
          <p:nvPr/>
        </p:nvGrpSpPr>
        <p:grpSpPr>
          <a:xfrm>
            <a:off x="3069335" y="2481644"/>
            <a:ext cx="6472555" cy="3743325"/>
            <a:chOff x="3105911" y="2342388"/>
            <a:chExt cx="6472555" cy="3743325"/>
          </a:xfrm>
        </p:grpSpPr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5EE56617-0107-713F-1BBA-44C342B2023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5911" y="2342388"/>
              <a:ext cx="3032760" cy="594360"/>
            </a:xfrm>
            <a:prstGeom prst="rect">
              <a:avLst/>
            </a:prstGeom>
          </p:spPr>
        </p:pic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F1B54A47-050D-BC30-2868-A555C6498E8F}"/>
                </a:ext>
              </a:extLst>
            </p:cNvPr>
            <p:cNvSpPr/>
            <p:nvPr/>
          </p:nvSpPr>
          <p:spPr>
            <a:xfrm>
              <a:off x="3402329" y="2491599"/>
              <a:ext cx="2439035" cy="257175"/>
            </a:xfrm>
            <a:custGeom>
              <a:avLst/>
              <a:gdLst/>
              <a:ahLst/>
              <a:cxnLst/>
              <a:rect l="l" t="t" r="r" b="b"/>
              <a:pathLst>
                <a:path w="2439035" h="257175">
                  <a:moveTo>
                    <a:pt x="224532" y="0"/>
                  </a:moveTo>
                  <a:lnTo>
                    <a:pt x="213741" y="3696"/>
                  </a:lnTo>
                  <a:lnTo>
                    <a:pt x="0" y="128410"/>
                  </a:lnTo>
                  <a:lnTo>
                    <a:pt x="213741" y="252997"/>
                  </a:lnTo>
                  <a:lnTo>
                    <a:pt x="224532" y="256694"/>
                  </a:lnTo>
                  <a:lnTo>
                    <a:pt x="235489" y="255998"/>
                  </a:lnTo>
                  <a:lnTo>
                    <a:pt x="245352" y="251229"/>
                  </a:lnTo>
                  <a:lnTo>
                    <a:pt x="252857" y="242710"/>
                  </a:lnTo>
                  <a:lnTo>
                    <a:pt x="256553" y="231993"/>
                  </a:lnTo>
                  <a:lnTo>
                    <a:pt x="255857" y="221073"/>
                  </a:lnTo>
                  <a:lnTo>
                    <a:pt x="251088" y="211224"/>
                  </a:lnTo>
                  <a:lnTo>
                    <a:pt x="242570" y="203721"/>
                  </a:lnTo>
                  <a:lnTo>
                    <a:pt x="162501" y="156985"/>
                  </a:lnTo>
                  <a:lnTo>
                    <a:pt x="56769" y="156985"/>
                  </a:lnTo>
                  <a:lnTo>
                    <a:pt x="56769" y="99835"/>
                  </a:lnTo>
                  <a:lnTo>
                    <a:pt x="162284" y="99835"/>
                  </a:lnTo>
                  <a:lnTo>
                    <a:pt x="242570" y="52972"/>
                  </a:lnTo>
                  <a:lnTo>
                    <a:pt x="251088" y="45469"/>
                  </a:lnTo>
                  <a:lnTo>
                    <a:pt x="255857" y="35621"/>
                  </a:lnTo>
                  <a:lnTo>
                    <a:pt x="256553" y="24701"/>
                  </a:lnTo>
                  <a:lnTo>
                    <a:pt x="252857" y="13983"/>
                  </a:lnTo>
                  <a:lnTo>
                    <a:pt x="245352" y="5464"/>
                  </a:lnTo>
                  <a:lnTo>
                    <a:pt x="235489" y="696"/>
                  </a:lnTo>
                  <a:lnTo>
                    <a:pt x="224532" y="0"/>
                  </a:lnTo>
                  <a:close/>
                </a:path>
                <a:path w="2439035" h="257175">
                  <a:moveTo>
                    <a:pt x="2325215" y="128347"/>
                  </a:moveTo>
                  <a:lnTo>
                    <a:pt x="2196084" y="203721"/>
                  </a:lnTo>
                  <a:lnTo>
                    <a:pt x="2187638" y="211224"/>
                  </a:lnTo>
                  <a:lnTo>
                    <a:pt x="2182907" y="221073"/>
                  </a:lnTo>
                  <a:lnTo>
                    <a:pt x="2182225" y="231993"/>
                  </a:lnTo>
                  <a:lnTo>
                    <a:pt x="2185924" y="242710"/>
                  </a:lnTo>
                  <a:lnTo>
                    <a:pt x="2193426" y="251229"/>
                  </a:lnTo>
                  <a:lnTo>
                    <a:pt x="2203275" y="255998"/>
                  </a:lnTo>
                  <a:lnTo>
                    <a:pt x="2214195" y="256694"/>
                  </a:lnTo>
                  <a:lnTo>
                    <a:pt x="2224913" y="252997"/>
                  </a:lnTo>
                  <a:lnTo>
                    <a:pt x="2389630" y="156985"/>
                  </a:lnTo>
                  <a:lnTo>
                    <a:pt x="2382012" y="156985"/>
                  </a:lnTo>
                  <a:lnTo>
                    <a:pt x="2382012" y="153048"/>
                  </a:lnTo>
                  <a:lnTo>
                    <a:pt x="2367534" y="153048"/>
                  </a:lnTo>
                  <a:lnTo>
                    <a:pt x="2325215" y="128347"/>
                  </a:lnTo>
                  <a:close/>
                </a:path>
                <a:path w="2439035" h="257175">
                  <a:moveTo>
                    <a:pt x="162284" y="99835"/>
                  </a:moveTo>
                  <a:lnTo>
                    <a:pt x="56769" y="99835"/>
                  </a:lnTo>
                  <a:lnTo>
                    <a:pt x="56769" y="156985"/>
                  </a:lnTo>
                  <a:lnTo>
                    <a:pt x="162501" y="156985"/>
                  </a:lnTo>
                  <a:lnTo>
                    <a:pt x="155757" y="153048"/>
                  </a:lnTo>
                  <a:lnTo>
                    <a:pt x="71120" y="153048"/>
                  </a:lnTo>
                  <a:lnTo>
                    <a:pt x="71120" y="103645"/>
                  </a:lnTo>
                  <a:lnTo>
                    <a:pt x="155757" y="103645"/>
                  </a:lnTo>
                  <a:lnTo>
                    <a:pt x="162284" y="99835"/>
                  </a:lnTo>
                  <a:close/>
                </a:path>
                <a:path w="2439035" h="257175">
                  <a:moveTo>
                    <a:pt x="2276369" y="99835"/>
                  </a:moveTo>
                  <a:lnTo>
                    <a:pt x="162284" y="99835"/>
                  </a:lnTo>
                  <a:lnTo>
                    <a:pt x="113438" y="128347"/>
                  </a:lnTo>
                  <a:lnTo>
                    <a:pt x="162501" y="156985"/>
                  </a:lnTo>
                  <a:lnTo>
                    <a:pt x="2276152" y="156985"/>
                  </a:lnTo>
                  <a:lnTo>
                    <a:pt x="2325215" y="128347"/>
                  </a:lnTo>
                  <a:lnTo>
                    <a:pt x="2276369" y="99835"/>
                  </a:lnTo>
                  <a:close/>
                </a:path>
                <a:path w="2439035" h="257175">
                  <a:moveTo>
                    <a:pt x="2389680" y="99835"/>
                  </a:moveTo>
                  <a:lnTo>
                    <a:pt x="2382012" y="99835"/>
                  </a:lnTo>
                  <a:lnTo>
                    <a:pt x="2382012" y="156985"/>
                  </a:lnTo>
                  <a:lnTo>
                    <a:pt x="2389630" y="156985"/>
                  </a:lnTo>
                  <a:lnTo>
                    <a:pt x="2438654" y="128410"/>
                  </a:lnTo>
                  <a:lnTo>
                    <a:pt x="2389680" y="99835"/>
                  </a:lnTo>
                  <a:close/>
                </a:path>
                <a:path w="2439035" h="257175">
                  <a:moveTo>
                    <a:pt x="71120" y="103645"/>
                  </a:moveTo>
                  <a:lnTo>
                    <a:pt x="71120" y="153048"/>
                  </a:lnTo>
                  <a:lnTo>
                    <a:pt x="113438" y="128347"/>
                  </a:lnTo>
                  <a:lnTo>
                    <a:pt x="71120" y="103645"/>
                  </a:lnTo>
                  <a:close/>
                </a:path>
                <a:path w="2439035" h="257175">
                  <a:moveTo>
                    <a:pt x="113438" y="128347"/>
                  </a:moveTo>
                  <a:lnTo>
                    <a:pt x="71120" y="153048"/>
                  </a:lnTo>
                  <a:lnTo>
                    <a:pt x="155757" y="153048"/>
                  </a:lnTo>
                  <a:lnTo>
                    <a:pt x="113438" y="128347"/>
                  </a:lnTo>
                  <a:close/>
                </a:path>
                <a:path w="2439035" h="257175">
                  <a:moveTo>
                    <a:pt x="2367534" y="103645"/>
                  </a:moveTo>
                  <a:lnTo>
                    <a:pt x="2325215" y="128347"/>
                  </a:lnTo>
                  <a:lnTo>
                    <a:pt x="2367534" y="153048"/>
                  </a:lnTo>
                  <a:lnTo>
                    <a:pt x="2367534" y="103645"/>
                  </a:lnTo>
                  <a:close/>
                </a:path>
                <a:path w="2439035" h="257175">
                  <a:moveTo>
                    <a:pt x="2382012" y="103645"/>
                  </a:moveTo>
                  <a:lnTo>
                    <a:pt x="2367534" y="103645"/>
                  </a:lnTo>
                  <a:lnTo>
                    <a:pt x="2367534" y="153048"/>
                  </a:lnTo>
                  <a:lnTo>
                    <a:pt x="2382012" y="153048"/>
                  </a:lnTo>
                  <a:lnTo>
                    <a:pt x="2382012" y="103645"/>
                  </a:lnTo>
                  <a:close/>
                </a:path>
                <a:path w="2439035" h="257175">
                  <a:moveTo>
                    <a:pt x="155757" y="103645"/>
                  </a:moveTo>
                  <a:lnTo>
                    <a:pt x="71120" y="103645"/>
                  </a:lnTo>
                  <a:lnTo>
                    <a:pt x="113438" y="128347"/>
                  </a:lnTo>
                  <a:lnTo>
                    <a:pt x="155757" y="103645"/>
                  </a:lnTo>
                  <a:close/>
                </a:path>
                <a:path w="2439035" h="257175">
                  <a:moveTo>
                    <a:pt x="2214195" y="0"/>
                  </a:moveTo>
                  <a:lnTo>
                    <a:pt x="2203275" y="696"/>
                  </a:lnTo>
                  <a:lnTo>
                    <a:pt x="2193426" y="5464"/>
                  </a:lnTo>
                  <a:lnTo>
                    <a:pt x="2185924" y="13983"/>
                  </a:lnTo>
                  <a:lnTo>
                    <a:pt x="2182225" y="24701"/>
                  </a:lnTo>
                  <a:lnTo>
                    <a:pt x="2182907" y="35621"/>
                  </a:lnTo>
                  <a:lnTo>
                    <a:pt x="2187638" y="45469"/>
                  </a:lnTo>
                  <a:lnTo>
                    <a:pt x="2196084" y="52972"/>
                  </a:lnTo>
                  <a:lnTo>
                    <a:pt x="2325215" y="128347"/>
                  </a:lnTo>
                  <a:lnTo>
                    <a:pt x="2367534" y="103645"/>
                  </a:lnTo>
                  <a:lnTo>
                    <a:pt x="2382012" y="103645"/>
                  </a:lnTo>
                  <a:lnTo>
                    <a:pt x="2382012" y="99835"/>
                  </a:lnTo>
                  <a:lnTo>
                    <a:pt x="2389680" y="99835"/>
                  </a:lnTo>
                  <a:lnTo>
                    <a:pt x="2224913" y="3696"/>
                  </a:lnTo>
                  <a:lnTo>
                    <a:pt x="2214195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E29E97D1-5153-EB73-9677-0B6D81266AF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1883" y="2372868"/>
              <a:ext cx="2886455" cy="594360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3DA73A67-EACF-C607-EA2B-03815FB8BDDB}"/>
                </a:ext>
              </a:extLst>
            </p:cNvPr>
            <p:cNvSpPr/>
            <p:nvPr/>
          </p:nvSpPr>
          <p:spPr>
            <a:xfrm>
              <a:off x="6733921" y="2522224"/>
              <a:ext cx="2546985" cy="257175"/>
            </a:xfrm>
            <a:custGeom>
              <a:avLst/>
              <a:gdLst/>
              <a:ahLst/>
              <a:cxnLst/>
              <a:rect l="l" t="t" r="r" b="b"/>
              <a:pathLst>
                <a:path w="2546984" h="257175">
                  <a:moveTo>
                    <a:pt x="2433519" y="128345"/>
                  </a:moveTo>
                  <a:lnTo>
                    <a:pt x="2304414" y="203704"/>
                  </a:lnTo>
                  <a:lnTo>
                    <a:pt x="2295896" y="211262"/>
                  </a:lnTo>
                  <a:lnTo>
                    <a:pt x="2291127" y="221118"/>
                  </a:lnTo>
                  <a:lnTo>
                    <a:pt x="2290431" y="232046"/>
                  </a:lnTo>
                  <a:lnTo>
                    <a:pt x="2294128" y="242820"/>
                  </a:lnTo>
                  <a:lnTo>
                    <a:pt x="2301630" y="251267"/>
                  </a:lnTo>
                  <a:lnTo>
                    <a:pt x="2311479" y="256012"/>
                  </a:lnTo>
                  <a:lnTo>
                    <a:pt x="2322399" y="256732"/>
                  </a:lnTo>
                  <a:lnTo>
                    <a:pt x="2333117" y="253107"/>
                  </a:lnTo>
                  <a:lnTo>
                    <a:pt x="2497982" y="156968"/>
                  </a:lnTo>
                  <a:lnTo>
                    <a:pt x="2490215" y="156968"/>
                  </a:lnTo>
                  <a:lnTo>
                    <a:pt x="2490215" y="153031"/>
                  </a:lnTo>
                  <a:lnTo>
                    <a:pt x="2475864" y="153031"/>
                  </a:lnTo>
                  <a:lnTo>
                    <a:pt x="2433519" y="128345"/>
                  </a:lnTo>
                  <a:close/>
                </a:path>
                <a:path w="2546984" h="257175">
                  <a:moveTo>
                    <a:pt x="2384584" y="99818"/>
                  </a:moveTo>
                  <a:lnTo>
                    <a:pt x="0" y="99818"/>
                  </a:lnTo>
                  <a:lnTo>
                    <a:pt x="0" y="156968"/>
                  </a:lnTo>
                  <a:lnTo>
                    <a:pt x="2384483" y="156968"/>
                  </a:lnTo>
                  <a:lnTo>
                    <a:pt x="2433519" y="128345"/>
                  </a:lnTo>
                  <a:lnTo>
                    <a:pt x="2384584" y="99818"/>
                  </a:lnTo>
                  <a:close/>
                </a:path>
                <a:path w="2546984" h="257175">
                  <a:moveTo>
                    <a:pt x="2497982" y="99818"/>
                  </a:moveTo>
                  <a:lnTo>
                    <a:pt x="2490215" y="99818"/>
                  </a:lnTo>
                  <a:lnTo>
                    <a:pt x="2490215" y="156968"/>
                  </a:lnTo>
                  <a:lnTo>
                    <a:pt x="2497982" y="156968"/>
                  </a:lnTo>
                  <a:lnTo>
                    <a:pt x="2546984" y="128393"/>
                  </a:lnTo>
                  <a:lnTo>
                    <a:pt x="2497982" y="99818"/>
                  </a:lnTo>
                  <a:close/>
                </a:path>
                <a:path w="2546984" h="257175">
                  <a:moveTo>
                    <a:pt x="2475864" y="103628"/>
                  </a:moveTo>
                  <a:lnTo>
                    <a:pt x="2433519" y="128345"/>
                  </a:lnTo>
                  <a:lnTo>
                    <a:pt x="2475864" y="153031"/>
                  </a:lnTo>
                  <a:lnTo>
                    <a:pt x="2475864" y="103628"/>
                  </a:lnTo>
                  <a:close/>
                </a:path>
                <a:path w="2546984" h="257175">
                  <a:moveTo>
                    <a:pt x="2490215" y="103628"/>
                  </a:moveTo>
                  <a:lnTo>
                    <a:pt x="2475864" y="103628"/>
                  </a:lnTo>
                  <a:lnTo>
                    <a:pt x="2475864" y="153031"/>
                  </a:lnTo>
                  <a:lnTo>
                    <a:pt x="2490215" y="153031"/>
                  </a:lnTo>
                  <a:lnTo>
                    <a:pt x="2490215" y="103628"/>
                  </a:lnTo>
                  <a:close/>
                </a:path>
                <a:path w="2546984" h="257175">
                  <a:moveTo>
                    <a:pt x="2322399" y="0"/>
                  </a:moveTo>
                  <a:lnTo>
                    <a:pt x="2311479" y="726"/>
                  </a:lnTo>
                  <a:lnTo>
                    <a:pt x="2301630" y="5500"/>
                  </a:lnTo>
                  <a:lnTo>
                    <a:pt x="2294128" y="13966"/>
                  </a:lnTo>
                  <a:lnTo>
                    <a:pt x="2290431" y="24685"/>
                  </a:lnTo>
                  <a:lnTo>
                    <a:pt x="2291127" y="35619"/>
                  </a:lnTo>
                  <a:lnTo>
                    <a:pt x="2295896" y="45505"/>
                  </a:lnTo>
                  <a:lnTo>
                    <a:pt x="2304414" y="53082"/>
                  </a:lnTo>
                  <a:lnTo>
                    <a:pt x="2433519" y="128345"/>
                  </a:lnTo>
                  <a:lnTo>
                    <a:pt x="2475864" y="103628"/>
                  </a:lnTo>
                  <a:lnTo>
                    <a:pt x="2490215" y="103628"/>
                  </a:lnTo>
                  <a:lnTo>
                    <a:pt x="2490215" y="99818"/>
                  </a:lnTo>
                  <a:lnTo>
                    <a:pt x="2497982" y="99818"/>
                  </a:lnTo>
                  <a:lnTo>
                    <a:pt x="2333117" y="3679"/>
                  </a:lnTo>
                  <a:lnTo>
                    <a:pt x="2322399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5">
              <a:extLst>
                <a:ext uri="{FF2B5EF4-FFF2-40B4-BE49-F238E27FC236}">
                  <a16:creationId xmlns:a16="http://schemas.microsoft.com/office/drawing/2014/main" id="{E7B502C4-8D94-93B9-2A1B-F3CEBE7FFC9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0100" y="5009400"/>
              <a:ext cx="2932166" cy="1075918"/>
            </a:xfrm>
            <a:prstGeom prst="rect">
              <a:avLst/>
            </a:prstGeom>
          </p:spPr>
        </p:pic>
        <p:pic>
          <p:nvPicPr>
            <p:cNvPr id="19" name="object 16">
              <a:extLst>
                <a:ext uri="{FF2B5EF4-FFF2-40B4-BE49-F238E27FC236}">
                  <a16:creationId xmlns:a16="http://schemas.microsoft.com/office/drawing/2014/main" id="{36D3F979-A56F-18C5-6D97-77BF2D691FC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43372" y="5140452"/>
              <a:ext cx="2418587" cy="938784"/>
            </a:xfrm>
            <a:prstGeom prst="rect">
              <a:avLst/>
            </a:prstGeom>
          </p:spPr>
        </p:pic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844C0F5A-75D0-20EB-C457-CF26B527A3E8}"/>
                </a:ext>
              </a:extLst>
            </p:cNvPr>
            <p:cNvSpPr/>
            <p:nvPr/>
          </p:nvSpPr>
          <p:spPr>
            <a:xfrm>
              <a:off x="5383657" y="5029200"/>
              <a:ext cx="2844800" cy="990600"/>
            </a:xfrm>
            <a:custGeom>
              <a:avLst/>
              <a:gdLst/>
              <a:ahLst/>
              <a:cxnLst/>
              <a:rect l="l" t="t" r="r" b="b"/>
              <a:pathLst>
                <a:path w="2844800" h="990600">
                  <a:moveTo>
                    <a:pt x="2679699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2679699" y="990600"/>
                  </a:lnTo>
                  <a:lnTo>
                    <a:pt x="2723591" y="984702"/>
                  </a:lnTo>
                  <a:lnTo>
                    <a:pt x="2763030" y="968059"/>
                  </a:lnTo>
                  <a:lnTo>
                    <a:pt x="2796444" y="942244"/>
                  </a:lnTo>
                  <a:lnTo>
                    <a:pt x="2822259" y="908830"/>
                  </a:lnTo>
                  <a:lnTo>
                    <a:pt x="2838902" y="869391"/>
                  </a:lnTo>
                  <a:lnTo>
                    <a:pt x="2844799" y="825500"/>
                  </a:lnTo>
                  <a:lnTo>
                    <a:pt x="2844799" y="165100"/>
                  </a:lnTo>
                  <a:lnTo>
                    <a:pt x="2838902" y="121208"/>
                  </a:lnTo>
                  <a:lnTo>
                    <a:pt x="2822259" y="81769"/>
                  </a:lnTo>
                  <a:lnTo>
                    <a:pt x="2796444" y="48355"/>
                  </a:lnTo>
                  <a:lnTo>
                    <a:pt x="2763030" y="22540"/>
                  </a:lnTo>
                  <a:lnTo>
                    <a:pt x="2723591" y="5897"/>
                  </a:lnTo>
                  <a:lnTo>
                    <a:pt x="267969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A960BF49-CCCB-99DA-A238-52AC328D25FC}"/>
                </a:ext>
              </a:extLst>
            </p:cNvPr>
            <p:cNvSpPr/>
            <p:nvPr/>
          </p:nvSpPr>
          <p:spPr>
            <a:xfrm>
              <a:off x="5383657" y="5029200"/>
              <a:ext cx="2844800" cy="990600"/>
            </a:xfrm>
            <a:custGeom>
              <a:avLst/>
              <a:gdLst/>
              <a:ahLst/>
              <a:cxnLst/>
              <a:rect l="l" t="t" r="r" b="b"/>
              <a:pathLst>
                <a:path w="284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2679699" y="0"/>
                  </a:lnTo>
                  <a:lnTo>
                    <a:pt x="2723591" y="5897"/>
                  </a:lnTo>
                  <a:lnTo>
                    <a:pt x="2763030" y="22540"/>
                  </a:lnTo>
                  <a:lnTo>
                    <a:pt x="2796444" y="48355"/>
                  </a:lnTo>
                  <a:lnTo>
                    <a:pt x="2822259" y="81769"/>
                  </a:lnTo>
                  <a:lnTo>
                    <a:pt x="2838902" y="121208"/>
                  </a:lnTo>
                  <a:lnTo>
                    <a:pt x="2844799" y="165100"/>
                  </a:lnTo>
                  <a:lnTo>
                    <a:pt x="2844799" y="825500"/>
                  </a:lnTo>
                  <a:lnTo>
                    <a:pt x="2838902" y="869391"/>
                  </a:lnTo>
                  <a:lnTo>
                    <a:pt x="2822259" y="908830"/>
                  </a:lnTo>
                  <a:lnTo>
                    <a:pt x="2796444" y="942244"/>
                  </a:lnTo>
                  <a:lnTo>
                    <a:pt x="2763030" y="968059"/>
                  </a:lnTo>
                  <a:lnTo>
                    <a:pt x="2723591" y="984702"/>
                  </a:lnTo>
                  <a:lnTo>
                    <a:pt x="2679699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9">
            <a:extLst>
              <a:ext uri="{FF2B5EF4-FFF2-40B4-BE49-F238E27FC236}">
                <a16:creationId xmlns:a16="http://schemas.microsoft.com/office/drawing/2014/main" id="{1B2EDAE2-186C-0D87-F98E-8D2D2E03DFDA}"/>
              </a:ext>
            </a:extLst>
          </p:cNvPr>
          <p:cNvSpPr txBox="1"/>
          <p:nvPr/>
        </p:nvSpPr>
        <p:spPr>
          <a:xfrm>
            <a:off x="5880862" y="5382527"/>
            <a:ext cx="178053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Prefetcher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3" name="object 20">
            <a:extLst>
              <a:ext uri="{FF2B5EF4-FFF2-40B4-BE49-F238E27FC236}">
                <a16:creationId xmlns:a16="http://schemas.microsoft.com/office/drawing/2014/main" id="{313D6B44-F0E1-3506-67C6-385BD9B6BBF4}"/>
              </a:ext>
            </a:extLst>
          </p:cNvPr>
          <p:cNvGrpSpPr/>
          <p:nvPr/>
        </p:nvGrpSpPr>
        <p:grpSpPr>
          <a:xfrm>
            <a:off x="4672583" y="2783395"/>
            <a:ext cx="3895725" cy="3115310"/>
            <a:chOff x="4709159" y="2644139"/>
            <a:chExt cx="3895725" cy="3115310"/>
          </a:xfrm>
        </p:grpSpPr>
        <p:pic>
          <p:nvPicPr>
            <p:cNvPr id="24" name="object 21">
              <a:extLst>
                <a:ext uri="{FF2B5EF4-FFF2-40B4-BE49-F238E27FC236}">
                  <a16:creationId xmlns:a16="http://schemas.microsoft.com/office/drawing/2014/main" id="{250EAAA1-EB03-563E-B15D-33253E9A51D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09159" y="2644139"/>
              <a:ext cx="890015" cy="3115056"/>
            </a:xfrm>
            <a:prstGeom prst="rect">
              <a:avLst/>
            </a:prstGeom>
          </p:spPr>
        </p:pic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9E832594-CA10-DB48-8DC2-32E96CDE2877}"/>
                </a:ext>
              </a:extLst>
            </p:cNvPr>
            <p:cNvSpPr/>
            <p:nvPr/>
          </p:nvSpPr>
          <p:spPr>
            <a:xfrm>
              <a:off x="4752339" y="2666999"/>
              <a:ext cx="631825" cy="2943225"/>
            </a:xfrm>
            <a:custGeom>
              <a:avLst/>
              <a:gdLst/>
              <a:ahLst/>
              <a:cxnLst/>
              <a:rect l="l" t="t" r="r" b="b"/>
              <a:pathLst>
                <a:path w="631825" h="2943225">
                  <a:moveTo>
                    <a:pt x="5715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57150" y="228600"/>
                  </a:lnTo>
                  <a:lnTo>
                    <a:pt x="57150" y="0"/>
                  </a:lnTo>
                  <a:close/>
                </a:path>
                <a:path w="631825" h="2943225">
                  <a:moveTo>
                    <a:pt x="57150" y="400050"/>
                  </a:moveTo>
                  <a:lnTo>
                    <a:pt x="0" y="400050"/>
                  </a:lnTo>
                  <a:lnTo>
                    <a:pt x="0" y="628650"/>
                  </a:lnTo>
                  <a:lnTo>
                    <a:pt x="57150" y="628650"/>
                  </a:lnTo>
                  <a:lnTo>
                    <a:pt x="57150" y="400050"/>
                  </a:lnTo>
                  <a:close/>
                </a:path>
                <a:path w="631825" h="2943225">
                  <a:moveTo>
                    <a:pt x="57150" y="800100"/>
                  </a:moveTo>
                  <a:lnTo>
                    <a:pt x="0" y="800100"/>
                  </a:lnTo>
                  <a:lnTo>
                    <a:pt x="0" y="1028700"/>
                  </a:lnTo>
                  <a:lnTo>
                    <a:pt x="57150" y="1028700"/>
                  </a:lnTo>
                  <a:lnTo>
                    <a:pt x="57150" y="800100"/>
                  </a:lnTo>
                  <a:close/>
                </a:path>
                <a:path w="631825" h="2943225">
                  <a:moveTo>
                    <a:pt x="57150" y="1200150"/>
                  </a:moveTo>
                  <a:lnTo>
                    <a:pt x="0" y="1200150"/>
                  </a:lnTo>
                  <a:lnTo>
                    <a:pt x="0" y="1428750"/>
                  </a:lnTo>
                  <a:lnTo>
                    <a:pt x="57150" y="1428750"/>
                  </a:lnTo>
                  <a:lnTo>
                    <a:pt x="57150" y="1200150"/>
                  </a:lnTo>
                  <a:close/>
                </a:path>
                <a:path w="631825" h="2943225">
                  <a:moveTo>
                    <a:pt x="57150" y="1600200"/>
                  </a:moveTo>
                  <a:lnTo>
                    <a:pt x="0" y="1600200"/>
                  </a:lnTo>
                  <a:lnTo>
                    <a:pt x="0" y="1828800"/>
                  </a:lnTo>
                  <a:lnTo>
                    <a:pt x="57150" y="1828800"/>
                  </a:lnTo>
                  <a:lnTo>
                    <a:pt x="57150" y="1600200"/>
                  </a:lnTo>
                  <a:close/>
                </a:path>
                <a:path w="631825" h="2943225">
                  <a:moveTo>
                    <a:pt x="57150" y="2000250"/>
                  </a:moveTo>
                  <a:lnTo>
                    <a:pt x="0" y="2000250"/>
                  </a:lnTo>
                  <a:lnTo>
                    <a:pt x="0" y="2228850"/>
                  </a:lnTo>
                  <a:lnTo>
                    <a:pt x="57150" y="2228850"/>
                  </a:lnTo>
                  <a:lnTo>
                    <a:pt x="57150" y="2000250"/>
                  </a:lnTo>
                  <a:close/>
                </a:path>
                <a:path w="631825" h="2943225">
                  <a:moveTo>
                    <a:pt x="57150" y="2400300"/>
                  </a:moveTo>
                  <a:lnTo>
                    <a:pt x="0" y="2400300"/>
                  </a:lnTo>
                  <a:lnTo>
                    <a:pt x="0" y="2628900"/>
                  </a:lnTo>
                  <a:lnTo>
                    <a:pt x="57150" y="2628900"/>
                  </a:lnTo>
                  <a:lnTo>
                    <a:pt x="57150" y="2400300"/>
                  </a:lnTo>
                  <a:close/>
                </a:path>
                <a:path w="631825" h="2943225">
                  <a:moveTo>
                    <a:pt x="57150" y="2800350"/>
                  </a:moveTo>
                  <a:lnTo>
                    <a:pt x="0" y="2800350"/>
                  </a:lnTo>
                  <a:lnTo>
                    <a:pt x="0" y="2857500"/>
                  </a:lnTo>
                  <a:lnTo>
                    <a:pt x="2250" y="2868608"/>
                  </a:lnTo>
                  <a:lnTo>
                    <a:pt x="8382" y="2877692"/>
                  </a:lnTo>
                  <a:lnTo>
                    <a:pt x="17466" y="2883824"/>
                  </a:lnTo>
                  <a:lnTo>
                    <a:pt x="28575" y="2886075"/>
                  </a:lnTo>
                  <a:lnTo>
                    <a:pt x="200025" y="2886075"/>
                  </a:lnTo>
                  <a:lnTo>
                    <a:pt x="200025" y="2857500"/>
                  </a:lnTo>
                  <a:lnTo>
                    <a:pt x="57150" y="2857500"/>
                  </a:lnTo>
                  <a:lnTo>
                    <a:pt x="28575" y="2828925"/>
                  </a:lnTo>
                  <a:lnTo>
                    <a:pt x="57150" y="2828925"/>
                  </a:lnTo>
                  <a:lnTo>
                    <a:pt x="57150" y="2800350"/>
                  </a:lnTo>
                  <a:close/>
                </a:path>
                <a:path w="631825" h="2943225">
                  <a:moveTo>
                    <a:pt x="57150" y="2828925"/>
                  </a:moveTo>
                  <a:lnTo>
                    <a:pt x="28575" y="2828925"/>
                  </a:lnTo>
                  <a:lnTo>
                    <a:pt x="57150" y="2857500"/>
                  </a:lnTo>
                  <a:lnTo>
                    <a:pt x="57150" y="2828925"/>
                  </a:lnTo>
                  <a:close/>
                </a:path>
                <a:path w="631825" h="2943225">
                  <a:moveTo>
                    <a:pt x="200025" y="2828925"/>
                  </a:moveTo>
                  <a:lnTo>
                    <a:pt x="57150" y="2828925"/>
                  </a:lnTo>
                  <a:lnTo>
                    <a:pt x="57150" y="2857500"/>
                  </a:lnTo>
                  <a:lnTo>
                    <a:pt x="200025" y="2857500"/>
                  </a:lnTo>
                  <a:lnTo>
                    <a:pt x="200025" y="2828925"/>
                  </a:lnTo>
                  <a:close/>
                </a:path>
                <a:path w="631825" h="2943225">
                  <a:moveTo>
                    <a:pt x="459867" y="2771775"/>
                  </a:moveTo>
                  <a:lnTo>
                    <a:pt x="459867" y="2943225"/>
                  </a:lnTo>
                  <a:lnTo>
                    <a:pt x="574167" y="2886075"/>
                  </a:lnTo>
                  <a:lnTo>
                    <a:pt x="488442" y="2886075"/>
                  </a:lnTo>
                  <a:lnTo>
                    <a:pt x="488442" y="2828925"/>
                  </a:lnTo>
                  <a:lnTo>
                    <a:pt x="574167" y="2828925"/>
                  </a:lnTo>
                  <a:lnTo>
                    <a:pt x="459867" y="2771775"/>
                  </a:lnTo>
                  <a:close/>
                </a:path>
                <a:path w="631825" h="2943225">
                  <a:moveTo>
                    <a:pt x="459867" y="2828925"/>
                  </a:moveTo>
                  <a:lnTo>
                    <a:pt x="371475" y="2828925"/>
                  </a:lnTo>
                  <a:lnTo>
                    <a:pt x="371475" y="2886075"/>
                  </a:lnTo>
                  <a:lnTo>
                    <a:pt x="459867" y="2886075"/>
                  </a:lnTo>
                  <a:lnTo>
                    <a:pt x="459867" y="2828925"/>
                  </a:lnTo>
                  <a:close/>
                </a:path>
                <a:path w="631825" h="2943225">
                  <a:moveTo>
                    <a:pt x="574167" y="2828925"/>
                  </a:moveTo>
                  <a:lnTo>
                    <a:pt x="488442" y="2828925"/>
                  </a:lnTo>
                  <a:lnTo>
                    <a:pt x="488442" y="2886075"/>
                  </a:lnTo>
                  <a:lnTo>
                    <a:pt x="574167" y="2886075"/>
                  </a:lnTo>
                  <a:lnTo>
                    <a:pt x="631317" y="2857500"/>
                  </a:lnTo>
                  <a:lnTo>
                    <a:pt x="574167" y="2828925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3">
              <a:extLst>
                <a:ext uri="{FF2B5EF4-FFF2-40B4-BE49-F238E27FC236}">
                  <a16:creationId xmlns:a16="http://schemas.microsoft.com/office/drawing/2014/main" id="{A911F02C-B170-7289-31DD-331A5A2C800F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74663" y="3081527"/>
              <a:ext cx="2529840" cy="2534412"/>
            </a:xfrm>
            <a:prstGeom prst="rect">
              <a:avLst/>
            </a:prstGeom>
          </p:spPr>
        </p:pic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AD81F515-B243-B0AF-A565-3BE4BE652CD2}"/>
                </a:ext>
              </a:extLst>
            </p:cNvPr>
            <p:cNvSpPr/>
            <p:nvPr/>
          </p:nvSpPr>
          <p:spPr>
            <a:xfrm>
              <a:off x="6204711" y="3276599"/>
              <a:ext cx="2357120" cy="2276475"/>
            </a:xfrm>
            <a:custGeom>
              <a:avLst/>
              <a:gdLst/>
              <a:ahLst/>
              <a:cxnLst/>
              <a:rect l="l" t="t" r="r" b="b"/>
              <a:pathLst>
                <a:path w="2357120" h="2276475">
                  <a:moveTo>
                    <a:pt x="2252344" y="2219325"/>
                  </a:moveTo>
                  <a:lnTo>
                    <a:pt x="2023744" y="2219325"/>
                  </a:lnTo>
                  <a:lnTo>
                    <a:pt x="2023744" y="2276475"/>
                  </a:lnTo>
                  <a:lnTo>
                    <a:pt x="2252344" y="2276475"/>
                  </a:lnTo>
                  <a:lnTo>
                    <a:pt x="2252344" y="2219325"/>
                  </a:lnTo>
                  <a:close/>
                </a:path>
                <a:path w="2357120" h="2276475">
                  <a:moveTo>
                    <a:pt x="2357119" y="1924050"/>
                  </a:moveTo>
                  <a:lnTo>
                    <a:pt x="2299969" y="1924050"/>
                  </a:lnTo>
                  <a:lnTo>
                    <a:pt x="2299969" y="2152650"/>
                  </a:lnTo>
                  <a:lnTo>
                    <a:pt x="2357119" y="2152650"/>
                  </a:lnTo>
                  <a:lnTo>
                    <a:pt x="2357119" y="1924050"/>
                  </a:lnTo>
                  <a:close/>
                </a:path>
                <a:path w="2357120" h="2276475">
                  <a:moveTo>
                    <a:pt x="2357119" y="1524000"/>
                  </a:moveTo>
                  <a:lnTo>
                    <a:pt x="2299969" y="1524000"/>
                  </a:lnTo>
                  <a:lnTo>
                    <a:pt x="2299969" y="1752600"/>
                  </a:lnTo>
                  <a:lnTo>
                    <a:pt x="2357119" y="1752600"/>
                  </a:lnTo>
                  <a:lnTo>
                    <a:pt x="2357119" y="1524000"/>
                  </a:lnTo>
                  <a:close/>
                </a:path>
                <a:path w="2357120" h="2276475">
                  <a:moveTo>
                    <a:pt x="2357119" y="1123950"/>
                  </a:moveTo>
                  <a:lnTo>
                    <a:pt x="2299969" y="1123950"/>
                  </a:lnTo>
                  <a:lnTo>
                    <a:pt x="2299969" y="1352550"/>
                  </a:lnTo>
                  <a:lnTo>
                    <a:pt x="2357119" y="1352550"/>
                  </a:lnTo>
                  <a:lnTo>
                    <a:pt x="2357119" y="1123950"/>
                  </a:lnTo>
                  <a:close/>
                </a:path>
                <a:path w="2357120" h="2276475">
                  <a:moveTo>
                    <a:pt x="2357119" y="723900"/>
                  </a:moveTo>
                  <a:lnTo>
                    <a:pt x="2299969" y="723900"/>
                  </a:lnTo>
                  <a:lnTo>
                    <a:pt x="2299969" y="952500"/>
                  </a:lnTo>
                  <a:lnTo>
                    <a:pt x="2357119" y="952500"/>
                  </a:lnTo>
                  <a:lnTo>
                    <a:pt x="2357119" y="723900"/>
                  </a:lnTo>
                  <a:close/>
                </a:path>
                <a:path w="2357120" h="2276475">
                  <a:moveTo>
                    <a:pt x="2217166" y="635381"/>
                  </a:moveTo>
                  <a:lnTo>
                    <a:pt x="1988565" y="635381"/>
                  </a:lnTo>
                  <a:lnTo>
                    <a:pt x="1988565" y="692531"/>
                  </a:lnTo>
                  <a:lnTo>
                    <a:pt x="2217166" y="692531"/>
                  </a:lnTo>
                  <a:lnTo>
                    <a:pt x="2217166" y="635381"/>
                  </a:lnTo>
                  <a:close/>
                </a:path>
                <a:path w="2357120" h="2276475">
                  <a:moveTo>
                    <a:pt x="1817115" y="635381"/>
                  </a:moveTo>
                  <a:lnTo>
                    <a:pt x="1588515" y="635381"/>
                  </a:lnTo>
                  <a:lnTo>
                    <a:pt x="1588515" y="692531"/>
                  </a:lnTo>
                  <a:lnTo>
                    <a:pt x="1817115" y="692531"/>
                  </a:lnTo>
                  <a:lnTo>
                    <a:pt x="1817115" y="635381"/>
                  </a:lnTo>
                  <a:close/>
                </a:path>
                <a:path w="2357120" h="2276475">
                  <a:moveTo>
                    <a:pt x="1417065" y="635381"/>
                  </a:moveTo>
                  <a:lnTo>
                    <a:pt x="1188465" y="635381"/>
                  </a:lnTo>
                  <a:lnTo>
                    <a:pt x="1188465" y="692531"/>
                  </a:lnTo>
                  <a:lnTo>
                    <a:pt x="1417065" y="692531"/>
                  </a:lnTo>
                  <a:lnTo>
                    <a:pt x="1417065" y="635381"/>
                  </a:lnTo>
                  <a:close/>
                </a:path>
                <a:path w="2357120" h="2276475">
                  <a:moveTo>
                    <a:pt x="1017015" y="635381"/>
                  </a:moveTo>
                  <a:lnTo>
                    <a:pt x="788415" y="635381"/>
                  </a:lnTo>
                  <a:lnTo>
                    <a:pt x="788415" y="692531"/>
                  </a:lnTo>
                  <a:lnTo>
                    <a:pt x="1017015" y="692531"/>
                  </a:lnTo>
                  <a:lnTo>
                    <a:pt x="1017015" y="635381"/>
                  </a:lnTo>
                  <a:close/>
                </a:path>
                <a:path w="2357120" h="2276475">
                  <a:moveTo>
                    <a:pt x="616965" y="635381"/>
                  </a:moveTo>
                  <a:lnTo>
                    <a:pt x="388365" y="635381"/>
                  </a:lnTo>
                  <a:lnTo>
                    <a:pt x="388365" y="692531"/>
                  </a:lnTo>
                  <a:lnTo>
                    <a:pt x="616965" y="692531"/>
                  </a:lnTo>
                  <a:lnTo>
                    <a:pt x="616965" y="635381"/>
                  </a:lnTo>
                  <a:close/>
                </a:path>
                <a:path w="2357120" h="2276475">
                  <a:moveTo>
                    <a:pt x="114300" y="566419"/>
                  </a:moveTo>
                  <a:lnTo>
                    <a:pt x="57150" y="566419"/>
                  </a:lnTo>
                  <a:lnTo>
                    <a:pt x="57150" y="663956"/>
                  </a:lnTo>
                  <a:lnTo>
                    <a:pt x="59400" y="675064"/>
                  </a:lnTo>
                  <a:lnTo>
                    <a:pt x="65532" y="684149"/>
                  </a:lnTo>
                  <a:lnTo>
                    <a:pt x="74616" y="690280"/>
                  </a:lnTo>
                  <a:lnTo>
                    <a:pt x="85725" y="692531"/>
                  </a:lnTo>
                  <a:lnTo>
                    <a:pt x="216915" y="692531"/>
                  </a:lnTo>
                  <a:lnTo>
                    <a:pt x="216915" y="663956"/>
                  </a:lnTo>
                  <a:lnTo>
                    <a:pt x="114300" y="663956"/>
                  </a:lnTo>
                  <a:lnTo>
                    <a:pt x="85725" y="635381"/>
                  </a:lnTo>
                  <a:lnTo>
                    <a:pt x="114300" y="635381"/>
                  </a:lnTo>
                  <a:lnTo>
                    <a:pt x="114300" y="566419"/>
                  </a:lnTo>
                  <a:close/>
                </a:path>
                <a:path w="2357120" h="2276475">
                  <a:moveTo>
                    <a:pt x="114300" y="635381"/>
                  </a:moveTo>
                  <a:lnTo>
                    <a:pt x="85725" y="635381"/>
                  </a:lnTo>
                  <a:lnTo>
                    <a:pt x="114300" y="663956"/>
                  </a:lnTo>
                  <a:lnTo>
                    <a:pt x="114300" y="635381"/>
                  </a:lnTo>
                  <a:close/>
                </a:path>
                <a:path w="2357120" h="2276475">
                  <a:moveTo>
                    <a:pt x="216915" y="635381"/>
                  </a:moveTo>
                  <a:lnTo>
                    <a:pt x="114300" y="635381"/>
                  </a:lnTo>
                  <a:lnTo>
                    <a:pt x="114300" y="663956"/>
                  </a:lnTo>
                  <a:lnTo>
                    <a:pt x="216915" y="663956"/>
                  </a:lnTo>
                  <a:lnTo>
                    <a:pt x="216915" y="635381"/>
                  </a:lnTo>
                  <a:close/>
                </a:path>
                <a:path w="2357120" h="2276475">
                  <a:moveTo>
                    <a:pt x="114300" y="166370"/>
                  </a:moveTo>
                  <a:lnTo>
                    <a:pt x="57150" y="166370"/>
                  </a:lnTo>
                  <a:lnTo>
                    <a:pt x="57150" y="394969"/>
                  </a:lnTo>
                  <a:lnTo>
                    <a:pt x="114300" y="394969"/>
                  </a:lnTo>
                  <a:lnTo>
                    <a:pt x="114300" y="166370"/>
                  </a:lnTo>
                  <a:close/>
                </a:path>
                <a:path w="2357120" h="2276475">
                  <a:moveTo>
                    <a:pt x="85725" y="0"/>
                  </a:moveTo>
                  <a:lnTo>
                    <a:pt x="0" y="171450"/>
                  </a:lnTo>
                  <a:lnTo>
                    <a:pt x="57150" y="171450"/>
                  </a:lnTo>
                  <a:lnTo>
                    <a:pt x="57150" y="166370"/>
                  </a:lnTo>
                  <a:lnTo>
                    <a:pt x="168910" y="166370"/>
                  </a:lnTo>
                  <a:lnTo>
                    <a:pt x="85725" y="0"/>
                  </a:lnTo>
                  <a:close/>
                </a:path>
                <a:path w="2357120" h="2276475">
                  <a:moveTo>
                    <a:pt x="168910" y="166370"/>
                  </a:moveTo>
                  <a:lnTo>
                    <a:pt x="114300" y="166370"/>
                  </a:lnTo>
                  <a:lnTo>
                    <a:pt x="114300" y="171450"/>
                  </a:lnTo>
                  <a:lnTo>
                    <a:pt x="171450" y="171450"/>
                  </a:lnTo>
                  <a:lnTo>
                    <a:pt x="168910" y="16637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5">
            <a:extLst>
              <a:ext uri="{FF2B5EF4-FFF2-40B4-BE49-F238E27FC236}">
                <a16:creationId xmlns:a16="http://schemas.microsoft.com/office/drawing/2014/main" id="{19F3717A-3836-E01E-FB2E-E28C91511049}"/>
              </a:ext>
            </a:extLst>
          </p:cNvPr>
          <p:cNvSpPr txBox="1"/>
          <p:nvPr/>
        </p:nvSpPr>
        <p:spPr>
          <a:xfrm>
            <a:off x="6972680" y="4099370"/>
            <a:ext cx="6591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X+3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9" name="object 26">
            <a:extLst>
              <a:ext uri="{FF2B5EF4-FFF2-40B4-BE49-F238E27FC236}">
                <a16:creationId xmlns:a16="http://schemas.microsoft.com/office/drawing/2014/main" id="{6817260A-A3CC-A1CE-AE49-99699C7D6630}"/>
              </a:ext>
            </a:extLst>
          </p:cNvPr>
          <p:cNvGrpSpPr/>
          <p:nvPr/>
        </p:nvGrpSpPr>
        <p:grpSpPr>
          <a:xfrm>
            <a:off x="2380488" y="1690688"/>
            <a:ext cx="1181100" cy="1896110"/>
            <a:chOff x="2417064" y="1551432"/>
            <a:chExt cx="1181100" cy="1896110"/>
          </a:xfrm>
        </p:grpSpPr>
        <p:pic>
          <p:nvPicPr>
            <p:cNvPr id="30" name="object 27">
              <a:extLst>
                <a:ext uri="{FF2B5EF4-FFF2-40B4-BE49-F238E27FC236}">
                  <a16:creationId xmlns:a16="http://schemas.microsoft.com/office/drawing/2014/main" id="{8386CE19-ACE9-DDFC-708C-984AC2FB5778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17064" y="1551432"/>
              <a:ext cx="1056132" cy="1895856"/>
            </a:xfrm>
            <a:prstGeom prst="rect">
              <a:avLst/>
            </a:prstGeom>
          </p:spPr>
        </p:pic>
        <p:pic>
          <p:nvPicPr>
            <p:cNvPr id="31" name="object 28">
              <a:extLst>
                <a:ext uri="{FF2B5EF4-FFF2-40B4-BE49-F238E27FC236}">
                  <a16:creationId xmlns:a16="http://schemas.microsoft.com/office/drawing/2014/main" id="{03ACA910-A45D-2194-5DF8-AF64A43EFE84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46020" y="1551432"/>
              <a:ext cx="1152144" cy="1780032"/>
            </a:xfrm>
            <a:prstGeom prst="rect">
              <a:avLst/>
            </a:prstGeom>
          </p:spPr>
        </p:pic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2BB8BA36-0AA3-5F4C-3881-78CBFB305F6E}"/>
                </a:ext>
              </a:extLst>
            </p:cNvPr>
            <p:cNvSpPr/>
            <p:nvPr/>
          </p:nvSpPr>
          <p:spPr>
            <a:xfrm>
              <a:off x="2488057" y="1600073"/>
              <a:ext cx="914400" cy="1753235"/>
            </a:xfrm>
            <a:custGeom>
              <a:avLst/>
              <a:gdLst/>
              <a:ahLst/>
              <a:cxnLst/>
              <a:rect l="l" t="t" r="r" b="b"/>
              <a:pathLst>
                <a:path w="914400" h="1753235">
                  <a:moveTo>
                    <a:pt x="762000" y="0"/>
                  </a:moveTo>
                  <a:lnTo>
                    <a:pt x="152400" y="0"/>
                  </a:lnTo>
                  <a:lnTo>
                    <a:pt x="104265" y="7766"/>
                  </a:lnTo>
                  <a:lnTo>
                    <a:pt x="62435" y="29394"/>
                  </a:lnTo>
                  <a:lnTo>
                    <a:pt x="29431" y="62380"/>
                  </a:lnTo>
                  <a:lnTo>
                    <a:pt x="7778" y="104217"/>
                  </a:lnTo>
                  <a:lnTo>
                    <a:pt x="0" y="152400"/>
                  </a:lnTo>
                  <a:lnTo>
                    <a:pt x="0" y="1600327"/>
                  </a:lnTo>
                  <a:lnTo>
                    <a:pt x="7778" y="1648509"/>
                  </a:lnTo>
                  <a:lnTo>
                    <a:pt x="29431" y="1690346"/>
                  </a:lnTo>
                  <a:lnTo>
                    <a:pt x="62435" y="1723332"/>
                  </a:lnTo>
                  <a:lnTo>
                    <a:pt x="104265" y="1744960"/>
                  </a:lnTo>
                  <a:lnTo>
                    <a:pt x="152400" y="1752727"/>
                  </a:lnTo>
                  <a:lnTo>
                    <a:pt x="762000" y="1752727"/>
                  </a:lnTo>
                  <a:lnTo>
                    <a:pt x="810182" y="1744960"/>
                  </a:lnTo>
                  <a:lnTo>
                    <a:pt x="852019" y="1723332"/>
                  </a:lnTo>
                  <a:lnTo>
                    <a:pt x="885005" y="1690346"/>
                  </a:lnTo>
                  <a:lnTo>
                    <a:pt x="906633" y="1648509"/>
                  </a:lnTo>
                  <a:lnTo>
                    <a:pt x="914400" y="1600327"/>
                  </a:lnTo>
                  <a:lnTo>
                    <a:pt x="914400" y="152400"/>
                  </a:lnTo>
                  <a:lnTo>
                    <a:pt x="906633" y="104217"/>
                  </a:lnTo>
                  <a:lnTo>
                    <a:pt x="885005" y="62380"/>
                  </a:lnTo>
                  <a:lnTo>
                    <a:pt x="852019" y="29394"/>
                  </a:lnTo>
                  <a:lnTo>
                    <a:pt x="810182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0F81642E-7CD9-E87C-45D4-9CBACA4200A7}"/>
                </a:ext>
              </a:extLst>
            </p:cNvPr>
            <p:cNvSpPr/>
            <p:nvPr/>
          </p:nvSpPr>
          <p:spPr>
            <a:xfrm>
              <a:off x="2488057" y="1600073"/>
              <a:ext cx="914400" cy="1753235"/>
            </a:xfrm>
            <a:custGeom>
              <a:avLst/>
              <a:gdLst/>
              <a:ahLst/>
              <a:cxnLst/>
              <a:rect l="l" t="t" r="r" b="b"/>
              <a:pathLst>
                <a:path w="914400" h="1753235">
                  <a:moveTo>
                    <a:pt x="152400" y="1752727"/>
                  </a:moveTo>
                  <a:lnTo>
                    <a:pt x="104265" y="1744960"/>
                  </a:lnTo>
                  <a:lnTo>
                    <a:pt x="62435" y="1723332"/>
                  </a:lnTo>
                  <a:lnTo>
                    <a:pt x="29431" y="1690346"/>
                  </a:lnTo>
                  <a:lnTo>
                    <a:pt x="7778" y="1648509"/>
                  </a:lnTo>
                  <a:lnTo>
                    <a:pt x="0" y="1600327"/>
                  </a:lnTo>
                  <a:lnTo>
                    <a:pt x="0" y="152400"/>
                  </a:lnTo>
                  <a:lnTo>
                    <a:pt x="7778" y="104217"/>
                  </a:lnTo>
                  <a:lnTo>
                    <a:pt x="29431" y="62380"/>
                  </a:lnTo>
                  <a:lnTo>
                    <a:pt x="62435" y="29394"/>
                  </a:lnTo>
                  <a:lnTo>
                    <a:pt x="104265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82" y="7766"/>
                  </a:lnTo>
                  <a:lnTo>
                    <a:pt x="852019" y="29394"/>
                  </a:lnTo>
                  <a:lnTo>
                    <a:pt x="885005" y="62380"/>
                  </a:lnTo>
                  <a:lnTo>
                    <a:pt x="906633" y="104217"/>
                  </a:lnTo>
                  <a:lnTo>
                    <a:pt x="914400" y="152400"/>
                  </a:lnTo>
                  <a:lnTo>
                    <a:pt x="914400" y="1600327"/>
                  </a:lnTo>
                  <a:lnTo>
                    <a:pt x="906633" y="1648509"/>
                  </a:lnTo>
                  <a:lnTo>
                    <a:pt x="885005" y="1690346"/>
                  </a:lnTo>
                  <a:lnTo>
                    <a:pt x="852019" y="1723332"/>
                  </a:lnTo>
                  <a:lnTo>
                    <a:pt x="810182" y="1744960"/>
                  </a:lnTo>
                  <a:lnTo>
                    <a:pt x="762000" y="1752727"/>
                  </a:lnTo>
                  <a:lnTo>
                    <a:pt x="152400" y="1752727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1">
            <a:extLst>
              <a:ext uri="{FF2B5EF4-FFF2-40B4-BE49-F238E27FC236}">
                <a16:creationId xmlns:a16="http://schemas.microsoft.com/office/drawing/2014/main" id="{3DFB38CB-F2DB-5DB9-A120-A45D3E42B504}"/>
              </a:ext>
            </a:extLst>
          </p:cNvPr>
          <p:cNvSpPr txBox="1"/>
          <p:nvPr/>
        </p:nvSpPr>
        <p:spPr>
          <a:xfrm>
            <a:off x="2686431" y="2119196"/>
            <a:ext cx="533400" cy="995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895"/>
              </a:lnSpc>
            </a:pP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4000" b="1" spc="-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5" name="object 32">
            <a:extLst>
              <a:ext uri="{FF2B5EF4-FFF2-40B4-BE49-F238E27FC236}">
                <a16:creationId xmlns:a16="http://schemas.microsoft.com/office/drawing/2014/main" id="{4345C136-AF2E-0D6D-9F59-815CF9A318E2}"/>
              </a:ext>
            </a:extLst>
          </p:cNvPr>
          <p:cNvSpPr txBox="1"/>
          <p:nvPr/>
        </p:nvSpPr>
        <p:spPr>
          <a:xfrm>
            <a:off x="3930777" y="5233479"/>
            <a:ext cx="5664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" dirty="0">
                <a:latin typeface="Calibri"/>
                <a:cs typeface="Calibri"/>
              </a:rPr>
              <a:t>❶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6" name="object 33">
            <a:extLst>
              <a:ext uri="{FF2B5EF4-FFF2-40B4-BE49-F238E27FC236}">
                <a16:creationId xmlns:a16="http://schemas.microsoft.com/office/drawing/2014/main" id="{B4A962D6-E06D-CC01-6DCB-DDE21B72DE9B}"/>
              </a:ext>
            </a:extLst>
          </p:cNvPr>
          <p:cNvSpPr txBox="1"/>
          <p:nvPr/>
        </p:nvSpPr>
        <p:spPr>
          <a:xfrm>
            <a:off x="8558910" y="4677220"/>
            <a:ext cx="5664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" dirty="0">
                <a:latin typeface="Calibri"/>
                <a:cs typeface="Calibri"/>
              </a:rPr>
              <a:t>❷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7" name="object 34">
            <a:extLst>
              <a:ext uri="{FF2B5EF4-FFF2-40B4-BE49-F238E27FC236}">
                <a16:creationId xmlns:a16="http://schemas.microsoft.com/office/drawing/2014/main" id="{B2FC1395-5B37-65EE-3FA1-D1CD13C19915}"/>
              </a:ext>
            </a:extLst>
          </p:cNvPr>
          <p:cNvSpPr txBox="1"/>
          <p:nvPr/>
        </p:nvSpPr>
        <p:spPr>
          <a:xfrm>
            <a:off x="7253096" y="2137347"/>
            <a:ext cx="5664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" dirty="0">
                <a:latin typeface="Calibri"/>
                <a:cs typeface="Calibri"/>
              </a:rPr>
              <a:t>❸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8" name="object 35">
            <a:extLst>
              <a:ext uri="{FF2B5EF4-FFF2-40B4-BE49-F238E27FC236}">
                <a16:creationId xmlns:a16="http://schemas.microsoft.com/office/drawing/2014/main" id="{E0A0470B-09DD-5D10-848A-F446E91710D1}"/>
              </a:ext>
            </a:extLst>
          </p:cNvPr>
          <p:cNvSpPr txBox="1"/>
          <p:nvPr/>
        </p:nvSpPr>
        <p:spPr>
          <a:xfrm>
            <a:off x="7265289" y="3167901"/>
            <a:ext cx="566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" dirty="0">
                <a:latin typeface="Calibri"/>
                <a:cs typeface="Calibri"/>
              </a:rPr>
              <a:t>❹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9" name="object 36">
            <a:extLst>
              <a:ext uri="{FF2B5EF4-FFF2-40B4-BE49-F238E27FC236}">
                <a16:creationId xmlns:a16="http://schemas.microsoft.com/office/drawing/2014/main" id="{4246DCC0-A357-9861-207D-A25FF6E0AC2A}"/>
              </a:ext>
            </a:extLst>
          </p:cNvPr>
          <p:cNvSpPr txBox="1"/>
          <p:nvPr/>
        </p:nvSpPr>
        <p:spPr>
          <a:xfrm>
            <a:off x="4123689" y="1481427"/>
            <a:ext cx="659765" cy="10744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3200" spc="5" dirty="0">
                <a:latin typeface="Calibri"/>
                <a:cs typeface="Calibri"/>
              </a:rPr>
              <a:t>❺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3200" b="1" dirty="0">
                <a:latin typeface="Calibri"/>
                <a:cs typeface="Calibri"/>
              </a:rPr>
              <a:t>X+3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0" name="object 37">
            <a:extLst>
              <a:ext uri="{FF2B5EF4-FFF2-40B4-BE49-F238E27FC236}">
                <a16:creationId xmlns:a16="http://schemas.microsoft.com/office/drawing/2014/main" id="{34220568-7B20-4DC8-948A-D9290F767DAF}"/>
              </a:ext>
            </a:extLst>
          </p:cNvPr>
          <p:cNvGrpSpPr/>
          <p:nvPr/>
        </p:nvGrpSpPr>
        <p:grpSpPr>
          <a:xfrm>
            <a:off x="5298947" y="982028"/>
            <a:ext cx="4032885" cy="2479675"/>
            <a:chOff x="5335523" y="842772"/>
            <a:chExt cx="4032885" cy="2479675"/>
          </a:xfrm>
        </p:grpSpPr>
        <p:pic>
          <p:nvPicPr>
            <p:cNvPr id="41" name="object 38">
              <a:extLst>
                <a:ext uri="{FF2B5EF4-FFF2-40B4-BE49-F238E27FC236}">
                  <a16:creationId xmlns:a16="http://schemas.microsoft.com/office/drawing/2014/main" id="{955ECC34-8045-F976-84B4-52E8CFCC988F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09943" y="2727960"/>
              <a:ext cx="2958083" cy="594360"/>
            </a:xfrm>
            <a:prstGeom prst="rect">
              <a:avLst/>
            </a:prstGeom>
          </p:spPr>
        </p:pic>
        <p:sp>
          <p:nvSpPr>
            <p:cNvPr id="42" name="object 39">
              <a:extLst>
                <a:ext uri="{FF2B5EF4-FFF2-40B4-BE49-F238E27FC236}">
                  <a16:creationId xmlns:a16="http://schemas.microsoft.com/office/drawing/2014/main" id="{D1F6C52D-36C8-9189-D494-5F4102481D46}"/>
                </a:ext>
              </a:extLst>
            </p:cNvPr>
            <p:cNvSpPr/>
            <p:nvPr/>
          </p:nvSpPr>
          <p:spPr>
            <a:xfrm>
              <a:off x="6707123" y="2876607"/>
              <a:ext cx="2618105" cy="257175"/>
            </a:xfrm>
            <a:custGeom>
              <a:avLst/>
              <a:gdLst/>
              <a:ahLst/>
              <a:cxnLst/>
              <a:rect l="l" t="t" r="r" b="b"/>
              <a:pathLst>
                <a:path w="2618104" h="257175">
                  <a:moveTo>
                    <a:pt x="224585" y="0"/>
                  </a:moveTo>
                  <a:lnTo>
                    <a:pt x="213868" y="3625"/>
                  </a:lnTo>
                  <a:lnTo>
                    <a:pt x="0" y="128339"/>
                  </a:lnTo>
                  <a:lnTo>
                    <a:pt x="213868" y="253053"/>
                  </a:lnTo>
                  <a:lnTo>
                    <a:pt x="224585" y="256732"/>
                  </a:lnTo>
                  <a:lnTo>
                    <a:pt x="235505" y="256006"/>
                  </a:lnTo>
                  <a:lnTo>
                    <a:pt x="245354" y="251231"/>
                  </a:lnTo>
                  <a:lnTo>
                    <a:pt x="252856" y="242766"/>
                  </a:lnTo>
                  <a:lnTo>
                    <a:pt x="256553" y="232046"/>
                  </a:lnTo>
                  <a:lnTo>
                    <a:pt x="255857" y="221112"/>
                  </a:lnTo>
                  <a:lnTo>
                    <a:pt x="251088" y="211226"/>
                  </a:lnTo>
                  <a:lnTo>
                    <a:pt x="242570" y="203650"/>
                  </a:lnTo>
                  <a:lnTo>
                    <a:pt x="162400" y="156914"/>
                  </a:lnTo>
                  <a:lnTo>
                    <a:pt x="56769" y="156914"/>
                  </a:lnTo>
                  <a:lnTo>
                    <a:pt x="56769" y="99764"/>
                  </a:lnTo>
                  <a:lnTo>
                    <a:pt x="162501" y="99764"/>
                  </a:lnTo>
                  <a:lnTo>
                    <a:pt x="242570" y="53028"/>
                  </a:lnTo>
                  <a:lnTo>
                    <a:pt x="251088" y="45469"/>
                  </a:lnTo>
                  <a:lnTo>
                    <a:pt x="255857" y="35613"/>
                  </a:lnTo>
                  <a:lnTo>
                    <a:pt x="256553" y="24685"/>
                  </a:lnTo>
                  <a:lnTo>
                    <a:pt x="252856" y="13912"/>
                  </a:lnTo>
                  <a:lnTo>
                    <a:pt x="245354" y="5464"/>
                  </a:lnTo>
                  <a:lnTo>
                    <a:pt x="235505" y="720"/>
                  </a:lnTo>
                  <a:lnTo>
                    <a:pt x="224585" y="0"/>
                  </a:lnTo>
                  <a:close/>
                </a:path>
                <a:path w="2618104" h="257175">
                  <a:moveTo>
                    <a:pt x="162501" y="99764"/>
                  </a:moveTo>
                  <a:lnTo>
                    <a:pt x="56769" y="99764"/>
                  </a:lnTo>
                  <a:lnTo>
                    <a:pt x="56769" y="156914"/>
                  </a:lnTo>
                  <a:lnTo>
                    <a:pt x="162400" y="156914"/>
                  </a:lnTo>
                  <a:lnTo>
                    <a:pt x="155864" y="153104"/>
                  </a:lnTo>
                  <a:lnTo>
                    <a:pt x="71120" y="153104"/>
                  </a:lnTo>
                  <a:lnTo>
                    <a:pt x="71120" y="103701"/>
                  </a:lnTo>
                  <a:lnTo>
                    <a:pt x="155757" y="103701"/>
                  </a:lnTo>
                  <a:lnTo>
                    <a:pt x="162501" y="99764"/>
                  </a:lnTo>
                  <a:close/>
                </a:path>
                <a:path w="2618104" h="257175">
                  <a:moveTo>
                    <a:pt x="2617724" y="99764"/>
                  </a:moveTo>
                  <a:lnTo>
                    <a:pt x="162501" y="99764"/>
                  </a:lnTo>
                  <a:lnTo>
                    <a:pt x="113465" y="128387"/>
                  </a:lnTo>
                  <a:lnTo>
                    <a:pt x="162400" y="156914"/>
                  </a:lnTo>
                  <a:lnTo>
                    <a:pt x="2617724" y="156914"/>
                  </a:lnTo>
                  <a:lnTo>
                    <a:pt x="2617724" y="99764"/>
                  </a:lnTo>
                  <a:close/>
                </a:path>
                <a:path w="2618104" h="257175">
                  <a:moveTo>
                    <a:pt x="71120" y="103701"/>
                  </a:moveTo>
                  <a:lnTo>
                    <a:pt x="71120" y="153104"/>
                  </a:lnTo>
                  <a:lnTo>
                    <a:pt x="113465" y="128387"/>
                  </a:lnTo>
                  <a:lnTo>
                    <a:pt x="71120" y="103701"/>
                  </a:lnTo>
                  <a:close/>
                </a:path>
                <a:path w="2618104" h="257175">
                  <a:moveTo>
                    <a:pt x="113465" y="128387"/>
                  </a:moveTo>
                  <a:lnTo>
                    <a:pt x="71120" y="153104"/>
                  </a:lnTo>
                  <a:lnTo>
                    <a:pt x="155864" y="153104"/>
                  </a:lnTo>
                  <a:lnTo>
                    <a:pt x="113465" y="128387"/>
                  </a:lnTo>
                  <a:close/>
                </a:path>
                <a:path w="2618104" h="257175">
                  <a:moveTo>
                    <a:pt x="155757" y="103701"/>
                  </a:moveTo>
                  <a:lnTo>
                    <a:pt x="71120" y="103701"/>
                  </a:lnTo>
                  <a:lnTo>
                    <a:pt x="113465" y="128387"/>
                  </a:lnTo>
                  <a:lnTo>
                    <a:pt x="155757" y="103701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0">
              <a:extLst>
                <a:ext uri="{FF2B5EF4-FFF2-40B4-BE49-F238E27FC236}">
                  <a16:creationId xmlns:a16="http://schemas.microsoft.com/office/drawing/2014/main" id="{E222DBA9-CEA7-1469-E858-B3F2FCFE3262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35523" y="842772"/>
              <a:ext cx="1921764" cy="1033272"/>
            </a:xfrm>
            <a:prstGeom prst="rect">
              <a:avLst/>
            </a:prstGeom>
          </p:spPr>
        </p:pic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3EE892D9-37A8-6F0C-F844-33D9707FB6E9}"/>
                </a:ext>
              </a:extLst>
            </p:cNvPr>
            <p:cNvSpPr/>
            <p:nvPr/>
          </p:nvSpPr>
          <p:spPr>
            <a:xfrm>
              <a:off x="5383656" y="867410"/>
              <a:ext cx="1826895" cy="938530"/>
            </a:xfrm>
            <a:custGeom>
              <a:avLst/>
              <a:gdLst/>
              <a:ahLst/>
              <a:cxnLst/>
              <a:rect l="l" t="t" r="r" b="b"/>
              <a:pathLst>
                <a:path w="1826895" h="938530">
                  <a:moveTo>
                    <a:pt x="1250568" y="0"/>
                  </a:moveTo>
                  <a:lnTo>
                    <a:pt x="969137" y="188594"/>
                  </a:lnTo>
                  <a:lnTo>
                    <a:pt x="822070" y="81914"/>
                  </a:lnTo>
                  <a:lnTo>
                    <a:pt x="723010" y="277240"/>
                  </a:lnTo>
                  <a:lnTo>
                    <a:pt x="380745" y="157479"/>
                  </a:lnTo>
                  <a:lnTo>
                    <a:pt x="454278" y="339598"/>
                  </a:lnTo>
                  <a:lnTo>
                    <a:pt x="99187" y="359282"/>
                  </a:lnTo>
                  <a:lnTo>
                    <a:pt x="332739" y="503681"/>
                  </a:lnTo>
                  <a:lnTo>
                    <a:pt x="0" y="559562"/>
                  </a:lnTo>
                  <a:lnTo>
                    <a:pt x="281558" y="667892"/>
                  </a:lnTo>
                  <a:lnTo>
                    <a:pt x="108712" y="774573"/>
                  </a:lnTo>
                  <a:lnTo>
                    <a:pt x="406272" y="792606"/>
                  </a:lnTo>
                  <a:lnTo>
                    <a:pt x="415797" y="938529"/>
                  </a:lnTo>
                  <a:lnTo>
                    <a:pt x="636523" y="787526"/>
                  </a:lnTo>
                  <a:lnTo>
                    <a:pt x="735710" y="856488"/>
                  </a:lnTo>
                  <a:lnTo>
                    <a:pt x="834770" y="754761"/>
                  </a:lnTo>
                  <a:lnTo>
                    <a:pt x="981837" y="818768"/>
                  </a:lnTo>
                  <a:lnTo>
                    <a:pt x="1029842" y="692403"/>
                  </a:lnTo>
                  <a:lnTo>
                    <a:pt x="1263395" y="754761"/>
                  </a:lnTo>
                  <a:lnTo>
                    <a:pt x="1237868" y="623569"/>
                  </a:lnTo>
                  <a:lnTo>
                    <a:pt x="1596136" y="679195"/>
                  </a:lnTo>
                  <a:lnTo>
                    <a:pt x="1385062" y="534924"/>
                  </a:lnTo>
                  <a:lnTo>
                    <a:pt x="1544827" y="490600"/>
                  </a:lnTo>
                  <a:lnTo>
                    <a:pt x="1436115" y="408559"/>
                  </a:lnTo>
                  <a:lnTo>
                    <a:pt x="1826387" y="288670"/>
                  </a:lnTo>
                  <a:lnTo>
                    <a:pt x="1385062" y="283844"/>
                  </a:lnTo>
                  <a:lnTo>
                    <a:pt x="1522602" y="137794"/>
                  </a:lnTo>
                  <a:lnTo>
                    <a:pt x="1228216" y="250951"/>
                  </a:lnTo>
                  <a:lnTo>
                    <a:pt x="1250568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E06517EF-99D1-6D8C-5BFE-3EA0B0A34645}"/>
                </a:ext>
              </a:extLst>
            </p:cNvPr>
            <p:cNvSpPr/>
            <p:nvPr/>
          </p:nvSpPr>
          <p:spPr>
            <a:xfrm>
              <a:off x="5383656" y="867410"/>
              <a:ext cx="1826895" cy="938530"/>
            </a:xfrm>
            <a:custGeom>
              <a:avLst/>
              <a:gdLst/>
              <a:ahLst/>
              <a:cxnLst/>
              <a:rect l="l" t="t" r="r" b="b"/>
              <a:pathLst>
                <a:path w="1826895" h="938530">
                  <a:moveTo>
                    <a:pt x="969137" y="188594"/>
                  </a:moveTo>
                  <a:lnTo>
                    <a:pt x="1250568" y="0"/>
                  </a:lnTo>
                  <a:lnTo>
                    <a:pt x="1228216" y="250951"/>
                  </a:lnTo>
                  <a:lnTo>
                    <a:pt x="1522602" y="137794"/>
                  </a:lnTo>
                  <a:lnTo>
                    <a:pt x="1385062" y="283844"/>
                  </a:lnTo>
                  <a:lnTo>
                    <a:pt x="1826387" y="288670"/>
                  </a:lnTo>
                  <a:lnTo>
                    <a:pt x="1436115" y="408559"/>
                  </a:lnTo>
                  <a:lnTo>
                    <a:pt x="1544827" y="490600"/>
                  </a:lnTo>
                  <a:lnTo>
                    <a:pt x="1385062" y="534924"/>
                  </a:lnTo>
                  <a:lnTo>
                    <a:pt x="1596136" y="679195"/>
                  </a:lnTo>
                  <a:lnTo>
                    <a:pt x="1237868" y="623569"/>
                  </a:lnTo>
                  <a:lnTo>
                    <a:pt x="1263395" y="754761"/>
                  </a:lnTo>
                  <a:lnTo>
                    <a:pt x="1029842" y="692403"/>
                  </a:lnTo>
                  <a:lnTo>
                    <a:pt x="981837" y="818768"/>
                  </a:lnTo>
                  <a:lnTo>
                    <a:pt x="834770" y="754761"/>
                  </a:lnTo>
                  <a:lnTo>
                    <a:pt x="735710" y="856488"/>
                  </a:lnTo>
                  <a:lnTo>
                    <a:pt x="636523" y="787526"/>
                  </a:lnTo>
                  <a:lnTo>
                    <a:pt x="415797" y="938529"/>
                  </a:lnTo>
                  <a:lnTo>
                    <a:pt x="406272" y="792606"/>
                  </a:lnTo>
                  <a:lnTo>
                    <a:pt x="108712" y="774573"/>
                  </a:lnTo>
                  <a:lnTo>
                    <a:pt x="281558" y="667892"/>
                  </a:lnTo>
                  <a:lnTo>
                    <a:pt x="0" y="559562"/>
                  </a:lnTo>
                  <a:lnTo>
                    <a:pt x="332739" y="503681"/>
                  </a:lnTo>
                  <a:lnTo>
                    <a:pt x="99187" y="359282"/>
                  </a:lnTo>
                  <a:lnTo>
                    <a:pt x="454278" y="339598"/>
                  </a:lnTo>
                  <a:lnTo>
                    <a:pt x="380745" y="157479"/>
                  </a:lnTo>
                  <a:lnTo>
                    <a:pt x="723010" y="277240"/>
                  </a:lnTo>
                  <a:lnTo>
                    <a:pt x="822070" y="81914"/>
                  </a:lnTo>
                  <a:lnTo>
                    <a:pt x="969137" y="18859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3">
            <a:extLst>
              <a:ext uri="{FF2B5EF4-FFF2-40B4-BE49-F238E27FC236}">
                <a16:creationId xmlns:a16="http://schemas.microsoft.com/office/drawing/2014/main" id="{0F84A048-1410-B2C8-1443-09792441062D}"/>
              </a:ext>
            </a:extLst>
          </p:cNvPr>
          <p:cNvSpPr txBox="1"/>
          <p:nvPr/>
        </p:nvSpPr>
        <p:spPr>
          <a:xfrm>
            <a:off x="5847333" y="1200036"/>
            <a:ext cx="5911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H</a:t>
            </a:r>
            <a:r>
              <a:rPr sz="3200" b="1" spc="-15" dirty="0">
                <a:latin typeface="Calibri"/>
                <a:cs typeface="Calibri"/>
              </a:rPr>
              <a:t>I</a:t>
            </a:r>
            <a:r>
              <a:rPr sz="3200" b="1" dirty="0">
                <a:latin typeface="Calibri"/>
                <a:cs typeface="Calibri"/>
              </a:rPr>
              <a:t>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7" name="object 44">
            <a:extLst>
              <a:ext uri="{FF2B5EF4-FFF2-40B4-BE49-F238E27FC236}">
                <a16:creationId xmlns:a16="http://schemas.microsoft.com/office/drawing/2014/main" id="{759BF0F5-3688-D95B-4C2A-FF6D52BF0588}"/>
              </a:ext>
            </a:extLst>
          </p:cNvPr>
          <p:cNvSpPr txBox="1"/>
          <p:nvPr/>
        </p:nvSpPr>
        <p:spPr>
          <a:xfrm>
            <a:off x="3604640" y="2747673"/>
            <a:ext cx="659765" cy="203009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just">
              <a:lnSpc>
                <a:spcPct val="135300"/>
              </a:lnSpc>
              <a:spcBef>
                <a:spcPts val="300"/>
              </a:spcBef>
            </a:pPr>
            <a:r>
              <a:rPr sz="3200" b="1" dirty="0">
                <a:latin typeface="Calibri"/>
                <a:cs typeface="Calibri"/>
              </a:rPr>
              <a:t>X+2  X+1  X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7190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11E3-F3B4-4A0C-D027-CD2009C3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Prefetch Degree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D959E-9DD2-FD41-E101-638ED0F8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32504-C80C-8AAA-BB89-950D4A17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47473708-AF77-6C53-111F-46DA03D05BAF}"/>
              </a:ext>
            </a:extLst>
          </p:cNvPr>
          <p:cNvGrpSpPr/>
          <p:nvPr/>
        </p:nvGrpSpPr>
        <p:grpSpPr>
          <a:xfrm>
            <a:off x="222250" y="1386256"/>
            <a:ext cx="11747500" cy="1003300"/>
            <a:chOff x="222250" y="1136650"/>
            <a:chExt cx="11747500" cy="1003300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5D24ADAD-AA08-E4E1-E237-203AB9BD4377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11569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11569700" y="990600"/>
                  </a:lnTo>
                  <a:lnTo>
                    <a:pt x="11613591" y="984702"/>
                  </a:lnTo>
                  <a:lnTo>
                    <a:pt x="11653030" y="968059"/>
                  </a:lnTo>
                  <a:lnTo>
                    <a:pt x="11686444" y="942244"/>
                  </a:lnTo>
                  <a:lnTo>
                    <a:pt x="11712259" y="908830"/>
                  </a:lnTo>
                  <a:lnTo>
                    <a:pt x="11728902" y="869391"/>
                  </a:lnTo>
                  <a:lnTo>
                    <a:pt x="11734800" y="825500"/>
                  </a:lnTo>
                  <a:lnTo>
                    <a:pt x="11734800" y="165100"/>
                  </a:lnTo>
                  <a:lnTo>
                    <a:pt x="11728902" y="121208"/>
                  </a:lnTo>
                  <a:lnTo>
                    <a:pt x="11712259" y="81769"/>
                  </a:lnTo>
                  <a:lnTo>
                    <a:pt x="11686444" y="48355"/>
                  </a:lnTo>
                  <a:lnTo>
                    <a:pt x="11653030" y="22540"/>
                  </a:lnTo>
                  <a:lnTo>
                    <a:pt x="11613591" y="5897"/>
                  </a:lnTo>
                  <a:lnTo>
                    <a:pt x="115697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2593760B-DF32-CCE6-3B2B-B760C9C80BC1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1569700" y="0"/>
                  </a:lnTo>
                  <a:lnTo>
                    <a:pt x="11613591" y="5897"/>
                  </a:lnTo>
                  <a:lnTo>
                    <a:pt x="11653030" y="22540"/>
                  </a:lnTo>
                  <a:lnTo>
                    <a:pt x="11686444" y="48355"/>
                  </a:lnTo>
                  <a:lnTo>
                    <a:pt x="11712259" y="81769"/>
                  </a:lnTo>
                  <a:lnTo>
                    <a:pt x="11728902" y="121208"/>
                  </a:lnTo>
                  <a:lnTo>
                    <a:pt x="11734800" y="165100"/>
                  </a:lnTo>
                  <a:lnTo>
                    <a:pt x="11734800" y="825500"/>
                  </a:lnTo>
                  <a:lnTo>
                    <a:pt x="11728902" y="869391"/>
                  </a:lnTo>
                  <a:lnTo>
                    <a:pt x="11712259" y="908830"/>
                  </a:lnTo>
                  <a:lnTo>
                    <a:pt x="11686444" y="942244"/>
                  </a:lnTo>
                  <a:lnTo>
                    <a:pt x="11653030" y="968059"/>
                  </a:lnTo>
                  <a:lnTo>
                    <a:pt x="11613591" y="984702"/>
                  </a:lnTo>
                  <a:lnTo>
                    <a:pt x="115697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6">
            <a:extLst>
              <a:ext uri="{FF2B5EF4-FFF2-40B4-BE49-F238E27FC236}">
                <a16:creationId xmlns:a16="http://schemas.microsoft.com/office/drawing/2014/main" id="{E7CB3681-851A-F274-C108-70BFBFA53179}"/>
              </a:ext>
            </a:extLst>
          </p:cNvPr>
          <p:cNvSpPr txBox="1"/>
          <p:nvPr/>
        </p:nvSpPr>
        <p:spPr>
          <a:xfrm>
            <a:off x="446778" y="1483179"/>
            <a:ext cx="11298443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Prefetch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mbria"/>
                <a:cs typeface="Cambria"/>
              </a:rPr>
              <a:t>Degree:</a:t>
            </a:r>
            <a:r>
              <a:rPr sz="2800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Number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 </a:t>
            </a:r>
            <a:r>
              <a:rPr sz="2800" spc="-15" dirty="0">
                <a:latin typeface="Cambria"/>
                <a:cs typeface="Cambria"/>
              </a:rPr>
              <a:t>prefetch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requests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to</a:t>
            </a:r>
            <a:r>
              <a:rPr sz="2800" spc="-5" dirty="0">
                <a:latin typeface="Cambria"/>
                <a:cs typeface="Cambria"/>
              </a:rPr>
              <a:t> issue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at a </a:t>
            </a:r>
            <a:r>
              <a:rPr sz="2800" spc="-30" dirty="0">
                <a:latin typeface="Cambria"/>
                <a:cs typeface="Cambria"/>
              </a:rPr>
              <a:t>given</a:t>
            </a:r>
            <a:r>
              <a:rPr sz="2800" spc="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time.</a:t>
            </a:r>
            <a:r>
              <a:rPr lang="en-US" sz="2800" spc="-5" dirty="0">
                <a:latin typeface="Cambria"/>
                <a:cs typeface="Cambria"/>
              </a:rPr>
              <a:t> Think about MSHR size now. It should go up to accommodate prefetching. 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7CCC5EA4-DF41-16EF-FCF6-043E506E693F}"/>
              </a:ext>
            </a:extLst>
          </p:cNvPr>
          <p:cNvSpPr/>
          <p:nvPr/>
        </p:nvSpPr>
        <p:spPr>
          <a:xfrm>
            <a:off x="2024379" y="2842145"/>
            <a:ext cx="1224280" cy="556260"/>
          </a:xfrm>
          <a:custGeom>
            <a:avLst/>
            <a:gdLst/>
            <a:ahLst/>
            <a:cxnLst/>
            <a:rect l="l" t="t" r="r" b="b"/>
            <a:pathLst>
              <a:path w="1224280" h="556260">
                <a:moveTo>
                  <a:pt x="0" y="556171"/>
                </a:moveTo>
                <a:lnTo>
                  <a:pt x="1224140" y="556171"/>
                </a:lnTo>
                <a:lnTo>
                  <a:pt x="1224140" y="0"/>
                </a:lnTo>
                <a:lnTo>
                  <a:pt x="0" y="0"/>
                </a:lnTo>
                <a:lnTo>
                  <a:pt x="0" y="556171"/>
                </a:lnTo>
                <a:close/>
              </a:path>
            </a:pathLst>
          </a:custGeom>
          <a:ln w="50800">
            <a:solidFill>
              <a:srgbClr val="6224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B1F9C8E0-DA92-B275-CD35-844955E711A9}"/>
              </a:ext>
            </a:extLst>
          </p:cNvPr>
          <p:cNvSpPr txBox="1"/>
          <p:nvPr/>
        </p:nvSpPr>
        <p:spPr>
          <a:xfrm>
            <a:off x="2500122" y="2871901"/>
            <a:ext cx="354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libri"/>
                <a:cs typeface="Calibri"/>
              </a:rPr>
              <a:t>L2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75BC2F48-FEBA-E01B-1006-CFE854E040A8}"/>
              </a:ext>
            </a:extLst>
          </p:cNvPr>
          <p:cNvSpPr/>
          <p:nvPr/>
        </p:nvSpPr>
        <p:spPr>
          <a:xfrm>
            <a:off x="1592325" y="4273601"/>
            <a:ext cx="2075180" cy="498475"/>
          </a:xfrm>
          <a:custGeom>
            <a:avLst/>
            <a:gdLst/>
            <a:ahLst/>
            <a:cxnLst/>
            <a:rect l="l" t="t" r="r" b="b"/>
            <a:pathLst>
              <a:path w="2075179" h="498475">
                <a:moveTo>
                  <a:pt x="0" y="498474"/>
                </a:moveTo>
                <a:lnTo>
                  <a:pt x="2074926" y="498474"/>
                </a:lnTo>
                <a:lnTo>
                  <a:pt x="2074926" y="0"/>
                </a:lnTo>
                <a:lnTo>
                  <a:pt x="0" y="0"/>
                </a:lnTo>
                <a:lnTo>
                  <a:pt x="0" y="498474"/>
                </a:lnTo>
                <a:close/>
              </a:path>
            </a:pathLst>
          </a:custGeom>
          <a:ln w="50800">
            <a:solidFill>
              <a:srgbClr val="6224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041538E6-8343-D9ED-6B9A-C5BB33CDB93E}"/>
              </a:ext>
            </a:extLst>
          </p:cNvPr>
          <p:cNvSpPr txBox="1"/>
          <p:nvPr/>
        </p:nvSpPr>
        <p:spPr>
          <a:xfrm>
            <a:off x="1923414" y="4274871"/>
            <a:ext cx="1412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L3/D</a:t>
            </a:r>
            <a:r>
              <a:rPr sz="280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AM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C862FC59-3212-2360-C485-2CFD8B7788F2}"/>
              </a:ext>
            </a:extLst>
          </p:cNvPr>
          <p:cNvSpPr/>
          <p:nvPr/>
        </p:nvSpPr>
        <p:spPr>
          <a:xfrm>
            <a:off x="2564257" y="3398189"/>
            <a:ext cx="137795" cy="875665"/>
          </a:xfrm>
          <a:custGeom>
            <a:avLst/>
            <a:gdLst/>
            <a:ahLst/>
            <a:cxnLst/>
            <a:rect l="l" t="t" r="r" b="b"/>
            <a:pathLst>
              <a:path w="137794" h="875664">
                <a:moveTo>
                  <a:pt x="16129" y="744727"/>
                </a:moveTo>
                <a:lnTo>
                  <a:pt x="9270" y="748538"/>
                </a:lnTo>
                <a:lnTo>
                  <a:pt x="2412" y="752474"/>
                </a:lnTo>
                <a:lnTo>
                  <a:pt x="0" y="761238"/>
                </a:lnTo>
                <a:lnTo>
                  <a:pt x="65531" y="875410"/>
                </a:lnTo>
                <a:lnTo>
                  <a:pt x="82253" y="847216"/>
                </a:lnTo>
                <a:lnTo>
                  <a:pt x="80010" y="847216"/>
                </a:lnTo>
                <a:lnTo>
                  <a:pt x="51435" y="846963"/>
                </a:lnTo>
                <a:lnTo>
                  <a:pt x="51836" y="794195"/>
                </a:lnTo>
                <a:lnTo>
                  <a:pt x="24765" y="747013"/>
                </a:lnTo>
                <a:lnTo>
                  <a:pt x="16129" y="744727"/>
                </a:lnTo>
                <a:close/>
              </a:path>
              <a:path w="137794" h="875664">
                <a:moveTo>
                  <a:pt x="51836" y="794195"/>
                </a:moveTo>
                <a:lnTo>
                  <a:pt x="51435" y="846963"/>
                </a:lnTo>
                <a:lnTo>
                  <a:pt x="80010" y="847216"/>
                </a:lnTo>
                <a:lnTo>
                  <a:pt x="80065" y="839977"/>
                </a:lnTo>
                <a:lnTo>
                  <a:pt x="53467" y="839851"/>
                </a:lnTo>
                <a:lnTo>
                  <a:pt x="65944" y="818784"/>
                </a:lnTo>
                <a:lnTo>
                  <a:pt x="51836" y="794195"/>
                </a:lnTo>
                <a:close/>
              </a:path>
              <a:path w="137794" h="875664">
                <a:moveTo>
                  <a:pt x="116840" y="745489"/>
                </a:moveTo>
                <a:lnTo>
                  <a:pt x="108076" y="747648"/>
                </a:lnTo>
                <a:lnTo>
                  <a:pt x="80411" y="794358"/>
                </a:lnTo>
                <a:lnTo>
                  <a:pt x="80010" y="847216"/>
                </a:lnTo>
                <a:lnTo>
                  <a:pt x="82253" y="847216"/>
                </a:lnTo>
                <a:lnTo>
                  <a:pt x="128650" y="768984"/>
                </a:lnTo>
                <a:lnTo>
                  <a:pt x="132715" y="762253"/>
                </a:lnTo>
                <a:lnTo>
                  <a:pt x="130429" y="753490"/>
                </a:lnTo>
                <a:lnTo>
                  <a:pt x="123698" y="749426"/>
                </a:lnTo>
                <a:lnTo>
                  <a:pt x="116840" y="745489"/>
                </a:lnTo>
                <a:close/>
              </a:path>
              <a:path w="137794" h="875664">
                <a:moveTo>
                  <a:pt x="65944" y="818784"/>
                </a:moveTo>
                <a:lnTo>
                  <a:pt x="53467" y="839851"/>
                </a:lnTo>
                <a:lnTo>
                  <a:pt x="78105" y="839977"/>
                </a:lnTo>
                <a:lnTo>
                  <a:pt x="65944" y="818784"/>
                </a:lnTo>
                <a:close/>
              </a:path>
              <a:path w="137794" h="875664">
                <a:moveTo>
                  <a:pt x="80411" y="794358"/>
                </a:moveTo>
                <a:lnTo>
                  <a:pt x="65944" y="818784"/>
                </a:lnTo>
                <a:lnTo>
                  <a:pt x="78105" y="839977"/>
                </a:lnTo>
                <a:lnTo>
                  <a:pt x="80065" y="839977"/>
                </a:lnTo>
                <a:lnTo>
                  <a:pt x="80411" y="794358"/>
                </a:lnTo>
                <a:close/>
              </a:path>
              <a:path w="137794" h="875664">
                <a:moveTo>
                  <a:pt x="71693" y="56752"/>
                </a:moveTo>
                <a:lnTo>
                  <a:pt x="57257" y="81066"/>
                </a:lnTo>
                <a:lnTo>
                  <a:pt x="52034" y="768095"/>
                </a:lnTo>
                <a:lnTo>
                  <a:pt x="51929" y="794358"/>
                </a:lnTo>
                <a:lnTo>
                  <a:pt x="65944" y="818784"/>
                </a:lnTo>
                <a:lnTo>
                  <a:pt x="80411" y="794358"/>
                </a:lnTo>
                <a:lnTo>
                  <a:pt x="85831" y="81450"/>
                </a:lnTo>
                <a:lnTo>
                  <a:pt x="71693" y="56752"/>
                </a:lnTo>
                <a:close/>
              </a:path>
              <a:path w="137794" h="875664">
                <a:moveTo>
                  <a:pt x="88372" y="28320"/>
                </a:moveTo>
                <a:lnTo>
                  <a:pt x="57657" y="28320"/>
                </a:lnTo>
                <a:lnTo>
                  <a:pt x="86232" y="28575"/>
                </a:lnTo>
                <a:lnTo>
                  <a:pt x="85831" y="81450"/>
                </a:lnTo>
                <a:lnTo>
                  <a:pt x="112775" y="128524"/>
                </a:lnTo>
                <a:lnTo>
                  <a:pt x="121538" y="130810"/>
                </a:lnTo>
                <a:lnTo>
                  <a:pt x="135255" y="122936"/>
                </a:lnTo>
                <a:lnTo>
                  <a:pt x="137541" y="114300"/>
                </a:lnTo>
                <a:lnTo>
                  <a:pt x="133731" y="107441"/>
                </a:lnTo>
                <a:lnTo>
                  <a:pt x="88372" y="28320"/>
                </a:lnTo>
                <a:close/>
              </a:path>
              <a:path w="137794" h="875664">
                <a:moveTo>
                  <a:pt x="72136" y="0"/>
                </a:moveTo>
                <a:lnTo>
                  <a:pt x="4953" y="113283"/>
                </a:lnTo>
                <a:lnTo>
                  <a:pt x="7238" y="122046"/>
                </a:lnTo>
                <a:lnTo>
                  <a:pt x="20828" y="130048"/>
                </a:lnTo>
                <a:lnTo>
                  <a:pt x="29591" y="127888"/>
                </a:lnTo>
                <a:lnTo>
                  <a:pt x="33528" y="121030"/>
                </a:lnTo>
                <a:lnTo>
                  <a:pt x="57257" y="81066"/>
                </a:lnTo>
                <a:lnTo>
                  <a:pt x="57657" y="28320"/>
                </a:lnTo>
                <a:lnTo>
                  <a:pt x="88372" y="28320"/>
                </a:lnTo>
                <a:lnTo>
                  <a:pt x="72136" y="0"/>
                </a:lnTo>
                <a:close/>
              </a:path>
              <a:path w="137794" h="875664">
                <a:moveTo>
                  <a:pt x="86179" y="35560"/>
                </a:moveTo>
                <a:lnTo>
                  <a:pt x="59562" y="35560"/>
                </a:lnTo>
                <a:lnTo>
                  <a:pt x="84200" y="35687"/>
                </a:lnTo>
                <a:lnTo>
                  <a:pt x="71693" y="56752"/>
                </a:lnTo>
                <a:lnTo>
                  <a:pt x="85831" y="81450"/>
                </a:lnTo>
                <a:lnTo>
                  <a:pt x="86179" y="35560"/>
                </a:lnTo>
                <a:close/>
              </a:path>
              <a:path w="137794" h="875664">
                <a:moveTo>
                  <a:pt x="57657" y="28320"/>
                </a:moveTo>
                <a:lnTo>
                  <a:pt x="57257" y="81066"/>
                </a:lnTo>
                <a:lnTo>
                  <a:pt x="71693" y="56752"/>
                </a:lnTo>
                <a:lnTo>
                  <a:pt x="59562" y="35560"/>
                </a:lnTo>
                <a:lnTo>
                  <a:pt x="86179" y="35560"/>
                </a:lnTo>
                <a:lnTo>
                  <a:pt x="86232" y="28575"/>
                </a:lnTo>
                <a:lnTo>
                  <a:pt x="57657" y="28320"/>
                </a:lnTo>
                <a:close/>
              </a:path>
              <a:path w="137794" h="875664">
                <a:moveTo>
                  <a:pt x="59562" y="35560"/>
                </a:moveTo>
                <a:lnTo>
                  <a:pt x="71693" y="56752"/>
                </a:lnTo>
                <a:lnTo>
                  <a:pt x="84200" y="35687"/>
                </a:lnTo>
                <a:lnTo>
                  <a:pt x="59562" y="3556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7CE9B0BC-14EE-3F7C-1477-EA17999E9515}"/>
              </a:ext>
            </a:extLst>
          </p:cNvPr>
          <p:cNvSpPr txBox="1"/>
          <p:nvPr/>
        </p:nvSpPr>
        <p:spPr>
          <a:xfrm>
            <a:off x="6550914" y="3728783"/>
            <a:ext cx="1882139" cy="395605"/>
          </a:xfrm>
          <a:prstGeom prst="rect">
            <a:avLst/>
          </a:prstGeom>
          <a:ln w="50800">
            <a:solidFill>
              <a:srgbClr val="62242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1135">
              <a:lnSpc>
                <a:spcPts val="3060"/>
              </a:lnSpc>
            </a:pPr>
            <a:r>
              <a:rPr sz="2800" spc="-25" dirty="0">
                <a:latin typeface="Calibri"/>
                <a:cs typeface="Calibri"/>
              </a:rPr>
              <a:t>Prefetcher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3">
            <a:extLst>
              <a:ext uri="{FF2B5EF4-FFF2-40B4-BE49-F238E27FC236}">
                <a16:creationId xmlns:a16="http://schemas.microsoft.com/office/drawing/2014/main" id="{7C575A6A-8A0B-3883-B50E-4A473E9363BB}"/>
              </a:ext>
            </a:extLst>
          </p:cNvPr>
          <p:cNvGrpSpPr/>
          <p:nvPr/>
        </p:nvGrpSpPr>
        <p:grpSpPr>
          <a:xfrm>
            <a:off x="2581020" y="2604058"/>
            <a:ext cx="4136390" cy="2538095"/>
            <a:chOff x="2581020" y="2354452"/>
            <a:chExt cx="4136390" cy="2538095"/>
          </a:xfrm>
        </p:grpSpPr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F742D508-4D64-9B18-B948-25B689B3D627}"/>
                </a:ext>
              </a:extLst>
            </p:cNvPr>
            <p:cNvSpPr/>
            <p:nvPr/>
          </p:nvSpPr>
          <p:spPr>
            <a:xfrm>
              <a:off x="2581020" y="2354452"/>
              <a:ext cx="3970020" cy="2538095"/>
            </a:xfrm>
            <a:custGeom>
              <a:avLst/>
              <a:gdLst/>
              <a:ahLst/>
              <a:cxnLst/>
              <a:rect l="l" t="t" r="r" b="b"/>
              <a:pathLst>
                <a:path w="3970020" h="2538095">
                  <a:moveTo>
                    <a:pt x="3969893" y="2518537"/>
                  </a:moveTo>
                  <a:lnTo>
                    <a:pt x="3912743" y="2518537"/>
                  </a:lnTo>
                  <a:lnTo>
                    <a:pt x="3912743" y="2537587"/>
                  </a:lnTo>
                  <a:lnTo>
                    <a:pt x="3969893" y="2537587"/>
                  </a:lnTo>
                  <a:lnTo>
                    <a:pt x="3969893" y="2518537"/>
                  </a:lnTo>
                  <a:close/>
                </a:path>
                <a:path w="3970020" h="2538095">
                  <a:moveTo>
                    <a:pt x="3893693" y="2518537"/>
                  </a:moveTo>
                  <a:lnTo>
                    <a:pt x="3836543" y="2518537"/>
                  </a:lnTo>
                  <a:lnTo>
                    <a:pt x="3836543" y="2537587"/>
                  </a:lnTo>
                  <a:lnTo>
                    <a:pt x="3893693" y="2537587"/>
                  </a:lnTo>
                  <a:lnTo>
                    <a:pt x="3893693" y="2518537"/>
                  </a:lnTo>
                  <a:close/>
                </a:path>
                <a:path w="3970020" h="2538095">
                  <a:moveTo>
                    <a:pt x="3817493" y="2518537"/>
                  </a:moveTo>
                  <a:lnTo>
                    <a:pt x="3760343" y="2518537"/>
                  </a:lnTo>
                  <a:lnTo>
                    <a:pt x="3760343" y="2537587"/>
                  </a:lnTo>
                  <a:lnTo>
                    <a:pt x="3817493" y="2537587"/>
                  </a:lnTo>
                  <a:lnTo>
                    <a:pt x="3817493" y="2518537"/>
                  </a:lnTo>
                  <a:close/>
                </a:path>
                <a:path w="3970020" h="2538095">
                  <a:moveTo>
                    <a:pt x="3741293" y="2518537"/>
                  </a:moveTo>
                  <a:lnTo>
                    <a:pt x="3684143" y="2518537"/>
                  </a:lnTo>
                  <a:lnTo>
                    <a:pt x="3684143" y="2537587"/>
                  </a:lnTo>
                  <a:lnTo>
                    <a:pt x="3741293" y="2537587"/>
                  </a:lnTo>
                  <a:lnTo>
                    <a:pt x="3741293" y="2518537"/>
                  </a:lnTo>
                  <a:close/>
                </a:path>
                <a:path w="3970020" h="2538095">
                  <a:moveTo>
                    <a:pt x="3665093" y="2518537"/>
                  </a:moveTo>
                  <a:lnTo>
                    <a:pt x="3607943" y="2518537"/>
                  </a:lnTo>
                  <a:lnTo>
                    <a:pt x="3607943" y="2537587"/>
                  </a:lnTo>
                  <a:lnTo>
                    <a:pt x="3665093" y="2537587"/>
                  </a:lnTo>
                  <a:lnTo>
                    <a:pt x="3665093" y="2518537"/>
                  </a:lnTo>
                  <a:close/>
                </a:path>
                <a:path w="3970020" h="2538095">
                  <a:moveTo>
                    <a:pt x="3588893" y="2518537"/>
                  </a:moveTo>
                  <a:lnTo>
                    <a:pt x="3531743" y="2518537"/>
                  </a:lnTo>
                  <a:lnTo>
                    <a:pt x="3531743" y="2537587"/>
                  </a:lnTo>
                  <a:lnTo>
                    <a:pt x="3588893" y="2537587"/>
                  </a:lnTo>
                  <a:lnTo>
                    <a:pt x="3588893" y="2518537"/>
                  </a:lnTo>
                  <a:close/>
                </a:path>
                <a:path w="3970020" h="2538095">
                  <a:moveTo>
                    <a:pt x="3512693" y="2518537"/>
                  </a:moveTo>
                  <a:lnTo>
                    <a:pt x="3455543" y="2518537"/>
                  </a:lnTo>
                  <a:lnTo>
                    <a:pt x="3455543" y="2537587"/>
                  </a:lnTo>
                  <a:lnTo>
                    <a:pt x="3512693" y="2537587"/>
                  </a:lnTo>
                  <a:lnTo>
                    <a:pt x="3512693" y="2518537"/>
                  </a:lnTo>
                  <a:close/>
                </a:path>
                <a:path w="3970020" h="2538095">
                  <a:moveTo>
                    <a:pt x="3436493" y="2518537"/>
                  </a:moveTo>
                  <a:lnTo>
                    <a:pt x="3379343" y="2518537"/>
                  </a:lnTo>
                  <a:lnTo>
                    <a:pt x="3379343" y="2537587"/>
                  </a:lnTo>
                  <a:lnTo>
                    <a:pt x="3436493" y="2537587"/>
                  </a:lnTo>
                  <a:lnTo>
                    <a:pt x="3436493" y="2518537"/>
                  </a:lnTo>
                  <a:close/>
                </a:path>
                <a:path w="3970020" h="2538095">
                  <a:moveTo>
                    <a:pt x="3360293" y="2518537"/>
                  </a:moveTo>
                  <a:lnTo>
                    <a:pt x="3303143" y="2518537"/>
                  </a:lnTo>
                  <a:lnTo>
                    <a:pt x="3303143" y="2537587"/>
                  </a:lnTo>
                  <a:lnTo>
                    <a:pt x="3360293" y="2537587"/>
                  </a:lnTo>
                  <a:lnTo>
                    <a:pt x="3360293" y="2518537"/>
                  </a:lnTo>
                  <a:close/>
                </a:path>
                <a:path w="3970020" h="2538095">
                  <a:moveTo>
                    <a:pt x="3284093" y="2518537"/>
                  </a:moveTo>
                  <a:lnTo>
                    <a:pt x="3226943" y="2518537"/>
                  </a:lnTo>
                  <a:lnTo>
                    <a:pt x="3226943" y="2537587"/>
                  </a:lnTo>
                  <a:lnTo>
                    <a:pt x="3284093" y="2537587"/>
                  </a:lnTo>
                  <a:lnTo>
                    <a:pt x="3284093" y="2518537"/>
                  </a:lnTo>
                  <a:close/>
                </a:path>
                <a:path w="3970020" h="2538095">
                  <a:moveTo>
                    <a:pt x="3207893" y="2518537"/>
                  </a:moveTo>
                  <a:lnTo>
                    <a:pt x="3150743" y="2518537"/>
                  </a:lnTo>
                  <a:lnTo>
                    <a:pt x="3150743" y="2537587"/>
                  </a:lnTo>
                  <a:lnTo>
                    <a:pt x="3207893" y="2537587"/>
                  </a:lnTo>
                  <a:lnTo>
                    <a:pt x="3207893" y="2518537"/>
                  </a:lnTo>
                  <a:close/>
                </a:path>
                <a:path w="3970020" h="2538095">
                  <a:moveTo>
                    <a:pt x="3131693" y="2518537"/>
                  </a:moveTo>
                  <a:lnTo>
                    <a:pt x="3074543" y="2518537"/>
                  </a:lnTo>
                  <a:lnTo>
                    <a:pt x="3074543" y="2537587"/>
                  </a:lnTo>
                  <a:lnTo>
                    <a:pt x="3131693" y="2537587"/>
                  </a:lnTo>
                  <a:lnTo>
                    <a:pt x="3131693" y="2518537"/>
                  </a:lnTo>
                  <a:close/>
                </a:path>
                <a:path w="3970020" h="2538095">
                  <a:moveTo>
                    <a:pt x="3055493" y="2518537"/>
                  </a:moveTo>
                  <a:lnTo>
                    <a:pt x="2998343" y="2518537"/>
                  </a:lnTo>
                  <a:lnTo>
                    <a:pt x="2998343" y="2537587"/>
                  </a:lnTo>
                  <a:lnTo>
                    <a:pt x="3055493" y="2537587"/>
                  </a:lnTo>
                  <a:lnTo>
                    <a:pt x="3055493" y="2518537"/>
                  </a:lnTo>
                  <a:close/>
                </a:path>
                <a:path w="3970020" h="2538095">
                  <a:moveTo>
                    <a:pt x="2979293" y="2518537"/>
                  </a:moveTo>
                  <a:lnTo>
                    <a:pt x="2922143" y="2518537"/>
                  </a:lnTo>
                  <a:lnTo>
                    <a:pt x="2922143" y="2537587"/>
                  </a:lnTo>
                  <a:lnTo>
                    <a:pt x="2979293" y="2537587"/>
                  </a:lnTo>
                  <a:lnTo>
                    <a:pt x="2979293" y="2518537"/>
                  </a:lnTo>
                  <a:close/>
                </a:path>
                <a:path w="3970020" h="2538095">
                  <a:moveTo>
                    <a:pt x="2903093" y="2518537"/>
                  </a:moveTo>
                  <a:lnTo>
                    <a:pt x="2845943" y="2518537"/>
                  </a:lnTo>
                  <a:lnTo>
                    <a:pt x="2845943" y="2537587"/>
                  </a:lnTo>
                  <a:lnTo>
                    <a:pt x="2903093" y="2537587"/>
                  </a:lnTo>
                  <a:lnTo>
                    <a:pt x="2903093" y="2518537"/>
                  </a:lnTo>
                  <a:close/>
                </a:path>
                <a:path w="3970020" h="2538095">
                  <a:moveTo>
                    <a:pt x="2826893" y="2518537"/>
                  </a:moveTo>
                  <a:lnTo>
                    <a:pt x="2769743" y="2518537"/>
                  </a:lnTo>
                  <a:lnTo>
                    <a:pt x="2769743" y="2537587"/>
                  </a:lnTo>
                  <a:lnTo>
                    <a:pt x="2826893" y="2537587"/>
                  </a:lnTo>
                  <a:lnTo>
                    <a:pt x="2826893" y="2518537"/>
                  </a:lnTo>
                  <a:close/>
                </a:path>
                <a:path w="3970020" h="2538095">
                  <a:moveTo>
                    <a:pt x="2750693" y="2518537"/>
                  </a:moveTo>
                  <a:lnTo>
                    <a:pt x="2693543" y="2518537"/>
                  </a:lnTo>
                  <a:lnTo>
                    <a:pt x="2693543" y="2537587"/>
                  </a:lnTo>
                  <a:lnTo>
                    <a:pt x="2750693" y="2537587"/>
                  </a:lnTo>
                  <a:lnTo>
                    <a:pt x="2750693" y="2518537"/>
                  </a:lnTo>
                  <a:close/>
                </a:path>
                <a:path w="3970020" h="2538095">
                  <a:moveTo>
                    <a:pt x="2674493" y="2518537"/>
                  </a:moveTo>
                  <a:lnTo>
                    <a:pt x="2617343" y="2518537"/>
                  </a:lnTo>
                  <a:lnTo>
                    <a:pt x="2617343" y="2537587"/>
                  </a:lnTo>
                  <a:lnTo>
                    <a:pt x="2674493" y="2537587"/>
                  </a:lnTo>
                  <a:lnTo>
                    <a:pt x="2674493" y="2518537"/>
                  </a:lnTo>
                  <a:close/>
                </a:path>
                <a:path w="3970020" h="2538095">
                  <a:moveTo>
                    <a:pt x="2598293" y="2518537"/>
                  </a:moveTo>
                  <a:lnTo>
                    <a:pt x="2541143" y="2518537"/>
                  </a:lnTo>
                  <a:lnTo>
                    <a:pt x="2541143" y="2537587"/>
                  </a:lnTo>
                  <a:lnTo>
                    <a:pt x="2598293" y="2537587"/>
                  </a:lnTo>
                  <a:lnTo>
                    <a:pt x="2598293" y="2518537"/>
                  </a:lnTo>
                  <a:close/>
                </a:path>
                <a:path w="3970020" h="2538095">
                  <a:moveTo>
                    <a:pt x="2522093" y="2518537"/>
                  </a:moveTo>
                  <a:lnTo>
                    <a:pt x="2464943" y="2518537"/>
                  </a:lnTo>
                  <a:lnTo>
                    <a:pt x="2464943" y="2537587"/>
                  </a:lnTo>
                  <a:lnTo>
                    <a:pt x="2522093" y="2537587"/>
                  </a:lnTo>
                  <a:lnTo>
                    <a:pt x="2522093" y="2518537"/>
                  </a:lnTo>
                  <a:close/>
                </a:path>
                <a:path w="3970020" h="2538095">
                  <a:moveTo>
                    <a:pt x="2445893" y="2518537"/>
                  </a:moveTo>
                  <a:lnTo>
                    <a:pt x="2388743" y="2518537"/>
                  </a:lnTo>
                  <a:lnTo>
                    <a:pt x="2388743" y="2537587"/>
                  </a:lnTo>
                  <a:lnTo>
                    <a:pt x="2445893" y="2537587"/>
                  </a:lnTo>
                  <a:lnTo>
                    <a:pt x="2445893" y="2518537"/>
                  </a:lnTo>
                  <a:close/>
                </a:path>
                <a:path w="3970020" h="2538095">
                  <a:moveTo>
                    <a:pt x="2322195" y="2521966"/>
                  </a:moveTo>
                  <a:lnTo>
                    <a:pt x="2309241" y="2521966"/>
                  </a:lnTo>
                  <a:lnTo>
                    <a:pt x="2309241" y="2533269"/>
                  </a:lnTo>
                  <a:lnTo>
                    <a:pt x="2313432" y="2537587"/>
                  </a:lnTo>
                  <a:lnTo>
                    <a:pt x="2369693" y="2537587"/>
                  </a:lnTo>
                  <a:lnTo>
                    <a:pt x="2369693" y="2528062"/>
                  </a:lnTo>
                  <a:lnTo>
                    <a:pt x="2328291" y="2528062"/>
                  </a:lnTo>
                  <a:lnTo>
                    <a:pt x="2322195" y="2521966"/>
                  </a:lnTo>
                  <a:close/>
                </a:path>
                <a:path w="3970020" h="2538095">
                  <a:moveTo>
                    <a:pt x="2369693" y="2518537"/>
                  </a:moveTo>
                  <a:lnTo>
                    <a:pt x="2318766" y="2518537"/>
                  </a:lnTo>
                  <a:lnTo>
                    <a:pt x="2328291" y="2528062"/>
                  </a:lnTo>
                  <a:lnTo>
                    <a:pt x="2328291" y="2521966"/>
                  </a:lnTo>
                  <a:lnTo>
                    <a:pt x="2369693" y="2521966"/>
                  </a:lnTo>
                  <a:lnTo>
                    <a:pt x="2369693" y="2518537"/>
                  </a:lnTo>
                  <a:close/>
                </a:path>
                <a:path w="3970020" h="2538095">
                  <a:moveTo>
                    <a:pt x="2369693" y="2521966"/>
                  </a:moveTo>
                  <a:lnTo>
                    <a:pt x="2328291" y="2521966"/>
                  </a:lnTo>
                  <a:lnTo>
                    <a:pt x="2328291" y="2528062"/>
                  </a:lnTo>
                  <a:lnTo>
                    <a:pt x="2369693" y="2528062"/>
                  </a:lnTo>
                  <a:lnTo>
                    <a:pt x="2369693" y="2521966"/>
                  </a:lnTo>
                  <a:close/>
                </a:path>
                <a:path w="3970020" h="2538095">
                  <a:moveTo>
                    <a:pt x="2328291" y="2445766"/>
                  </a:moveTo>
                  <a:lnTo>
                    <a:pt x="2309241" y="2445766"/>
                  </a:lnTo>
                  <a:lnTo>
                    <a:pt x="2309241" y="2502916"/>
                  </a:lnTo>
                  <a:lnTo>
                    <a:pt x="2328291" y="2502916"/>
                  </a:lnTo>
                  <a:lnTo>
                    <a:pt x="2328291" y="2445766"/>
                  </a:lnTo>
                  <a:close/>
                </a:path>
                <a:path w="3970020" h="2538095">
                  <a:moveTo>
                    <a:pt x="2328291" y="2369566"/>
                  </a:moveTo>
                  <a:lnTo>
                    <a:pt x="2309241" y="2369566"/>
                  </a:lnTo>
                  <a:lnTo>
                    <a:pt x="2309241" y="2426716"/>
                  </a:lnTo>
                  <a:lnTo>
                    <a:pt x="2328291" y="2426716"/>
                  </a:lnTo>
                  <a:lnTo>
                    <a:pt x="2328291" y="2369566"/>
                  </a:lnTo>
                  <a:close/>
                </a:path>
                <a:path w="3970020" h="2538095">
                  <a:moveTo>
                    <a:pt x="2328291" y="2293366"/>
                  </a:moveTo>
                  <a:lnTo>
                    <a:pt x="2309241" y="2293366"/>
                  </a:lnTo>
                  <a:lnTo>
                    <a:pt x="2309241" y="2350516"/>
                  </a:lnTo>
                  <a:lnTo>
                    <a:pt x="2328291" y="2350516"/>
                  </a:lnTo>
                  <a:lnTo>
                    <a:pt x="2328291" y="2293366"/>
                  </a:lnTo>
                  <a:close/>
                </a:path>
                <a:path w="3970020" h="2538095">
                  <a:moveTo>
                    <a:pt x="2328291" y="2217166"/>
                  </a:moveTo>
                  <a:lnTo>
                    <a:pt x="2309241" y="2217166"/>
                  </a:lnTo>
                  <a:lnTo>
                    <a:pt x="2309241" y="2274316"/>
                  </a:lnTo>
                  <a:lnTo>
                    <a:pt x="2328291" y="2274316"/>
                  </a:lnTo>
                  <a:lnTo>
                    <a:pt x="2328291" y="2217166"/>
                  </a:lnTo>
                  <a:close/>
                </a:path>
                <a:path w="3970020" h="2538095">
                  <a:moveTo>
                    <a:pt x="2328291" y="2140966"/>
                  </a:moveTo>
                  <a:lnTo>
                    <a:pt x="2309241" y="2140966"/>
                  </a:lnTo>
                  <a:lnTo>
                    <a:pt x="2309241" y="2198116"/>
                  </a:lnTo>
                  <a:lnTo>
                    <a:pt x="2328291" y="2198116"/>
                  </a:lnTo>
                  <a:lnTo>
                    <a:pt x="2328291" y="2140966"/>
                  </a:lnTo>
                  <a:close/>
                </a:path>
                <a:path w="3970020" h="2538095">
                  <a:moveTo>
                    <a:pt x="2328291" y="2064766"/>
                  </a:moveTo>
                  <a:lnTo>
                    <a:pt x="2309241" y="2064766"/>
                  </a:lnTo>
                  <a:lnTo>
                    <a:pt x="2309241" y="2121916"/>
                  </a:lnTo>
                  <a:lnTo>
                    <a:pt x="2328291" y="2121916"/>
                  </a:lnTo>
                  <a:lnTo>
                    <a:pt x="2328291" y="2064766"/>
                  </a:lnTo>
                  <a:close/>
                </a:path>
                <a:path w="3970020" h="2538095">
                  <a:moveTo>
                    <a:pt x="2328291" y="1988566"/>
                  </a:moveTo>
                  <a:lnTo>
                    <a:pt x="2309241" y="1988566"/>
                  </a:lnTo>
                  <a:lnTo>
                    <a:pt x="2309241" y="2045716"/>
                  </a:lnTo>
                  <a:lnTo>
                    <a:pt x="2328291" y="2045716"/>
                  </a:lnTo>
                  <a:lnTo>
                    <a:pt x="2328291" y="1988566"/>
                  </a:lnTo>
                  <a:close/>
                </a:path>
                <a:path w="3970020" h="2538095">
                  <a:moveTo>
                    <a:pt x="2328291" y="1912366"/>
                  </a:moveTo>
                  <a:lnTo>
                    <a:pt x="2309241" y="1912366"/>
                  </a:lnTo>
                  <a:lnTo>
                    <a:pt x="2309241" y="1969516"/>
                  </a:lnTo>
                  <a:lnTo>
                    <a:pt x="2328291" y="1969516"/>
                  </a:lnTo>
                  <a:lnTo>
                    <a:pt x="2328291" y="1912366"/>
                  </a:lnTo>
                  <a:close/>
                </a:path>
                <a:path w="3970020" h="2538095">
                  <a:moveTo>
                    <a:pt x="2328291" y="1836166"/>
                  </a:moveTo>
                  <a:lnTo>
                    <a:pt x="2309241" y="1836166"/>
                  </a:lnTo>
                  <a:lnTo>
                    <a:pt x="2309241" y="1893316"/>
                  </a:lnTo>
                  <a:lnTo>
                    <a:pt x="2328291" y="1893316"/>
                  </a:lnTo>
                  <a:lnTo>
                    <a:pt x="2328291" y="1836166"/>
                  </a:lnTo>
                  <a:close/>
                </a:path>
                <a:path w="3970020" h="2538095">
                  <a:moveTo>
                    <a:pt x="2328291" y="1759966"/>
                  </a:moveTo>
                  <a:lnTo>
                    <a:pt x="2309241" y="1759966"/>
                  </a:lnTo>
                  <a:lnTo>
                    <a:pt x="2309241" y="1817116"/>
                  </a:lnTo>
                  <a:lnTo>
                    <a:pt x="2328291" y="1817116"/>
                  </a:lnTo>
                  <a:lnTo>
                    <a:pt x="2328291" y="1759966"/>
                  </a:lnTo>
                  <a:close/>
                </a:path>
                <a:path w="3970020" h="2538095">
                  <a:moveTo>
                    <a:pt x="2328291" y="1683766"/>
                  </a:moveTo>
                  <a:lnTo>
                    <a:pt x="2309241" y="1683766"/>
                  </a:lnTo>
                  <a:lnTo>
                    <a:pt x="2309241" y="1740916"/>
                  </a:lnTo>
                  <a:lnTo>
                    <a:pt x="2328291" y="1740916"/>
                  </a:lnTo>
                  <a:lnTo>
                    <a:pt x="2328291" y="1683766"/>
                  </a:lnTo>
                  <a:close/>
                </a:path>
                <a:path w="3970020" h="2538095">
                  <a:moveTo>
                    <a:pt x="2328291" y="1607566"/>
                  </a:moveTo>
                  <a:lnTo>
                    <a:pt x="2309241" y="1607566"/>
                  </a:lnTo>
                  <a:lnTo>
                    <a:pt x="2309241" y="1664716"/>
                  </a:lnTo>
                  <a:lnTo>
                    <a:pt x="2328291" y="1664716"/>
                  </a:lnTo>
                  <a:lnTo>
                    <a:pt x="2328291" y="1607566"/>
                  </a:lnTo>
                  <a:close/>
                </a:path>
                <a:path w="3970020" h="2538095">
                  <a:moveTo>
                    <a:pt x="2328291" y="1531366"/>
                  </a:moveTo>
                  <a:lnTo>
                    <a:pt x="2309241" y="1531366"/>
                  </a:lnTo>
                  <a:lnTo>
                    <a:pt x="2309241" y="1588516"/>
                  </a:lnTo>
                  <a:lnTo>
                    <a:pt x="2328291" y="1588516"/>
                  </a:lnTo>
                  <a:lnTo>
                    <a:pt x="2328291" y="1531366"/>
                  </a:lnTo>
                  <a:close/>
                </a:path>
                <a:path w="3970020" h="2538095">
                  <a:moveTo>
                    <a:pt x="2328291" y="1455166"/>
                  </a:moveTo>
                  <a:lnTo>
                    <a:pt x="2309241" y="1455166"/>
                  </a:lnTo>
                  <a:lnTo>
                    <a:pt x="2309241" y="1512316"/>
                  </a:lnTo>
                  <a:lnTo>
                    <a:pt x="2328291" y="1512316"/>
                  </a:lnTo>
                  <a:lnTo>
                    <a:pt x="2328291" y="1455166"/>
                  </a:lnTo>
                  <a:close/>
                </a:path>
                <a:path w="3970020" h="2538095">
                  <a:moveTo>
                    <a:pt x="2328291" y="1378966"/>
                  </a:moveTo>
                  <a:lnTo>
                    <a:pt x="2309241" y="1378966"/>
                  </a:lnTo>
                  <a:lnTo>
                    <a:pt x="2309241" y="1436116"/>
                  </a:lnTo>
                  <a:lnTo>
                    <a:pt x="2328291" y="1436116"/>
                  </a:lnTo>
                  <a:lnTo>
                    <a:pt x="2328291" y="1378966"/>
                  </a:lnTo>
                  <a:close/>
                </a:path>
                <a:path w="3970020" h="2538095">
                  <a:moveTo>
                    <a:pt x="2328291" y="1302766"/>
                  </a:moveTo>
                  <a:lnTo>
                    <a:pt x="2309241" y="1302766"/>
                  </a:lnTo>
                  <a:lnTo>
                    <a:pt x="2309241" y="1359916"/>
                  </a:lnTo>
                  <a:lnTo>
                    <a:pt x="2328291" y="1359916"/>
                  </a:lnTo>
                  <a:lnTo>
                    <a:pt x="2328291" y="1302766"/>
                  </a:lnTo>
                  <a:close/>
                </a:path>
                <a:path w="3970020" h="2538095">
                  <a:moveTo>
                    <a:pt x="2328291" y="1226566"/>
                  </a:moveTo>
                  <a:lnTo>
                    <a:pt x="2309241" y="1226566"/>
                  </a:lnTo>
                  <a:lnTo>
                    <a:pt x="2309241" y="1283716"/>
                  </a:lnTo>
                  <a:lnTo>
                    <a:pt x="2328291" y="1283716"/>
                  </a:lnTo>
                  <a:lnTo>
                    <a:pt x="2328291" y="1226566"/>
                  </a:lnTo>
                  <a:close/>
                </a:path>
                <a:path w="3970020" h="2538095">
                  <a:moveTo>
                    <a:pt x="2328291" y="1150366"/>
                  </a:moveTo>
                  <a:lnTo>
                    <a:pt x="2309241" y="1150366"/>
                  </a:lnTo>
                  <a:lnTo>
                    <a:pt x="2309241" y="1207516"/>
                  </a:lnTo>
                  <a:lnTo>
                    <a:pt x="2328291" y="1207516"/>
                  </a:lnTo>
                  <a:lnTo>
                    <a:pt x="2328291" y="1150366"/>
                  </a:lnTo>
                  <a:close/>
                </a:path>
                <a:path w="3970020" h="2538095">
                  <a:moveTo>
                    <a:pt x="2328291" y="1074166"/>
                  </a:moveTo>
                  <a:lnTo>
                    <a:pt x="2309241" y="1074166"/>
                  </a:lnTo>
                  <a:lnTo>
                    <a:pt x="2309241" y="1131316"/>
                  </a:lnTo>
                  <a:lnTo>
                    <a:pt x="2328291" y="1131316"/>
                  </a:lnTo>
                  <a:lnTo>
                    <a:pt x="2328291" y="1074166"/>
                  </a:lnTo>
                  <a:close/>
                </a:path>
                <a:path w="3970020" h="2538095">
                  <a:moveTo>
                    <a:pt x="2328291" y="997966"/>
                  </a:moveTo>
                  <a:lnTo>
                    <a:pt x="2309241" y="997966"/>
                  </a:lnTo>
                  <a:lnTo>
                    <a:pt x="2309241" y="1055116"/>
                  </a:lnTo>
                  <a:lnTo>
                    <a:pt x="2328291" y="1055116"/>
                  </a:lnTo>
                  <a:lnTo>
                    <a:pt x="2328291" y="997966"/>
                  </a:lnTo>
                  <a:close/>
                </a:path>
                <a:path w="3970020" h="2538095">
                  <a:moveTo>
                    <a:pt x="2328291" y="921766"/>
                  </a:moveTo>
                  <a:lnTo>
                    <a:pt x="2309241" y="921766"/>
                  </a:lnTo>
                  <a:lnTo>
                    <a:pt x="2309241" y="978916"/>
                  </a:lnTo>
                  <a:lnTo>
                    <a:pt x="2328291" y="978916"/>
                  </a:lnTo>
                  <a:lnTo>
                    <a:pt x="2328291" y="921766"/>
                  </a:lnTo>
                  <a:close/>
                </a:path>
                <a:path w="3970020" h="2538095">
                  <a:moveTo>
                    <a:pt x="2328291" y="845566"/>
                  </a:moveTo>
                  <a:lnTo>
                    <a:pt x="2309241" y="845566"/>
                  </a:lnTo>
                  <a:lnTo>
                    <a:pt x="2309241" y="902716"/>
                  </a:lnTo>
                  <a:lnTo>
                    <a:pt x="2328291" y="902716"/>
                  </a:lnTo>
                  <a:lnTo>
                    <a:pt x="2328291" y="845566"/>
                  </a:lnTo>
                  <a:close/>
                </a:path>
                <a:path w="3970020" h="2538095">
                  <a:moveTo>
                    <a:pt x="2328291" y="769366"/>
                  </a:moveTo>
                  <a:lnTo>
                    <a:pt x="2309241" y="769366"/>
                  </a:lnTo>
                  <a:lnTo>
                    <a:pt x="2309241" y="826516"/>
                  </a:lnTo>
                  <a:lnTo>
                    <a:pt x="2328291" y="826516"/>
                  </a:lnTo>
                  <a:lnTo>
                    <a:pt x="2328291" y="769366"/>
                  </a:lnTo>
                  <a:close/>
                </a:path>
                <a:path w="3970020" h="2538095">
                  <a:moveTo>
                    <a:pt x="2328291" y="693166"/>
                  </a:moveTo>
                  <a:lnTo>
                    <a:pt x="2309241" y="693166"/>
                  </a:lnTo>
                  <a:lnTo>
                    <a:pt x="2309241" y="750316"/>
                  </a:lnTo>
                  <a:lnTo>
                    <a:pt x="2328291" y="750316"/>
                  </a:lnTo>
                  <a:lnTo>
                    <a:pt x="2328291" y="693166"/>
                  </a:lnTo>
                  <a:close/>
                </a:path>
                <a:path w="3970020" h="2538095">
                  <a:moveTo>
                    <a:pt x="2328291" y="616966"/>
                  </a:moveTo>
                  <a:lnTo>
                    <a:pt x="2309241" y="616966"/>
                  </a:lnTo>
                  <a:lnTo>
                    <a:pt x="2309241" y="674116"/>
                  </a:lnTo>
                  <a:lnTo>
                    <a:pt x="2328291" y="674116"/>
                  </a:lnTo>
                  <a:lnTo>
                    <a:pt x="2328291" y="616966"/>
                  </a:lnTo>
                  <a:close/>
                </a:path>
                <a:path w="3970020" h="2538095">
                  <a:moveTo>
                    <a:pt x="2328291" y="540766"/>
                  </a:moveTo>
                  <a:lnTo>
                    <a:pt x="2309241" y="540766"/>
                  </a:lnTo>
                  <a:lnTo>
                    <a:pt x="2309241" y="597916"/>
                  </a:lnTo>
                  <a:lnTo>
                    <a:pt x="2328291" y="597916"/>
                  </a:lnTo>
                  <a:lnTo>
                    <a:pt x="2328291" y="540766"/>
                  </a:lnTo>
                  <a:close/>
                </a:path>
                <a:path w="3970020" h="2538095">
                  <a:moveTo>
                    <a:pt x="2328291" y="464566"/>
                  </a:moveTo>
                  <a:lnTo>
                    <a:pt x="2309241" y="464566"/>
                  </a:lnTo>
                  <a:lnTo>
                    <a:pt x="2309241" y="521716"/>
                  </a:lnTo>
                  <a:lnTo>
                    <a:pt x="2328291" y="521716"/>
                  </a:lnTo>
                  <a:lnTo>
                    <a:pt x="2328291" y="464566"/>
                  </a:lnTo>
                  <a:close/>
                </a:path>
                <a:path w="3970020" h="2538095">
                  <a:moveTo>
                    <a:pt x="2328291" y="388366"/>
                  </a:moveTo>
                  <a:lnTo>
                    <a:pt x="2309241" y="388366"/>
                  </a:lnTo>
                  <a:lnTo>
                    <a:pt x="2309241" y="445516"/>
                  </a:lnTo>
                  <a:lnTo>
                    <a:pt x="2328291" y="445516"/>
                  </a:lnTo>
                  <a:lnTo>
                    <a:pt x="2328291" y="388366"/>
                  </a:lnTo>
                  <a:close/>
                </a:path>
                <a:path w="3970020" h="2538095">
                  <a:moveTo>
                    <a:pt x="2328291" y="312166"/>
                  </a:moveTo>
                  <a:lnTo>
                    <a:pt x="2309241" y="312166"/>
                  </a:lnTo>
                  <a:lnTo>
                    <a:pt x="2309241" y="369316"/>
                  </a:lnTo>
                  <a:lnTo>
                    <a:pt x="2328291" y="369316"/>
                  </a:lnTo>
                  <a:lnTo>
                    <a:pt x="2328291" y="312166"/>
                  </a:lnTo>
                  <a:close/>
                </a:path>
                <a:path w="3970020" h="2538095">
                  <a:moveTo>
                    <a:pt x="2328291" y="235966"/>
                  </a:moveTo>
                  <a:lnTo>
                    <a:pt x="2309241" y="235966"/>
                  </a:lnTo>
                  <a:lnTo>
                    <a:pt x="2309241" y="293116"/>
                  </a:lnTo>
                  <a:lnTo>
                    <a:pt x="2328291" y="293116"/>
                  </a:lnTo>
                  <a:lnTo>
                    <a:pt x="2328291" y="235966"/>
                  </a:lnTo>
                  <a:close/>
                </a:path>
                <a:path w="3970020" h="2538095">
                  <a:moveTo>
                    <a:pt x="2328291" y="159766"/>
                  </a:moveTo>
                  <a:lnTo>
                    <a:pt x="2309241" y="159766"/>
                  </a:lnTo>
                  <a:lnTo>
                    <a:pt x="2309241" y="216916"/>
                  </a:lnTo>
                  <a:lnTo>
                    <a:pt x="2328291" y="216916"/>
                  </a:lnTo>
                  <a:lnTo>
                    <a:pt x="2328291" y="159766"/>
                  </a:lnTo>
                  <a:close/>
                </a:path>
                <a:path w="3970020" h="2538095">
                  <a:moveTo>
                    <a:pt x="2328291" y="83566"/>
                  </a:moveTo>
                  <a:lnTo>
                    <a:pt x="2309241" y="83566"/>
                  </a:lnTo>
                  <a:lnTo>
                    <a:pt x="2309241" y="140716"/>
                  </a:lnTo>
                  <a:lnTo>
                    <a:pt x="2328291" y="140716"/>
                  </a:lnTo>
                  <a:lnTo>
                    <a:pt x="2328291" y="83566"/>
                  </a:lnTo>
                  <a:close/>
                </a:path>
                <a:path w="3970020" h="2538095">
                  <a:moveTo>
                    <a:pt x="2309241" y="9525"/>
                  </a:moveTo>
                  <a:lnTo>
                    <a:pt x="2309241" y="64516"/>
                  </a:lnTo>
                  <a:lnTo>
                    <a:pt x="2328291" y="64516"/>
                  </a:lnTo>
                  <a:lnTo>
                    <a:pt x="2328291" y="19050"/>
                  </a:lnTo>
                  <a:lnTo>
                    <a:pt x="2316607" y="19050"/>
                  </a:lnTo>
                  <a:lnTo>
                    <a:pt x="2316607" y="16890"/>
                  </a:lnTo>
                  <a:lnTo>
                    <a:pt x="2309241" y="9525"/>
                  </a:lnTo>
                  <a:close/>
                </a:path>
                <a:path w="3970020" h="2538095">
                  <a:moveTo>
                    <a:pt x="2316607" y="16890"/>
                  </a:moveTo>
                  <a:lnTo>
                    <a:pt x="2316607" y="19050"/>
                  </a:lnTo>
                  <a:lnTo>
                    <a:pt x="2318766" y="19050"/>
                  </a:lnTo>
                  <a:lnTo>
                    <a:pt x="2316607" y="16890"/>
                  </a:lnTo>
                  <a:close/>
                </a:path>
                <a:path w="3970020" h="2538095">
                  <a:moveTo>
                    <a:pt x="2323973" y="0"/>
                  </a:moveTo>
                  <a:lnTo>
                    <a:pt x="2316607" y="0"/>
                  </a:lnTo>
                  <a:lnTo>
                    <a:pt x="2316607" y="16890"/>
                  </a:lnTo>
                  <a:lnTo>
                    <a:pt x="2318766" y="19050"/>
                  </a:lnTo>
                  <a:lnTo>
                    <a:pt x="2328291" y="19050"/>
                  </a:lnTo>
                  <a:lnTo>
                    <a:pt x="2328291" y="4191"/>
                  </a:lnTo>
                  <a:lnTo>
                    <a:pt x="2323973" y="0"/>
                  </a:lnTo>
                  <a:close/>
                </a:path>
                <a:path w="3970020" h="2538095">
                  <a:moveTo>
                    <a:pt x="2297557" y="0"/>
                  </a:moveTo>
                  <a:lnTo>
                    <a:pt x="2240407" y="0"/>
                  </a:lnTo>
                  <a:lnTo>
                    <a:pt x="2240407" y="19050"/>
                  </a:lnTo>
                  <a:lnTo>
                    <a:pt x="2297557" y="19050"/>
                  </a:lnTo>
                  <a:lnTo>
                    <a:pt x="2297557" y="0"/>
                  </a:lnTo>
                  <a:close/>
                </a:path>
                <a:path w="3970020" h="2538095">
                  <a:moveTo>
                    <a:pt x="2221357" y="0"/>
                  </a:moveTo>
                  <a:lnTo>
                    <a:pt x="2164207" y="0"/>
                  </a:lnTo>
                  <a:lnTo>
                    <a:pt x="2164207" y="19050"/>
                  </a:lnTo>
                  <a:lnTo>
                    <a:pt x="2221357" y="19050"/>
                  </a:lnTo>
                  <a:lnTo>
                    <a:pt x="2221357" y="0"/>
                  </a:lnTo>
                  <a:close/>
                </a:path>
                <a:path w="3970020" h="2538095">
                  <a:moveTo>
                    <a:pt x="2145157" y="0"/>
                  </a:moveTo>
                  <a:lnTo>
                    <a:pt x="2088007" y="0"/>
                  </a:lnTo>
                  <a:lnTo>
                    <a:pt x="2088007" y="19050"/>
                  </a:lnTo>
                  <a:lnTo>
                    <a:pt x="2145157" y="19050"/>
                  </a:lnTo>
                  <a:lnTo>
                    <a:pt x="2145157" y="0"/>
                  </a:lnTo>
                  <a:close/>
                </a:path>
                <a:path w="3970020" h="2538095">
                  <a:moveTo>
                    <a:pt x="2068957" y="0"/>
                  </a:moveTo>
                  <a:lnTo>
                    <a:pt x="2011807" y="0"/>
                  </a:lnTo>
                  <a:lnTo>
                    <a:pt x="2011807" y="19050"/>
                  </a:lnTo>
                  <a:lnTo>
                    <a:pt x="2068957" y="19050"/>
                  </a:lnTo>
                  <a:lnTo>
                    <a:pt x="2068957" y="0"/>
                  </a:lnTo>
                  <a:close/>
                </a:path>
                <a:path w="3970020" h="2538095">
                  <a:moveTo>
                    <a:pt x="1992757" y="0"/>
                  </a:moveTo>
                  <a:lnTo>
                    <a:pt x="1935607" y="0"/>
                  </a:lnTo>
                  <a:lnTo>
                    <a:pt x="1935607" y="19050"/>
                  </a:lnTo>
                  <a:lnTo>
                    <a:pt x="1992757" y="19050"/>
                  </a:lnTo>
                  <a:lnTo>
                    <a:pt x="1992757" y="0"/>
                  </a:lnTo>
                  <a:close/>
                </a:path>
                <a:path w="3970020" h="2538095">
                  <a:moveTo>
                    <a:pt x="1916557" y="0"/>
                  </a:moveTo>
                  <a:lnTo>
                    <a:pt x="1859407" y="0"/>
                  </a:lnTo>
                  <a:lnTo>
                    <a:pt x="1859407" y="19050"/>
                  </a:lnTo>
                  <a:lnTo>
                    <a:pt x="1916557" y="19050"/>
                  </a:lnTo>
                  <a:lnTo>
                    <a:pt x="1916557" y="0"/>
                  </a:lnTo>
                  <a:close/>
                </a:path>
                <a:path w="3970020" h="2538095">
                  <a:moveTo>
                    <a:pt x="1840357" y="0"/>
                  </a:moveTo>
                  <a:lnTo>
                    <a:pt x="1783207" y="0"/>
                  </a:lnTo>
                  <a:lnTo>
                    <a:pt x="1783207" y="19050"/>
                  </a:lnTo>
                  <a:lnTo>
                    <a:pt x="1840357" y="19050"/>
                  </a:lnTo>
                  <a:lnTo>
                    <a:pt x="1840357" y="0"/>
                  </a:lnTo>
                  <a:close/>
                </a:path>
                <a:path w="3970020" h="2538095">
                  <a:moveTo>
                    <a:pt x="1764157" y="0"/>
                  </a:moveTo>
                  <a:lnTo>
                    <a:pt x="1707007" y="0"/>
                  </a:lnTo>
                  <a:lnTo>
                    <a:pt x="1707007" y="19050"/>
                  </a:lnTo>
                  <a:lnTo>
                    <a:pt x="1764157" y="19050"/>
                  </a:lnTo>
                  <a:lnTo>
                    <a:pt x="1764157" y="0"/>
                  </a:lnTo>
                  <a:close/>
                </a:path>
                <a:path w="3970020" h="2538095">
                  <a:moveTo>
                    <a:pt x="1687957" y="0"/>
                  </a:moveTo>
                  <a:lnTo>
                    <a:pt x="1630807" y="0"/>
                  </a:lnTo>
                  <a:lnTo>
                    <a:pt x="1630807" y="19050"/>
                  </a:lnTo>
                  <a:lnTo>
                    <a:pt x="1687957" y="19050"/>
                  </a:lnTo>
                  <a:lnTo>
                    <a:pt x="1687957" y="0"/>
                  </a:lnTo>
                  <a:close/>
                </a:path>
                <a:path w="3970020" h="2538095">
                  <a:moveTo>
                    <a:pt x="1611757" y="0"/>
                  </a:moveTo>
                  <a:lnTo>
                    <a:pt x="1554607" y="0"/>
                  </a:lnTo>
                  <a:lnTo>
                    <a:pt x="1554607" y="19050"/>
                  </a:lnTo>
                  <a:lnTo>
                    <a:pt x="1611757" y="19050"/>
                  </a:lnTo>
                  <a:lnTo>
                    <a:pt x="1611757" y="0"/>
                  </a:lnTo>
                  <a:close/>
                </a:path>
                <a:path w="3970020" h="2538095">
                  <a:moveTo>
                    <a:pt x="1535557" y="0"/>
                  </a:moveTo>
                  <a:lnTo>
                    <a:pt x="1478407" y="0"/>
                  </a:lnTo>
                  <a:lnTo>
                    <a:pt x="1478407" y="19050"/>
                  </a:lnTo>
                  <a:lnTo>
                    <a:pt x="1535557" y="19050"/>
                  </a:lnTo>
                  <a:lnTo>
                    <a:pt x="1535557" y="0"/>
                  </a:lnTo>
                  <a:close/>
                </a:path>
                <a:path w="3970020" h="2538095">
                  <a:moveTo>
                    <a:pt x="1459357" y="0"/>
                  </a:moveTo>
                  <a:lnTo>
                    <a:pt x="1402207" y="0"/>
                  </a:lnTo>
                  <a:lnTo>
                    <a:pt x="1402207" y="19050"/>
                  </a:lnTo>
                  <a:lnTo>
                    <a:pt x="1459357" y="19050"/>
                  </a:lnTo>
                  <a:lnTo>
                    <a:pt x="1459357" y="0"/>
                  </a:lnTo>
                  <a:close/>
                </a:path>
                <a:path w="3970020" h="2538095">
                  <a:moveTo>
                    <a:pt x="1383157" y="0"/>
                  </a:moveTo>
                  <a:lnTo>
                    <a:pt x="1326007" y="0"/>
                  </a:lnTo>
                  <a:lnTo>
                    <a:pt x="1326007" y="19050"/>
                  </a:lnTo>
                  <a:lnTo>
                    <a:pt x="1383157" y="19050"/>
                  </a:lnTo>
                  <a:lnTo>
                    <a:pt x="1383157" y="0"/>
                  </a:lnTo>
                  <a:close/>
                </a:path>
                <a:path w="3970020" h="2538095">
                  <a:moveTo>
                    <a:pt x="1306957" y="0"/>
                  </a:moveTo>
                  <a:lnTo>
                    <a:pt x="1249807" y="0"/>
                  </a:lnTo>
                  <a:lnTo>
                    <a:pt x="1249807" y="19050"/>
                  </a:lnTo>
                  <a:lnTo>
                    <a:pt x="1306957" y="19050"/>
                  </a:lnTo>
                  <a:lnTo>
                    <a:pt x="1306957" y="0"/>
                  </a:lnTo>
                  <a:close/>
                </a:path>
                <a:path w="3970020" h="2538095">
                  <a:moveTo>
                    <a:pt x="1230757" y="0"/>
                  </a:moveTo>
                  <a:lnTo>
                    <a:pt x="1173607" y="0"/>
                  </a:lnTo>
                  <a:lnTo>
                    <a:pt x="1173607" y="19050"/>
                  </a:lnTo>
                  <a:lnTo>
                    <a:pt x="1230757" y="19050"/>
                  </a:lnTo>
                  <a:lnTo>
                    <a:pt x="1230757" y="0"/>
                  </a:lnTo>
                  <a:close/>
                </a:path>
                <a:path w="3970020" h="2538095">
                  <a:moveTo>
                    <a:pt x="1154557" y="0"/>
                  </a:moveTo>
                  <a:lnTo>
                    <a:pt x="1097407" y="0"/>
                  </a:lnTo>
                  <a:lnTo>
                    <a:pt x="1097407" y="19050"/>
                  </a:lnTo>
                  <a:lnTo>
                    <a:pt x="1154557" y="19050"/>
                  </a:lnTo>
                  <a:lnTo>
                    <a:pt x="1154557" y="0"/>
                  </a:lnTo>
                  <a:close/>
                </a:path>
                <a:path w="3970020" h="2538095">
                  <a:moveTo>
                    <a:pt x="1078357" y="0"/>
                  </a:moveTo>
                  <a:lnTo>
                    <a:pt x="1021207" y="0"/>
                  </a:lnTo>
                  <a:lnTo>
                    <a:pt x="1021207" y="19050"/>
                  </a:lnTo>
                  <a:lnTo>
                    <a:pt x="1078357" y="19050"/>
                  </a:lnTo>
                  <a:lnTo>
                    <a:pt x="1078357" y="0"/>
                  </a:lnTo>
                  <a:close/>
                </a:path>
                <a:path w="3970020" h="2538095">
                  <a:moveTo>
                    <a:pt x="1002157" y="0"/>
                  </a:moveTo>
                  <a:lnTo>
                    <a:pt x="945007" y="0"/>
                  </a:lnTo>
                  <a:lnTo>
                    <a:pt x="945007" y="19050"/>
                  </a:lnTo>
                  <a:lnTo>
                    <a:pt x="1002157" y="19050"/>
                  </a:lnTo>
                  <a:lnTo>
                    <a:pt x="1002157" y="0"/>
                  </a:lnTo>
                  <a:close/>
                </a:path>
                <a:path w="3970020" h="2538095">
                  <a:moveTo>
                    <a:pt x="925957" y="0"/>
                  </a:moveTo>
                  <a:lnTo>
                    <a:pt x="868807" y="0"/>
                  </a:lnTo>
                  <a:lnTo>
                    <a:pt x="868807" y="19050"/>
                  </a:lnTo>
                  <a:lnTo>
                    <a:pt x="925957" y="19050"/>
                  </a:lnTo>
                  <a:lnTo>
                    <a:pt x="925957" y="0"/>
                  </a:lnTo>
                  <a:close/>
                </a:path>
                <a:path w="3970020" h="2538095">
                  <a:moveTo>
                    <a:pt x="849757" y="0"/>
                  </a:moveTo>
                  <a:lnTo>
                    <a:pt x="792607" y="0"/>
                  </a:lnTo>
                  <a:lnTo>
                    <a:pt x="792607" y="19050"/>
                  </a:lnTo>
                  <a:lnTo>
                    <a:pt x="849757" y="19050"/>
                  </a:lnTo>
                  <a:lnTo>
                    <a:pt x="849757" y="0"/>
                  </a:lnTo>
                  <a:close/>
                </a:path>
                <a:path w="3970020" h="2538095">
                  <a:moveTo>
                    <a:pt x="773557" y="0"/>
                  </a:moveTo>
                  <a:lnTo>
                    <a:pt x="716407" y="0"/>
                  </a:lnTo>
                  <a:lnTo>
                    <a:pt x="716407" y="19050"/>
                  </a:lnTo>
                  <a:lnTo>
                    <a:pt x="773557" y="19050"/>
                  </a:lnTo>
                  <a:lnTo>
                    <a:pt x="773557" y="0"/>
                  </a:lnTo>
                  <a:close/>
                </a:path>
                <a:path w="3970020" h="2538095">
                  <a:moveTo>
                    <a:pt x="697357" y="0"/>
                  </a:moveTo>
                  <a:lnTo>
                    <a:pt x="640207" y="0"/>
                  </a:lnTo>
                  <a:lnTo>
                    <a:pt x="640207" y="19050"/>
                  </a:lnTo>
                  <a:lnTo>
                    <a:pt x="697357" y="19050"/>
                  </a:lnTo>
                  <a:lnTo>
                    <a:pt x="697357" y="0"/>
                  </a:lnTo>
                  <a:close/>
                </a:path>
                <a:path w="3970020" h="2538095">
                  <a:moveTo>
                    <a:pt x="621157" y="0"/>
                  </a:moveTo>
                  <a:lnTo>
                    <a:pt x="564007" y="0"/>
                  </a:lnTo>
                  <a:lnTo>
                    <a:pt x="564007" y="19050"/>
                  </a:lnTo>
                  <a:lnTo>
                    <a:pt x="621157" y="19050"/>
                  </a:lnTo>
                  <a:lnTo>
                    <a:pt x="621157" y="0"/>
                  </a:lnTo>
                  <a:close/>
                </a:path>
                <a:path w="3970020" h="2538095">
                  <a:moveTo>
                    <a:pt x="544957" y="0"/>
                  </a:moveTo>
                  <a:lnTo>
                    <a:pt x="487806" y="0"/>
                  </a:lnTo>
                  <a:lnTo>
                    <a:pt x="487806" y="19050"/>
                  </a:lnTo>
                  <a:lnTo>
                    <a:pt x="544957" y="19050"/>
                  </a:lnTo>
                  <a:lnTo>
                    <a:pt x="544957" y="0"/>
                  </a:lnTo>
                  <a:close/>
                </a:path>
                <a:path w="3970020" h="2538095">
                  <a:moveTo>
                    <a:pt x="468756" y="0"/>
                  </a:moveTo>
                  <a:lnTo>
                    <a:pt x="411606" y="0"/>
                  </a:lnTo>
                  <a:lnTo>
                    <a:pt x="411606" y="19050"/>
                  </a:lnTo>
                  <a:lnTo>
                    <a:pt x="468756" y="19050"/>
                  </a:lnTo>
                  <a:lnTo>
                    <a:pt x="468756" y="0"/>
                  </a:lnTo>
                  <a:close/>
                </a:path>
                <a:path w="3970020" h="2538095">
                  <a:moveTo>
                    <a:pt x="392556" y="0"/>
                  </a:moveTo>
                  <a:lnTo>
                    <a:pt x="335406" y="0"/>
                  </a:lnTo>
                  <a:lnTo>
                    <a:pt x="335406" y="19050"/>
                  </a:lnTo>
                  <a:lnTo>
                    <a:pt x="392556" y="19050"/>
                  </a:lnTo>
                  <a:lnTo>
                    <a:pt x="392556" y="0"/>
                  </a:lnTo>
                  <a:close/>
                </a:path>
                <a:path w="3970020" h="2538095">
                  <a:moveTo>
                    <a:pt x="316356" y="0"/>
                  </a:moveTo>
                  <a:lnTo>
                    <a:pt x="259206" y="0"/>
                  </a:lnTo>
                  <a:lnTo>
                    <a:pt x="259206" y="19050"/>
                  </a:lnTo>
                  <a:lnTo>
                    <a:pt x="316356" y="19050"/>
                  </a:lnTo>
                  <a:lnTo>
                    <a:pt x="316356" y="0"/>
                  </a:lnTo>
                  <a:close/>
                </a:path>
                <a:path w="3970020" h="2538095">
                  <a:moveTo>
                    <a:pt x="240156" y="0"/>
                  </a:moveTo>
                  <a:lnTo>
                    <a:pt x="183006" y="0"/>
                  </a:lnTo>
                  <a:lnTo>
                    <a:pt x="183006" y="19050"/>
                  </a:lnTo>
                  <a:lnTo>
                    <a:pt x="240156" y="19050"/>
                  </a:lnTo>
                  <a:lnTo>
                    <a:pt x="240156" y="0"/>
                  </a:lnTo>
                  <a:close/>
                </a:path>
                <a:path w="3970020" h="2538095">
                  <a:moveTo>
                    <a:pt x="163956" y="0"/>
                  </a:moveTo>
                  <a:lnTo>
                    <a:pt x="106806" y="0"/>
                  </a:lnTo>
                  <a:lnTo>
                    <a:pt x="106806" y="19050"/>
                  </a:lnTo>
                  <a:lnTo>
                    <a:pt x="163956" y="19050"/>
                  </a:lnTo>
                  <a:lnTo>
                    <a:pt x="163956" y="0"/>
                  </a:lnTo>
                  <a:close/>
                </a:path>
                <a:path w="3970020" h="2538095">
                  <a:moveTo>
                    <a:pt x="87756" y="0"/>
                  </a:moveTo>
                  <a:lnTo>
                    <a:pt x="50165" y="0"/>
                  </a:lnTo>
                  <a:lnTo>
                    <a:pt x="45847" y="4191"/>
                  </a:lnTo>
                  <a:lnTo>
                    <a:pt x="45847" y="34289"/>
                  </a:lnTo>
                  <a:lnTo>
                    <a:pt x="64897" y="34289"/>
                  </a:lnTo>
                  <a:lnTo>
                    <a:pt x="64897" y="19050"/>
                  </a:lnTo>
                  <a:lnTo>
                    <a:pt x="55372" y="19050"/>
                  </a:lnTo>
                  <a:lnTo>
                    <a:pt x="64897" y="9525"/>
                  </a:lnTo>
                  <a:lnTo>
                    <a:pt x="87756" y="9525"/>
                  </a:lnTo>
                  <a:lnTo>
                    <a:pt x="87756" y="0"/>
                  </a:lnTo>
                  <a:close/>
                </a:path>
                <a:path w="3970020" h="2538095">
                  <a:moveTo>
                    <a:pt x="64897" y="9525"/>
                  </a:moveTo>
                  <a:lnTo>
                    <a:pt x="55372" y="19050"/>
                  </a:lnTo>
                  <a:lnTo>
                    <a:pt x="64897" y="19050"/>
                  </a:lnTo>
                  <a:lnTo>
                    <a:pt x="64897" y="9525"/>
                  </a:lnTo>
                  <a:close/>
                </a:path>
                <a:path w="3970020" h="2538095">
                  <a:moveTo>
                    <a:pt x="87756" y="9525"/>
                  </a:moveTo>
                  <a:lnTo>
                    <a:pt x="64897" y="9525"/>
                  </a:lnTo>
                  <a:lnTo>
                    <a:pt x="64897" y="19050"/>
                  </a:lnTo>
                  <a:lnTo>
                    <a:pt x="87756" y="19050"/>
                  </a:lnTo>
                  <a:lnTo>
                    <a:pt x="87756" y="9525"/>
                  </a:lnTo>
                  <a:close/>
                </a:path>
                <a:path w="3970020" h="2538095">
                  <a:moveTo>
                    <a:pt x="64897" y="53339"/>
                  </a:moveTo>
                  <a:lnTo>
                    <a:pt x="45847" y="53339"/>
                  </a:lnTo>
                  <a:lnTo>
                    <a:pt x="45847" y="110489"/>
                  </a:lnTo>
                  <a:lnTo>
                    <a:pt x="64897" y="110489"/>
                  </a:lnTo>
                  <a:lnTo>
                    <a:pt x="64897" y="53339"/>
                  </a:lnTo>
                  <a:close/>
                </a:path>
                <a:path w="3970020" h="2538095">
                  <a:moveTo>
                    <a:pt x="10668" y="132207"/>
                  </a:moveTo>
                  <a:lnTo>
                    <a:pt x="6096" y="134747"/>
                  </a:lnTo>
                  <a:lnTo>
                    <a:pt x="1651" y="137413"/>
                  </a:lnTo>
                  <a:lnTo>
                    <a:pt x="0" y="143256"/>
                  </a:lnTo>
                  <a:lnTo>
                    <a:pt x="55372" y="238125"/>
                  </a:lnTo>
                  <a:lnTo>
                    <a:pt x="66417" y="219201"/>
                  </a:lnTo>
                  <a:lnTo>
                    <a:pt x="45847" y="219201"/>
                  </a:lnTo>
                  <a:lnTo>
                    <a:pt x="45847" y="205739"/>
                  </a:lnTo>
                  <a:lnTo>
                    <a:pt x="52154" y="205739"/>
                  </a:lnTo>
                  <a:lnTo>
                    <a:pt x="55372" y="200224"/>
                  </a:lnTo>
                  <a:lnTo>
                    <a:pt x="47476" y="186689"/>
                  </a:lnTo>
                  <a:lnTo>
                    <a:pt x="45847" y="186689"/>
                  </a:lnTo>
                  <a:lnTo>
                    <a:pt x="45847" y="183895"/>
                  </a:lnTo>
                  <a:lnTo>
                    <a:pt x="19177" y="138175"/>
                  </a:lnTo>
                  <a:lnTo>
                    <a:pt x="16510" y="133731"/>
                  </a:lnTo>
                  <a:lnTo>
                    <a:pt x="10668" y="132207"/>
                  </a:lnTo>
                  <a:close/>
                </a:path>
                <a:path w="3970020" h="2538095">
                  <a:moveTo>
                    <a:pt x="52154" y="205739"/>
                  </a:moveTo>
                  <a:lnTo>
                    <a:pt x="45847" y="205739"/>
                  </a:lnTo>
                  <a:lnTo>
                    <a:pt x="45847" y="219201"/>
                  </a:lnTo>
                  <a:lnTo>
                    <a:pt x="64897" y="219201"/>
                  </a:lnTo>
                  <a:lnTo>
                    <a:pt x="64897" y="214375"/>
                  </a:lnTo>
                  <a:lnTo>
                    <a:pt x="47117" y="214375"/>
                  </a:lnTo>
                  <a:lnTo>
                    <a:pt x="52154" y="205739"/>
                  </a:lnTo>
                  <a:close/>
                </a:path>
                <a:path w="3970020" h="2538095">
                  <a:moveTo>
                    <a:pt x="74274" y="205739"/>
                  </a:moveTo>
                  <a:lnTo>
                    <a:pt x="64897" y="205739"/>
                  </a:lnTo>
                  <a:lnTo>
                    <a:pt x="64897" y="219201"/>
                  </a:lnTo>
                  <a:lnTo>
                    <a:pt x="66417" y="219201"/>
                  </a:lnTo>
                  <a:lnTo>
                    <a:pt x="74274" y="205739"/>
                  </a:lnTo>
                  <a:close/>
                </a:path>
                <a:path w="3970020" h="2538095">
                  <a:moveTo>
                    <a:pt x="55372" y="200224"/>
                  </a:moveTo>
                  <a:lnTo>
                    <a:pt x="47117" y="214375"/>
                  </a:lnTo>
                  <a:lnTo>
                    <a:pt x="63627" y="214375"/>
                  </a:lnTo>
                  <a:lnTo>
                    <a:pt x="55372" y="200224"/>
                  </a:lnTo>
                  <a:close/>
                </a:path>
                <a:path w="3970020" h="2538095">
                  <a:moveTo>
                    <a:pt x="64897" y="183895"/>
                  </a:moveTo>
                  <a:lnTo>
                    <a:pt x="55372" y="200224"/>
                  </a:lnTo>
                  <a:lnTo>
                    <a:pt x="63627" y="214375"/>
                  </a:lnTo>
                  <a:lnTo>
                    <a:pt x="64897" y="214375"/>
                  </a:lnTo>
                  <a:lnTo>
                    <a:pt x="64897" y="205739"/>
                  </a:lnTo>
                  <a:lnTo>
                    <a:pt x="74274" y="205739"/>
                  </a:lnTo>
                  <a:lnTo>
                    <a:pt x="85393" y="186689"/>
                  </a:lnTo>
                  <a:lnTo>
                    <a:pt x="64897" y="186689"/>
                  </a:lnTo>
                  <a:lnTo>
                    <a:pt x="64897" y="183895"/>
                  </a:lnTo>
                  <a:close/>
                </a:path>
                <a:path w="3970020" h="2538095">
                  <a:moveTo>
                    <a:pt x="45847" y="183895"/>
                  </a:moveTo>
                  <a:lnTo>
                    <a:pt x="45847" y="186689"/>
                  </a:lnTo>
                  <a:lnTo>
                    <a:pt x="47476" y="186689"/>
                  </a:lnTo>
                  <a:lnTo>
                    <a:pt x="45847" y="183895"/>
                  </a:lnTo>
                  <a:close/>
                </a:path>
                <a:path w="3970020" h="2538095">
                  <a:moveTo>
                    <a:pt x="64897" y="129539"/>
                  </a:moveTo>
                  <a:lnTo>
                    <a:pt x="45847" y="129539"/>
                  </a:lnTo>
                  <a:lnTo>
                    <a:pt x="45847" y="183895"/>
                  </a:lnTo>
                  <a:lnTo>
                    <a:pt x="47476" y="186689"/>
                  </a:lnTo>
                  <a:lnTo>
                    <a:pt x="63267" y="186689"/>
                  </a:lnTo>
                  <a:lnTo>
                    <a:pt x="64897" y="183895"/>
                  </a:lnTo>
                  <a:lnTo>
                    <a:pt x="64897" y="129539"/>
                  </a:lnTo>
                  <a:close/>
                </a:path>
                <a:path w="3970020" h="2538095">
                  <a:moveTo>
                    <a:pt x="100076" y="132207"/>
                  </a:moveTo>
                  <a:lnTo>
                    <a:pt x="94234" y="133731"/>
                  </a:lnTo>
                  <a:lnTo>
                    <a:pt x="91567" y="138175"/>
                  </a:lnTo>
                  <a:lnTo>
                    <a:pt x="64897" y="183895"/>
                  </a:lnTo>
                  <a:lnTo>
                    <a:pt x="64897" y="186689"/>
                  </a:lnTo>
                  <a:lnTo>
                    <a:pt x="85393" y="186689"/>
                  </a:lnTo>
                  <a:lnTo>
                    <a:pt x="110743" y="143256"/>
                  </a:lnTo>
                  <a:lnTo>
                    <a:pt x="109220" y="137413"/>
                  </a:lnTo>
                  <a:lnTo>
                    <a:pt x="104648" y="134747"/>
                  </a:lnTo>
                  <a:lnTo>
                    <a:pt x="100076" y="132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E61BE132-9E2B-0CBD-3335-C5AE9C834BD0}"/>
                </a:ext>
              </a:extLst>
            </p:cNvPr>
            <p:cNvSpPr/>
            <p:nvPr/>
          </p:nvSpPr>
          <p:spPr>
            <a:xfrm>
              <a:off x="4982844" y="2362199"/>
              <a:ext cx="1734820" cy="533400"/>
            </a:xfrm>
            <a:custGeom>
              <a:avLst/>
              <a:gdLst/>
              <a:ahLst/>
              <a:cxnLst/>
              <a:rect l="l" t="t" r="r" b="b"/>
              <a:pathLst>
                <a:path w="1734820" h="533400">
                  <a:moveTo>
                    <a:pt x="1734312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734312" y="533400"/>
                  </a:lnTo>
                  <a:lnTo>
                    <a:pt x="17343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6">
            <a:extLst>
              <a:ext uri="{FF2B5EF4-FFF2-40B4-BE49-F238E27FC236}">
                <a16:creationId xmlns:a16="http://schemas.microsoft.com/office/drawing/2014/main" id="{8E4A09CD-6D23-D852-AA00-74DCAE69A909}"/>
              </a:ext>
            </a:extLst>
          </p:cNvPr>
          <p:cNvSpPr txBox="1"/>
          <p:nvPr/>
        </p:nvSpPr>
        <p:spPr>
          <a:xfrm>
            <a:off x="6766941" y="2794304"/>
            <a:ext cx="762000" cy="609600"/>
          </a:xfrm>
          <a:prstGeom prst="rect">
            <a:avLst/>
          </a:prstGeom>
          <a:solidFill>
            <a:srgbClr val="EDEBE0"/>
          </a:solidFill>
          <a:ln w="25400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sz="2400" i="1" dirty="0">
                <a:latin typeface="Calibri"/>
                <a:cs typeface="Calibri"/>
              </a:rPr>
              <a:t>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68C5794C-DE70-6013-DB71-8C0747E00959}"/>
              </a:ext>
            </a:extLst>
          </p:cNvPr>
          <p:cNvSpPr txBox="1"/>
          <p:nvPr/>
        </p:nvSpPr>
        <p:spPr>
          <a:xfrm>
            <a:off x="5226811" y="2447975"/>
            <a:ext cx="1247140" cy="706120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41605" marR="5080" indent="-129539">
              <a:lnSpc>
                <a:spcPct val="59600"/>
              </a:lnSpc>
              <a:spcBef>
                <a:spcPts val="1450"/>
              </a:spcBef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Demand 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D842937F-2F1F-4CE9-B276-EDB0258F78BC}"/>
              </a:ext>
            </a:extLst>
          </p:cNvPr>
          <p:cNvSpPr/>
          <p:nvPr/>
        </p:nvSpPr>
        <p:spPr>
          <a:xfrm>
            <a:off x="7081519" y="3398316"/>
            <a:ext cx="111125" cy="314960"/>
          </a:xfrm>
          <a:custGeom>
            <a:avLst/>
            <a:gdLst/>
            <a:ahLst/>
            <a:cxnLst/>
            <a:rect l="l" t="t" r="r" b="b"/>
            <a:pathLst>
              <a:path w="111125" h="314960">
                <a:moveTo>
                  <a:pt x="10668" y="209041"/>
                </a:moveTo>
                <a:lnTo>
                  <a:pt x="6096" y="211709"/>
                </a:lnTo>
                <a:lnTo>
                  <a:pt x="1650" y="214249"/>
                </a:lnTo>
                <a:lnTo>
                  <a:pt x="0" y="220090"/>
                </a:lnTo>
                <a:lnTo>
                  <a:pt x="55372" y="314960"/>
                </a:lnTo>
                <a:lnTo>
                  <a:pt x="66417" y="296037"/>
                </a:lnTo>
                <a:lnTo>
                  <a:pt x="45847" y="296037"/>
                </a:lnTo>
                <a:lnTo>
                  <a:pt x="45847" y="260858"/>
                </a:lnTo>
                <a:lnTo>
                  <a:pt x="16509" y="210565"/>
                </a:lnTo>
                <a:lnTo>
                  <a:pt x="10668" y="209041"/>
                </a:lnTo>
                <a:close/>
              </a:path>
              <a:path w="111125" h="314960">
                <a:moveTo>
                  <a:pt x="45847" y="260858"/>
                </a:moveTo>
                <a:lnTo>
                  <a:pt x="45847" y="296037"/>
                </a:lnTo>
                <a:lnTo>
                  <a:pt x="64897" y="296037"/>
                </a:lnTo>
                <a:lnTo>
                  <a:pt x="64897" y="291338"/>
                </a:lnTo>
                <a:lnTo>
                  <a:pt x="47116" y="291338"/>
                </a:lnTo>
                <a:lnTo>
                  <a:pt x="55372" y="277186"/>
                </a:lnTo>
                <a:lnTo>
                  <a:pt x="45847" y="260858"/>
                </a:lnTo>
                <a:close/>
              </a:path>
              <a:path w="111125" h="314960">
                <a:moveTo>
                  <a:pt x="100075" y="209041"/>
                </a:moveTo>
                <a:lnTo>
                  <a:pt x="94233" y="210565"/>
                </a:lnTo>
                <a:lnTo>
                  <a:pt x="64897" y="260858"/>
                </a:lnTo>
                <a:lnTo>
                  <a:pt x="64897" y="296037"/>
                </a:lnTo>
                <a:lnTo>
                  <a:pt x="66417" y="296037"/>
                </a:lnTo>
                <a:lnTo>
                  <a:pt x="110744" y="220090"/>
                </a:lnTo>
                <a:lnTo>
                  <a:pt x="109220" y="214249"/>
                </a:lnTo>
                <a:lnTo>
                  <a:pt x="104648" y="211709"/>
                </a:lnTo>
                <a:lnTo>
                  <a:pt x="100075" y="209041"/>
                </a:lnTo>
                <a:close/>
              </a:path>
              <a:path w="111125" h="314960">
                <a:moveTo>
                  <a:pt x="55371" y="277186"/>
                </a:moveTo>
                <a:lnTo>
                  <a:pt x="47116" y="291338"/>
                </a:lnTo>
                <a:lnTo>
                  <a:pt x="63626" y="291338"/>
                </a:lnTo>
                <a:lnTo>
                  <a:pt x="55371" y="277186"/>
                </a:lnTo>
                <a:close/>
              </a:path>
              <a:path w="111125" h="314960">
                <a:moveTo>
                  <a:pt x="64897" y="260858"/>
                </a:moveTo>
                <a:lnTo>
                  <a:pt x="55371" y="277186"/>
                </a:lnTo>
                <a:lnTo>
                  <a:pt x="63626" y="291338"/>
                </a:lnTo>
                <a:lnTo>
                  <a:pt x="64897" y="291338"/>
                </a:lnTo>
                <a:lnTo>
                  <a:pt x="64897" y="260858"/>
                </a:lnTo>
                <a:close/>
              </a:path>
              <a:path w="111125" h="314960">
                <a:moveTo>
                  <a:pt x="64897" y="0"/>
                </a:moveTo>
                <a:lnTo>
                  <a:pt x="45847" y="0"/>
                </a:lnTo>
                <a:lnTo>
                  <a:pt x="45847" y="260858"/>
                </a:lnTo>
                <a:lnTo>
                  <a:pt x="55371" y="277186"/>
                </a:lnTo>
                <a:lnTo>
                  <a:pt x="64896" y="260858"/>
                </a:lnTo>
                <a:lnTo>
                  <a:pt x="648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19">
            <a:extLst>
              <a:ext uri="{FF2B5EF4-FFF2-40B4-BE49-F238E27FC236}">
                <a16:creationId xmlns:a16="http://schemas.microsoft.com/office/drawing/2014/main" id="{4F9EE222-B5DF-CE89-AB77-A82A6F631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74408"/>
              </p:ext>
            </p:extLst>
          </p:nvPr>
        </p:nvGraphicFramePr>
        <p:xfrm>
          <a:off x="6764146" y="4293794"/>
          <a:ext cx="3023870" cy="18337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50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85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85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85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i="1" spc="-5" dirty="0">
                          <a:latin typeface="Calibri"/>
                          <a:cs typeface="Calibri"/>
                        </a:rPr>
                        <a:t>X+4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85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D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0">
            <a:extLst>
              <a:ext uri="{FF2B5EF4-FFF2-40B4-BE49-F238E27FC236}">
                <a16:creationId xmlns:a16="http://schemas.microsoft.com/office/drawing/2014/main" id="{B6A85350-ED07-0480-381D-5F299AE7C411}"/>
              </a:ext>
            </a:extLst>
          </p:cNvPr>
          <p:cNvSpPr/>
          <p:nvPr/>
        </p:nvSpPr>
        <p:spPr>
          <a:xfrm>
            <a:off x="3248532" y="3064941"/>
            <a:ext cx="3469004" cy="111125"/>
          </a:xfrm>
          <a:custGeom>
            <a:avLst/>
            <a:gdLst/>
            <a:ahLst/>
            <a:cxnLst/>
            <a:rect l="l" t="t" r="r" b="b"/>
            <a:pathLst>
              <a:path w="3469004" h="111125">
                <a:moveTo>
                  <a:pt x="3430959" y="55308"/>
                </a:moveTo>
                <a:lnTo>
                  <a:pt x="3368802" y="91566"/>
                </a:lnTo>
                <a:lnTo>
                  <a:pt x="3364230" y="94106"/>
                </a:lnTo>
                <a:lnTo>
                  <a:pt x="3362706" y="99949"/>
                </a:lnTo>
                <a:lnTo>
                  <a:pt x="3368040" y="109092"/>
                </a:lnTo>
                <a:lnTo>
                  <a:pt x="3373882" y="110616"/>
                </a:lnTo>
                <a:lnTo>
                  <a:pt x="3452432" y="64769"/>
                </a:lnTo>
                <a:lnTo>
                  <a:pt x="3449828" y="64769"/>
                </a:lnTo>
                <a:lnTo>
                  <a:pt x="3449828" y="63500"/>
                </a:lnTo>
                <a:lnTo>
                  <a:pt x="3445002" y="63500"/>
                </a:lnTo>
                <a:lnTo>
                  <a:pt x="3430959" y="55308"/>
                </a:lnTo>
                <a:close/>
              </a:path>
              <a:path w="3469004" h="111125">
                <a:moveTo>
                  <a:pt x="1728978" y="45719"/>
                </a:moveTo>
                <a:lnTo>
                  <a:pt x="0" y="45719"/>
                </a:lnTo>
                <a:lnTo>
                  <a:pt x="0" y="64769"/>
                </a:lnTo>
                <a:lnTo>
                  <a:pt x="1734312" y="64769"/>
                </a:lnTo>
                <a:lnTo>
                  <a:pt x="1743837" y="55244"/>
                </a:lnTo>
                <a:lnTo>
                  <a:pt x="1724787" y="55244"/>
                </a:lnTo>
                <a:lnTo>
                  <a:pt x="1724787" y="50037"/>
                </a:lnTo>
                <a:lnTo>
                  <a:pt x="1728978" y="45719"/>
                </a:lnTo>
                <a:close/>
              </a:path>
              <a:path w="3469004" h="111125">
                <a:moveTo>
                  <a:pt x="1743837" y="55244"/>
                </a:moveTo>
                <a:lnTo>
                  <a:pt x="1734312" y="64769"/>
                </a:lnTo>
                <a:lnTo>
                  <a:pt x="1739519" y="64769"/>
                </a:lnTo>
                <a:lnTo>
                  <a:pt x="1743837" y="60578"/>
                </a:lnTo>
                <a:lnTo>
                  <a:pt x="1743837" y="55244"/>
                </a:lnTo>
                <a:close/>
              </a:path>
              <a:path w="3469004" h="111125">
                <a:moveTo>
                  <a:pt x="3414522" y="45719"/>
                </a:moveTo>
                <a:lnTo>
                  <a:pt x="1734312" y="45719"/>
                </a:lnTo>
                <a:lnTo>
                  <a:pt x="1724787" y="55244"/>
                </a:lnTo>
                <a:lnTo>
                  <a:pt x="1743837" y="55244"/>
                </a:lnTo>
                <a:lnTo>
                  <a:pt x="1743837" y="60578"/>
                </a:lnTo>
                <a:lnTo>
                  <a:pt x="1739519" y="64769"/>
                </a:lnTo>
                <a:lnTo>
                  <a:pt x="3414739" y="64769"/>
                </a:lnTo>
                <a:lnTo>
                  <a:pt x="3430959" y="55308"/>
                </a:lnTo>
                <a:lnTo>
                  <a:pt x="3414522" y="45719"/>
                </a:lnTo>
                <a:close/>
              </a:path>
              <a:path w="3469004" h="111125">
                <a:moveTo>
                  <a:pt x="3452394" y="45719"/>
                </a:moveTo>
                <a:lnTo>
                  <a:pt x="3449828" y="45719"/>
                </a:lnTo>
                <a:lnTo>
                  <a:pt x="3449828" y="64769"/>
                </a:lnTo>
                <a:lnTo>
                  <a:pt x="3452432" y="64769"/>
                </a:lnTo>
                <a:lnTo>
                  <a:pt x="3468751" y="55244"/>
                </a:lnTo>
                <a:lnTo>
                  <a:pt x="3452394" y="45719"/>
                </a:lnTo>
                <a:close/>
              </a:path>
              <a:path w="3469004" h="111125">
                <a:moveTo>
                  <a:pt x="3445002" y="47116"/>
                </a:moveTo>
                <a:lnTo>
                  <a:pt x="3430959" y="55308"/>
                </a:lnTo>
                <a:lnTo>
                  <a:pt x="3445002" y="63500"/>
                </a:lnTo>
                <a:lnTo>
                  <a:pt x="3445002" y="47116"/>
                </a:lnTo>
                <a:close/>
              </a:path>
              <a:path w="3469004" h="111125">
                <a:moveTo>
                  <a:pt x="3449828" y="47116"/>
                </a:moveTo>
                <a:lnTo>
                  <a:pt x="3445002" y="47116"/>
                </a:lnTo>
                <a:lnTo>
                  <a:pt x="3445002" y="63500"/>
                </a:lnTo>
                <a:lnTo>
                  <a:pt x="3449828" y="63500"/>
                </a:lnTo>
                <a:lnTo>
                  <a:pt x="3449828" y="47116"/>
                </a:lnTo>
                <a:close/>
              </a:path>
              <a:path w="3469004" h="111125">
                <a:moveTo>
                  <a:pt x="3373882" y="0"/>
                </a:moveTo>
                <a:lnTo>
                  <a:pt x="3368040" y="1524"/>
                </a:lnTo>
                <a:lnTo>
                  <a:pt x="3365373" y="6096"/>
                </a:lnTo>
                <a:lnTo>
                  <a:pt x="3362706" y="10540"/>
                </a:lnTo>
                <a:lnTo>
                  <a:pt x="3364230" y="16383"/>
                </a:lnTo>
                <a:lnTo>
                  <a:pt x="3430959" y="55308"/>
                </a:lnTo>
                <a:lnTo>
                  <a:pt x="3445002" y="47116"/>
                </a:lnTo>
                <a:lnTo>
                  <a:pt x="3449828" y="47116"/>
                </a:lnTo>
                <a:lnTo>
                  <a:pt x="3449828" y="45719"/>
                </a:lnTo>
                <a:lnTo>
                  <a:pt x="3452394" y="45719"/>
                </a:lnTo>
                <a:lnTo>
                  <a:pt x="3373882" y="0"/>
                </a:lnTo>
                <a:close/>
              </a:path>
              <a:path w="3469004" h="111125">
                <a:moveTo>
                  <a:pt x="1734312" y="45719"/>
                </a:moveTo>
                <a:lnTo>
                  <a:pt x="1728978" y="45719"/>
                </a:lnTo>
                <a:lnTo>
                  <a:pt x="1724787" y="50037"/>
                </a:lnTo>
                <a:lnTo>
                  <a:pt x="1724787" y="55244"/>
                </a:lnTo>
                <a:lnTo>
                  <a:pt x="1734312" y="45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FE4D8B57-50C3-ECB6-F3AB-5BFD7A9CC024}"/>
              </a:ext>
            </a:extLst>
          </p:cNvPr>
          <p:cNvSpPr/>
          <p:nvPr/>
        </p:nvSpPr>
        <p:spPr>
          <a:xfrm>
            <a:off x="7081519" y="4097071"/>
            <a:ext cx="111125" cy="314960"/>
          </a:xfrm>
          <a:custGeom>
            <a:avLst/>
            <a:gdLst/>
            <a:ahLst/>
            <a:cxnLst/>
            <a:rect l="l" t="t" r="r" b="b"/>
            <a:pathLst>
              <a:path w="111125" h="314960">
                <a:moveTo>
                  <a:pt x="10668" y="209042"/>
                </a:moveTo>
                <a:lnTo>
                  <a:pt x="6096" y="211709"/>
                </a:lnTo>
                <a:lnTo>
                  <a:pt x="1650" y="214249"/>
                </a:lnTo>
                <a:lnTo>
                  <a:pt x="0" y="220091"/>
                </a:lnTo>
                <a:lnTo>
                  <a:pt x="55372" y="314960"/>
                </a:lnTo>
                <a:lnTo>
                  <a:pt x="66417" y="296037"/>
                </a:lnTo>
                <a:lnTo>
                  <a:pt x="45847" y="296037"/>
                </a:lnTo>
                <a:lnTo>
                  <a:pt x="45847" y="260858"/>
                </a:lnTo>
                <a:lnTo>
                  <a:pt x="16509" y="210566"/>
                </a:lnTo>
                <a:lnTo>
                  <a:pt x="10668" y="209042"/>
                </a:lnTo>
                <a:close/>
              </a:path>
              <a:path w="111125" h="314960">
                <a:moveTo>
                  <a:pt x="45847" y="260858"/>
                </a:moveTo>
                <a:lnTo>
                  <a:pt x="45847" y="296037"/>
                </a:lnTo>
                <a:lnTo>
                  <a:pt x="64897" y="296037"/>
                </a:lnTo>
                <a:lnTo>
                  <a:pt x="64897" y="291338"/>
                </a:lnTo>
                <a:lnTo>
                  <a:pt x="47116" y="291338"/>
                </a:lnTo>
                <a:lnTo>
                  <a:pt x="55371" y="277186"/>
                </a:lnTo>
                <a:lnTo>
                  <a:pt x="45847" y="260858"/>
                </a:lnTo>
                <a:close/>
              </a:path>
              <a:path w="111125" h="314960">
                <a:moveTo>
                  <a:pt x="100075" y="209042"/>
                </a:moveTo>
                <a:lnTo>
                  <a:pt x="94233" y="210566"/>
                </a:lnTo>
                <a:lnTo>
                  <a:pt x="64897" y="260858"/>
                </a:lnTo>
                <a:lnTo>
                  <a:pt x="64897" y="296037"/>
                </a:lnTo>
                <a:lnTo>
                  <a:pt x="66417" y="296037"/>
                </a:lnTo>
                <a:lnTo>
                  <a:pt x="110744" y="220091"/>
                </a:lnTo>
                <a:lnTo>
                  <a:pt x="109220" y="214249"/>
                </a:lnTo>
                <a:lnTo>
                  <a:pt x="104648" y="211709"/>
                </a:lnTo>
                <a:lnTo>
                  <a:pt x="100075" y="209042"/>
                </a:lnTo>
                <a:close/>
              </a:path>
              <a:path w="111125" h="314960">
                <a:moveTo>
                  <a:pt x="55372" y="277186"/>
                </a:moveTo>
                <a:lnTo>
                  <a:pt x="47116" y="291338"/>
                </a:lnTo>
                <a:lnTo>
                  <a:pt x="63626" y="291338"/>
                </a:lnTo>
                <a:lnTo>
                  <a:pt x="55372" y="277186"/>
                </a:lnTo>
                <a:close/>
              </a:path>
              <a:path w="111125" h="314960">
                <a:moveTo>
                  <a:pt x="64897" y="260858"/>
                </a:moveTo>
                <a:lnTo>
                  <a:pt x="55372" y="277186"/>
                </a:lnTo>
                <a:lnTo>
                  <a:pt x="63626" y="291338"/>
                </a:lnTo>
                <a:lnTo>
                  <a:pt x="64897" y="291338"/>
                </a:lnTo>
                <a:lnTo>
                  <a:pt x="64897" y="260858"/>
                </a:lnTo>
                <a:close/>
              </a:path>
              <a:path w="111125" h="314960">
                <a:moveTo>
                  <a:pt x="64897" y="0"/>
                </a:moveTo>
                <a:lnTo>
                  <a:pt x="45847" y="0"/>
                </a:lnTo>
                <a:lnTo>
                  <a:pt x="45847" y="260858"/>
                </a:lnTo>
                <a:lnTo>
                  <a:pt x="55372" y="277186"/>
                </a:lnTo>
                <a:lnTo>
                  <a:pt x="64896" y="260858"/>
                </a:lnTo>
                <a:lnTo>
                  <a:pt x="648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A039BB79-7134-5F49-4352-ED761B4F5ABA}"/>
              </a:ext>
            </a:extLst>
          </p:cNvPr>
          <p:cNvSpPr/>
          <p:nvPr/>
        </p:nvSpPr>
        <p:spPr>
          <a:xfrm>
            <a:off x="6550914" y="4209415"/>
            <a:ext cx="3394710" cy="2146935"/>
          </a:xfrm>
          <a:custGeom>
            <a:avLst/>
            <a:gdLst/>
            <a:ahLst/>
            <a:cxnLst/>
            <a:rect l="l" t="t" r="r" b="b"/>
            <a:pathLst>
              <a:path w="3394709" h="2146935">
                <a:moveTo>
                  <a:pt x="0" y="2146808"/>
                </a:moveTo>
                <a:lnTo>
                  <a:pt x="3394202" y="2146808"/>
                </a:lnTo>
                <a:lnTo>
                  <a:pt x="3394202" y="0"/>
                </a:lnTo>
                <a:lnTo>
                  <a:pt x="0" y="0"/>
                </a:lnTo>
                <a:lnTo>
                  <a:pt x="0" y="2146808"/>
                </a:lnTo>
                <a:close/>
              </a:path>
            </a:pathLst>
          </a:custGeom>
          <a:ln w="25400">
            <a:solidFill>
              <a:srgbClr val="385D8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098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3C4B-F649-A076-94F1-9F7F6F49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Prefetch Distance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10323-E611-721A-D1D7-F0E26454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52FE2-D5F2-70FE-7D83-525268CB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A7619A86-250B-9054-9409-078E6C540116}"/>
              </a:ext>
            </a:extLst>
          </p:cNvPr>
          <p:cNvGrpSpPr/>
          <p:nvPr/>
        </p:nvGrpSpPr>
        <p:grpSpPr>
          <a:xfrm>
            <a:off x="222250" y="1372489"/>
            <a:ext cx="11747500" cy="1003300"/>
            <a:chOff x="222250" y="1136650"/>
            <a:chExt cx="11747500" cy="1003300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4F464C01-FB99-44C4-6F13-A32E10F17DB4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11569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11569700" y="990600"/>
                  </a:lnTo>
                  <a:lnTo>
                    <a:pt x="11613591" y="984702"/>
                  </a:lnTo>
                  <a:lnTo>
                    <a:pt x="11653030" y="968059"/>
                  </a:lnTo>
                  <a:lnTo>
                    <a:pt x="11686444" y="942244"/>
                  </a:lnTo>
                  <a:lnTo>
                    <a:pt x="11712259" y="908830"/>
                  </a:lnTo>
                  <a:lnTo>
                    <a:pt x="11728902" y="869391"/>
                  </a:lnTo>
                  <a:lnTo>
                    <a:pt x="11734800" y="825500"/>
                  </a:lnTo>
                  <a:lnTo>
                    <a:pt x="11734800" y="165100"/>
                  </a:lnTo>
                  <a:lnTo>
                    <a:pt x="11728902" y="121208"/>
                  </a:lnTo>
                  <a:lnTo>
                    <a:pt x="11712259" y="81769"/>
                  </a:lnTo>
                  <a:lnTo>
                    <a:pt x="11686444" y="48355"/>
                  </a:lnTo>
                  <a:lnTo>
                    <a:pt x="11653030" y="22540"/>
                  </a:lnTo>
                  <a:lnTo>
                    <a:pt x="11613591" y="5897"/>
                  </a:lnTo>
                  <a:lnTo>
                    <a:pt x="115697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298197A4-1C23-672F-EF7B-E87FD4705349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1569700" y="0"/>
                  </a:lnTo>
                  <a:lnTo>
                    <a:pt x="11613591" y="5897"/>
                  </a:lnTo>
                  <a:lnTo>
                    <a:pt x="11653030" y="22540"/>
                  </a:lnTo>
                  <a:lnTo>
                    <a:pt x="11686444" y="48355"/>
                  </a:lnTo>
                  <a:lnTo>
                    <a:pt x="11712259" y="81769"/>
                  </a:lnTo>
                  <a:lnTo>
                    <a:pt x="11728902" y="121208"/>
                  </a:lnTo>
                  <a:lnTo>
                    <a:pt x="11734800" y="165100"/>
                  </a:lnTo>
                  <a:lnTo>
                    <a:pt x="11734800" y="825500"/>
                  </a:lnTo>
                  <a:lnTo>
                    <a:pt x="11728902" y="869391"/>
                  </a:lnTo>
                  <a:lnTo>
                    <a:pt x="11712259" y="908830"/>
                  </a:lnTo>
                  <a:lnTo>
                    <a:pt x="11686444" y="942244"/>
                  </a:lnTo>
                  <a:lnTo>
                    <a:pt x="11653030" y="968059"/>
                  </a:lnTo>
                  <a:lnTo>
                    <a:pt x="11613591" y="984702"/>
                  </a:lnTo>
                  <a:lnTo>
                    <a:pt x="115697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6">
            <a:extLst>
              <a:ext uri="{FF2B5EF4-FFF2-40B4-BE49-F238E27FC236}">
                <a16:creationId xmlns:a16="http://schemas.microsoft.com/office/drawing/2014/main" id="{ECD7A66B-2ECC-46F1-B12D-D54A7860A9F5}"/>
              </a:ext>
            </a:extLst>
          </p:cNvPr>
          <p:cNvSpPr txBox="1"/>
          <p:nvPr/>
        </p:nvSpPr>
        <p:spPr>
          <a:xfrm>
            <a:off x="523443" y="1425829"/>
            <a:ext cx="106121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Prefetch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 Distance: </a:t>
            </a:r>
            <a:r>
              <a:rPr sz="2800" spc="-10" dirty="0">
                <a:latin typeface="Cambria"/>
                <a:cs typeface="Cambria"/>
              </a:rPr>
              <a:t>How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far</a:t>
            </a:r>
            <a:r>
              <a:rPr sz="2800" spc="-5" dirty="0">
                <a:latin typeface="Cambria"/>
                <a:cs typeface="Cambria"/>
              </a:rPr>
              <a:t> ahead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 demand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access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stream </a:t>
            </a:r>
            <a:r>
              <a:rPr sz="2800" spc="-20" dirty="0">
                <a:latin typeface="Cambria"/>
                <a:cs typeface="Cambria"/>
              </a:rPr>
              <a:t>are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prefetch</a:t>
            </a:r>
            <a:r>
              <a:rPr sz="2800" spc="-10" dirty="0">
                <a:latin typeface="Cambria"/>
                <a:cs typeface="Cambria"/>
              </a:rPr>
              <a:t> requests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issued?</a:t>
            </a:r>
            <a:endParaRPr sz="2800">
              <a:latin typeface="Cambria"/>
              <a:cs typeface="Cambria"/>
            </a:endParaRP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9A7879C5-C4BF-478E-98CF-85B7FC1B3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005138"/>
              </p:ext>
            </p:extLst>
          </p:nvPr>
        </p:nvGraphicFramePr>
        <p:xfrm>
          <a:off x="1816100" y="3834637"/>
          <a:ext cx="6705599" cy="83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i="1" dirty="0">
                          <a:latin typeface="Cambria"/>
                          <a:cs typeface="Cambria"/>
                        </a:rPr>
                        <a:t>X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22479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2400" i="1" dirty="0">
                          <a:latin typeface="Cambria"/>
                          <a:cs typeface="Cambria"/>
                        </a:rPr>
                        <a:t>Y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22479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497DBA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97DBA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8">
            <a:extLst>
              <a:ext uri="{FF2B5EF4-FFF2-40B4-BE49-F238E27FC236}">
                <a16:creationId xmlns:a16="http://schemas.microsoft.com/office/drawing/2014/main" id="{3E022412-95DB-297D-6477-A83F6F232B11}"/>
              </a:ext>
            </a:extLst>
          </p:cNvPr>
          <p:cNvSpPr txBox="1"/>
          <p:nvPr/>
        </p:nvSpPr>
        <p:spPr>
          <a:xfrm>
            <a:off x="3571747" y="2628595"/>
            <a:ext cx="1051560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40"/>
              </a:lnSpc>
              <a:spcBef>
                <a:spcPts val="100"/>
              </a:spcBef>
            </a:pP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dem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nd</a:t>
            </a:r>
            <a:endParaRPr sz="2400">
              <a:latin typeface="Cambria"/>
              <a:cs typeface="Cambria"/>
            </a:endParaRPr>
          </a:p>
          <a:p>
            <a:pPr marL="131445">
              <a:lnSpc>
                <a:spcPts val="2440"/>
              </a:lnSpc>
            </a:pPr>
            <a:r>
              <a:rPr sz="2400" i="1" spc="-15" dirty="0">
                <a:solidFill>
                  <a:srgbClr val="FF0000"/>
                </a:solidFill>
                <a:latin typeface="Cambria"/>
                <a:cs typeface="Cambria"/>
              </a:rPr>
              <a:t>access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C815070B-8E8D-15E3-23CF-30763BF74597}"/>
              </a:ext>
            </a:extLst>
          </p:cNvPr>
          <p:cNvSpPr/>
          <p:nvPr/>
        </p:nvSpPr>
        <p:spPr>
          <a:xfrm>
            <a:off x="3868187" y="3390011"/>
            <a:ext cx="171450" cy="457834"/>
          </a:xfrm>
          <a:custGeom>
            <a:avLst/>
            <a:gdLst/>
            <a:ahLst/>
            <a:cxnLst/>
            <a:rect l="l" t="t" r="r" b="b"/>
            <a:pathLst>
              <a:path w="171450" h="457835">
                <a:moveTo>
                  <a:pt x="16569" y="286152"/>
                </a:moveTo>
                <a:lnTo>
                  <a:pt x="9376" y="288543"/>
                </a:lnTo>
                <a:lnTo>
                  <a:pt x="3694" y="293594"/>
                </a:lnTo>
                <a:lnTo>
                  <a:pt x="502" y="300180"/>
                </a:lnTo>
                <a:lnTo>
                  <a:pt x="0" y="307457"/>
                </a:lnTo>
                <a:lnTo>
                  <a:pt x="2391" y="314578"/>
                </a:lnTo>
                <a:lnTo>
                  <a:pt x="85068" y="457453"/>
                </a:lnTo>
                <a:lnTo>
                  <a:pt x="107336" y="419607"/>
                </a:lnTo>
                <a:lnTo>
                  <a:pt x="66145" y="419480"/>
                </a:lnTo>
                <a:lnTo>
                  <a:pt x="66400" y="349078"/>
                </a:lnTo>
                <a:lnTo>
                  <a:pt x="35411" y="295528"/>
                </a:lnTo>
                <a:lnTo>
                  <a:pt x="30432" y="289847"/>
                </a:lnTo>
                <a:lnTo>
                  <a:pt x="23870" y="286654"/>
                </a:lnTo>
                <a:lnTo>
                  <a:pt x="16569" y="286152"/>
                </a:lnTo>
                <a:close/>
              </a:path>
              <a:path w="171450" h="457835">
                <a:moveTo>
                  <a:pt x="66400" y="349078"/>
                </a:moveTo>
                <a:lnTo>
                  <a:pt x="66145" y="419480"/>
                </a:lnTo>
                <a:lnTo>
                  <a:pt x="104245" y="419607"/>
                </a:lnTo>
                <a:lnTo>
                  <a:pt x="104279" y="410082"/>
                </a:lnTo>
                <a:lnTo>
                  <a:pt x="68812" y="409955"/>
                </a:lnTo>
                <a:lnTo>
                  <a:pt x="85352" y="381825"/>
                </a:lnTo>
                <a:lnTo>
                  <a:pt x="66400" y="349078"/>
                </a:lnTo>
                <a:close/>
              </a:path>
              <a:path w="171450" h="457835">
                <a:moveTo>
                  <a:pt x="154781" y="286587"/>
                </a:moveTo>
                <a:lnTo>
                  <a:pt x="104500" y="349258"/>
                </a:lnTo>
                <a:lnTo>
                  <a:pt x="104245" y="419607"/>
                </a:lnTo>
                <a:lnTo>
                  <a:pt x="107336" y="419607"/>
                </a:lnTo>
                <a:lnTo>
                  <a:pt x="168761" y="315213"/>
                </a:lnTo>
                <a:lnTo>
                  <a:pt x="171225" y="308018"/>
                </a:lnTo>
                <a:lnTo>
                  <a:pt x="170761" y="300704"/>
                </a:lnTo>
                <a:lnTo>
                  <a:pt x="167582" y="294104"/>
                </a:lnTo>
                <a:lnTo>
                  <a:pt x="161903" y="289051"/>
                </a:lnTo>
                <a:lnTo>
                  <a:pt x="154781" y="286587"/>
                </a:lnTo>
                <a:close/>
              </a:path>
              <a:path w="171450" h="457835">
                <a:moveTo>
                  <a:pt x="85352" y="381825"/>
                </a:moveTo>
                <a:lnTo>
                  <a:pt x="68812" y="409955"/>
                </a:lnTo>
                <a:lnTo>
                  <a:pt x="101705" y="410082"/>
                </a:lnTo>
                <a:lnTo>
                  <a:pt x="85352" y="381825"/>
                </a:lnTo>
                <a:close/>
              </a:path>
              <a:path w="171450" h="457835">
                <a:moveTo>
                  <a:pt x="104500" y="349258"/>
                </a:moveTo>
                <a:lnTo>
                  <a:pt x="85352" y="381825"/>
                </a:lnTo>
                <a:lnTo>
                  <a:pt x="101705" y="410082"/>
                </a:lnTo>
                <a:lnTo>
                  <a:pt x="104279" y="410082"/>
                </a:lnTo>
                <a:lnTo>
                  <a:pt x="104500" y="349258"/>
                </a:lnTo>
                <a:close/>
              </a:path>
              <a:path w="171450" h="457835">
                <a:moveTo>
                  <a:pt x="67669" y="0"/>
                </a:moveTo>
                <a:lnTo>
                  <a:pt x="66629" y="286152"/>
                </a:lnTo>
                <a:lnTo>
                  <a:pt x="66505" y="349258"/>
                </a:lnTo>
                <a:lnTo>
                  <a:pt x="85352" y="381825"/>
                </a:lnTo>
                <a:lnTo>
                  <a:pt x="104500" y="349258"/>
                </a:lnTo>
                <a:lnTo>
                  <a:pt x="105769" y="126"/>
                </a:lnTo>
                <a:lnTo>
                  <a:pt x="676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0">
            <a:extLst>
              <a:ext uri="{FF2B5EF4-FFF2-40B4-BE49-F238E27FC236}">
                <a16:creationId xmlns:a16="http://schemas.microsoft.com/office/drawing/2014/main" id="{9FDE59BB-412F-012E-114A-F251E1571F1D}"/>
              </a:ext>
            </a:extLst>
          </p:cNvPr>
          <p:cNvGrpSpPr/>
          <p:nvPr/>
        </p:nvGrpSpPr>
        <p:grpSpPr>
          <a:xfrm>
            <a:off x="3747134" y="4818887"/>
            <a:ext cx="2444115" cy="552450"/>
            <a:chOff x="3747134" y="4583048"/>
            <a:chExt cx="2444115" cy="552450"/>
          </a:xfrm>
        </p:grpSpPr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03CA4ABE-61CE-6144-D313-0691359AE01E}"/>
                </a:ext>
              </a:extLst>
            </p:cNvPr>
            <p:cNvSpPr/>
            <p:nvPr/>
          </p:nvSpPr>
          <p:spPr>
            <a:xfrm>
              <a:off x="3809999" y="4602098"/>
              <a:ext cx="2362200" cy="228600"/>
            </a:xfrm>
            <a:custGeom>
              <a:avLst/>
              <a:gdLst/>
              <a:ahLst/>
              <a:cxnLst/>
              <a:rect l="l" t="t" r="r" b="b"/>
              <a:pathLst>
                <a:path w="2362200" h="228600">
                  <a:moveTo>
                    <a:pt x="2362200" y="0"/>
                  </a:moveTo>
                  <a:lnTo>
                    <a:pt x="2360705" y="44487"/>
                  </a:lnTo>
                  <a:lnTo>
                    <a:pt x="2356627" y="80819"/>
                  </a:lnTo>
                  <a:lnTo>
                    <a:pt x="2350573" y="105316"/>
                  </a:lnTo>
                  <a:lnTo>
                    <a:pt x="2343150" y="114300"/>
                  </a:lnTo>
                  <a:lnTo>
                    <a:pt x="1200150" y="114300"/>
                  </a:lnTo>
                  <a:lnTo>
                    <a:pt x="1192726" y="123283"/>
                  </a:lnTo>
                  <a:lnTo>
                    <a:pt x="1186672" y="147780"/>
                  </a:lnTo>
                  <a:lnTo>
                    <a:pt x="1182594" y="184112"/>
                  </a:lnTo>
                  <a:lnTo>
                    <a:pt x="1181100" y="228600"/>
                  </a:lnTo>
                  <a:lnTo>
                    <a:pt x="1179605" y="184112"/>
                  </a:lnTo>
                  <a:lnTo>
                    <a:pt x="1175527" y="147780"/>
                  </a:lnTo>
                  <a:lnTo>
                    <a:pt x="1169473" y="123283"/>
                  </a:lnTo>
                  <a:lnTo>
                    <a:pt x="1162050" y="114300"/>
                  </a:lnTo>
                  <a:lnTo>
                    <a:pt x="19050" y="114300"/>
                  </a:lnTo>
                  <a:lnTo>
                    <a:pt x="11626" y="105316"/>
                  </a:lnTo>
                  <a:lnTo>
                    <a:pt x="5572" y="80819"/>
                  </a:lnTo>
                  <a:lnTo>
                    <a:pt x="1494" y="44487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5689237F-2B74-F916-AEE6-1EFBE27C238A}"/>
                </a:ext>
              </a:extLst>
            </p:cNvPr>
            <p:cNvSpPr/>
            <p:nvPr/>
          </p:nvSpPr>
          <p:spPr>
            <a:xfrm>
              <a:off x="3747134" y="4830698"/>
              <a:ext cx="2438400" cy="304800"/>
            </a:xfrm>
            <a:custGeom>
              <a:avLst/>
              <a:gdLst/>
              <a:ahLst/>
              <a:cxnLst/>
              <a:rect l="l" t="t" r="r" b="b"/>
              <a:pathLst>
                <a:path w="2438400" h="304800">
                  <a:moveTo>
                    <a:pt x="2438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438400" y="30480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3">
            <a:extLst>
              <a:ext uri="{FF2B5EF4-FFF2-40B4-BE49-F238E27FC236}">
                <a16:creationId xmlns:a16="http://schemas.microsoft.com/office/drawing/2014/main" id="{31E548AD-6FE5-4075-3D39-320CC6EF1823}"/>
              </a:ext>
            </a:extLst>
          </p:cNvPr>
          <p:cNvSpPr txBox="1"/>
          <p:nvPr/>
        </p:nvSpPr>
        <p:spPr>
          <a:xfrm>
            <a:off x="3854322" y="5017008"/>
            <a:ext cx="2225675" cy="138811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6355" marR="5080" indent="-34290">
              <a:lnSpc>
                <a:spcPts val="2740"/>
              </a:lnSpc>
              <a:spcBef>
                <a:spcPts val="305"/>
              </a:spcBef>
            </a:pP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P</a:t>
            </a:r>
            <a:r>
              <a:rPr sz="2400" i="1" spc="-30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400" i="1" spc="-25" dirty="0">
                <a:solidFill>
                  <a:srgbClr val="FF0000"/>
                </a:solidFill>
                <a:latin typeface="Cambria"/>
                <a:cs typeface="Cambria"/>
              </a:rPr>
              <a:t>f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400" i="1" spc="-20" dirty="0">
                <a:solidFill>
                  <a:srgbClr val="FF0000"/>
                </a:solidFill>
                <a:latin typeface="Cambria"/>
                <a:cs typeface="Cambria"/>
              </a:rPr>
              <a:t>tc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h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-dis</a:t>
            </a:r>
            <a:r>
              <a:rPr sz="2400" i="1" spc="-20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2400" i="1" spc="-25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e  </a:t>
            </a:r>
            <a:r>
              <a:rPr sz="2400" i="1" dirty="0">
                <a:latin typeface="Cambria"/>
                <a:cs typeface="Cambria"/>
              </a:rPr>
              <a:t>Y</a:t>
            </a:r>
            <a:r>
              <a:rPr sz="2400" i="1" spc="-14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=</a:t>
            </a:r>
            <a:r>
              <a:rPr sz="2400" i="1" spc="-1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X +</a:t>
            </a:r>
            <a:r>
              <a:rPr sz="2400" i="1" spc="-1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4</a:t>
            </a:r>
            <a:endParaRPr sz="2400">
              <a:latin typeface="Cambria"/>
              <a:cs typeface="Cambria"/>
            </a:endParaRPr>
          </a:p>
          <a:p>
            <a:pPr marL="28575" marR="963930" indent="17780">
              <a:lnSpc>
                <a:spcPts val="2500"/>
              </a:lnSpc>
              <a:spcBef>
                <a:spcPts val="60"/>
              </a:spcBef>
            </a:pPr>
            <a:r>
              <a:rPr sz="2400" i="1" dirty="0">
                <a:latin typeface="Cambria"/>
                <a:cs typeface="Cambria"/>
              </a:rPr>
              <a:t>Y</a:t>
            </a:r>
            <a:r>
              <a:rPr sz="2400" i="1" spc="-14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=</a:t>
            </a:r>
            <a:r>
              <a:rPr sz="2400" i="1" spc="-1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X</a:t>
            </a:r>
            <a:r>
              <a:rPr sz="2400" i="1" spc="-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+</a:t>
            </a:r>
            <a:r>
              <a:rPr sz="2400" i="1" spc="-1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8  Y</a:t>
            </a:r>
            <a:r>
              <a:rPr sz="2400" i="1" spc="-14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=</a:t>
            </a:r>
            <a:r>
              <a:rPr sz="2400" i="1" spc="-1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X</a:t>
            </a:r>
            <a:r>
              <a:rPr sz="2400" i="1" spc="-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+</a:t>
            </a:r>
            <a:r>
              <a:rPr sz="2400" i="1" spc="-10" dirty="0">
                <a:latin typeface="Cambria"/>
                <a:cs typeface="Cambria"/>
              </a:rPr>
              <a:t> </a:t>
            </a:r>
            <a:r>
              <a:rPr sz="2400" i="1" spc="-5" dirty="0">
                <a:latin typeface="Cambria"/>
                <a:cs typeface="Cambria"/>
              </a:rPr>
              <a:t>16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913569BF-96AA-4475-FEBE-677489BBC656}"/>
              </a:ext>
            </a:extLst>
          </p:cNvPr>
          <p:cNvSpPr/>
          <p:nvPr/>
        </p:nvSpPr>
        <p:spPr>
          <a:xfrm>
            <a:off x="6315983" y="3313937"/>
            <a:ext cx="171450" cy="537845"/>
          </a:xfrm>
          <a:custGeom>
            <a:avLst/>
            <a:gdLst/>
            <a:ahLst/>
            <a:cxnLst/>
            <a:rect l="l" t="t" r="r" b="b"/>
            <a:pathLst>
              <a:path w="171450" h="537845">
                <a:moveTo>
                  <a:pt x="16444" y="366668"/>
                </a:moveTo>
                <a:lnTo>
                  <a:pt x="9251" y="369062"/>
                </a:lnTo>
                <a:lnTo>
                  <a:pt x="3643" y="374114"/>
                </a:lnTo>
                <a:lnTo>
                  <a:pt x="488" y="380714"/>
                </a:lnTo>
                <a:lnTo>
                  <a:pt x="0" y="388028"/>
                </a:lnTo>
                <a:lnTo>
                  <a:pt x="2393" y="395224"/>
                </a:lnTo>
                <a:lnTo>
                  <a:pt x="85578" y="537718"/>
                </a:lnTo>
                <a:lnTo>
                  <a:pt x="107638" y="499872"/>
                </a:lnTo>
                <a:lnTo>
                  <a:pt x="66528" y="499872"/>
                </a:lnTo>
                <a:lnTo>
                  <a:pt x="66401" y="429260"/>
                </a:lnTo>
                <a:lnTo>
                  <a:pt x="35286" y="375920"/>
                </a:lnTo>
                <a:lnTo>
                  <a:pt x="30307" y="370312"/>
                </a:lnTo>
                <a:lnTo>
                  <a:pt x="23745" y="367156"/>
                </a:lnTo>
                <a:lnTo>
                  <a:pt x="16444" y="366668"/>
                </a:lnTo>
                <a:close/>
              </a:path>
              <a:path w="171450" h="537845">
                <a:moveTo>
                  <a:pt x="66528" y="429477"/>
                </a:moveTo>
                <a:lnTo>
                  <a:pt x="66528" y="499872"/>
                </a:lnTo>
                <a:lnTo>
                  <a:pt x="104628" y="499872"/>
                </a:lnTo>
                <a:lnTo>
                  <a:pt x="104628" y="490220"/>
                </a:lnTo>
                <a:lnTo>
                  <a:pt x="69068" y="490220"/>
                </a:lnTo>
                <a:lnTo>
                  <a:pt x="85514" y="462025"/>
                </a:lnTo>
                <a:lnTo>
                  <a:pt x="66528" y="429477"/>
                </a:lnTo>
                <a:close/>
              </a:path>
              <a:path w="171450" h="537845">
                <a:moveTo>
                  <a:pt x="154656" y="366668"/>
                </a:moveTo>
                <a:lnTo>
                  <a:pt x="147379" y="367156"/>
                </a:lnTo>
                <a:lnTo>
                  <a:pt x="140793" y="370312"/>
                </a:lnTo>
                <a:lnTo>
                  <a:pt x="135743" y="375920"/>
                </a:lnTo>
                <a:lnTo>
                  <a:pt x="104628" y="429260"/>
                </a:lnTo>
                <a:lnTo>
                  <a:pt x="104628" y="499872"/>
                </a:lnTo>
                <a:lnTo>
                  <a:pt x="107638" y="499872"/>
                </a:lnTo>
                <a:lnTo>
                  <a:pt x="168636" y="395224"/>
                </a:lnTo>
                <a:lnTo>
                  <a:pt x="171100" y="388028"/>
                </a:lnTo>
                <a:lnTo>
                  <a:pt x="170636" y="380714"/>
                </a:lnTo>
                <a:lnTo>
                  <a:pt x="167457" y="374114"/>
                </a:lnTo>
                <a:lnTo>
                  <a:pt x="161778" y="369062"/>
                </a:lnTo>
                <a:lnTo>
                  <a:pt x="154656" y="366668"/>
                </a:lnTo>
                <a:close/>
              </a:path>
              <a:path w="171450" h="537845">
                <a:moveTo>
                  <a:pt x="85514" y="462025"/>
                </a:moveTo>
                <a:lnTo>
                  <a:pt x="69068" y="490220"/>
                </a:lnTo>
                <a:lnTo>
                  <a:pt x="101961" y="490220"/>
                </a:lnTo>
                <a:lnTo>
                  <a:pt x="85514" y="462025"/>
                </a:lnTo>
                <a:close/>
              </a:path>
              <a:path w="171450" h="537845">
                <a:moveTo>
                  <a:pt x="104628" y="429260"/>
                </a:moveTo>
                <a:lnTo>
                  <a:pt x="85514" y="462025"/>
                </a:lnTo>
                <a:lnTo>
                  <a:pt x="101961" y="490220"/>
                </a:lnTo>
                <a:lnTo>
                  <a:pt x="104628" y="490220"/>
                </a:lnTo>
                <a:lnTo>
                  <a:pt x="104628" y="429260"/>
                </a:lnTo>
                <a:close/>
              </a:path>
              <a:path w="171450" h="537845">
                <a:moveTo>
                  <a:pt x="104628" y="0"/>
                </a:moveTo>
                <a:lnTo>
                  <a:pt x="66528" y="0"/>
                </a:lnTo>
                <a:lnTo>
                  <a:pt x="66528" y="429477"/>
                </a:lnTo>
                <a:lnTo>
                  <a:pt x="85514" y="462025"/>
                </a:lnTo>
                <a:lnTo>
                  <a:pt x="104501" y="429477"/>
                </a:lnTo>
                <a:lnTo>
                  <a:pt x="1046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307A672D-93CF-E018-883E-10E2229969CC}"/>
              </a:ext>
            </a:extLst>
          </p:cNvPr>
          <p:cNvSpPr txBox="1"/>
          <p:nvPr/>
        </p:nvSpPr>
        <p:spPr>
          <a:xfrm>
            <a:off x="5868670" y="2725496"/>
            <a:ext cx="10655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p</a:t>
            </a:r>
            <a:r>
              <a:rPr sz="2400" i="1" spc="-40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400" i="1" spc="-25" dirty="0">
                <a:solidFill>
                  <a:srgbClr val="FF0000"/>
                </a:solidFill>
                <a:latin typeface="Cambria"/>
                <a:cs typeface="Cambria"/>
              </a:rPr>
              <a:t>f</a:t>
            </a:r>
            <a:r>
              <a:rPr sz="2400" i="1" spc="-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400" i="1" spc="-20" dirty="0">
                <a:solidFill>
                  <a:srgbClr val="FF0000"/>
                </a:solidFill>
                <a:latin typeface="Cambria"/>
                <a:cs typeface="Cambria"/>
              </a:rPr>
              <a:t>tc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h</a:t>
            </a:r>
            <a:endParaRPr sz="24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8632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00C7-038D-A050-D527-F29422D4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Simplest one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0E3C7-33D2-1FF2-0483-BA2F455C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3508F-1C94-0419-973C-F9291913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56B68DED-90DE-2896-9DCB-A270E923B21E}"/>
              </a:ext>
            </a:extLst>
          </p:cNvPr>
          <p:cNvGrpSpPr/>
          <p:nvPr/>
        </p:nvGrpSpPr>
        <p:grpSpPr>
          <a:xfrm>
            <a:off x="222250" y="1843786"/>
            <a:ext cx="11747500" cy="1003300"/>
            <a:chOff x="222250" y="1136650"/>
            <a:chExt cx="11747500" cy="1003300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05BEA51C-B50A-8176-0AA1-0B8352892F97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11569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11569700" y="990600"/>
                  </a:lnTo>
                  <a:lnTo>
                    <a:pt x="11613591" y="984702"/>
                  </a:lnTo>
                  <a:lnTo>
                    <a:pt x="11653030" y="968059"/>
                  </a:lnTo>
                  <a:lnTo>
                    <a:pt x="11686444" y="942244"/>
                  </a:lnTo>
                  <a:lnTo>
                    <a:pt x="11712259" y="908830"/>
                  </a:lnTo>
                  <a:lnTo>
                    <a:pt x="11728902" y="869391"/>
                  </a:lnTo>
                  <a:lnTo>
                    <a:pt x="11734800" y="825500"/>
                  </a:lnTo>
                  <a:lnTo>
                    <a:pt x="11734800" y="165100"/>
                  </a:lnTo>
                  <a:lnTo>
                    <a:pt x="11728902" y="121208"/>
                  </a:lnTo>
                  <a:lnTo>
                    <a:pt x="11712259" y="81769"/>
                  </a:lnTo>
                  <a:lnTo>
                    <a:pt x="11686444" y="48355"/>
                  </a:lnTo>
                  <a:lnTo>
                    <a:pt x="11653030" y="22540"/>
                  </a:lnTo>
                  <a:lnTo>
                    <a:pt x="11613591" y="5897"/>
                  </a:lnTo>
                  <a:lnTo>
                    <a:pt x="115697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4698E359-F659-4F87-D776-9EF5B7AB1B03}"/>
                </a:ext>
              </a:extLst>
            </p:cNvPr>
            <p:cNvSpPr/>
            <p:nvPr/>
          </p:nvSpPr>
          <p:spPr>
            <a:xfrm>
              <a:off x="228600" y="11430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1569700" y="0"/>
                  </a:lnTo>
                  <a:lnTo>
                    <a:pt x="11613591" y="5897"/>
                  </a:lnTo>
                  <a:lnTo>
                    <a:pt x="11653030" y="22540"/>
                  </a:lnTo>
                  <a:lnTo>
                    <a:pt x="11686444" y="48355"/>
                  </a:lnTo>
                  <a:lnTo>
                    <a:pt x="11712259" y="81769"/>
                  </a:lnTo>
                  <a:lnTo>
                    <a:pt x="11728902" y="121208"/>
                  </a:lnTo>
                  <a:lnTo>
                    <a:pt x="11734800" y="165100"/>
                  </a:lnTo>
                  <a:lnTo>
                    <a:pt x="11734800" y="825500"/>
                  </a:lnTo>
                  <a:lnTo>
                    <a:pt x="11728902" y="869391"/>
                  </a:lnTo>
                  <a:lnTo>
                    <a:pt x="11712259" y="908830"/>
                  </a:lnTo>
                  <a:lnTo>
                    <a:pt x="11686444" y="942244"/>
                  </a:lnTo>
                  <a:lnTo>
                    <a:pt x="11653030" y="968059"/>
                  </a:lnTo>
                  <a:lnTo>
                    <a:pt x="11613591" y="984702"/>
                  </a:lnTo>
                  <a:lnTo>
                    <a:pt x="115697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6">
            <a:extLst>
              <a:ext uri="{FF2B5EF4-FFF2-40B4-BE49-F238E27FC236}">
                <a16:creationId xmlns:a16="http://schemas.microsoft.com/office/drawing/2014/main" id="{C198294E-C62B-73A8-7A82-FF552C296EEB}"/>
              </a:ext>
            </a:extLst>
          </p:cNvPr>
          <p:cNvGrpSpPr/>
          <p:nvPr/>
        </p:nvGrpSpPr>
        <p:grpSpPr>
          <a:xfrm>
            <a:off x="222250" y="3291586"/>
            <a:ext cx="11747500" cy="1003300"/>
            <a:chOff x="222250" y="2584450"/>
            <a:chExt cx="11747500" cy="1003300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F43DF96F-5E1B-547E-0BA0-E100F76F9AC7}"/>
                </a:ext>
              </a:extLst>
            </p:cNvPr>
            <p:cNvSpPr/>
            <p:nvPr/>
          </p:nvSpPr>
          <p:spPr>
            <a:xfrm>
              <a:off x="228600" y="25908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11569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11569700" y="990600"/>
                  </a:lnTo>
                  <a:lnTo>
                    <a:pt x="11613591" y="984702"/>
                  </a:lnTo>
                  <a:lnTo>
                    <a:pt x="11653030" y="968059"/>
                  </a:lnTo>
                  <a:lnTo>
                    <a:pt x="11686444" y="942244"/>
                  </a:lnTo>
                  <a:lnTo>
                    <a:pt x="11712259" y="908830"/>
                  </a:lnTo>
                  <a:lnTo>
                    <a:pt x="11728902" y="869391"/>
                  </a:lnTo>
                  <a:lnTo>
                    <a:pt x="11734800" y="825500"/>
                  </a:lnTo>
                  <a:lnTo>
                    <a:pt x="11734800" y="165100"/>
                  </a:lnTo>
                  <a:lnTo>
                    <a:pt x="11728902" y="121208"/>
                  </a:lnTo>
                  <a:lnTo>
                    <a:pt x="11712259" y="81769"/>
                  </a:lnTo>
                  <a:lnTo>
                    <a:pt x="11686444" y="48355"/>
                  </a:lnTo>
                  <a:lnTo>
                    <a:pt x="11653030" y="22540"/>
                  </a:lnTo>
                  <a:lnTo>
                    <a:pt x="11613591" y="5897"/>
                  </a:lnTo>
                  <a:lnTo>
                    <a:pt x="115697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A4C99CF8-A442-B7E0-45AF-13C4FB3DC510}"/>
                </a:ext>
              </a:extLst>
            </p:cNvPr>
            <p:cNvSpPr/>
            <p:nvPr/>
          </p:nvSpPr>
          <p:spPr>
            <a:xfrm>
              <a:off x="228600" y="25908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1569700" y="0"/>
                  </a:lnTo>
                  <a:lnTo>
                    <a:pt x="11613591" y="5897"/>
                  </a:lnTo>
                  <a:lnTo>
                    <a:pt x="11653030" y="22540"/>
                  </a:lnTo>
                  <a:lnTo>
                    <a:pt x="11686444" y="48355"/>
                  </a:lnTo>
                  <a:lnTo>
                    <a:pt x="11712259" y="81769"/>
                  </a:lnTo>
                  <a:lnTo>
                    <a:pt x="11728902" y="121208"/>
                  </a:lnTo>
                  <a:lnTo>
                    <a:pt x="11734800" y="165100"/>
                  </a:lnTo>
                  <a:lnTo>
                    <a:pt x="11734800" y="825500"/>
                  </a:lnTo>
                  <a:lnTo>
                    <a:pt x="11728902" y="869391"/>
                  </a:lnTo>
                  <a:lnTo>
                    <a:pt x="11712259" y="908830"/>
                  </a:lnTo>
                  <a:lnTo>
                    <a:pt x="11686444" y="942244"/>
                  </a:lnTo>
                  <a:lnTo>
                    <a:pt x="11653030" y="968059"/>
                  </a:lnTo>
                  <a:lnTo>
                    <a:pt x="11613591" y="984702"/>
                  </a:lnTo>
                  <a:lnTo>
                    <a:pt x="115697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9">
            <a:extLst>
              <a:ext uri="{FF2B5EF4-FFF2-40B4-BE49-F238E27FC236}">
                <a16:creationId xmlns:a16="http://schemas.microsoft.com/office/drawing/2014/main" id="{981E2C20-C876-4FD2-3FFD-0EF06BACC46F}"/>
              </a:ext>
            </a:extLst>
          </p:cNvPr>
          <p:cNvGrpSpPr/>
          <p:nvPr/>
        </p:nvGrpSpPr>
        <p:grpSpPr>
          <a:xfrm>
            <a:off x="222250" y="4586986"/>
            <a:ext cx="11747500" cy="1003300"/>
            <a:chOff x="222250" y="3879850"/>
            <a:chExt cx="11747500" cy="10033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DD5D74E3-A1B2-7C5D-747B-134D5B6041B3}"/>
                </a:ext>
              </a:extLst>
            </p:cNvPr>
            <p:cNvSpPr/>
            <p:nvPr/>
          </p:nvSpPr>
          <p:spPr>
            <a:xfrm>
              <a:off x="228600" y="38862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115697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11569700" y="990600"/>
                  </a:lnTo>
                  <a:lnTo>
                    <a:pt x="11613591" y="984702"/>
                  </a:lnTo>
                  <a:lnTo>
                    <a:pt x="11653030" y="968059"/>
                  </a:lnTo>
                  <a:lnTo>
                    <a:pt x="11686444" y="942244"/>
                  </a:lnTo>
                  <a:lnTo>
                    <a:pt x="11712259" y="908830"/>
                  </a:lnTo>
                  <a:lnTo>
                    <a:pt x="11728902" y="869391"/>
                  </a:lnTo>
                  <a:lnTo>
                    <a:pt x="11734800" y="825500"/>
                  </a:lnTo>
                  <a:lnTo>
                    <a:pt x="11734800" y="165100"/>
                  </a:lnTo>
                  <a:lnTo>
                    <a:pt x="11728902" y="121208"/>
                  </a:lnTo>
                  <a:lnTo>
                    <a:pt x="11712259" y="81769"/>
                  </a:lnTo>
                  <a:lnTo>
                    <a:pt x="11686444" y="48355"/>
                  </a:lnTo>
                  <a:lnTo>
                    <a:pt x="11653030" y="22540"/>
                  </a:lnTo>
                  <a:lnTo>
                    <a:pt x="11613591" y="5897"/>
                  </a:lnTo>
                  <a:lnTo>
                    <a:pt x="115697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087D1458-EAEA-942A-62A0-774CE7DC75B2}"/>
                </a:ext>
              </a:extLst>
            </p:cNvPr>
            <p:cNvSpPr/>
            <p:nvPr/>
          </p:nvSpPr>
          <p:spPr>
            <a:xfrm>
              <a:off x="228600" y="3886200"/>
              <a:ext cx="11734800" cy="990600"/>
            </a:xfrm>
            <a:custGeom>
              <a:avLst/>
              <a:gdLst/>
              <a:ahLst/>
              <a:cxnLst/>
              <a:rect l="l" t="t" r="r" b="b"/>
              <a:pathLst>
                <a:path w="117348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1569700" y="0"/>
                  </a:lnTo>
                  <a:lnTo>
                    <a:pt x="11613591" y="5897"/>
                  </a:lnTo>
                  <a:lnTo>
                    <a:pt x="11653030" y="22540"/>
                  </a:lnTo>
                  <a:lnTo>
                    <a:pt x="11686444" y="48355"/>
                  </a:lnTo>
                  <a:lnTo>
                    <a:pt x="11712259" y="81769"/>
                  </a:lnTo>
                  <a:lnTo>
                    <a:pt x="11728902" y="121208"/>
                  </a:lnTo>
                  <a:lnTo>
                    <a:pt x="11734800" y="165100"/>
                  </a:lnTo>
                  <a:lnTo>
                    <a:pt x="11734800" y="825500"/>
                  </a:lnTo>
                  <a:lnTo>
                    <a:pt x="11728902" y="869391"/>
                  </a:lnTo>
                  <a:lnTo>
                    <a:pt x="11712259" y="908830"/>
                  </a:lnTo>
                  <a:lnTo>
                    <a:pt x="11686444" y="942244"/>
                  </a:lnTo>
                  <a:lnTo>
                    <a:pt x="11653030" y="968059"/>
                  </a:lnTo>
                  <a:lnTo>
                    <a:pt x="11613591" y="984702"/>
                  </a:lnTo>
                  <a:lnTo>
                    <a:pt x="115697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2">
            <a:extLst>
              <a:ext uri="{FF2B5EF4-FFF2-40B4-BE49-F238E27FC236}">
                <a16:creationId xmlns:a16="http://schemas.microsoft.com/office/drawing/2014/main" id="{40CFE5BC-7C3D-43A4-86F5-90D9F80277DB}"/>
              </a:ext>
            </a:extLst>
          </p:cNvPr>
          <p:cNvSpPr txBox="1"/>
          <p:nvPr/>
        </p:nvSpPr>
        <p:spPr>
          <a:xfrm>
            <a:off x="523443" y="2110485"/>
            <a:ext cx="10544175" cy="3409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1380" algn="l"/>
              </a:tabLst>
            </a:pP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Next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 Line: </a:t>
            </a:r>
            <a:r>
              <a:rPr sz="2800" spc="-10" dirty="0">
                <a:latin typeface="Cambria"/>
                <a:cs typeface="Cambria"/>
              </a:rPr>
              <a:t>Miss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to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cache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block	X ,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prefetch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X+1.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Degree=1,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Distance=1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45" dirty="0">
                <a:latin typeface="Cambria"/>
                <a:cs typeface="Cambria"/>
              </a:rPr>
              <a:t>Works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well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for</a:t>
            </a:r>
            <a:r>
              <a:rPr sz="2800" spc="-5" dirty="0">
                <a:latin typeface="Cambria"/>
                <a:cs typeface="Cambria"/>
              </a:rPr>
              <a:t> L1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Icache and</a:t>
            </a:r>
            <a:r>
              <a:rPr sz="2800" spc="-10" dirty="0">
                <a:latin typeface="Cambria"/>
                <a:cs typeface="Cambria"/>
              </a:rPr>
              <a:t> L1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Dcache.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4400">
              <a:latin typeface="Cambria"/>
              <a:cs typeface="Cambria"/>
            </a:endParaRPr>
          </a:p>
          <a:p>
            <a:pPr marL="90170" marR="1061085" indent="-78105">
              <a:lnSpc>
                <a:spcPct val="100000"/>
              </a:lnSpc>
              <a:tabLst>
                <a:tab pos="5011420" algn="l"/>
              </a:tabLst>
            </a:pP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Next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 N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Line: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Miss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to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cache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block	X , </a:t>
            </a:r>
            <a:r>
              <a:rPr sz="2800" spc="-15" dirty="0">
                <a:latin typeface="Cambria"/>
                <a:cs typeface="Cambria"/>
              </a:rPr>
              <a:t>prefetch </a:t>
            </a:r>
            <a:r>
              <a:rPr sz="2800" spc="-10" dirty="0">
                <a:latin typeface="Cambria"/>
                <a:cs typeface="Cambria"/>
              </a:rPr>
              <a:t>X+1, X+2, </a:t>
            </a:r>
            <a:r>
              <a:rPr sz="2800" spc="-5" dirty="0">
                <a:latin typeface="Cambria"/>
                <a:cs typeface="Cambria"/>
              </a:rPr>
              <a:t>….. </a:t>
            </a:r>
            <a:r>
              <a:rPr sz="2800" spc="-15" dirty="0">
                <a:latin typeface="Cambria"/>
                <a:cs typeface="Cambria"/>
              </a:rPr>
              <a:t>X+N,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Degree=N,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Distance=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min.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1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and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max. </a:t>
            </a:r>
            <a:r>
              <a:rPr sz="2800" spc="-5" dirty="0">
                <a:latin typeface="Cambria"/>
                <a:cs typeface="Cambria"/>
              </a:rPr>
              <a:t>N</a:t>
            </a:r>
            <a:endParaRPr sz="2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66195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D43C-6692-E286-C34A-3DC28AFE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this?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24AAE-B922-ED5C-0F28-A40BE4FD4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1D49B-E9A5-E581-CAA2-7626CAF9B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5B127CF8-DB81-D481-9FBC-3947EEA68F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692" y="1524000"/>
            <a:ext cx="10680982" cy="376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5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40E9B-4FD5-F7EA-4021-0421F9AC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AB520-EA4B-B90D-14E3-7DE0AB1F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868DF7-0433-5509-6AE4-DE10B1146862}"/>
              </a:ext>
            </a:extLst>
          </p:cNvPr>
          <p:cNvSpPr/>
          <p:nvPr/>
        </p:nvSpPr>
        <p:spPr>
          <a:xfrm>
            <a:off x="1765309" y="2960162"/>
            <a:ext cx="9938151" cy="47120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E2DE3-A92A-AD3A-AF22-D0E7914277EF}"/>
              </a:ext>
            </a:extLst>
          </p:cNvPr>
          <p:cNvSpPr txBox="1"/>
          <p:nvPr/>
        </p:nvSpPr>
        <p:spPr>
          <a:xfrm>
            <a:off x="348269" y="867283"/>
            <a:ext cx="8262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for (i = 0; i &lt; N; i=i+16) </a:t>
            </a:r>
          </a:p>
          <a:p>
            <a:r>
              <a:rPr lang="pt-BR" sz="3600" dirty="0"/>
              <a:t>       sum +=</a:t>
            </a:r>
            <a:r>
              <a:rPr lang="pt-BR" sz="3600" dirty="0">
                <a:solidFill>
                  <a:srgbClr val="C00000"/>
                </a:solidFill>
              </a:rPr>
              <a:t>c[i]</a:t>
            </a:r>
            <a:r>
              <a:rPr lang="pt-BR" sz="3600" dirty="0"/>
              <a:t>;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F04543-6DC6-ADCE-03A1-E4F8227731B0}"/>
              </a:ext>
            </a:extLst>
          </p:cNvPr>
          <p:cNvSpPr txBox="1"/>
          <p:nvPr/>
        </p:nvSpPr>
        <p:spPr>
          <a:xfrm>
            <a:off x="1797473" y="2827605"/>
            <a:ext cx="962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rgbClr val="C00000"/>
                </a:solidFill>
              </a:rPr>
              <a:t>c[0]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AB1D8-AEF8-F9BF-6FE5-098EE11100D6}"/>
              </a:ext>
            </a:extLst>
          </p:cNvPr>
          <p:cNvSpPr txBox="1"/>
          <p:nvPr/>
        </p:nvSpPr>
        <p:spPr>
          <a:xfrm>
            <a:off x="4126330" y="2845153"/>
            <a:ext cx="1243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rgbClr val="C00000"/>
                </a:solidFill>
              </a:rPr>
              <a:t>c[16]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04A54F-BC15-8593-70FB-73190EAE9700}"/>
              </a:ext>
            </a:extLst>
          </p:cNvPr>
          <p:cNvSpPr txBox="1"/>
          <p:nvPr/>
        </p:nvSpPr>
        <p:spPr>
          <a:xfrm>
            <a:off x="6740946" y="2845152"/>
            <a:ext cx="1223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rgbClr val="C00000"/>
                </a:solidFill>
              </a:rPr>
              <a:t>c[32]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39A952-3ECE-732B-78BA-62B48C53A18B}"/>
              </a:ext>
            </a:extLst>
          </p:cNvPr>
          <p:cNvSpPr txBox="1"/>
          <p:nvPr/>
        </p:nvSpPr>
        <p:spPr>
          <a:xfrm>
            <a:off x="9153148" y="2848050"/>
            <a:ext cx="1185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rgbClr val="C00000"/>
                </a:solidFill>
              </a:rPr>
              <a:t>c[48]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A9228-222F-7B75-CAAA-3A9A6B0657C5}"/>
              </a:ext>
            </a:extLst>
          </p:cNvPr>
          <p:cNvSpPr txBox="1"/>
          <p:nvPr/>
        </p:nvSpPr>
        <p:spPr>
          <a:xfrm>
            <a:off x="10465202" y="2684355"/>
            <a:ext cx="8572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rgbClr val="C00000"/>
                </a:solidFill>
              </a:rPr>
              <a:t>...</a:t>
            </a:r>
            <a:endParaRPr lang="en-IN" sz="4400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29CB9B-CCA9-F328-3204-C56CC12B89F5}"/>
              </a:ext>
            </a:extLst>
          </p:cNvPr>
          <p:cNvCxnSpPr/>
          <p:nvPr/>
        </p:nvCxnSpPr>
        <p:spPr>
          <a:xfrm>
            <a:off x="2242752" y="3448976"/>
            <a:ext cx="652465" cy="8239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BB6AAA-D908-3E6C-6432-5801A8100E69}"/>
              </a:ext>
            </a:extLst>
          </p:cNvPr>
          <p:cNvCxnSpPr>
            <a:cxnSpLocks/>
          </p:cNvCxnSpPr>
          <p:nvPr/>
        </p:nvCxnSpPr>
        <p:spPr>
          <a:xfrm flipH="1">
            <a:off x="2909503" y="3437822"/>
            <a:ext cx="1709725" cy="8160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7D7546-54B9-CA26-80EC-3FCAEE238E93}"/>
              </a:ext>
            </a:extLst>
          </p:cNvPr>
          <p:cNvCxnSpPr>
            <a:cxnSpLocks/>
          </p:cNvCxnSpPr>
          <p:nvPr/>
        </p:nvCxnSpPr>
        <p:spPr>
          <a:xfrm>
            <a:off x="4640221" y="3429928"/>
            <a:ext cx="898194" cy="8318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EF5219D-644B-3E0E-8897-800E1AB0518F}"/>
              </a:ext>
            </a:extLst>
          </p:cNvPr>
          <p:cNvCxnSpPr>
            <a:cxnSpLocks/>
          </p:cNvCxnSpPr>
          <p:nvPr/>
        </p:nvCxnSpPr>
        <p:spPr>
          <a:xfrm flipH="1">
            <a:off x="5547934" y="3444639"/>
            <a:ext cx="1655195" cy="8383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D8513F-FFB9-1883-97AE-2352C132E12B}"/>
              </a:ext>
            </a:extLst>
          </p:cNvPr>
          <p:cNvCxnSpPr>
            <a:cxnSpLocks/>
          </p:cNvCxnSpPr>
          <p:nvPr/>
        </p:nvCxnSpPr>
        <p:spPr>
          <a:xfrm>
            <a:off x="7203129" y="3420937"/>
            <a:ext cx="1923827" cy="8571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884FF1-1B82-E1F8-50E1-2AAB2329D9DD}"/>
              </a:ext>
            </a:extLst>
          </p:cNvPr>
          <p:cNvCxnSpPr>
            <a:cxnSpLocks/>
          </p:cNvCxnSpPr>
          <p:nvPr/>
        </p:nvCxnSpPr>
        <p:spPr>
          <a:xfrm flipH="1">
            <a:off x="9153148" y="3454190"/>
            <a:ext cx="628650" cy="8239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04AE2D-6ED3-6E7A-C94D-445D59F88903}"/>
              </a:ext>
            </a:extLst>
          </p:cNvPr>
          <p:cNvSpPr txBox="1"/>
          <p:nvPr/>
        </p:nvSpPr>
        <p:spPr>
          <a:xfrm>
            <a:off x="2574198" y="422447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0FCD3-F6D8-50FD-CA4F-3C64BBB0894E}"/>
              </a:ext>
            </a:extLst>
          </p:cNvPr>
          <p:cNvSpPr txBox="1"/>
          <p:nvPr/>
        </p:nvSpPr>
        <p:spPr>
          <a:xfrm>
            <a:off x="5209068" y="425100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B67339-8E2F-C973-F955-CFEE06FACA31}"/>
              </a:ext>
            </a:extLst>
          </p:cNvPr>
          <p:cNvSpPr txBox="1"/>
          <p:nvPr/>
        </p:nvSpPr>
        <p:spPr>
          <a:xfrm>
            <a:off x="8805937" y="423185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D5B129-623D-82D1-A497-5FDAA8B60BBF}"/>
              </a:ext>
            </a:extLst>
          </p:cNvPr>
          <p:cNvSpPr txBox="1"/>
          <p:nvPr/>
        </p:nvSpPr>
        <p:spPr>
          <a:xfrm>
            <a:off x="3206439" y="2493292"/>
            <a:ext cx="566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L1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73F76D-F508-7713-5E13-415AAA77A435}"/>
              </a:ext>
            </a:extLst>
          </p:cNvPr>
          <p:cNvSpPr txBox="1"/>
          <p:nvPr/>
        </p:nvSpPr>
        <p:spPr>
          <a:xfrm>
            <a:off x="2051532" y="2494315"/>
            <a:ext cx="566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L0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5DA97E-884B-F009-4652-AF77EB227D69}"/>
              </a:ext>
            </a:extLst>
          </p:cNvPr>
          <p:cNvSpPr txBox="1"/>
          <p:nvPr/>
        </p:nvSpPr>
        <p:spPr>
          <a:xfrm>
            <a:off x="4385601" y="2484302"/>
            <a:ext cx="566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L2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A8E695-DD22-8983-D84A-E6D1902BDF0F}"/>
              </a:ext>
            </a:extLst>
          </p:cNvPr>
          <p:cNvSpPr txBox="1"/>
          <p:nvPr/>
        </p:nvSpPr>
        <p:spPr>
          <a:xfrm>
            <a:off x="5707506" y="2487462"/>
            <a:ext cx="566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L3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67A13D-1739-1520-E304-BC5EF84D6CDA}"/>
              </a:ext>
            </a:extLst>
          </p:cNvPr>
          <p:cNvSpPr txBox="1"/>
          <p:nvPr/>
        </p:nvSpPr>
        <p:spPr>
          <a:xfrm>
            <a:off x="760389" y="2894281"/>
            <a:ext cx="9787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Page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5282A2-54EE-09A7-55A4-13746FB81397}"/>
              </a:ext>
            </a:extLst>
          </p:cNvPr>
          <p:cNvCxnSpPr>
            <a:cxnSpLocks/>
          </p:cNvCxnSpPr>
          <p:nvPr/>
        </p:nvCxnSpPr>
        <p:spPr>
          <a:xfrm>
            <a:off x="2869033" y="2964924"/>
            <a:ext cx="0" cy="4859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7163E7-440E-F2BE-CFAC-6757250C2CF0}"/>
              </a:ext>
            </a:extLst>
          </p:cNvPr>
          <p:cNvCxnSpPr>
            <a:cxnSpLocks/>
          </p:cNvCxnSpPr>
          <p:nvPr/>
        </p:nvCxnSpPr>
        <p:spPr>
          <a:xfrm>
            <a:off x="4083470" y="2960161"/>
            <a:ext cx="0" cy="4859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0228351-0B3D-2675-65EC-ECB7737C2A39}"/>
              </a:ext>
            </a:extLst>
          </p:cNvPr>
          <p:cNvCxnSpPr>
            <a:cxnSpLocks/>
          </p:cNvCxnSpPr>
          <p:nvPr/>
        </p:nvCxnSpPr>
        <p:spPr>
          <a:xfrm>
            <a:off x="5440783" y="2960161"/>
            <a:ext cx="0" cy="4859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3EB719A-5715-9AF1-E127-3652BF637F58}"/>
              </a:ext>
            </a:extLst>
          </p:cNvPr>
          <p:cNvCxnSpPr>
            <a:cxnSpLocks/>
          </p:cNvCxnSpPr>
          <p:nvPr/>
        </p:nvCxnSpPr>
        <p:spPr>
          <a:xfrm>
            <a:off x="6698080" y="2945463"/>
            <a:ext cx="0" cy="4859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6151BC-61C2-AC20-572F-A97984628B90}"/>
              </a:ext>
            </a:extLst>
          </p:cNvPr>
          <p:cNvCxnSpPr>
            <a:cxnSpLocks/>
          </p:cNvCxnSpPr>
          <p:nvPr/>
        </p:nvCxnSpPr>
        <p:spPr>
          <a:xfrm>
            <a:off x="7998243" y="2945463"/>
            <a:ext cx="0" cy="4859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BBC61B9-1755-CEA3-FE3A-B4330641B838}"/>
              </a:ext>
            </a:extLst>
          </p:cNvPr>
          <p:cNvSpPr txBox="1"/>
          <p:nvPr/>
        </p:nvSpPr>
        <p:spPr>
          <a:xfrm>
            <a:off x="7020331" y="2493291"/>
            <a:ext cx="566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L4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3C90348-9FC0-A2E9-0516-F45B4341FD16}"/>
              </a:ext>
            </a:extLst>
          </p:cNvPr>
          <p:cNvCxnSpPr>
            <a:cxnSpLocks/>
          </p:cNvCxnSpPr>
          <p:nvPr/>
        </p:nvCxnSpPr>
        <p:spPr>
          <a:xfrm>
            <a:off x="9126956" y="2960160"/>
            <a:ext cx="0" cy="4859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99EDF41-4C81-347D-97C7-A98028A1C116}"/>
              </a:ext>
            </a:extLst>
          </p:cNvPr>
          <p:cNvSpPr txBox="1"/>
          <p:nvPr/>
        </p:nvSpPr>
        <p:spPr>
          <a:xfrm>
            <a:off x="8311846" y="2484301"/>
            <a:ext cx="566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L5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61822B9-BDD5-0B81-EF68-B6210856F217}"/>
              </a:ext>
            </a:extLst>
          </p:cNvPr>
          <p:cNvCxnSpPr>
            <a:cxnSpLocks/>
          </p:cNvCxnSpPr>
          <p:nvPr/>
        </p:nvCxnSpPr>
        <p:spPr>
          <a:xfrm>
            <a:off x="10303294" y="2946889"/>
            <a:ext cx="0" cy="4859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371F31B-F5AC-E571-B20F-0BD093277B88}"/>
              </a:ext>
            </a:extLst>
          </p:cNvPr>
          <p:cNvSpPr txBox="1"/>
          <p:nvPr/>
        </p:nvSpPr>
        <p:spPr>
          <a:xfrm>
            <a:off x="9501630" y="2490145"/>
            <a:ext cx="566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L6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327BA8-09E0-359D-3F3F-044873EC2752}"/>
              </a:ext>
            </a:extLst>
          </p:cNvPr>
          <p:cNvSpPr txBox="1"/>
          <p:nvPr/>
        </p:nvSpPr>
        <p:spPr>
          <a:xfrm>
            <a:off x="6585087" y="2029346"/>
            <a:ext cx="331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Cache line size of 64B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264E32-DB43-3D02-95D1-327A93E199B4}"/>
              </a:ext>
            </a:extLst>
          </p:cNvPr>
          <p:cNvSpPr txBox="1"/>
          <p:nvPr/>
        </p:nvSpPr>
        <p:spPr>
          <a:xfrm>
            <a:off x="3764365" y="1616773"/>
            <a:ext cx="2700152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IP</a:t>
            </a:r>
            <a:r>
              <a:rPr lang="en-IN" sz="28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: PC: </a:t>
            </a:r>
            <a:r>
              <a:rPr lang="en-IN" sz="28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LOAD</a:t>
            </a: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84EA3F-C30C-4D56-CECF-01AF88A0069B}"/>
              </a:ext>
            </a:extLst>
          </p:cNvPr>
          <p:cNvCxnSpPr>
            <a:cxnSpLocks/>
          </p:cNvCxnSpPr>
          <p:nvPr/>
        </p:nvCxnSpPr>
        <p:spPr>
          <a:xfrm>
            <a:off x="3048421" y="1739751"/>
            <a:ext cx="715944" cy="237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3BE9DBE-C59B-3AF6-96B0-0280B4941D92}"/>
              </a:ext>
            </a:extLst>
          </p:cNvPr>
          <p:cNvSpPr txBox="1"/>
          <p:nvPr/>
        </p:nvSpPr>
        <p:spPr>
          <a:xfrm>
            <a:off x="487091" y="5078372"/>
            <a:ext cx="4517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*Loops over arrays/structures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E39A86-65EA-82F0-7E8B-5427344B3573}"/>
              </a:ext>
            </a:extLst>
          </p:cNvPr>
          <p:cNvSpPr txBox="1"/>
          <p:nvPr/>
        </p:nvSpPr>
        <p:spPr>
          <a:xfrm>
            <a:off x="5498610" y="4906596"/>
            <a:ext cx="5973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Stride=difference in cache line accesses</a:t>
            </a:r>
          </a:p>
        </p:txBody>
      </p:sp>
    </p:spTree>
    <p:extLst>
      <p:ext uri="{BB962C8B-B14F-4D97-AF65-F5344CB8AC3E}">
        <p14:creationId xmlns:p14="http://schemas.microsoft.com/office/powerpoint/2010/main" val="2668430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0A0B-C306-108C-EEEE-19171784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IP-stride prefetching [Intel, AMD, ARM, IBM]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00FF9-CDAA-3877-4CE2-CF5927854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F0D54-0C74-32C2-0886-D194A942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B9FC079-65E9-2BC3-95C5-28901BA90076}"/>
              </a:ext>
            </a:extLst>
          </p:cNvPr>
          <p:cNvSpPr txBox="1"/>
          <p:nvPr/>
        </p:nvSpPr>
        <p:spPr>
          <a:xfrm>
            <a:off x="1556194" y="1742554"/>
            <a:ext cx="3368040" cy="344805"/>
          </a:xfrm>
          <a:prstGeom prst="rect">
            <a:avLst/>
          </a:prstGeom>
          <a:solidFill>
            <a:srgbClr val="DDD9C3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2710"/>
              </a:lnSpc>
            </a:pPr>
            <a:r>
              <a:rPr sz="2400" spc="5" dirty="0">
                <a:latin typeface="Cambria"/>
                <a:cs typeface="Cambria"/>
              </a:rPr>
              <a:t>PC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4E244082-1A27-773A-1BC7-7FE8628EF75A}"/>
              </a:ext>
            </a:extLst>
          </p:cNvPr>
          <p:cNvSpPr txBox="1"/>
          <p:nvPr/>
        </p:nvSpPr>
        <p:spPr>
          <a:xfrm>
            <a:off x="5312855" y="1742554"/>
            <a:ext cx="3368040" cy="344805"/>
          </a:xfrm>
          <a:prstGeom prst="rect">
            <a:avLst/>
          </a:prstGeom>
          <a:solidFill>
            <a:srgbClr val="DDD9C3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710"/>
              </a:lnSpc>
            </a:pPr>
            <a:r>
              <a:rPr sz="2400" spc="-15" dirty="0">
                <a:latin typeface="Cambria"/>
                <a:cs typeface="Cambria"/>
              </a:rPr>
              <a:t>effective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address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8F96EC4-A8E2-0EB9-5BFB-9A8B42D0B3A4}"/>
              </a:ext>
            </a:extLst>
          </p:cNvPr>
          <p:cNvSpPr txBox="1"/>
          <p:nvPr/>
        </p:nvSpPr>
        <p:spPr>
          <a:xfrm>
            <a:off x="1556194" y="3119869"/>
            <a:ext cx="3368040" cy="3448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2710"/>
              </a:lnSpc>
            </a:pPr>
            <a:r>
              <a:rPr sz="2400" dirty="0">
                <a:latin typeface="Cambria"/>
                <a:cs typeface="Cambria"/>
              </a:rPr>
              <a:t>instruction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tag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7CC56491-0D73-44A9-5704-14D6D51928DF}"/>
              </a:ext>
            </a:extLst>
          </p:cNvPr>
          <p:cNvSpPr txBox="1"/>
          <p:nvPr/>
        </p:nvSpPr>
        <p:spPr>
          <a:xfrm>
            <a:off x="4924234" y="3119869"/>
            <a:ext cx="3368040" cy="3448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710"/>
              </a:lnSpc>
            </a:pPr>
            <a:r>
              <a:rPr sz="2400" spc="-10" dirty="0">
                <a:latin typeface="Cambria"/>
                <a:cs typeface="Cambria"/>
              </a:rPr>
              <a:t>previous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address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21055C8D-C168-831C-9B0D-5B9EB296CC4A}"/>
              </a:ext>
            </a:extLst>
          </p:cNvPr>
          <p:cNvSpPr txBox="1"/>
          <p:nvPr/>
        </p:nvSpPr>
        <p:spPr>
          <a:xfrm>
            <a:off x="8292274" y="3119869"/>
            <a:ext cx="1684020" cy="3448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710"/>
              </a:lnSpc>
            </a:pPr>
            <a:r>
              <a:rPr sz="2400" dirty="0">
                <a:latin typeface="Cambria"/>
                <a:cs typeface="Cambria"/>
              </a:rPr>
              <a:t>stride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229855FF-1EB7-4448-B483-A38CCE0517AC}"/>
              </a:ext>
            </a:extLst>
          </p:cNvPr>
          <p:cNvSpPr txBox="1"/>
          <p:nvPr/>
        </p:nvSpPr>
        <p:spPr>
          <a:xfrm>
            <a:off x="9976295" y="3119869"/>
            <a:ext cx="1165860" cy="3448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710"/>
              </a:lnSpc>
            </a:pPr>
            <a:r>
              <a:rPr sz="2400" spc="-5" dirty="0">
                <a:latin typeface="Cambria"/>
                <a:cs typeface="Cambria"/>
              </a:rPr>
              <a:t>state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80B7FF1F-8670-C2F2-24C2-EE3290FE3A4B}"/>
              </a:ext>
            </a:extLst>
          </p:cNvPr>
          <p:cNvSpPr/>
          <p:nvPr/>
        </p:nvSpPr>
        <p:spPr>
          <a:xfrm>
            <a:off x="3072575" y="2086864"/>
            <a:ext cx="76200" cy="1033144"/>
          </a:xfrm>
          <a:custGeom>
            <a:avLst/>
            <a:gdLst/>
            <a:ahLst/>
            <a:cxnLst/>
            <a:rect l="l" t="t" r="r" b="b"/>
            <a:pathLst>
              <a:path w="76200" h="1033144">
                <a:moveTo>
                  <a:pt x="33399" y="956817"/>
                </a:moveTo>
                <a:lnTo>
                  <a:pt x="0" y="956817"/>
                </a:lnTo>
                <a:lnTo>
                  <a:pt x="38100" y="1033017"/>
                </a:lnTo>
                <a:lnTo>
                  <a:pt x="69850" y="969517"/>
                </a:lnTo>
                <a:lnTo>
                  <a:pt x="33400" y="969517"/>
                </a:lnTo>
                <a:lnTo>
                  <a:pt x="33399" y="956817"/>
                </a:lnTo>
                <a:close/>
              </a:path>
              <a:path w="76200" h="1033144">
                <a:moveTo>
                  <a:pt x="42799" y="0"/>
                </a:moveTo>
                <a:lnTo>
                  <a:pt x="33274" y="0"/>
                </a:lnTo>
                <a:lnTo>
                  <a:pt x="33400" y="969517"/>
                </a:lnTo>
                <a:lnTo>
                  <a:pt x="42925" y="969517"/>
                </a:lnTo>
                <a:lnTo>
                  <a:pt x="42799" y="0"/>
                </a:lnTo>
                <a:close/>
              </a:path>
              <a:path w="76200" h="1033144">
                <a:moveTo>
                  <a:pt x="76200" y="956817"/>
                </a:moveTo>
                <a:lnTo>
                  <a:pt x="42924" y="956817"/>
                </a:lnTo>
                <a:lnTo>
                  <a:pt x="42925" y="969517"/>
                </a:lnTo>
                <a:lnTo>
                  <a:pt x="69850" y="969517"/>
                </a:lnTo>
                <a:lnTo>
                  <a:pt x="76200" y="956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0">
            <a:extLst>
              <a:ext uri="{FF2B5EF4-FFF2-40B4-BE49-F238E27FC236}">
                <a16:creationId xmlns:a16="http://schemas.microsoft.com/office/drawing/2014/main" id="{28FFFA43-5892-2F82-9B14-B2EAD8928FE6}"/>
              </a:ext>
            </a:extLst>
          </p:cNvPr>
          <p:cNvGrpSpPr/>
          <p:nvPr/>
        </p:nvGrpSpPr>
        <p:grpSpPr>
          <a:xfrm>
            <a:off x="1551432" y="2086864"/>
            <a:ext cx="9595485" cy="2415540"/>
            <a:chOff x="1534477" y="1745488"/>
            <a:chExt cx="9595485" cy="2415540"/>
          </a:xfrm>
        </p:grpSpPr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C6FA5EF3-408F-2542-C50E-1C3FB2769AD5}"/>
                </a:ext>
              </a:extLst>
            </p:cNvPr>
            <p:cNvSpPr/>
            <p:nvPr/>
          </p:nvSpPr>
          <p:spPr>
            <a:xfrm>
              <a:off x="1539239" y="3122790"/>
              <a:ext cx="9585960" cy="1033144"/>
            </a:xfrm>
            <a:custGeom>
              <a:avLst/>
              <a:gdLst/>
              <a:ahLst/>
              <a:cxnLst/>
              <a:rect l="l" t="t" r="r" b="b"/>
              <a:pathLst>
                <a:path w="9585960" h="1033145">
                  <a:moveTo>
                    <a:pt x="0" y="344309"/>
                  </a:moveTo>
                  <a:lnTo>
                    <a:pt x="3368040" y="344309"/>
                  </a:lnTo>
                  <a:lnTo>
                    <a:pt x="3368040" y="0"/>
                  </a:lnTo>
                  <a:lnTo>
                    <a:pt x="0" y="0"/>
                  </a:lnTo>
                  <a:lnTo>
                    <a:pt x="0" y="344309"/>
                  </a:lnTo>
                  <a:close/>
                </a:path>
                <a:path w="9585960" h="1033145">
                  <a:moveTo>
                    <a:pt x="3368040" y="344309"/>
                  </a:moveTo>
                  <a:lnTo>
                    <a:pt x="6736079" y="344309"/>
                  </a:lnTo>
                  <a:lnTo>
                    <a:pt x="6736079" y="0"/>
                  </a:lnTo>
                  <a:lnTo>
                    <a:pt x="3368040" y="0"/>
                  </a:lnTo>
                  <a:lnTo>
                    <a:pt x="3368040" y="344309"/>
                  </a:lnTo>
                  <a:close/>
                </a:path>
                <a:path w="9585960" h="1033145">
                  <a:moveTo>
                    <a:pt x="6736080" y="344309"/>
                  </a:moveTo>
                  <a:lnTo>
                    <a:pt x="8420100" y="344309"/>
                  </a:lnTo>
                  <a:lnTo>
                    <a:pt x="8420100" y="0"/>
                  </a:lnTo>
                  <a:lnTo>
                    <a:pt x="6736080" y="0"/>
                  </a:lnTo>
                  <a:lnTo>
                    <a:pt x="6736080" y="344309"/>
                  </a:lnTo>
                  <a:close/>
                </a:path>
                <a:path w="9585960" h="1033145">
                  <a:moveTo>
                    <a:pt x="8420100" y="344309"/>
                  </a:moveTo>
                  <a:lnTo>
                    <a:pt x="9585960" y="344309"/>
                  </a:lnTo>
                  <a:lnTo>
                    <a:pt x="9585960" y="0"/>
                  </a:lnTo>
                  <a:lnTo>
                    <a:pt x="8420100" y="0"/>
                  </a:lnTo>
                  <a:lnTo>
                    <a:pt x="8420100" y="344309"/>
                  </a:lnTo>
                  <a:close/>
                </a:path>
                <a:path w="9585960" h="1033145">
                  <a:moveTo>
                    <a:pt x="0" y="688606"/>
                  </a:moveTo>
                  <a:lnTo>
                    <a:pt x="3368040" y="688606"/>
                  </a:lnTo>
                  <a:lnTo>
                    <a:pt x="3368040" y="344297"/>
                  </a:lnTo>
                  <a:lnTo>
                    <a:pt x="0" y="344297"/>
                  </a:lnTo>
                  <a:lnTo>
                    <a:pt x="0" y="688606"/>
                  </a:lnTo>
                  <a:close/>
                </a:path>
                <a:path w="9585960" h="1033145">
                  <a:moveTo>
                    <a:pt x="3368040" y="688606"/>
                  </a:moveTo>
                  <a:lnTo>
                    <a:pt x="6736079" y="688606"/>
                  </a:lnTo>
                  <a:lnTo>
                    <a:pt x="6736079" y="344297"/>
                  </a:lnTo>
                  <a:lnTo>
                    <a:pt x="3368040" y="344297"/>
                  </a:lnTo>
                  <a:lnTo>
                    <a:pt x="3368040" y="688606"/>
                  </a:lnTo>
                  <a:close/>
                </a:path>
                <a:path w="9585960" h="1033145">
                  <a:moveTo>
                    <a:pt x="6736080" y="688606"/>
                  </a:moveTo>
                  <a:lnTo>
                    <a:pt x="8420100" y="688606"/>
                  </a:lnTo>
                  <a:lnTo>
                    <a:pt x="8420100" y="344297"/>
                  </a:lnTo>
                  <a:lnTo>
                    <a:pt x="6736080" y="344297"/>
                  </a:lnTo>
                  <a:lnTo>
                    <a:pt x="6736080" y="688606"/>
                  </a:lnTo>
                  <a:close/>
                </a:path>
                <a:path w="9585960" h="1033145">
                  <a:moveTo>
                    <a:pt x="8420100" y="688606"/>
                  </a:moveTo>
                  <a:lnTo>
                    <a:pt x="9585960" y="688606"/>
                  </a:lnTo>
                  <a:lnTo>
                    <a:pt x="9585960" y="344297"/>
                  </a:lnTo>
                  <a:lnTo>
                    <a:pt x="8420100" y="344297"/>
                  </a:lnTo>
                  <a:lnTo>
                    <a:pt x="8420100" y="688606"/>
                  </a:lnTo>
                  <a:close/>
                </a:path>
                <a:path w="9585960" h="1033145">
                  <a:moveTo>
                    <a:pt x="0" y="1032903"/>
                  </a:moveTo>
                  <a:lnTo>
                    <a:pt x="3368040" y="1032903"/>
                  </a:lnTo>
                  <a:lnTo>
                    <a:pt x="3368040" y="688594"/>
                  </a:lnTo>
                  <a:lnTo>
                    <a:pt x="0" y="688594"/>
                  </a:lnTo>
                  <a:lnTo>
                    <a:pt x="0" y="1032903"/>
                  </a:lnTo>
                  <a:close/>
                </a:path>
                <a:path w="9585960" h="1033145">
                  <a:moveTo>
                    <a:pt x="3368040" y="1032903"/>
                  </a:moveTo>
                  <a:lnTo>
                    <a:pt x="6736079" y="1032903"/>
                  </a:lnTo>
                  <a:lnTo>
                    <a:pt x="6736079" y="688594"/>
                  </a:lnTo>
                  <a:lnTo>
                    <a:pt x="3368040" y="688594"/>
                  </a:lnTo>
                  <a:lnTo>
                    <a:pt x="3368040" y="1032903"/>
                  </a:lnTo>
                  <a:close/>
                </a:path>
                <a:path w="9585960" h="1033145">
                  <a:moveTo>
                    <a:pt x="6736080" y="1032903"/>
                  </a:moveTo>
                  <a:lnTo>
                    <a:pt x="8420100" y="1032903"/>
                  </a:lnTo>
                  <a:lnTo>
                    <a:pt x="8420100" y="688594"/>
                  </a:lnTo>
                  <a:lnTo>
                    <a:pt x="6736080" y="688594"/>
                  </a:lnTo>
                  <a:lnTo>
                    <a:pt x="6736080" y="1032903"/>
                  </a:lnTo>
                  <a:close/>
                </a:path>
                <a:path w="9585960" h="1033145">
                  <a:moveTo>
                    <a:pt x="8420100" y="1032903"/>
                  </a:moveTo>
                  <a:lnTo>
                    <a:pt x="9585960" y="1032903"/>
                  </a:lnTo>
                  <a:lnTo>
                    <a:pt x="9585960" y="688594"/>
                  </a:lnTo>
                  <a:lnTo>
                    <a:pt x="8420100" y="688594"/>
                  </a:lnTo>
                  <a:lnTo>
                    <a:pt x="8420100" y="10329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970DA763-74EC-FFE2-E24B-01517C4B876E}"/>
                </a:ext>
              </a:extLst>
            </p:cNvPr>
            <p:cNvSpPr/>
            <p:nvPr/>
          </p:nvSpPr>
          <p:spPr>
            <a:xfrm>
              <a:off x="7071360" y="1745488"/>
              <a:ext cx="76200" cy="1033144"/>
            </a:xfrm>
            <a:custGeom>
              <a:avLst/>
              <a:gdLst/>
              <a:ahLst/>
              <a:cxnLst/>
              <a:rect l="l" t="t" r="r" b="b"/>
              <a:pathLst>
                <a:path w="76200" h="1033144">
                  <a:moveTo>
                    <a:pt x="33274" y="956817"/>
                  </a:moveTo>
                  <a:lnTo>
                    <a:pt x="0" y="956817"/>
                  </a:lnTo>
                  <a:lnTo>
                    <a:pt x="38100" y="1033017"/>
                  </a:lnTo>
                  <a:lnTo>
                    <a:pt x="69850" y="969517"/>
                  </a:lnTo>
                  <a:lnTo>
                    <a:pt x="33274" y="969517"/>
                  </a:lnTo>
                  <a:lnTo>
                    <a:pt x="33274" y="956817"/>
                  </a:lnTo>
                  <a:close/>
                </a:path>
                <a:path w="76200" h="1033144">
                  <a:moveTo>
                    <a:pt x="42799" y="0"/>
                  </a:moveTo>
                  <a:lnTo>
                    <a:pt x="33274" y="0"/>
                  </a:lnTo>
                  <a:lnTo>
                    <a:pt x="33274" y="969517"/>
                  </a:lnTo>
                  <a:lnTo>
                    <a:pt x="42799" y="969517"/>
                  </a:lnTo>
                  <a:lnTo>
                    <a:pt x="42799" y="0"/>
                  </a:lnTo>
                  <a:close/>
                </a:path>
                <a:path w="76200" h="1033144">
                  <a:moveTo>
                    <a:pt x="76200" y="956817"/>
                  </a:moveTo>
                  <a:lnTo>
                    <a:pt x="42799" y="956817"/>
                  </a:lnTo>
                  <a:lnTo>
                    <a:pt x="42799" y="969517"/>
                  </a:lnTo>
                  <a:lnTo>
                    <a:pt x="69850" y="969517"/>
                  </a:lnTo>
                  <a:lnTo>
                    <a:pt x="76200" y="9568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A8C4CEA1-9BFB-7819-F194-8DF989FA4E92}"/>
                </a:ext>
              </a:extLst>
            </p:cNvPr>
            <p:cNvSpPr/>
            <p:nvPr/>
          </p:nvSpPr>
          <p:spPr>
            <a:xfrm>
              <a:off x="8663939" y="2175891"/>
              <a:ext cx="1036319" cy="344805"/>
            </a:xfrm>
            <a:custGeom>
              <a:avLst/>
              <a:gdLst/>
              <a:ahLst/>
              <a:cxnLst/>
              <a:rect l="l" t="t" r="r" b="b"/>
              <a:pathLst>
                <a:path w="1036320" h="344805">
                  <a:moveTo>
                    <a:pt x="1036319" y="0"/>
                  </a:moveTo>
                  <a:lnTo>
                    <a:pt x="0" y="0"/>
                  </a:lnTo>
                  <a:lnTo>
                    <a:pt x="259079" y="344297"/>
                  </a:lnTo>
                  <a:lnTo>
                    <a:pt x="777239" y="344297"/>
                  </a:lnTo>
                  <a:lnTo>
                    <a:pt x="1036319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3B286A72-08EB-5FFA-EDD8-F758D37599F6}"/>
                </a:ext>
              </a:extLst>
            </p:cNvPr>
            <p:cNvSpPr/>
            <p:nvPr/>
          </p:nvSpPr>
          <p:spPr>
            <a:xfrm>
              <a:off x="8663939" y="2175891"/>
              <a:ext cx="1036319" cy="344805"/>
            </a:xfrm>
            <a:custGeom>
              <a:avLst/>
              <a:gdLst/>
              <a:ahLst/>
              <a:cxnLst/>
              <a:rect l="l" t="t" r="r" b="b"/>
              <a:pathLst>
                <a:path w="1036320" h="344805">
                  <a:moveTo>
                    <a:pt x="0" y="0"/>
                  </a:moveTo>
                  <a:lnTo>
                    <a:pt x="259079" y="344297"/>
                  </a:lnTo>
                  <a:lnTo>
                    <a:pt x="777239" y="344297"/>
                  </a:lnTo>
                  <a:lnTo>
                    <a:pt x="1036319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5">
            <a:extLst>
              <a:ext uri="{FF2B5EF4-FFF2-40B4-BE49-F238E27FC236}">
                <a16:creationId xmlns:a16="http://schemas.microsoft.com/office/drawing/2014/main" id="{AC8710A2-6749-8794-1A49-DCC1DF764218}"/>
              </a:ext>
            </a:extLst>
          </p:cNvPr>
          <p:cNvSpPr txBox="1"/>
          <p:nvPr/>
        </p:nvSpPr>
        <p:spPr>
          <a:xfrm>
            <a:off x="8976677" y="2486609"/>
            <a:ext cx="127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-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9" name="object 16">
            <a:extLst>
              <a:ext uri="{FF2B5EF4-FFF2-40B4-BE49-F238E27FC236}">
                <a16:creationId xmlns:a16="http://schemas.microsoft.com/office/drawing/2014/main" id="{F886FF12-F3B7-F2DE-F6CF-8262542C061F}"/>
              </a:ext>
            </a:extLst>
          </p:cNvPr>
          <p:cNvGrpSpPr/>
          <p:nvPr/>
        </p:nvGrpSpPr>
        <p:grpSpPr>
          <a:xfrm>
            <a:off x="7121652" y="2340419"/>
            <a:ext cx="2729865" cy="3108325"/>
            <a:chOff x="7104697" y="1999043"/>
            <a:chExt cx="2729865" cy="3108325"/>
          </a:xfrm>
        </p:grpSpPr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B869FF45-18FC-942E-CCC2-89F65E35C456}"/>
                </a:ext>
              </a:extLst>
            </p:cNvPr>
            <p:cNvSpPr/>
            <p:nvPr/>
          </p:nvSpPr>
          <p:spPr>
            <a:xfrm>
              <a:off x="8793479" y="4758308"/>
              <a:ext cx="1036319" cy="344805"/>
            </a:xfrm>
            <a:custGeom>
              <a:avLst/>
              <a:gdLst/>
              <a:ahLst/>
              <a:cxnLst/>
              <a:rect l="l" t="t" r="r" b="b"/>
              <a:pathLst>
                <a:path w="1036320" h="344804">
                  <a:moveTo>
                    <a:pt x="1036320" y="0"/>
                  </a:moveTo>
                  <a:lnTo>
                    <a:pt x="0" y="0"/>
                  </a:lnTo>
                  <a:lnTo>
                    <a:pt x="259079" y="344297"/>
                  </a:lnTo>
                  <a:lnTo>
                    <a:pt x="777240" y="344297"/>
                  </a:lnTo>
                  <a:lnTo>
                    <a:pt x="1036320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30620AEA-ECE2-0A04-92B6-F72FF1FB80DF}"/>
                </a:ext>
              </a:extLst>
            </p:cNvPr>
            <p:cNvSpPr/>
            <p:nvPr/>
          </p:nvSpPr>
          <p:spPr>
            <a:xfrm>
              <a:off x="8793479" y="4758308"/>
              <a:ext cx="1036319" cy="344805"/>
            </a:xfrm>
            <a:custGeom>
              <a:avLst/>
              <a:gdLst/>
              <a:ahLst/>
              <a:cxnLst/>
              <a:rect l="l" t="t" r="r" b="b"/>
              <a:pathLst>
                <a:path w="1036320" h="344804">
                  <a:moveTo>
                    <a:pt x="0" y="0"/>
                  </a:moveTo>
                  <a:lnTo>
                    <a:pt x="259079" y="344297"/>
                  </a:lnTo>
                  <a:lnTo>
                    <a:pt x="777240" y="344297"/>
                  </a:lnTo>
                  <a:lnTo>
                    <a:pt x="1036320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EF5D7AB9-B87E-11BD-3CAF-138C487593A6}"/>
                </a:ext>
              </a:extLst>
            </p:cNvPr>
            <p:cNvSpPr/>
            <p:nvPr/>
          </p:nvSpPr>
          <p:spPr>
            <a:xfrm>
              <a:off x="7109459" y="2003805"/>
              <a:ext cx="2072639" cy="774700"/>
            </a:xfrm>
            <a:custGeom>
              <a:avLst/>
              <a:gdLst/>
              <a:ahLst/>
              <a:cxnLst/>
              <a:rect l="l" t="t" r="r" b="b"/>
              <a:pathLst>
                <a:path w="2072640" h="774700">
                  <a:moveTo>
                    <a:pt x="0" y="0"/>
                  </a:moveTo>
                  <a:lnTo>
                    <a:pt x="1813560" y="0"/>
                  </a:lnTo>
                </a:path>
                <a:path w="2072640" h="774700">
                  <a:moveTo>
                    <a:pt x="1813560" y="0"/>
                  </a:moveTo>
                  <a:lnTo>
                    <a:pt x="1813560" y="172085"/>
                  </a:lnTo>
                </a:path>
                <a:path w="2072640" h="774700">
                  <a:moveTo>
                    <a:pt x="2072640" y="516382"/>
                  </a:moveTo>
                  <a:lnTo>
                    <a:pt x="2072640" y="7747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0">
            <a:extLst>
              <a:ext uri="{FF2B5EF4-FFF2-40B4-BE49-F238E27FC236}">
                <a16:creationId xmlns:a16="http://schemas.microsoft.com/office/drawing/2014/main" id="{A5FD3A37-D048-65EC-0A45-A85982C9A34A}"/>
              </a:ext>
            </a:extLst>
          </p:cNvPr>
          <p:cNvSpPr txBox="1"/>
          <p:nvPr/>
        </p:nvSpPr>
        <p:spPr>
          <a:xfrm>
            <a:off x="9106218" y="5069840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+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04EF18E7-4B0D-797B-89D7-236368DA7F94}"/>
              </a:ext>
            </a:extLst>
          </p:cNvPr>
          <p:cNvGrpSpPr/>
          <p:nvPr/>
        </p:nvGrpSpPr>
        <p:grpSpPr>
          <a:xfrm>
            <a:off x="774192" y="1479613"/>
            <a:ext cx="8818245" cy="4309110"/>
            <a:chOff x="757237" y="1138237"/>
            <a:chExt cx="8818245" cy="4309110"/>
          </a:xfrm>
        </p:grpSpPr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80E9D0C6-A2C0-DB68-3A4E-09F8C0F65E75}"/>
                </a:ext>
              </a:extLst>
            </p:cNvPr>
            <p:cNvSpPr/>
            <p:nvPr/>
          </p:nvSpPr>
          <p:spPr>
            <a:xfrm>
              <a:off x="9570719" y="4155694"/>
              <a:ext cx="0" cy="602615"/>
            </a:xfrm>
            <a:custGeom>
              <a:avLst/>
              <a:gdLst/>
              <a:ahLst/>
              <a:cxnLst/>
              <a:rect l="l" t="t" r="r" b="b"/>
              <a:pathLst>
                <a:path h="602614">
                  <a:moveTo>
                    <a:pt x="0" y="0"/>
                  </a:moveTo>
                  <a:lnTo>
                    <a:pt x="0" y="60261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3BCA6E19-B53A-E995-5C05-E4ADD21F6716}"/>
                </a:ext>
              </a:extLst>
            </p:cNvPr>
            <p:cNvSpPr/>
            <p:nvPr/>
          </p:nvSpPr>
          <p:spPr>
            <a:xfrm>
              <a:off x="6423659" y="4155694"/>
              <a:ext cx="76200" cy="344805"/>
            </a:xfrm>
            <a:custGeom>
              <a:avLst/>
              <a:gdLst/>
              <a:ahLst/>
              <a:cxnLst/>
              <a:rect l="l" t="t" r="r" b="b"/>
              <a:pathLst>
                <a:path w="76200" h="344804">
                  <a:moveTo>
                    <a:pt x="33274" y="268096"/>
                  </a:moveTo>
                  <a:lnTo>
                    <a:pt x="0" y="268096"/>
                  </a:lnTo>
                  <a:lnTo>
                    <a:pt x="38100" y="344296"/>
                  </a:lnTo>
                  <a:lnTo>
                    <a:pt x="69850" y="280796"/>
                  </a:lnTo>
                  <a:lnTo>
                    <a:pt x="33274" y="280796"/>
                  </a:lnTo>
                  <a:lnTo>
                    <a:pt x="33274" y="268096"/>
                  </a:lnTo>
                  <a:close/>
                </a:path>
                <a:path w="76200" h="344804">
                  <a:moveTo>
                    <a:pt x="42799" y="0"/>
                  </a:moveTo>
                  <a:lnTo>
                    <a:pt x="33274" y="0"/>
                  </a:lnTo>
                  <a:lnTo>
                    <a:pt x="33274" y="280796"/>
                  </a:lnTo>
                  <a:lnTo>
                    <a:pt x="42799" y="280796"/>
                  </a:lnTo>
                  <a:lnTo>
                    <a:pt x="42799" y="0"/>
                  </a:lnTo>
                  <a:close/>
                </a:path>
                <a:path w="76200" h="344804">
                  <a:moveTo>
                    <a:pt x="76200" y="268096"/>
                  </a:moveTo>
                  <a:lnTo>
                    <a:pt x="42799" y="268096"/>
                  </a:lnTo>
                  <a:lnTo>
                    <a:pt x="42799" y="280796"/>
                  </a:lnTo>
                  <a:lnTo>
                    <a:pt x="69850" y="280796"/>
                  </a:lnTo>
                  <a:lnTo>
                    <a:pt x="76200" y="268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A62DDCBA-6566-73C1-0B75-1229B9FE0CF2}"/>
                </a:ext>
              </a:extLst>
            </p:cNvPr>
            <p:cNvSpPr/>
            <p:nvPr/>
          </p:nvSpPr>
          <p:spPr>
            <a:xfrm>
              <a:off x="762000" y="1143000"/>
              <a:ext cx="8549640" cy="3615690"/>
            </a:xfrm>
            <a:custGeom>
              <a:avLst/>
              <a:gdLst/>
              <a:ahLst/>
              <a:cxnLst/>
              <a:rect l="l" t="t" r="r" b="b"/>
              <a:pathLst>
                <a:path w="8549640" h="3615690">
                  <a:moveTo>
                    <a:pt x="8420100" y="3615308"/>
                  </a:moveTo>
                  <a:lnTo>
                    <a:pt x="8420100" y="3356991"/>
                  </a:lnTo>
                </a:path>
                <a:path w="8549640" h="3615690">
                  <a:moveTo>
                    <a:pt x="8420100" y="3356991"/>
                  </a:moveTo>
                  <a:lnTo>
                    <a:pt x="0" y="3356991"/>
                  </a:lnTo>
                </a:path>
                <a:path w="8549640" h="3615690">
                  <a:moveTo>
                    <a:pt x="0" y="3356991"/>
                  </a:moveTo>
                  <a:lnTo>
                    <a:pt x="0" y="0"/>
                  </a:lnTo>
                </a:path>
                <a:path w="8549640" h="3615690">
                  <a:moveTo>
                    <a:pt x="0" y="0"/>
                  </a:moveTo>
                  <a:lnTo>
                    <a:pt x="8549640" y="0"/>
                  </a:lnTo>
                </a:path>
                <a:path w="8549640" h="3615690">
                  <a:moveTo>
                    <a:pt x="8549640" y="0"/>
                  </a:moveTo>
                  <a:lnTo>
                    <a:pt x="8549640" y="103289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D2F097AB-137F-92E1-C6E2-402785A1EED0}"/>
                </a:ext>
              </a:extLst>
            </p:cNvPr>
            <p:cNvSpPr/>
            <p:nvPr/>
          </p:nvSpPr>
          <p:spPr>
            <a:xfrm>
              <a:off x="9273540" y="5102605"/>
              <a:ext cx="76200" cy="344805"/>
            </a:xfrm>
            <a:custGeom>
              <a:avLst/>
              <a:gdLst/>
              <a:ahLst/>
              <a:cxnLst/>
              <a:rect l="l" t="t" r="r" b="b"/>
              <a:pathLst>
                <a:path w="76200" h="344804">
                  <a:moveTo>
                    <a:pt x="33274" y="268097"/>
                  </a:moveTo>
                  <a:lnTo>
                    <a:pt x="0" y="268097"/>
                  </a:lnTo>
                  <a:lnTo>
                    <a:pt x="38100" y="344297"/>
                  </a:lnTo>
                  <a:lnTo>
                    <a:pt x="69850" y="280797"/>
                  </a:lnTo>
                  <a:lnTo>
                    <a:pt x="33274" y="280797"/>
                  </a:lnTo>
                  <a:lnTo>
                    <a:pt x="33274" y="268097"/>
                  </a:lnTo>
                  <a:close/>
                </a:path>
                <a:path w="76200" h="344804">
                  <a:moveTo>
                    <a:pt x="42799" y="0"/>
                  </a:moveTo>
                  <a:lnTo>
                    <a:pt x="33274" y="0"/>
                  </a:lnTo>
                  <a:lnTo>
                    <a:pt x="33274" y="280797"/>
                  </a:lnTo>
                  <a:lnTo>
                    <a:pt x="42799" y="280797"/>
                  </a:lnTo>
                  <a:lnTo>
                    <a:pt x="42799" y="0"/>
                  </a:lnTo>
                  <a:close/>
                </a:path>
                <a:path w="76200" h="344804">
                  <a:moveTo>
                    <a:pt x="76200" y="268097"/>
                  </a:moveTo>
                  <a:lnTo>
                    <a:pt x="42799" y="268097"/>
                  </a:lnTo>
                  <a:lnTo>
                    <a:pt x="42799" y="280797"/>
                  </a:lnTo>
                  <a:lnTo>
                    <a:pt x="69850" y="280797"/>
                  </a:lnTo>
                  <a:lnTo>
                    <a:pt x="76200" y="2680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6">
            <a:extLst>
              <a:ext uri="{FF2B5EF4-FFF2-40B4-BE49-F238E27FC236}">
                <a16:creationId xmlns:a16="http://schemas.microsoft.com/office/drawing/2014/main" id="{01DA1B7E-6C82-035B-7559-19E1A2431B3D}"/>
              </a:ext>
            </a:extLst>
          </p:cNvPr>
          <p:cNvSpPr txBox="1"/>
          <p:nvPr/>
        </p:nvSpPr>
        <p:spPr>
          <a:xfrm>
            <a:off x="7515035" y="5788266"/>
            <a:ext cx="3368040" cy="344805"/>
          </a:xfrm>
          <a:prstGeom prst="rect">
            <a:avLst/>
          </a:prstGeom>
          <a:solidFill>
            <a:srgbClr val="DDD9C3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710"/>
              </a:lnSpc>
            </a:pPr>
            <a:r>
              <a:rPr sz="2400" spc="-10" dirty="0">
                <a:latin typeface="Cambria"/>
                <a:cs typeface="Cambria"/>
              </a:rPr>
              <a:t>prefetch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address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30" name="object 27">
            <a:extLst>
              <a:ext uri="{FF2B5EF4-FFF2-40B4-BE49-F238E27FC236}">
                <a16:creationId xmlns:a16="http://schemas.microsoft.com/office/drawing/2014/main" id="{E693122F-6E16-4D8A-B6DE-C517E2187CC9}"/>
              </a:ext>
            </a:extLst>
          </p:cNvPr>
          <p:cNvGrpSpPr/>
          <p:nvPr/>
        </p:nvGrpSpPr>
        <p:grpSpPr>
          <a:xfrm>
            <a:off x="9717214" y="4497070"/>
            <a:ext cx="782320" cy="812800"/>
            <a:chOff x="9700259" y="4155694"/>
            <a:chExt cx="782320" cy="812800"/>
          </a:xfrm>
        </p:grpSpPr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7876C869-EEFC-BE0D-D451-6F3B88DDE16F}"/>
                </a:ext>
              </a:extLst>
            </p:cNvPr>
            <p:cNvSpPr/>
            <p:nvPr/>
          </p:nvSpPr>
          <p:spPr>
            <a:xfrm>
              <a:off x="10477499" y="4155694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0"/>
                  </a:moveTo>
                  <a:lnTo>
                    <a:pt x="0" y="7746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136C9954-5BB7-8A97-B229-0DFF219EF81D}"/>
                </a:ext>
              </a:extLst>
            </p:cNvPr>
            <p:cNvSpPr/>
            <p:nvPr/>
          </p:nvSpPr>
          <p:spPr>
            <a:xfrm>
              <a:off x="9700259" y="4892294"/>
              <a:ext cx="777240" cy="76200"/>
            </a:xfrm>
            <a:custGeom>
              <a:avLst/>
              <a:gdLst/>
              <a:ahLst/>
              <a:cxnLst/>
              <a:rect l="l" t="t" r="r" b="b"/>
              <a:pathLst>
                <a:path w="77724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42925"/>
                  </a:lnTo>
                  <a:lnTo>
                    <a:pt x="63500" y="42925"/>
                  </a:lnTo>
                  <a:lnTo>
                    <a:pt x="63500" y="33400"/>
                  </a:lnTo>
                  <a:lnTo>
                    <a:pt x="76200" y="33400"/>
                  </a:lnTo>
                  <a:lnTo>
                    <a:pt x="76200" y="0"/>
                  </a:lnTo>
                  <a:close/>
                </a:path>
                <a:path w="777240" h="76200">
                  <a:moveTo>
                    <a:pt x="76200" y="33400"/>
                  </a:moveTo>
                  <a:lnTo>
                    <a:pt x="63500" y="33400"/>
                  </a:lnTo>
                  <a:lnTo>
                    <a:pt x="63500" y="42925"/>
                  </a:lnTo>
                  <a:lnTo>
                    <a:pt x="76200" y="42925"/>
                  </a:lnTo>
                  <a:lnTo>
                    <a:pt x="76200" y="33400"/>
                  </a:lnTo>
                  <a:close/>
                </a:path>
                <a:path w="777240" h="76200">
                  <a:moveTo>
                    <a:pt x="777240" y="33400"/>
                  </a:moveTo>
                  <a:lnTo>
                    <a:pt x="76200" y="33400"/>
                  </a:lnTo>
                  <a:lnTo>
                    <a:pt x="76200" y="42925"/>
                  </a:lnTo>
                  <a:lnTo>
                    <a:pt x="777240" y="42925"/>
                  </a:lnTo>
                  <a:lnTo>
                    <a:pt x="777240" y="33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026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CD9A-87CF-F188-368F-468DEE641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prefetcher [Intel, IBM, ARM, AMD]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C58D3-CE97-AF25-0408-77098087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4023E-1CBD-43A2-A89F-23D68859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EAD47F53-3F14-189F-F553-0DA4E2E52894}"/>
              </a:ext>
            </a:extLst>
          </p:cNvPr>
          <p:cNvGrpSpPr/>
          <p:nvPr/>
        </p:nvGrpSpPr>
        <p:grpSpPr>
          <a:xfrm>
            <a:off x="3693668" y="2630108"/>
            <a:ext cx="2311400" cy="635000"/>
            <a:chOff x="3949700" y="1892300"/>
            <a:chExt cx="2311400" cy="635000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8D68A9A2-6A11-7F41-0272-20B0B3ECA36F}"/>
                </a:ext>
              </a:extLst>
            </p:cNvPr>
            <p:cNvSpPr/>
            <p:nvPr/>
          </p:nvSpPr>
          <p:spPr>
            <a:xfrm>
              <a:off x="3962400" y="1905000"/>
              <a:ext cx="2286000" cy="609600"/>
            </a:xfrm>
            <a:custGeom>
              <a:avLst/>
              <a:gdLst/>
              <a:ahLst/>
              <a:cxnLst/>
              <a:rect l="l" t="t" r="r" b="b"/>
              <a:pathLst>
                <a:path w="2286000" h="609600">
                  <a:moveTo>
                    <a:pt x="762000" y="609600"/>
                  </a:moveTo>
                  <a:lnTo>
                    <a:pt x="1524000" y="609600"/>
                  </a:lnTo>
                  <a:lnTo>
                    <a:pt x="1524000" y="0"/>
                  </a:lnTo>
                  <a:lnTo>
                    <a:pt x="762000" y="0"/>
                  </a:lnTo>
                  <a:lnTo>
                    <a:pt x="762000" y="609600"/>
                  </a:lnTo>
                  <a:close/>
                </a:path>
                <a:path w="2286000" h="609600">
                  <a:moveTo>
                    <a:pt x="1524000" y="609600"/>
                  </a:moveTo>
                  <a:lnTo>
                    <a:pt x="2286000" y="609600"/>
                  </a:lnTo>
                  <a:lnTo>
                    <a:pt x="2286000" y="0"/>
                  </a:lnTo>
                  <a:lnTo>
                    <a:pt x="1524000" y="0"/>
                  </a:lnTo>
                  <a:lnTo>
                    <a:pt x="1524000" y="609600"/>
                  </a:lnTo>
                  <a:close/>
                </a:path>
                <a:path w="2286000" h="609600">
                  <a:moveTo>
                    <a:pt x="0" y="609600"/>
                  </a:moveTo>
                  <a:lnTo>
                    <a:pt x="762000" y="6096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407A3545-418F-1D83-EF76-0C59721EECF1}"/>
                </a:ext>
              </a:extLst>
            </p:cNvPr>
            <p:cNvSpPr/>
            <p:nvPr/>
          </p:nvSpPr>
          <p:spPr>
            <a:xfrm>
              <a:off x="3962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762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0" y="6096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CAE9BFC4-AF2C-DBE8-D8B6-F9317626093D}"/>
                </a:ext>
              </a:extLst>
            </p:cNvPr>
            <p:cNvSpPr/>
            <p:nvPr/>
          </p:nvSpPr>
          <p:spPr>
            <a:xfrm>
              <a:off x="3962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762000" y="6096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8E95C889-8DB3-3A29-0321-CF3EC4F0FBB6}"/>
                </a:ext>
              </a:extLst>
            </p:cNvPr>
            <p:cNvSpPr/>
            <p:nvPr/>
          </p:nvSpPr>
          <p:spPr>
            <a:xfrm>
              <a:off x="4724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762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0" y="6096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E7ACD1BB-4232-CCB2-C6D3-4A52666933EA}"/>
                </a:ext>
              </a:extLst>
            </p:cNvPr>
            <p:cNvSpPr/>
            <p:nvPr/>
          </p:nvSpPr>
          <p:spPr>
            <a:xfrm>
              <a:off x="4724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762000" y="6096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10D43832-5467-4C37-EB5B-FDEE3954FE4D}"/>
                </a:ext>
              </a:extLst>
            </p:cNvPr>
            <p:cNvSpPr/>
            <p:nvPr/>
          </p:nvSpPr>
          <p:spPr>
            <a:xfrm>
              <a:off x="5486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762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0" y="6096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36AC0202-1B70-FD9B-73B9-04ED0D102088}"/>
                </a:ext>
              </a:extLst>
            </p:cNvPr>
            <p:cNvSpPr/>
            <p:nvPr/>
          </p:nvSpPr>
          <p:spPr>
            <a:xfrm>
              <a:off x="5486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762000" y="6096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1677975B-617B-C7E0-29E2-600BD99EB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676904"/>
              </p:ext>
            </p:extLst>
          </p:nvPr>
        </p:nvGraphicFramePr>
        <p:xfrm>
          <a:off x="3693668" y="1715708"/>
          <a:ext cx="533400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100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1143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102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1143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104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1143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503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1143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504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1143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501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1143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499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1143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2">
            <a:extLst>
              <a:ext uri="{FF2B5EF4-FFF2-40B4-BE49-F238E27FC236}">
                <a16:creationId xmlns:a16="http://schemas.microsoft.com/office/drawing/2014/main" id="{A98BB1EF-5CBD-D015-8BB8-279DD776D07C}"/>
              </a:ext>
            </a:extLst>
          </p:cNvPr>
          <p:cNvSpPr txBox="1"/>
          <p:nvPr/>
        </p:nvSpPr>
        <p:spPr>
          <a:xfrm>
            <a:off x="7178928" y="2683896"/>
            <a:ext cx="325120" cy="357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sz="2400" b="1" spc="-85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81C98751-D882-570F-E832-8816EC7F5097}"/>
              </a:ext>
            </a:extLst>
          </p:cNvPr>
          <p:cNvSpPr txBox="1"/>
          <p:nvPr/>
        </p:nvSpPr>
        <p:spPr>
          <a:xfrm>
            <a:off x="7498969" y="2683896"/>
            <a:ext cx="786765" cy="357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sz="2400" b="1" spc="-5" dirty="0">
                <a:solidFill>
                  <a:srgbClr val="FF0000"/>
                </a:solidFill>
                <a:latin typeface="Cambria"/>
                <a:cs typeface="Cambria"/>
              </a:rPr>
              <a:t>ained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7" name="object 14">
            <a:extLst>
              <a:ext uri="{FF2B5EF4-FFF2-40B4-BE49-F238E27FC236}">
                <a16:creationId xmlns:a16="http://schemas.microsoft.com/office/drawing/2014/main" id="{78A3F40E-171C-7363-B9FD-22B2EE3CB0F0}"/>
              </a:ext>
            </a:extLst>
          </p:cNvPr>
          <p:cNvGrpSpPr/>
          <p:nvPr/>
        </p:nvGrpSpPr>
        <p:grpSpPr>
          <a:xfrm>
            <a:off x="5979668" y="2630108"/>
            <a:ext cx="2311400" cy="635000"/>
            <a:chOff x="6235700" y="1892300"/>
            <a:chExt cx="2311400" cy="635000"/>
          </a:xfrm>
        </p:grpSpPr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4C8BEAB4-CE15-A15A-A319-E8C08062235D}"/>
                </a:ext>
              </a:extLst>
            </p:cNvPr>
            <p:cNvSpPr/>
            <p:nvPr/>
          </p:nvSpPr>
          <p:spPr>
            <a:xfrm>
              <a:off x="6629272" y="2048349"/>
              <a:ext cx="687705" cy="171450"/>
            </a:xfrm>
            <a:custGeom>
              <a:avLst/>
              <a:gdLst/>
              <a:ahLst/>
              <a:cxnLst/>
              <a:rect l="l" t="t" r="r" b="b"/>
              <a:pathLst>
                <a:path w="687704" h="171450">
                  <a:moveTo>
                    <a:pt x="149923" y="0"/>
                  </a:moveTo>
                  <a:lnTo>
                    <a:pt x="142748" y="2446"/>
                  </a:lnTo>
                  <a:lnTo>
                    <a:pt x="0" y="85250"/>
                  </a:lnTo>
                  <a:lnTo>
                    <a:pt x="142367" y="168689"/>
                  </a:lnTo>
                  <a:lnTo>
                    <a:pt x="149488" y="171156"/>
                  </a:lnTo>
                  <a:lnTo>
                    <a:pt x="156765" y="170705"/>
                  </a:lnTo>
                  <a:lnTo>
                    <a:pt x="163351" y="167564"/>
                  </a:lnTo>
                  <a:lnTo>
                    <a:pt x="168401" y="161958"/>
                  </a:lnTo>
                  <a:lnTo>
                    <a:pt x="170868" y="154763"/>
                  </a:lnTo>
                  <a:lnTo>
                    <a:pt x="170418" y="147448"/>
                  </a:lnTo>
                  <a:lnTo>
                    <a:pt x="167276" y="140848"/>
                  </a:lnTo>
                  <a:lnTo>
                    <a:pt x="161671" y="135796"/>
                  </a:lnTo>
                  <a:lnTo>
                    <a:pt x="108441" y="104593"/>
                  </a:lnTo>
                  <a:lnTo>
                    <a:pt x="37846" y="104427"/>
                  </a:lnTo>
                  <a:lnTo>
                    <a:pt x="37846" y="66327"/>
                  </a:lnTo>
                  <a:lnTo>
                    <a:pt x="108530" y="66327"/>
                  </a:lnTo>
                  <a:lnTo>
                    <a:pt x="161798" y="35466"/>
                  </a:lnTo>
                  <a:lnTo>
                    <a:pt x="167497" y="30414"/>
                  </a:lnTo>
                  <a:lnTo>
                    <a:pt x="170719" y="23814"/>
                  </a:lnTo>
                  <a:lnTo>
                    <a:pt x="171227" y="16500"/>
                  </a:lnTo>
                  <a:lnTo>
                    <a:pt x="168782" y="9304"/>
                  </a:lnTo>
                  <a:lnTo>
                    <a:pt x="163750" y="3679"/>
                  </a:lnTo>
                  <a:lnTo>
                    <a:pt x="157194" y="494"/>
                  </a:lnTo>
                  <a:lnTo>
                    <a:pt x="149923" y="0"/>
                  </a:lnTo>
                  <a:close/>
                </a:path>
                <a:path w="687704" h="171450">
                  <a:moveTo>
                    <a:pt x="108245" y="66492"/>
                  </a:moveTo>
                  <a:lnTo>
                    <a:pt x="75655" y="85373"/>
                  </a:lnTo>
                  <a:lnTo>
                    <a:pt x="108441" y="104593"/>
                  </a:lnTo>
                  <a:lnTo>
                    <a:pt x="687451" y="105951"/>
                  </a:lnTo>
                  <a:lnTo>
                    <a:pt x="687577" y="67851"/>
                  </a:lnTo>
                  <a:lnTo>
                    <a:pt x="108245" y="66492"/>
                  </a:lnTo>
                  <a:close/>
                </a:path>
                <a:path w="687704" h="171450">
                  <a:moveTo>
                    <a:pt x="37846" y="66327"/>
                  </a:moveTo>
                  <a:lnTo>
                    <a:pt x="37846" y="104427"/>
                  </a:lnTo>
                  <a:lnTo>
                    <a:pt x="108441" y="104593"/>
                  </a:lnTo>
                  <a:lnTo>
                    <a:pt x="103609" y="101760"/>
                  </a:lnTo>
                  <a:lnTo>
                    <a:pt x="47371" y="101760"/>
                  </a:lnTo>
                  <a:lnTo>
                    <a:pt x="47498" y="68867"/>
                  </a:lnTo>
                  <a:lnTo>
                    <a:pt x="104146" y="68867"/>
                  </a:lnTo>
                  <a:lnTo>
                    <a:pt x="108245" y="66492"/>
                  </a:lnTo>
                  <a:lnTo>
                    <a:pt x="37846" y="66327"/>
                  </a:lnTo>
                  <a:close/>
                </a:path>
                <a:path w="687704" h="171450">
                  <a:moveTo>
                    <a:pt x="47498" y="68867"/>
                  </a:moveTo>
                  <a:lnTo>
                    <a:pt x="47371" y="101760"/>
                  </a:lnTo>
                  <a:lnTo>
                    <a:pt x="75655" y="85373"/>
                  </a:lnTo>
                  <a:lnTo>
                    <a:pt x="47498" y="68867"/>
                  </a:lnTo>
                  <a:close/>
                </a:path>
                <a:path w="687704" h="171450">
                  <a:moveTo>
                    <a:pt x="75655" y="85373"/>
                  </a:moveTo>
                  <a:lnTo>
                    <a:pt x="47371" y="101760"/>
                  </a:lnTo>
                  <a:lnTo>
                    <a:pt x="103609" y="101760"/>
                  </a:lnTo>
                  <a:lnTo>
                    <a:pt x="75655" y="85373"/>
                  </a:lnTo>
                  <a:close/>
                </a:path>
                <a:path w="687704" h="171450">
                  <a:moveTo>
                    <a:pt x="104146" y="68867"/>
                  </a:moveTo>
                  <a:lnTo>
                    <a:pt x="47498" y="68867"/>
                  </a:lnTo>
                  <a:lnTo>
                    <a:pt x="75655" y="85373"/>
                  </a:lnTo>
                  <a:lnTo>
                    <a:pt x="104146" y="68867"/>
                  </a:lnTo>
                  <a:close/>
                </a:path>
                <a:path w="687704" h="171450">
                  <a:moveTo>
                    <a:pt x="108530" y="66327"/>
                  </a:moveTo>
                  <a:lnTo>
                    <a:pt x="37846" y="66327"/>
                  </a:lnTo>
                  <a:lnTo>
                    <a:pt x="108245" y="66492"/>
                  </a:lnTo>
                  <a:lnTo>
                    <a:pt x="108530" y="6632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AD8D2BAA-4262-4743-FDDE-2483F6ECC77C}"/>
                </a:ext>
              </a:extLst>
            </p:cNvPr>
            <p:cNvSpPr/>
            <p:nvPr/>
          </p:nvSpPr>
          <p:spPr>
            <a:xfrm>
              <a:off x="6248400" y="1905000"/>
              <a:ext cx="2286000" cy="609600"/>
            </a:xfrm>
            <a:custGeom>
              <a:avLst/>
              <a:gdLst/>
              <a:ahLst/>
              <a:cxnLst/>
              <a:rect l="l" t="t" r="r" b="b"/>
              <a:pathLst>
                <a:path w="2286000" h="609600">
                  <a:moveTo>
                    <a:pt x="0" y="609600"/>
                  </a:moveTo>
                  <a:lnTo>
                    <a:pt x="762000" y="6096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  <a:path w="2286000" h="609600">
                  <a:moveTo>
                    <a:pt x="762000" y="609600"/>
                  </a:moveTo>
                  <a:lnTo>
                    <a:pt x="1524000" y="609600"/>
                  </a:lnTo>
                  <a:lnTo>
                    <a:pt x="1524000" y="0"/>
                  </a:lnTo>
                  <a:lnTo>
                    <a:pt x="762000" y="0"/>
                  </a:lnTo>
                  <a:lnTo>
                    <a:pt x="762000" y="609600"/>
                  </a:lnTo>
                  <a:close/>
                </a:path>
                <a:path w="2286000" h="609600">
                  <a:moveTo>
                    <a:pt x="1524000" y="609600"/>
                  </a:moveTo>
                  <a:lnTo>
                    <a:pt x="2286000" y="609600"/>
                  </a:lnTo>
                  <a:lnTo>
                    <a:pt x="2286000" y="0"/>
                  </a:lnTo>
                  <a:lnTo>
                    <a:pt x="1524000" y="0"/>
                  </a:lnTo>
                  <a:lnTo>
                    <a:pt x="1524000" y="609600"/>
                  </a:lnTo>
                  <a:close/>
                </a:path>
                <a:path w="2286000" h="609600">
                  <a:moveTo>
                    <a:pt x="0" y="609600"/>
                  </a:moveTo>
                  <a:lnTo>
                    <a:pt x="762000" y="6096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7">
            <a:extLst>
              <a:ext uri="{FF2B5EF4-FFF2-40B4-BE49-F238E27FC236}">
                <a16:creationId xmlns:a16="http://schemas.microsoft.com/office/drawing/2014/main" id="{47D315DE-1387-1781-F517-CEF82155266B}"/>
              </a:ext>
            </a:extLst>
          </p:cNvPr>
          <p:cNvSpPr txBox="1"/>
          <p:nvPr/>
        </p:nvSpPr>
        <p:spPr>
          <a:xfrm>
            <a:off x="1513713" y="1690688"/>
            <a:ext cx="1339215" cy="64579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 marR="5080" indent="332105">
              <a:lnSpc>
                <a:spcPct val="69600"/>
              </a:lnSpc>
              <a:spcBef>
                <a:spcPts val="975"/>
              </a:spcBef>
            </a:pPr>
            <a:r>
              <a:rPr sz="2400" b="1" spc="-5" dirty="0">
                <a:solidFill>
                  <a:srgbClr val="0000CC"/>
                </a:solidFill>
                <a:latin typeface="Cambria"/>
                <a:cs typeface="Cambria"/>
              </a:rPr>
              <a:t>miss </a:t>
            </a:r>
            <a:r>
              <a:rPr sz="2400" b="1" dirty="0">
                <a:solidFill>
                  <a:srgbClr val="0000CC"/>
                </a:solidFill>
                <a:latin typeface="Cambria"/>
                <a:cs typeface="Cambria"/>
              </a:rPr>
              <a:t> sequ</a:t>
            </a:r>
            <a:r>
              <a:rPr sz="2400" b="1" spc="-10" dirty="0">
                <a:solidFill>
                  <a:srgbClr val="0000CC"/>
                </a:solidFill>
                <a:latin typeface="Cambria"/>
                <a:cs typeface="Cambria"/>
              </a:rPr>
              <a:t>e</a:t>
            </a:r>
            <a:r>
              <a:rPr sz="2400" b="1" dirty="0">
                <a:solidFill>
                  <a:srgbClr val="0000CC"/>
                </a:solidFill>
                <a:latin typeface="Cambria"/>
                <a:cs typeface="Cambria"/>
              </a:rPr>
              <a:t>nce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44992A32-792A-BD3E-8E15-4EC117002CA5}"/>
              </a:ext>
            </a:extLst>
          </p:cNvPr>
          <p:cNvSpPr/>
          <p:nvPr/>
        </p:nvSpPr>
        <p:spPr>
          <a:xfrm>
            <a:off x="2868168" y="1947629"/>
            <a:ext cx="457834" cy="171450"/>
          </a:xfrm>
          <a:custGeom>
            <a:avLst/>
            <a:gdLst/>
            <a:ahLst/>
            <a:cxnLst/>
            <a:rect l="l" t="t" r="r" b="b"/>
            <a:pathLst>
              <a:path w="457835" h="171450">
                <a:moveTo>
                  <a:pt x="381526" y="85578"/>
                </a:moveTo>
                <a:lnTo>
                  <a:pt x="295528" y="135743"/>
                </a:lnTo>
                <a:lnTo>
                  <a:pt x="289921" y="140795"/>
                </a:lnTo>
                <a:lnTo>
                  <a:pt x="286765" y="147395"/>
                </a:lnTo>
                <a:lnTo>
                  <a:pt x="286277" y="154709"/>
                </a:lnTo>
                <a:lnTo>
                  <a:pt x="288671" y="161905"/>
                </a:lnTo>
                <a:lnTo>
                  <a:pt x="293723" y="167512"/>
                </a:lnTo>
                <a:lnTo>
                  <a:pt x="300323" y="170668"/>
                </a:lnTo>
                <a:lnTo>
                  <a:pt x="307637" y="171156"/>
                </a:lnTo>
                <a:lnTo>
                  <a:pt x="314833" y="168763"/>
                </a:lnTo>
                <a:lnTo>
                  <a:pt x="424694" y="104628"/>
                </a:lnTo>
                <a:lnTo>
                  <a:pt x="419480" y="104628"/>
                </a:lnTo>
                <a:lnTo>
                  <a:pt x="419480" y="102088"/>
                </a:lnTo>
                <a:lnTo>
                  <a:pt x="409828" y="102088"/>
                </a:lnTo>
                <a:lnTo>
                  <a:pt x="381526" y="85578"/>
                </a:lnTo>
                <a:close/>
              </a:path>
              <a:path w="457835" h="171450">
                <a:moveTo>
                  <a:pt x="348868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348868" y="104628"/>
                </a:lnTo>
                <a:lnTo>
                  <a:pt x="381526" y="85578"/>
                </a:lnTo>
                <a:lnTo>
                  <a:pt x="348868" y="66528"/>
                </a:lnTo>
                <a:close/>
              </a:path>
              <a:path w="457835" h="171450">
                <a:moveTo>
                  <a:pt x="424694" y="66528"/>
                </a:moveTo>
                <a:lnTo>
                  <a:pt x="419480" y="66528"/>
                </a:lnTo>
                <a:lnTo>
                  <a:pt x="419480" y="104628"/>
                </a:lnTo>
                <a:lnTo>
                  <a:pt x="424694" y="104628"/>
                </a:lnTo>
                <a:lnTo>
                  <a:pt x="457326" y="85578"/>
                </a:lnTo>
                <a:lnTo>
                  <a:pt x="424694" y="66528"/>
                </a:lnTo>
                <a:close/>
              </a:path>
              <a:path w="457835" h="171450">
                <a:moveTo>
                  <a:pt x="409828" y="69068"/>
                </a:moveTo>
                <a:lnTo>
                  <a:pt x="381526" y="85578"/>
                </a:lnTo>
                <a:lnTo>
                  <a:pt x="409828" y="102088"/>
                </a:lnTo>
                <a:lnTo>
                  <a:pt x="409828" y="69068"/>
                </a:lnTo>
                <a:close/>
              </a:path>
              <a:path w="457835" h="171450">
                <a:moveTo>
                  <a:pt x="419480" y="69068"/>
                </a:moveTo>
                <a:lnTo>
                  <a:pt x="409828" y="69068"/>
                </a:lnTo>
                <a:lnTo>
                  <a:pt x="409828" y="102088"/>
                </a:lnTo>
                <a:lnTo>
                  <a:pt x="419480" y="102088"/>
                </a:lnTo>
                <a:lnTo>
                  <a:pt x="419480" y="69068"/>
                </a:lnTo>
                <a:close/>
              </a:path>
              <a:path w="457835" h="171450">
                <a:moveTo>
                  <a:pt x="307637" y="0"/>
                </a:moveTo>
                <a:lnTo>
                  <a:pt x="300323" y="488"/>
                </a:lnTo>
                <a:lnTo>
                  <a:pt x="293723" y="3643"/>
                </a:lnTo>
                <a:lnTo>
                  <a:pt x="288671" y="9251"/>
                </a:lnTo>
                <a:lnTo>
                  <a:pt x="286277" y="16446"/>
                </a:lnTo>
                <a:lnTo>
                  <a:pt x="286766" y="23760"/>
                </a:lnTo>
                <a:lnTo>
                  <a:pt x="289921" y="30360"/>
                </a:lnTo>
                <a:lnTo>
                  <a:pt x="295528" y="35413"/>
                </a:lnTo>
                <a:lnTo>
                  <a:pt x="381526" y="85578"/>
                </a:lnTo>
                <a:lnTo>
                  <a:pt x="409828" y="69068"/>
                </a:lnTo>
                <a:lnTo>
                  <a:pt x="419480" y="69068"/>
                </a:lnTo>
                <a:lnTo>
                  <a:pt x="419480" y="66528"/>
                </a:lnTo>
                <a:lnTo>
                  <a:pt x="424694" y="66528"/>
                </a:lnTo>
                <a:lnTo>
                  <a:pt x="314833" y="2393"/>
                </a:lnTo>
                <a:lnTo>
                  <a:pt x="307637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BDA3D02A-73FF-7811-06F9-0D1CB3A6329F}"/>
              </a:ext>
            </a:extLst>
          </p:cNvPr>
          <p:cNvSpPr txBox="1"/>
          <p:nvPr/>
        </p:nvSpPr>
        <p:spPr>
          <a:xfrm>
            <a:off x="6120383" y="2772923"/>
            <a:ext cx="508000" cy="357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sz="2400" dirty="0">
                <a:latin typeface="Cambria"/>
                <a:cs typeface="Cambria"/>
              </a:rPr>
              <a:t>503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3781951E-16E9-2B7A-8E6C-1FC882F14851}"/>
              </a:ext>
            </a:extLst>
          </p:cNvPr>
          <p:cNvSpPr/>
          <p:nvPr/>
        </p:nvSpPr>
        <p:spPr>
          <a:xfrm>
            <a:off x="6754368" y="2642808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0" y="609600"/>
                </a:moveTo>
                <a:lnTo>
                  <a:pt x="762000" y="609600"/>
                </a:lnTo>
                <a:lnTo>
                  <a:pt x="7620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546DF894-0BB3-81CE-A1A7-F11BD5F7BBE1}"/>
              </a:ext>
            </a:extLst>
          </p:cNvPr>
          <p:cNvSpPr txBox="1"/>
          <p:nvPr/>
        </p:nvSpPr>
        <p:spPr>
          <a:xfrm>
            <a:off x="6882384" y="2772923"/>
            <a:ext cx="508000" cy="357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sz="2400" dirty="0">
                <a:latin typeface="Cambria"/>
                <a:cs typeface="Cambria"/>
              </a:rPr>
              <a:t>504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EB19A531-72FA-5A2E-B43F-83A9E1D9E91C}"/>
              </a:ext>
            </a:extLst>
          </p:cNvPr>
          <p:cNvSpPr/>
          <p:nvPr/>
        </p:nvSpPr>
        <p:spPr>
          <a:xfrm>
            <a:off x="7516368" y="2642808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0" y="609600"/>
                </a:moveTo>
                <a:lnTo>
                  <a:pt x="762000" y="609600"/>
                </a:lnTo>
                <a:lnTo>
                  <a:pt x="7620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3">
            <a:extLst>
              <a:ext uri="{FF2B5EF4-FFF2-40B4-BE49-F238E27FC236}">
                <a16:creationId xmlns:a16="http://schemas.microsoft.com/office/drawing/2014/main" id="{97D4888B-A989-5862-9FCF-A4842BDDEA52}"/>
              </a:ext>
            </a:extLst>
          </p:cNvPr>
          <p:cNvSpPr txBox="1"/>
          <p:nvPr/>
        </p:nvSpPr>
        <p:spPr>
          <a:xfrm>
            <a:off x="7644384" y="2772923"/>
            <a:ext cx="508000" cy="357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sz="2400" dirty="0">
                <a:latin typeface="Cambria"/>
                <a:cs typeface="Cambria"/>
              </a:rPr>
              <a:t>501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7" name="object 24">
            <a:extLst>
              <a:ext uri="{FF2B5EF4-FFF2-40B4-BE49-F238E27FC236}">
                <a16:creationId xmlns:a16="http://schemas.microsoft.com/office/drawing/2014/main" id="{21356BD9-5F01-D4CC-CF57-E59FAE0E72AA}"/>
              </a:ext>
            </a:extLst>
          </p:cNvPr>
          <p:cNvSpPr txBox="1"/>
          <p:nvPr/>
        </p:nvSpPr>
        <p:spPr>
          <a:xfrm>
            <a:off x="8935465" y="2772923"/>
            <a:ext cx="608965" cy="357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sz="2400" b="1" spc="-114" dirty="0">
                <a:solidFill>
                  <a:srgbClr val="FF0000"/>
                </a:solidFill>
                <a:latin typeface="Cambria"/>
                <a:cs typeface="Cambria"/>
              </a:rPr>
              <a:t>F</a:t>
            </a:r>
            <a:r>
              <a:rPr sz="2400" b="1" spc="-5" dirty="0">
                <a:solidFill>
                  <a:srgbClr val="FF0000"/>
                </a:solidFill>
                <a:latin typeface="Cambria"/>
                <a:cs typeface="Cambria"/>
              </a:rPr>
              <a:t>ail!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28" name="object 25">
            <a:extLst>
              <a:ext uri="{FF2B5EF4-FFF2-40B4-BE49-F238E27FC236}">
                <a16:creationId xmlns:a16="http://schemas.microsoft.com/office/drawing/2014/main" id="{3AA38CED-DFDA-9975-547D-863A6D8D0276}"/>
              </a:ext>
            </a:extLst>
          </p:cNvPr>
          <p:cNvGrpSpPr/>
          <p:nvPr/>
        </p:nvGrpSpPr>
        <p:grpSpPr>
          <a:xfrm>
            <a:off x="5979668" y="2630108"/>
            <a:ext cx="4051300" cy="635000"/>
            <a:chOff x="6235700" y="1892300"/>
            <a:chExt cx="4051300" cy="635000"/>
          </a:xfrm>
        </p:grpSpPr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1A804683-E278-93F1-196C-26DF2EDC4D79}"/>
                </a:ext>
              </a:extLst>
            </p:cNvPr>
            <p:cNvSpPr/>
            <p:nvPr/>
          </p:nvSpPr>
          <p:spPr>
            <a:xfrm>
              <a:off x="8534273" y="2124676"/>
              <a:ext cx="534035" cy="171450"/>
            </a:xfrm>
            <a:custGeom>
              <a:avLst/>
              <a:gdLst/>
              <a:ahLst/>
              <a:cxnLst/>
              <a:rect l="l" t="t" r="r" b="b"/>
              <a:pathLst>
                <a:path w="534034" h="171450">
                  <a:moveTo>
                    <a:pt x="149941" y="0"/>
                  </a:moveTo>
                  <a:lnTo>
                    <a:pt x="142748" y="2446"/>
                  </a:lnTo>
                  <a:lnTo>
                    <a:pt x="0" y="85123"/>
                  </a:lnTo>
                  <a:lnTo>
                    <a:pt x="142240" y="168689"/>
                  </a:lnTo>
                  <a:lnTo>
                    <a:pt x="149435" y="171156"/>
                  </a:lnTo>
                  <a:lnTo>
                    <a:pt x="156749" y="170705"/>
                  </a:lnTo>
                  <a:lnTo>
                    <a:pt x="163349" y="167564"/>
                  </a:lnTo>
                  <a:lnTo>
                    <a:pt x="168401" y="161958"/>
                  </a:lnTo>
                  <a:lnTo>
                    <a:pt x="170866" y="154763"/>
                  </a:lnTo>
                  <a:lnTo>
                    <a:pt x="170402" y="147448"/>
                  </a:lnTo>
                  <a:lnTo>
                    <a:pt x="167223" y="140848"/>
                  </a:lnTo>
                  <a:lnTo>
                    <a:pt x="161544" y="135796"/>
                  </a:lnTo>
                  <a:lnTo>
                    <a:pt x="108213" y="104499"/>
                  </a:lnTo>
                  <a:lnTo>
                    <a:pt x="37846" y="104300"/>
                  </a:lnTo>
                  <a:lnTo>
                    <a:pt x="37846" y="66200"/>
                  </a:lnTo>
                  <a:lnTo>
                    <a:pt x="108700" y="66200"/>
                  </a:lnTo>
                  <a:lnTo>
                    <a:pt x="161925" y="35339"/>
                  </a:lnTo>
                  <a:lnTo>
                    <a:pt x="167550" y="30360"/>
                  </a:lnTo>
                  <a:lnTo>
                    <a:pt x="170735" y="23798"/>
                  </a:lnTo>
                  <a:lnTo>
                    <a:pt x="171229" y="16498"/>
                  </a:lnTo>
                  <a:lnTo>
                    <a:pt x="168782" y="9304"/>
                  </a:lnTo>
                  <a:lnTo>
                    <a:pt x="163804" y="3679"/>
                  </a:lnTo>
                  <a:lnTo>
                    <a:pt x="157241" y="494"/>
                  </a:lnTo>
                  <a:lnTo>
                    <a:pt x="149941" y="0"/>
                  </a:lnTo>
                  <a:close/>
                </a:path>
                <a:path w="534034" h="171450">
                  <a:moveTo>
                    <a:pt x="108326" y="66417"/>
                  </a:moveTo>
                  <a:lnTo>
                    <a:pt x="75628" y="85376"/>
                  </a:lnTo>
                  <a:lnTo>
                    <a:pt x="108213" y="104499"/>
                  </a:lnTo>
                  <a:lnTo>
                    <a:pt x="533526" y="105697"/>
                  </a:lnTo>
                  <a:lnTo>
                    <a:pt x="533526" y="67724"/>
                  </a:lnTo>
                  <a:lnTo>
                    <a:pt x="108326" y="66417"/>
                  </a:lnTo>
                  <a:close/>
                </a:path>
                <a:path w="534034" h="171450">
                  <a:moveTo>
                    <a:pt x="37846" y="66200"/>
                  </a:moveTo>
                  <a:lnTo>
                    <a:pt x="37846" y="104300"/>
                  </a:lnTo>
                  <a:lnTo>
                    <a:pt x="108213" y="104499"/>
                  </a:lnTo>
                  <a:lnTo>
                    <a:pt x="103547" y="101760"/>
                  </a:lnTo>
                  <a:lnTo>
                    <a:pt x="47371" y="101760"/>
                  </a:lnTo>
                  <a:lnTo>
                    <a:pt x="47498" y="68867"/>
                  </a:lnTo>
                  <a:lnTo>
                    <a:pt x="104100" y="68867"/>
                  </a:lnTo>
                  <a:lnTo>
                    <a:pt x="108326" y="66417"/>
                  </a:lnTo>
                  <a:lnTo>
                    <a:pt x="37846" y="66200"/>
                  </a:lnTo>
                  <a:close/>
                </a:path>
                <a:path w="534034" h="171450">
                  <a:moveTo>
                    <a:pt x="47498" y="68867"/>
                  </a:moveTo>
                  <a:lnTo>
                    <a:pt x="47371" y="101760"/>
                  </a:lnTo>
                  <a:lnTo>
                    <a:pt x="75628" y="85376"/>
                  </a:lnTo>
                  <a:lnTo>
                    <a:pt x="47498" y="68867"/>
                  </a:lnTo>
                  <a:close/>
                </a:path>
                <a:path w="534034" h="171450">
                  <a:moveTo>
                    <a:pt x="75628" y="85376"/>
                  </a:moveTo>
                  <a:lnTo>
                    <a:pt x="47371" y="101760"/>
                  </a:lnTo>
                  <a:lnTo>
                    <a:pt x="103547" y="101760"/>
                  </a:lnTo>
                  <a:lnTo>
                    <a:pt x="75628" y="85376"/>
                  </a:lnTo>
                  <a:close/>
                </a:path>
                <a:path w="534034" h="171450">
                  <a:moveTo>
                    <a:pt x="104100" y="68867"/>
                  </a:moveTo>
                  <a:lnTo>
                    <a:pt x="47498" y="68867"/>
                  </a:lnTo>
                  <a:lnTo>
                    <a:pt x="75628" y="85376"/>
                  </a:lnTo>
                  <a:lnTo>
                    <a:pt x="104100" y="68867"/>
                  </a:lnTo>
                  <a:close/>
                </a:path>
                <a:path w="534034" h="171450">
                  <a:moveTo>
                    <a:pt x="108700" y="66200"/>
                  </a:moveTo>
                  <a:lnTo>
                    <a:pt x="37846" y="66200"/>
                  </a:lnTo>
                  <a:lnTo>
                    <a:pt x="108326" y="66417"/>
                  </a:lnTo>
                  <a:lnTo>
                    <a:pt x="108700" y="6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64590AC0-53A5-E91B-E605-293D29028B56}"/>
                </a:ext>
              </a:extLst>
            </p:cNvPr>
            <p:cNvSpPr/>
            <p:nvPr/>
          </p:nvSpPr>
          <p:spPr>
            <a:xfrm>
              <a:off x="6248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762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0" y="6096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B45BD69B-2660-B7E9-0F58-BA229ECB8E60}"/>
                </a:ext>
              </a:extLst>
            </p:cNvPr>
            <p:cNvSpPr/>
            <p:nvPr/>
          </p:nvSpPr>
          <p:spPr>
            <a:xfrm>
              <a:off x="6248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762000" y="6096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26E4D32C-DD87-7831-B6C4-D27826CDAF5E}"/>
                </a:ext>
              </a:extLst>
            </p:cNvPr>
            <p:cNvSpPr/>
            <p:nvPr/>
          </p:nvSpPr>
          <p:spPr>
            <a:xfrm>
              <a:off x="7010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762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0" y="6096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DF582AEA-61BF-5861-90BD-C6F60CDB91C8}"/>
                </a:ext>
              </a:extLst>
            </p:cNvPr>
            <p:cNvSpPr/>
            <p:nvPr/>
          </p:nvSpPr>
          <p:spPr>
            <a:xfrm>
              <a:off x="7010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762000" y="6096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48248FA2-FB61-85FB-761A-2D1F25A66BB2}"/>
                </a:ext>
              </a:extLst>
            </p:cNvPr>
            <p:cNvSpPr/>
            <p:nvPr/>
          </p:nvSpPr>
          <p:spPr>
            <a:xfrm>
              <a:off x="7772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762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762000" y="6096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EB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48CFB2C5-38E6-7349-97D3-3E55EEF8B682}"/>
                </a:ext>
              </a:extLst>
            </p:cNvPr>
            <p:cNvSpPr/>
            <p:nvPr/>
          </p:nvSpPr>
          <p:spPr>
            <a:xfrm>
              <a:off x="7772400" y="19050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762000" y="60960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4CCB46F8-BAA5-5CB6-E725-48726D85BA2B}"/>
                </a:ext>
              </a:extLst>
            </p:cNvPr>
            <p:cNvSpPr/>
            <p:nvPr/>
          </p:nvSpPr>
          <p:spPr>
            <a:xfrm>
              <a:off x="8991600" y="1981200"/>
              <a:ext cx="1295400" cy="533400"/>
            </a:xfrm>
            <a:custGeom>
              <a:avLst/>
              <a:gdLst/>
              <a:ahLst/>
              <a:cxnLst/>
              <a:rect l="l" t="t" r="r" b="b"/>
              <a:pathLst>
                <a:path w="1295400" h="533400">
                  <a:moveTo>
                    <a:pt x="12954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295400" y="533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4">
            <a:extLst>
              <a:ext uri="{FF2B5EF4-FFF2-40B4-BE49-F238E27FC236}">
                <a16:creationId xmlns:a16="http://schemas.microsoft.com/office/drawing/2014/main" id="{DB3BA66B-7A19-E70C-A456-584E3D887ED4}"/>
              </a:ext>
            </a:extLst>
          </p:cNvPr>
          <p:cNvSpPr txBox="1"/>
          <p:nvPr/>
        </p:nvSpPr>
        <p:spPr>
          <a:xfrm>
            <a:off x="8766810" y="2732216"/>
            <a:ext cx="1234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85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2400" b="1" spc="-40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r>
              <a:rPr sz="2400" b="1" spc="-5" dirty="0">
                <a:solidFill>
                  <a:srgbClr val="FF0000"/>
                </a:solidFill>
                <a:latin typeface="Cambria"/>
                <a:cs typeface="Cambria"/>
              </a:rPr>
              <a:t>ained!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8" name="object 35">
            <a:extLst>
              <a:ext uri="{FF2B5EF4-FFF2-40B4-BE49-F238E27FC236}">
                <a16:creationId xmlns:a16="http://schemas.microsoft.com/office/drawing/2014/main" id="{4B89C81C-0016-5FB1-5418-B157FCB789A6}"/>
              </a:ext>
            </a:extLst>
          </p:cNvPr>
          <p:cNvSpPr/>
          <p:nvPr/>
        </p:nvSpPr>
        <p:spPr>
          <a:xfrm>
            <a:off x="8202040" y="2862539"/>
            <a:ext cx="459105" cy="171450"/>
          </a:xfrm>
          <a:custGeom>
            <a:avLst/>
            <a:gdLst/>
            <a:ahLst/>
            <a:cxnLst/>
            <a:rect l="l" t="t" r="r" b="b"/>
            <a:pathLst>
              <a:path w="459104" h="171450">
                <a:moveTo>
                  <a:pt x="149996" y="0"/>
                </a:moveTo>
                <a:lnTo>
                  <a:pt x="142875" y="2391"/>
                </a:lnTo>
                <a:lnTo>
                  <a:pt x="0" y="85068"/>
                </a:lnTo>
                <a:lnTo>
                  <a:pt x="142240" y="168634"/>
                </a:lnTo>
                <a:lnTo>
                  <a:pt x="149415" y="171118"/>
                </a:lnTo>
                <a:lnTo>
                  <a:pt x="156686" y="170697"/>
                </a:lnTo>
                <a:lnTo>
                  <a:pt x="163242" y="167562"/>
                </a:lnTo>
                <a:lnTo>
                  <a:pt x="168275" y="161903"/>
                </a:lnTo>
                <a:lnTo>
                  <a:pt x="170759" y="154781"/>
                </a:lnTo>
                <a:lnTo>
                  <a:pt x="170338" y="147504"/>
                </a:lnTo>
                <a:lnTo>
                  <a:pt x="167203" y="140918"/>
                </a:lnTo>
                <a:lnTo>
                  <a:pt x="161544" y="135868"/>
                </a:lnTo>
                <a:lnTo>
                  <a:pt x="108158" y="104478"/>
                </a:lnTo>
                <a:lnTo>
                  <a:pt x="37719" y="104245"/>
                </a:lnTo>
                <a:lnTo>
                  <a:pt x="37973" y="66145"/>
                </a:lnTo>
                <a:lnTo>
                  <a:pt x="108817" y="66145"/>
                </a:lnTo>
                <a:lnTo>
                  <a:pt x="161925" y="35411"/>
                </a:lnTo>
                <a:lnTo>
                  <a:pt x="167606" y="30378"/>
                </a:lnTo>
                <a:lnTo>
                  <a:pt x="170799" y="23822"/>
                </a:lnTo>
                <a:lnTo>
                  <a:pt x="171301" y="16551"/>
                </a:lnTo>
                <a:lnTo>
                  <a:pt x="168909" y="9376"/>
                </a:lnTo>
                <a:lnTo>
                  <a:pt x="163859" y="3694"/>
                </a:lnTo>
                <a:lnTo>
                  <a:pt x="157273" y="502"/>
                </a:lnTo>
                <a:lnTo>
                  <a:pt x="149996" y="0"/>
                </a:lnTo>
                <a:close/>
              </a:path>
              <a:path w="459104" h="171450">
                <a:moveTo>
                  <a:pt x="108377" y="66400"/>
                </a:moveTo>
                <a:lnTo>
                  <a:pt x="75628" y="85352"/>
                </a:lnTo>
                <a:lnTo>
                  <a:pt x="108158" y="104478"/>
                </a:lnTo>
                <a:lnTo>
                  <a:pt x="458850" y="105642"/>
                </a:lnTo>
                <a:lnTo>
                  <a:pt x="458977" y="67669"/>
                </a:lnTo>
                <a:lnTo>
                  <a:pt x="108377" y="66400"/>
                </a:lnTo>
                <a:close/>
              </a:path>
              <a:path w="459104" h="171450">
                <a:moveTo>
                  <a:pt x="37973" y="66145"/>
                </a:moveTo>
                <a:lnTo>
                  <a:pt x="37719" y="104245"/>
                </a:lnTo>
                <a:lnTo>
                  <a:pt x="108158" y="104478"/>
                </a:lnTo>
                <a:lnTo>
                  <a:pt x="103441" y="101705"/>
                </a:lnTo>
                <a:lnTo>
                  <a:pt x="47371" y="101705"/>
                </a:lnTo>
                <a:lnTo>
                  <a:pt x="47498" y="68812"/>
                </a:lnTo>
                <a:lnTo>
                  <a:pt x="104209" y="68812"/>
                </a:lnTo>
                <a:lnTo>
                  <a:pt x="108377" y="66400"/>
                </a:lnTo>
                <a:lnTo>
                  <a:pt x="37973" y="66145"/>
                </a:lnTo>
                <a:close/>
              </a:path>
              <a:path w="459104" h="171450">
                <a:moveTo>
                  <a:pt x="47498" y="68812"/>
                </a:moveTo>
                <a:lnTo>
                  <a:pt x="47371" y="101705"/>
                </a:lnTo>
                <a:lnTo>
                  <a:pt x="75628" y="85352"/>
                </a:lnTo>
                <a:lnTo>
                  <a:pt x="47498" y="68812"/>
                </a:lnTo>
                <a:close/>
              </a:path>
              <a:path w="459104" h="171450">
                <a:moveTo>
                  <a:pt x="75628" y="85352"/>
                </a:moveTo>
                <a:lnTo>
                  <a:pt x="47371" y="101705"/>
                </a:lnTo>
                <a:lnTo>
                  <a:pt x="103441" y="101705"/>
                </a:lnTo>
                <a:lnTo>
                  <a:pt x="75628" y="85352"/>
                </a:lnTo>
                <a:close/>
              </a:path>
              <a:path w="459104" h="171450">
                <a:moveTo>
                  <a:pt x="104209" y="68812"/>
                </a:moveTo>
                <a:lnTo>
                  <a:pt x="47498" y="68812"/>
                </a:lnTo>
                <a:lnTo>
                  <a:pt x="75628" y="85352"/>
                </a:lnTo>
                <a:lnTo>
                  <a:pt x="104209" y="68812"/>
                </a:lnTo>
                <a:close/>
              </a:path>
              <a:path w="459104" h="171450">
                <a:moveTo>
                  <a:pt x="108817" y="66145"/>
                </a:moveTo>
                <a:lnTo>
                  <a:pt x="37973" y="66145"/>
                </a:lnTo>
                <a:lnTo>
                  <a:pt x="108377" y="66400"/>
                </a:lnTo>
                <a:lnTo>
                  <a:pt x="108817" y="6614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6">
            <a:extLst>
              <a:ext uri="{FF2B5EF4-FFF2-40B4-BE49-F238E27FC236}">
                <a16:creationId xmlns:a16="http://schemas.microsoft.com/office/drawing/2014/main" id="{4BBA2B6B-A2E5-BFEA-CA2C-2259E66532DD}"/>
              </a:ext>
            </a:extLst>
          </p:cNvPr>
          <p:cNvSpPr txBox="1"/>
          <p:nvPr/>
        </p:nvSpPr>
        <p:spPr>
          <a:xfrm>
            <a:off x="3783329" y="2745042"/>
            <a:ext cx="4693285" cy="77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1574165" algn="l"/>
                <a:tab pos="2336800" algn="l"/>
                <a:tab pos="3098800" algn="l"/>
                <a:tab pos="3860800" algn="l"/>
                <a:tab pos="4501515" algn="l"/>
              </a:tabLst>
            </a:pPr>
            <a:r>
              <a:rPr sz="2400" dirty="0">
                <a:latin typeface="Cambria"/>
                <a:cs typeface="Cambria"/>
              </a:rPr>
              <a:t>100	102	104	504	501	499	</a:t>
            </a:r>
            <a:r>
              <a:rPr sz="3600" b="1" spc="-7" baseline="16203" dirty="0">
                <a:solidFill>
                  <a:srgbClr val="FF0000"/>
                </a:solidFill>
                <a:latin typeface="Cambria"/>
                <a:cs typeface="Cambria"/>
              </a:rPr>
              <a:t>!</a:t>
            </a:r>
            <a:endParaRPr sz="3600" baseline="16203" dirty="0">
              <a:latin typeface="Cambria"/>
              <a:cs typeface="Cambria"/>
            </a:endParaRPr>
          </a:p>
          <a:p>
            <a:pPr marL="103505">
              <a:lnSpc>
                <a:spcPct val="100000"/>
              </a:lnSpc>
              <a:spcBef>
                <a:spcPts val="145"/>
              </a:spcBef>
              <a:tabLst>
                <a:tab pos="792480" algn="l"/>
                <a:tab pos="1684020" algn="l"/>
                <a:tab pos="2466340" algn="l"/>
                <a:tab pos="3117215" algn="l"/>
                <a:tab pos="3894454" algn="l"/>
              </a:tabLst>
            </a:pPr>
            <a:r>
              <a:rPr sz="3600" spc="-7" baseline="-15046" dirty="0">
                <a:latin typeface="Cambria"/>
                <a:cs typeface="Cambria"/>
              </a:rPr>
              <a:t>1</a:t>
            </a:r>
            <a:r>
              <a:rPr sz="2400" spc="-7" baseline="3472" dirty="0">
                <a:latin typeface="Cambria"/>
                <a:cs typeface="Cambria"/>
              </a:rPr>
              <a:t>st	</a:t>
            </a:r>
            <a:r>
              <a:rPr sz="3600" spc="-7" baseline="-15046" dirty="0">
                <a:latin typeface="Cambria"/>
                <a:cs typeface="Cambria"/>
              </a:rPr>
              <a:t>2</a:t>
            </a:r>
            <a:r>
              <a:rPr sz="2400" spc="-7" baseline="3472" dirty="0">
                <a:latin typeface="Cambria"/>
                <a:cs typeface="Cambria"/>
              </a:rPr>
              <a:t>nd	</a:t>
            </a:r>
            <a:r>
              <a:rPr sz="3600" spc="-15" baseline="-15046" dirty="0">
                <a:latin typeface="Cambria"/>
                <a:cs typeface="Cambria"/>
              </a:rPr>
              <a:t>3</a:t>
            </a:r>
            <a:r>
              <a:rPr sz="2400" spc="-15" baseline="3472" dirty="0">
                <a:latin typeface="Cambria"/>
                <a:cs typeface="Cambria"/>
              </a:rPr>
              <a:t>rd	</a:t>
            </a:r>
            <a:r>
              <a:rPr sz="3600" spc="-7" baseline="-16203" dirty="0">
                <a:latin typeface="Cambria"/>
                <a:cs typeface="Cambria"/>
              </a:rPr>
              <a:t>1</a:t>
            </a:r>
            <a:r>
              <a:rPr sz="1600" spc="-5" dirty="0">
                <a:latin typeface="Cambria"/>
                <a:cs typeface="Cambria"/>
              </a:rPr>
              <a:t>st	</a:t>
            </a:r>
            <a:r>
              <a:rPr sz="3600" spc="-7" baseline="-15046" dirty="0">
                <a:latin typeface="Cambria"/>
                <a:cs typeface="Cambria"/>
              </a:rPr>
              <a:t>2</a:t>
            </a:r>
            <a:r>
              <a:rPr sz="2400" spc="-7" baseline="3472" dirty="0">
                <a:latin typeface="Cambria"/>
                <a:cs typeface="Cambria"/>
              </a:rPr>
              <a:t>nd	</a:t>
            </a:r>
            <a:r>
              <a:rPr sz="3600" spc="-30" baseline="-15046" dirty="0">
                <a:latin typeface="Cambria"/>
                <a:cs typeface="Cambria"/>
              </a:rPr>
              <a:t>3</a:t>
            </a:r>
            <a:r>
              <a:rPr sz="2400" spc="-30" baseline="3472" dirty="0">
                <a:latin typeface="Cambria"/>
                <a:cs typeface="Cambria"/>
              </a:rPr>
              <a:t>rd</a:t>
            </a:r>
            <a:endParaRPr sz="2400" baseline="3472" dirty="0">
              <a:latin typeface="Cambria"/>
              <a:cs typeface="Cambria"/>
            </a:endParaRPr>
          </a:p>
        </p:txBody>
      </p:sp>
      <p:grpSp>
        <p:nvGrpSpPr>
          <p:cNvPr id="40" name="object 37">
            <a:extLst>
              <a:ext uri="{FF2B5EF4-FFF2-40B4-BE49-F238E27FC236}">
                <a16:creationId xmlns:a16="http://schemas.microsoft.com/office/drawing/2014/main" id="{2E6EC6DB-5EBE-A656-3211-9EF4CA81B835}"/>
              </a:ext>
            </a:extLst>
          </p:cNvPr>
          <p:cNvGrpSpPr/>
          <p:nvPr/>
        </p:nvGrpSpPr>
        <p:grpSpPr>
          <a:xfrm>
            <a:off x="1604772" y="4006787"/>
            <a:ext cx="8845550" cy="906780"/>
            <a:chOff x="1860804" y="3268979"/>
            <a:chExt cx="8845550" cy="906780"/>
          </a:xfrm>
        </p:grpSpPr>
        <p:pic>
          <p:nvPicPr>
            <p:cNvPr id="41" name="object 38">
              <a:extLst>
                <a:ext uri="{FF2B5EF4-FFF2-40B4-BE49-F238E27FC236}">
                  <a16:creationId xmlns:a16="http://schemas.microsoft.com/office/drawing/2014/main" id="{83BA8D34-F721-FF35-375B-0EDF29D2198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3098" y="3337576"/>
              <a:ext cx="8763003" cy="838167"/>
            </a:xfrm>
            <a:prstGeom prst="rect">
              <a:avLst/>
            </a:prstGeom>
          </p:spPr>
        </p:pic>
        <p:pic>
          <p:nvPicPr>
            <p:cNvPr id="42" name="object 39">
              <a:extLst>
                <a:ext uri="{FF2B5EF4-FFF2-40B4-BE49-F238E27FC236}">
                  <a16:creationId xmlns:a16="http://schemas.microsoft.com/office/drawing/2014/main" id="{CDF10E6D-A13C-E895-8521-DFBEE995283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0804" y="3268979"/>
              <a:ext cx="8657844" cy="906780"/>
            </a:xfrm>
            <a:prstGeom prst="rect">
              <a:avLst/>
            </a:prstGeom>
          </p:spPr>
        </p:pic>
        <p:sp>
          <p:nvSpPr>
            <p:cNvPr id="43" name="object 40">
              <a:extLst>
                <a:ext uri="{FF2B5EF4-FFF2-40B4-BE49-F238E27FC236}">
                  <a16:creationId xmlns:a16="http://schemas.microsoft.com/office/drawing/2014/main" id="{4CDB2980-4309-CC16-7F11-ED08904A025A}"/>
                </a:ext>
              </a:extLst>
            </p:cNvPr>
            <p:cNvSpPr/>
            <p:nvPr/>
          </p:nvSpPr>
          <p:spPr>
            <a:xfrm>
              <a:off x="1981200" y="3352799"/>
              <a:ext cx="8686800" cy="762000"/>
            </a:xfrm>
            <a:custGeom>
              <a:avLst/>
              <a:gdLst/>
              <a:ahLst/>
              <a:cxnLst/>
              <a:rect l="l" t="t" r="r" b="b"/>
              <a:pathLst>
                <a:path w="8686800" h="762000">
                  <a:moveTo>
                    <a:pt x="8559800" y="0"/>
                  </a:moveTo>
                  <a:lnTo>
                    <a:pt x="127000" y="0"/>
                  </a:lnTo>
                  <a:lnTo>
                    <a:pt x="77581" y="9985"/>
                  </a:lnTo>
                  <a:lnTo>
                    <a:pt x="37211" y="37211"/>
                  </a:lnTo>
                  <a:lnTo>
                    <a:pt x="9985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5" y="684418"/>
                  </a:lnTo>
                  <a:lnTo>
                    <a:pt x="37210" y="724788"/>
                  </a:lnTo>
                  <a:lnTo>
                    <a:pt x="77581" y="752014"/>
                  </a:lnTo>
                  <a:lnTo>
                    <a:pt x="127000" y="762000"/>
                  </a:lnTo>
                  <a:lnTo>
                    <a:pt x="8559800" y="762000"/>
                  </a:lnTo>
                  <a:lnTo>
                    <a:pt x="8609218" y="752014"/>
                  </a:lnTo>
                  <a:lnTo>
                    <a:pt x="8649589" y="724789"/>
                  </a:lnTo>
                  <a:lnTo>
                    <a:pt x="8676814" y="684418"/>
                  </a:lnTo>
                  <a:lnTo>
                    <a:pt x="8686800" y="635000"/>
                  </a:lnTo>
                  <a:lnTo>
                    <a:pt x="8686800" y="127000"/>
                  </a:lnTo>
                  <a:lnTo>
                    <a:pt x="8676814" y="77581"/>
                  </a:lnTo>
                  <a:lnTo>
                    <a:pt x="8649589" y="37211"/>
                  </a:lnTo>
                  <a:lnTo>
                    <a:pt x="8609218" y="9985"/>
                  </a:lnTo>
                  <a:lnTo>
                    <a:pt x="85598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EDA8661A-95B3-DF8B-8636-17F3E1D50C61}"/>
                </a:ext>
              </a:extLst>
            </p:cNvPr>
            <p:cNvSpPr/>
            <p:nvPr/>
          </p:nvSpPr>
          <p:spPr>
            <a:xfrm>
              <a:off x="1981200" y="3352799"/>
              <a:ext cx="8686800" cy="762000"/>
            </a:xfrm>
            <a:custGeom>
              <a:avLst/>
              <a:gdLst/>
              <a:ahLst/>
              <a:cxnLst/>
              <a:rect l="l" t="t" r="r" b="b"/>
              <a:pathLst>
                <a:path w="8686800" h="762000">
                  <a:moveTo>
                    <a:pt x="0" y="127000"/>
                  </a:moveTo>
                  <a:lnTo>
                    <a:pt x="9985" y="77581"/>
                  </a:lnTo>
                  <a:lnTo>
                    <a:pt x="37211" y="37211"/>
                  </a:lnTo>
                  <a:lnTo>
                    <a:pt x="77581" y="9985"/>
                  </a:lnTo>
                  <a:lnTo>
                    <a:pt x="127000" y="0"/>
                  </a:lnTo>
                  <a:lnTo>
                    <a:pt x="8559800" y="0"/>
                  </a:lnTo>
                  <a:lnTo>
                    <a:pt x="8609218" y="9985"/>
                  </a:lnTo>
                  <a:lnTo>
                    <a:pt x="8649589" y="37211"/>
                  </a:lnTo>
                  <a:lnTo>
                    <a:pt x="8676814" y="77581"/>
                  </a:lnTo>
                  <a:lnTo>
                    <a:pt x="8686800" y="127000"/>
                  </a:lnTo>
                  <a:lnTo>
                    <a:pt x="8686800" y="635000"/>
                  </a:lnTo>
                  <a:lnTo>
                    <a:pt x="8676814" y="684418"/>
                  </a:lnTo>
                  <a:lnTo>
                    <a:pt x="8649589" y="724789"/>
                  </a:lnTo>
                  <a:lnTo>
                    <a:pt x="8609218" y="752014"/>
                  </a:lnTo>
                  <a:lnTo>
                    <a:pt x="8559800" y="762000"/>
                  </a:lnTo>
                  <a:lnTo>
                    <a:pt x="127000" y="762000"/>
                  </a:lnTo>
                  <a:lnTo>
                    <a:pt x="77581" y="752014"/>
                  </a:lnTo>
                  <a:lnTo>
                    <a:pt x="37210" y="724788"/>
                  </a:lnTo>
                  <a:lnTo>
                    <a:pt x="9985" y="684418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2">
            <a:extLst>
              <a:ext uri="{FF2B5EF4-FFF2-40B4-BE49-F238E27FC236}">
                <a16:creationId xmlns:a16="http://schemas.microsoft.com/office/drawing/2014/main" id="{A8A609F2-F789-F336-47B6-D37B56BB0606}"/>
              </a:ext>
            </a:extLst>
          </p:cNvPr>
          <p:cNvSpPr txBox="1"/>
          <p:nvPr/>
        </p:nvSpPr>
        <p:spPr>
          <a:xfrm>
            <a:off x="1841372" y="3448700"/>
            <a:ext cx="8049895" cy="109601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75895" algn="ctr">
              <a:lnSpc>
                <a:spcPct val="100000"/>
              </a:lnSpc>
              <a:spcBef>
                <a:spcPts val="1185"/>
              </a:spcBef>
              <a:tabLst>
                <a:tab pos="1776095" algn="l"/>
                <a:tab pos="2538095" algn="l"/>
                <a:tab pos="3985895" algn="l"/>
              </a:tabLst>
            </a:pPr>
            <a:r>
              <a:rPr sz="3600" spc="-7" baseline="2314" dirty="0">
                <a:latin typeface="Cambria"/>
                <a:cs typeface="Cambria"/>
              </a:rPr>
              <a:t>miss</a:t>
            </a:r>
            <a:r>
              <a:rPr sz="3600" spc="667" baseline="2314" dirty="0">
                <a:latin typeface="Cambria"/>
                <a:cs typeface="Cambria"/>
              </a:rPr>
              <a:t> </a:t>
            </a:r>
            <a:r>
              <a:rPr sz="3600" spc="-7" baseline="2314" dirty="0" err="1">
                <a:latin typeface="Cambria"/>
                <a:cs typeface="Cambria"/>
              </a:rPr>
              <a:t>miss</a:t>
            </a:r>
            <a:r>
              <a:rPr sz="3600" spc="-7" baseline="2314" dirty="0">
                <a:latin typeface="Cambria"/>
                <a:cs typeface="Cambria"/>
              </a:rPr>
              <a:t>	miss	</a:t>
            </a:r>
            <a:r>
              <a:rPr sz="2400" spc="-5" dirty="0">
                <a:latin typeface="Cambria"/>
                <a:cs typeface="Cambria"/>
              </a:rPr>
              <a:t>miss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3600" spc="-7" baseline="2314" dirty="0" err="1">
                <a:latin typeface="Cambria"/>
                <a:cs typeface="Cambria"/>
              </a:rPr>
              <a:t>miss</a:t>
            </a:r>
            <a:r>
              <a:rPr sz="3600" spc="-7" baseline="2314" dirty="0">
                <a:latin typeface="Cambria"/>
                <a:cs typeface="Cambria"/>
              </a:rPr>
              <a:t>	miss</a:t>
            </a:r>
            <a:endParaRPr sz="3600" baseline="2314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lang="en-US" sz="2700" b="1" spc="-20" dirty="0">
                <a:latin typeface="Cambria"/>
                <a:cs typeface="Cambria"/>
              </a:rPr>
              <a:t>Training:</a:t>
            </a:r>
            <a:r>
              <a:rPr lang="en-US" sz="2700" b="1" spc="-5" dirty="0">
                <a:latin typeface="Cambria"/>
                <a:cs typeface="Cambria"/>
              </a:rPr>
              <a:t> </a:t>
            </a:r>
            <a:r>
              <a:rPr lang="en-US" sz="2700" b="1" spc="-25" dirty="0">
                <a:latin typeface="Cambria"/>
                <a:cs typeface="Cambria"/>
              </a:rPr>
              <a:t>Consecutive</a:t>
            </a:r>
            <a:r>
              <a:rPr lang="en-US" sz="2700" b="1" spc="30" dirty="0">
                <a:latin typeface="Cambria"/>
                <a:cs typeface="Cambria"/>
              </a:rPr>
              <a:t> </a:t>
            </a:r>
            <a:r>
              <a:rPr lang="en-US" sz="2700" b="1" spc="-10" dirty="0">
                <a:latin typeface="Cambria"/>
                <a:cs typeface="Cambria"/>
              </a:rPr>
              <a:t>misses</a:t>
            </a:r>
            <a:r>
              <a:rPr lang="en-US" sz="2700" b="1" spc="10" dirty="0">
                <a:latin typeface="Cambria"/>
                <a:cs typeface="Cambria"/>
              </a:rPr>
              <a:t> </a:t>
            </a:r>
            <a:r>
              <a:rPr lang="en-US" sz="2700" b="1" spc="-5" dirty="0">
                <a:latin typeface="Cambria"/>
                <a:cs typeface="Cambria"/>
              </a:rPr>
              <a:t>in</a:t>
            </a:r>
            <a:r>
              <a:rPr lang="en-US" sz="2700" b="1" dirty="0">
                <a:latin typeface="Cambria"/>
                <a:cs typeface="Cambria"/>
              </a:rPr>
              <a:t> </a:t>
            </a:r>
            <a:r>
              <a:rPr lang="en-US" sz="2700" b="1" spc="-5" dirty="0">
                <a:latin typeface="Cambria"/>
                <a:cs typeface="Cambria"/>
              </a:rPr>
              <a:t>the</a:t>
            </a:r>
            <a:r>
              <a:rPr lang="en-US" sz="2700" b="1" spc="15" dirty="0">
                <a:latin typeface="Cambria"/>
                <a:cs typeface="Cambria"/>
              </a:rPr>
              <a:t> </a:t>
            </a:r>
            <a:r>
              <a:rPr lang="en-US" sz="2700" b="1" spc="-5" dirty="0">
                <a:latin typeface="Cambria"/>
                <a:cs typeface="Cambria"/>
              </a:rPr>
              <a:t>same</a:t>
            </a:r>
            <a:r>
              <a:rPr lang="en-US" sz="2700" b="1" spc="10" dirty="0">
                <a:latin typeface="Cambria"/>
                <a:cs typeface="Cambria"/>
              </a:rPr>
              <a:t> </a:t>
            </a:r>
            <a:r>
              <a:rPr lang="en-US" sz="2700" b="1" spc="-10" dirty="0">
                <a:latin typeface="Cambria"/>
                <a:cs typeface="Cambria"/>
              </a:rPr>
              <a:t>direction.</a:t>
            </a:r>
            <a:endParaRPr lang="en-US" sz="2700" dirty="0">
              <a:latin typeface="Cambria"/>
              <a:cs typeface="Cambria"/>
            </a:endParaRPr>
          </a:p>
        </p:txBody>
      </p:sp>
      <p:grpSp>
        <p:nvGrpSpPr>
          <p:cNvPr id="3" name="object 37">
            <a:extLst>
              <a:ext uri="{FF2B5EF4-FFF2-40B4-BE49-F238E27FC236}">
                <a16:creationId xmlns:a16="http://schemas.microsoft.com/office/drawing/2014/main" id="{2C81068E-CB4F-57E1-B16E-CE3550BC0A45}"/>
              </a:ext>
            </a:extLst>
          </p:cNvPr>
          <p:cNvGrpSpPr/>
          <p:nvPr/>
        </p:nvGrpSpPr>
        <p:grpSpPr>
          <a:xfrm>
            <a:off x="1566418" y="4945538"/>
            <a:ext cx="8845550" cy="906780"/>
            <a:chOff x="1860804" y="3268979"/>
            <a:chExt cx="8845550" cy="906780"/>
          </a:xfrm>
        </p:grpSpPr>
        <p:pic>
          <p:nvPicPr>
            <p:cNvPr id="46" name="object 38">
              <a:extLst>
                <a:ext uri="{FF2B5EF4-FFF2-40B4-BE49-F238E27FC236}">
                  <a16:creationId xmlns:a16="http://schemas.microsoft.com/office/drawing/2014/main" id="{0412C297-79DB-0F48-D37B-ED55205BFFB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3098" y="3337576"/>
              <a:ext cx="8763003" cy="838167"/>
            </a:xfrm>
            <a:prstGeom prst="rect">
              <a:avLst/>
            </a:prstGeom>
          </p:spPr>
        </p:pic>
        <p:pic>
          <p:nvPicPr>
            <p:cNvPr id="47" name="object 39">
              <a:extLst>
                <a:ext uri="{FF2B5EF4-FFF2-40B4-BE49-F238E27FC236}">
                  <a16:creationId xmlns:a16="http://schemas.microsoft.com/office/drawing/2014/main" id="{CD4BB98C-E91F-8DD6-6EDE-6C5B77863F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0804" y="3268979"/>
              <a:ext cx="8657844" cy="906780"/>
            </a:xfrm>
            <a:prstGeom prst="rect">
              <a:avLst/>
            </a:prstGeom>
          </p:spPr>
        </p:pic>
        <p:sp>
          <p:nvSpPr>
            <p:cNvPr id="48" name="object 40">
              <a:extLst>
                <a:ext uri="{FF2B5EF4-FFF2-40B4-BE49-F238E27FC236}">
                  <a16:creationId xmlns:a16="http://schemas.microsoft.com/office/drawing/2014/main" id="{B0DE3D46-0DDC-797D-B36F-5F997DA7267E}"/>
                </a:ext>
              </a:extLst>
            </p:cNvPr>
            <p:cNvSpPr/>
            <p:nvPr/>
          </p:nvSpPr>
          <p:spPr>
            <a:xfrm>
              <a:off x="1981200" y="3352799"/>
              <a:ext cx="8686800" cy="762000"/>
            </a:xfrm>
            <a:custGeom>
              <a:avLst/>
              <a:gdLst/>
              <a:ahLst/>
              <a:cxnLst/>
              <a:rect l="l" t="t" r="r" b="b"/>
              <a:pathLst>
                <a:path w="8686800" h="762000">
                  <a:moveTo>
                    <a:pt x="8559800" y="0"/>
                  </a:moveTo>
                  <a:lnTo>
                    <a:pt x="127000" y="0"/>
                  </a:lnTo>
                  <a:lnTo>
                    <a:pt x="77581" y="9985"/>
                  </a:lnTo>
                  <a:lnTo>
                    <a:pt x="37211" y="37211"/>
                  </a:lnTo>
                  <a:lnTo>
                    <a:pt x="9985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5" y="684418"/>
                  </a:lnTo>
                  <a:lnTo>
                    <a:pt x="37210" y="724788"/>
                  </a:lnTo>
                  <a:lnTo>
                    <a:pt x="77581" y="752014"/>
                  </a:lnTo>
                  <a:lnTo>
                    <a:pt x="127000" y="762000"/>
                  </a:lnTo>
                  <a:lnTo>
                    <a:pt x="8559800" y="762000"/>
                  </a:lnTo>
                  <a:lnTo>
                    <a:pt x="8609218" y="752014"/>
                  </a:lnTo>
                  <a:lnTo>
                    <a:pt x="8649589" y="724789"/>
                  </a:lnTo>
                  <a:lnTo>
                    <a:pt x="8676814" y="684418"/>
                  </a:lnTo>
                  <a:lnTo>
                    <a:pt x="8686800" y="635000"/>
                  </a:lnTo>
                  <a:lnTo>
                    <a:pt x="8686800" y="127000"/>
                  </a:lnTo>
                  <a:lnTo>
                    <a:pt x="8676814" y="77581"/>
                  </a:lnTo>
                  <a:lnTo>
                    <a:pt x="8649589" y="37211"/>
                  </a:lnTo>
                  <a:lnTo>
                    <a:pt x="8609218" y="9985"/>
                  </a:lnTo>
                  <a:lnTo>
                    <a:pt x="85598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r>
                <a:rPr lang="en-US" sz="2800" b="1" dirty="0">
                  <a:latin typeface="Cambria" panose="02040503050406030204" pitchFamily="18" charset="0"/>
                  <a:ea typeface="Cambria" panose="02040503050406030204" pitchFamily="18" charset="0"/>
                </a:rPr>
                <a:t>   Prefetching: Next k lines in the stream direction.</a:t>
              </a:r>
              <a:endParaRPr sz="28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9" name="object 41">
              <a:extLst>
                <a:ext uri="{FF2B5EF4-FFF2-40B4-BE49-F238E27FC236}">
                  <a16:creationId xmlns:a16="http://schemas.microsoft.com/office/drawing/2014/main" id="{590EDF0D-50A7-C688-71D8-4B5E2BD7089E}"/>
                </a:ext>
              </a:extLst>
            </p:cNvPr>
            <p:cNvSpPr/>
            <p:nvPr/>
          </p:nvSpPr>
          <p:spPr>
            <a:xfrm>
              <a:off x="1981200" y="3352799"/>
              <a:ext cx="8686800" cy="762000"/>
            </a:xfrm>
            <a:custGeom>
              <a:avLst/>
              <a:gdLst/>
              <a:ahLst/>
              <a:cxnLst/>
              <a:rect l="l" t="t" r="r" b="b"/>
              <a:pathLst>
                <a:path w="8686800" h="762000">
                  <a:moveTo>
                    <a:pt x="0" y="127000"/>
                  </a:moveTo>
                  <a:lnTo>
                    <a:pt x="9985" y="77581"/>
                  </a:lnTo>
                  <a:lnTo>
                    <a:pt x="37211" y="37211"/>
                  </a:lnTo>
                  <a:lnTo>
                    <a:pt x="77581" y="9985"/>
                  </a:lnTo>
                  <a:lnTo>
                    <a:pt x="127000" y="0"/>
                  </a:lnTo>
                  <a:lnTo>
                    <a:pt x="8559800" y="0"/>
                  </a:lnTo>
                  <a:lnTo>
                    <a:pt x="8609218" y="9985"/>
                  </a:lnTo>
                  <a:lnTo>
                    <a:pt x="8649589" y="37211"/>
                  </a:lnTo>
                  <a:lnTo>
                    <a:pt x="8676814" y="77581"/>
                  </a:lnTo>
                  <a:lnTo>
                    <a:pt x="8686800" y="127000"/>
                  </a:lnTo>
                  <a:lnTo>
                    <a:pt x="8686800" y="635000"/>
                  </a:lnTo>
                  <a:lnTo>
                    <a:pt x="8676814" y="684418"/>
                  </a:lnTo>
                  <a:lnTo>
                    <a:pt x="8649589" y="724789"/>
                  </a:lnTo>
                  <a:lnTo>
                    <a:pt x="8609218" y="752014"/>
                  </a:lnTo>
                  <a:lnTo>
                    <a:pt x="8559800" y="762000"/>
                  </a:lnTo>
                  <a:lnTo>
                    <a:pt x="127000" y="762000"/>
                  </a:lnTo>
                  <a:lnTo>
                    <a:pt x="77581" y="752014"/>
                  </a:lnTo>
                  <a:lnTo>
                    <a:pt x="37210" y="724788"/>
                  </a:lnTo>
                  <a:lnTo>
                    <a:pt x="9985" y="684418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90283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4252-D8EB-6E72-3AFE-15C17BEF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prefetcher (Region based) in action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556F6-68A0-09AF-E5E3-B8630521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DA720-84C6-9383-07DA-795B3207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EB9E04BA-719B-DEF1-6E5C-18CB122AEBBE}"/>
              </a:ext>
            </a:extLst>
          </p:cNvPr>
          <p:cNvGraphicFramePr>
            <a:graphicFrameLocks noGrp="1"/>
          </p:cNvGraphicFramePr>
          <p:nvPr/>
        </p:nvGraphicFramePr>
        <p:xfrm>
          <a:off x="2882900" y="3492500"/>
          <a:ext cx="6705600" cy="83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532765" marR="292100" indent="-23495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000" b="1" spc="-5" dirty="0">
                          <a:latin typeface="Cambria"/>
                          <a:cs typeface="Cambria"/>
                        </a:rPr>
                        <a:t>Moni</a:t>
                      </a:r>
                      <a:r>
                        <a:rPr sz="2000" b="1" spc="-20" dirty="0">
                          <a:latin typeface="Cambria"/>
                          <a:cs typeface="Cambria"/>
                        </a:rPr>
                        <a:t>t</a:t>
                      </a:r>
                      <a:r>
                        <a:rPr sz="2000" b="1" spc="-5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2000" b="1" spc="-25" dirty="0">
                          <a:latin typeface="Cambria"/>
                          <a:cs typeface="Cambria"/>
                        </a:rPr>
                        <a:t>r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ed  </a:t>
                      </a:r>
                      <a:r>
                        <a:rPr sz="2000" b="1" spc="-5" dirty="0">
                          <a:latin typeface="Cambria"/>
                          <a:cs typeface="Cambria"/>
                        </a:rPr>
                        <a:t>region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0795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4">
            <a:extLst>
              <a:ext uri="{FF2B5EF4-FFF2-40B4-BE49-F238E27FC236}">
                <a16:creationId xmlns:a16="http://schemas.microsoft.com/office/drawing/2014/main" id="{EFF1718E-2685-7387-878B-3118524328A8}"/>
              </a:ext>
            </a:extLst>
          </p:cNvPr>
          <p:cNvSpPr txBox="1"/>
          <p:nvPr/>
        </p:nvSpPr>
        <p:spPr>
          <a:xfrm>
            <a:off x="7336028" y="4705350"/>
            <a:ext cx="18643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ambria"/>
                <a:cs typeface="Cambria"/>
              </a:rPr>
              <a:t>prefetch</a:t>
            </a:r>
            <a:r>
              <a:rPr sz="2000" b="1" spc="-9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degree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873AD94-A390-7457-C5F0-B3780C1F1B88}"/>
              </a:ext>
            </a:extLst>
          </p:cNvPr>
          <p:cNvSpPr/>
          <p:nvPr/>
        </p:nvSpPr>
        <p:spPr>
          <a:xfrm>
            <a:off x="2743200" y="2449405"/>
            <a:ext cx="1219835" cy="285750"/>
          </a:xfrm>
          <a:custGeom>
            <a:avLst/>
            <a:gdLst/>
            <a:ahLst/>
            <a:cxnLst/>
            <a:rect l="l" t="t" r="r" b="b"/>
            <a:pathLst>
              <a:path w="1219835" h="285750">
                <a:moveTo>
                  <a:pt x="1038844" y="174513"/>
                </a:moveTo>
                <a:lnTo>
                  <a:pt x="949705" y="226357"/>
                </a:lnTo>
                <a:lnTo>
                  <a:pt x="940294" y="234697"/>
                </a:lnTo>
                <a:lnTo>
                  <a:pt x="934989" y="245645"/>
                </a:lnTo>
                <a:lnTo>
                  <a:pt x="934186" y="257808"/>
                </a:lnTo>
                <a:lnTo>
                  <a:pt x="938276" y="269791"/>
                </a:lnTo>
                <a:lnTo>
                  <a:pt x="946616" y="279185"/>
                </a:lnTo>
                <a:lnTo>
                  <a:pt x="957564" y="284460"/>
                </a:lnTo>
                <a:lnTo>
                  <a:pt x="969726" y="285257"/>
                </a:lnTo>
                <a:lnTo>
                  <a:pt x="981710" y="281221"/>
                </a:lnTo>
                <a:lnTo>
                  <a:pt x="1164777" y="174668"/>
                </a:lnTo>
                <a:lnTo>
                  <a:pt x="1038844" y="174513"/>
                </a:lnTo>
                <a:close/>
              </a:path>
              <a:path w="1219835" h="285750">
                <a:moveTo>
                  <a:pt x="1093306" y="142837"/>
                </a:moveTo>
                <a:lnTo>
                  <a:pt x="1038844" y="174513"/>
                </a:lnTo>
                <a:lnTo>
                  <a:pt x="1156335" y="174668"/>
                </a:lnTo>
                <a:lnTo>
                  <a:pt x="1156335" y="170350"/>
                </a:lnTo>
                <a:lnTo>
                  <a:pt x="1140333" y="170350"/>
                </a:lnTo>
                <a:lnTo>
                  <a:pt x="1093306" y="142837"/>
                </a:lnTo>
                <a:close/>
              </a:path>
              <a:path w="1219835" h="285750">
                <a:moveTo>
                  <a:pt x="970051" y="0"/>
                </a:moveTo>
                <a:lnTo>
                  <a:pt x="957913" y="773"/>
                </a:lnTo>
                <a:lnTo>
                  <a:pt x="946941" y="6072"/>
                </a:lnTo>
                <a:lnTo>
                  <a:pt x="938529" y="15537"/>
                </a:lnTo>
                <a:lnTo>
                  <a:pt x="934493" y="27449"/>
                </a:lnTo>
                <a:lnTo>
                  <a:pt x="935291" y="39588"/>
                </a:lnTo>
                <a:lnTo>
                  <a:pt x="940565" y="50559"/>
                </a:lnTo>
                <a:lnTo>
                  <a:pt x="949960" y="58971"/>
                </a:lnTo>
                <a:lnTo>
                  <a:pt x="1038912" y="111013"/>
                </a:lnTo>
                <a:lnTo>
                  <a:pt x="1156335" y="111168"/>
                </a:lnTo>
                <a:lnTo>
                  <a:pt x="1156335" y="174668"/>
                </a:lnTo>
                <a:lnTo>
                  <a:pt x="1164777" y="174668"/>
                </a:lnTo>
                <a:lnTo>
                  <a:pt x="1219327" y="142918"/>
                </a:lnTo>
                <a:lnTo>
                  <a:pt x="981963" y="4107"/>
                </a:lnTo>
                <a:lnTo>
                  <a:pt x="970051" y="0"/>
                </a:lnTo>
                <a:close/>
              </a:path>
              <a:path w="1219835" h="285750">
                <a:moveTo>
                  <a:pt x="0" y="109644"/>
                </a:moveTo>
                <a:lnTo>
                  <a:pt x="0" y="173144"/>
                </a:lnTo>
                <a:lnTo>
                  <a:pt x="1038844" y="174513"/>
                </a:lnTo>
                <a:lnTo>
                  <a:pt x="1093306" y="142837"/>
                </a:lnTo>
                <a:lnTo>
                  <a:pt x="1038912" y="111013"/>
                </a:lnTo>
                <a:lnTo>
                  <a:pt x="0" y="109644"/>
                </a:lnTo>
                <a:close/>
              </a:path>
              <a:path w="1219835" h="285750">
                <a:moveTo>
                  <a:pt x="1140333" y="115486"/>
                </a:moveTo>
                <a:lnTo>
                  <a:pt x="1093306" y="142837"/>
                </a:lnTo>
                <a:lnTo>
                  <a:pt x="1140333" y="170350"/>
                </a:lnTo>
                <a:lnTo>
                  <a:pt x="1140333" y="115486"/>
                </a:lnTo>
                <a:close/>
              </a:path>
              <a:path w="1219835" h="285750">
                <a:moveTo>
                  <a:pt x="1156335" y="115486"/>
                </a:moveTo>
                <a:lnTo>
                  <a:pt x="1140333" y="115486"/>
                </a:lnTo>
                <a:lnTo>
                  <a:pt x="1140333" y="170350"/>
                </a:lnTo>
                <a:lnTo>
                  <a:pt x="1156335" y="170350"/>
                </a:lnTo>
                <a:lnTo>
                  <a:pt x="1156335" y="115486"/>
                </a:lnTo>
                <a:close/>
              </a:path>
              <a:path w="1219835" h="285750">
                <a:moveTo>
                  <a:pt x="1038912" y="111013"/>
                </a:moveTo>
                <a:lnTo>
                  <a:pt x="1093306" y="142837"/>
                </a:lnTo>
                <a:lnTo>
                  <a:pt x="1140333" y="115486"/>
                </a:lnTo>
                <a:lnTo>
                  <a:pt x="1156335" y="115486"/>
                </a:lnTo>
                <a:lnTo>
                  <a:pt x="1156335" y="111168"/>
                </a:lnTo>
                <a:lnTo>
                  <a:pt x="1038912" y="11101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25407D08-E691-488D-047C-DB615067DF5F}"/>
              </a:ext>
            </a:extLst>
          </p:cNvPr>
          <p:cNvSpPr/>
          <p:nvPr/>
        </p:nvSpPr>
        <p:spPr>
          <a:xfrm>
            <a:off x="2963237" y="4343272"/>
            <a:ext cx="171450" cy="305435"/>
          </a:xfrm>
          <a:custGeom>
            <a:avLst/>
            <a:gdLst/>
            <a:ahLst/>
            <a:cxnLst/>
            <a:rect l="l" t="t" r="r" b="b"/>
            <a:pathLst>
              <a:path w="171450" h="305435">
                <a:moveTo>
                  <a:pt x="85930" y="75643"/>
                </a:moveTo>
                <a:lnTo>
                  <a:pt x="66741" y="108157"/>
                </a:lnTo>
                <a:lnTo>
                  <a:pt x="65712" y="304800"/>
                </a:lnTo>
                <a:lnTo>
                  <a:pt x="103812" y="305053"/>
                </a:lnTo>
                <a:lnTo>
                  <a:pt x="104840" y="108481"/>
                </a:lnTo>
                <a:lnTo>
                  <a:pt x="85930" y="75643"/>
                </a:lnTo>
                <a:close/>
              </a:path>
              <a:path w="171450" h="305435">
                <a:moveTo>
                  <a:pt x="108120" y="37718"/>
                </a:moveTo>
                <a:lnTo>
                  <a:pt x="67109" y="37718"/>
                </a:lnTo>
                <a:lnTo>
                  <a:pt x="105209" y="37972"/>
                </a:lnTo>
                <a:lnTo>
                  <a:pt x="104840" y="108481"/>
                </a:lnTo>
                <a:lnTo>
                  <a:pt x="135689" y="162051"/>
                </a:lnTo>
                <a:lnTo>
                  <a:pt x="140721" y="167679"/>
                </a:lnTo>
                <a:lnTo>
                  <a:pt x="147278" y="170878"/>
                </a:lnTo>
                <a:lnTo>
                  <a:pt x="154549" y="171410"/>
                </a:lnTo>
                <a:lnTo>
                  <a:pt x="161724" y="169037"/>
                </a:lnTo>
                <a:lnTo>
                  <a:pt x="167423" y="164004"/>
                </a:lnTo>
                <a:lnTo>
                  <a:pt x="170646" y="157448"/>
                </a:lnTo>
                <a:lnTo>
                  <a:pt x="171154" y="150177"/>
                </a:lnTo>
                <a:lnTo>
                  <a:pt x="168709" y="143001"/>
                </a:lnTo>
                <a:lnTo>
                  <a:pt x="108120" y="37718"/>
                </a:lnTo>
                <a:close/>
              </a:path>
              <a:path w="171450" h="305435">
                <a:moveTo>
                  <a:pt x="86413" y="0"/>
                </a:moveTo>
                <a:lnTo>
                  <a:pt x="2466" y="142112"/>
                </a:lnTo>
                <a:lnTo>
                  <a:pt x="0" y="149234"/>
                </a:lnTo>
                <a:lnTo>
                  <a:pt x="450" y="156511"/>
                </a:lnTo>
                <a:lnTo>
                  <a:pt x="3591" y="163097"/>
                </a:lnTo>
                <a:lnTo>
                  <a:pt x="9197" y="168147"/>
                </a:lnTo>
                <a:lnTo>
                  <a:pt x="16319" y="170687"/>
                </a:lnTo>
                <a:lnTo>
                  <a:pt x="23596" y="170275"/>
                </a:lnTo>
                <a:lnTo>
                  <a:pt x="30182" y="167147"/>
                </a:lnTo>
                <a:lnTo>
                  <a:pt x="35232" y="161544"/>
                </a:lnTo>
                <a:lnTo>
                  <a:pt x="66741" y="108157"/>
                </a:lnTo>
                <a:lnTo>
                  <a:pt x="67109" y="37718"/>
                </a:lnTo>
                <a:lnTo>
                  <a:pt x="108120" y="37718"/>
                </a:lnTo>
                <a:lnTo>
                  <a:pt x="86413" y="0"/>
                </a:lnTo>
                <a:close/>
              </a:path>
              <a:path w="171450" h="305435">
                <a:moveTo>
                  <a:pt x="105160" y="47370"/>
                </a:moveTo>
                <a:lnTo>
                  <a:pt x="69649" y="47370"/>
                </a:lnTo>
                <a:lnTo>
                  <a:pt x="102542" y="47497"/>
                </a:lnTo>
                <a:lnTo>
                  <a:pt x="85930" y="75643"/>
                </a:lnTo>
                <a:lnTo>
                  <a:pt x="104840" y="108481"/>
                </a:lnTo>
                <a:lnTo>
                  <a:pt x="105160" y="47370"/>
                </a:lnTo>
                <a:close/>
              </a:path>
              <a:path w="171450" h="305435">
                <a:moveTo>
                  <a:pt x="67109" y="37718"/>
                </a:moveTo>
                <a:lnTo>
                  <a:pt x="66741" y="108157"/>
                </a:lnTo>
                <a:lnTo>
                  <a:pt x="85930" y="75643"/>
                </a:lnTo>
                <a:lnTo>
                  <a:pt x="69649" y="47370"/>
                </a:lnTo>
                <a:lnTo>
                  <a:pt x="105160" y="47370"/>
                </a:lnTo>
                <a:lnTo>
                  <a:pt x="105209" y="37972"/>
                </a:lnTo>
                <a:lnTo>
                  <a:pt x="67109" y="37718"/>
                </a:lnTo>
                <a:close/>
              </a:path>
              <a:path w="171450" h="305435">
                <a:moveTo>
                  <a:pt x="69649" y="47370"/>
                </a:moveTo>
                <a:lnTo>
                  <a:pt x="85930" y="75643"/>
                </a:lnTo>
                <a:lnTo>
                  <a:pt x="102542" y="47497"/>
                </a:lnTo>
                <a:lnTo>
                  <a:pt x="69649" y="4737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6F24B1C3-D810-9895-C836-E07353AF8734}"/>
              </a:ext>
            </a:extLst>
          </p:cNvPr>
          <p:cNvSpPr txBox="1"/>
          <p:nvPr/>
        </p:nvSpPr>
        <p:spPr>
          <a:xfrm>
            <a:off x="2382392" y="4705350"/>
            <a:ext cx="1560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mbria"/>
                <a:cs typeface="Cambria"/>
              </a:rPr>
              <a:t>original</a:t>
            </a:r>
            <a:r>
              <a:rPr sz="2000" b="1" spc="-9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addr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1" name="object 8">
            <a:extLst>
              <a:ext uri="{FF2B5EF4-FFF2-40B4-BE49-F238E27FC236}">
                <a16:creationId xmlns:a16="http://schemas.microsoft.com/office/drawing/2014/main" id="{ABB3B013-FFA2-2016-8898-A24243DDF28C}"/>
              </a:ext>
            </a:extLst>
          </p:cNvPr>
          <p:cNvGrpSpPr/>
          <p:nvPr/>
        </p:nvGrpSpPr>
        <p:grpSpPr>
          <a:xfrm>
            <a:off x="4572000" y="4476750"/>
            <a:ext cx="3981450" cy="552450"/>
            <a:chOff x="4572000" y="4476750"/>
            <a:chExt cx="3981450" cy="552450"/>
          </a:xfrm>
        </p:grpSpPr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41A9653E-7113-F72B-0572-645CBBB9BED7}"/>
                </a:ext>
              </a:extLst>
            </p:cNvPr>
            <p:cNvSpPr/>
            <p:nvPr/>
          </p:nvSpPr>
          <p:spPr>
            <a:xfrm>
              <a:off x="4876800" y="4495800"/>
              <a:ext cx="3657600" cy="228600"/>
            </a:xfrm>
            <a:custGeom>
              <a:avLst/>
              <a:gdLst/>
              <a:ahLst/>
              <a:cxnLst/>
              <a:rect l="l" t="t" r="r" b="b"/>
              <a:pathLst>
                <a:path w="3657600" h="228600">
                  <a:moveTo>
                    <a:pt x="3657600" y="0"/>
                  </a:moveTo>
                  <a:lnTo>
                    <a:pt x="3656105" y="44487"/>
                  </a:lnTo>
                  <a:lnTo>
                    <a:pt x="3652027" y="80819"/>
                  </a:lnTo>
                  <a:lnTo>
                    <a:pt x="3645973" y="105316"/>
                  </a:lnTo>
                  <a:lnTo>
                    <a:pt x="3638550" y="114300"/>
                  </a:lnTo>
                  <a:lnTo>
                    <a:pt x="3067050" y="114300"/>
                  </a:lnTo>
                  <a:lnTo>
                    <a:pt x="3059626" y="123283"/>
                  </a:lnTo>
                  <a:lnTo>
                    <a:pt x="3053572" y="147780"/>
                  </a:lnTo>
                  <a:lnTo>
                    <a:pt x="3049494" y="184112"/>
                  </a:lnTo>
                  <a:lnTo>
                    <a:pt x="3048000" y="228600"/>
                  </a:lnTo>
                  <a:lnTo>
                    <a:pt x="3046505" y="184112"/>
                  </a:lnTo>
                  <a:lnTo>
                    <a:pt x="3042427" y="147780"/>
                  </a:lnTo>
                  <a:lnTo>
                    <a:pt x="3036373" y="123283"/>
                  </a:lnTo>
                  <a:lnTo>
                    <a:pt x="3028950" y="114300"/>
                  </a:lnTo>
                  <a:lnTo>
                    <a:pt x="2457450" y="114300"/>
                  </a:lnTo>
                  <a:lnTo>
                    <a:pt x="2450026" y="105316"/>
                  </a:lnTo>
                  <a:lnTo>
                    <a:pt x="2443972" y="80819"/>
                  </a:lnTo>
                  <a:lnTo>
                    <a:pt x="2439894" y="44487"/>
                  </a:lnTo>
                  <a:lnTo>
                    <a:pt x="2438400" y="0"/>
                  </a:lnTo>
                </a:path>
                <a:path w="3657600" h="228600">
                  <a:moveTo>
                    <a:pt x="2362200" y="0"/>
                  </a:moveTo>
                  <a:lnTo>
                    <a:pt x="2360705" y="44487"/>
                  </a:lnTo>
                  <a:lnTo>
                    <a:pt x="2356627" y="80819"/>
                  </a:lnTo>
                  <a:lnTo>
                    <a:pt x="2350573" y="105316"/>
                  </a:lnTo>
                  <a:lnTo>
                    <a:pt x="2343150" y="114300"/>
                  </a:lnTo>
                  <a:lnTo>
                    <a:pt x="1200150" y="114300"/>
                  </a:lnTo>
                  <a:lnTo>
                    <a:pt x="1192726" y="123283"/>
                  </a:lnTo>
                  <a:lnTo>
                    <a:pt x="1186672" y="147780"/>
                  </a:lnTo>
                  <a:lnTo>
                    <a:pt x="1182594" y="184112"/>
                  </a:lnTo>
                  <a:lnTo>
                    <a:pt x="1181100" y="228600"/>
                  </a:lnTo>
                  <a:lnTo>
                    <a:pt x="1179605" y="184112"/>
                  </a:lnTo>
                  <a:lnTo>
                    <a:pt x="1175527" y="147780"/>
                  </a:lnTo>
                  <a:lnTo>
                    <a:pt x="1169473" y="123283"/>
                  </a:lnTo>
                  <a:lnTo>
                    <a:pt x="1162050" y="114300"/>
                  </a:lnTo>
                  <a:lnTo>
                    <a:pt x="19050" y="114300"/>
                  </a:lnTo>
                  <a:lnTo>
                    <a:pt x="11626" y="105316"/>
                  </a:lnTo>
                  <a:lnTo>
                    <a:pt x="5572" y="80819"/>
                  </a:lnTo>
                  <a:lnTo>
                    <a:pt x="1494" y="44487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25E89ED4-355E-F19E-D556-4F3B895D3621}"/>
                </a:ext>
              </a:extLst>
            </p:cNvPr>
            <p:cNvSpPr/>
            <p:nvPr/>
          </p:nvSpPr>
          <p:spPr>
            <a:xfrm>
              <a:off x="4572000" y="4724400"/>
              <a:ext cx="2438400" cy="304800"/>
            </a:xfrm>
            <a:custGeom>
              <a:avLst/>
              <a:gdLst/>
              <a:ahLst/>
              <a:cxnLst/>
              <a:rect l="l" t="t" r="r" b="b"/>
              <a:pathLst>
                <a:path w="2438400" h="304800">
                  <a:moveTo>
                    <a:pt x="2438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438400" y="30480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1">
            <a:extLst>
              <a:ext uri="{FF2B5EF4-FFF2-40B4-BE49-F238E27FC236}">
                <a16:creationId xmlns:a16="http://schemas.microsoft.com/office/drawing/2014/main" id="{4B7908D5-14A5-907B-3AAA-3DF75E164FFA}"/>
              </a:ext>
            </a:extLst>
          </p:cNvPr>
          <p:cNvSpPr/>
          <p:nvPr/>
        </p:nvSpPr>
        <p:spPr>
          <a:xfrm>
            <a:off x="5933154" y="3047873"/>
            <a:ext cx="171450" cy="457834"/>
          </a:xfrm>
          <a:custGeom>
            <a:avLst/>
            <a:gdLst/>
            <a:ahLst/>
            <a:cxnLst/>
            <a:rect l="l" t="t" r="r" b="b"/>
            <a:pathLst>
              <a:path w="171450" h="457835">
                <a:moveTo>
                  <a:pt x="16549" y="286152"/>
                </a:moveTo>
                <a:lnTo>
                  <a:pt x="9429" y="288543"/>
                </a:lnTo>
                <a:lnTo>
                  <a:pt x="3730" y="293594"/>
                </a:lnTo>
                <a:lnTo>
                  <a:pt x="508" y="300180"/>
                </a:lnTo>
                <a:lnTo>
                  <a:pt x="0" y="307457"/>
                </a:lnTo>
                <a:lnTo>
                  <a:pt x="2444" y="314578"/>
                </a:lnTo>
                <a:lnTo>
                  <a:pt x="84994" y="457453"/>
                </a:lnTo>
                <a:lnTo>
                  <a:pt x="107188" y="419735"/>
                </a:lnTo>
                <a:lnTo>
                  <a:pt x="104298" y="419735"/>
                </a:lnTo>
                <a:lnTo>
                  <a:pt x="66198" y="419480"/>
                </a:lnTo>
                <a:lnTo>
                  <a:pt x="66324" y="381825"/>
                </a:lnTo>
                <a:lnTo>
                  <a:pt x="66326" y="349076"/>
                </a:lnTo>
                <a:lnTo>
                  <a:pt x="35337" y="295528"/>
                </a:lnTo>
                <a:lnTo>
                  <a:pt x="30360" y="289847"/>
                </a:lnTo>
                <a:lnTo>
                  <a:pt x="23812" y="286654"/>
                </a:lnTo>
                <a:lnTo>
                  <a:pt x="16549" y="286152"/>
                </a:lnTo>
                <a:close/>
              </a:path>
              <a:path w="171450" h="457835">
                <a:moveTo>
                  <a:pt x="66432" y="349259"/>
                </a:moveTo>
                <a:lnTo>
                  <a:pt x="66198" y="419480"/>
                </a:lnTo>
                <a:lnTo>
                  <a:pt x="104298" y="419735"/>
                </a:lnTo>
                <a:lnTo>
                  <a:pt x="104330" y="410082"/>
                </a:lnTo>
                <a:lnTo>
                  <a:pt x="68738" y="409955"/>
                </a:lnTo>
                <a:lnTo>
                  <a:pt x="85278" y="381825"/>
                </a:lnTo>
                <a:lnTo>
                  <a:pt x="66432" y="349259"/>
                </a:lnTo>
                <a:close/>
              </a:path>
              <a:path w="171450" h="457835">
                <a:moveTo>
                  <a:pt x="154761" y="286694"/>
                </a:moveTo>
                <a:lnTo>
                  <a:pt x="104534" y="349076"/>
                </a:lnTo>
                <a:lnTo>
                  <a:pt x="104298" y="419735"/>
                </a:lnTo>
                <a:lnTo>
                  <a:pt x="107188" y="419735"/>
                </a:lnTo>
                <a:lnTo>
                  <a:pt x="168687" y="315213"/>
                </a:lnTo>
                <a:lnTo>
                  <a:pt x="171154" y="308038"/>
                </a:lnTo>
                <a:lnTo>
                  <a:pt x="170703" y="300767"/>
                </a:lnTo>
                <a:lnTo>
                  <a:pt x="167562" y="294211"/>
                </a:lnTo>
                <a:lnTo>
                  <a:pt x="161956" y="289178"/>
                </a:lnTo>
                <a:lnTo>
                  <a:pt x="154761" y="286694"/>
                </a:lnTo>
                <a:close/>
              </a:path>
              <a:path w="171450" h="457835">
                <a:moveTo>
                  <a:pt x="85278" y="381825"/>
                </a:moveTo>
                <a:lnTo>
                  <a:pt x="68738" y="409955"/>
                </a:lnTo>
                <a:lnTo>
                  <a:pt x="101631" y="410082"/>
                </a:lnTo>
                <a:lnTo>
                  <a:pt x="85278" y="381825"/>
                </a:lnTo>
                <a:close/>
              </a:path>
              <a:path w="171450" h="457835">
                <a:moveTo>
                  <a:pt x="104534" y="349076"/>
                </a:moveTo>
                <a:lnTo>
                  <a:pt x="85278" y="381825"/>
                </a:lnTo>
                <a:lnTo>
                  <a:pt x="101631" y="410082"/>
                </a:lnTo>
                <a:lnTo>
                  <a:pt x="104330" y="410082"/>
                </a:lnTo>
                <a:lnTo>
                  <a:pt x="104534" y="349076"/>
                </a:lnTo>
                <a:close/>
              </a:path>
              <a:path w="171450" h="457835">
                <a:moveTo>
                  <a:pt x="67595" y="0"/>
                </a:moveTo>
                <a:lnTo>
                  <a:pt x="66432" y="349259"/>
                </a:lnTo>
                <a:lnTo>
                  <a:pt x="85278" y="381825"/>
                </a:lnTo>
                <a:lnTo>
                  <a:pt x="104534" y="349076"/>
                </a:lnTo>
                <a:lnTo>
                  <a:pt x="105695" y="253"/>
                </a:lnTo>
                <a:lnTo>
                  <a:pt x="675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7DBE69A8-037A-764B-0A0D-2530C27D03E9}"/>
              </a:ext>
            </a:extLst>
          </p:cNvPr>
          <p:cNvSpPr txBox="1"/>
          <p:nvPr/>
        </p:nvSpPr>
        <p:spPr>
          <a:xfrm>
            <a:off x="4769358" y="4705350"/>
            <a:ext cx="20447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ambria"/>
                <a:cs typeface="Cambria"/>
              </a:rPr>
              <a:t>p</a:t>
            </a:r>
            <a:r>
              <a:rPr sz="2000" b="1" spc="-25" dirty="0">
                <a:latin typeface="Cambria"/>
                <a:cs typeface="Cambria"/>
              </a:rPr>
              <a:t>r</a:t>
            </a:r>
            <a:r>
              <a:rPr sz="2000" b="1" dirty="0">
                <a:latin typeface="Cambria"/>
                <a:cs typeface="Cambria"/>
              </a:rPr>
              <a:t>efe</a:t>
            </a:r>
            <a:r>
              <a:rPr sz="2000" b="1" spc="-20" dirty="0">
                <a:latin typeface="Cambria"/>
                <a:cs typeface="Cambria"/>
              </a:rPr>
              <a:t>t</a:t>
            </a:r>
            <a:r>
              <a:rPr sz="2000" b="1" dirty="0">
                <a:latin typeface="Cambria"/>
                <a:cs typeface="Cambria"/>
              </a:rPr>
              <a:t>ch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d</a:t>
            </a:r>
            <a:r>
              <a:rPr sz="2000" b="1" spc="5" dirty="0">
                <a:latin typeface="Cambria"/>
                <a:cs typeface="Cambria"/>
              </a:rPr>
              <a:t>i</a:t>
            </a:r>
            <a:r>
              <a:rPr sz="2000" b="1" dirty="0">
                <a:latin typeface="Cambria"/>
                <a:cs typeface="Cambria"/>
              </a:rPr>
              <a:t>stan</a:t>
            </a:r>
            <a:r>
              <a:rPr sz="2000" b="1" spc="-15" dirty="0">
                <a:latin typeface="Cambria"/>
                <a:cs typeface="Cambria"/>
              </a:rPr>
              <a:t>c</a:t>
            </a:r>
            <a:r>
              <a:rPr sz="2000" b="1" dirty="0">
                <a:latin typeface="Cambria"/>
                <a:cs typeface="Cambria"/>
              </a:rPr>
              <a:t>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6" name="object 13">
            <a:extLst>
              <a:ext uri="{FF2B5EF4-FFF2-40B4-BE49-F238E27FC236}">
                <a16:creationId xmlns:a16="http://schemas.microsoft.com/office/drawing/2014/main" id="{9A10CC75-7E66-3DA5-A853-422827A0F2D4}"/>
              </a:ext>
            </a:extLst>
          </p:cNvPr>
          <p:cNvGrpSpPr/>
          <p:nvPr/>
        </p:nvGrpSpPr>
        <p:grpSpPr>
          <a:xfrm>
            <a:off x="4495800" y="2971800"/>
            <a:ext cx="1447800" cy="534670"/>
            <a:chOff x="4495800" y="2971800"/>
            <a:chExt cx="1447800" cy="534670"/>
          </a:xfrm>
        </p:grpSpPr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F6FF98BF-DE71-798B-569C-2DF84814DD54}"/>
                </a:ext>
              </a:extLst>
            </p:cNvPr>
            <p:cNvSpPr/>
            <p:nvPr/>
          </p:nvSpPr>
          <p:spPr>
            <a:xfrm>
              <a:off x="4943623" y="3201034"/>
              <a:ext cx="171450" cy="305435"/>
            </a:xfrm>
            <a:custGeom>
              <a:avLst/>
              <a:gdLst/>
              <a:ahLst/>
              <a:cxnLst/>
              <a:rect l="l" t="t" r="r" b="b"/>
              <a:pathLst>
                <a:path w="171450" h="305435">
                  <a:moveTo>
                    <a:pt x="16569" y="133699"/>
                  </a:moveTo>
                  <a:lnTo>
                    <a:pt x="9376" y="136143"/>
                  </a:lnTo>
                  <a:lnTo>
                    <a:pt x="3694" y="141120"/>
                  </a:lnTo>
                  <a:lnTo>
                    <a:pt x="502" y="147669"/>
                  </a:lnTo>
                  <a:lnTo>
                    <a:pt x="0" y="154932"/>
                  </a:lnTo>
                  <a:lnTo>
                    <a:pt x="2391" y="162051"/>
                  </a:lnTo>
                  <a:lnTo>
                    <a:pt x="84814" y="305053"/>
                  </a:lnTo>
                  <a:lnTo>
                    <a:pt x="107061" y="267335"/>
                  </a:lnTo>
                  <a:lnTo>
                    <a:pt x="103991" y="267335"/>
                  </a:lnTo>
                  <a:lnTo>
                    <a:pt x="65891" y="267080"/>
                  </a:lnTo>
                  <a:lnTo>
                    <a:pt x="66259" y="196639"/>
                  </a:lnTo>
                  <a:lnTo>
                    <a:pt x="35411" y="143128"/>
                  </a:lnTo>
                  <a:lnTo>
                    <a:pt x="30432" y="137429"/>
                  </a:lnTo>
                  <a:lnTo>
                    <a:pt x="23870" y="134207"/>
                  </a:lnTo>
                  <a:lnTo>
                    <a:pt x="16569" y="133699"/>
                  </a:lnTo>
                  <a:close/>
                </a:path>
                <a:path w="171450" h="305435">
                  <a:moveTo>
                    <a:pt x="66259" y="196639"/>
                  </a:moveTo>
                  <a:lnTo>
                    <a:pt x="65891" y="267080"/>
                  </a:lnTo>
                  <a:lnTo>
                    <a:pt x="103991" y="267335"/>
                  </a:lnTo>
                  <a:lnTo>
                    <a:pt x="104041" y="257682"/>
                  </a:lnTo>
                  <a:lnTo>
                    <a:pt x="68558" y="257555"/>
                  </a:lnTo>
                  <a:lnTo>
                    <a:pt x="85169" y="229441"/>
                  </a:lnTo>
                  <a:lnTo>
                    <a:pt x="66259" y="196639"/>
                  </a:lnTo>
                  <a:close/>
                </a:path>
                <a:path w="171450" h="305435">
                  <a:moveTo>
                    <a:pt x="154781" y="134421"/>
                  </a:moveTo>
                  <a:lnTo>
                    <a:pt x="104359" y="196964"/>
                  </a:lnTo>
                  <a:lnTo>
                    <a:pt x="103991" y="267335"/>
                  </a:lnTo>
                  <a:lnTo>
                    <a:pt x="107061" y="267335"/>
                  </a:lnTo>
                  <a:lnTo>
                    <a:pt x="168634" y="162940"/>
                  </a:lnTo>
                  <a:lnTo>
                    <a:pt x="171118" y="155819"/>
                  </a:lnTo>
                  <a:lnTo>
                    <a:pt x="170697" y="148542"/>
                  </a:lnTo>
                  <a:lnTo>
                    <a:pt x="167562" y="141956"/>
                  </a:lnTo>
                  <a:lnTo>
                    <a:pt x="161903" y="136905"/>
                  </a:lnTo>
                  <a:lnTo>
                    <a:pt x="154781" y="134421"/>
                  </a:lnTo>
                  <a:close/>
                </a:path>
                <a:path w="171450" h="305435">
                  <a:moveTo>
                    <a:pt x="85169" y="229441"/>
                  </a:moveTo>
                  <a:lnTo>
                    <a:pt x="68558" y="257555"/>
                  </a:lnTo>
                  <a:lnTo>
                    <a:pt x="101451" y="257682"/>
                  </a:lnTo>
                  <a:lnTo>
                    <a:pt x="85169" y="229441"/>
                  </a:lnTo>
                  <a:close/>
                </a:path>
                <a:path w="171450" h="305435">
                  <a:moveTo>
                    <a:pt x="104359" y="196964"/>
                  </a:moveTo>
                  <a:lnTo>
                    <a:pt x="85169" y="229441"/>
                  </a:lnTo>
                  <a:lnTo>
                    <a:pt x="101451" y="257682"/>
                  </a:lnTo>
                  <a:lnTo>
                    <a:pt x="104041" y="257682"/>
                  </a:lnTo>
                  <a:lnTo>
                    <a:pt x="104359" y="196964"/>
                  </a:lnTo>
                  <a:close/>
                </a:path>
                <a:path w="171450" h="305435">
                  <a:moveTo>
                    <a:pt x="67288" y="0"/>
                  </a:moveTo>
                  <a:lnTo>
                    <a:pt x="66259" y="196639"/>
                  </a:lnTo>
                  <a:lnTo>
                    <a:pt x="85169" y="229441"/>
                  </a:lnTo>
                  <a:lnTo>
                    <a:pt x="104359" y="196964"/>
                  </a:lnTo>
                  <a:lnTo>
                    <a:pt x="105388" y="253"/>
                  </a:lnTo>
                  <a:lnTo>
                    <a:pt x="67288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85C79536-56CC-BC96-A900-C0D6A8EE496A}"/>
                </a:ext>
              </a:extLst>
            </p:cNvPr>
            <p:cNvSpPr/>
            <p:nvPr/>
          </p:nvSpPr>
          <p:spPr>
            <a:xfrm>
              <a:off x="4495800" y="2971800"/>
              <a:ext cx="1447800" cy="304800"/>
            </a:xfrm>
            <a:custGeom>
              <a:avLst/>
              <a:gdLst/>
              <a:ahLst/>
              <a:cxnLst/>
              <a:rect l="l" t="t" r="r" b="b"/>
              <a:pathLst>
                <a:path w="1447800" h="304800">
                  <a:moveTo>
                    <a:pt x="1447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6">
            <a:extLst>
              <a:ext uri="{FF2B5EF4-FFF2-40B4-BE49-F238E27FC236}">
                <a16:creationId xmlns:a16="http://schemas.microsoft.com/office/drawing/2014/main" id="{B7891027-E019-58BD-CDE0-E981B147A4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7495" y="3277234"/>
            <a:ext cx="171102" cy="228853"/>
          </a:xfrm>
          <a:prstGeom prst="rect">
            <a:avLst/>
          </a:prstGeom>
        </p:spPr>
      </p:pic>
      <p:sp>
        <p:nvSpPr>
          <p:cNvPr id="20" name="object 17">
            <a:extLst>
              <a:ext uri="{FF2B5EF4-FFF2-40B4-BE49-F238E27FC236}">
                <a16:creationId xmlns:a16="http://schemas.microsoft.com/office/drawing/2014/main" id="{218DDCCD-0F41-8B28-089C-DAEF4D77CA0B}"/>
              </a:ext>
            </a:extLst>
          </p:cNvPr>
          <p:cNvSpPr txBox="1"/>
          <p:nvPr/>
        </p:nvSpPr>
        <p:spPr>
          <a:xfrm>
            <a:off x="2205608" y="2037714"/>
            <a:ext cx="523049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234055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Stream</a:t>
            </a:r>
            <a:r>
              <a:rPr sz="2000" b="1" spc="-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mbria"/>
                <a:cs typeface="Cambria"/>
              </a:rPr>
              <a:t>direction</a:t>
            </a:r>
            <a:endParaRPr sz="2000">
              <a:latin typeface="Cambria"/>
              <a:cs typeface="Cambria"/>
            </a:endParaRPr>
          </a:p>
          <a:p>
            <a:pPr marL="3357879" marR="878205" algn="ctr">
              <a:lnSpc>
                <a:spcPts val="1989"/>
              </a:lnSpc>
              <a:spcBef>
                <a:spcPts val="409"/>
              </a:spcBef>
            </a:pP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mory  </a:t>
            </a:r>
            <a:r>
              <a:rPr sz="2000" b="1" spc="-10" dirty="0">
                <a:solidFill>
                  <a:srgbClr val="FF0000"/>
                </a:solidFill>
                <a:latin typeface="Cambria"/>
                <a:cs typeface="Cambria"/>
              </a:rPr>
              <a:t>access</a:t>
            </a:r>
            <a:endParaRPr sz="2000">
              <a:latin typeface="Cambria"/>
              <a:cs typeface="Cambria"/>
            </a:endParaRPr>
          </a:p>
          <a:p>
            <a:pPr marL="2417445" algn="ctr">
              <a:lnSpc>
                <a:spcPct val="100000"/>
              </a:lnSpc>
              <a:spcBef>
                <a:spcPts val="409"/>
              </a:spcBef>
              <a:tabLst>
                <a:tab pos="4150360" algn="l"/>
              </a:tabLst>
            </a:pPr>
            <a:r>
              <a:rPr sz="2000" b="1" dirty="0">
                <a:latin typeface="Cambria"/>
                <a:cs typeface="Cambria"/>
              </a:rPr>
              <a:t>start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addr	</a:t>
            </a:r>
            <a:r>
              <a:rPr sz="2000" b="1" dirty="0">
                <a:latin typeface="Cambria"/>
                <a:cs typeface="Cambria"/>
              </a:rPr>
              <a:t>end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b="1" spc="-5" dirty="0">
                <a:latin typeface="Cambria"/>
                <a:cs typeface="Cambria"/>
              </a:rPr>
              <a:t>addr</a:t>
            </a:r>
            <a:endParaRPr sz="20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566710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0AAE-555A-4C41-C3C4-1385C999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Quantifying prefetchers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161EC-7413-0C5A-9E2F-CCB9C697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54D98-2A26-1CA6-E7FB-8E4ECC6B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397F5EE-4FC5-BBA3-9096-89A2079D6DBB}"/>
              </a:ext>
            </a:extLst>
          </p:cNvPr>
          <p:cNvSpPr/>
          <p:nvPr/>
        </p:nvSpPr>
        <p:spPr>
          <a:xfrm>
            <a:off x="3057047" y="1999394"/>
            <a:ext cx="1844039" cy="0"/>
          </a:xfrm>
          <a:custGeom>
            <a:avLst/>
            <a:gdLst/>
            <a:ahLst/>
            <a:cxnLst/>
            <a:rect l="l" t="t" r="r" b="b"/>
            <a:pathLst>
              <a:path w="1844039">
                <a:moveTo>
                  <a:pt x="0" y="0"/>
                </a:moveTo>
                <a:lnTo>
                  <a:pt x="1843685" y="0"/>
                </a:lnTo>
              </a:path>
            </a:pathLst>
          </a:custGeom>
          <a:ln w="308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083C5EB-6AC4-974D-1C9B-69410F61865D}"/>
              </a:ext>
            </a:extLst>
          </p:cNvPr>
          <p:cNvSpPr txBox="1"/>
          <p:nvPr/>
        </p:nvSpPr>
        <p:spPr>
          <a:xfrm>
            <a:off x="193992" y="1453769"/>
            <a:ext cx="4854575" cy="11226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8135" rIns="0" bIns="0" rtlCol="0">
            <a:spAutoFit/>
          </a:bodyPr>
          <a:lstStyle/>
          <a:p>
            <a:pPr marL="121920">
              <a:lnSpc>
                <a:spcPts val="2445"/>
              </a:lnSpc>
              <a:spcBef>
                <a:spcPts val="2505"/>
              </a:spcBef>
              <a:tabLst>
                <a:tab pos="3014345" algn="l"/>
              </a:tabLst>
            </a:pPr>
            <a:r>
              <a:rPr sz="2400" spc="-15" dirty="0">
                <a:latin typeface="Times New Roman"/>
                <a:cs typeface="Times New Roman"/>
              </a:rPr>
              <a:t>PrefetchAccuracy(i)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38194" dirty="0">
                <a:latin typeface="Times New Roman"/>
                <a:cs typeface="Times New Roman"/>
              </a:rPr>
              <a:t>Prefetch</a:t>
            </a:r>
            <a:r>
              <a:rPr sz="2175" spc="-22" baseline="63218" dirty="0">
                <a:latin typeface="Times New Roman"/>
                <a:cs typeface="Times New Roman"/>
              </a:rPr>
              <a:t>hits</a:t>
            </a:r>
            <a:r>
              <a:rPr sz="3600" spc="-22" baseline="38194" dirty="0">
                <a:latin typeface="Times New Roman"/>
                <a:cs typeface="Times New Roman"/>
              </a:rPr>
              <a:t>(i)</a:t>
            </a:r>
            <a:endParaRPr sz="3600" baseline="38194">
              <a:latin typeface="Times New Roman"/>
              <a:cs typeface="Times New Roman"/>
            </a:endParaRPr>
          </a:p>
          <a:p>
            <a:pPr marL="2919730">
              <a:lnSpc>
                <a:spcPts val="2445"/>
              </a:lnSpc>
            </a:pPr>
            <a:r>
              <a:rPr sz="2400" spc="-15" dirty="0">
                <a:latin typeface="Times New Roman"/>
                <a:cs typeface="Times New Roman"/>
              </a:rPr>
              <a:t>Prefetch</a:t>
            </a:r>
            <a:r>
              <a:rPr sz="1450" spc="-15" dirty="0">
                <a:latin typeface="Times New Roman"/>
                <a:cs typeface="Times New Roman"/>
              </a:rPr>
              <a:t>issued</a:t>
            </a:r>
            <a:r>
              <a:rPr sz="2400" spc="-15" dirty="0">
                <a:latin typeface="Times New Roman"/>
                <a:cs typeface="Times New Roman"/>
              </a:rPr>
              <a:t>(i)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24E536C-7D8E-7F54-F6DB-77CA25CBFAD6}"/>
              </a:ext>
            </a:extLst>
          </p:cNvPr>
          <p:cNvSpPr/>
          <p:nvPr/>
        </p:nvSpPr>
        <p:spPr>
          <a:xfrm>
            <a:off x="2025954" y="3262482"/>
            <a:ext cx="1704339" cy="0"/>
          </a:xfrm>
          <a:custGeom>
            <a:avLst/>
            <a:gdLst/>
            <a:ahLst/>
            <a:cxnLst/>
            <a:rect l="l" t="t" r="r" b="b"/>
            <a:pathLst>
              <a:path w="1704339">
                <a:moveTo>
                  <a:pt x="0" y="0"/>
                </a:moveTo>
                <a:lnTo>
                  <a:pt x="1704153" y="0"/>
                </a:lnTo>
              </a:path>
            </a:pathLst>
          </a:custGeom>
          <a:ln w="29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FCDDCC9F-78D3-9D6C-87B1-D6A53416B158}"/>
              </a:ext>
            </a:extLst>
          </p:cNvPr>
          <p:cNvSpPr txBox="1"/>
          <p:nvPr/>
        </p:nvSpPr>
        <p:spPr>
          <a:xfrm>
            <a:off x="193992" y="2719070"/>
            <a:ext cx="3711575" cy="11226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7315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845"/>
              </a:spcBef>
              <a:tabLst>
                <a:tab pos="1892935" algn="l"/>
              </a:tabLst>
            </a:pPr>
            <a:r>
              <a:rPr sz="3600" spc="15" baseline="-38194" dirty="0">
                <a:latin typeface="Times New Roman"/>
                <a:cs typeface="Times New Roman"/>
              </a:rPr>
              <a:t>Lateness(i)</a:t>
            </a:r>
            <a:r>
              <a:rPr sz="3600" baseline="-38194" dirty="0">
                <a:latin typeface="Times New Roman"/>
                <a:cs typeface="Times New Roman"/>
              </a:rPr>
              <a:t> </a:t>
            </a:r>
            <a:r>
              <a:rPr sz="3600" spc="97" baseline="-38194" dirty="0">
                <a:latin typeface="Symbol"/>
                <a:cs typeface="Symbol"/>
              </a:rPr>
              <a:t></a:t>
            </a:r>
            <a:r>
              <a:rPr sz="3600" spc="97" baseline="-38194" dirty="0">
                <a:latin typeface="Times New Roman"/>
                <a:cs typeface="Times New Roman"/>
              </a:rPr>
              <a:t>	</a:t>
            </a:r>
            <a:r>
              <a:rPr sz="2400" spc="5" dirty="0">
                <a:latin typeface="Times New Roman"/>
                <a:cs typeface="Times New Roman"/>
              </a:rPr>
              <a:t>Prefetch</a:t>
            </a:r>
            <a:r>
              <a:rPr sz="1450" spc="5" dirty="0">
                <a:latin typeface="Times New Roman"/>
                <a:cs typeface="Times New Roman"/>
              </a:rPr>
              <a:t>late</a:t>
            </a:r>
            <a:r>
              <a:rPr sz="2400" spc="5" dirty="0">
                <a:latin typeface="Times New Roman"/>
                <a:cs typeface="Times New Roman"/>
              </a:rPr>
              <a:t>(i)</a:t>
            </a:r>
            <a:endParaRPr sz="2400">
              <a:latin typeface="Times New Roman"/>
              <a:cs typeface="Times New Roman"/>
            </a:endParaRPr>
          </a:p>
          <a:p>
            <a:pPr marL="1890395">
              <a:lnSpc>
                <a:spcPct val="100000"/>
              </a:lnSpc>
              <a:spcBef>
                <a:spcPts val="745"/>
              </a:spcBef>
            </a:pPr>
            <a:r>
              <a:rPr sz="2400" spc="75" dirty="0">
                <a:latin typeface="Times New Roman"/>
                <a:cs typeface="Times New Roman"/>
              </a:rPr>
              <a:t>P</a:t>
            </a:r>
            <a:r>
              <a:rPr sz="2400" spc="-105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spc="-10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spc="200" dirty="0">
                <a:latin typeface="Times New Roman"/>
                <a:cs typeface="Times New Roman"/>
              </a:rPr>
              <a:t>h</a:t>
            </a:r>
            <a:r>
              <a:rPr sz="1450" spc="-25" dirty="0">
                <a:latin typeface="Times New Roman"/>
                <a:cs typeface="Times New Roman"/>
              </a:rPr>
              <a:t>h</a:t>
            </a:r>
            <a:r>
              <a:rPr sz="1450" spc="-55" dirty="0">
                <a:latin typeface="Times New Roman"/>
                <a:cs typeface="Times New Roman"/>
              </a:rPr>
              <a:t>it</a:t>
            </a:r>
            <a:r>
              <a:rPr sz="1450" spc="20" dirty="0">
                <a:latin typeface="Times New Roman"/>
                <a:cs typeface="Times New Roman"/>
              </a:rPr>
              <a:t>s</a:t>
            </a:r>
            <a:r>
              <a:rPr sz="1450" spc="-2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(</a:t>
            </a:r>
            <a:r>
              <a:rPr sz="2400" spc="35" dirty="0">
                <a:latin typeface="Times New Roman"/>
                <a:cs typeface="Times New Roman"/>
              </a:rPr>
              <a:t>i)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FD41E964-86BC-EB2B-0E31-46264DBF01F8}"/>
              </a:ext>
            </a:extLst>
          </p:cNvPr>
          <p:cNvSpPr/>
          <p:nvPr/>
        </p:nvSpPr>
        <p:spPr>
          <a:xfrm>
            <a:off x="2082354" y="4481682"/>
            <a:ext cx="1940560" cy="0"/>
          </a:xfrm>
          <a:custGeom>
            <a:avLst/>
            <a:gdLst/>
            <a:ahLst/>
            <a:cxnLst/>
            <a:rect l="l" t="t" r="r" b="b"/>
            <a:pathLst>
              <a:path w="1940560">
                <a:moveTo>
                  <a:pt x="0" y="0"/>
                </a:moveTo>
                <a:lnTo>
                  <a:pt x="1940372" y="0"/>
                </a:lnTo>
              </a:path>
            </a:pathLst>
          </a:custGeom>
          <a:ln w="29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C5CBD0ED-3D19-E08D-B862-E92F44CBB092}"/>
              </a:ext>
            </a:extLst>
          </p:cNvPr>
          <p:cNvSpPr txBox="1"/>
          <p:nvPr/>
        </p:nvSpPr>
        <p:spPr>
          <a:xfrm>
            <a:off x="193993" y="3938270"/>
            <a:ext cx="4016375" cy="93358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4960" rIns="0" bIns="0" rtlCol="0">
            <a:spAutoFit/>
          </a:bodyPr>
          <a:lstStyle/>
          <a:p>
            <a:pPr marL="125730">
              <a:lnSpc>
                <a:spcPts val="2440"/>
              </a:lnSpc>
              <a:spcBef>
                <a:spcPts val="2480"/>
              </a:spcBef>
              <a:tabLst>
                <a:tab pos="2148840" algn="l"/>
              </a:tabLst>
            </a:pPr>
            <a:r>
              <a:rPr sz="2400" spc="15" dirty="0">
                <a:latin typeface="Times New Roman"/>
                <a:cs typeface="Times New Roman"/>
              </a:rPr>
              <a:t>Pollution(</a:t>
            </a:r>
            <a:r>
              <a:rPr lang="en-US" sz="2400" spc="15" dirty="0" err="1">
                <a:latin typeface="Times New Roman"/>
                <a:cs typeface="Times New Roman"/>
              </a:rPr>
              <a:t>i</a:t>
            </a:r>
            <a:r>
              <a:rPr sz="2400" spc="15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Symbol"/>
                <a:cs typeface="Symbol"/>
              </a:rPr>
              <a:t></a:t>
            </a:r>
            <a:r>
              <a:rPr sz="2400" spc="65" dirty="0">
                <a:latin typeface="Times New Roman"/>
                <a:cs typeface="Times New Roman"/>
              </a:rPr>
              <a:t>	</a:t>
            </a:r>
            <a:r>
              <a:rPr sz="3600" spc="-15" baseline="38194" dirty="0">
                <a:latin typeface="Times New Roman"/>
                <a:cs typeface="Times New Roman"/>
              </a:rPr>
              <a:t>LLC</a:t>
            </a:r>
            <a:r>
              <a:rPr sz="3600" spc="-172" baseline="38194" dirty="0">
                <a:latin typeface="Times New Roman"/>
                <a:cs typeface="Times New Roman"/>
              </a:rPr>
              <a:t> </a:t>
            </a:r>
            <a:r>
              <a:rPr sz="3600" spc="67" baseline="38194" dirty="0">
                <a:latin typeface="Times New Roman"/>
                <a:cs typeface="Times New Roman"/>
              </a:rPr>
              <a:t>Poll(i)</a:t>
            </a:r>
            <a:endParaRPr sz="3600" baseline="38194" dirty="0">
              <a:latin typeface="Times New Roman"/>
              <a:cs typeface="Times New Roman"/>
            </a:endParaRPr>
          </a:p>
          <a:p>
            <a:pPr marL="1946275">
              <a:lnSpc>
                <a:spcPts val="2440"/>
              </a:lnSpc>
            </a:pPr>
            <a:r>
              <a:rPr sz="2400" spc="5" dirty="0">
                <a:latin typeface="Times New Roman"/>
                <a:cs typeface="Times New Roman"/>
              </a:rPr>
              <a:t>Demand</a:t>
            </a:r>
            <a:r>
              <a:rPr sz="1450" spc="5" dirty="0">
                <a:latin typeface="Times New Roman"/>
                <a:cs typeface="Times New Roman"/>
              </a:rPr>
              <a:t>misses</a:t>
            </a:r>
            <a:r>
              <a:rPr sz="2400" spc="5" dirty="0">
                <a:latin typeface="Times New Roman"/>
                <a:cs typeface="Times New Roman"/>
              </a:rPr>
              <a:t>(i)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62CFAC86-B6D7-E8CB-8F22-465846A74115}"/>
              </a:ext>
            </a:extLst>
          </p:cNvPr>
          <p:cNvGrpSpPr/>
          <p:nvPr/>
        </p:nvGrpSpPr>
        <p:grpSpPr>
          <a:xfrm>
            <a:off x="5232782" y="1413208"/>
            <a:ext cx="5793105" cy="906780"/>
            <a:chOff x="5141976" y="1051575"/>
            <a:chExt cx="5793105" cy="906780"/>
          </a:xfrm>
        </p:grpSpPr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0E977A07-75AB-7E46-FF9A-28B6E30F32F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9700" y="1051575"/>
              <a:ext cx="5715000" cy="906749"/>
            </a:xfrm>
            <a:prstGeom prst="rect">
              <a:avLst/>
            </a:prstGeom>
          </p:spPr>
        </p:pic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EF716F9A-884C-EBC7-FF67-EFDF028479B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1976" y="1153667"/>
              <a:ext cx="4965191" cy="804672"/>
            </a:xfrm>
            <a:prstGeom prst="rect">
              <a:avLst/>
            </a:prstGeom>
          </p:spPr>
        </p:pic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AEC21BEB-55F7-41A1-5274-B8C3B60B674F}"/>
                </a:ext>
              </a:extLst>
            </p:cNvPr>
            <p:cNvSpPr/>
            <p:nvPr/>
          </p:nvSpPr>
          <p:spPr>
            <a:xfrm>
              <a:off x="5257800" y="1066799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80">
                  <a:moveTo>
                    <a:pt x="5500370" y="0"/>
                  </a:moveTo>
                  <a:lnTo>
                    <a:pt x="138429" y="0"/>
                  </a:lnTo>
                  <a:lnTo>
                    <a:pt x="94674" y="7057"/>
                  </a:lnTo>
                  <a:lnTo>
                    <a:pt x="56674" y="26708"/>
                  </a:lnTo>
                  <a:lnTo>
                    <a:pt x="26708" y="56674"/>
                  </a:lnTo>
                  <a:lnTo>
                    <a:pt x="7057" y="94674"/>
                  </a:lnTo>
                  <a:lnTo>
                    <a:pt x="0" y="138429"/>
                  </a:lnTo>
                  <a:lnTo>
                    <a:pt x="0" y="691896"/>
                  </a:lnTo>
                  <a:lnTo>
                    <a:pt x="7057" y="735637"/>
                  </a:lnTo>
                  <a:lnTo>
                    <a:pt x="26708" y="773606"/>
                  </a:lnTo>
                  <a:lnTo>
                    <a:pt x="56674" y="803535"/>
                  </a:lnTo>
                  <a:lnTo>
                    <a:pt x="94674" y="823155"/>
                  </a:lnTo>
                  <a:lnTo>
                    <a:pt x="138429" y="830199"/>
                  </a:lnTo>
                  <a:lnTo>
                    <a:pt x="5500370" y="830199"/>
                  </a:lnTo>
                  <a:lnTo>
                    <a:pt x="5544125" y="823155"/>
                  </a:lnTo>
                  <a:lnTo>
                    <a:pt x="5582125" y="803535"/>
                  </a:lnTo>
                  <a:lnTo>
                    <a:pt x="5612091" y="773606"/>
                  </a:lnTo>
                  <a:lnTo>
                    <a:pt x="5631742" y="735637"/>
                  </a:lnTo>
                  <a:lnTo>
                    <a:pt x="5638800" y="691896"/>
                  </a:lnTo>
                  <a:lnTo>
                    <a:pt x="5638800" y="138429"/>
                  </a:lnTo>
                  <a:lnTo>
                    <a:pt x="5631742" y="94674"/>
                  </a:lnTo>
                  <a:lnTo>
                    <a:pt x="5612091" y="56674"/>
                  </a:lnTo>
                  <a:lnTo>
                    <a:pt x="5582125" y="26708"/>
                  </a:lnTo>
                  <a:lnTo>
                    <a:pt x="5544125" y="7057"/>
                  </a:lnTo>
                  <a:lnTo>
                    <a:pt x="55003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CE211984-6B49-43BF-5B4F-1DCF11FF7B19}"/>
                </a:ext>
              </a:extLst>
            </p:cNvPr>
            <p:cNvSpPr/>
            <p:nvPr/>
          </p:nvSpPr>
          <p:spPr>
            <a:xfrm>
              <a:off x="5257800" y="1066799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80">
                  <a:moveTo>
                    <a:pt x="0" y="138429"/>
                  </a:moveTo>
                  <a:lnTo>
                    <a:pt x="7057" y="94674"/>
                  </a:lnTo>
                  <a:lnTo>
                    <a:pt x="26708" y="56674"/>
                  </a:lnTo>
                  <a:lnTo>
                    <a:pt x="56674" y="26708"/>
                  </a:lnTo>
                  <a:lnTo>
                    <a:pt x="94674" y="7057"/>
                  </a:lnTo>
                  <a:lnTo>
                    <a:pt x="138429" y="0"/>
                  </a:lnTo>
                  <a:lnTo>
                    <a:pt x="5500370" y="0"/>
                  </a:lnTo>
                  <a:lnTo>
                    <a:pt x="5544125" y="7057"/>
                  </a:lnTo>
                  <a:lnTo>
                    <a:pt x="5582125" y="26708"/>
                  </a:lnTo>
                  <a:lnTo>
                    <a:pt x="5612091" y="56674"/>
                  </a:lnTo>
                  <a:lnTo>
                    <a:pt x="5631742" y="94674"/>
                  </a:lnTo>
                  <a:lnTo>
                    <a:pt x="5638800" y="138429"/>
                  </a:lnTo>
                  <a:lnTo>
                    <a:pt x="5638800" y="691896"/>
                  </a:lnTo>
                  <a:lnTo>
                    <a:pt x="5631742" y="735637"/>
                  </a:lnTo>
                  <a:lnTo>
                    <a:pt x="5612091" y="773606"/>
                  </a:lnTo>
                  <a:lnTo>
                    <a:pt x="5582125" y="803535"/>
                  </a:lnTo>
                  <a:lnTo>
                    <a:pt x="5544125" y="823155"/>
                  </a:lnTo>
                  <a:lnTo>
                    <a:pt x="5500370" y="830199"/>
                  </a:lnTo>
                  <a:lnTo>
                    <a:pt x="138429" y="830199"/>
                  </a:lnTo>
                  <a:lnTo>
                    <a:pt x="94674" y="823155"/>
                  </a:lnTo>
                  <a:lnTo>
                    <a:pt x="56674" y="803535"/>
                  </a:lnTo>
                  <a:lnTo>
                    <a:pt x="26708" y="773606"/>
                  </a:lnTo>
                  <a:lnTo>
                    <a:pt x="7057" y="735637"/>
                  </a:lnTo>
                  <a:lnTo>
                    <a:pt x="0" y="691896"/>
                  </a:lnTo>
                  <a:lnTo>
                    <a:pt x="0" y="1384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4">
            <a:extLst>
              <a:ext uri="{FF2B5EF4-FFF2-40B4-BE49-F238E27FC236}">
                <a16:creationId xmlns:a16="http://schemas.microsoft.com/office/drawing/2014/main" id="{91BEED3C-E403-D1AE-C9E0-55D5199553C6}"/>
              </a:ext>
            </a:extLst>
          </p:cNvPr>
          <p:cNvSpPr txBox="1"/>
          <p:nvPr/>
        </p:nvSpPr>
        <p:spPr>
          <a:xfrm>
            <a:off x="5468494" y="1616266"/>
            <a:ext cx="441706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mbria"/>
                <a:cs typeface="Cambria"/>
              </a:rPr>
              <a:t>Prefetched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Block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in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the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Cache.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18" name="object 15">
            <a:extLst>
              <a:ext uri="{FF2B5EF4-FFF2-40B4-BE49-F238E27FC236}">
                <a16:creationId xmlns:a16="http://schemas.microsoft.com/office/drawing/2014/main" id="{2E9E5399-FA0F-68DA-148D-614AEE2009A6}"/>
              </a:ext>
            </a:extLst>
          </p:cNvPr>
          <p:cNvGrpSpPr/>
          <p:nvPr/>
        </p:nvGrpSpPr>
        <p:grpSpPr>
          <a:xfrm>
            <a:off x="5232782" y="2632408"/>
            <a:ext cx="5793105" cy="906780"/>
            <a:chOff x="5141976" y="2270775"/>
            <a:chExt cx="5793105" cy="906780"/>
          </a:xfrm>
        </p:grpSpPr>
        <p:pic>
          <p:nvPicPr>
            <p:cNvPr id="19" name="object 16">
              <a:extLst>
                <a:ext uri="{FF2B5EF4-FFF2-40B4-BE49-F238E27FC236}">
                  <a16:creationId xmlns:a16="http://schemas.microsoft.com/office/drawing/2014/main" id="{18FBA64B-48E1-A7C6-4B8B-EBE5B0EBB5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9700" y="2270775"/>
              <a:ext cx="5715000" cy="906749"/>
            </a:xfrm>
            <a:prstGeom prst="rect">
              <a:avLst/>
            </a:prstGeom>
          </p:spPr>
        </p:pic>
        <p:pic>
          <p:nvPicPr>
            <p:cNvPr id="20" name="object 17">
              <a:extLst>
                <a:ext uri="{FF2B5EF4-FFF2-40B4-BE49-F238E27FC236}">
                  <a16:creationId xmlns:a16="http://schemas.microsoft.com/office/drawing/2014/main" id="{A9E996D0-0650-FFD5-AEE3-4D07653F54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1976" y="2372868"/>
              <a:ext cx="5237987" cy="804672"/>
            </a:xfrm>
            <a:prstGeom prst="rect">
              <a:avLst/>
            </a:prstGeom>
          </p:spPr>
        </p:pic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917321A4-E7C1-F403-6DBB-EFD036EAB223}"/>
                </a:ext>
              </a:extLst>
            </p:cNvPr>
            <p:cNvSpPr/>
            <p:nvPr/>
          </p:nvSpPr>
          <p:spPr>
            <a:xfrm>
              <a:off x="5257800" y="2286000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80">
                  <a:moveTo>
                    <a:pt x="5500370" y="0"/>
                  </a:moveTo>
                  <a:lnTo>
                    <a:pt x="138429" y="0"/>
                  </a:lnTo>
                  <a:lnTo>
                    <a:pt x="94674" y="7057"/>
                  </a:lnTo>
                  <a:lnTo>
                    <a:pt x="56674" y="26708"/>
                  </a:lnTo>
                  <a:lnTo>
                    <a:pt x="26708" y="56674"/>
                  </a:lnTo>
                  <a:lnTo>
                    <a:pt x="7057" y="94674"/>
                  </a:lnTo>
                  <a:lnTo>
                    <a:pt x="0" y="138429"/>
                  </a:lnTo>
                  <a:lnTo>
                    <a:pt x="0" y="691896"/>
                  </a:lnTo>
                  <a:lnTo>
                    <a:pt x="7057" y="735637"/>
                  </a:lnTo>
                  <a:lnTo>
                    <a:pt x="26708" y="773606"/>
                  </a:lnTo>
                  <a:lnTo>
                    <a:pt x="56674" y="803535"/>
                  </a:lnTo>
                  <a:lnTo>
                    <a:pt x="94674" y="823155"/>
                  </a:lnTo>
                  <a:lnTo>
                    <a:pt x="138429" y="830199"/>
                  </a:lnTo>
                  <a:lnTo>
                    <a:pt x="5500370" y="830199"/>
                  </a:lnTo>
                  <a:lnTo>
                    <a:pt x="5544125" y="823155"/>
                  </a:lnTo>
                  <a:lnTo>
                    <a:pt x="5582125" y="803535"/>
                  </a:lnTo>
                  <a:lnTo>
                    <a:pt x="5612091" y="773606"/>
                  </a:lnTo>
                  <a:lnTo>
                    <a:pt x="5631742" y="735637"/>
                  </a:lnTo>
                  <a:lnTo>
                    <a:pt x="5638800" y="691896"/>
                  </a:lnTo>
                  <a:lnTo>
                    <a:pt x="5638800" y="138429"/>
                  </a:lnTo>
                  <a:lnTo>
                    <a:pt x="5631742" y="94674"/>
                  </a:lnTo>
                  <a:lnTo>
                    <a:pt x="5612091" y="56674"/>
                  </a:lnTo>
                  <a:lnTo>
                    <a:pt x="5582125" y="26708"/>
                  </a:lnTo>
                  <a:lnTo>
                    <a:pt x="5544125" y="7057"/>
                  </a:lnTo>
                  <a:lnTo>
                    <a:pt x="55003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76C5F225-E118-6E1A-E61A-0458091CB4F7}"/>
                </a:ext>
              </a:extLst>
            </p:cNvPr>
            <p:cNvSpPr/>
            <p:nvPr/>
          </p:nvSpPr>
          <p:spPr>
            <a:xfrm>
              <a:off x="5257800" y="2286000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80">
                  <a:moveTo>
                    <a:pt x="0" y="138429"/>
                  </a:moveTo>
                  <a:lnTo>
                    <a:pt x="7057" y="94674"/>
                  </a:lnTo>
                  <a:lnTo>
                    <a:pt x="26708" y="56674"/>
                  </a:lnTo>
                  <a:lnTo>
                    <a:pt x="56674" y="26708"/>
                  </a:lnTo>
                  <a:lnTo>
                    <a:pt x="94674" y="7057"/>
                  </a:lnTo>
                  <a:lnTo>
                    <a:pt x="138429" y="0"/>
                  </a:lnTo>
                  <a:lnTo>
                    <a:pt x="5500370" y="0"/>
                  </a:lnTo>
                  <a:lnTo>
                    <a:pt x="5544125" y="7057"/>
                  </a:lnTo>
                  <a:lnTo>
                    <a:pt x="5582125" y="26708"/>
                  </a:lnTo>
                  <a:lnTo>
                    <a:pt x="5612091" y="56674"/>
                  </a:lnTo>
                  <a:lnTo>
                    <a:pt x="5631742" y="94674"/>
                  </a:lnTo>
                  <a:lnTo>
                    <a:pt x="5638800" y="138429"/>
                  </a:lnTo>
                  <a:lnTo>
                    <a:pt x="5638800" y="691896"/>
                  </a:lnTo>
                  <a:lnTo>
                    <a:pt x="5631742" y="735637"/>
                  </a:lnTo>
                  <a:lnTo>
                    <a:pt x="5612091" y="773606"/>
                  </a:lnTo>
                  <a:lnTo>
                    <a:pt x="5582125" y="803535"/>
                  </a:lnTo>
                  <a:lnTo>
                    <a:pt x="5544125" y="823155"/>
                  </a:lnTo>
                  <a:lnTo>
                    <a:pt x="5500370" y="830199"/>
                  </a:lnTo>
                  <a:lnTo>
                    <a:pt x="138429" y="830199"/>
                  </a:lnTo>
                  <a:lnTo>
                    <a:pt x="94674" y="823155"/>
                  </a:lnTo>
                  <a:lnTo>
                    <a:pt x="56674" y="803535"/>
                  </a:lnTo>
                  <a:lnTo>
                    <a:pt x="26708" y="773606"/>
                  </a:lnTo>
                  <a:lnTo>
                    <a:pt x="7057" y="735637"/>
                  </a:lnTo>
                  <a:lnTo>
                    <a:pt x="0" y="691896"/>
                  </a:lnTo>
                  <a:lnTo>
                    <a:pt x="0" y="1384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0">
            <a:extLst>
              <a:ext uri="{FF2B5EF4-FFF2-40B4-BE49-F238E27FC236}">
                <a16:creationId xmlns:a16="http://schemas.microsoft.com/office/drawing/2014/main" id="{FD667FB8-2DFB-9087-A952-9CB61F6E2377}"/>
              </a:ext>
            </a:extLst>
          </p:cNvPr>
          <p:cNvSpPr txBox="1"/>
          <p:nvPr/>
        </p:nvSpPr>
        <p:spPr>
          <a:xfrm>
            <a:off x="5468494" y="2835847"/>
            <a:ext cx="46894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mbria"/>
                <a:cs typeface="Cambria"/>
              </a:rPr>
              <a:t>Prefetched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Block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Still </a:t>
            </a:r>
            <a:r>
              <a:rPr sz="2700" dirty="0">
                <a:latin typeface="Cambria"/>
                <a:cs typeface="Cambria"/>
              </a:rPr>
              <a:t>on its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way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FB044B1F-D958-7985-AEFC-0DF43D1EA84B}"/>
              </a:ext>
            </a:extLst>
          </p:cNvPr>
          <p:cNvGrpSpPr/>
          <p:nvPr/>
        </p:nvGrpSpPr>
        <p:grpSpPr>
          <a:xfrm>
            <a:off x="5232782" y="3671761"/>
            <a:ext cx="5793105" cy="1216660"/>
            <a:chOff x="5141976" y="3310128"/>
            <a:chExt cx="5793105" cy="1216660"/>
          </a:xfrm>
        </p:grpSpPr>
        <p:pic>
          <p:nvPicPr>
            <p:cNvPr id="25" name="object 22">
              <a:extLst>
                <a:ext uri="{FF2B5EF4-FFF2-40B4-BE49-F238E27FC236}">
                  <a16:creationId xmlns:a16="http://schemas.microsoft.com/office/drawing/2014/main" id="{8FE9624A-F69D-DCB6-316F-B6F7AFCCEB8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9700" y="3413775"/>
              <a:ext cx="5715000" cy="906749"/>
            </a:xfrm>
            <a:prstGeom prst="rect">
              <a:avLst/>
            </a:prstGeom>
          </p:spPr>
        </p:pic>
        <p:pic>
          <p:nvPicPr>
            <p:cNvPr id="26" name="object 23">
              <a:extLst>
                <a:ext uri="{FF2B5EF4-FFF2-40B4-BE49-F238E27FC236}">
                  <a16:creationId xmlns:a16="http://schemas.microsoft.com/office/drawing/2014/main" id="{DE28F596-3705-CB18-5F1E-8D189DCA135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1976" y="3310128"/>
              <a:ext cx="5678424" cy="1216152"/>
            </a:xfrm>
            <a:prstGeom prst="rect">
              <a:avLst/>
            </a:prstGeom>
          </p:spPr>
        </p:pic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8CA9720E-38E6-3326-99FF-79F41E1ABF87}"/>
                </a:ext>
              </a:extLst>
            </p:cNvPr>
            <p:cNvSpPr/>
            <p:nvPr/>
          </p:nvSpPr>
          <p:spPr>
            <a:xfrm>
              <a:off x="5257800" y="3429000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79">
                  <a:moveTo>
                    <a:pt x="5500370" y="0"/>
                  </a:moveTo>
                  <a:lnTo>
                    <a:pt x="138429" y="0"/>
                  </a:lnTo>
                  <a:lnTo>
                    <a:pt x="94674" y="7057"/>
                  </a:lnTo>
                  <a:lnTo>
                    <a:pt x="56674" y="26708"/>
                  </a:lnTo>
                  <a:lnTo>
                    <a:pt x="26708" y="56674"/>
                  </a:lnTo>
                  <a:lnTo>
                    <a:pt x="7057" y="94674"/>
                  </a:lnTo>
                  <a:lnTo>
                    <a:pt x="0" y="138429"/>
                  </a:lnTo>
                  <a:lnTo>
                    <a:pt x="0" y="691895"/>
                  </a:lnTo>
                  <a:lnTo>
                    <a:pt x="7057" y="735637"/>
                  </a:lnTo>
                  <a:lnTo>
                    <a:pt x="26708" y="773606"/>
                  </a:lnTo>
                  <a:lnTo>
                    <a:pt x="56674" y="803535"/>
                  </a:lnTo>
                  <a:lnTo>
                    <a:pt x="94674" y="823155"/>
                  </a:lnTo>
                  <a:lnTo>
                    <a:pt x="138429" y="830199"/>
                  </a:lnTo>
                  <a:lnTo>
                    <a:pt x="5500370" y="830199"/>
                  </a:lnTo>
                  <a:lnTo>
                    <a:pt x="5544125" y="823155"/>
                  </a:lnTo>
                  <a:lnTo>
                    <a:pt x="5582125" y="803535"/>
                  </a:lnTo>
                  <a:lnTo>
                    <a:pt x="5612091" y="773606"/>
                  </a:lnTo>
                  <a:lnTo>
                    <a:pt x="5631742" y="735637"/>
                  </a:lnTo>
                  <a:lnTo>
                    <a:pt x="5638800" y="691895"/>
                  </a:lnTo>
                  <a:lnTo>
                    <a:pt x="5638800" y="138429"/>
                  </a:lnTo>
                  <a:lnTo>
                    <a:pt x="5631742" y="94674"/>
                  </a:lnTo>
                  <a:lnTo>
                    <a:pt x="5612091" y="56674"/>
                  </a:lnTo>
                  <a:lnTo>
                    <a:pt x="5582125" y="26708"/>
                  </a:lnTo>
                  <a:lnTo>
                    <a:pt x="5544125" y="7057"/>
                  </a:lnTo>
                  <a:lnTo>
                    <a:pt x="55003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1E425AB4-E0FE-DA9F-F39D-3A163B7B2565}"/>
                </a:ext>
              </a:extLst>
            </p:cNvPr>
            <p:cNvSpPr/>
            <p:nvPr/>
          </p:nvSpPr>
          <p:spPr>
            <a:xfrm>
              <a:off x="5257800" y="3429000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79">
                  <a:moveTo>
                    <a:pt x="0" y="138429"/>
                  </a:moveTo>
                  <a:lnTo>
                    <a:pt x="7057" y="94674"/>
                  </a:lnTo>
                  <a:lnTo>
                    <a:pt x="26708" y="56674"/>
                  </a:lnTo>
                  <a:lnTo>
                    <a:pt x="56674" y="26708"/>
                  </a:lnTo>
                  <a:lnTo>
                    <a:pt x="94674" y="7057"/>
                  </a:lnTo>
                  <a:lnTo>
                    <a:pt x="138429" y="0"/>
                  </a:lnTo>
                  <a:lnTo>
                    <a:pt x="5500370" y="0"/>
                  </a:lnTo>
                  <a:lnTo>
                    <a:pt x="5544125" y="7057"/>
                  </a:lnTo>
                  <a:lnTo>
                    <a:pt x="5582125" y="26708"/>
                  </a:lnTo>
                  <a:lnTo>
                    <a:pt x="5612091" y="56674"/>
                  </a:lnTo>
                  <a:lnTo>
                    <a:pt x="5631742" y="94674"/>
                  </a:lnTo>
                  <a:lnTo>
                    <a:pt x="5638800" y="138429"/>
                  </a:lnTo>
                  <a:lnTo>
                    <a:pt x="5638800" y="691895"/>
                  </a:lnTo>
                  <a:lnTo>
                    <a:pt x="5631742" y="735637"/>
                  </a:lnTo>
                  <a:lnTo>
                    <a:pt x="5612091" y="773606"/>
                  </a:lnTo>
                  <a:lnTo>
                    <a:pt x="5582125" y="803535"/>
                  </a:lnTo>
                  <a:lnTo>
                    <a:pt x="5544125" y="823155"/>
                  </a:lnTo>
                  <a:lnTo>
                    <a:pt x="5500370" y="830199"/>
                  </a:lnTo>
                  <a:lnTo>
                    <a:pt x="138429" y="830199"/>
                  </a:lnTo>
                  <a:lnTo>
                    <a:pt x="94674" y="823155"/>
                  </a:lnTo>
                  <a:lnTo>
                    <a:pt x="56674" y="803535"/>
                  </a:lnTo>
                  <a:lnTo>
                    <a:pt x="26708" y="773606"/>
                  </a:lnTo>
                  <a:lnTo>
                    <a:pt x="7057" y="735637"/>
                  </a:lnTo>
                  <a:lnTo>
                    <a:pt x="0" y="691895"/>
                  </a:lnTo>
                  <a:lnTo>
                    <a:pt x="0" y="1384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6">
            <a:extLst>
              <a:ext uri="{FF2B5EF4-FFF2-40B4-BE49-F238E27FC236}">
                <a16:creationId xmlns:a16="http://schemas.microsoft.com/office/drawing/2014/main" id="{C1663EC3-1AFC-7242-850B-27E93B5153A7}"/>
              </a:ext>
            </a:extLst>
          </p:cNvPr>
          <p:cNvSpPr txBox="1"/>
          <p:nvPr/>
        </p:nvSpPr>
        <p:spPr>
          <a:xfrm>
            <a:off x="5468494" y="3773361"/>
            <a:ext cx="51327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mbria"/>
                <a:cs typeface="Cambria"/>
              </a:rPr>
              <a:t>Prefetched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Block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evicted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demand </a:t>
            </a:r>
            <a:r>
              <a:rPr sz="2700" spc="-58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block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that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will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be</a:t>
            </a:r>
            <a:r>
              <a:rPr sz="2700" spc="-10" dirty="0">
                <a:latin typeface="Cambria"/>
                <a:cs typeface="Cambria"/>
              </a:rPr>
              <a:t> reused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E7EF018E-D7D8-F8AD-2B1A-F66A71A1FC93}"/>
              </a:ext>
            </a:extLst>
          </p:cNvPr>
          <p:cNvSpPr/>
          <p:nvPr/>
        </p:nvSpPr>
        <p:spPr>
          <a:xfrm>
            <a:off x="2056810" y="5779231"/>
            <a:ext cx="4272915" cy="0"/>
          </a:xfrm>
          <a:custGeom>
            <a:avLst/>
            <a:gdLst/>
            <a:ahLst/>
            <a:cxnLst/>
            <a:rect l="l" t="t" r="r" b="b"/>
            <a:pathLst>
              <a:path w="4272915">
                <a:moveTo>
                  <a:pt x="0" y="0"/>
                </a:moveTo>
                <a:lnTo>
                  <a:pt x="4272309" y="0"/>
                </a:lnTo>
              </a:path>
            </a:pathLst>
          </a:custGeom>
          <a:ln w="308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8">
            <a:extLst>
              <a:ext uri="{FF2B5EF4-FFF2-40B4-BE49-F238E27FC236}">
                <a16:creationId xmlns:a16="http://schemas.microsoft.com/office/drawing/2014/main" id="{D81E42E5-E725-8967-BD6F-C4E4A2E29344}"/>
              </a:ext>
            </a:extLst>
          </p:cNvPr>
          <p:cNvSpPr txBox="1"/>
          <p:nvPr/>
        </p:nvSpPr>
        <p:spPr>
          <a:xfrm>
            <a:off x="108268" y="5233670"/>
            <a:ext cx="6388100" cy="11226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2007235" marR="208279" indent="-1886585">
              <a:lnSpc>
                <a:spcPct val="126699"/>
              </a:lnSpc>
              <a:spcBef>
                <a:spcPts val="90"/>
              </a:spcBef>
              <a:tabLst>
                <a:tab pos="3116580" algn="l"/>
              </a:tabLst>
            </a:pPr>
            <a:r>
              <a:rPr sz="3600" spc="30" baseline="-38194" dirty="0">
                <a:latin typeface="Times New Roman"/>
                <a:cs typeface="Times New Roman"/>
              </a:rPr>
              <a:t>Coverage(i)</a:t>
            </a:r>
            <a:r>
              <a:rPr sz="3600" spc="44" baseline="-38194" dirty="0">
                <a:latin typeface="Times New Roman"/>
                <a:cs typeface="Times New Roman"/>
              </a:rPr>
              <a:t> </a:t>
            </a:r>
            <a:r>
              <a:rPr sz="3600" spc="67" baseline="-38194" dirty="0">
                <a:latin typeface="Symbol"/>
                <a:cs typeface="Symbol"/>
              </a:rPr>
              <a:t></a:t>
            </a:r>
            <a:r>
              <a:rPr sz="3600" spc="67" baseline="-38194" dirty="0">
                <a:latin typeface="Times New Roman"/>
                <a:cs typeface="Times New Roman"/>
              </a:rPr>
              <a:t>		</a:t>
            </a:r>
            <a:r>
              <a:rPr sz="2400" spc="30" dirty="0">
                <a:latin typeface="Times New Roman"/>
                <a:cs typeface="Times New Roman"/>
              </a:rPr>
              <a:t>Prefetch  Hits(i) 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Times New Roman"/>
                <a:cs typeface="Times New Roman"/>
              </a:rPr>
              <a:t>Prefetch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Hits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(i)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Symbol"/>
                <a:cs typeface="Symbol"/>
              </a:rPr>
              <a:t>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Demand</a:t>
            </a:r>
            <a:r>
              <a:rPr sz="1450" spc="20" dirty="0">
                <a:latin typeface="Times New Roman"/>
                <a:cs typeface="Times New Roman"/>
              </a:rPr>
              <a:t>misses</a:t>
            </a:r>
            <a:r>
              <a:rPr sz="2400" spc="20" dirty="0">
                <a:latin typeface="Times New Roman"/>
                <a:cs typeface="Times New Roman"/>
              </a:rPr>
              <a:t>(i)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2" name="object 29">
            <a:extLst>
              <a:ext uri="{FF2B5EF4-FFF2-40B4-BE49-F238E27FC236}">
                <a16:creationId xmlns:a16="http://schemas.microsoft.com/office/drawing/2014/main" id="{5594176D-2FF2-4E2F-2758-BA468CBBEB53}"/>
              </a:ext>
            </a:extLst>
          </p:cNvPr>
          <p:cNvGrpSpPr/>
          <p:nvPr/>
        </p:nvGrpSpPr>
        <p:grpSpPr>
          <a:xfrm>
            <a:off x="6756782" y="5147007"/>
            <a:ext cx="5031105" cy="906780"/>
            <a:chOff x="6665976" y="4785374"/>
            <a:chExt cx="5031105" cy="906780"/>
          </a:xfrm>
        </p:grpSpPr>
        <p:pic>
          <p:nvPicPr>
            <p:cNvPr id="33" name="object 30">
              <a:extLst>
                <a:ext uri="{FF2B5EF4-FFF2-40B4-BE49-F238E27FC236}">
                  <a16:creationId xmlns:a16="http://schemas.microsoft.com/office/drawing/2014/main" id="{758BBED9-B74A-ADD5-B2E3-DC644588E78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43702" y="4785374"/>
              <a:ext cx="4952994" cy="906749"/>
            </a:xfrm>
            <a:prstGeom prst="rect">
              <a:avLst/>
            </a:prstGeom>
          </p:spPr>
        </p:pic>
        <p:pic>
          <p:nvPicPr>
            <p:cNvPr id="34" name="object 31">
              <a:extLst>
                <a:ext uri="{FF2B5EF4-FFF2-40B4-BE49-F238E27FC236}">
                  <a16:creationId xmlns:a16="http://schemas.microsoft.com/office/drawing/2014/main" id="{58D76589-BD4E-E265-17C5-D7BB56B5931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65976" y="4887467"/>
              <a:ext cx="4448556" cy="804672"/>
            </a:xfrm>
            <a:prstGeom prst="rect">
              <a:avLst/>
            </a:prstGeom>
          </p:spPr>
        </p:pic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9C9A2754-6531-E3A4-AC79-804C2CF093EE}"/>
                </a:ext>
              </a:extLst>
            </p:cNvPr>
            <p:cNvSpPr/>
            <p:nvPr/>
          </p:nvSpPr>
          <p:spPr>
            <a:xfrm>
              <a:off x="6781800" y="4800599"/>
              <a:ext cx="4876800" cy="830580"/>
            </a:xfrm>
            <a:custGeom>
              <a:avLst/>
              <a:gdLst/>
              <a:ahLst/>
              <a:cxnLst/>
              <a:rect l="l" t="t" r="r" b="b"/>
              <a:pathLst>
                <a:path w="4876800" h="830579">
                  <a:moveTo>
                    <a:pt x="4738370" y="0"/>
                  </a:moveTo>
                  <a:lnTo>
                    <a:pt x="138429" y="0"/>
                  </a:lnTo>
                  <a:lnTo>
                    <a:pt x="94674" y="7057"/>
                  </a:lnTo>
                  <a:lnTo>
                    <a:pt x="56674" y="26708"/>
                  </a:lnTo>
                  <a:lnTo>
                    <a:pt x="26708" y="56674"/>
                  </a:lnTo>
                  <a:lnTo>
                    <a:pt x="7057" y="94674"/>
                  </a:lnTo>
                  <a:lnTo>
                    <a:pt x="0" y="138430"/>
                  </a:lnTo>
                  <a:lnTo>
                    <a:pt x="0" y="691896"/>
                  </a:lnTo>
                  <a:lnTo>
                    <a:pt x="7057" y="735644"/>
                  </a:lnTo>
                  <a:lnTo>
                    <a:pt x="26708" y="773629"/>
                  </a:lnTo>
                  <a:lnTo>
                    <a:pt x="56674" y="803576"/>
                  </a:lnTo>
                  <a:lnTo>
                    <a:pt x="94674" y="823211"/>
                  </a:lnTo>
                  <a:lnTo>
                    <a:pt x="138429" y="830262"/>
                  </a:lnTo>
                  <a:lnTo>
                    <a:pt x="4738370" y="830262"/>
                  </a:lnTo>
                  <a:lnTo>
                    <a:pt x="4782125" y="823211"/>
                  </a:lnTo>
                  <a:lnTo>
                    <a:pt x="4820125" y="803576"/>
                  </a:lnTo>
                  <a:lnTo>
                    <a:pt x="4850091" y="773629"/>
                  </a:lnTo>
                  <a:lnTo>
                    <a:pt x="4869742" y="735644"/>
                  </a:lnTo>
                  <a:lnTo>
                    <a:pt x="4876800" y="691896"/>
                  </a:lnTo>
                  <a:lnTo>
                    <a:pt x="4876800" y="138430"/>
                  </a:lnTo>
                  <a:lnTo>
                    <a:pt x="4869742" y="94674"/>
                  </a:lnTo>
                  <a:lnTo>
                    <a:pt x="4850091" y="56674"/>
                  </a:lnTo>
                  <a:lnTo>
                    <a:pt x="4820125" y="26708"/>
                  </a:lnTo>
                  <a:lnTo>
                    <a:pt x="4782125" y="7057"/>
                  </a:lnTo>
                  <a:lnTo>
                    <a:pt x="47383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72B347E4-AEF6-FBEB-22DB-A726775D3EBF}"/>
                </a:ext>
              </a:extLst>
            </p:cNvPr>
            <p:cNvSpPr/>
            <p:nvPr/>
          </p:nvSpPr>
          <p:spPr>
            <a:xfrm>
              <a:off x="6781800" y="4800599"/>
              <a:ext cx="4876800" cy="830580"/>
            </a:xfrm>
            <a:custGeom>
              <a:avLst/>
              <a:gdLst/>
              <a:ahLst/>
              <a:cxnLst/>
              <a:rect l="l" t="t" r="r" b="b"/>
              <a:pathLst>
                <a:path w="4876800" h="830579">
                  <a:moveTo>
                    <a:pt x="0" y="138430"/>
                  </a:moveTo>
                  <a:lnTo>
                    <a:pt x="7057" y="94674"/>
                  </a:lnTo>
                  <a:lnTo>
                    <a:pt x="26708" y="56674"/>
                  </a:lnTo>
                  <a:lnTo>
                    <a:pt x="56674" y="26708"/>
                  </a:lnTo>
                  <a:lnTo>
                    <a:pt x="94674" y="7057"/>
                  </a:lnTo>
                  <a:lnTo>
                    <a:pt x="138429" y="0"/>
                  </a:lnTo>
                  <a:lnTo>
                    <a:pt x="4738370" y="0"/>
                  </a:lnTo>
                  <a:lnTo>
                    <a:pt x="4782125" y="7057"/>
                  </a:lnTo>
                  <a:lnTo>
                    <a:pt x="4820125" y="26708"/>
                  </a:lnTo>
                  <a:lnTo>
                    <a:pt x="4850091" y="56674"/>
                  </a:lnTo>
                  <a:lnTo>
                    <a:pt x="4869742" y="94674"/>
                  </a:lnTo>
                  <a:lnTo>
                    <a:pt x="4876800" y="138430"/>
                  </a:lnTo>
                  <a:lnTo>
                    <a:pt x="4876800" y="691896"/>
                  </a:lnTo>
                  <a:lnTo>
                    <a:pt x="4869742" y="735644"/>
                  </a:lnTo>
                  <a:lnTo>
                    <a:pt x="4850091" y="773629"/>
                  </a:lnTo>
                  <a:lnTo>
                    <a:pt x="4820125" y="803576"/>
                  </a:lnTo>
                  <a:lnTo>
                    <a:pt x="4782125" y="823211"/>
                  </a:lnTo>
                  <a:lnTo>
                    <a:pt x="4738370" y="830262"/>
                  </a:lnTo>
                  <a:lnTo>
                    <a:pt x="138429" y="830262"/>
                  </a:lnTo>
                  <a:lnTo>
                    <a:pt x="94674" y="823211"/>
                  </a:lnTo>
                  <a:lnTo>
                    <a:pt x="56674" y="803576"/>
                  </a:lnTo>
                  <a:lnTo>
                    <a:pt x="26708" y="773629"/>
                  </a:lnTo>
                  <a:lnTo>
                    <a:pt x="7057" y="735644"/>
                  </a:lnTo>
                  <a:lnTo>
                    <a:pt x="0" y="691896"/>
                  </a:lnTo>
                  <a:lnTo>
                    <a:pt x="0" y="13843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4">
            <a:extLst>
              <a:ext uri="{FF2B5EF4-FFF2-40B4-BE49-F238E27FC236}">
                <a16:creationId xmlns:a16="http://schemas.microsoft.com/office/drawing/2014/main" id="{FCB80F19-7CEC-077A-CB58-9D69C320743E}"/>
              </a:ext>
            </a:extLst>
          </p:cNvPr>
          <p:cNvSpPr txBox="1"/>
          <p:nvPr/>
        </p:nvSpPr>
        <p:spPr>
          <a:xfrm>
            <a:off x="6992748" y="5350954"/>
            <a:ext cx="38995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5" dirty="0">
                <a:latin typeface="Cambria"/>
                <a:cs typeface="Cambria"/>
              </a:rPr>
              <a:t>Fraction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of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misses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avoided</a:t>
            </a:r>
            <a:endParaRPr sz="27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474383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48599</TotalTime>
  <Words>647</Words>
  <Application>Microsoft Office PowerPoint</Application>
  <PresentationFormat>Widescreen</PresentationFormat>
  <Paragraphs>160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Symbol</vt:lpstr>
      <vt:lpstr>Times New Roman</vt:lpstr>
      <vt:lpstr>Wingdings</vt:lpstr>
      <vt:lpstr>Office Theme</vt:lpstr>
      <vt:lpstr>CS683: Advanced Computer Architecture-2025</vt:lpstr>
      <vt:lpstr>Phones (smart/non-smart) on silence plz, Thanks </vt:lpstr>
      <vt:lpstr>Reducing Miss rate, Nah, Miss Latency </vt:lpstr>
      <vt:lpstr>Hardware Prefetching</vt:lpstr>
      <vt:lpstr>An example</vt:lpstr>
      <vt:lpstr>Prefetch Degree</vt:lpstr>
      <vt:lpstr>Prefetch Distance</vt:lpstr>
      <vt:lpstr>The Simplest one</vt:lpstr>
      <vt:lpstr>What about this?</vt:lpstr>
      <vt:lpstr>PowerPoint Presentation</vt:lpstr>
      <vt:lpstr>IP-stride prefetching [Intel, AMD, ARM, IBM]</vt:lpstr>
      <vt:lpstr>Stream prefetcher [Intel, IBM, ARM, AMD]</vt:lpstr>
      <vt:lpstr>Stream prefetcher (Region based) in action</vt:lpstr>
      <vt:lpstr>Quantifying prefetchers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974</cp:revision>
  <dcterms:created xsi:type="dcterms:W3CDTF">2021-05-31T06:57:48Z</dcterms:created>
  <dcterms:modified xsi:type="dcterms:W3CDTF">2025-08-28T15:11:02Z</dcterms:modified>
</cp:coreProperties>
</file>