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7751" r:id="rId3"/>
    <p:sldId id="7917" r:id="rId4"/>
    <p:sldId id="7752" r:id="rId5"/>
    <p:sldId id="7918" r:id="rId6"/>
    <p:sldId id="7919" r:id="rId7"/>
    <p:sldId id="7753" r:id="rId8"/>
    <p:sldId id="7920" r:id="rId9"/>
    <p:sldId id="775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4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7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5FA3E1-3815-4E7C-B32A-812EB1B58E7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E9322C8-245C-4875-9D56-D704C75FBE4A}">
      <dgm:prSet/>
      <dgm:spPr/>
      <dgm:t>
        <a:bodyPr/>
        <a:lstStyle/>
        <a:p>
          <a:r>
            <a:rPr lang="en-US"/>
            <a:t>From now on, no programmer optimizations </a:t>
          </a:r>
        </a:p>
      </dgm:t>
    </dgm:pt>
    <dgm:pt modelId="{6D64903A-2AD0-4AA9-B966-303B8E51EBEF}" type="parTrans" cxnId="{4CF64CBB-6590-4240-820C-9B2F1524E1F6}">
      <dgm:prSet/>
      <dgm:spPr/>
      <dgm:t>
        <a:bodyPr/>
        <a:lstStyle/>
        <a:p>
          <a:endParaRPr lang="en-US"/>
        </a:p>
      </dgm:t>
    </dgm:pt>
    <dgm:pt modelId="{9814BF34-2B31-4F45-BF59-6C7599491696}" type="sibTrans" cxnId="{4CF64CBB-6590-4240-820C-9B2F1524E1F6}">
      <dgm:prSet/>
      <dgm:spPr/>
      <dgm:t>
        <a:bodyPr/>
        <a:lstStyle/>
        <a:p>
          <a:endParaRPr lang="en-US"/>
        </a:p>
      </dgm:t>
    </dgm:pt>
    <dgm:pt modelId="{E0A4A804-BD5A-46D0-9BD3-710347694436}">
      <dgm:prSet/>
      <dgm:spPr/>
      <dgm:t>
        <a:bodyPr/>
        <a:lstStyle/>
        <a:p>
          <a:r>
            <a:rPr lang="en-US"/>
            <a:t>Assume, the code written is the best code written </a:t>
          </a:r>
        </a:p>
      </dgm:t>
    </dgm:pt>
    <dgm:pt modelId="{ED619264-A886-4439-8F50-CEAD45A0E92B}" type="parTrans" cxnId="{5BD2548D-8574-4AA1-9D4C-D834043CC546}">
      <dgm:prSet/>
      <dgm:spPr/>
      <dgm:t>
        <a:bodyPr/>
        <a:lstStyle/>
        <a:p>
          <a:endParaRPr lang="en-US"/>
        </a:p>
      </dgm:t>
    </dgm:pt>
    <dgm:pt modelId="{15600811-5EB8-4038-9105-921A6D55D0D2}" type="sibTrans" cxnId="{5BD2548D-8574-4AA1-9D4C-D834043CC546}">
      <dgm:prSet/>
      <dgm:spPr/>
      <dgm:t>
        <a:bodyPr/>
        <a:lstStyle/>
        <a:p>
          <a:endParaRPr lang="en-US"/>
        </a:p>
      </dgm:t>
    </dgm:pt>
    <dgm:pt modelId="{642D88B8-EE7C-43FC-9C16-FE9939BC7051}">
      <dgm:prSet/>
      <dgm:spPr/>
      <dgm:t>
        <a:bodyPr/>
        <a:lstStyle/>
        <a:p>
          <a:r>
            <a:rPr lang="en-US"/>
            <a:t>Now what can be done to improve cache performance </a:t>
          </a:r>
        </a:p>
      </dgm:t>
    </dgm:pt>
    <dgm:pt modelId="{9ACF9A23-F45D-4701-A019-5927D53F3901}" type="parTrans" cxnId="{CFBBF10B-77BC-4A23-800F-B152111235C6}">
      <dgm:prSet/>
      <dgm:spPr/>
      <dgm:t>
        <a:bodyPr/>
        <a:lstStyle/>
        <a:p>
          <a:endParaRPr lang="en-US"/>
        </a:p>
      </dgm:t>
    </dgm:pt>
    <dgm:pt modelId="{C47C55F2-2B27-410D-AFF3-01241265BBE5}" type="sibTrans" cxnId="{CFBBF10B-77BC-4A23-800F-B152111235C6}">
      <dgm:prSet/>
      <dgm:spPr/>
      <dgm:t>
        <a:bodyPr/>
        <a:lstStyle/>
        <a:p>
          <a:endParaRPr lang="en-US"/>
        </a:p>
      </dgm:t>
    </dgm:pt>
    <dgm:pt modelId="{44243532-BA84-4505-8DA2-ACD90DA8222E}" type="pres">
      <dgm:prSet presAssocID="{F35FA3E1-3815-4E7C-B32A-812EB1B58E79}" presName="root" presStyleCnt="0">
        <dgm:presLayoutVars>
          <dgm:dir/>
          <dgm:resizeHandles val="exact"/>
        </dgm:presLayoutVars>
      </dgm:prSet>
      <dgm:spPr/>
    </dgm:pt>
    <dgm:pt modelId="{F0B2344A-6A17-49F5-9C70-2DC89E0108B5}" type="pres">
      <dgm:prSet presAssocID="{EE9322C8-245C-4875-9D56-D704C75FBE4A}" presName="compNode" presStyleCnt="0"/>
      <dgm:spPr/>
    </dgm:pt>
    <dgm:pt modelId="{9CC169FC-67C3-41FD-BCD4-610333F71131}" type="pres">
      <dgm:prSet presAssocID="{EE9322C8-245C-4875-9D56-D704C75FBE4A}" presName="bgRect" presStyleLbl="bgShp" presStyleIdx="0" presStyleCnt="3"/>
      <dgm:spPr/>
    </dgm:pt>
    <dgm:pt modelId="{BCEA6F5D-EAEA-48F8-AD51-D23DA26DA4D5}" type="pres">
      <dgm:prSet presAssocID="{EE9322C8-245C-4875-9D56-D704C75FBE4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7F5DE9F-D169-4B15-9E7C-8FA7456BACDE}" type="pres">
      <dgm:prSet presAssocID="{EE9322C8-245C-4875-9D56-D704C75FBE4A}" presName="spaceRect" presStyleCnt="0"/>
      <dgm:spPr/>
    </dgm:pt>
    <dgm:pt modelId="{A4EE6A49-EF6D-466F-9EC3-7D9B5AC02036}" type="pres">
      <dgm:prSet presAssocID="{EE9322C8-245C-4875-9D56-D704C75FBE4A}" presName="parTx" presStyleLbl="revTx" presStyleIdx="0" presStyleCnt="3">
        <dgm:presLayoutVars>
          <dgm:chMax val="0"/>
          <dgm:chPref val="0"/>
        </dgm:presLayoutVars>
      </dgm:prSet>
      <dgm:spPr/>
    </dgm:pt>
    <dgm:pt modelId="{F9A7E87F-AB09-444E-8C96-CFE9CAF08811}" type="pres">
      <dgm:prSet presAssocID="{9814BF34-2B31-4F45-BF59-6C7599491696}" presName="sibTrans" presStyleCnt="0"/>
      <dgm:spPr/>
    </dgm:pt>
    <dgm:pt modelId="{218D5C7F-DB2C-4A4C-BB04-6046320820B5}" type="pres">
      <dgm:prSet presAssocID="{E0A4A804-BD5A-46D0-9BD3-710347694436}" presName="compNode" presStyleCnt="0"/>
      <dgm:spPr/>
    </dgm:pt>
    <dgm:pt modelId="{BFD8907B-5D84-4EDE-A75A-A223F24CE6FA}" type="pres">
      <dgm:prSet presAssocID="{E0A4A804-BD5A-46D0-9BD3-710347694436}" presName="bgRect" presStyleLbl="bgShp" presStyleIdx="1" presStyleCnt="3"/>
      <dgm:spPr/>
    </dgm:pt>
    <dgm:pt modelId="{BBDA317D-0EF7-4A47-82E3-7201136C5365}" type="pres">
      <dgm:prSet presAssocID="{E0A4A804-BD5A-46D0-9BD3-71034769443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D9FEF634-7501-4DFA-B5AD-F520D7382E93}" type="pres">
      <dgm:prSet presAssocID="{E0A4A804-BD5A-46D0-9BD3-710347694436}" presName="spaceRect" presStyleCnt="0"/>
      <dgm:spPr/>
    </dgm:pt>
    <dgm:pt modelId="{13F18454-C5F7-4CC8-934F-0A37C2C91FC9}" type="pres">
      <dgm:prSet presAssocID="{E0A4A804-BD5A-46D0-9BD3-710347694436}" presName="parTx" presStyleLbl="revTx" presStyleIdx="1" presStyleCnt="3">
        <dgm:presLayoutVars>
          <dgm:chMax val="0"/>
          <dgm:chPref val="0"/>
        </dgm:presLayoutVars>
      </dgm:prSet>
      <dgm:spPr/>
    </dgm:pt>
    <dgm:pt modelId="{6DF98BD2-5D56-4B1D-B3B5-C664972A1FD6}" type="pres">
      <dgm:prSet presAssocID="{15600811-5EB8-4038-9105-921A6D55D0D2}" presName="sibTrans" presStyleCnt="0"/>
      <dgm:spPr/>
    </dgm:pt>
    <dgm:pt modelId="{D974B70C-DFF0-4D7F-877B-F2BD5F42E538}" type="pres">
      <dgm:prSet presAssocID="{642D88B8-EE7C-43FC-9C16-FE9939BC7051}" presName="compNode" presStyleCnt="0"/>
      <dgm:spPr/>
    </dgm:pt>
    <dgm:pt modelId="{4A8C314B-E969-481D-A451-112909C67E79}" type="pres">
      <dgm:prSet presAssocID="{642D88B8-EE7C-43FC-9C16-FE9939BC7051}" presName="bgRect" presStyleLbl="bgShp" presStyleIdx="2" presStyleCnt="3"/>
      <dgm:spPr/>
    </dgm:pt>
    <dgm:pt modelId="{C13A27F5-2B41-4A8C-B628-870C0A5A2642}" type="pres">
      <dgm:prSet presAssocID="{642D88B8-EE7C-43FC-9C16-FE9939BC705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28F2D4B-BFB5-4FC7-ABCF-897C9D3D0CFC}" type="pres">
      <dgm:prSet presAssocID="{642D88B8-EE7C-43FC-9C16-FE9939BC7051}" presName="spaceRect" presStyleCnt="0"/>
      <dgm:spPr/>
    </dgm:pt>
    <dgm:pt modelId="{0CD1FE89-2351-4F3B-9FE2-FCDDA34C3DE4}" type="pres">
      <dgm:prSet presAssocID="{642D88B8-EE7C-43FC-9C16-FE9939BC705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FBBF10B-77BC-4A23-800F-B152111235C6}" srcId="{F35FA3E1-3815-4E7C-B32A-812EB1B58E79}" destId="{642D88B8-EE7C-43FC-9C16-FE9939BC7051}" srcOrd="2" destOrd="0" parTransId="{9ACF9A23-F45D-4701-A019-5927D53F3901}" sibTransId="{C47C55F2-2B27-410D-AFF3-01241265BBE5}"/>
    <dgm:cxn modelId="{D17E9E87-8EF2-4C15-BCD4-465485BA3035}" type="presOf" srcId="{EE9322C8-245C-4875-9D56-D704C75FBE4A}" destId="{A4EE6A49-EF6D-466F-9EC3-7D9B5AC02036}" srcOrd="0" destOrd="0" presId="urn:microsoft.com/office/officeart/2018/2/layout/IconVerticalSolidList"/>
    <dgm:cxn modelId="{5BD2548D-8574-4AA1-9D4C-D834043CC546}" srcId="{F35FA3E1-3815-4E7C-B32A-812EB1B58E79}" destId="{E0A4A804-BD5A-46D0-9BD3-710347694436}" srcOrd="1" destOrd="0" parTransId="{ED619264-A886-4439-8F50-CEAD45A0E92B}" sibTransId="{15600811-5EB8-4038-9105-921A6D55D0D2}"/>
    <dgm:cxn modelId="{4CF64CBB-6590-4240-820C-9B2F1524E1F6}" srcId="{F35FA3E1-3815-4E7C-B32A-812EB1B58E79}" destId="{EE9322C8-245C-4875-9D56-D704C75FBE4A}" srcOrd="0" destOrd="0" parTransId="{6D64903A-2AD0-4AA9-B966-303B8E51EBEF}" sibTransId="{9814BF34-2B31-4F45-BF59-6C7599491696}"/>
    <dgm:cxn modelId="{473BB3C6-8D3E-4101-9852-3FAE73F24CD5}" type="presOf" srcId="{F35FA3E1-3815-4E7C-B32A-812EB1B58E79}" destId="{44243532-BA84-4505-8DA2-ACD90DA8222E}" srcOrd="0" destOrd="0" presId="urn:microsoft.com/office/officeart/2018/2/layout/IconVerticalSolidList"/>
    <dgm:cxn modelId="{91FCFEDD-7495-4278-A334-882D75C1AC47}" type="presOf" srcId="{E0A4A804-BD5A-46D0-9BD3-710347694436}" destId="{13F18454-C5F7-4CC8-934F-0A37C2C91FC9}" srcOrd="0" destOrd="0" presId="urn:microsoft.com/office/officeart/2018/2/layout/IconVerticalSolidList"/>
    <dgm:cxn modelId="{0542A9F2-45E9-40E4-8DB4-5DF117203F9C}" type="presOf" srcId="{642D88B8-EE7C-43FC-9C16-FE9939BC7051}" destId="{0CD1FE89-2351-4F3B-9FE2-FCDDA34C3DE4}" srcOrd="0" destOrd="0" presId="urn:microsoft.com/office/officeart/2018/2/layout/IconVerticalSolidList"/>
    <dgm:cxn modelId="{8A21A395-DB1C-4145-8B67-72D8605D5447}" type="presParOf" srcId="{44243532-BA84-4505-8DA2-ACD90DA8222E}" destId="{F0B2344A-6A17-49F5-9C70-2DC89E0108B5}" srcOrd="0" destOrd="0" presId="urn:microsoft.com/office/officeart/2018/2/layout/IconVerticalSolidList"/>
    <dgm:cxn modelId="{94457B5E-FEEA-469E-8E1C-34949920BE09}" type="presParOf" srcId="{F0B2344A-6A17-49F5-9C70-2DC89E0108B5}" destId="{9CC169FC-67C3-41FD-BCD4-610333F71131}" srcOrd="0" destOrd="0" presId="urn:microsoft.com/office/officeart/2018/2/layout/IconVerticalSolidList"/>
    <dgm:cxn modelId="{BAE67FD0-1CD5-4526-BFB3-B0B8BBD0EAC6}" type="presParOf" srcId="{F0B2344A-6A17-49F5-9C70-2DC89E0108B5}" destId="{BCEA6F5D-EAEA-48F8-AD51-D23DA26DA4D5}" srcOrd="1" destOrd="0" presId="urn:microsoft.com/office/officeart/2018/2/layout/IconVerticalSolidList"/>
    <dgm:cxn modelId="{CDC59B19-4B38-432F-99F0-AE8B708DCAAE}" type="presParOf" srcId="{F0B2344A-6A17-49F5-9C70-2DC89E0108B5}" destId="{87F5DE9F-D169-4B15-9E7C-8FA7456BACDE}" srcOrd="2" destOrd="0" presId="urn:microsoft.com/office/officeart/2018/2/layout/IconVerticalSolidList"/>
    <dgm:cxn modelId="{2AAAEA08-3FEE-41A6-94B9-012E174D7960}" type="presParOf" srcId="{F0B2344A-6A17-49F5-9C70-2DC89E0108B5}" destId="{A4EE6A49-EF6D-466F-9EC3-7D9B5AC02036}" srcOrd="3" destOrd="0" presId="urn:microsoft.com/office/officeart/2018/2/layout/IconVerticalSolidList"/>
    <dgm:cxn modelId="{BC14FF46-B2AF-47E2-9E36-8C27F16220EF}" type="presParOf" srcId="{44243532-BA84-4505-8DA2-ACD90DA8222E}" destId="{F9A7E87F-AB09-444E-8C96-CFE9CAF08811}" srcOrd="1" destOrd="0" presId="urn:microsoft.com/office/officeart/2018/2/layout/IconVerticalSolidList"/>
    <dgm:cxn modelId="{CBB3297E-C6D2-497E-88EC-5C870F5F83EE}" type="presParOf" srcId="{44243532-BA84-4505-8DA2-ACD90DA8222E}" destId="{218D5C7F-DB2C-4A4C-BB04-6046320820B5}" srcOrd="2" destOrd="0" presId="urn:microsoft.com/office/officeart/2018/2/layout/IconVerticalSolidList"/>
    <dgm:cxn modelId="{853E8C10-E452-43F8-AE8F-DA3377B7F2B4}" type="presParOf" srcId="{218D5C7F-DB2C-4A4C-BB04-6046320820B5}" destId="{BFD8907B-5D84-4EDE-A75A-A223F24CE6FA}" srcOrd="0" destOrd="0" presId="urn:microsoft.com/office/officeart/2018/2/layout/IconVerticalSolidList"/>
    <dgm:cxn modelId="{EB8873EB-0BB5-4177-976F-7A44C5B82432}" type="presParOf" srcId="{218D5C7F-DB2C-4A4C-BB04-6046320820B5}" destId="{BBDA317D-0EF7-4A47-82E3-7201136C5365}" srcOrd="1" destOrd="0" presId="urn:microsoft.com/office/officeart/2018/2/layout/IconVerticalSolidList"/>
    <dgm:cxn modelId="{1902D508-A7DD-4520-AEF8-1D6F3108B1B7}" type="presParOf" srcId="{218D5C7F-DB2C-4A4C-BB04-6046320820B5}" destId="{D9FEF634-7501-4DFA-B5AD-F520D7382E93}" srcOrd="2" destOrd="0" presId="urn:microsoft.com/office/officeart/2018/2/layout/IconVerticalSolidList"/>
    <dgm:cxn modelId="{824BF7A7-0069-489A-A264-93838D0B9021}" type="presParOf" srcId="{218D5C7F-DB2C-4A4C-BB04-6046320820B5}" destId="{13F18454-C5F7-4CC8-934F-0A37C2C91FC9}" srcOrd="3" destOrd="0" presId="urn:microsoft.com/office/officeart/2018/2/layout/IconVerticalSolidList"/>
    <dgm:cxn modelId="{AC1C6B67-EC75-422F-9CE1-CC68E9EFD026}" type="presParOf" srcId="{44243532-BA84-4505-8DA2-ACD90DA8222E}" destId="{6DF98BD2-5D56-4B1D-B3B5-C664972A1FD6}" srcOrd="3" destOrd="0" presId="urn:microsoft.com/office/officeart/2018/2/layout/IconVerticalSolidList"/>
    <dgm:cxn modelId="{4C1060DA-8D72-4EBE-AB62-C4FD6F50185A}" type="presParOf" srcId="{44243532-BA84-4505-8DA2-ACD90DA8222E}" destId="{D974B70C-DFF0-4D7F-877B-F2BD5F42E538}" srcOrd="4" destOrd="0" presId="urn:microsoft.com/office/officeart/2018/2/layout/IconVerticalSolidList"/>
    <dgm:cxn modelId="{7ACDEC43-5847-4576-9FA7-434568C0D826}" type="presParOf" srcId="{D974B70C-DFF0-4D7F-877B-F2BD5F42E538}" destId="{4A8C314B-E969-481D-A451-112909C67E79}" srcOrd="0" destOrd="0" presId="urn:microsoft.com/office/officeart/2018/2/layout/IconVerticalSolidList"/>
    <dgm:cxn modelId="{A8031FC5-7AEC-41FB-814A-658D7EF3E342}" type="presParOf" srcId="{D974B70C-DFF0-4D7F-877B-F2BD5F42E538}" destId="{C13A27F5-2B41-4A8C-B628-870C0A5A2642}" srcOrd="1" destOrd="0" presId="urn:microsoft.com/office/officeart/2018/2/layout/IconVerticalSolidList"/>
    <dgm:cxn modelId="{D05C8F61-9C97-40C2-A67B-96FBEBDE2AC0}" type="presParOf" srcId="{D974B70C-DFF0-4D7F-877B-F2BD5F42E538}" destId="{B28F2D4B-BFB5-4FC7-ABCF-897C9D3D0CFC}" srcOrd="2" destOrd="0" presId="urn:microsoft.com/office/officeart/2018/2/layout/IconVerticalSolidList"/>
    <dgm:cxn modelId="{CB768E5B-BA6F-472C-9F97-33200AF21561}" type="presParOf" srcId="{D974B70C-DFF0-4D7F-877B-F2BD5F42E538}" destId="{0CD1FE89-2351-4F3B-9FE2-FCDDA34C3DE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C169FC-67C3-41FD-BCD4-610333F71131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EA6F5D-EAEA-48F8-AD51-D23DA26DA4D5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EE6A49-EF6D-466F-9EC3-7D9B5AC02036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From now on, no programmer optimizations </a:t>
          </a:r>
        </a:p>
      </dsp:txBody>
      <dsp:txXfrm>
        <a:off x="1939533" y="717"/>
        <a:ext cx="4362067" cy="1679249"/>
      </dsp:txXfrm>
    </dsp:sp>
    <dsp:sp modelId="{BFD8907B-5D84-4EDE-A75A-A223F24CE6FA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DA317D-0EF7-4A47-82E3-7201136C5365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F18454-C5F7-4CC8-934F-0A37C2C91FC9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Assume, the code written is the best code written </a:t>
          </a:r>
        </a:p>
      </dsp:txBody>
      <dsp:txXfrm>
        <a:off x="1939533" y="2099779"/>
        <a:ext cx="4362067" cy="1679249"/>
      </dsp:txXfrm>
    </dsp:sp>
    <dsp:sp modelId="{4A8C314B-E969-481D-A451-112909C67E79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3A27F5-2B41-4A8C-B628-870C0A5A2642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1FE89-2351-4F3B-9FE2-FCDDA34C3DE4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Now what can be done to improve cache performance </a:t>
          </a:r>
        </a:p>
      </dsp:txBody>
      <dsp:txXfrm>
        <a:off x="1939533" y="4198841"/>
        <a:ext cx="4362067" cy="1679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Computer Architecture-2025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Lecture-3: RIP The conscious programmers, </a:t>
            </a:r>
            <a:r>
              <a:rPr lang="en-US" sz="3600" dirty="0" err="1">
                <a:solidFill>
                  <a:srgbClr val="C00000"/>
                </a:solidFill>
              </a:rPr>
              <a:t>Microarchitects</a:t>
            </a:r>
            <a:r>
              <a:rPr lang="en-US" sz="3600" dirty="0">
                <a:solidFill>
                  <a:srgbClr val="C00000"/>
                </a:solidFill>
              </a:rPr>
              <a:t> in town</a:t>
            </a: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https://www.cse.iitb.ac.in/~biswa/courses.html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345F-6ACA-5CB5-7B26-F51F9606E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add software/compiler prefetch instructions (built-ins)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06F80-053A-8399-EC96-6361F792C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2005012"/>
            <a:ext cx="11353800" cy="4351338"/>
          </a:xfrm>
        </p:spPr>
        <p:txBody>
          <a:bodyPr>
            <a:normAutofit fontScale="8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Calibri body"/>
              </a:rPr>
              <a:t>for( j=0; j&lt; 100; </a:t>
            </a:r>
            <a:r>
              <a:rPr lang="en-US" altLang="en-US" dirty="0" err="1">
                <a:latin typeface="Calibri body"/>
              </a:rPr>
              <a:t>j++</a:t>
            </a:r>
            <a:r>
              <a:rPr lang="en-US" altLang="en-US" dirty="0">
                <a:latin typeface="Calibri body"/>
              </a:rPr>
              <a:t>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FF0000"/>
                </a:solidFill>
                <a:latin typeface="Calibri body"/>
              </a:rPr>
              <a:t>             prefetch(b[j+7][0])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solidFill>
                  <a:srgbClr val="FF0000"/>
                </a:solidFill>
                <a:latin typeface="Calibri body"/>
              </a:rPr>
              <a:t>             prefetch(a[0][j+7])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Calibri body"/>
              </a:rPr>
              <a:t>             a[0][j] = b[j][0] * b[j+1][0]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Calibri body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Calibri body"/>
              </a:rPr>
              <a:t>Software prefetching hides latency by fetching data for future iterations while the demand accesses are accessing data relevant to the current iteration.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Calibri 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Calibri body"/>
              </a:rPr>
              <a:t>It is a load like instruction, but  programmer/compiler has to manually insert it based on the need.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0C93D-4550-F4D6-D739-1ECB2BF4A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CF7CF-858A-0357-6E24-AD8215C6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3375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FCAA1-383A-2675-014D-D2F525771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else? SIMD programming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83A43-690B-BAD4-1E78-F94BFF8A6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SIMD: Single instruction multiple data</a:t>
            </a:r>
          </a:p>
          <a:p>
            <a:r>
              <a:rPr lang="en-US" dirty="0"/>
              <a:t>Usage of 128 bit, 256 bit, 512 bit registers</a:t>
            </a:r>
          </a:p>
          <a:p>
            <a:r>
              <a:rPr lang="en-US" dirty="0"/>
              <a:t>You can do multiple operations in one cycle</a:t>
            </a:r>
          </a:p>
          <a:p>
            <a:r>
              <a:rPr lang="en-US" dirty="0"/>
              <a:t>More when you make your hands dirty for assignment-I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0F33C-0478-C2A6-966F-CCDA309BE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3950E-8EA2-30D8-7BE4-80A0F58B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5081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omputer script on a screen">
            <a:extLst>
              <a:ext uri="{FF2B5EF4-FFF2-40B4-BE49-F238E27FC236}">
                <a16:creationId xmlns:a16="http://schemas.microsoft.com/office/drawing/2014/main" id="{F8B41D70-F660-FEF5-0F9A-FC2C3A5296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627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1D3522-3B53-7C48-C0AD-4B1FCC635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1122363"/>
            <a:ext cx="4435395" cy="320413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Programming Assignment-1 Heads-up (coming on 11</a:t>
            </a:r>
            <a:r>
              <a:rPr lang="en-US" sz="4800" baseline="30000" dirty="0">
                <a:solidFill>
                  <a:schemeClr val="bg1"/>
                </a:solidFill>
              </a:rPr>
              <a:t>th</a:t>
            </a:r>
            <a:r>
              <a:rPr lang="en-US" sz="4800" dirty="0">
                <a:solidFill>
                  <a:schemeClr val="bg1"/>
                </a:solidFill>
              </a:rPr>
              <a:t> August)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502CB2-0F1A-4BD3-AEB4-9895CF09F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bg1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6E34E0-DB8A-FD59-D8C8-5ED676C80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2052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group of men sitting on balls with their faces over their faces&#10;&#10;AI-generated content may be incorrect.">
            <a:extLst>
              <a:ext uri="{FF2B5EF4-FFF2-40B4-BE49-F238E27FC236}">
                <a16:creationId xmlns:a16="http://schemas.microsoft.com/office/drawing/2014/main" id="{711DC1D4-1353-0F84-05FA-41224EBBE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D5E91B-E84D-5193-2636-4328FC21A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All is Well: It is coming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C7E85-B56D-E576-4C9B-5825982EF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sz="12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9F465-B32E-26E6-BACC-17CAB7C34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B8651ABE-1138-46C6-9A43-7FCD4EB2550C}" type="slidenum">
              <a:rPr lang="en-US" sz="1200">
                <a:solidFill>
                  <a:srgbClr val="FFFFFF"/>
                </a:solidFill>
              </a:rPr>
              <a:pPr defTabSz="457200">
                <a:spcAft>
                  <a:spcPts val="600"/>
                </a:spcAft>
              </a:pPr>
              <a:t>5</a:t>
            </a:fld>
            <a:endParaRPr 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366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Red toy person in front of two lines of white figures">
            <a:extLst>
              <a:ext uri="{FF2B5EF4-FFF2-40B4-BE49-F238E27FC236}">
                <a16:creationId xmlns:a16="http://schemas.microsoft.com/office/drawing/2014/main" id="{7FFD5A04-8244-93CB-D099-DEB8EF5C5B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89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348FEF-D985-DD42-B5A4-36133816D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0" y="1122363"/>
            <a:ext cx="6885987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Form a team 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(only 30 out of 160 submitted)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F6653F-4BE6-9FCB-D464-AA5F86CEE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bg1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4F2F9-9519-5569-6044-6188BA60F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6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30263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D2160F-F549-5E0C-E29C-888E6C92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bg1"/>
                </a:solidFill>
              </a:rPr>
              <a:t>Programmer to Microarchitecture view</a:t>
            </a:r>
            <a:endParaRPr lang="en-IN" sz="3100">
              <a:solidFill>
                <a:schemeClr val="bg1"/>
              </a:solidFill>
            </a:endParaRPr>
          </a:p>
        </p:txBody>
      </p:sp>
      <p:grpSp>
        <p:nvGrpSpPr>
          <p:cNvPr id="15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3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C821E3-7680-1F13-0B18-254ED0300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4393" y="6356350"/>
            <a:ext cx="4398731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IN" sz="1800"/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9290D7-11F8-3A84-0D9B-A7200467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8651ABE-1138-46C6-9A43-7FCD4EB2550C}" type="slidenum">
              <a:rPr lang="en-IN" sz="180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IN" sz="180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B86B2F0-ED76-CE20-7E4B-C8470BF5F6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7844420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082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04479-FCA0-61C0-E86E-3F3BF14EE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Ends of a CPU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3A650-5414-9434-8D15-2DB07288A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Front-end: Dealing with instructions, fetch and decode stage </a:t>
            </a:r>
          </a:p>
          <a:p>
            <a:endParaRPr lang="en-US" dirty="0"/>
          </a:p>
          <a:p>
            <a:r>
              <a:rPr lang="en-US" dirty="0"/>
              <a:t>Back-end: From execute to writeback stage </a:t>
            </a:r>
          </a:p>
          <a:p>
            <a:endParaRPr lang="en-US" dirty="0"/>
          </a:p>
          <a:p>
            <a:r>
              <a:rPr lang="en-US" dirty="0"/>
              <a:t>Modern processors are superscalar fetching k instructions per cycle. K is typically around 6 to 8.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94AF8C-84C1-6AE0-34F0-1289AED60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2138F-9122-15C6-BE17-55BBAEEE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1576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6D533-5EB4-E3D6-DC71-BC8F90CD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understand some terms keeping Memory stage in mind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BC1B3-A308-BD82-0E9A-474A8F9B9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Hit, Miss, Miss penalty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Sequence of events in a typical cache hierarchy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Goal is to improve latency and bandwidth but how.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63E9EE-F1B8-C77B-8F0F-379A2C9F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F60A5-32CA-CEE0-CFCB-184EE5E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4853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44821</TotalTime>
  <Words>346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body</vt:lpstr>
      <vt:lpstr>Calibri Light</vt:lpstr>
      <vt:lpstr>Office Theme</vt:lpstr>
      <vt:lpstr>CS683: Advanced Computer Architecture-2025</vt:lpstr>
      <vt:lpstr>Let’s add software/compiler prefetch instructions (built-ins)</vt:lpstr>
      <vt:lpstr>What else? SIMD programming </vt:lpstr>
      <vt:lpstr>Programming Assignment-1 Heads-up (coming on 11th August)</vt:lpstr>
      <vt:lpstr>All is Well: It is coming </vt:lpstr>
      <vt:lpstr>Form a team  (only 30 out of 160 submitted)</vt:lpstr>
      <vt:lpstr>Programmer to Microarchitecture view</vt:lpstr>
      <vt:lpstr>Ends of a CPU</vt:lpstr>
      <vt:lpstr>Let’s understand some terms keeping Memory stage in mind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971</cp:revision>
  <dcterms:created xsi:type="dcterms:W3CDTF">2021-05-31T06:57:48Z</dcterms:created>
  <dcterms:modified xsi:type="dcterms:W3CDTF">2025-08-07T14:18:23Z</dcterms:modified>
</cp:coreProperties>
</file>