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7713" r:id="rId3"/>
    <p:sldId id="7946" r:id="rId4"/>
    <p:sldId id="1568" r:id="rId5"/>
    <p:sldId id="7950" r:id="rId6"/>
    <p:sldId id="7754" r:id="rId7"/>
    <p:sldId id="7758" r:id="rId8"/>
    <p:sldId id="897" r:id="rId9"/>
    <p:sldId id="898" r:id="rId10"/>
    <p:sldId id="899" r:id="rId11"/>
    <p:sldId id="900" r:id="rId12"/>
    <p:sldId id="901" r:id="rId13"/>
    <p:sldId id="902" r:id="rId14"/>
    <p:sldId id="903" r:id="rId15"/>
    <p:sldId id="904" r:id="rId16"/>
    <p:sldId id="905" r:id="rId17"/>
    <p:sldId id="906" r:id="rId18"/>
    <p:sldId id="907" r:id="rId19"/>
    <p:sldId id="910" r:id="rId20"/>
    <p:sldId id="911" r:id="rId21"/>
    <p:sldId id="7940" r:id="rId22"/>
    <p:sldId id="7941" r:id="rId23"/>
    <p:sldId id="794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4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75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CS683: </a:t>
            </a:r>
            <a:r>
              <a:rPr lang="en-US" dirty="0" err="1"/>
              <a:t>Advancded</a:t>
            </a:r>
            <a:r>
              <a:rPr lang="en-US" dirty="0"/>
              <a:t>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15600" y="582829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50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5878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marL="1219170" lvl="1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2pPr>
            <a:lvl3pPr marL="1828754" lvl="2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438339" lvl="3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047924" lvl="4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3657509" lvl="5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6pPr>
            <a:lvl7pPr marL="4267093" lvl="6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7pPr>
            <a:lvl8pPr marL="4876678" lvl="7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8pPr>
            <a:lvl9pPr marL="5486263" lvl="8" indent="-558786">
              <a:spcBef>
                <a:spcPts val="2133"/>
              </a:spcBef>
              <a:spcAft>
                <a:spcPts val="2133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2400">
                <a:solidFill>
                  <a:srgbClr val="B22222"/>
                </a:solidFill>
              </a:defRPr>
            </a:lvl1pPr>
            <a:lvl2pPr lvl="1" algn="r">
              <a:buNone/>
              <a:defRPr sz="2400">
                <a:solidFill>
                  <a:srgbClr val="B22222"/>
                </a:solidFill>
              </a:defRPr>
            </a:lvl2pPr>
            <a:lvl3pPr lvl="2" algn="r">
              <a:buNone/>
              <a:defRPr sz="2400">
                <a:solidFill>
                  <a:srgbClr val="B22222"/>
                </a:solidFill>
              </a:defRPr>
            </a:lvl3pPr>
            <a:lvl4pPr lvl="3" algn="r">
              <a:buNone/>
              <a:defRPr sz="2400">
                <a:solidFill>
                  <a:srgbClr val="B22222"/>
                </a:solidFill>
              </a:defRPr>
            </a:lvl4pPr>
            <a:lvl5pPr lvl="4" algn="r">
              <a:buNone/>
              <a:defRPr sz="2400">
                <a:solidFill>
                  <a:srgbClr val="B22222"/>
                </a:solidFill>
              </a:defRPr>
            </a:lvl5pPr>
            <a:lvl6pPr lvl="5" algn="r">
              <a:buNone/>
              <a:defRPr sz="2400">
                <a:solidFill>
                  <a:srgbClr val="B22222"/>
                </a:solidFill>
              </a:defRPr>
            </a:lvl6pPr>
            <a:lvl7pPr lvl="6" algn="r">
              <a:buNone/>
              <a:defRPr sz="2400">
                <a:solidFill>
                  <a:srgbClr val="B22222"/>
                </a:solidFill>
              </a:defRPr>
            </a:lvl7pPr>
            <a:lvl8pPr lvl="7" algn="r">
              <a:buNone/>
              <a:defRPr sz="2400">
                <a:solidFill>
                  <a:srgbClr val="B22222"/>
                </a:solidFill>
              </a:defRPr>
            </a:lvl8pPr>
            <a:lvl9pPr lvl="8" algn="r">
              <a:buNone/>
              <a:defRPr sz="2400">
                <a:solidFill>
                  <a:srgbClr val="B2222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7" name="Google Shape;27;p4"/>
          <p:cNvCxnSpPr/>
          <p:nvPr/>
        </p:nvCxnSpPr>
        <p:spPr>
          <a:xfrm rot="10800000" flipH="1">
            <a:off x="511048" y="1464833"/>
            <a:ext cx="11459600" cy="1600"/>
          </a:xfrm>
          <a:prstGeom prst="straightConnector1">
            <a:avLst/>
          </a:prstGeom>
          <a:noFill/>
          <a:ln w="19050" cap="flat" cmpd="sng">
            <a:solidFill>
              <a:srgbClr val="B2222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4"/>
          <p:cNvSpPr txBox="1"/>
          <p:nvPr/>
        </p:nvSpPr>
        <p:spPr>
          <a:xfrm>
            <a:off x="5679767" y="6306767"/>
            <a:ext cx="4836800" cy="5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760327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6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CS683: Advanced </a:t>
            </a:r>
            <a:r>
              <a:rPr lang="en-US"/>
              <a:t>Computer Architecture-2025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603544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L4: Ah, some sunshine! Demystifying Microarchitecture Mysteries </a:t>
            </a:r>
            <a:r>
              <a:rPr lang="en-US" sz="3600" dirty="0">
                <a:solidFill>
                  <a:srgbClr val="C00000"/>
                </a:solidFill>
                <a:sym typeface="Wingdings" panose="05000000000000000000" pitchFamily="2" charset="2"/>
              </a:rPr>
              <a:t> </a:t>
            </a:r>
            <a:endParaRPr lang="en-US" sz="3600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https://www.cse.iitb.ac.in/~biswa/courses.html</a:t>
            </a:r>
          </a:p>
          <a:p>
            <a:endParaRPr lang="en-IN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Mobile device with apps">
            <a:extLst>
              <a:ext uri="{FF2B5EF4-FFF2-40B4-BE49-F238E27FC236}">
                <a16:creationId xmlns:a16="http://schemas.microsoft.com/office/drawing/2014/main" id="{499258FC-0B4F-B55F-8BE7-27FDBBECB2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66" t="9091" r="7497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1FD530-68E2-E9B7-6F08-048EC5C5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0" y="1122363"/>
            <a:ext cx="6654339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Phones (smart/non-smart) on silence plz, Thanks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C138F-E156-6AB7-33C7-AD41381E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CAD9A-A941-12C0-CA7F-8C702A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1985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AD1A-9079-60B8-0E2B-BFD6B2B6D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story so far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E9049-58EF-E12C-EECB-0143CD55F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ports to improve bandwidth </a:t>
            </a:r>
          </a:p>
          <a:p>
            <a:endParaRPr lang="en-US" dirty="0"/>
          </a:p>
          <a:p>
            <a:r>
              <a:rPr lang="en-US" dirty="0"/>
              <a:t>Multiple small banks to improve latency </a:t>
            </a:r>
          </a:p>
          <a:p>
            <a:endParaRPr lang="en-US" dirty="0"/>
          </a:p>
          <a:p>
            <a:r>
              <a:rPr lang="en-US" dirty="0"/>
              <a:t>Indexing should have banking bits too.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1D173-02C4-9FB3-4415-40AA4CB35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BF552-308E-1FC4-DAA7-4A2401D50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0083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004AD-C8A5-D1F0-BA68-55B8C8B15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BF76C-05CC-49BE-A6AB-1D15F7C4E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1" y="78378"/>
            <a:ext cx="11360800" cy="763560"/>
          </a:xfrm>
        </p:spPr>
        <p:txBody>
          <a:bodyPr/>
          <a:lstStyle/>
          <a:p>
            <a:r>
              <a:rPr lang="en-US" dirty="0"/>
              <a:t>Front-end and Back-end of a single CPU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3D5A8-0E55-8FD0-2D02-EE52A0CA05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  <p:pic>
        <p:nvPicPr>
          <p:cNvPr id="5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FED6D14A-BDF0-FDD8-9F51-0230AE22C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9053668" y="5568816"/>
            <a:ext cx="1764801" cy="57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61A761-241F-B091-2930-CA692C104860}"/>
              </a:ext>
            </a:extLst>
          </p:cNvPr>
          <p:cNvSpPr txBox="1"/>
          <p:nvPr/>
        </p:nvSpPr>
        <p:spPr>
          <a:xfrm>
            <a:off x="6164453" y="1554441"/>
            <a:ext cx="6098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Back-end delivery (data)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83A3C4-E61A-D289-BE67-35F5D2E98C31}"/>
              </a:ext>
            </a:extLst>
          </p:cNvPr>
          <p:cNvSpPr txBox="1"/>
          <p:nvPr/>
        </p:nvSpPr>
        <p:spPr>
          <a:xfrm>
            <a:off x="7641500" y="3361587"/>
            <a:ext cx="554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ea typeface="Cambria" panose="02040503050406030204" pitchFamily="18" charset="0"/>
              </a:rPr>
              <a:t>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CFEEDD-B8B9-5535-9B75-94557AE9D400}"/>
                  </a:ext>
                </a:extLst>
              </p:cNvPr>
              <p:cNvSpPr txBox="1"/>
              <p:nvPr/>
            </p:nvSpPr>
            <p:spPr>
              <a:xfrm>
                <a:off x="8401136" y="2302461"/>
                <a:ext cx="439223" cy="3997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❷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CFEEDD-B8B9-5535-9B75-94557AE9D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1136" y="2302461"/>
                <a:ext cx="439223" cy="399725"/>
              </a:xfrm>
              <a:prstGeom prst="rect">
                <a:avLst/>
              </a:prstGeom>
              <a:blipFill>
                <a:blip r:embed="rId3"/>
                <a:stretch>
                  <a:fillRect l="-30556" t="-15385" r="-30556" b="-35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2E7DFC3-67A7-E010-17C7-61A20AE6B02F}"/>
              </a:ext>
            </a:extLst>
          </p:cNvPr>
          <p:cNvSpPr txBox="1"/>
          <p:nvPr/>
        </p:nvSpPr>
        <p:spPr>
          <a:xfrm>
            <a:off x="8039004" y="6006023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❹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EEBB638-8CD6-913F-3FFE-D4D9CAA8EB29}"/>
              </a:ext>
            </a:extLst>
          </p:cNvPr>
          <p:cNvCxnSpPr/>
          <p:nvPr/>
        </p:nvCxnSpPr>
        <p:spPr>
          <a:xfrm rot="10800000" flipV="1">
            <a:off x="6292259" y="3223131"/>
            <a:ext cx="2644613" cy="2187487"/>
          </a:xfrm>
          <a:prstGeom prst="bentConnector3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40FB51C-42AE-C8E8-5BE7-8F77F5560B08}"/>
              </a:ext>
            </a:extLst>
          </p:cNvPr>
          <p:cNvSpPr txBox="1"/>
          <p:nvPr/>
        </p:nvSpPr>
        <p:spPr>
          <a:xfrm>
            <a:off x="3141486" y="6057470"/>
            <a:ext cx="4858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100s of KBs to MBs (10 to 30 cc)</a:t>
            </a:r>
          </a:p>
        </p:txBody>
      </p:sp>
      <p:sp>
        <p:nvSpPr>
          <p:cNvPr id="16" name="Rounded Rectangle 12">
            <a:extLst>
              <a:ext uri="{FF2B5EF4-FFF2-40B4-BE49-F238E27FC236}">
                <a16:creationId xmlns:a16="http://schemas.microsoft.com/office/drawing/2014/main" id="{C5F0FA22-52D6-303A-98DC-9288EE6FAF0C}"/>
              </a:ext>
            </a:extLst>
          </p:cNvPr>
          <p:cNvSpPr/>
          <p:nvPr/>
        </p:nvSpPr>
        <p:spPr>
          <a:xfrm>
            <a:off x="4581009" y="2059135"/>
            <a:ext cx="1452341" cy="568723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L1-I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01EF7CC-DA15-597C-E2EA-1A2E2D306EC4}"/>
              </a:ext>
            </a:extLst>
          </p:cNvPr>
          <p:cNvSpPr/>
          <p:nvPr/>
        </p:nvSpPr>
        <p:spPr>
          <a:xfrm>
            <a:off x="4274047" y="1888590"/>
            <a:ext cx="2247988" cy="1835863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ounded Rectangle 31">
            <a:extLst>
              <a:ext uri="{FF2B5EF4-FFF2-40B4-BE49-F238E27FC236}">
                <a16:creationId xmlns:a16="http://schemas.microsoft.com/office/drawing/2014/main" id="{6FEC377F-27EC-0212-A1AA-22FFAC648F86}"/>
              </a:ext>
            </a:extLst>
          </p:cNvPr>
          <p:cNvSpPr/>
          <p:nvPr/>
        </p:nvSpPr>
        <p:spPr>
          <a:xfrm rot="16200000">
            <a:off x="201873" y="2410159"/>
            <a:ext cx="1390149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172368-80EC-EE94-F552-B325529E037F}"/>
              </a:ext>
            </a:extLst>
          </p:cNvPr>
          <p:cNvSpPr txBox="1"/>
          <p:nvPr/>
        </p:nvSpPr>
        <p:spPr>
          <a:xfrm>
            <a:off x="4284201" y="2729592"/>
            <a:ext cx="220951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32KB (4 cc)</a:t>
            </a:r>
          </a:p>
          <a:p>
            <a:r>
              <a:rPr lang="en-IN" sz="2800" dirty="0"/>
              <a:t>cc: clock cycle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F4FD83E-0533-7D18-F7C6-208072432049}"/>
              </a:ext>
            </a:extLst>
          </p:cNvPr>
          <p:cNvSpPr/>
          <p:nvPr/>
        </p:nvSpPr>
        <p:spPr>
          <a:xfrm>
            <a:off x="4267693" y="4442770"/>
            <a:ext cx="2247988" cy="1595993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B59959C-6737-1398-A68A-D911638357A5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1281746" y="2806522"/>
            <a:ext cx="2992301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0F40106-4CEA-22F3-D979-089315AEF6D0}"/>
              </a:ext>
            </a:extLst>
          </p:cNvPr>
          <p:cNvCxnSpPr>
            <a:cxnSpLocks/>
          </p:cNvCxnSpPr>
          <p:nvPr/>
        </p:nvCxnSpPr>
        <p:spPr>
          <a:xfrm flipV="1">
            <a:off x="5307181" y="3730343"/>
            <a:ext cx="5089" cy="63771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5D86FCD-A22C-7E29-98A6-CA292924E2B9}"/>
              </a:ext>
            </a:extLst>
          </p:cNvPr>
          <p:cNvSpPr txBox="1"/>
          <p:nvPr/>
        </p:nvSpPr>
        <p:spPr>
          <a:xfrm>
            <a:off x="1281746" y="2816612"/>
            <a:ext cx="32375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6">
                    <a:lumMod val="50000"/>
                  </a:schemeClr>
                </a:solidFill>
              </a:rPr>
              <a:t>Front-end delivery</a:t>
            </a:r>
          </a:p>
          <a:p>
            <a:r>
              <a:rPr lang="en-IN" sz="2800" dirty="0">
                <a:solidFill>
                  <a:schemeClr val="accent6">
                    <a:lumMod val="50000"/>
                  </a:schemeClr>
                </a:solidFill>
              </a:rPr>
              <a:t>(code/instructions)</a:t>
            </a:r>
          </a:p>
          <a:p>
            <a:endParaRPr lang="en-IN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EC53C5-7676-91AC-3DC6-B6D6DFC9490C}"/>
                  </a:ext>
                </a:extLst>
              </p:cNvPr>
              <p:cNvSpPr txBox="1"/>
              <p:nvPr/>
            </p:nvSpPr>
            <p:spPr>
              <a:xfrm>
                <a:off x="2373392" y="2304031"/>
                <a:ext cx="439223" cy="3997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❶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EC53C5-7676-91AC-3DC6-B6D6DFC94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3392" y="2304031"/>
                <a:ext cx="439223" cy="399725"/>
              </a:xfrm>
              <a:prstGeom prst="rect">
                <a:avLst/>
              </a:prstGeom>
              <a:blipFill>
                <a:blip r:embed="rId4"/>
                <a:stretch>
                  <a:fillRect l="-30556" t="-13636" r="-30556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12">
            <a:extLst>
              <a:ext uri="{FF2B5EF4-FFF2-40B4-BE49-F238E27FC236}">
                <a16:creationId xmlns:a16="http://schemas.microsoft.com/office/drawing/2014/main" id="{C219D0AC-E6E6-6B33-61E5-0B8DB4669639}"/>
              </a:ext>
            </a:extLst>
          </p:cNvPr>
          <p:cNvSpPr/>
          <p:nvPr/>
        </p:nvSpPr>
        <p:spPr>
          <a:xfrm>
            <a:off x="4413830" y="4900819"/>
            <a:ext cx="1786700" cy="734602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L2/LLC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3DF2986E-7B6E-12BA-6823-C8BAE0EDF804}"/>
              </a:ext>
            </a:extLst>
          </p:cNvPr>
          <p:cNvCxnSpPr>
            <a:stCxn id="26" idx="2"/>
          </p:cNvCxnSpPr>
          <p:nvPr/>
        </p:nvCxnSpPr>
        <p:spPr>
          <a:xfrm rot="16200000" flipH="1">
            <a:off x="6979457" y="3963143"/>
            <a:ext cx="310705" cy="3655259"/>
          </a:xfrm>
          <a:prstGeom prst="bentConnector2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12">
            <a:extLst>
              <a:ext uri="{FF2B5EF4-FFF2-40B4-BE49-F238E27FC236}">
                <a16:creationId xmlns:a16="http://schemas.microsoft.com/office/drawing/2014/main" id="{656DB619-6D92-DBB4-26DD-ED590C81489B}"/>
              </a:ext>
            </a:extLst>
          </p:cNvPr>
          <p:cNvSpPr/>
          <p:nvPr/>
        </p:nvSpPr>
        <p:spPr>
          <a:xfrm>
            <a:off x="9213584" y="2057984"/>
            <a:ext cx="1452341" cy="568723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L1-D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3C42B5B-0BB5-6B8F-D299-7AEAE20EF393}"/>
              </a:ext>
            </a:extLst>
          </p:cNvPr>
          <p:cNvSpPr/>
          <p:nvPr/>
        </p:nvSpPr>
        <p:spPr>
          <a:xfrm>
            <a:off x="8891300" y="1879772"/>
            <a:ext cx="2096911" cy="1844673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887544-85D2-59BC-FFAC-AD6EDB8DD009}"/>
              </a:ext>
            </a:extLst>
          </p:cNvPr>
          <p:cNvSpPr txBox="1"/>
          <p:nvPr/>
        </p:nvSpPr>
        <p:spPr>
          <a:xfrm>
            <a:off x="9062683" y="2752548"/>
            <a:ext cx="1882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48 KB (5 cc)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26E83D-DF26-03E6-AAD6-EF91F36A68BF}"/>
              </a:ext>
            </a:extLst>
          </p:cNvPr>
          <p:cNvSpPr txBox="1"/>
          <p:nvPr/>
        </p:nvSpPr>
        <p:spPr>
          <a:xfrm>
            <a:off x="9194606" y="5146302"/>
            <a:ext cx="15407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100  cc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6EFECB-D1BD-303A-B9BF-0F6B4936B820}"/>
              </a:ext>
            </a:extLst>
          </p:cNvPr>
          <p:cNvSpPr/>
          <p:nvPr/>
        </p:nvSpPr>
        <p:spPr>
          <a:xfrm>
            <a:off x="8632436" y="5042263"/>
            <a:ext cx="2745313" cy="14254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CF7D8E4-BFE7-11A7-5920-46D53F2077E2}"/>
              </a:ext>
            </a:extLst>
          </p:cNvPr>
          <p:cNvCxnSpPr>
            <a:stCxn id="24" idx="0"/>
          </p:cNvCxnSpPr>
          <p:nvPr/>
        </p:nvCxnSpPr>
        <p:spPr>
          <a:xfrm flipV="1">
            <a:off x="10005093" y="4201607"/>
            <a:ext cx="523570" cy="84065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776366E-DBC0-3036-FF3F-363CA3DE1471}"/>
              </a:ext>
            </a:extLst>
          </p:cNvPr>
          <p:cNvSpPr txBox="1"/>
          <p:nvPr/>
        </p:nvSpPr>
        <p:spPr>
          <a:xfrm>
            <a:off x="9896879" y="3821689"/>
            <a:ext cx="2111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part of the CPU</a:t>
            </a:r>
            <a:endParaRPr lang="en-IN" dirty="0"/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F3816C7-14CD-A77D-9AE3-8215D19C9550}"/>
              </a:ext>
            </a:extLst>
          </p:cNvPr>
          <p:cNvCxnSpPr>
            <a:stCxn id="18" idx="3"/>
            <a:endCxn id="29" idx="0"/>
          </p:cNvCxnSpPr>
          <p:nvPr/>
        </p:nvCxnSpPr>
        <p:spPr>
          <a:xfrm rot="5400000" flipH="1" flipV="1">
            <a:off x="5329245" y="-2552525"/>
            <a:ext cx="178213" cy="9042809"/>
          </a:xfrm>
          <a:prstGeom prst="bentConnector3">
            <a:avLst>
              <a:gd name="adj1" fmla="val 228273"/>
            </a:avLst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75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E48CB-7261-365E-13E6-DC67073C8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3798"/>
            <a:ext cx="11776401" cy="763560"/>
          </a:xfrm>
        </p:spPr>
        <p:txBody>
          <a:bodyPr/>
          <a:lstStyle/>
          <a:p>
            <a:r>
              <a:rPr lang="en-US" dirty="0"/>
              <a:t>Modern processer: Superscalar and out-of-order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7819C-643D-4EC1-E2A0-4C60615609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3178F1C-1A87-A70E-1A5D-9D4792944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1" y="1629552"/>
            <a:ext cx="11525744" cy="4347079"/>
          </a:xfrm>
          <a:prstGeom prst="rect">
            <a:avLst/>
          </a:prstGeom>
        </p:spPr>
      </p:pic>
      <p:sp>
        <p:nvSpPr>
          <p:cNvPr id="41" name="Rounded Rectangle 37">
            <a:extLst>
              <a:ext uri="{FF2B5EF4-FFF2-40B4-BE49-F238E27FC236}">
                <a16:creationId xmlns:a16="http://schemas.microsoft.com/office/drawing/2014/main" id="{34A9BC69-2FDC-2815-94A4-A6C60600766E}"/>
              </a:ext>
            </a:extLst>
          </p:cNvPr>
          <p:cNvSpPr/>
          <p:nvPr/>
        </p:nvSpPr>
        <p:spPr>
          <a:xfrm>
            <a:off x="49827" y="5976631"/>
            <a:ext cx="12142173" cy="57220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Loop unrolling improves instruction level parallelism (ILP)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EDF91C-B0DD-1904-C9E7-FB5D979AB2F8}"/>
              </a:ext>
            </a:extLst>
          </p:cNvPr>
          <p:cNvSpPr txBox="1"/>
          <p:nvPr/>
        </p:nvSpPr>
        <p:spPr>
          <a:xfrm>
            <a:off x="8796525" y="4900694"/>
            <a:ext cx="20127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Retire in-order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0F2509-5478-2ED8-98C7-2BF665480D68}"/>
              </a:ext>
            </a:extLst>
          </p:cNvPr>
          <p:cNvSpPr txBox="1"/>
          <p:nvPr/>
        </p:nvSpPr>
        <p:spPr>
          <a:xfrm>
            <a:off x="5879753" y="3429000"/>
            <a:ext cx="2736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Execute out of order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31252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6D533-5EB4-E3D6-DC71-BC8F90CD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understand some terms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BC1B3-A308-BD82-0E9A-474A8F9B9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Hit, Miss, Miss penalty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Sequence of events in a typical cache hierarchy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Goal: Reduce hit time, miss rate, and miss penalty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63E9EE-F1B8-C77B-8F0F-379A2C9F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F60A5-32CA-CEE0-CFCB-184EE5E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4853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ABD10-B370-958C-3838-BD4B8CE5D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Hierarchy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4D3D8-108A-5B56-8E6E-1DC7589A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90424-7E9F-67C0-F172-121F2410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FDB7E744-F9F4-CE4D-B066-B50012CEA920}"/>
              </a:ext>
            </a:extLst>
          </p:cNvPr>
          <p:cNvSpPr txBox="1"/>
          <p:nvPr/>
        </p:nvSpPr>
        <p:spPr>
          <a:xfrm>
            <a:off x="3981960" y="5260659"/>
            <a:ext cx="4984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L3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7" name="object 11">
            <a:extLst>
              <a:ext uri="{FF2B5EF4-FFF2-40B4-BE49-F238E27FC236}">
                <a16:creationId xmlns:a16="http://schemas.microsoft.com/office/drawing/2014/main" id="{FE0D2559-4A50-0EC6-BBCE-8551E44893F1}"/>
              </a:ext>
            </a:extLst>
          </p:cNvPr>
          <p:cNvGrpSpPr/>
          <p:nvPr/>
        </p:nvGrpSpPr>
        <p:grpSpPr>
          <a:xfrm>
            <a:off x="3116582" y="2865693"/>
            <a:ext cx="1911350" cy="1152525"/>
            <a:chOff x="3130295" y="2481072"/>
            <a:chExt cx="1911350" cy="1152525"/>
          </a:xfrm>
        </p:grpSpPr>
        <p:pic>
          <p:nvPicPr>
            <p:cNvPr id="8" name="object 12">
              <a:extLst>
                <a:ext uri="{FF2B5EF4-FFF2-40B4-BE49-F238E27FC236}">
                  <a16:creationId xmlns:a16="http://schemas.microsoft.com/office/drawing/2014/main" id="{DB19C177-B2A7-7950-D2F7-AD4E5464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0295" y="2638044"/>
              <a:ext cx="1911095" cy="684276"/>
            </a:xfrm>
            <a:prstGeom prst="rect">
              <a:avLst/>
            </a:prstGeom>
          </p:spPr>
        </p:pic>
        <p:pic>
          <p:nvPicPr>
            <p:cNvPr id="9" name="object 13">
              <a:extLst>
                <a:ext uri="{FF2B5EF4-FFF2-40B4-BE49-F238E27FC236}">
                  <a16:creationId xmlns:a16="http://schemas.microsoft.com/office/drawing/2014/main" id="{D9688741-1F98-408B-96DD-DA5EF2DC205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0627" y="2481072"/>
              <a:ext cx="1281684" cy="1152144"/>
            </a:xfrm>
            <a:prstGeom prst="rect">
              <a:avLst/>
            </a:prstGeom>
          </p:spPr>
        </p:pic>
        <p:sp>
          <p:nvSpPr>
            <p:cNvPr id="10" name="object 14">
              <a:extLst>
                <a:ext uri="{FF2B5EF4-FFF2-40B4-BE49-F238E27FC236}">
                  <a16:creationId xmlns:a16="http://schemas.microsoft.com/office/drawing/2014/main" id="{9B4539C4-5E23-3ACF-5CF0-7E2A2AABEDC8}"/>
                </a:ext>
              </a:extLst>
            </p:cNvPr>
            <p:cNvSpPr/>
            <p:nvPr/>
          </p:nvSpPr>
          <p:spPr>
            <a:xfrm>
              <a:off x="3182873" y="2667635"/>
              <a:ext cx="1806575" cy="580390"/>
            </a:xfrm>
            <a:custGeom>
              <a:avLst/>
              <a:gdLst/>
              <a:ahLst/>
              <a:cxnLst/>
              <a:rect l="l" t="t" r="r" b="b"/>
              <a:pathLst>
                <a:path w="1806575" h="580389">
                  <a:moveTo>
                    <a:pt x="1709292" y="0"/>
                  </a:moveTo>
                  <a:lnTo>
                    <a:pt x="96647" y="0"/>
                  </a:lnTo>
                  <a:lnTo>
                    <a:pt x="59043" y="7600"/>
                  </a:lnTo>
                  <a:lnTo>
                    <a:pt x="28320" y="28321"/>
                  </a:lnTo>
                  <a:lnTo>
                    <a:pt x="7600" y="59043"/>
                  </a:lnTo>
                  <a:lnTo>
                    <a:pt x="0" y="96647"/>
                  </a:lnTo>
                  <a:lnTo>
                    <a:pt x="0" y="483362"/>
                  </a:lnTo>
                  <a:lnTo>
                    <a:pt x="7600" y="521039"/>
                  </a:lnTo>
                  <a:lnTo>
                    <a:pt x="28321" y="551799"/>
                  </a:lnTo>
                  <a:lnTo>
                    <a:pt x="59043" y="572533"/>
                  </a:lnTo>
                  <a:lnTo>
                    <a:pt x="96647" y="580136"/>
                  </a:lnTo>
                  <a:lnTo>
                    <a:pt x="1709292" y="580136"/>
                  </a:lnTo>
                  <a:lnTo>
                    <a:pt x="1746970" y="572533"/>
                  </a:lnTo>
                  <a:lnTo>
                    <a:pt x="1777730" y="551799"/>
                  </a:lnTo>
                  <a:lnTo>
                    <a:pt x="1798464" y="521039"/>
                  </a:lnTo>
                  <a:lnTo>
                    <a:pt x="1806066" y="483362"/>
                  </a:lnTo>
                  <a:lnTo>
                    <a:pt x="1806066" y="96647"/>
                  </a:lnTo>
                  <a:lnTo>
                    <a:pt x="1798464" y="59043"/>
                  </a:lnTo>
                  <a:lnTo>
                    <a:pt x="1777730" y="28320"/>
                  </a:lnTo>
                  <a:lnTo>
                    <a:pt x="1746970" y="7600"/>
                  </a:lnTo>
                  <a:lnTo>
                    <a:pt x="1709292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5">
              <a:extLst>
                <a:ext uri="{FF2B5EF4-FFF2-40B4-BE49-F238E27FC236}">
                  <a16:creationId xmlns:a16="http://schemas.microsoft.com/office/drawing/2014/main" id="{82FB005B-07E3-352B-B431-D448A312A48B}"/>
                </a:ext>
              </a:extLst>
            </p:cNvPr>
            <p:cNvSpPr/>
            <p:nvPr/>
          </p:nvSpPr>
          <p:spPr>
            <a:xfrm>
              <a:off x="3182873" y="2667635"/>
              <a:ext cx="1806575" cy="580390"/>
            </a:xfrm>
            <a:custGeom>
              <a:avLst/>
              <a:gdLst/>
              <a:ahLst/>
              <a:cxnLst/>
              <a:rect l="l" t="t" r="r" b="b"/>
              <a:pathLst>
                <a:path w="1806575" h="580389">
                  <a:moveTo>
                    <a:pt x="0" y="96647"/>
                  </a:moveTo>
                  <a:lnTo>
                    <a:pt x="7600" y="59043"/>
                  </a:lnTo>
                  <a:lnTo>
                    <a:pt x="28320" y="28321"/>
                  </a:lnTo>
                  <a:lnTo>
                    <a:pt x="59043" y="7600"/>
                  </a:lnTo>
                  <a:lnTo>
                    <a:pt x="96647" y="0"/>
                  </a:lnTo>
                  <a:lnTo>
                    <a:pt x="1709292" y="0"/>
                  </a:lnTo>
                  <a:lnTo>
                    <a:pt x="1746970" y="7600"/>
                  </a:lnTo>
                  <a:lnTo>
                    <a:pt x="1777730" y="28320"/>
                  </a:lnTo>
                  <a:lnTo>
                    <a:pt x="1798464" y="59043"/>
                  </a:lnTo>
                  <a:lnTo>
                    <a:pt x="1806066" y="96647"/>
                  </a:lnTo>
                  <a:lnTo>
                    <a:pt x="1806066" y="483362"/>
                  </a:lnTo>
                  <a:lnTo>
                    <a:pt x="1798464" y="521039"/>
                  </a:lnTo>
                  <a:lnTo>
                    <a:pt x="1777730" y="551799"/>
                  </a:lnTo>
                  <a:lnTo>
                    <a:pt x="1746970" y="572533"/>
                  </a:lnTo>
                  <a:lnTo>
                    <a:pt x="1709292" y="580136"/>
                  </a:lnTo>
                  <a:lnTo>
                    <a:pt x="96647" y="580136"/>
                  </a:lnTo>
                  <a:lnTo>
                    <a:pt x="59043" y="572533"/>
                  </a:lnTo>
                  <a:lnTo>
                    <a:pt x="28321" y="551799"/>
                  </a:lnTo>
                  <a:lnTo>
                    <a:pt x="7600" y="521039"/>
                  </a:lnTo>
                  <a:lnTo>
                    <a:pt x="0" y="483362"/>
                  </a:lnTo>
                  <a:lnTo>
                    <a:pt x="0" y="96647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6">
            <a:extLst>
              <a:ext uri="{FF2B5EF4-FFF2-40B4-BE49-F238E27FC236}">
                <a16:creationId xmlns:a16="http://schemas.microsoft.com/office/drawing/2014/main" id="{BD27B71C-FBF9-3443-321D-5B3F48F5CFD4}"/>
              </a:ext>
            </a:extLst>
          </p:cNvPr>
          <p:cNvSpPr txBox="1"/>
          <p:nvPr/>
        </p:nvSpPr>
        <p:spPr>
          <a:xfrm>
            <a:off x="3822957" y="2993454"/>
            <a:ext cx="4978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L1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13" name="object 17">
            <a:extLst>
              <a:ext uri="{FF2B5EF4-FFF2-40B4-BE49-F238E27FC236}">
                <a16:creationId xmlns:a16="http://schemas.microsoft.com/office/drawing/2014/main" id="{551BA914-ABAC-BC65-76F1-02462F3AA542}"/>
              </a:ext>
            </a:extLst>
          </p:cNvPr>
          <p:cNvGrpSpPr/>
          <p:nvPr/>
        </p:nvGrpSpPr>
        <p:grpSpPr>
          <a:xfrm>
            <a:off x="2825117" y="4007295"/>
            <a:ext cx="2493645" cy="1152525"/>
            <a:chOff x="2839217" y="3622547"/>
            <a:chExt cx="2493645" cy="1152525"/>
          </a:xfrm>
        </p:grpSpPr>
        <p:pic>
          <p:nvPicPr>
            <p:cNvPr id="14" name="object 18">
              <a:extLst>
                <a:ext uri="{FF2B5EF4-FFF2-40B4-BE49-F238E27FC236}">
                  <a16:creationId xmlns:a16="http://schemas.microsoft.com/office/drawing/2014/main" id="{64A95D13-E2F0-02F3-3538-7D574A97CDB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39217" y="3816095"/>
              <a:ext cx="2493252" cy="612648"/>
            </a:xfrm>
            <a:prstGeom prst="rect">
              <a:avLst/>
            </a:prstGeom>
          </p:spPr>
        </p:pic>
        <p:pic>
          <p:nvPicPr>
            <p:cNvPr id="15" name="object 19">
              <a:extLst>
                <a:ext uri="{FF2B5EF4-FFF2-40B4-BE49-F238E27FC236}">
                  <a16:creationId xmlns:a16="http://schemas.microsoft.com/office/drawing/2014/main" id="{BA720EBC-F5DB-5D9A-BC1D-F4B24957763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2152" y="3622547"/>
              <a:ext cx="1281684" cy="1152144"/>
            </a:xfrm>
            <a:prstGeom prst="rect">
              <a:avLst/>
            </a:prstGeom>
          </p:spPr>
        </p:pic>
        <p:sp>
          <p:nvSpPr>
            <p:cNvPr id="16" name="object 20">
              <a:extLst>
                <a:ext uri="{FF2B5EF4-FFF2-40B4-BE49-F238E27FC236}">
                  <a16:creationId xmlns:a16="http://schemas.microsoft.com/office/drawing/2014/main" id="{2D61FA41-C3BE-C1FB-3748-3414818CAF8D}"/>
                </a:ext>
              </a:extLst>
            </p:cNvPr>
            <p:cNvSpPr/>
            <p:nvPr/>
          </p:nvSpPr>
          <p:spPr>
            <a:xfrm>
              <a:off x="2881884" y="3836669"/>
              <a:ext cx="2408555" cy="525780"/>
            </a:xfrm>
            <a:custGeom>
              <a:avLst/>
              <a:gdLst/>
              <a:ahLst/>
              <a:cxnLst/>
              <a:rect l="l" t="t" r="r" b="b"/>
              <a:pathLst>
                <a:path w="2408554" h="525779">
                  <a:moveTo>
                    <a:pt x="2320417" y="0"/>
                  </a:moveTo>
                  <a:lnTo>
                    <a:pt x="87503" y="0"/>
                  </a:lnTo>
                  <a:lnTo>
                    <a:pt x="53417" y="6885"/>
                  </a:lnTo>
                  <a:lnTo>
                    <a:pt x="25606" y="25653"/>
                  </a:lnTo>
                  <a:lnTo>
                    <a:pt x="6867" y="53470"/>
                  </a:lnTo>
                  <a:lnTo>
                    <a:pt x="0" y="87502"/>
                  </a:lnTo>
                  <a:lnTo>
                    <a:pt x="0" y="437895"/>
                  </a:lnTo>
                  <a:lnTo>
                    <a:pt x="6867" y="472001"/>
                  </a:lnTo>
                  <a:lnTo>
                    <a:pt x="25606" y="499856"/>
                  </a:lnTo>
                  <a:lnTo>
                    <a:pt x="53417" y="518638"/>
                  </a:lnTo>
                  <a:lnTo>
                    <a:pt x="87503" y="525525"/>
                  </a:lnTo>
                  <a:lnTo>
                    <a:pt x="2320417" y="525525"/>
                  </a:lnTo>
                  <a:lnTo>
                    <a:pt x="2354522" y="518638"/>
                  </a:lnTo>
                  <a:lnTo>
                    <a:pt x="2382377" y="499856"/>
                  </a:lnTo>
                  <a:lnTo>
                    <a:pt x="2401159" y="472001"/>
                  </a:lnTo>
                  <a:lnTo>
                    <a:pt x="2408047" y="437895"/>
                  </a:lnTo>
                  <a:lnTo>
                    <a:pt x="2408047" y="87502"/>
                  </a:lnTo>
                  <a:lnTo>
                    <a:pt x="2401159" y="53470"/>
                  </a:lnTo>
                  <a:lnTo>
                    <a:pt x="2382377" y="25653"/>
                  </a:lnTo>
                  <a:lnTo>
                    <a:pt x="2354522" y="6885"/>
                  </a:lnTo>
                  <a:lnTo>
                    <a:pt x="2320417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1">
              <a:extLst>
                <a:ext uri="{FF2B5EF4-FFF2-40B4-BE49-F238E27FC236}">
                  <a16:creationId xmlns:a16="http://schemas.microsoft.com/office/drawing/2014/main" id="{9B6EB72C-19DF-86F3-594F-B190F89B0B72}"/>
                </a:ext>
              </a:extLst>
            </p:cNvPr>
            <p:cNvSpPr/>
            <p:nvPr/>
          </p:nvSpPr>
          <p:spPr>
            <a:xfrm>
              <a:off x="2881884" y="3836669"/>
              <a:ext cx="2408555" cy="525780"/>
            </a:xfrm>
            <a:custGeom>
              <a:avLst/>
              <a:gdLst/>
              <a:ahLst/>
              <a:cxnLst/>
              <a:rect l="l" t="t" r="r" b="b"/>
              <a:pathLst>
                <a:path w="2408554" h="525779">
                  <a:moveTo>
                    <a:pt x="0" y="87502"/>
                  </a:moveTo>
                  <a:lnTo>
                    <a:pt x="6867" y="53470"/>
                  </a:lnTo>
                  <a:lnTo>
                    <a:pt x="25606" y="25653"/>
                  </a:lnTo>
                  <a:lnTo>
                    <a:pt x="53417" y="6885"/>
                  </a:lnTo>
                  <a:lnTo>
                    <a:pt x="87503" y="0"/>
                  </a:lnTo>
                  <a:lnTo>
                    <a:pt x="2320417" y="0"/>
                  </a:lnTo>
                  <a:lnTo>
                    <a:pt x="2354522" y="6885"/>
                  </a:lnTo>
                  <a:lnTo>
                    <a:pt x="2382377" y="25653"/>
                  </a:lnTo>
                  <a:lnTo>
                    <a:pt x="2401159" y="53470"/>
                  </a:lnTo>
                  <a:lnTo>
                    <a:pt x="2408047" y="87502"/>
                  </a:lnTo>
                  <a:lnTo>
                    <a:pt x="2408047" y="437895"/>
                  </a:lnTo>
                  <a:lnTo>
                    <a:pt x="2401159" y="472001"/>
                  </a:lnTo>
                  <a:lnTo>
                    <a:pt x="2382377" y="499856"/>
                  </a:lnTo>
                  <a:lnTo>
                    <a:pt x="2354522" y="518638"/>
                  </a:lnTo>
                  <a:lnTo>
                    <a:pt x="2320417" y="525525"/>
                  </a:lnTo>
                  <a:lnTo>
                    <a:pt x="87503" y="525525"/>
                  </a:lnTo>
                  <a:lnTo>
                    <a:pt x="53417" y="518638"/>
                  </a:lnTo>
                  <a:lnTo>
                    <a:pt x="25606" y="499856"/>
                  </a:lnTo>
                  <a:lnTo>
                    <a:pt x="6867" y="472001"/>
                  </a:lnTo>
                  <a:lnTo>
                    <a:pt x="0" y="437895"/>
                  </a:lnTo>
                  <a:lnTo>
                    <a:pt x="0" y="87502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22">
            <a:extLst>
              <a:ext uri="{FF2B5EF4-FFF2-40B4-BE49-F238E27FC236}">
                <a16:creationId xmlns:a16="http://schemas.microsoft.com/office/drawing/2014/main" id="{F98577D9-DBBF-CC14-B607-D00AC87E0333}"/>
              </a:ext>
            </a:extLst>
          </p:cNvPr>
          <p:cNvSpPr txBox="1"/>
          <p:nvPr/>
        </p:nvSpPr>
        <p:spPr>
          <a:xfrm>
            <a:off x="3823465" y="4135566"/>
            <a:ext cx="4978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L2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19" name="object 23">
            <a:extLst>
              <a:ext uri="{FF2B5EF4-FFF2-40B4-BE49-F238E27FC236}">
                <a16:creationId xmlns:a16="http://schemas.microsoft.com/office/drawing/2014/main" id="{35788B67-8279-150C-09B5-1E5D54686081}"/>
              </a:ext>
            </a:extLst>
          </p:cNvPr>
          <p:cNvGrpSpPr/>
          <p:nvPr/>
        </p:nvGrpSpPr>
        <p:grpSpPr>
          <a:xfrm>
            <a:off x="2682242" y="1690688"/>
            <a:ext cx="2636520" cy="3973195"/>
            <a:chOff x="2695955" y="1306067"/>
            <a:chExt cx="2636520" cy="3973195"/>
          </a:xfrm>
        </p:grpSpPr>
        <p:pic>
          <p:nvPicPr>
            <p:cNvPr id="20" name="object 24">
              <a:extLst>
                <a:ext uri="{FF2B5EF4-FFF2-40B4-BE49-F238E27FC236}">
                  <a16:creationId xmlns:a16="http://schemas.microsoft.com/office/drawing/2014/main" id="{DD3B3386-8750-6B4D-4F37-652AB2CB65B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88663" y="4096511"/>
              <a:ext cx="594360" cy="1182624"/>
            </a:xfrm>
            <a:prstGeom prst="rect">
              <a:avLst/>
            </a:prstGeom>
          </p:spPr>
        </p:pic>
        <p:sp>
          <p:nvSpPr>
            <p:cNvPr id="21" name="object 25">
              <a:extLst>
                <a:ext uri="{FF2B5EF4-FFF2-40B4-BE49-F238E27FC236}">
                  <a16:creationId xmlns:a16="http://schemas.microsoft.com/office/drawing/2014/main" id="{28861BA5-866F-FE21-9729-456FB541B62C}"/>
                </a:ext>
              </a:extLst>
            </p:cNvPr>
            <p:cNvSpPr/>
            <p:nvPr/>
          </p:nvSpPr>
          <p:spPr>
            <a:xfrm>
              <a:off x="3957504" y="4372991"/>
              <a:ext cx="257175" cy="589280"/>
            </a:xfrm>
            <a:custGeom>
              <a:avLst/>
              <a:gdLst/>
              <a:ahLst/>
              <a:cxnLst/>
              <a:rect l="l" t="t" r="r" b="b"/>
              <a:pathLst>
                <a:path w="257175" h="589279">
                  <a:moveTo>
                    <a:pt x="24685" y="332599"/>
                  </a:moveTo>
                  <a:lnTo>
                    <a:pt x="13912" y="336295"/>
                  </a:lnTo>
                  <a:lnTo>
                    <a:pt x="5464" y="343800"/>
                  </a:lnTo>
                  <a:lnTo>
                    <a:pt x="720" y="353663"/>
                  </a:lnTo>
                  <a:lnTo>
                    <a:pt x="0" y="364620"/>
                  </a:lnTo>
                  <a:lnTo>
                    <a:pt x="3625" y="375411"/>
                  </a:lnTo>
                  <a:lnTo>
                    <a:pt x="128339" y="589152"/>
                  </a:lnTo>
                  <a:lnTo>
                    <a:pt x="161463" y="532383"/>
                  </a:lnTo>
                  <a:lnTo>
                    <a:pt x="99764" y="532383"/>
                  </a:lnTo>
                  <a:lnTo>
                    <a:pt x="99764" y="426651"/>
                  </a:lnTo>
                  <a:lnTo>
                    <a:pt x="53028" y="346582"/>
                  </a:lnTo>
                  <a:lnTo>
                    <a:pt x="45469" y="338064"/>
                  </a:lnTo>
                  <a:lnTo>
                    <a:pt x="35613" y="333295"/>
                  </a:lnTo>
                  <a:lnTo>
                    <a:pt x="24685" y="332599"/>
                  </a:lnTo>
                  <a:close/>
                </a:path>
                <a:path w="257175" h="589279">
                  <a:moveTo>
                    <a:pt x="99764" y="426651"/>
                  </a:moveTo>
                  <a:lnTo>
                    <a:pt x="99764" y="532383"/>
                  </a:lnTo>
                  <a:lnTo>
                    <a:pt x="156914" y="532383"/>
                  </a:lnTo>
                  <a:lnTo>
                    <a:pt x="156914" y="518032"/>
                  </a:lnTo>
                  <a:lnTo>
                    <a:pt x="103701" y="518032"/>
                  </a:lnTo>
                  <a:lnTo>
                    <a:pt x="128387" y="475687"/>
                  </a:lnTo>
                  <a:lnTo>
                    <a:pt x="99764" y="426651"/>
                  </a:lnTo>
                  <a:close/>
                </a:path>
                <a:path w="257175" h="589279">
                  <a:moveTo>
                    <a:pt x="232046" y="332599"/>
                  </a:moveTo>
                  <a:lnTo>
                    <a:pt x="156973" y="426651"/>
                  </a:lnTo>
                  <a:lnTo>
                    <a:pt x="156914" y="532383"/>
                  </a:lnTo>
                  <a:lnTo>
                    <a:pt x="161463" y="532383"/>
                  </a:lnTo>
                  <a:lnTo>
                    <a:pt x="253053" y="375411"/>
                  </a:lnTo>
                  <a:lnTo>
                    <a:pt x="256732" y="364620"/>
                  </a:lnTo>
                  <a:lnTo>
                    <a:pt x="256006" y="353663"/>
                  </a:lnTo>
                  <a:lnTo>
                    <a:pt x="251231" y="343800"/>
                  </a:lnTo>
                  <a:lnTo>
                    <a:pt x="242766" y="336295"/>
                  </a:lnTo>
                  <a:lnTo>
                    <a:pt x="232046" y="332599"/>
                  </a:lnTo>
                  <a:close/>
                </a:path>
                <a:path w="257175" h="589279">
                  <a:moveTo>
                    <a:pt x="128387" y="475687"/>
                  </a:moveTo>
                  <a:lnTo>
                    <a:pt x="103701" y="518032"/>
                  </a:lnTo>
                  <a:lnTo>
                    <a:pt x="153104" y="518032"/>
                  </a:lnTo>
                  <a:lnTo>
                    <a:pt x="128387" y="475687"/>
                  </a:lnTo>
                  <a:close/>
                </a:path>
                <a:path w="257175" h="589279">
                  <a:moveTo>
                    <a:pt x="156914" y="426752"/>
                  </a:moveTo>
                  <a:lnTo>
                    <a:pt x="128387" y="475687"/>
                  </a:lnTo>
                  <a:lnTo>
                    <a:pt x="153104" y="518032"/>
                  </a:lnTo>
                  <a:lnTo>
                    <a:pt x="156914" y="518032"/>
                  </a:lnTo>
                  <a:lnTo>
                    <a:pt x="156914" y="426752"/>
                  </a:lnTo>
                  <a:close/>
                </a:path>
                <a:path w="257175" h="589279">
                  <a:moveTo>
                    <a:pt x="128387" y="113465"/>
                  </a:moveTo>
                  <a:lnTo>
                    <a:pt x="99823" y="162400"/>
                  </a:lnTo>
                  <a:lnTo>
                    <a:pt x="99823" y="426752"/>
                  </a:lnTo>
                  <a:lnTo>
                    <a:pt x="128387" y="475687"/>
                  </a:lnTo>
                  <a:lnTo>
                    <a:pt x="156914" y="426752"/>
                  </a:lnTo>
                  <a:lnTo>
                    <a:pt x="156914" y="162400"/>
                  </a:lnTo>
                  <a:lnTo>
                    <a:pt x="128387" y="113465"/>
                  </a:lnTo>
                  <a:close/>
                </a:path>
                <a:path w="257175" h="589279">
                  <a:moveTo>
                    <a:pt x="128339" y="0"/>
                  </a:moveTo>
                  <a:lnTo>
                    <a:pt x="3625" y="213740"/>
                  </a:lnTo>
                  <a:lnTo>
                    <a:pt x="0" y="224460"/>
                  </a:lnTo>
                  <a:lnTo>
                    <a:pt x="720" y="235394"/>
                  </a:lnTo>
                  <a:lnTo>
                    <a:pt x="5464" y="245280"/>
                  </a:lnTo>
                  <a:lnTo>
                    <a:pt x="13912" y="252856"/>
                  </a:lnTo>
                  <a:lnTo>
                    <a:pt x="24685" y="256482"/>
                  </a:lnTo>
                  <a:lnTo>
                    <a:pt x="35613" y="255762"/>
                  </a:lnTo>
                  <a:lnTo>
                    <a:pt x="45469" y="251017"/>
                  </a:lnTo>
                  <a:lnTo>
                    <a:pt x="53028" y="242569"/>
                  </a:lnTo>
                  <a:lnTo>
                    <a:pt x="99764" y="162501"/>
                  </a:lnTo>
                  <a:lnTo>
                    <a:pt x="99764" y="56641"/>
                  </a:lnTo>
                  <a:lnTo>
                    <a:pt x="161389" y="56641"/>
                  </a:lnTo>
                  <a:lnTo>
                    <a:pt x="128339" y="0"/>
                  </a:lnTo>
                  <a:close/>
                </a:path>
                <a:path w="257175" h="589279">
                  <a:moveTo>
                    <a:pt x="161389" y="56641"/>
                  </a:moveTo>
                  <a:lnTo>
                    <a:pt x="156914" y="56641"/>
                  </a:lnTo>
                  <a:lnTo>
                    <a:pt x="156973" y="162501"/>
                  </a:lnTo>
                  <a:lnTo>
                    <a:pt x="203650" y="242569"/>
                  </a:lnTo>
                  <a:lnTo>
                    <a:pt x="211226" y="251017"/>
                  </a:lnTo>
                  <a:lnTo>
                    <a:pt x="221112" y="255762"/>
                  </a:lnTo>
                  <a:lnTo>
                    <a:pt x="232046" y="256482"/>
                  </a:lnTo>
                  <a:lnTo>
                    <a:pt x="242766" y="252856"/>
                  </a:lnTo>
                  <a:lnTo>
                    <a:pt x="251231" y="245280"/>
                  </a:lnTo>
                  <a:lnTo>
                    <a:pt x="256006" y="235394"/>
                  </a:lnTo>
                  <a:lnTo>
                    <a:pt x="256732" y="224460"/>
                  </a:lnTo>
                  <a:lnTo>
                    <a:pt x="253053" y="213740"/>
                  </a:lnTo>
                  <a:lnTo>
                    <a:pt x="161389" y="56641"/>
                  </a:lnTo>
                  <a:close/>
                </a:path>
                <a:path w="257175" h="589279">
                  <a:moveTo>
                    <a:pt x="156914" y="56641"/>
                  </a:moveTo>
                  <a:lnTo>
                    <a:pt x="99764" y="56641"/>
                  </a:lnTo>
                  <a:lnTo>
                    <a:pt x="99764" y="162501"/>
                  </a:lnTo>
                  <a:lnTo>
                    <a:pt x="128387" y="113465"/>
                  </a:lnTo>
                  <a:lnTo>
                    <a:pt x="103701" y="71119"/>
                  </a:lnTo>
                  <a:lnTo>
                    <a:pt x="156914" y="71119"/>
                  </a:lnTo>
                  <a:lnTo>
                    <a:pt x="156914" y="56641"/>
                  </a:lnTo>
                  <a:close/>
                </a:path>
                <a:path w="257175" h="589279">
                  <a:moveTo>
                    <a:pt x="156914" y="71119"/>
                  </a:moveTo>
                  <a:lnTo>
                    <a:pt x="153104" y="71119"/>
                  </a:lnTo>
                  <a:lnTo>
                    <a:pt x="128387" y="113465"/>
                  </a:lnTo>
                  <a:lnTo>
                    <a:pt x="156914" y="162400"/>
                  </a:lnTo>
                  <a:lnTo>
                    <a:pt x="156914" y="71119"/>
                  </a:lnTo>
                  <a:close/>
                </a:path>
                <a:path w="257175" h="589279">
                  <a:moveTo>
                    <a:pt x="153104" y="71119"/>
                  </a:moveTo>
                  <a:lnTo>
                    <a:pt x="103701" y="71119"/>
                  </a:lnTo>
                  <a:lnTo>
                    <a:pt x="128387" y="113465"/>
                  </a:lnTo>
                  <a:lnTo>
                    <a:pt x="153104" y="71119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6">
              <a:extLst>
                <a:ext uri="{FF2B5EF4-FFF2-40B4-BE49-F238E27FC236}">
                  <a16:creationId xmlns:a16="http://schemas.microsoft.com/office/drawing/2014/main" id="{93920D6F-E03C-9EA8-7223-A3045B8128B7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95955" y="1467611"/>
              <a:ext cx="2636520" cy="675131"/>
            </a:xfrm>
            <a:prstGeom prst="rect">
              <a:avLst/>
            </a:prstGeom>
          </p:spPr>
        </p:pic>
        <p:pic>
          <p:nvPicPr>
            <p:cNvPr id="23" name="object 27">
              <a:extLst>
                <a:ext uri="{FF2B5EF4-FFF2-40B4-BE49-F238E27FC236}">
                  <a16:creationId xmlns:a16="http://schemas.microsoft.com/office/drawing/2014/main" id="{B5FAB321-5296-E926-FB74-457844FE44CB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82111" y="1306067"/>
              <a:ext cx="1780032" cy="1152143"/>
            </a:xfrm>
            <a:prstGeom prst="rect">
              <a:avLst/>
            </a:prstGeom>
          </p:spPr>
        </p:pic>
        <p:sp>
          <p:nvSpPr>
            <p:cNvPr id="24" name="object 28">
              <a:extLst>
                <a:ext uri="{FF2B5EF4-FFF2-40B4-BE49-F238E27FC236}">
                  <a16:creationId xmlns:a16="http://schemas.microsoft.com/office/drawing/2014/main" id="{C358A6EF-0BC6-0743-A883-694FED93FD50}"/>
                </a:ext>
              </a:extLst>
            </p:cNvPr>
            <p:cNvSpPr/>
            <p:nvPr/>
          </p:nvSpPr>
          <p:spPr>
            <a:xfrm>
              <a:off x="2738119" y="1487677"/>
              <a:ext cx="2552065" cy="589915"/>
            </a:xfrm>
            <a:custGeom>
              <a:avLst/>
              <a:gdLst/>
              <a:ahLst/>
              <a:cxnLst/>
              <a:rect l="l" t="t" r="r" b="b"/>
              <a:pathLst>
                <a:path w="2552065" h="589914">
                  <a:moveTo>
                    <a:pt x="2453640" y="0"/>
                  </a:moveTo>
                  <a:lnTo>
                    <a:pt x="98298" y="0"/>
                  </a:lnTo>
                  <a:lnTo>
                    <a:pt x="60061" y="7715"/>
                  </a:lnTo>
                  <a:lnTo>
                    <a:pt x="28813" y="28765"/>
                  </a:lnTo>
                  <a:lnTo>
                    <a:pt x="7733" y="60007"/>
                  </a:lnTo>
                  <a:lnTo>
                    <a:pt x="0" y="98298"/>
                  </a:lnTo>
                  <a:lnTo>
                    <a:pt x="0" y="491617"/>
                  </a:lnTo>
                  <a:lnTo>
                    <a:pt x="7733" y="529907"/>
                  </a:lnTo>
                  <a:lnTo>
                    <a:pt x="28813" y="561149"/>
                  </a:lnTo>
                  <a:lnTo>
                    <a:pt x="60061" y="582199"/>
                  </a:lnTo>
                  <a:lnTo>
                    <a:pt x="98298" y="589914"/>
                  </a:lnTo>
                  <a:lnTo>
                    <a:pt x="2453640" y="589914"/>
                  </a:lnTo>
                  <a:lnTo>
                    <a:pt x="2491876" y="582199"/>
                  </a:lnTo>
                  <a:lnTo>
                    <a:pt x="2523124" y="561149"/>
                  </a:lnTo>
                  <a:lnTo>
                    <a:pt x="2544204" y="529907"/>
                  </a:lnTo>
                  <a:lnTo>
                    <a:pt x="2551938" y="491617"/>
                  </a:lnTo>
                  <a:lnTo>
                    <a:pt x="2551938" y="98298"/>
                  </a:lnTo>
                  <a:lnTo>
                    <a:pt x="2544204" y="60007"/>
                  </a:lnTo>
                  <a:lnTo>
                    <a:pt x="2523124" y="28765"/>
                  </a:lnTo>
                  <a:lnTo>
                    <a:pt x="2491876" y="7715"/>
                  </a:lnTo>
                  <a:lnTo>
                    <a:pt x="2453640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9">
            <a:extLst>
              <a:ext uri="{FF2B5EF4-FFF2-40B4-BE49-F238E27FC236}">
                <a16:creationId xmlns:a16="http://schemas.microsoft.com/office/drawing/2014/main" id="{EA96B740-2F52-BC7C-E94D-E44A2787265C}"/>
              </a:ext>
            </a:extLst>
          </p:cNvPr>
          <p:cNvSpPr txBox="1"/>
          <p:nvPr/>
        </p:nvSpPr>
        <p:spPr>
          <a:xfrm>
            <a:off x="3502916" y="1818196"/>
            <a:ext cx="9956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4000" b="1" spc="-6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26" name="object 30">
            <a:extLst>
              <a:ext uri="{FF2B5EF4-FFF2-40B4-BE49-F238E27FC236}">
                <a16:creationId xmlns:a16="http://schemas.microsoft.com/office/drawing/2014/main" id="{C45BFAF9-7A37-69FE-3E07-12FBB1247934}"/>
              </a:ext>
            </a:extLst>
          </p:cNvPr>
          <p:cNvGrpSpPr/>
          <p:nvPr/>
        </p:nvGrpSpPr>
        <p:grpSpPr>
          <a:xfrm>
            <a:off x="3703322" y="2807763"/>
            <a:ext cx="6837045" cy="1731645"/>
            <a:chOff x="3717035" y="2423142"/>
            <a:chExt cx="6837045" cy="1731645"/>
          </a:xfrm>
        </p:grpSpPr>
        <p:pic>
          <p:nvPicPr>
            <p:cNvPr id="27" name="object 31">
              <a:extLst>
                <a:ext uri="{FF2B5EF4-FFF2-40B4-BE49-F238E27FC236}">
                  <a16:creationId xmlns:a16="http://schemas.microsoft.com/office/drawing/2014/main" id="{79C21F03-3C67-BB0E-E5C3-94682031F832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17035" y="2970276"/>
              <a:ext cx="594360" cy="1184148"/>
            </a:xfrm>
            <a:prstGeom prst="rect">
              <a:avLst/>
            </a:prstGeom>
          </p:spPr>
        </p:pic>
        <p:sp>
          <p:nvSpPr>
            <p:cNvPr id="28" name="object 32">
              <a:extLst>
                <a:ext uri="{FF2B5EF4-FFF2-40B4-BE49-F238E27FC236}">
                  <a16:creationId xmlns:a16="http://schemas.microsoft.com/office/drawing/2014/main" id="{BDE2AC7C-11AD-EF9D-CEF5-8E2EF0E5D877}"/>
                </a:ext>
              </a:extLst>
            </p:cNvPr>
            <p:cNvSpPr/>
            <p:nvPr/>
          </p:nvSpPr>
          <p:spPr>
            <a:xfrm>
              <a:off x="3885749" y="3247644"/>
              <a:ext cx="257175" cy="589280"/>
            </a:xfrm>
            <a:custGeom>
              <a:avLst/>
              <a:gdLst/>
              <a:ahLst/>
              <a:cxnLst/>
              <a:rect l="l" t="t" r="r" b="b"/>
              <a:pathLst>
                <a:path w="257175" h="589279">
                  <a:moveTo>
                    <a:pt x="24685" y="332616"/>
                  </a:moveTo>
                  <a:lnTo>
                    <a:pt x="13912" y="336295"/>
                  </a:lnTo>
                  <a:lnTo>
                    <a:pt x="5464" y="343800"/>
                  </a:lnTo>
                  <a:lnTo>
                    <a:pt x="720" y="353663"/>
                  </a:lnTo>
                  <a:lnTo>
                    <a:pt x="0" y="364620"/>
                  </a:lnTo>
                  <a:lnTo>
                    <a:pt x="3625" y="375411"/>
                  </a:lnTo>
                  <a:lnTo>
                    <a:pt x="128339" y="589152"/>
                  </a:lnTo>
                  <a:lnTo>
                    <a:pt x="161463" y="532383"/>
                  </a:lnTo>
                  <a:lnTo>
                    <a:pt x="99764" y="532383"/>
                  </a:lnTo>
                  <a:lnTo>
                    <a:pt x="99764" y="426752"/>
                  </a:lnTo>
                  <a:lnTo>
                    <a:pt x="53028" y="346582"/>
                  </a:lnTo>
                  <a:lnTo>
                    <a:pt x="45469" y="338117"/>
                  </a:lnTo>
                  <a:lnTo>
                    <a:pt x="35613" y="333343"/>
                  </a:lnTo>
                  <a:lnTo>
                    <a:pt x="24685" y="332616"/>
                  </a:lnTo>
                  <a:close/>
                </a:path>
                <a:path w="257175" h="589279">
                  <a:moveTo>
                    <a:pt x="99764" y="426752"/>
                  </a:moveTo>
                  <a:lnTo>
                    <a:pt x="99764" y="532383"/>
                  </a:lnTo>
                  <a:lnTo>
                    <a:pt x="156914" y="532383"/>
                  </a:lnTo>
                  <a:lnTo>
                    <a:pt x="156914" y="518032"/>
                  </a:lnTo>
                  <a:lnTo>
                    <a:pt x="103701" y="518032"/>
                  </a:lnTo>
                  <a:lnTo>
                    <a:pt x="128339" y="475769"/>
                  </a:lnTo>
                  <a:lnTo>
                    <a:pt x="99764" y="426752"/>
                  </a:lnTo>
                  <a:close/>
                </a:path>
                <a:path w="257175" h="589279">
                  <a:moveTo>
                    <a:pt x="232046" y="332616"/>
                  </a:moveTo>
                  <a:lnTo>
                    <a:pt x="221112" y="333343"/>
                  </a:lnTo>
                  <a:lnTo>
                    <a:pt x="211226" y="338117"/>
                  </a:lnTo>
                  <a:lnTo>
                    <a:pt x="203650" y="346582"/>
                  </a:lnTo>
                  <a:lnTo>
                    <a:pt x="156914" y="426752"/>
                  </a:lnTo>
                  <a:lnTo>
                    <a:pt x="156914" y="532383"/>
                  </a:lnTo>
                  <a:lnTo>
                    <a:pt x="161463" y="532383"/>
                  </a:lnTo>
                  <a:lnTo>
                    <a:pt x="253053" y="375411"/>
                  </a:lnTo>
                  <a:lnTo>
                    <a:pt x="256732" y="364620"/>
                  </a:lnTo>
                  <a:lnTo>
                    <a:pt x="256006" y="353663"/>
                  </a:lnTo>
                  <a:lnTo>
                    <a:pt x="251231" y="343800"/>
                  </a:lnTo>
                  <a:lnTo>
                    <a:pt x="242766" y="336295"/>
                  </a:lnTo>
                  <a:lnTo>
                    <a:pt x="232046" y="332616"/>
                  </a:lnTo>
                  <a:close/>
                </a:path>
                <a:path w="257175" h="589279">
                  <a:moveTo>
                    <a:pt x="128339" y="475769"/>
                  </a:moveTo>
                  <a:lnTo>
                    <a:pt x="103701" y="518032"/>
                  </a:lnTo>
                  <a:lnTo>
                    <a:pt x="152977" y="518032"/>
                  </a:lnTo>
                  <a:lnTo>
                    <a:pt x="128339" y="475769"/>
                  </a:lnTo>
                  <a:close/>
                </a:path>
                <a:path w="257175" h="589279">
                  <a:moveTo>
                    <a:pt x="156914" y="426752"/>
                  </a:moveTo>
                  <a:lnTo>
                    <a:pt x="128339" y="475769"/>
                  </a:lnTo>
                  <a:lnTo>
                    <a:pt x="152977" y="518032"/>
                  </a:lnTo>
                  <a:lnTo>
                    <a:pt x="156914" y="518032"/>
                  </a:lnTo>
                  <a:lnTo>
                    <a:pt x="156914" y="426752"/>
                  </a:lnTo>
                  <a:close/>
                </a:path>
                <a:path w="257175" h="589279">
                  <a:moveTo>
                    <a:pt x="128339" y="113383"/>
                  </a:moveTo>
                  <a:lnTo>
                    <a:pt x="99764" y="162400"/>
                  </a:lnTo>
                  <a:lnTo>
                    <a:pt x="99764" y="426752"/>
                  </a:lnTo>
                  <a:lnTo>
                    <a:pt x="128339" y="475769"/>
                  </a:lnTo>
                  <a:lnTo>
                    <a:pt x="156914" y="426752"/>
                  </a:lnTo>
                  <a:lnTo>
                    <a:pt x="156914" y="162400"/>
                  </a:lnTo>
                  <a:lnTo>
                    <a:pt x="128339" y="113383"/>
                  </a:lnTo>
                  <a:close/>
                </a:path>
                <a:path w="257175" h="589279">
                  <a:moveTo>
                    <a:pt x="128339" y="0"/>
                  </a:moveTo>
                  <a:lnTo>
                    <a:pt x="3625" y="213740"/>
                  </a:lnTo>
                  <a:lnTo>
                    <a:pt x="0" y="224460"/>
                  </a:lnTo>
                  <a:lnTo>
                    <a:pt x="720" y="235394"/>
                  </a:lnTo>
                  <a:lnTo>
                    <a:pt x="5464" y="245280"/>
                  </a:lnTo>
                  <a:lnTo>
                    <a:pt x="13912" y="252856"/>
                  </a:lnTo>
                  <a:lnTo>
                    <a:pt x="24685" y="256482"/>
                  </a:lnTo>
                  <a:lnTo>
                    <a:pt x="35613" y="255762"/>
                  </a:lnTo>
                  <a:lnTo>
                    <a:pt x="45469" y="251017"/>
                  </a:lnTo>
                  <a:lnTo>
                    <a:pt x="53028" y="242569"/>
                  </a:lnTo>
                  <a:lnTo>
                    <a:pt x="99764" y="162400"/>
                  </a:lnTo>
                  <a:lnTo>
                    <a:pt x="99764" y="56641"/>
                  </a:lnTo>
                  <a:lnTo>
                    <a:pt x="161389" y="56641"/>
                  </a:lnTo>
                  <a:lnTo>
                    <a:pt x="128339" y="0"/>
                  </a:lnTo>
                  <a:close/>
                </a:path>
                <a:path w="257175" h="589279">
                  <a:moveTo>
                    <a:pt x="161389" y="56641"/>
                  </a:moveTo>
                  <a:lnTo>
                    <a:pt x="156914" y="56641"/>
                  </a:lnTo>
                  <a:lnTo>
                    <a:pt x="156914" y="162400"/>
                  </a:lnTo>
                  <a:lnTo>
                    <a:pt x="203650" y="242569"/>
                  </a:lnTo>
                  <a:lnTo>
                    <a:pt x="211226" y="251017"/>
                  </a:lnTo>
                  <a:lnTo>
                    <a:pt x="221112" y="255762"/>
                  </a:lnTo>
                  <a:lnTo>
                    <a:pt x="232046" y="256482"/>
                  </a:lnTo>
                  <a:lnTo>
                    <a:pt x="242766" y="252856"/>
                  </a:lnTo>
                  <a:lnTo>
                    <a:pt x="251231" y="245280"/>
                  </a:lnTo>
                  <a:lnTo>
                    <a:pt x="256006" y="235394"/>
                  </a:lnTo>
                  <a:lnTo>
                    <a:pt x="256732" y="224460"/>
                  </a:lnTo>
                  <a:lnTo>
                    <a:pt x="253053" y="213740"/>
                  </a:lnTo>
                  <a:lnTo>
                    <a:pt x="161389" y="56641"/>
                  </a:lnTo>
                  <a:close/>
                </a:path>
                <a:path w="257175" h="589279">
                  <a:moveTo>
                    <a:pt x="156914" y="56641"/>
                  </a:moveTo>
                  <a:lnTo>
                    <a:pt x="99764" y="56641"/>
                  </a:lnTo>
                  <a:lnTo>
                    <a:pt x="99764" y="162400"/>
                  </a:lnTo>
                  <a:lnTo>
                    <a:pt x="128339" y="113383"/>
                  </a:lnTo>
                  <a:lnTo>
                    <a:pt x="103701" y="71119"/>
                  </a:lnTo>
                  <a:lnTo>
                    <a:pt x="156914" y="71119"/>
                  </a:lnTo>
                  <a:lnTo>
                    <a:pt x="156914" y="56641"/>
                  </a:lnTo>
                  <a:close/>
                </a:path>
                <a:path w="257175" h="589279">
                  <a:moveTo>
                    <a:pt x="156914" y="71119"/>
                  </a:moveTo>
                  <a:lnTo>
                    <a:pt x="152977" y="71119"/>
                  </a:lnTo>
                  <a:lnTo>
                    <a:pt x="128339" y="113383"/>
                  </a:lnTo>
                  <a:lnTo>
                    <a:pt x="156914" y="162400"/>
                  </a:lnTo>
                  <a:lnTo>
                    <a:pt x="156914" y="71119"/>
                  </a:lnTo>
                  <a:close/>
                </a:path>
                <a:path w="257175" h="589279">
                  <a:moveTo>
                    <a:pt x="152977" y="71119"/>
                  </a:moveTo>
                  <a:lnTo>
                    <a:pt x="103701" y="71119"/>
                  </a:lnTo>
                  <a:lnTo>
                    <a:pt x="128339" y="113383"/>
                  </a:lnTo>
                  <a:lnTo>
                    <a:pt x="152977" y="71119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33">
              <a:extLst>
                <a:ext uri="{FF2B5EF4-FFF2-40B4-BE49-F238E27FC236}">
                  <a16:creationId xmlns:a16="http://schemas.microsoft.com/office/drawing/2014/main" id="{0A0B62E3-925B-18CF-E11D-DFD595C69F1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48297" y="2423142"/>
              <a:ext cx="5105405" cy="762035"/>
            </a:xfrm>
            <a:prstGeom prst="rect">
              <a:avLst/>
            </a:prstGeom>
          </p:spPr>
        </p:pic>
        <p:pic>
          <p:nvPicPr>
            <p:cNvPr id="30" name="object 34">
              <a:extLst>
                <a:ext uri="{FF2B5EF4-FFF2-40B4-BE49-F238E27FC236}">
                  <a16:creationId xmlns:a16="http://schemas.microsoft.com/office/drawing/2014/main" id="{CF5ED277-BA7C-CA86-4D2C-9BD955292ABF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12535" y="2441448"/>
              <a:ext cx="4186427" cy="832103"/>
            </a:xfrm>
            <a:prstGeom prst="rect">
              <a:avLst/>
            </a:prstGeom>
          </p:spPr>
        </p:pic>
        <p:sp>
          <p:nvSpPr>
            <p:cNvPr id="31" name="object 35">
              <a:extLst>
                <a:ext uri="{FF2B5EF4-FFF2-40B4-BE49-F238E27FC236}">
                  <a16:creationId xmlns:a16="http://schemas.microsoft.com/office/drawing/2014/main" id="{AB9B732A-B225-04F5-ABB1-26F270CDBE8B}"/>
                </a:ext>
              </a:extLst>
            </p:cNvPr>
            <p:cNvSpPr/>
            <p:nvPr/>
          </p:nvSpPr>
          <p:spPr>
            <a:xfrm>
              <a:off x="5486400" y="2438400"/>
              <a:ext cx="5029200" cy="685800"/>
            </a:xfrm>
            <a:custGeom>
              <a:avLst/>
              <a:gdLst/>
              <a:ahLst/>
              <a:cxnLst/>
              <a:rect l="l" t="t" r="r" b="b"/>
              <a:pathLst>
                <a:path w="5029200" h="685800">
                  <a:moveTo>
                    <a:pt x="4914900" y="0"/>
                  </a:moveTo>
                  <a:lnTo>
                    <a:pt x="114300" y="0"/>
                  </a:lnTo>
                  <a:lnTo>
                    <a:pt x="69812" y="8983"/>
                  </a:lnTo>
                  <a:lnTo>
                    <a:pt x="33480" y="33480"/>
                  </a:lnTo>
                  <a:lnTo>
                    <a:pt x="8983" y="69812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4914900" y="685800"/>
                  </a:lnTo>
                  <a:lnTo>
                    <a:pt x="4959387" y="676816"/>
                  </a:lnTo>
                  <a:lnTo>
                    <a:pt x="4995719" y="652319"/>
                  </a:lnTo>
                  <a:lnTo>
                    <a:pt x="5020216" y="615987"/>
                  </a:lnTo>
                  <a:lnTo>
                    <a:pt x="5029200" y="571500"/>
                  </a:lnTo>
                  <a:lnTo>
                    <a:pt x="5029200" y="114300"/>
                  </a:lnTo>
                  <a:lnTo>
                    <a:pt x="5020216" y="69812"/>
                  </a:lnTo>
                  <a:lnTo>
                    <a:pt x="4995719" y="33480"/>
                  </a:lnTo>
                  <a:lnTo>
                    <a:pt x="4959387" y="8983"/>
                  </a:lnTo>
                  <a:lnTo>
                    <a:pt x="49149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6">
              <a:extLst>
                <a:ext uri="{FF2B5EF4-FFF2-40B4-BE49-F238E27FC236}">
                  <a16:creationId xmlns:a16="http://schemas.microsoft.com/office/drawing/2014/main" id="{8A0B062A-7EDB-02A0-96FE-A5319B91C35A}"/>
                </a:ext>
              </a:extLst>
            </p:cNvPr>
            <p:cNvSpPr/>
            <p:nvPr/>
          </p:nvSpPr>
          <p:spPr>
            <a:xfrm>
              <a:off x="5486400" y="2438400"/>
              <a:ext cx="5029200" cy="685800"/>
            </a:xfrm>
            <a:custGeom>
              <a:avLst/>
              <a:gdLst/>
              <a:ahLst/>
              <a:cxnLst/>
              <a:rect l="l" t="t" r="r" b="b"/>
              <a:pathLst>
                <a:path w="5029200" h="685800">
                  <a:moveTo>
                    <a:pt x="0" y="114300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4914900" y="0"/>
                  </a:lnTo>
                  <a:lnTo>
                    <a:pt x="4959387" y="8983"/>
                  </a:lnTo>
                  <a:lnTo>
                    <a:pt x="4995719" y="33480"/>
                  </a:lnTo>
                  <a:lnTo>
                    <a:pt x="5020216" y="69812"/>
                  </a:lnTo>
                  <a:lnTo>
                    <a:pt x="5029200" y="114300"/>
                  </a:lnTo>
                  <a:lnTo>
                    <a:pt x="5029200" y="571500"/>
                  </a:lnTo>
                  <a:lnTo>
                    <a:pt x="5020216" y="615987"/>
                  </a:lnTo>
                  <a:lnTo>
                    <a:pt x="4995719" y="652319"/>
                  </a:lnTo>
                  <a:lnTo>
                    <a:pt x="4959387" y="676816"/>
                  </a:lnTo>
                  <a:lnTo>
                    <a:pt x="49149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7">
            <a:extLst>
              <a:ext uri="{FF2B5EF4-FFF2-40B4-BE49-F238E27FC236}">
                <a16:creationId xmlns:a16="http://schemas.microsoft.com/office/drawing/2014/main" id="{ADEC37A0-E4C6-9B84-61DB-7927B6A6B384}"/>
              </a:ext>
            </a:extLst>
          </p:cNvPr>
          <p:cNvSpPr txBox="1"/>
          <p:nvPr/>
        </p:nvSpPr>
        <p:spPr>
          <a:xfrm>
            <a:off x="6042790" y="2931351"/>
            <a:ext cx="36220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"/>
                <a:cs typeface="Cambria"/>
              </a:rPr>
              <a:t>Designed</a:t>
            </a:r>
            <a:r>
              <a:rPr sz="2800" spc="-3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for</a:t>
            </a:r>
            <a:r>
              <a:rPr sz="2800" spc="-40" dirty="0">
                <a:latin typeface="Cambria"/>
                <a:cs typeface="Cambria"/>
              </a:rPr>
              <a:t> </a:t>
            </a:r>
            <a:r>
              <a:rPr sz="2800" i="1" spc="-5" dirty="0">
                <a:solidFill>
                  <a:srgbClr val="C00000"/>
                </a:solidFill>
                <a:latin typeface="Cambria"/>
                <a:cs typeface="Cambria"/>
              </a:rPr>
              <a:t>bandwidth</a:t>
            </a:r>
            <a:endParaRPr sz="2800">
              <a:latin typeface="Cambria"/>
              <a:cs typeface="Cambria"/>
            </a:endParaRPr>
          </a:p>
        </p:txBody>
      </p:sp>
      <p:grpSp>
        <p:nvGrpSpPr>
          <p:cNvPr id="34" name="object 38">
            <a:extLst>
              <a:ext uri="{FF2B5EF4-FFF2-40B4-BE49-F238E27FC236}">
                <a16:creationId xmlns:a16="http://schemas.microsoft.com/office/drawing/2014/main" id="{18B53479-8848-FD87-2DC4-1B0CC0A9024A}"/>
              </a:ext>
            </a:extLst>
          </p:cNvPr>
          <p:cNvGrpSpPr/>
          <p:nvPr/>
        </p:nvGrpSpPr>
        <p:grpSpPr>
          <a:xfrm>
            <a:off x="5586984" y="4060509"/>
            <a:ext cx="5105400" cy="847725"/>
            <a:chOff x="5600697" y="3675888"/>
            <a:chExt cx="5105400" cy="847725"/>
          </a:xfrm>
        </p:grpSpPr>
        <p:pic>
          <p:nvPicPr>
            <p:cNvPr id="35" name="object 39">
              <a:extLst>
                <a:ext uri="{FF2B5EF4-FFF2-40B4-BE49-F238E27FC236}">
                  <a16:creationId xmlns:a16="http://schemas.microsoft.com/office/drawing/2014/main" id="{756C08CE-5FCB-7F7E-4680-F9623573A650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00697" y="3675888"/>
              <a:ext cx="5105405" cy="758951"/>
            </a:xfrm>
            <a:prstGeom prst="rect">
              <a:avLst/>
            </a:prstGeom>
          </p:spPr>
        </p:pic>
        <p:pic>
          <p:nvPicPr>
            <p:cNvPr id="36" name="object 40">
              <a:extLst>
                <a:ext uri="{FF2B5EF4-FFF2-40B4-BE49-F238E27FC236}">
                  <a16:creationId xmlns:a16="http://schemas.microsoft.com/office/drawing/2014/main" id="{FC5D02F6-30A5-88C4-1F84-67B5FC252E6E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64936" y="3691128"/>
              <a:ext cx="3660648" cy="832104"/>
            </a:xfrm>
            <a:prstGeom prst="rect">
              <a:avLst/>
            </a:prstGeom>
          </p:spPr>
        </p:pic>
        <p:sp>
          <p:nvSpPr>
            <p:cNvPr id="37" name="object 41">
              <a:extLst>
                <a:ext uri="{FF2B5EF4-FFF2-40B4-BE49-F238E27FC236}">
                  <a16:creationId xmlns:a16="http://schemas.microsoft.com/office/drawing/2014/main" id="{B218F36F-B472-63F4-FCA4-C58F22A3AF8C}"/>
                </a:ext>
              </a:extLst>
            </p:cNvPr>
            <p:cNvSpPr/>
            <p:nvPr/>
          </p:nvSpPr>
          <p:spPr>
            <a:xfrm>
              <a:off x="5638800" y="3687318"/>
              <a:ext cx="5029200" cy="685800"/>
            </a:xfrm>
            <a:custGeom>
              <a:avLst/>
              <a:gdLst/>
              <a:ahLst/>
              <a:cxnLst/>
              <a:rect l="l" t="t" r="r" b="b"/>
              <a:pathLst>
                <a:path w="5029200" h="685800">
                  <a:moveTo>
                    <a:pt x="4914900" y="0"/>
                  </a:moveTo>
                  <a:lnTo>
                    <a:pt x="114300" y="0"/>
                  </a:lnTo>
                  <a:lnTo>
                    <a:pt x="69812" y="8983"/>
                  </a:lnTo>
                  <a:lnTo>
                    <a:pt x="33480" y="33480"/>
                  </a:lnTo>
                  <a:lnTo>
                    <a:pt x="8983" y="69812"/>
                  </a:lnTo>
                  <a:lnTo>
                    <a:pt x="0" y="114299"/>
                  </a:lnTo>
                  <a:lnTo>
                    <a:pt x="0" y="571499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799"/>
                  </a:lnTo>
                  <a:lnTo>
                    <a:pt x="4914900" y="685799"/>
                  </a:lnTo>
                  <a:lnTo>
                    <a:pt x="4959387" y="676816"/>
                  </a:lnTo>
                  <a:lnTo>
                    <a:pt x="4995719" y="652319"/>
                  </a:lnTo>
                  <a:lnTo>
                    <a:pt x="5020216" y="615987"/>
                  </a:lnTo>
                  <a:lnTo>
                    <a:pt x="5029200" y="571499"/>
                  </a:lnTo>
                  <a:lnTo>
                    <a:pt x="5029200" y="114299"/>
                  </a:lnTo>
                  <a:lnTo>
                    <a:pt x="5020216" y="69812"/>
                  </a:lnTo>
                  <a:lnTo>
                    <a:pt x="4995719" y="33480"/>
                  </a:lnTo>
                  <a:lnTo>
                    <a:pt x="4959387" y="8983"/>
                  </a:lnTo>
                  <a:lnTo>
                    <a:pt x="49149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42">
              <a:extLst>
                <a:ext uri="{FF2B5EF4-FFF2-40B4-BE49-F238E27FC236}">
                  <a16:creationId xmlns:a16="http://schemas.microsoft.com/office/drawing/2014/main" id="{AFFCB7FD-46B8-EEB9-7E14-F15A12EB2829}"/>
                </a:ext>
              </a:extLst>
            </p:cNvPr>
            <p:cNvSpPr/>
            <p:nvPr/>
          </p:nvSpPr>
          <p:spPr>
            <a:xfrm>
              <a:off x="5638800" y="3687318"/>
              <a:ext cx="5029200" cy="685800"/>
            </a:xfrm>
            <a:custGeom>
              <a:avLst/>
              <a:gdLst/>
              <a:ahLst/>
              <a:cxnLst/>
              <a:rect l="l" t="t" r="r" b="b"/>
              <a:pathLst>
                <a:path w="5029200" h="685800">
                  <a:moveTo>
                    <a:pt x="0" y="114299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4914900" y="0"/>
                  </a:lnTo>
                  <a:lnTo>
                    <a:pt x="4959387" y="8983"/>
                  </a:lnTo>
                  <a:lnTo>
                    <a:pt x="4995719" y="33480"/>
                  </a:lnTo>
                  <a:lnTo>
                    <a:pt x="5020216" y="69812"/>
                  </a:lnTo>
                  <a:lnTo>
                    <a:pt x="5029200" y="114299"/>
                  </a:lnTo>
                  <a:lnTo>
                    <a:pt x="5029200" y="571499"/>
                  </a:lnTo>
                  <a:lnTo>
                    <a:pt x="5020216" y="615987"/>
                  </a:lnTo>
                  <a:lnTo>
                    <a:pt x="4995719" y="652319"/>
                  </a:lnTo>
                  <a:lnTo>
                    <a:pt x="4959387" y="676816"/>
                  </a:lnTo>
                  <a:lnTo>
                    <a:pt x="4914900" y="685799"/>
                  </a:lnTo>
                  <a:lnTo>
                    <a:pt x="114300" y="685799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499"/>
                  </a:lnTo>
                  <a:lnTo>
                    <a:pt x="0" y="11429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43">
            <a:extLst>
              <a:ext uri="{FF2B5EF4-FFF2-40B4-BE49-F238E27FC236}">
                <a16:creationId xmlns:a16="http://schemas.microsoft.com/office/drawing/2014/main" id="{0C8D311D-805E-921E-2E01-BCE6AAA74B54}"/>
              </a:ext>
            </a:extLst>
          </p:cNvPr>
          <p:cNvSpPr txBox="1"/>
          <p:nvPr/>
        </p:nvSpPr>
        <p:spPr>
          <a:xfrm>
            <a:off x="6195190" y="4180346"/>
            <a:ext cx="3096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"/>
                <a:cs typeface="Cambria"/>
              </a:rPr>
              <a:t>Designed</a:t>
            </a:r>
            <a:r>
              <a:rPr sz="2800" spc="-4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for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i="1" spc="-10" dirty="0">
                <a:solidFill>
                  <a:srgbClr val="C00000"/>
                </a:solidFill>
                <a:latin typeface="Cambria"/>
                <a:cs typeface="Cambria"/>
              </a:rPr>
              <a:t>latency</a:t>
            </a:r>
            <a:endParaRPr sz="2800">
              <a:latin typeface="Cambria"/>
              <a:cs typeface="Cambria"/>
            </a:endParaRPr>
          </a:p>
        </p:txBody>
      </p:sp>
      <p:grpSp>
        <p:nvGrpSpPr>
          <p:cNvPr id="40" name="object 44">
            <a:extLst>
              <a:ext uri="{FF2B5EF4-FFF2-40B4-BE49-F238E27FC236}">
                <a16:creationId xmlns:a16="http://schemas.microsoft.com/office/drawing/2014/main" id="{E4BC8964-1D8F-6436-3DAE-D1CB2E0BFC9E}"/>
              </a:ext>
            </a:extLst>
          </p:cNvPr>
          <p:cNvGrpSpPr/>
          <p:nvPr/>
        </p:nvGrpSpPr>
        <p:grpSpPr>
          <a:xfrm>
            <a:off x="6272784" y="5169963"/>
            <a:ext cx="5105400" cy="850900"/>
            <a:chOff x="6286497" y="4785342"/>
            <a:chExt cx="5105400" cy="850900"/>
          </a:xfrm>
        </p:grpSpPr>
        <p:pic>
          <p:nvPicPr>
            <p:cNvPr id="41" name="object 45">
              <a:extLst>
                <a:ext uri="{FF2B5EF4-FFF2-40B4-BE49-F238E27FC236}">
                  <a16:creationId xmlns:a16="http://schemas.microsoft.com/office/drawing/2014/main" id="{01DAD327-1E55-1A32-91F9-383F851BB0D8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86497" y="4785342"/>
              <a:ext cx="5105405" cy="762035"/>
            </a:xfrm>
            <a:prstGeom prst="rect">
              <a:avLst/>
            </a:prstGeom>
          </p:spPr>
        </p:pic>
        <p:pic>
          <p:nvPicPr>
            <p:cNvPr id="42" name="object 46">
              <a:extLst>
                <a:ext uri="{FF2B5EF4-FFF2-40B4-BE49-F238E27FC236}">
                  <a16:creationId xmlns:a16="http://schemas.microsoft.com/office/drawing/2014/main" id="{83C0EE76-0EC9-D8DB-79DE-6E341187791B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50736" y="4803647"/>
              <a:ext cx="3840479" cy="832104"/>
            </a:xfrm>
            <a:prstGeom prst="rect">
              <a:avLst/>
            </a:prstGeom>
          </p:spPr>
        </p:pic>
        <p:sp>
          <p:nvSpPr>
            <p:cNvPr id="43" name="object 47">
              <a:extLst>
                <a:ext uri="{FF2B5EF4-FFF2-40B4-BE49-F238E27FC236}">
                  <a16:creationId xmlns:a16="http://schemas.microsoft.com/office/drawing/2014/main" id="{9B49A99E-FCAF-37ED-A2AE-8AA5A819A8EB}"/>
                </a:ext>
              </a:extLst>
            </p:cNvPr>
            <p:cNvSpPr/>
            <p:nvPr/>
          </p:nvSpPr>
          <p:spPr>
            <a:xfrm>
              <a:off x="6324600" y="4800599"/>
              <a:ext cx="5029200" cy="685800"/>
            </a:xfrm>
            <a:custGeom>
              <a:avLst/>
              <a:gdLst/>
              <a:ahLst/>
              <a:cxnLst/>
              <a:rect l="l" t="t" r="r" b="b"/>
              <a:pathLst>
                <a:path w="5029200" h="685800">
                  <a:moveTo>
                    <a:pt x="4914900" y="0"/>
                  </a:moveTo>
                  <a:lnTo>
                    <a:pt x="114300" y="0"/>
                  </a:lnTo>
                  <a:lnTo>
                    <a:pt x="69812" y="8983"/>
                  </a:lnTo>
                  <a:lnTo>
                    <a:pt x="33480" y="33480"/>
                  </a:lnTo>
                  <a:lnTo>
                    <a:pt x="8983" y="69812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4914900" y="685800"/>
                  </a:lnTo>
                  <a:lnTo>
                    <a:pt x="4959387" y="676816"/>
                  </a:lnTo>
                  <a:lnTo>
                    <a:pt x="4995719" y="652319"/>
                  </a:lnTo>
                  <a:lnTo>
                    <a:pt x="5020216" y="615987"/>
                  </a:lnTo>
                  <a:lnTo>
                    <a:pt x="5029200" y="571500"/>
                  </a:lnTo>
                  <a:lnTo>
                    <a:pt x="5029200" y="114300"/>
                  </a:lnTo>
                  <a:lnTo>
                    <a:pt x="5020216" y="69812"/>
                  </a:lnTo>
                  <a:lnTo>
                    <a:pt x="4995719" y="33480"/>
                  </a:lnTo>
                  <a:lnTo>
                    <a:pt x="4959387" y="8983"/>
                  </a:lnTo>
                  <a:lnTo>
                    <a:pt x="49149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8">
              <a:extLst>
                <a:ext uri="{FF2B5EF4-FFF2-40B4-BE49-F238E27FC236}">
                  <a16:creationId xmlns:a16="http://schemas.microsoft.com/office/drawing/2014/main" id="{750AACB5-50D9-EA28-3F05-91B9ABCAFE9E}"/>
                </a:ext>
              </a:extLst>
            </p:cNvPr>
            <p:cNvSpPr/>
            <p:nvPr/>
          </p:nvSpPr>
          <p:spPr>
            <a:xfrm>
              <a:off x="6324600" y="4800599"/>
              <a:ext cx="5029200" cy="685800"/>
            </a:xfrm>
            <a:custGeom>
              <a:avLst/>
              <a:gdLst/>
              <a:ahLst/>
              <a:cxnLst/>
              <a:rect l="l" t="t" r="r" b="b"/>
              <a:pathLst>
                <a:path w="5029200" h="685800">
                  <a:moveTo>
                    <a:pt x="0" y="114300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4914900" y="0"/>
                  </a:lnTo>
                  <a:lnTo>
                    <a:pt x="4959387" y="8983"/>
                  </a:lnTo>
                  <a:lnTo>
                    <a:pt x="4995719" y="33480"/>
                  </a:lnTo>
                  <a:lnTo>
                    <a:pt x="5020216" y="69812"/>
                  </a:lnTo>
                  <a:lnTo>
                    <a:pt x="5029200" y="114300"/>
                  </a:lnTo>
                  <a:lnTo>
                    <a:pt x="5029200" y="571500"/>
                  </a:lnTo>
                  <a:lnTo>
                    <a:pt x="5020216" y="615987"/>
                  </a:lnTo>
                  <a:lnTo>
                    <a:pt x="4995719" y="652319"/>
                  </a:lnTo>
                  <a:lnTo>
                    <a:pt x="4959387" y="676816"/>
                  </a:lnTo>
                  <a:lnTo>
                    <a:pt x="49149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9">
            <a:extLst>
              <a:ext uri="{FF2B5EF4-FFF2-40B4-BE49-F238E27FC236}">
                <a16:creationId xmlns:a16="http://schemas.microsoft.com/office/drawing/2014/main" id="{866BA76F-33DE-31DA-D471-987FFA50FA85}"/>
              </a:ext>
            </a:extLst>
          </p:cNvPr>
          <p:cNvSpPr txBox="1"/>
          <p:nvPr/>
        </p:nvSpPr>
        <p:spPr>
          <a:xfrm>
            <a:off x="6880990" y="5294186"/>
            <a:ext cx="3276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"/>
                <a:cs typeface="Cambria"/>
              </a:rPr>
              <a:t>Designed</a:t>
            </a:r>
            <a:r>
              <a:rPr sz="2800" spc="-2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for</a:t>
            </a:r>
            <a:r>
              <a:rPr sz="2800" spc="-35" dirty="0">
                <a:latin typeface="Cambria"/>
                <a:cs typeface="Cambria"/>
              </a:rPr>
              <a:t> </a:t>
            </a:r>
            <a:r>
              <a:rPr sz="2800" i="1" spc="-5" dirty="0">
                <a:solidFill>
                  <a:srgbClr val="C00000"/>
                </a:solidFill>
                <a:latin typeface="Cambria"/>
                <a:cs typeface="Cambria"/>
              </a:rPr>
              <a:t>capacity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6" name="object 8">
            <a:extLst>
              <a:ext uri="{FF2B5EF4-FFF2-40B4-BE49-F238E27FC236}">
                <a16:creationId xmlns:a16="http://schemas.microsoft.com/office/drawing/2014/main" id="{09B18DCC-DED3-C360-EA0F-E7F5CF882437}"/>
              </a:ext>
            </a:extLst>
          </p:cNvPr>
          <p:cNvSpPr/>
          <p:nvPr/>
        </p:nvSpPr>
        <p:spPr>
          <a:xfrm>
            <a:off x="2226440" y="5352987"/>
            <a:ext cx="3816350" cy="524510"/>
          </a:xfrm>
          <a:custGeom>
            <a:avLst/>
            <a:gdLst/>
            <a:ahLst/>
            <a:cxnLst/>
            <a:rect l="l" t="t" r="r" b="b"/>
            <a:pathLst>
              <a:path w="3816350" h="524510">
                <a:moveTo>
                  <a:pt x="3728847" y="0"/>
                </a:moveTo>
                <a:lnTo>
                  <a:pt x="87503" y="0"/>
                </a:lnTo>
                <a:lnTo>
                  <a:pt x="53417" y="6865"/>
                </a:lnTo>
                <a:lnTo>
                  <a:pt x="25606" y="25590"/>
                </a:lnTo>
                <a:lnTo>
                  <a:pt x="6867" y="53363"/>
                </a:lnTo>
                <a:lnTo>
                  <a:pt x="0" y="87375"/>
                </a:lnTo>
                <a:lnTo>
                  <a:pt x="0" y="437006"/>
                </a:lnTo>
                <a:lnTo>
                  <a:pt x="6867" y="471019"/>
                </a:lnTo>
                <a:lnTo>
                  <a:pt x="25606" y="498792"/>
                </a:lnTo>
                <a:lnTo>
                  <a:pt x="53417" y="517517"/>
                </a:lnTo>
                <a:lnTo>
                  <a:pt x="87503" y="524382"/>
                </a:lnTo>
                <a:lnTo>
                  <a:pt x="3728847" y="524382"/>
                </a:lnTo>
                <a:lnTo>
                  <a:pt x="3762859" y="517517"/>
                </a:lnTo>
                <a:lnTo>
                  <a:pt x="3790632" y="498792"/>
                </a:lnTo>
                <a:lnTo>
                  <a:pt x="3809357" y="471019"/>
                </a:lnTo>
                <a:lnTo>
                  <a:pt x="3816223" y="437006"/>
                </a:lnTo>
                <a:lnTo>
                  <a:pt x="3816223" y="87375"/>
                </a:lnTo>
                <a:lnTo>
                  <a:pt x="3809357" y="53363"/>
                </a:lnTo>
                <a:lnTo>
                  <a:pt x="3790632" y="25590"/>
                </a:lnTo>
                <a:lnTo>
                  <a:pt x="3762859" y="6865"/>
                </a:lnTo>
                <a:lnTo>
                  <a:pt x="3728847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94F4E2-8EC8-1AAB-81E8-4FD3BBC1B0BA}"/>
              </a:ext>
            </a:extLst>
          </p:cNvPr>
          <p:cNvSpPr txBox="1"/>
          <p:nvPr/>
        </p:nvSpPr>
        <p:spPr>
          <a:xfrm>
            <a:off x="1086615" y="527778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3825">
              <a:lnSpc>
                <a:spcPct val="100000"/>
              </a:lnSpc>
            </a:pPr>
            <a:r>
              <a:rPr lang="en-IN" sz="4000" b="1" spc="-5" dirty="0">
                <a:solidFill>
                  <a:srgbClr val="FFFFFF"/>
                </a:solidFill>
                <a:latin typeface="Calibri"/>
                <a:cs typeface="Calibri"/>
              </a:rPr>
              <a:t>L3</a:t>
            </a:r>
            <a:endParaRPr lang="en-IN" sz="4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9494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00EA-3442-476D-B73C-BC91E95B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Core, Cache, And DRAM Interaction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CB61-80FA-407B-8C63-A0E659B95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/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D60BB5B3-878B-4241-9647-1216E5B6F068}"/>
              </a:ext>
            </a:extLst>
          </p:cNvPr>
          <p:cNvSpPr/>
          <p:nvPr/>
        </p:nvSpPr>
        <p:spPr>
          <a:xfrm rot="16200000">
            <a:off x="1936150" y="3595897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6FFBE68-8505-4FE0-8B14-BE63BF786498}"/>
              </a:ext>
            </a:extLst>
          </p:cNvPr>
          <p:cNvSpPr/>
          <p:nvPr/>
        </p:nvSpPr>
        <p:spPr>
          <a:xfrm>
            <a:off x="4912685" y="3612574"/>
            <a:ext cx="1786700" cy="734602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$</a:t>
            </a:r>
          </a:p>
        </p:txBody>
      </p: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B22905D0-3B36-4909-A3E0-2D0AFE9E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801071" y="3694311"/>
            <a:ext cx="1764801" cy="57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89F4FD-8DBE-4436-AA6C-D7B8632FBBC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25070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B82D56-151C-4A1E-99A5-2B376916B9F1}"/>
              </a:ext>
            </a:extLst>
          </p:cNvPr>
          <p:cNvCxnSpPr>
            <a:cxnSpLocks/>
          </p:cNvCxnSpPr>
          <p:nvPr/>
        </p:nvCxnSpPr>
        <p:spPr>
          <a:xfrm>
            <a:off x="6750226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098B0A-E1B4-4801-ADDC-8309ADEFD218}"/>
              </a:ext>
            </a:extLst>
          </p:cNvPr>
          <p:cNvSpPr txBox="1"/>
          <p:nvPr/>
        </p:nvSpPr>
        <p:spPr>
          <a:xfrm>
            <a:off x="3165119" y="3512924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LOAD X</a:t>
            </a:r>
          </a:p>
        </p:txBody>
      </p:sp>
    </p:spTree>
    <p:extLst>
      <p:ext uri="{BB962C8B-B14F-4D97-AF65-F5344CB8AC3E}">
        <p14:creationId xmlns:p14="http://schemas.microsoft.com/office/powerpoint/2010/main" val="3929769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00EA-3442-476D-B73C-BC91E95B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Core, Cache, And DRAM Interaction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CB61-80FA-407B-8C63-A0E659B95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D60BB5B3-878B-4241-9647-1216E5B6F068}"/>
              </a:ext>
            </a:extLst>
          </p:cNvPr>
          <p:cNvSpPr/>
          <p:nvPr/>
        </p:nvSpPr>
        <p:spPr>
          <a:xfrm rot="16200000">
            <a:off x="1936150" y="3595897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6FFBE68-8505-4FE0-8B14-BE63BF786498}"/>
              </a:ext>
            </a:extLst>
          </p:cNvPr>
          <p:cNvSpPr/>
          <p:nvPr/>
        </p:nvSpPr>
        <p:spPr>
          <a:xfrm>
            <a:off x="4912685" y="3612574"/>
            <a:ext cx="1786700" cy="734602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$</a:t>
            </a:r>
          </a:p>
        </p:txBody>
      </p: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B22905D0-3B36-4909-A3E0-2D0AFE9E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801071" y="3694311"/>
            <a:ext cx="1764801" cy="57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89F4FD-8DBE-4436-AA6C-D7B8632FBBC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25070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B82D56-151C-4A1E-99A5-2B376916B9F1}"/>
              </a:ext>
            </a:extLst>
          </p:cNvPr>
          <p:cNvCxnSpPr>
            <a:cxnSpLocks/>
          </p:cNvCxnSpPr>
          <p:nvPr/>
        </p:nvCxnSpPr>
        <p:spPr>
          <a:xfrm>
            <a:off x="6750226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098B0A-E1B4-4801-ADDC-8309ADEFD218}"/>
              </a:ext>
            </a:extLst>
          </p:cNvPr>
          <p:cNvSpPr txBox="1"/>
          <p:nvPr/>
        </p:nvSpPr>
        <p:spPr>
          <a:xfrm>
            <a:off x="3165119" y="3512924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LOAD 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04E74-C57D-43CD-A329-87E49387BFF8}"/>
              </a:ext>
            </a:extLst>
          </p:cNvPr>
          <p:cNvSpPr txBox="1"/>
          <p:nvPr/>
        </p:nvSpPr>
        <p:spPr>
          <a:xfrm>
            <a:off x="5311609" y="3145220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Hit</a:t>
            </a:r>
          </a:p>
        </p:txBody>
      </p:sp>
    </p:spTree>
    <p:extLst>
      <p:ext uri="{BB962C8B-B14F-4D97-AF65-F5344CB8AC3E}">
        <p14:creationId xmlns:p14="http://schemas.microsoft.com/office/powerpoint/2010/main" val="1888219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00EA-3442-476D-B73C-BC91E95B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Core, Cache, And DRAM Interaction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CB61-80FA-407B-8C63-A0E659B95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D60BB5B3-878B-4241-9647-1216E5B6F068}"/>
              </a:ext>
            </a:extLst>
          </p:cNvPr>
          <p:cNvSpPr/>
          <p:nvPr/>
        </p:nvSpPr>
        <p:spPr>
          <a:xfrm rot="16200000">
            <a:off x="1936150" y="3595897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6FFBE68-8505-4FE0-8B14-BE63BF786498}"/>
              </a:ext>
            </a:extLst>
          </p:cNvPr>
          <p:cNvSpPr/>
          <p:nvPr/>
        </p:nvSpPr>
        <p:spPr>
          <a:xfrm>
            <a:off x="4912685" y="3612574"/>
            <a:ext cx="1786700" cy="734602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$</a:t>
            </a:r>
          </a:p>
        </p:txBody>
      </p: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B22905D0-3B36-4909-A3E0-2D0AFE9E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801071" y="3694311"/>
            <a:ext cx="1764801" cy="57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89F4FD-8DBE-4436-AA6C-D7B8632FBBC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25070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B82D56-151C-4A1E-99A5-2B376916B9F1}"/>
              </a:ext>
            </a:extLst>
          </p:cNvPr>
          <p:cNvCxnSpPr>
            <a:cxnSpLocks/>
          </p:cNvCxnSpPr>
          <p:nvPr/>
        </p:nvCxnSpPr>
        <p:spPr>
          <a:xfrm>
            <a:off x="6750226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098B0A-E1B4-4801-ADDC-8309ADEFD218}"/>
              </a:ext>
            </a:extLst>
          </p:cNvPr>
          <p:cNvSpPr txBox="1"/>
          <p:nvPr/>
        </p:nvSpPr>
        <p:spPr>
          <a:xfrm>
            <a:off x="3165119" y="3512924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LOAD 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04E74-C57D-43CD-A329-87E49387BFF8}"/>
              </a:ext>
            </a:extLst>
          </p:cNvPr>
          <p:cNvSpPr txBox="1"/>
          <p:nvPr/>
        </p:nvSpPr>
        <p:spPr>
          <a:xfrm>
            <a:off x="5311609" y="3145220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Hit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9466C-F98F-4EA4-8CC7-2A0D0D8E67C0}"/>
              </a:ext>
            </a:extLst>
          </p:cNvPr>
          <p:cNvSpPr txBox="1"/>
          <p:nvPr/>
        </p:nvSpPr>
        <p:spPr>
          <a:xfrm>
            <a:off x="3272400" y="3979875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Data</a:t>
            </a:r>
          </a:p>
        </p:txBody>
      </p:sp>
      <p:sp>
        <p:nvSpPr>
          <p:cNvPr id="13" name="Rounded Rectangle 37">
            <a:extLst>
              <a:ext uri="{FF2B5EF4-FFF2-40B4-BE49-F238E27FC236}">
                <a16:creationId xmlns:a16="http://schemas.microsoft.com/office/drawing/2014/main" id="{84389948-F3AF-4277-BDE5-FE81394EDF09}"/>
              </a:ext>
            </a:extLst>
          </p:cNvPr>
          <p:cNvSpPr/>
          <p:nvPr/>
        </p:nvSpPr>
        <p:spPr>
          <a:xfrm>
            <a:off x="622729" y="5466192"/>
            <a:ext cx="2135627" cy="45213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Few cycles</a:t>
            </a:r>
          </a:p>
        </p:txBody>
      </p:sp>
    </p:spTree>
    <p:extLst>
      <p:ext uri="{BB962C8B-B14F-4D97-AF65-F5344CB8AC3E}">
        <p14:creationId xmlns:p14="http://schemas.microsoft.com/office/powerpoint/2010/main" val="1179947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00EA-3442-476D-B73C-BC91E95B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Core, Cache, And DRAM Interaction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CB61-80FA-407B-8C63-A0E659B95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D60BB5B3-878B-4241-9647-1216E5B6F068}"/>
              </a:ext>
            </a:extLst>
          </p:cNvPr>
          <p:cNvSpPr/>
          <p:nvPr/>
        </p:nvSpPr>
        <p:spPr>
          <a:xfrm rot="16200000">
            <a:off x="1936150" y="3595897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6FFBE68-8505-4FE0-8B14-BE63BF786498}"/>
              </a:ext>
            </a:extLst>
          </p:cNvPr>
          <p:cNvSpPr/>
          <p:nvPr/>
        </p:nvSpPr>
        <p:spPr>
          <a:xfrm>
            <a:off x="4912685" y="3612574"/>
            <a:ext cx="1786700" cy="734602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$</a:t>
            </a:r>
          </a:p>
        </p:txBody>
      </p: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B22905D0-3B36-4909-A3E0-2D0AFE9E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801071" y="3694311"/>
            <a:ext cx="1764801" cy="57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89F4FD-8DBE-4436-AA6C-D7B8632FBBC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25070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B82D56-151C-4A1E-99A5-2B376916B9F1}"/>
              </a:ext>
            </a:extLst>
          </p:cNvPr>
          <p:cNvCxnSpPr>
            <a:cxnSpLocks/>
          </p:cNvCxnSpPr>
          <p:nvPr/>
        </p:nvCxnSpPr>
        <p:spPr>
          <a:xfrm>
            <a:off x="6750226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098B0A-E1B4-4801-ADDC-8309ADEFD218}"/>
              </a:ext>
            </a:extLst>
          </p:cNvPr>
          <p:cNvSpPr txBox="1"/>
          <p:nvPr/>
        </p:nvSpPr>
        <p:spPr>
          <a:xfrm>
            <a:off x="3165119" y="3512924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LOAD 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04E74-C57D-43CD-A329-87E49387BFF8}"/>
              </a:ext>
            </a:extLst>
          </p:cNvPr>
          <p:cNvSpPr txBox="1"/>
          <p:nvPr/>
        </p:nvSpPr>
        <p:spPr>
          <a:xfrm>
            <a:off x="5311609" y="3145220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9466C-F98F-4EA4-8CC7-2A0D0D8E67C0}"/>
              </a:ext>
            </a:extLst>
          </p:cNvPr>
          <p:cNvSpPr txBox="1"/>
          <p:nvPr/>
        </p:nvSpPr>
        <p:spPr>
          <a:xfrm>
            <a:off x="3272400" y="3979875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Data</a:t>
            </a:r>
          </a:p>
        </p:txBody>
      </p:sp>
      <p:sp>
        <p:nvSpPr>
          <p:cNvPr id="13" name="Rounded Rectangle 37">
            <a:extLst>
              <a:ext uri="{FF2B5EF4-FFF2-40B4-BE49-F238E27FC236}">
                <a16:creationId xmlns:a16="http://schemas.microsoft.com/office/drawing/2014/main" id="{84389948-F3AF-4277-BDE5-FE81394EDF09}"/>
              </a:ext>
            </a:extLst>
          </p:cNvPr>
          <p:cNvSpPr/>
          <p:nvPr/>
        </p:nvSpPr>
        <p:spPr>
          <a:xfrm>
            <a:off x="622729" y="5466192"/>
            <a:ext cx="2822690" cy="45213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100s of cycles</a:t>
            </a:r>
          </a:p>
        </p:txBody>
      </p:sp>
      <p:pic>
        <p:nvPicPr>
          <p:cNvPr id="1026" name="Picture 2" descr="143. Remove Disappointment from Your Heart! | Emoji images, Funny emoticons,  Smiley emoji">
            <a:extLst>
              <a:ext uri="{FF2B5EF4-FFF2-40B4-BE49-F238E27FC236}">
                <a16:creationId xmlns:a16="http://schemas.microsoft.com/office/drawing/2014/main" id="{1DAE7DE1-72D8-4CC7-8505-4F64348FE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4745" y="5857959"/>
            <a:ext cx="1020355" cy="834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ounded Rectangle 37">
            <a:extLst>
              <a:ext uri="{FF2B5EF4-FFF2-40B4-BE49-F238E27FC236}">
                <a16:creationId xmlns:a16="http://schemas.microsoft.com/office/drawing/2014/main" id="{CBAC2F98-6AD9-4093-A885-9C71458F0A8D}"/>
              </a:ext>
            </a:extLst>
          </p:cNvPr>
          <p:cNvSpPr/>
          <p:nvPr/>
        </p:nvSpPr>
        <p:spPr>
          <a:xfrm>
            <a:off x="622729" y="6161187"/>
            <a:ext cx="4688880" cy="45213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 am an out-of-order core</a:t>
            </a:r>
          </a:p>
        </p:txBody>
      </p:sp>
      <p:sp>
        <p:nvSpPr>
          <p:cNvPr id="17" name="Rounded Rectangle 37">
            <a:extLst>
              <a:ext uri="{FF2B5EF4-FFF2-40B4-BE49-F238E27FC236}">
                <a16:creationId xmlns:a16="http://schemas.microsoft.com/office/drawing/2014/main" id="{75BFC380-F5E7-431A-8FBD-651ACB61B656}"/>
              </a:ext>
            </a:extLst>
          </p:cNvPr>
          <p:cNvSpPr/>
          <p:nvPr/>
        </p:nvSpPr>
        <p:spPr>
          <a:xfrm>
            <a:off x="6750226" y="5653121"/>
            <a:ext cx="4688880" cy="96020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One cache miss and can’t handle anymore misses</a:t>
            </a:r>
          </a:p>
        </p:txBody>
      </p:sp>
    </p:spTree>
    <p:extLst>
      <p:ext uri="{BB962C8B-B14F-4D97-AF65-F5344CB8AC3E}">
        <p14:creationId xmlns:p14="http://schemas.microsoft.com/office/powerpoint/2010/main" val="129630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00EA-3442-476D-B73C-BC91E95B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World of MSHRs (Miss Status Holding Registers)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CB61-80FA-407B-8C63-A0E659B95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12</a:t>
            </a:fld>
            <a:endParaRPr lang="en"/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D60BB5B3-878B-4241-9647-1216E5B6F068}"/>
              </a:ext>
            </a:extLst>
          </p:cNvPr>
          <p:cNvSpPr/>
          <p:nvPr/>
        </p:nvSpPr>
        <p:spPr>
          <a:xfrm rot="16200000">
            <a:off x="1936150" y="3595897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6FFBE68-8505-4FE0-8B14-BE63BF786498}"/>
              </a:ext>
            </a:extLst>
          </p:cNvPr>
          <p:cNvSpPr/>
          <p:nvPr/>
        </p:nvSpPr>
        <p:spPr>
          <a:xfrm>
            <a:off x="4912685" y="3612574"/>
            <a:ext cx="1786700" cy="734602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$</a:t>
            </a:r>
          </a:p>
        </p:txBody>
      </p: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B22905D0-3B36-4909-A3E0-2D0AFE9E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801071" y="3694311"/>
            <a:ext cx="1764801" cy="57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89F4FD-8DBE-4436-AA6C-D7B8632FBBC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25070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B82D56-151C-4A1E-99A5-2B376916B9F1}"/>
              </a:ext>
            </a:extLst>
          </p:cNvPr>
          <p:cNvCxnSpPr>
            <a:cxnSpLocks/>
          </p:cNvCxnSpPr>
          <p:nvPr/>
        </p:nvCxnSpPr>
        <p:spPr>
          <a:xfrm>
            <a:off x="6750226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098B0A-E1B4-4801-ADDC-8309ADEFD218}"/>
              </a:ext>
            </a:extLst>
          </p:cNvPr>
          <p:cNvSpPr txBox="1"/>
          <p:nvPr/>
        </p:nvSpPr>
        <p:spPr>
          <a:xfrm>
            <a:off x="3165119" y="3512924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LOAD 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04E74-C57D-43CD-A329-87E49387BFF8}"/>
              </a:ext>
            </a:extLst>
          </p:cNvPr>
          <p:cNvSpPr txBox="1"/>
          <p:nvPr/>
        </p:nvSpPr>
        <p:spPr>
          <a:xfrm>
            <a:off x="5311609" y="3145220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9466C-F98F-4EA4-8CC7-2A0D0D8E67C0}"/>
              </a:ext>
            </a:extLst>
          </p:cNvPr>
          <p:cNvSpPr txBox="1"/>
          <p:nvPr/>
        </p:nvSpPr>
        <p:spPr>
          <a:xfrm>
            <a:off x="3272400" y="3979875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27ADC-36CB-40C9-A233-4A77BCC9A321}"/>
              </a:ext>
            </a:extLst>
          </p:cNvPr>
          <p:cNvSpPr/>
          <p:nvPr/>
        </p:nvSpPr>
        <p:spPr>
          <a:xfrm>
            <a:off x="6750226" y="2826472"/>
            <a:ext cx="2181914" cy="5232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99475A-6A30-4250-BF15-614BC0DA4A19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7841183" y="2826472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152D05-E1B6-46F9-BD6F-B34600AD2147}"/>
              </a:ext>
            </a:extLst>
          </p:cNvPr>
          <p:cNvCxnSpPr/>
          <p:nvPr/>
        </p:nvCxnSpPr>
        <p:spPr>
          <a:xfrm>
            <a:off x="7276208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178AF0-0FF3-46CC-BE78-355244562DD6}"/>
              </a:ext>
            </a:extLst>
          </p:cNvPr>
          <p:cNvCxnSpPr/>
          <p:nvPr/>
        </p:nvCxnSpPr>
        <p:spPr>
          <a:xfrm>
            <a:off x="8428050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1EB71C9-9103-4B6D-9783-31F279A8A973}"/>
              </a:ext>
            </a:extLst>
          </p:cNvPr>
          <p:cNvSpPr txBox="1"/>
          <p:nvPr/>
        </p:nvSpPr>
        <p:spPr>
          <a:xfrm>
            <a:off x="6833322" y="2897071"/>
            <a:ext cx="320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768772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00EA-3442-476D-B73C-BC91E95B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World of MSHRs (Miss Status Holding Registers)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CB61-80FA-407B-8C63-A0E659B95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/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D60BB5B3-878B-4241-9647-1216E5B6F068}"/>
              </a:ext>
            </a:extLst>
          </p:cNvPr>
          <p:cNvSpPr/>
          <p:nvPr/>
        </p:nvSpPr>
        <p:spPr>
          <a:xfrm rot="16200000">
            <a:off x="1936150" y="3595897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6FFBE68-8505-4FE0-8B14-BE63BF786498}"/>
              </a:ext>
            </a:extLst>
          </p:cNvPr>
          <p:cNvSpPr/>
          <p:nvPr/>
        </p:nvSpPr>
        <p:spPr>
          <a:xfrm>
            <a:off x="4912685" y="3612574"/>
            <a:ext cx="1786700" cy="734602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$</a:t>
            </a:r>
          </a:p>
        </p:txBody>
      </p: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B22905D0-3B36-4909-A3E0-2D0AFE9E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801071" y="3694311"/>
            <a:ext cx="1764801" cy="57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89F4FD-8DBE-4436-AA6C-D7B8632FBBC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25070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B82D56-151C-4A1E-99A5-2B376916B9F1}"/>
              </a:ext>
            </a:extLst>
          </p:cNvPr>
          <p:cNvCxnSpPr>
            <a:cxnSpLocks/>
          </p:cNvCxnSpPr>
          <p:nvPr/>
        </p:nvCxnSpPr>
        <p:spPr>
          <a:xfrm>
            <a:off x="6750226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098B0A-E1B4-4801-ADDC-8309ADEFD218}"/>
              </a:ext>
            </a:extLst>
          </p:cNvPr>
          <p:cNvSpPr txBox="1"/>
          <p:nvPr/>
        </p:nvSpPr>
        <p:spPr>
          <a:xfrm>
            <a:off x="3165119" y="3512924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LOAD 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04E74-C57D-43CD-A329-87E49387BFF8}"/>
              </a:ext>
            </a:extLst>
          </p:cNvPr>
          <p:cNvSpPr txBox="1"/>
          <p:nvPr/>
        </p:nvSpPr>
        <p:spPr>
          <a:xfrm>
            <a:off x="5311609" y="3145220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9466C-F98F-4EA4-8CC7-2A0D0D8E67C0}"/>
              </a:ext>
            </a:extLst>
          </p:cNvPr>
          <p:cNvSpPr txBox="1"/>
          <p:nvPr/>
        </p:nvSpPr>
        <p:spPr>
          <a:xfrm>
            <a:off x="3272400" y="3979875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27ADC-36CB-40C9-A233-4A77BCC9A321}"/>
              </a:ext>
            </a:extLst>
          </p:cNvPr>
          <p:cNvSpPr/>
          <p:nvPr/>
        </p:nvSpPr>
        <p:spPr>
          <a:xfrm>
            <a:off x="6750226" y="2826472"/>
            <a:ext cx="2181914" cy="5232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99475A-6A30-4250-BF15-614BC0DA4A19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7841183" y="2826472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152D05-E1B6-46F9-BD6F-B34600AD2147}"/>
              </a:ext>
            </a:extLst>
          </p:cNvPr>
          <p:cNvCxnSpPr/>
          <p:nvPr/>
        </p:nvCxnSpPr>
        <p:spPr>
          <a:xfrm>
            <a:off x="7276208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178AF0-0FF3-46CC-BE78-355244562DD6}"/>
              </a:ext>
            </a:extLst>
          </p:cNvPr>
          <p:cNvCxnSpPr/>
          <p:nvPr/>
        </p:nvCxnSpPr>
        <p:spPr>
          <a:xfrm>
            <a:off x="8428050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1EB71C9-9103-4B6D-9783-31F279A8A973}"/>
              </a:ext>
            </a:extLst>
          </p:cNvPr>
          <p:cNvSpPr txBox="1"/>
          <p:nvPr/>
        </p:nvSpPr>
        <p:spPr>
          <a:xfrm>
            <a:off x="6833322" y="2897071"/>
            <a:ext cx="320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56FF9E-91C4-46A5-A2CF-E68CFD2638B8}"/>
              </a:ext>
            </a:extLst>
          </p:cNvPr>
          <p:cNvSpPr txBox="1"/>
          <p:nvPr/>
        </p:nvSpPr>
        <p:spPr>
          <a:xfrm>
            <a:off x="7367854" y="2886735"/>
            <a:ext cx="320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519875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00EA-3442-476D-B73C-BC91E95B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World of MSHRs (Miss Status Holding Registers)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CB61-80FA-407B-8C63-A0E659B95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14</a:t>
            </a:fld>
            <a:endParaRPr lang="en"/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D60BB5B3-878B-4241-9647-1216E5B6F068}"/>
              </a:ext>
            </a:extLst>
          </p:cNvPr>
          <p:cNvSpPr/>
          <p:nvPr/>
        </p:nvSpPr>
        <p:spPr>
          <a:xfrm rot="16200000">
            <a:off x="1936150" y="3595897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6FFBE68-8505-4FE0-8B14-BE63BF786498}"/>
              </a:ext>
            </a:extLst>
          </p:cNvPr>
          <p:cNvSpPr/>
          <p:nvPr/>
        </p:nvSpPr>
        <p:spPr>
          <a:xfrm>
            <a:off x="4912685" y="3612574"/>
            <a:ext cx="1786700" cy="734602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$</a:t>
            </a:r>
          </a:p>
        </p:txBody>
      </p: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B22905D0-3B36-4909-A3E0-2D0AFE9E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801071" y="3694311"/>
            <a:ext cx="1764801" cy="57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89F4FD-8DBE-4436-AA6C-D7B8632FBBC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25070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B82D56-151C-4A1E-99A5-2B376916B9F1}"/>
              </a:ext>
            </a:extLst>
          </p:cNvPr>
          <p:cNvCxnSpPr>
            <a:cxnSpLocks/>
          </p:cNvCxnSpPr>
          <p:nvPr/>
        </p:nvCxnSpPr>
        <p:spPr>
          <a:xfrm>
            <a:off x="6750226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098B0A-E1B4-4801-ADDC-8309ADEFD218}"/>
              </a:ext>
            </a:extLst>
          </p:cNvPr>
          <p:cNvSpPr txBox="1"/>
          <p:nvPr/>
        </p:nvSpPr>
        <p:spPr>
          <a:xfrm>
            <a:off x="3165119" y="3512924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LOAD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04E74-C57D-43CD-A329-87E49387BFF8}"/>
              </a:ext>
            </a:extLst>
          </p:cNvPr>
          <p:cNvSpPr txBox="1"/>
          <p:nvPr/>
        </p:nvSpPr>
        <p:spPr>
          <a:xfrm>
            <a:off x="5311609" y="3145220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9466C-F98F-4EA4-8CC7-2A0D0D8E67C0}"/>
              </a:ext>
            </a:extLst>
          </p:cNvPr>
          <p:cNvSpPr txBox="1"/>
          <p:nvPr/>
        </p:nvSpPr>
        <p:spPr>
          <a:xfrm>
            <a:off x="3272400" y="3979875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27ADC-36CB-40C9-A233-4A77BCC9A321}"/>
              </a:ext>
            </a:extLst>
          </p:cNvPr>
          <p:cNvSpPr/>
          <p:nvPr/>
        </p:nvSpPr>
        <p:spPr>
          <a:xfrm>
            <a:off x="6750226" y="2826472"/>
            <a:ext cx="2181914" cy="5232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99475A-6A30-4250-BF15-614BC0DA4A19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7841183" y="2826472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152D05-E1B6-46F9-BD6F-B34600AD2147}"/>
              </a:ext>
            </a:extLst>
          </p:cNvPr>
          <p:cNvCxnSpPr/>
          <p:nvPr/>
        </p:nvCxnSpPr>
        <p:spPr>
          <a:xfrm>
            <a:off x="7276208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178AF0-0FF3-46CC-BE78-355244562DD6}"/>
              </a:ext>
            </a:extLst>
          </p:cNvPr>
          <p:cNvCxnSpPr/>
          <p:nvPr/>
        </p:nvCxnSpPr>
        <p:spPr>
          <a:xfrm>
            <a:off x="8428050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1EB71C9-9103-4B6D-9783-31F279A8A973}"/>
              </a:ext>
            </a:extLst>
          </p:cNvPr>
          <p:cNvSpPr txBox="1"/>
          <p:nvPr/>
        </p:nvSpPr>
        <p:spPr>
          <a:xfrm>
            <a:off x="6833322" y="2897071"/>
            <a:ext cx="320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56FF9E-91C4-46A5-A2CF-E68CFD2638B8}"/>
              </a:ext>
            </a:extLst>
          </p:cNvPr>
          <p:cNvSpPr txBox="1"/>
          <p:nvPr/>
        </p:nvSpPr>
        <p:spPr>
          <a:xfrm>
            <a:off x="7367854" y="2886735"/>
            <a:ext cx="320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C0594B-147B-43FC-929F-4F8291DA119A}"/>
              </a:ext>
            </a:extLst>
          </p:cNvPr>
          <p:cNvSpPr txBox="1"/>
          <p:nvPr/>
        </p:nvSpPr>
        <p:spPr>
          <a:xfrm>
            <a:off x="7967801" y="2881683"/>
            <a:ext cx="320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Z</a:t>
            </a:r>
          </a:p>
        </p:txBody>
      </p:sp>
      <p:sp>
        <p:nvSpPr>
          <p:cNvPr id="21" name="Rounded Rectangle 37">
            <a:extLst>
              <a:ext uri="{FF2B5EF4-FFF2-40B4-BE49-F238E27FC236}">
                <a16:creationId xmlns:a16="http://schemas.microsoft.com/office/drawing/2014/main" id="{AD8774A0-CB10-4ECD-AFBA-55EB2548AA50}"/>
              </a:ext>
            </a:extLst>
          </p:cNvPr>
          <p:cNvSpPr/>
          <p:nvPr/>
        </p:nvSpPr>
        <p:spPr>
          <a:xfrm>
            <a:off x="622729" y="5466192"/>
            <a:ext cx="11037134" cy="10649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K-entry MSHR allows K outstanding misses from outer levels of memory hierarchy provides memory-level parallelism </a:t>
            </a:r>
          </a:p>
        </p:txBody>
      </p:sp>
      <p:pic>
        <p:nvPicPr>
          <p:cNvPr id="2050" name="Picture 2" descr="Amazing Facebook Chat Smileys | Happy smiley face, Love smiley, Face  stickers">
            <a:extLst>
              <a:ext uri="{FF2B5EF4-FFF2-40B4-BE49-F238E27FC236}">
                <a16:creationId xmlns:a16="http://schemas.microsoft.com/office/drawing/2014/main" id="{56F0BEE9-6590-4FBE-ACDC-98676B40E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1024" y="4241485"/>
            <a:ext cx="1144525" cy="114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843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00EA-3442-476D-B73C-BC91E95B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World of MSHRs (Miss Status Holding Registers)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CB61-80FA-407B-8C63-A0E659B95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15</a:t>
            </a:fld>
            <a:endParaRPr lang="en"/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D60BB5B3-878B-4241-9647-1216E5B6F068}"/>
              </a:ext>
            </a:extLst>
          </p:cNvPr>
          <p:cNvSpPr/>
          <p:nvPr/>
        </p:nvSpPr>
        <p:spPr>
          <a:xfrm rot="16200000">
            <a:off x="1936150" y="3595897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6FFBE68-8505-4FE0-8B14-BE63BF786498}"/>
              </a:ext>
            </a:extLst>
          </p:cNvPr>
          <p:cNvSpPr/>
          <p:nvPr/>
        </p:nvSpPr>
        <p:spPr>
          <a:xfrm>
            <a:off x="4912685" y="3612574"/>
            <a:ext cx="1786700" cy="734602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$</a:t>
            </a:r>
          </a:p>
        </p:txBody>
      </p: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B22905D0-3B36-4909-A3E0-2D0AFE9E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801071" y="3694311"/>
            <a:ext cx="1764801" cy="57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89F4FD-8DBE-4436-AA6C-D7B8632FBBC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25070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B82D56-151C-4A1E-99A5-2B376916B9F1}"/>
              </a:ext>
            </a:extLst>
          </p:cNvPr>
          <p:cNvCxnSpPr>
            <a:cxnSpLocks/>
          </p:cNvCxnSpPr>
          <p:nvPr/>
        </p:nvCxnSpPr>
        <p:spPr>
          <a:xfrm>
            <a:off x="6750226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098B0A-E1B4-4801-ADDC-8309ADEFD218}"/>
              </a:ext>
            </a:extLst>
          </p:cNvPr>
          <p:cNvSpPr txBox="1"/>
          <p:nvPr/>
        </p:nvSpPr>
        <p:spPr>
          <a:xfrm>
            <a:off x="3165119" y="3512924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LOAD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04E74-C57D-43CD-A329-87E49387BFF8}"/>
              </a:ext>
            </a:extLst>
          </p:cNvPr>
          <p:cNvSpPr txBox="1"/>
          <p:nvPr/>
        </p:nvSpPr>
        <p:spPr>
          <a:xfrm>
            <a:off x="5311609" y="3145220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9466C-F98F-4EA4-8CC7-2A0D0D8E67C0}"/>
              </a:ext>
            </a:extLst>
          </p:cNvPr>
          <p:cNvSpPr txBox="1"/>
          <p:nvPr/>
        </p:nvSpPr>
        <p:spPr>
          <a:xfrm>
            <a:off x="3272400" y="3979875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27ADC-36CB-40C9-A233-4A77BCC9A321}"/>
              </a:ext>
            </a:extLst>
          </p:cNvPr>
          <p:cNvSpPr/>
          <p:nvPr/>
        </p:nvSpPr>
        <p:spPr>
          <a:xfrm>
            <a:off x="6750226" y="2826472"/>
            <a:ext cx="2181914" cy="5232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99475A-6A30-4250-BF15-614BC0DA4A19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7841183" y="2826472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152D05-E1B6-46F9-BD6F-B34600AD2147}"/>
              </a:ext>
            </a:extLst>
          </p:cNvPr>
          <p:cNvCxnSpPr/>
          <p:nvPr/>
        </p:nvCxnSpPr>
        <p:spPr>
          <a:xfrm>
            <a:off x="7276208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178AF0-0FF3-46CC-BE78-355244562DD6}"/>
              </a:ext>
            </a:extLst>
          </p:cNvPr>
          <p:cNvCxnSpPr/>
          <p:nvPr/>
        </p:nvCxnSpPr>
        <p:spPr>
          <a:xfrm>
            <a:off x="8428050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1EB71C9-9103-4B6D-9783-31F279A8A973}"/>
              </a:ext>
            </a:extLst>
          </p:cNvPr>
          <p:cNvSpPr txBox="1"/>
          <p:nvPr/>
        </p:nvSpPr>
        <p:spPr>
          <a:xfrm>
            <a:off x="6833322" y="2897071"/>
            <a:ext cx="320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56FF9E-91C4-46A5-A2CF-E68CFD2638B8}"/>
              </a:ext>
            </a:extLst>
          </p:cNvPr>
          <p:cNvSpPr txBox="1"/>
          <p:nvPr/>
        </p:nvSpPr>
        <p:spPr>
          <a:xfrm>
            <a:off x="7367854" y="2886735"/>
            <a:ext cx="320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C0594B-147B-43FC-929F-4F8291DA119A}"/>
              </a:ext>
            </a:extLst>
          </p:cNvPr>
          <p:cNvSpPr txBox="1"/>
          <p:nvPr/>
        </p:nvSpPr>
        <p:spPr>
          <a:xfrm>
            <a:off x="7967801" y="2881683"/>
            <a:ext cx="320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Z</a:t>
            </a:r>
          </a:p>
        </p:txBody>
      </p:sp>
      <p:sp>
        <p:nvSpPr>
          <p:cNvPr id="21" name="Rounded Rectangle 37">
            <a:extLst>
              <a:ext uri="{FF2B5EF4-FFF2-40B4-BE49-F238E27FC236}">
                <a16:creationId xmlns:a16="http://schemas.microsoft.com/office/drawing/2014/main" id="{AD8774A0-CB10-4ECD-AFBA-55EB2548AA50}"/>
              </a:ext>
            </a:extLst>
          </p:cNvPr>
          <p:cNvSpPr/>
          <p:nvPr/>
        </p:nvSpPr>
        <p:spPr>
          <a:xfrm>
            <a:off x="622729" y="5466192"/>
            <a:ext cx="11037134" cy="10649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DRAM response time is not constant: can take from 60 cycles to 1000s of cycles (on a multi-core system). </a:t>
            </a:r>
          </a:p>
        </p:txBody>
      </p:sp>
    </p:spTree>
    <p:extLst>
      <p:ext uri="{BB962C8B-B14F-4D97-AF65-F5344CB8AC3E}">
        <p14:creationId xmlns:p14="http://schemas.microsoft.com/office/powerpoint/2010/main" val="1702944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00EA-3442-476D-B73C-BC91E95B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World of MSHRs (Miss Status Holding Registers)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CB61-80FA-407B-8C63-A0E659B95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16</a:t>
            </a:fld>
            <a:endParaRPr lang="en"/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D60BB5B3-878B-4241-9647-1216E5B6F068}"/>
              </a:ext>
            </a:extLst>
          </p:cNvPr>
          <p:cNvSpPr/>
          <p:nvPr/>
        </p:nvSpPr>
        <p:spPr>
          <a:xfrm rot="16200000">
            <a:off x="1936150" y="3595897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6FFBE68-8505-4FE0-8B14-BE63BF786498}"/>
              </a:ext>
            </a:extLst>
          </p:cNvPr>
          <p:cNvSpPr/>
          <p:nvPr/>
        </p:nvSpPr>
        <p:spPr>
          <a:xfrm>
            <a:off x="4912685" y="3612574"/>
            <a:ext cx="1786700" cy="734602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$</a:t>
            </a:r>
          </a:p>
        </p:txBody>
      </p: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B22905D0-3B36-4909-A3E0-2D0AFE9E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801071" y="3694311"/>
            <a:ext cx="1764801" cy="57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89F4FD-8DBE-4436-AA6C-D7B8632FBBC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25070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B82D56-151C-4A1E-99A5-2B376916B9F1}"/>
              </a:ext>
            </a:extLst>
          </p:cNvPr>
          <p:cNvCxnSpPr>
            <a:cxnSpLocks/>
          </p:cNvCxnSpPr>
          <p:nvPr/>
        </p:nvCxnSpPr>
        <p:spPr>
          <a:xfrm>
            <a:off x="6750226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098B0A-E1B4-4801-ADDC-8309ADEFD218}"/>
              </a:ext>
            </a:extLst>
          </p:cNvPr>
          <p:cNvSpPr txBox="1"/>
          <p:nvPr/>
        </p:nvSpPr>
        <p:spPr>
          <a:xfrm>
            <a:off x="3165119" y="3512924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LOAD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04E74-C57D-43CD-A329-87E49387BFF8}"/>
              </a:ext>
            </a:extLst>
          </p:cNvPr>
          <p:cNvSpPr txBox="1"/>
          <p:nvPr/>
        </p:nvSpPr>
        <p:spPr>
          <a:xfrm>
            <a:off x="5311609" y="3145220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9466C-F98F-4EA4-8CC7-2A0D0D8E67C0}"/>
              </a:ext>
            </a:extLst>
          </p:cNvPr>
          <p:cNvSpPr txBox="1"/>
          <p:nvPr/>
        </p:nvSpPr>
        <p:spPr>
          <a:xfrm>
            <a:off x="3272400" y="3979875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27ADC-36CB-40C9-A233-4A77BCC9A321}"/>
              </a:ext>
            </a:extLst>
          </p:cNvPr>
          <p:cNvSpPr/>
          <p:nvPr/>
        </p:nvSpPr>
        <p:spPr>
          <a:xfrm>
            <a:off x="6750226" y="2826472"/>
            <a:ext cx="2181914" cy="5232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99475A-6A30-4250-BF15-614BC0DA4A19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7841183" y="2826472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152D05-E1B6-46F9-BD6F-B34600AD2147}"/>
              </a:ext>
            </a:extLst>
          </p:cNvPr>
          <p:cNvCxnSpPr/>
          <p:nvPr/>
        </p:nvCxnSpPr>
        <p:spPr>
          <a:xfrm>
            <a:off x="7276208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178AF0-0FF3-46CC-BE78-355244562DD6}"/>
              </a:ext>
            </a:extLst>
          </p:cNvPr>
          <p:cNvCxnSpPr/>
          <p:nvPr/>
        </p:nvCxnSpPr>
        <p:spPr>
          <a:xfrm>
            <a:off x="8428050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1EB71C9-9103-4B6D-9783-31F279A8A973}"/>
              </a:ext>
            </a:extLst>
          </p:cNvPr>
          <p:cNvSpPr txBox="1"/>
          <p:nvPr/>
        </p:nvSpPr>
        <p:spPr>
          <a:xfrm>
            <a:off x="6833322" y="2897071"/>
            <a:ext cx="320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56FF9E-91C4-46A5-A2CF-E68CFD2638B8}"/>
              </a:ext>
            </a:extLst>
          </p:cNvPr>
          <p:cNvSpPr txBox="1"/>
          <p:nvPr/>
        </p:nvSpPr>
        <p:spPr>
          <a:xfrm>
            <a:off x="7367854" y="2886735"/>
            <a:ext cx="320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C0594B-147B-43FC-929F-4F8291DA119A}"/>
              </a:ext>
            </a:extLst>
          </p:cNvPr>
          <p:cNvSpPr txBox="1"/>
          <p:nvPr/>
        </p:nvSpPr>
        <p:spPr>
          <a:xfrm>
            <a:off x="7967801" y="2881683"/>
            <a:ext cx="320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Z</a:t>
            </a:r>
          </a:p>
        </p:txBody>
      </p:sp>
      <p:sp>
        <p:nvSpPr>
          <p:cNvPr id="21" name="Rounded Rectangle 37">
            <a:extLst>
              <a:ext uri="{FF2B5EF4-FFF2-40B4-BE49-F238E27FC236}">
                <a16:creationId xmlns:a16="http://schemas.microsoft.com/office/drawing/2014/main" id="{AD8774A0-CB10-4ECD-AFBA-55EB2548AA50}"/>
              </a:ext>
            </a:extLst>
          </p:cNvPr>
          <p:cNvSpPr/>
          <p:nvPr/>
        </p:nvSpPr>
        <p:spPr>
          <a:xfrm>
            <a:off x="622729" y="5466192"/>
            <a:ext cx="11037134" cy="10649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DRAM response time is not constant: can take from 60 cycles to 1000s of cycles (on a multi-core system). </a:t>
            </a:r>
          </a:p>
        </p:txBody>
      </p:sp>
    </p:spTree>
    <p:extLst>
      <p:ext uri="{BB962C8B-B14F-4D97-AF65-F5344CB8AC3E}">
        <p14:creationId xmlns:p14="http://schemas.microsoft.com/office/powerpoint/2010/main" val="2793782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00EA-3442-476D-B73C-BC91E95B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World of MSHRs (Miss Status Holding Registers)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CB61-80FA-407B-8C63-A0E659B95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17</a:t>
            </a:fld>
            <a:endParaRPr lang="en"/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D60BB5B3-878B-4241-9647-1216E5B6F068}"/>
              </a:ext>
            </a:extLst>
          </p:cNvPr>
          <p:cNvSpPr/>
          <p:nvPr/>
        </p:nvSpPr>
        <p:spPr>
          <a:xfrm rot="16200000">
            <a:off x="1936150" y="3595897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6FFBE68-8505-4FE0-8B14-BE63BF786498}"/>
              </a:ext>
            </a:extLst>
          </p:cNvPr>
          <p:cNvSpPr/>
          <p:nvPr/>
        </p:nvSpPr>
        <p:spPr>
          <a:xfrm>
            <a:off x="4912685" y="3612574"/>
            <a:ext cx="1786700" cy="734602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$</a:t>
            </a:r>
          </a:p>
        </p:txBody>
      </p: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B22905D0-3B36-4909-A3E0-2D0AFE9E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801071" y="3694311"/>
            <a:ext cx="1764801" cy="57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89F4FD-8DBE-4436-AA6C-D7B8632FBBC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25070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B82D56-151C-4A1E-99A5-2B376916B9F1}"/>
              </a:ext>
            </a:extLst>
          </p:cNvPr>
          <p:cNvCxnSpPr>
            <a:cxnSpLocks/>
          </p:cNvCxnSpPr>
          <p:nvPr/>
        </p:nvCxnSpPr>
        <p:spPr>
          <a:xfrm>
            <a:off x="6750226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098B0A-E1B4-4801-ADDC-8309ADEFD218}"/>
              </a:ext>
            </a:extLst>
          </p:cNvPr>
          <p:cNvSpPr txBox="1"/>
          <p:nvPr/>
        </p:nvSpPr>
        <p:spPr>
          <a:xfrm>
            <a:off x="3165119" y="3512924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LOAD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04E74-C57D-43CD-A329-87E49387BFF8}"/>
              </a:ext>
            </a:extLst>
          </p:cNvPr>
          <p:cNvSpPr txBox="1"/>
          <p:nvPr/>
        </p:nvSpPr>
        <p:spPr>
          <a:xfrm>
            <a:off x="5311609" y="3145220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9466C-F98F-4EA4-8CC7-2A0D0D8E67C0}"/>
              </a:ext>
            </a:extLst>
          </p:cNvPr>
          <p:cNvSpPr txBox="1"/>
          <p:nvPr/>
        </p:nvSpPr>
        <p:spPr>
          <a:xfrm>
            <a:off x="3272400" y="3979875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27ADC-36CB-40C9-A233-4A77BCC9A321}"/>
              </a:ext>
            </a:extLst>
          </p:cNvPr>
          <p:cNvSpPr/>
          <p:nvPr/>
        </p:nvSpPr>
        <p:spPr>
          <a:xfrm>
            <a:off x="6750226" y="2826472"/>
            <a:ext cx="2181914" cy="5232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99475A-6A30-4250-BF15-614BC0DA4A19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7841183" y="2826472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152D05-E1B6-46F9-BD6F-B34600AD2147}"/>
              </a:ext>
            </a:extLst>
          </p:cNvPr>
          <p:cNvCxnSpPr/>
          <p:nvPr/>
        </p:nvCxnSpPr>
        <p:spPr>
          <a:xfrm>
            <a:off x="7276208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178AF0-0FF3-46CC-BE78-355244562DD6}"/>
              </a:ext>
            </a:extLst>
          </p:cNvPr>
          <p:cNvCxnSpPr/>
          <p:nvPr/>
        </p:nvCxnSpPr>
        <p:spPr>
          <a:xfrm>
            <a:off x="8428050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1EB71C9-9103-4B6D-9783-31F279A8A973}"/>
              </a:ext>
            </a:extLst>
          </p:cNvPr>
          <p:cNvSpPr txBox="1"/>
          <p:nvPr/>
        </p:nvSpPr>
        <p:spPr>
          <a:xfrm>
            <a:off x="6833322" y="2897071"/>
            <a:ext cx="320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C0594B-147B-43FC-929F-4F8291DA119A}"/>
              </a:ext>
            </a:extLst>
          </p:cNvPr>
          <p:cNvSpPr txBox="1"/>
          <p:nvPr/>
        </p:nvSpPr>
        <p:spPr>
          <a:xfrm>
            <a:off x="7967801" y="2881683"/>
            <a:ext cx="320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Z</a:t>
            </a:r>
          </a:p>
        </p:txBody>
      </p:sp>
      <p:sp>
        <p:nvSpPr>
          <p:cNvPr id="21" name="Rounded Rectangle 37">
            <a:extLst>
              <a:ext uri="{FF2B5EF4-FFF2-40B4-BE49-F238E27FC236}">
                <a16:creationId xmlns:a16="http://schemas.microsoft.com/office/drawing/2014/main" id="{AD8774A0-CB10-4ECD-AFBA-55EB2548AA50}"/>
              </a:ext>
            </a:extLst>
          </p:cNvPr>
          <p:cNvSpPr/>
          <p:nvPr/>
        </p:nvSpPr>
        <p:spPr>
          <a:xfrm>
            <a:off x="622729" y="5466192"/>
            <a:ext cx="11037134" cy="10649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DRAM response time is not constant: can take from 60 cycles to 1000s of cycles (on a multi-core system). </a:t>
            </a:r>
          </a:p>
        </p:txBody>
      </p:sp>
    </p:spTree>
    <p:extLst>
      <p:ext uri="{BB962C8B-B14F-4D97-AF65-F5344CB8AC3E}">
        <p14:creationId xmlns:p14="http://schemas.microsoft.com/office/powerpoint/2010/main" val="548397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00EA-3442-476D-B73C-BC91E95B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World of MSHRs (Miss Status Holding Registers)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CB61-80FA-407B-8C63-A0E659B95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18</a:t>
            </a:fld>
            <a:endParaRPr lang="en"/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D60BB5B3-878B-4241-9647-1216E5B6F068}"/>
              </a:ext>
            </a:extLst>
          </p:cNvPr>
          <p:cNvSpPr/>
          <p:nvPr/>
        </p:nvSpPr>
        <p:spPr>
          <a:xfrm rot="16200000">
            <a:off x="1936150" y="3595897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6FFBE68-8505-4FE0-8B14-BE63BF786498}"/>
              </a:ext>
            </a:extLst>
          </p:cNvPr>
          <p:cNvSpPr/>
          <p:nvPr/>
        </p:nvSpPr>
        <p:spPr>
          <a:xfrm>
            <a:off x="4912685" y="3612574"/>
            <a:ext cx="1786700" cy="734602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$</a:t>
            </a:r>
          </a:p>
        </p:txBody>
      </p: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B22905D0-3B36-4909-A3E0-2D0AFE9E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801071" y="3694311"/>
            <a:ext cx="1764801" cy="57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89F4FD-8DBE-4436-AA6C-D7B8632FBBC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25070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B82D56-151C-4A1E-99A5-2B376916B9F1}"/>
              </a:ext>
            </a:extLst>
          </p:cNvPr>
          <p:cNvCxnSpPr>
            <a:cxnSpLocks/>
          </p:cNvCxnSpPr>
          <p:nvPr/>
        </p:nvCxnSpPr>
        <p:spPr>
          <a:xfrm>
            <a:off x="6750226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098B0A-E1B4-4801-ADDC-8309ADEFD218}"/>
              </a:ext>
            </a:extLst>
          </p:cNvPr>
          <p:cNvSpPr txBox="1"/>
          <p:nvPr/>
        </p:nvSpPr>
        <p:spPr>
          <a:xfrm>
            <a:off x="3165119" y="3512924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LOAD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04E74-C57D-43CD-A329-87E49387BFF8}"/>
              </a:ext>
            </a:extLst>
          </p:cNvPr>
          <p:cNvSpPr txBox="1"/>
          <p:nvPr/>
        </p:nvSpPr>
        <p:spPr>
          <a:xfrm>
            <a:off x="5311609" y="3145220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9466C-F98F-4EA4-8CC7-2A0D0D8E67C0}"/>
              </a:ext>
            </a:extLst>
          </p:cNvPr>
          <p:cNvSpPr txBox="1"/>
          <p:nvPr/>
        </p:nvSpPr>
        <p:spPr>
          <a:xfrm>
            <a:off x="3272400" y="3979875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27ADC-36CB-40C9-A233-4A77BCC9A321}"/>
              </a:ext>
            </a:extLst>
          </p:cNvPr>
          <p:cNvSpPr/>
          <p:nvPr/>
        </p:nvSpPr>
        <p:spPr>
          <a:xfrm>
            <a:off x="6750226" y="2826472"/>
            <a:ext cx="2181914" cy="5232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99475A-6A30-4250-BF15-614BC0DA4A19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7841183" y="2826472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152D05-E1B6-46F9-BD6F-B34600AD2147}"/>
              </a:ext>
            </a:extLst>
          </p:cNvPr>
          <p:cNvCxnSpPr/>
          <p:nvPr/>
        </p:nvCxnSpPr>
        <p:spPr>
          <a:xfrm>
            <a:off x="7276208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178AF0-0FF3-46CC-BE78-355244562DD6}"/>
              </a:ext>
            </a:extLst>
          </p:cNvPr>
          <p:cNvCxnSpPr/>
          <p:nvPr/>
        </p:nvCxnSpPr>
        <p:spPr>
          <a:xfrm>
            <a:off x="8428050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1EB71C9-9103-4B6D-9783-31F279A8A973}"/>
              </a:ext>
            </a:extLst>
          </p:cNvPr>
          <p:cNvSpPr txBox="1"/>
          <p:nvPr/>
        </p:nvSpPr>
        <p:spPr>
          <a:xfrm>
            <a:off x="6833322" y="2897071"/>
            <a:ext cx="320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21" name="Rounded Rectangle 37">
            <a:extLst>
              <a:ext uri="{FF2B5EF4-FFF2-40B4-BE49-F238E27FC236}">
                <a16:creationId xmlns:a16="http://schemas.microsoft.com/office/drawing/2014/main" id="{AD8774A0-CB10-4ECD-AFBA-55EB2548AA50}"/>
              </a:ext>
            </a:extLst>
          </p:cNvPr>
          <p:cNvSpPr/>
          <p:nvPr/>
        </p:nvSpPr>
        <p:spPr>
          <a:xfrm>
            <a:off x="622729" y="5466192"/>
            <a:ext cx="11037134" cy="10649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DRAM response time is not constant: can take from 60 cycles to 1000s of cycles (on a multi-core system). </a:t>
            </a:r>
          </a:p>
        </p:txBody>
      </p:sp>
    </p:spTree>
    <p:extLst>
      <p:ext uri="{BB962C8B-B14F-4D97-AF65-F5344CB8AC3E}">
        <p14:creationId xmlns:p14="http://schemas.microsoft.com/office/powerpoint/2010/main" val="268745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00EA-3442-476D-B73C-BC91E95B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About Writes (STOREs)?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CB61-80FA-407B-8C63-A0E659B95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19</a:t>
            </a:fld>
            <a:endParaRPr lang="en"/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D60BB5B3-878B-4241-9647-1216E5B6F068}"/>
              </a:ext>
            </a:extLst>
          </p:cNvPr>
          <p:cNvSpPr/>
          <p:nvPr/>
        </p:nvSpPr>
        <p:spPr>
          <a:xfrm rot="16200000">
            <a:off x="1936150" y="3595897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6FFBE68-8505-4FE0-8B14-BE63BF786498}"/>
              </a:ext>
            </a:extLst>
          </p:cNvPr>
          <p:cNvSpPr/>
          <p:nvPr/>
        </p:nvSpPr>
        <p:spPr>
          <a:xfrm>
            <a:off x="4912685" y="3612574"/>
            <a:ext cx="1786700" cy="734602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$</a:t>
            </a:r>
          </a:p>
        </p:txBody>
      </p: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B22905D0-3B36-4909-A3E0-2D0AFE9E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801071" y="3694311"/>
            <a:ext cx="1764801" cy="57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89F4FD-8DBE-4436-AA6C-D7B8632FBBC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25070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B82D56-151C-4A1E-99A5-2B376916B9F1}"/>
              </a:ext>
            </a:extLst>
          </p:cNvPr>
          <p:cNvCxnSpPr>
            <a:cxnSpLocks/>
          </p:cNvCxnSpPr>
          <p:nvPr/>
        </p:nvCxnSpPr>
        <p:spPr>
          <a:xfrm>
            <a:off x="6750226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098B0A-E1B4-4801-ADDC-8309ADEFD218}"/>
              </a:ext>
            </a:extLst>
          </p:cNvPr>
          <p:cNvSpPr txBox="1"/>
          <p:nvPr/>
        </p:nvSpPr>
        <p:spPr>
          <a:xfrm>
            <a:off x="3165119" y="3512924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STORE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04E74-C57D-43CD-A329-87E49387BFF8}"/>
              </a:ext>
            </a:extLst>
          </p:cNvPr>
          <p:cNvSpPr txBox="1"/>
          <p:nvPr/>
        </p:nvSpPr>
        <p:spPr>
          <a:xfrm>
            <a:off x="5311609" y="3145220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27ADC-36CB-40C9-A233-4A77BCC9A321}"/>
              </a:ext>
            </a:extLst>
          </p:cNvPr>
          <p:cNvSpPr/>
          <p:nvPr/>
        </p:nvSpPr>
        <p:spPr>
          <a:xfrm>
            <a:off x="6750226" y="2826472"/>
            <a:ext cx="2181914" cy="5232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99475A-6A30-4250-BF15-614BC0DA4A19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7841183" y="2826472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152D05-E1B6-46F9-BD6F-B34600AD2147}"/>
              </a:ext>
            </a:extLst>
          </p:cNvPr>
          <p:cNvCxnSpPr/>
          <p:nvPr/>
        </p:nvCxnSpPr>
        <p:spPr>
          <a:xfrm>
            <a:off x="7276208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178AF0-0FF3-46CC-BE78-355244562DD6}"/>
              </a:ext>
            </a:extLst>
          </p:cNvPr>
          <p:cNvCxnSpPr/>
          <p:nvPr/>
        </p:nvCxnSpPr>
        <p:spPr>
          <a:xfrm>
            <a:off x="8428050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1EB71C9-9103-4B6D-9783-31F279A8A973}"/>
              </a:ext>
            </a:extLst>
          </p:cNvPr>
          <p:cNvSpPr txBox="1"/>
          <p:nvPr/>
        </p:nvSpPr>
        <p:spPr>
          <a:xfrm>
            <a:off x="6833322" y="2897071"/>
            <a:ext cx="320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Z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437823-1754-43EA-B593-095609C7D815}"/>
              </a:ext>
            </a:extLst>
          </p:cNvPr>
          <p:cNvSpPr txBox="1"/>
          <p:nvPr/>
        </p:nvSpPr>
        <p:spPr>
          <a:xfrm>
            <a:off x="7045846" y="4013057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LOAD Z</a:t>
            </a:r>
          </a:p>
        </p:txBody>
      </p:sp>
    </p:spTree>
    <p:extLst>
      <p:ext uri="{BB962C8B-B14F-4D97-AF65-F5344CB8AC3E}">
        <p14:creationId xmlns:p14="http://schemas.microsoft.com/office/powerpoint/2010/main" val="2719353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00EA-3442-476D-B73C-BC91E95B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About Writes (STOREs)?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FCB61-80FA-407B-8C63-A0E659B95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20</a:t>
            </a:fld>
            <a:endParaRPr lang="en"/>
          </a:p>
        </p:txBody>
      </p:sp>
      <p:sp>
        <p:nvSpPr>
          <p:cNvPr id="5" name="Rounded Rectangle 31">
            <a:extLst>
              <a:ext uri="{FF2B5EF4-FFF2-40B4-BE49-F238E27FC236}">
                <a16:creationId xmlns:a16="http://schemas.microsoft.com/office/drawing/2014/main" id="{D60BB5B3-878B-4241-9647-1216E5B6F068}"/>
              </a:ext>
            </a:extLst>
          </p:cNvPr>
          <p:cNvSpPr/>
          <p:nvPr/>
        </p:nvSpPr>
        <p:spPr>
          <a:xfrm rot="16200000">
            <a:off x="1936150" y="3595897"/>
            <a:ext cx="1292040" cy="6858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mpd="sng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Core</a:t>
            </a: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6FFBE68-8505-4FE0-8B14-BE63BF786498}"/>
              </a:ext>
            </a:extLst>
          </p:cNvPr>
          <p:cNvSpPr/>
          <p:nvPr/>
        </p:nvSpPr>
        <p:spPr>
          <a:xfrm>
            <a:off x="4912685" y="3612574"/>
            <a:ext cx="1786700" cy="734602"/>
          </a:xfrm>
          <a:prstGeom prst="roundRect">
            <a:avLst/>
          </a:prstGeom>
          <a:solidFill>
            <a:schemeClr val="tx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$</a:t>
            </a:r>
          </a:p>
        </p:txBody>
      </p:sp>
      <p:pic>
        <p:nvPicPr>
          <p:cNvPr id="7" name="Picture 2" descr="Samsung 4GB DDR3-1600MHz ECC Registered CL11 DIMM Dual Rank Memory Module (M393B5273DH0-CK0)">
            <a:extLst>
              <a:ext uri="{FF2B5EF4-FFF2-40B4-BE49-F238E27FC236}">
                <a16:creationId xmlns:a16="http://schemas.microsoft.com/office/drawing/2014/main" id="{B22905D0-3B36-4909-A3E0-2D0AFE9E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801071" y="3694311"/>
            <a:ext cx="1764801" cy="57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89F4FD-8DBE-4436-AA6C-D7B8632FBBC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25070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B82D56-151C-4A1E-99A5-2B376916B9F1}"/>
              </a:ext>
            </a:extLst>
          </p:cNvPr>
          <p:cNvCxnSpPr>
            <a:cxnSpLocks/>
          </p:cNvCxnSpPr>
          <p:nvPr/>
        </p:nvCxnSpPr>
        <p:spPr>
          <a:xfrm>
            <a:off x="6750226" y="3979875"/>
            <a:ext cx="1987615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098B0A-E1B4-4801-ADDC-8309ADEFD218}"/>
              </a:ext>
            </a:extLst>
          </p:cNvPr>
          <p:cNvSpPr txBox="1"/>
          <p:nvPr/>
        </p:nvSpPr>
        <p:spPr>
          <a:xfrm>
            <a:off x="3165119" y="3512924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STORE 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D04E74-C57D-43CD-A329-87E49387BFF8}"/>
              </a:ext>
            </a:extLst>
          </p:cNvPr>
          <p:cNvSpPr txBox="1"/>
          <p:nvPr/>
        </p:nvSpPr>
        <p:spPr>
          <a:xfrm>
            <a:off x="5311609" y="3145220"/>
            <a:ext cx="242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27ADC-36CB-40C9-A233-4A77BCC9A321}"/>
              </a:ext>
            </a:extLst>
          </p:cNvPr>
          <p:cNvSpPr/>
          <p:nvPr/>
        </p:nvSpPr>
        <p:spPr>
          <a:xfrm>
            <a:off x="6750226" y="2826472"/>
            <a:ext cx="2181914" cy="5232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99475A-6A30-4250-BF15-614BC0DA4A19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7841183" y="2826472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152D05-E1B6-46F9-BD6F-B34600AD2147}"/>
              </a:ext>
            </a:extLst>
          </p:cNvPr>
          <p:cNvCxnSpPr/>
          <p:nvPr/>
        </p:nvCxnSpPr>
        <p:spPr>
          <a:xfrm>
            <a:off x="7276208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178AF0-0FF3-46CC-BE78-355244562DD6}"/>
              </a:ext>
            </a:extLst>
          </p:cNvPr>
          <p:cNvCxnSpPr/>
          <p:nvPr/>
        </p:nvCxnSpPr>
        <p:spPr>
          <a:xfrm>
            <a:off x="8428050" y="2820127"/>
            <a:ext cx="0" cy="5232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5A22A36-2D44-4086-A692-5DA1A4673BEB}"/>
              </a:ext>
            </a:extLst>
          </p:cNvPr>
          <p:cNvSpPr txBox="1"/>
          <p:nvPr/>
        </p:nvSpPr>
        <p:spPr>
          <a:xfrm>
            <a:off x="5123693" y="3677187"/>
            <a:ext cx="972307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C000"/>
                </a:solidFill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983AAB-D884-4416-8A15-4E3349E513B5}"/>
              </a:ext>
            </a:extLst>
          </p:cNvPr>
          <p:cNvSpPr txBox="1"/>
          <p:nvPr/>
        </p:nvSpPr>
        <p:spPr>
          <a:xfrm>
            <a:off x="6102511" y="3677187"/>
            <a:ext cx="360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C000"/>
                </a:solidFill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2690449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2B0C4-8344-65BF-8637-788C78F67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and non-blocking cache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97F01-9D71-217C-8201-B9DA31AB3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miss can block the processor </a:t>
            </a:r>
          </a:p>
          <a:p>
            <a:r>
              <a:rPr lang="en-US" dirty="0"/>
              <a:t>MSHRs in action (Cache becomes non-blocking)</a:t>
            </a:r>
          </a:p>
          <a:p>
            <a:pPr marL="0" indent="0">
              <a:buNone/>
            </a:pPr>
            <a:r>
              <a:rPr lang="en-US" dirty="0"/>
              <a:t>Multiple misses that are outstanding at a given cache level. </a:t>
            </a:r>
          </a:p>
          <a:p>
            <a:pPr marL="0" indent="0">
              <a:buNone/>
            </a:pPr>
            <a:r>
              <a:rPr lang="en-US" dirty="0"/>
              <a:t>Helps in providing memory-level parallelism (MLP)</a:t>
            </a:r>
          </a:p>
          <a:p>
            <a:pPr marL="0" indent="0">
              <a:buNone/>
            </a:pPr>
            <a:r>
              <a:rPr lang="en-US" dirty="0"/>
              <a:t>Helps in merging multiple requests to one cache line aligned address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3F9633-9A1E-43E6-7097-0C7B2A5E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FD28E0-53DB-969E-CB72-67CA7E053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204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E91B-019B-9DAB-31C9-9112B8149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MSHRs in the hierarchy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42A3F-8671-BB70-AE81-A80928B85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L1 has K entries then all the outer levels should have </a:t>
            </a:r>
            <a:r>
              <a:rPr lang="en-US" dirty="0" err="1"/>
              <a:t>atleast</a:t>
            </a:r>
            <a:r>
              <a:rPr lang="en-US" dirty="0"/>
              <a:t> K entries to make it complete non-blocking cache hierarchy. </a:t>
            </a:r>
          </a:p>
          <a:p>
            <a:endParaRPr lang="en-US" dirty="0"/>
          </a:p>
          <a:p>
            <a:r>
              <a:rPr lang="en-US" dirty="0"/>
              <a:t>Note that the responses coming from outer levels of cache and DRAM is out of order.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C1F7AF-AEF7-06E6-E739-86C03E73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2CB28-B356-B9B8-B782-E9F581A7A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5058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E82C6-24EC-03CA-4961-5B39AB754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about software prefetching again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78025-95D0-50F0-1C71-80B2287D3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014DEC-8CD9-B1F4-F7C8-258D7DAF2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ABB7F7-9940-8D3B-1A87-58A8DE609C45}"/>
              </a:ext>
            </a:extLst>
          </p:cNvPr>
          <p:cNvSpPr txBox="1"/>
          <p:nvPr/>
        </p:nvSpPr>
        <p:spPr>
          <a:xfrm>
            <a:off x="708660" y="1690688"/>
            <a:ext cx="932361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800" b="1" i="0" dirty="0">
                <a:solidFill>
                  <a:srgbClr val="286491"/>
                </a:solidFill>
                <a:effectLst/>
                <a:highlight>
                  <a:srgbClr val="FFFFFF"/>
                </a:highlight>
                <a:latin typeface="inherit"/>
              </a:rPr>
              <a:t>for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 </a:t>
            </a:r>
            <a:r>
              <a:rPr lang="en-US" sz="2800" b="0" i="0" dirty="0">
                <a:solidFill>
                  <a:srgbClr val="777777"/>
                </a:solidFill>
                <a:effectLst/>
                <a:highlight>
                  <a:srgbClr val="FFFFFF"/>
                </a:highlight>
                <a:latin typeface="inherit"/>
              </a:rPr>
              <a:t>(</a:t>
            </a:r>
            <a:r>
              <a:rPr lang="en-US" sz="28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size_t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i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 = </a:t>
            </a:r>
            <a:r>
              <a:rPr lang="en-US" sz="2800" b="0" i="0" dirty="0">
                <a:solidFill>
                  <a:srgbClr val="009999"/>
                </a:solidFill>
                <a:effectLst/>
                <a:highlight>
                  <a:srgbClr val="FFFFFF"/>
                </a:highlight>
                <a:latin typeface="inherit"/>
              </a:rPr>
              <a:t>0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; </a:t>
            </a:r>
            <a:r>
              <a:rPr lang="en-US" sz="28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i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 </a:t>
            </a:r>
            <a:r>
              <a:rPr lang="en-US" sz="2800" b="0" i="0" dirty="0">
                <a:solidFill>
                  <a:srgbClr val="777777"/>
                </a:solidFill>
                <a:effectLst/>
                <a:highlight>
                  <a:srgbClr val="FFFFFF"/>
                </a:highlight>
                <a:latin typeface="inherit"/>
              </a:rPr>
              <a:t>&lt;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 n; </a:t>
            </a:r>
            <a:r>
              <a:rPr lang="en-US" sz="28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i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++</a:t>
            </a:r>
            <a:r>
              <a:rPr lang="en-US" sz="2800" b="0" i="0" dirty="0">
                <a:solidFill>
                  <a:srgbClr val="777777"/>
                </a:solidFill>
                <a:effectLst/>
                <a:highlight>
                  <a:srgbClr val="FFFFFF"/>
                </a:highlight>
                <a:latin typeface="inherit"/>
              </a:rPr>
              <a:t>)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 </a:t>
            </a:r>
            <a:r>
              <a:rPr lang="en-US" sz="2800" b="0" i="0" dirty="0">
                <a:solidFill>
                  <a:srgbClr val="777777"/>
                </a:solidFill>
                <a:effectLst/>
                <a:highlight>
                  <a:srgbClr val="FFFFFF"/>
                </a:highlight>
                <a:latin typeface="inherit"/>
              </a:rPr>
              <a:t>{</a:t>
            </a:r>
            <a:endParaRPr lang="en-US" sz="2800" b="0" i="0" dirty="0">
              <a:solidFill>
                <a:srgbClr val="AAAAAA"/>
              </a:solidFill>
              <a:effectLst/>
              <a:highlight>
                <a:srgbClr val="FFFFFF"/>
              </a:highlight>
              <a:latin typeface="Source Code Pro" panose="020B0509030403020204" pitchFamily="49" charset="0"/>
            </a:endParaRPr>
          </a:p>
          <a:p>
            <a:pPr marL="0" indent="0" algn="l">
              <a:buNone/>
            </a:pPr>
            <a:r>
              <a:rPr lang="en-US" sz="2800" b="0" i="0" dirty="0">
                <a:solidFill>
                  <a:srgbClr val="0086B3"/>
                </a:solidFill>
                <a:effectLst/>
                <a:highlight>
                  <a:srgbClr val="FFFFFF"/>
                </a:highlight>
                <a:latin typeface="inherit"/>
              </a:rPr>
              <a:t>__</a:t>
            </a:r>
            <a:r>
              <a:rPr lang="en-US" sz="2800" b="0" i="0" dirty="0" err="1">
                <a:solidFill>
                  <a:srgbClr val="0086B3"/>
                </a:solidFill>
                <a:effectLst/>
                <a:highlight>
                  <a:srgbClr val="FFFFFF"/>
                </a:highlight>
                <a:latin typeface="inherit"/>
              </a:rPr>
              <a:t>builtin_prefetch</a:t>
            </a:r>
            <a:r>
              <a:rPr lang="en-US" sz="2800" b="0" i="0" dirty="0">
                <a:solidFill>
                  <a:srgbClr val="777777"/>
                </a:solidFill>
                <a:effectLst/>
                <a:highlight>
                  <a:srgbClr val="FFFFFF"/>
                </a:highlight>
                <a:latin typeface="inherit"/>
              </a:rPr>
              <a:t>(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&amp;a</a:t>
            </a:r>
            <a:r>
              <a:rPr lang="en-US" sz="2800" b="0" i="0" dirty="0">
                <a:solidFill>
                  <a:srgbClr val="777777"/>
                </a:solidFill>
                <a:effectLst/>
                <a:highlight>
                  <a:srgbClr val="FFFFFF"/>
                </a:highlight>
                <a:latin typeface="inherit"/>
              </a:rPr>
              <a:t>[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index</a:t>
            </a:r>
            <a:r>
              <a:rPr lang="en-US" sz="2800" b="0" i="0" dirty="0">
                <a:solidFill>
                  <a:srgbClr val="777777"/>
                </a:solidFill>
                <a:effectLst/>
                <a:highlight>
                  <a:srgbClr val="FFFFFF"/>
                </a:highlight>
                <a:latin typeface="inherit"/>
              </a:rPr>
              <a:t>[</a:t>
            </a:r>
            <a:r>
              <a:rPr lang="en-US" sz="28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i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 + </a:t>
            </a:r>
            <a:r>
              <a:rPr lang="en-US" sz="2800" b="0" i="0" dirty="0">
                <a:solidFill>
                  <a:srgbClr val="009999"/>
                </a:solidFill>
                <a:effectLst/>
                <a:highlight>
                  <a:srgbClr val="FFFFFF"/>
                </a:highlight>
                <a:latin typeface="inherit"/>
              </a:rPr>
              <a:t>8</a:t>
            </a:r>
            <a:r>
              <a:rPr lang="en-US" sz="2800" b="0" i="0" dirty="0">
                <a:solidFill>
                  <a:srgbClr val="777777"/>
                </a:solidFill>
                <a:effectLst/>
                <a:highlight>
                  <a:srgbClr val="FFFFFF"/>
                </a:highlight>
                <a:latin typeface="inherit"/>
              </a:rPr>
              <a:t>]])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;</a:t>
            </a:r>
            <a:endParaRPr lang="en-US" sz="2800" b="0" i="0" dirty="0">
              <a:solidFill>
                <a:srgbClr val="AAAAAA"/>
              </a:solidFill>
              <a:effectLst/>
              <a:highlight>
                <a:srgbClr val="FFFFFF"/>
              </a:highlight>
              <a:latin typeface="Source Code Pro" panose="020B0509030403020204" pitchFamily="49" charset="0"/>
            </a:endParaRPr>
          </a:p>
          <a:p>
            <a:pPr marL="0" indent="0" algn="l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   a</a:t>
            </a:r>
            <a:r>
              <a:rPr lang="en-US" sz="2800" b="0" i="0" dirty="0">
                <a:solidFill>
                  <a:srgbClr val="777777"/>
                </a:solidFill>
                <a:effectLst/>
                <a:highlight>
                  <a:srgbClr val="FFFFFF"/>
                </a:highlight>
                <a:latin typeface="inherit"/>
              </a:rPr>
              <a:t>[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index</a:t>
            </a:r>
            <a:r>
              <a:rPr lang="en-US" sz="2800" b="0" i="0" dirty="0">
                <a:solidFill>
                  <a:srgbClr val="777777"/>
                </a:solidFill>
                <a:effectLst/>
                <a:highlight>
                  <a:srgbClr val="FFFFFF"/>
                </a:highlight>
                <a:latin typeface="inherit"/>
              </a:rPr>
              <a:t>[</a:t>
            </a:r>
            <a:r>
              <a:rPr lang="en-US" sz="28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i</a:t>
            </a:r>
            <a:r>
              <a:rPr lang="en-US" sz="2800" b="0" i="0" dirty="0">
                <a:solidFill>
                  <a:srgbClr val="777777"/>
                </a:solidFill>
                <a:effectLst/>
                <a:highlight>
                  <a:srgbClr val="FFFFFF"/>
                </a:highlight>
                <a:latin typeface="inherit"/>
              </a:rPr>
              <a:t>]]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herit"/>
              </a:rPr>
              <a:t>++;</a:t>
            </a:r>
            <a:endParaRPr lang="en-US" sz="2800" b="0" i="0" dirty="0">
              <a:solidFill>
                <a:srgbClr val="AAAAAA"/>
              </a:solidFill>
              <a:effectLst/>
              <a:highlight>
                <a:srgbClr val="FFFFFF"/>
              </a:highlight>
              <a:latin typeface="Source Code Pro" panose="020B0509030403020204" pitchFamily="49" charset="0"/>
            </a:endParaRPr>
          </a:p>
          <a:p>
            <a:pPr marL="0" indent="0" algn="l">
              <a:buNone/>
            </a:pPr>
            <a:r>
              <a:rPr lang="en-US" sz="2800" b="0" i="0" dirty="0">
                <a:solidFill>
                  <a:srgbClr val="777777"/>
                </a:solidFill>
                <a:effectLst/>
                <a:highlight>
                  <a:srgbClr val="FFFFFF"/>
                </a:highlight>
                <a:latin typeface="inherit"/>
              </a:rPr>
              <a:t>}</a:t>
            </a:r>
          </a:p>
          <a:p>
            <a:pPr marL="0" indent="0" algn="l">
              <a:buNone/>
            </a:pPr>
            <a:endParaRPr lang="en-US" sz="2800" dirty="0">
              <a:solidFill>
                <a:srgbClr val="777777"/>
              </a:solidFill>
              <a:highlight>
                <a:srgbClr val="FFFFFF"/>
              </a:highlight>
              <a:latin typeface="inherit"/>
            </a:endParaRPr>
          </a:p>
          <a:p>
            <a:pPr marL="0" indent="0" algn="l">
              <a:buNone/>
            </a:pPr>
            <a:endParaRPr lang="en-US" sz="2800" b="0" i="0" dirty="0">
              <a:solidFill>
                <a:srgbClr val="777777"/>
              </a:solidFill>
              <a:effectLst/>
              <a:highlight>
                <a:srgbClr val="FFFFFF"/>
              </a:highlight>
              <a:latin typeface="inherit"/>
            </a:endParaRPr>
          </a:p>
          <a:p>
            <a:pPr marL="0" indent="0" algn="l">
              <a:buNone/>
            </a:pPr>
            <a:r>
              <a:rPr lang="en-US" sz="2800" dirty="0">
                <a:highlight>
                  <a:srgbClr val="FFFFFF"/>
                </a:highlight>
                <a:latin typeface="inherit"/>
              </a:rPr>
              <a:t>Eight is the prefetch distance</a:t>
            </a:r>
          </a:p>
          <a:p>
            <a:pPr marL="0" indent="0" algn="l">
              <a:buNone/>
            </a:pPr>
            <a:endParaRPr lang="en-US" sz="2800" dirty="0">
              <a:highlight>
                <a:srgbClr val="FFFFFF"/>
              </a:highlight>
              <a:latin typeface="inherit"/>
            </a:endParaRPr>
          </a:p>
          <a:p>
            <a:r>
              <a:rPr lang="en-US" sz="2800" dirty="0">
                <a:latin typeface="inherit"/>
              </a:rPr>
              <a:t>The difference between a load and a prefetch instruction is that no register is waiting for the data from the </a:t>
            </a:r>
            <a:r>
              <a:rPr lang="en-US" sz="2800" dirty="0">
                <a:highlight>
                  <a:srgbClr val="FFFFFF"/>
                </a:highlight>
                <a:latin typeface="inherit"/>
              </a:rPr>
              <a:t>prefetch instruction.  </a:t>
            </a:r>
            <a:endParaRPr lang="en-US" sz="2800" b="0" i="0" dirty="0">
              <a:effectLst/>
              <a:highlight>
                <a:srgbClr val="FFFFFF"/>
              </a:highlight>
              <a:latin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847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46975</TotalTime>
  <Words>717</Words>
  <Application>Microsoft Office PowerPoint</Application>
  <PresentationFormat>Widescreen</PresentationFormat>
  <Paragraphs>197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Calibri Light</vt:lpstr>
      <vt:lpstr>Cambria</vt:lpstr>
      <vt:lpstr>Cambria Math</vt:lpstr>
      <vt:lpstr>inherit</vt:lpstr>
      <vt:lpstr>Source Code Pro</vt:lpstr>
      <vt:lpstr>Wingdings</vt:lpstr>
      <vt:lpstr>Office Theme</vt:lpstr>
      <vt:lpstr>CS683: Advanced Computer Architecture-2025</vt:lpstr>
      <vt:lpstr>Phones (smart/non-smart) on silence plz, Thanks </vt:lpstr>
      <vt:lpstr>Small story so far</vt:lpstr>
      <vt:lpstr>Front-end and Back-end of a single CPU</vt:lpstr>
      <vt:lpstr>Modern processer: Superscalar and out-of-order</vt:lpstr>
      <vt:lpstr>Let’s understand some terms </vt:lpstr>
      <vt:lpstr>Cache Hierarchy</vt:lpstr>
      <vt:lpstr>Core, Cache, And DRAM Interaction</vt:lpstr>
      <vt:lpstr>Core, Cache, And DRAM Interaction</vt:lpstr>
      <vt:lpstr>Core, Cache, And DRAM Interaction</vt:lpstr>
      <vt:lpstr>Core, Cache, And DRAM Interaction</vt:lpstr>
      <vt:lpstr>World of MSHRs (Miss Status Holding Registers)</vt:lpstr>
      <vt:lpstr>World of MSHRs (Miss Status Holding Registers)</vt:lpstr>
      <vt:lpstr>World of MSHRs (Miss Status Holding Registers)</vt:lpstr>
      <vt:lpstr>World of MSHRs (Miss Status Holding Registers)</vt:lpstr>
      <vt:lpstr>World of MSHRs (Miss Status Holding Registers)</vt:lpstr>
      <vt:lpstr>World of MSHRs (Miss Status Holding Registers)</vt:lpstr>
      <vt:lpstr>World of MSHRs (Miss Status Holding Registers)</vt:lpstr>
      <vt:lpstr>What About Writes (STOREs)?</vt:lpstr>
      <vt:lpstr>What About Writes (STOREs)?</vt:lpstr>
      <vt:lpstr>Blocking and non-blocking cache</vt:lpstr>
      <vt:lpstr>MSHRs in the hierarchy</vt:lpstr>
      <vt:lpstr>Think about software prefetching again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944</cp:revision>
  <dcterms:created xsi:type="dcterms:W3CDTF">2021-05-31T06:57:48Z</dcterms:created>
  <dcterms:modified xsi:type="dcterms:W3CDTF">2025-08-11T15:07:33Z</dcterms:modified>
</cp:coreProperties>
</file>