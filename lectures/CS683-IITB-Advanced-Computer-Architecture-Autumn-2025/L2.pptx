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886" r:id="rId3"/>
    <p:sldId id="887" r:id="rId4"/>
    <p:sldId id="888" r:id="rId5"/>
    <p:sldId id="973" r:id="rId6"/>
    <p:sldId id="889" r:id="rId7"/>
    <p:sldId id="890" r:id="rId8"/>
    <p:sldId id="892" r:id="rId9"/>
    <p:sldId id="893" r:id="rId10"/>
    <p:sldId id="931" r:id="rId11"/>
    <p:sldId id="980" r:id="rId12"/>
    <p:sldId id="894" r:id="rId13"/>
    <p:sldId id="316" r:id="rId14"/>
    <p:sldId id="317" r:id="rId15"/>
    <p:sldId id="315" r:id="rId16"/>
    <p:sldId id="7321" r:id="rId17"/>
    <p:sldId id="7322" r:id="rId18"/>
    <p:sldId id="280" r:id="rId19"/>
    <p:sldId id="281" r:id="rId20"/>
    <p:sldId id="282" r:id="rId21"/>
    <p:sldId id="283" r:id="rId22"/>
    <p:sldId id="284" r:id="rId23"/>
    <p:sldId id="310" r:id="rId24"/>
    <p:sldId id="308" r:id="rId25"/>
    <p:sldId id="7746" r:id="rId26"/>
    <p:sldId id="7893" r:id="rId27"/>
    <p:sldId id="7894" r:id="rId28"/>
    <p:sldId id="7329" r:id="rId29"/>
    <p:sldId id="7916" r:id="rId30"/>
    <p:sldId id="7896" r:id="rId31"/>
    <p:sldId id="77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D35874-AEBE-4FEE-9E9B-F1C2B76C83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830F45-0A7F-4551-AE61-CD9D717D86C4}">
      <dgm:prSet/>
      <dgm:spPr/>
      <dgm:t>
        <a:bodyPr/>
        <a:lstStyle/>
        <a:p>
          <a:r>
            <a:rPr lang="en-US" dirty="0"/>
            <a:t>9/8 (n</a:t>
          </a:r>
          <a:r>
            <a:rPr lang="en-US" baseline="30000" dirty="0"/>
            <a:t>3</a:t>
          </a:r>
          <a:r>
            <a:rPr lang="en-US" dirty="0"/>
            <a:t>) memory accesses</a:t>
          </a:r>
        </a:p>
      </dgm:t>
    </dgm:pt>
    <dgm:pt modelId="{8C0C184A-1802-4ACD-95C6-46B2883C4DA1}" type="parTrans" cxnId="{4459A74D-9325-4CA8-B0FC-4184ADCE54E0}">
      <dgm:prSet/>
      <dgm:spPr/>
      <dgm:t>
        <a:bodyPr/>
        <a:lstStyle/>
        <a:p>
          <a:endParaRPr lang="en-US"/>
        </a:p>
      </dgm:t>
    </dgm:pt>
    <dgm:pt modelId="{E75AFB33-46E6-4BE0-8AA9-EC912736C15C}" type="sibTrans" cxnId="{4459A74D-9325-4CA8-B0FC-4184ADCE54E0}">
      <dgm:prSet/>
      <dgm:spPr/>
      <dgm:t>
        <a:bodyPr/>
        <a:lstStyle/>
        <a:p>
          <a:endParaRPr lang="en-US"/>
        </a:p>
      </dgm:t>
    </dgm:pt>
    <dgm:pt modelId="{D4C8073D-F117-465E-B33F-89691191C4AD}">
      <dgm:prSet/>
      <dgm:spPr/>
      <dgm:t>
        <a:bodyPr/>
        <a:lstStyle/>
        <a:p>
          <a:r>
            <a:rPr lang="en-US" dirty="0"/>
            <a:t>How: One miss in eight accesses (64B cache block) for the first array (n/8)</a:t>
          </a:r>
        </a:p>
      </dgm:t>
    </dgm:pt>
    <dgm:pt modelId="{F7C4D08C-EF4D-49B2-A6FB-0705268C2F1D}" type="parTrans" cxnId="{352D1830-1BFF-49AF-8A9A-4902C12B3361}">
      <dgm:prSet/>
      <dgm:spPr/>
      <dgm:t>
        <a:bodyPr/>
        <a:lstStyle/>
        <a:p>
          <a:endParaRPr lang="en-US"/>
        </a:p>
      </dgm:t>
    </dgm:pt>
    <dgm:pt modelId="{5665B0A0-8423-41AA-AB60-31BB803A092B}" type="sibTrans" cxnId="{352D1830-1BFF-49AF-8A9A-4902C12B3361}">
      <dgm:prSet/>
      <dgm:spPr/>
      <dgm:t>
        <a:bodyPr/>
        <a:lstStyle/>
        <a:p>
          <a:endParaRPr lang="en-US"/>
        </a:p>
      </dgm:t>
    </dgm:pt>
    <dgm:pt modelId="{C2675A2B-7BD5-46A1-B457-1DC22D0CAC82}">
      <dgm:prSet/>
      <dgm:spPr/>
      <dgm:t>
        <a:bodyPr/>
        <a:lstStyle/>
        <a:p>
          <a:r>
            <a:rPr lang="en-US" dirty="0"/>
            <a:t>Second array: 8/8 misses, total: 9n/8 misses per iteration  </a:t>
          </a:r>
        </a:p>
        <a:p>
          <a:r>
            <a:rPr lang="en-US" dirty="0"/>
            <a:t>For n</a:t>
          </a:r>
          <a:r>
            <a:rPr lang="en-US" baseline="30000" dirty="0"/>
            <a:t>2</a:t>
          </a:r>
          <a:r>
            <a:rPr lang="en-US" dirty="0"/>
            <a:t> iterations = 9/8 (n</a:t>
          </a:r>
          <a:r>
            <a:rPr lang="en-US" baseline="30000" dirty="0"/>
            <a:t>3</a:t>
          </a:r>
          <a:r>
            <a:rPr lang="en-US" dirty="0"/>
            <a:t>)  </a:t>
          </a:r>
          <a:r>
            <a:rPr lang="en-US" dirty="0">
              <a:sym typeface="Wingdings" panose="05000000000000000000" pitchFamily="2" charset="2"/>
            </a:rPr>
            <a:t></a:t>
          </a:r>
          <a:r>
            <a:rPr lang="en-US" dirty="0"/>
            <a:t>  </a:t>
          </a:r>
        </a:p>
      </dgm:t>
    </dgm:pt>
    <dgm:pt modelId="{25717243-2A41-4BC6-9080-C725851F2C58}" type="parTrans" cxnId="{79426C98-B6B5-4366-899C-CE2E2652A531}">
      <dgm:prSet/>
      <dgm:spPr/>
      <dgm:t>
        <a:bodyPr/>
        <a:lstStyle/>
        <a:p>
          <a:endParaRPr lang="en-US"/>
        </a:p>
      </dgm:t>
    </dgm:pt>
    <dgm:pt modelId="{020B7D27-3FBA-4262-944D-92AACA7BA317}" type="sibTrans" cxnId="{79426C98-B6B5-4366-899C-CE2E2652A531}">
      <dgm:prSet/>
      <dgm:spPr/>
      <dgm:t>
        <a:bodyPr/>
        <a:lstStyle/>
        <a:p>
          <a:endParaRPr lang="en-US"/>
        </a:p>
      </dgm:t>
    </dgm:pt>
    <dgm:pt modelId="{D5D76C59-C259-468E-9DC3-708D1FBD0792}" type="pres">
      <dgm:prSet presAssocID="{D0D35874-AEBE-4FEE-9E9B-F1C2B76C835D}" presName="linear" presStyleCnt="0">
        <dgm:presLayoutVars>
          <dgm:animLvl val="lvl"/>
          <dgm:resizeHandles val="exact"/>
        </dgm:presLayoutVars>
      </dgm:prSet>
      <dgm:spPr/>
    </dgm:pt>
    <dgm:pt modelId="{8D34FFB9-2670-45F0-AD15-3FF3990B41B4}" type="pres">
      <dgm:prSet presAssocID="{E6830F45-0A7F-4551-AE61-CD9D717D86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46607C7-DD8D-4AF5-B5E2-627D915913E8}" type="pres">
      <dgm:prSet presAssocID="{E75AFB33-46E6-4BE0-8AA9-EC912736C15C}" presName="spacer" presStyleCnt="0"/>
      <dgm:spPr/>
    </dgm:pt>
    <dgm:pt modelId="{B1DED829-1732-487A-AD87-02A42D1915FF}" type="pres">
      <dgm:prSet presAssocID="{D4C8073D-F117-465E-B33F-89691191C4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E9FC6F-18AA-410C-83F7-700C2A93F453}" type="pres">
      <dgm:prSet presAssocID="{5665B0A0-8423-41AA-AB60-31BB803A092B}" presName="spacer" presStyleCnt="0"/>
      <dgm:spPr/>
    </dgm:pt>
    <dgm:pt modelId="{77AD69CD-210A-4543-BF6A-2FCFBEAF29FB}" type="pres">
      <dgm:prSet presAssocID="{C2675A2B-7BD5-46A1-B457-1DC22D0CAC8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57B622-5F4D-4B56-880A-A5DE97359444}" type="presOf" srcId="{D4C8073D-F117-465E-B33F-89691191C4AD}" destId="{B1DED829-1732-487A-AD87-02A42D1915FF}" srcOrd="0" destOrd="0" presId="urn:microsoft.com/office/officeart/2005/8/layout/vList2"/>
    <dgm:cxn modelId="{6922D523-3FD1-4DE9-8532-483E770CDD58}" type="presOf" srcId="{D0D35874-AEBE-4FEE-9E9B-F1C2B76C835D}" destId="{D5D76C59-C259-468E-9DC3-708D1FBD0792}" srcOrd="0" destOrd="0" presId="urn:microsoft.com/office/officeart/2005/8/layout/vList2"/>
    <dgm:cxn modelId="{352D1830-1BFF-49AF-8A9A-4902C12B3361}" srcId="{D0D35874-AEBE-4FEE-9E9B-F1C2B76C835D}" destId="{D4C8073D-F117-465E-B33F-89691191C4AD}" srcOrd="1" destOrd="0" parTransId="{F7C4D08C-EF4D-49B2-A6FB-0705268C2F1D}" sibTransId="{5665B0A0-8423-41AA-AB60-31BB803A092B}"/>
    <dgm:cxn modelId="{27CA5B33-EDB5-4BED-A5ED-785F105D0787}" type="presOf" srcId="{C2675A2B-7BD5-46A1-B457-1DC22D0CAC82}" destId="{77AD69CD-210A-4543-BF6A-2FCFBEAF29FB}" srcOrd="0" destOrd="0" presId="urn:microsoft.com/office/officeart/2005/8/layout/vList2"/>
    <dgm:cxn modelId="{4459A74D-9325-4CA8-B0FC-4184ADCE54E0}" srcId="{D0D35874-AEBE-4FEE-9E9B-F1C2B76C835D}" destId="{E6830F45-0A7F-4551-AE61-CD9D717D86C4}" srcOrd="0" destOrd="0" parTransId="{8C0C184A-1802-4ACD-95C6-46B2883C4DA1}" sibTransId="{E75AFB33-46E6-4BE0-8AA9-EC912736C15C}"/>
    <dgm:cxn modelId="{79426C98-B6B5-4366-899C-CE2E2652A531}" srcId="{D0D35874-AEBE-4FEE-9E9B-F1C2B76C835D}" destId="{C2675A2B-7BD5-46A1-B457-1DC22D0CAC82}" srcOrd="2" destOrd="0" parTransId="{25717243-2A41-4BC6-9080-C725851F2C58}" sibTransId="{020B7D27-3FBA-4262-944D-92AACA7BA317}"/>
    <dgm:cxn modelId="{8DF6CACB-D78C-47BF-8F06-60BE9D0192C4}" type="presOf" srcId="{E6830F45-0A7F-4551-AE61-CD9D717D86C4}" destId="{8D34FFB9-2670-45F0-AD15-3FF3990B41B4}" srcOrd="0" destOrd="0" presId="urn:microsoft.com/office/officeart/2005/8/layout/vList2"/>
    <dgm:cxn modelId="{7347308C-A5C7-456F-AE71-920AC2A66907}" type="presParOf" srcId="{D5D76C59-C259-468E-9DC3-708D1FBD0792}" destId="{8D34FFB9-2670-45F0-AD15-3FF3990B41B4}" srcOrd="0" destOrd="0" presId="urn:microsoft.com/office/officeart/2005/8/layout/vList2"/>
    <dgm:cxn modelId="{D5D589C3-E309-454C-90A6-4C381D61708C}" type="presParOf" srcId="{D5D76C59-C259-468E-9DC3-708D1FBD0792}" destId="{946607C7-DD8D-4AF5-B5E2-627D915913E8}" srcOrd="1" destOrd="0" presId="urn:microsoft.com/office/officeart/2005/8/layout/vList2"/>
    <dgm:cxn modelId="{71A16733-A268-4618-8476-AAC24D8643B7}" type="presParOf" srcId="{D5D76C59-C259-468E-9DC3-708D1FBD0792}" destId="{B1DED829-1732-487A-AD87-02A42D1915FF}" srcOrd="2" destOrd="0" presId="urn:microsoft.com/office/officeart/2005/8/layout/vList2"/>
    <dgm:cxn modelId="{DEB1C90E-CE4D-4D4A-969E-08934C3EEC33}" type="presParOf" srcId="{D5D76C59-C259-468E-9DC3-708D1FBD0792}" destId="{08E9FC6F-18AA-410C-83F7-700C2A93F453}" srcOrd="3" destOrd="0" presId="urn:microsoft.com/office/officeart/2005/8/layout/vList2"/>
    <dgm:cxn modelId="{D7D4F31C-DC65-4FD4-B718-C7D9B6B4FFA8}" type="presParOf" srcId="{D5D76C59-C259-468E-9DC3-708D1FBD0792}" destId="{77AD69CD-210A-4543-BF6A-2FCFBEAF29F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25AE11-44AF-470E-91BE-AE5A24859D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2A2D16-5E20-48D7-8DEE-E9FAFDCA02FC}">
      <dgm:prSet/>
      <dgm:spPr/>
      <dgm:t>
        <a:bodyPr/>
        <a:lstStyle/>
        <a:p>
          <a:r>
            <a:rPr lang="en-US" dirty="0"/>
            <a:t>Number of tiles per row or per column= n/B, For two arrays = 2n/B </a:t>
          </a:r>
        </a:p>
      </dgm:t>
    </dgm:pt>
    <dgm:pt modelId="{D206BAEE-761E-4356-97BA-9BF6FA975EA4}" type="parTrans" cxnId="{53F203F6-A6E8-4188-A28C-748F768A6DA5}">
      <dgm:prSet/>
      <dgm:spPr/>
      <dgm:t>
        <a:bodyPr/>
        <a:lstStyle/>
        <a:p>
          <a:endParaRPr lang="en-US"/>
        </a:p>
      </dgm:t>
    </dgm:pt>
    <dgm:pt modelId="{083540C3-71D9-4081-8A81-AB719CBA63C1}" type="sibTrans" cxnId="{53F203F6-A6E8-4188-A28C-748F768A6DA5}">
      <dgm:prSet/>
      <dgm:spPr/>
      <dgm:t>
        <a:bodyPr/>
        <a:lstStyle/>
        <a:p>
          <a:endParaRPr lang="en-US"/>
        </a:p>
      </dgm:t>
    </dgm:pt>
    <dgm:pt modelId="{4D904086-6549-4935-97A7-AEF676AC7BAF}">
      <dgm:prSet/>
      <dgm:spPr/>
      <dgm:t>
        <a:bodyPr/>
        <a:lstStyle/>
        <a:p>
          <a:r>
            <a:rPr lang="en-US" dirty="0"/>
            <a:t>Tile size = B X B </a:t>
          </a:r>
        </a:p>
      </dgm:t>
    </dgm:pt>
    <dgm:pt modelId="{140A38A3-2103-4DF8-91FE-3376441B597F}" type="parTrans" cxnId="{7B3E06B1-99B9-4021-BAEC-D2CF28337F29}">
      <dgm:prSet/>
      <dgm:spPr/>
      <dgm:t>
        <a:bodyPr/>
        <a:lstStyle/>
        <a:p>
          <a:endParaRPr lang="en-US"/>
        </a:p>
      </dgm:t>
    </dgm:pt>
    <dgm:pt modelId="{20065732-5F6B-4A37-ADCF-72064FFE3B49}" type="sibTrans" cxnId="{7B3E06B1-99B9-4021-BAEC-D2CF28337F29}">
      <dgm:prSet/>
      <dgm:spPr/>
      <dgm:t>
        <a:bodyPr/>
        <a:lstStyle/>
        <a:p>
          <a:endParaRPr lang="en-US"/>
        </a:p>
      </dgm:t>
    </dgm:pt>
    <dgm:pt modelId="{FA6A46DF-620D-4E81-A89F-2C30F12C8BDE}">
      <dgm:prSet/>
      <dgm:spPr/>
      <dgm:t>
        <a:bodyPr/>
        <a:lstStyle/>
        <a:p>
          <a:r>
            <a:rPr lang="en-US" dirty="0"/>
            <a:t>Three tiles are in the C, 3B</a:t>
          </a:r>
          <a:r>
            <a:rPr lang="en-US" baseline="30000" dirty="0"/>
            <a:t>2</a:t>
          </a:r>
          <a:r>
            <a:rPr lang="en-US" dirty="0"/>
            <a:t> are in the cache</a:t>
          </a:r>
        </a:p>
      </dgm:t>
    </dgm:pt>
    <dgm:pt modelId="{780B0DAC-9045-48A9-A4C8-5B3618AEB3CA}" type="parTrans" cxnId="{0D303DE5-7D25-4960-BB23-FADE4345BE82}">
      <dgm:prSet/>
      <dgm:spPr/>
      <dgm:t>
        <a:bodyPr/>
        <a:lstStyle/>
        <a:p>
          <a:endParaRPr lang="en-US"/>
        </a:p>
      </dgm:t>
    </dgm:pt>
    <dgm:pt modelId="{29743731-3CB3-45E2-96E9-99DB82A7DD24}" type="sibTrans" cxnId="{0D303DE5-7D25-4960-BB23-FADE4345BE82}">
      <dgm:prSet/>
      <dgm:spPr/>
      <dgm:t>
        <a:bodyPr/>
        <a:lstStyle/>
        <a:p>
          <a:endParaRPr lang="en-US"/>
        </a:p>
      </dgm:t>
    </dgm:pt>
    <dgm:pt modelId="{3F7108CD-5C68-4456-913B-0972ACBCC89F}">
      <dgm:prSet/>
      <dgm:spPr/>
      <dgm:t>
        <a:bodyPr/>
        <a:lstStyle/>
        <a:p>
          <a:r>
            <a:rPr lang="en-US" dirty="0"/>
            <a:t>For each tile: B</a:t>
          </a:r>
          <a:r>
            <a:rPr lang="en-US" baseline="30000" dirty="0"/>
            <a:t>2</a:t>
          </a:r>
          <a:r>
            <a:rPr lang="en-US" baseline="0" dirty="0"/>
            <a:t>/8</a:t>
          </a:r>
          <a:r>
            <a:rPr lang="en-US" dirty="0"/>
            <a:t> misses,  </a:t>
          </a:r>
        </a:p>
        <a:p>
          <a:r>
            <a:rPr lang="en-US" dirty="0"/>
            <a:t>Two arrays = 2n/B X B</a:t>
          </a:r>
          <a:r>
            <a:rPr lang="en-US" baseline="30000" dirty="0"/>
            <a:t>2</a:t>
          </a:r>
          <a:r>
            <a:rPr lang="en-US" baseline="0" dirty="0"/>
            <a:t>/8</a:t>
          </a:r>
          <a:r>
            <a:rPr lang="en-US" dirty="0"/>
            <a:t> = </a:t>
          </a:r>
          <a:r>
            <a:rPr lang="en-US" dirty="0" err="1"/>
            <a:t>nB</a:t>
          </a:r>
          <a:r>
            <a:rPr lang="en-US" dirty="0"/>
            <a:t>/4 for each block/tile iteration </a:t>
          </a:r>
        </a:p>
      </dgm:t>
    </dgm:pt>
    <dgm:pt modelId="{01AE49A9-439C-4E12-8149-386F2EBBA80F}" type="parTrans" cxnId="{7148040E-4150-4D24-8254-1B94B0FF530C}">
      <dgm:prSet/>
      <dgm:spPr/>
      <dgm:t>
        <a:bodyPr/>
        <a:lstStyle/>
        <a:p>
          <a:endParaRPr lang="en-US"/>
        </a:p>
      </dgm:t>
    </dgm:pt>
    <dgm:pt modelId="{4FCEF5A6-4046-4BBA-B9D7-54CAD484D4B1}" type="sibTrans" cxnId="{7148040E-4150-4D24-8254-1B94B0FF530C}">
      <dgm:prSet/>
      <dgm:spPr/>
      <dgm:t>
        <a:bodyPr/>
        <a:lstStyle/>
        <a:p>
          <a:endParaRPr lang="en-US"/>
        </a:p>
      </dgm:t>
    </dgm:pt>
    <dgm:pt modelId="{AB4B6A6C-9B52-41A2-A93D-776A3A111E8C}">
      <dgm:prSet/>
      <dgm:spPr/>
      <dgm:t>
        <a:bodyPr/>
        <a:lstStyle/>
        <a:p>
          <a:r>
            <a:rPr lang="en-US" dirty="0"/>
            <a:t>Total number of misses for (n/B)</a:t>
          </a:r>
          <a:r>
            <a:rPr lang="en-US" baseline="30000" dirty="0"/>
            <a:t>2 </a:t>
          </a:r>
          <a:r>
            <a:rPr lang="en-US" dirty="0"/>
            <a:t>iterations  = n</a:t>
          </a:r>
          <a:r>
            <a:rPr lang="en-US" baseline="30000" dirty="0"/>
            <a:t>3</a:t>
          </a:r>
          <a:r>
            <a:rPr lang="en-US" dirty="0"/>
            <a:t>/4B  </a:t>
          </a:r>
        </a:p>
      </dgm:t>
    </dgm:pt>
    <dgm:pt modelId="{652C21C9-337B-4DE3-9030-274EB835A8C6}" type="parTrans" cxnId="{D54EAC98-03D9-46D5-B114-5D7F40EF5E1A}">
      <dgm:prSet/>
      <dgm:spPr/>
      <dgm:t>
        <a:bodyPr/>
        <a:lstStyle/>
        <a:p>
          <a:endParaRPr lang="en-US"/>
        </a:p>
      </dgm:t>
    </dgm:pt>
    <dgm:pt modelId="{D8143E42-BB96-4504-8466-90A7831BD24A}" type="sibTrans" cxnId="{D54EAC98-03D9-46D5-B114-5D7F40EF5E1A}">
      <dgm:prSet/>
      <dgm:spPr/>
      <dgm:t>
        <a:bodyPr/>
        <a:lstStyle/>
        <a:p>
          <a:endParaRPr lang="en-US"/>
        </a:p>
      </dgm:t>
    </dgm:pt>
    <dgm:pt modelId="{8DBF9730-9F1F-4A8A-98A3-62668CA0DCF4}" type="pres">
      <dgm:prSet presAssocID="{E425AE11-44AF-470E-91BE-AE5A24859DB5}" presName="root" presStyleCnt="0">
        <dgm:presLayoutVars>
          <dgm:dir/>
          <dgm:resizeHandles val="exact"/>
        </dgm:presLayoutVars>
      </dgm:prSet>
      <dgm:spPr/>
    </dgm:pt>
    <dgm:pt modelId="{DCD308DD-D098-44B0-8CB6-8F9A95C12B35}" type="pres">
      <dgm:prSet presAssocID="{9C2A2D16-5E20-48D7-8DEE-E9FAFDCA02FC}" presName="compNode" presStyleCnt="0"/>
      <dgm:spPr/>
    </dgm:pt>
    <dgm:pt modelId="{6B364CCF-C000-418F-B83A-1691BD903982}" type="pres">
      <dgm:prSet presAssocID="{9C2A2D16-5E20-48D7-8DEE-E9FAFDCA02FC}" presName="bgRect" presStyleLbl="bgShp" presStyleIdx="0" presStyleCnt="5"/>
      <dgm:spPr/>
    </dgm:pt>
    <dgm:pt modelId="{062F0321-1B6B-454D-9380-4E071DF003D6}" type="pres">
      <dgm:prSet presAssocID="{9C2A2D16-5E20-48D7-8DEE-E9FAFDCA02F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2C7699-FAD1-4A11-B863-05665BC8A9A8}" type="pres">
      <dgm:prSet presAssocID="{9C2A2D16-5E20-48D7-8DEE-E9FAFDCA02FC}" presName="spaceRect" presStyleCnt="0"/>
      <dgm:spPr/>
    </dgm:pt>
    <dgm:pt modelId="{0F26CB39-9569-41FC-9C5E-504C740829B3}" type="pres">
      <dgm:prSet presAssocID="{9C2A2D16-5E20-48D7-8DEE-E9FAFDCA02FC}" presName="parTx" presStyleLbl="revTx" presStyleIdx="0" presStyleCnt="5">
        <dgm:presLayoutVars>
          <dgm:chMax val="0"/>
          <dgm:chPref val="0"/>
        </dgm:presLayoutVars>
      </dgm:prSet>
      <dgm:spPr/>
    </dgm:pt>
    <dgm:pt modelId="{78B90ED1-57F5-4748-B529-F9A23E0F02C2}" type="pres">
      <dgm:prSet presAssocID="{083540C3-71D9-4081-8A81-AB719CBA63C1}" presName="sibTrans" presStyleCnt="0"/>
      <dgm:spPr/>
    </dgm:pt>
    <dgm:pt modelId="{FBD97F42-0439-4334-A063-961F941824AB}" type="pres">
      <dgm:prSet presAssocID="{4D904086-6549-4935-97A7-AEF676AC7BAF}" presName="compNode" presStyleCnt="0"/>
      <dgm:spPr/>
    </dgm:pt>
    <dgm:pt modelId="{AAD62443-80FE-4A10-B136-C58298805D4F}" type="pres">
      <dgm:prSet presAssocID="{4D904086-6549-4935-97A7-AEF676AC7BAF}" presName="bgRect" presStyleLbl="bgShp" presStyleIdx="1" presStyleCnt="5" custLinFactNeighborY="1339"/>
      <dgm:spPr/>
    </dgm:pt>
    <dgm:pt modelId="{7300AEE5-86C8-4EDC-AEA6-ADABB1765C6E}" type="pres">
      <dgm:prSet presAssocID="{4D904086-6549-4935-97A7-AEF676AC7BA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92D8A69-3A47-41BB-A091-7AB50204AFA6}" type="pres">
      <dgm:prSet presAssocID="{4D904086-6549-4935-97A7-AEF676AC7BAF}" presName="spaceRect" presStyleCnt="0"/>
      <dgm:spPr/>
    </dgm:pt>
    <dgm:pt modelId="{82AAC21F-F7E4-46D1-9AB1-1FF0E30B36A2}" type="pres">
      <dgm:prSet presAssocID="{4D904086-6549-4935-97A7-AEF676AC7BAF}" presName="parTx" presStyleLbl="revTx" presStyleIdx="1" presStyleCnt="5">
        <dgm:presLayoutVars>
          <dgm:chMax val="0"/>
          <dgm:chPref val="0"/>
        </dgm:presLayoutVars>
      </dgm:prSet>
      <dgm:spPr/>
    </dgm:pt>
    <dgm:pt modelId="{CF2E7F62-7690-446C-9608-B55C76D72AA5}" type="pres">
      <dgm:prSet presAssocID="{20065732-5F6B-4A37-ADCF-72064FFE3B49}" presName="sibTrans" presStyleCnt="0"/>
      <dgm:spPr/>
    </dgm:pt>
    <dgm:pt modelId="{B20345A6-6907-4C5B-A19D-1BD5CAA3494D}" type="pres">
      <dgm:prSet presAssocID="{FA6A46DF-620D-4E81-A89F-2C30F12C8BDE}" presName="compNode" presStyleCnt="0"/>
      <dgm:spPr/>
    </dgm:pt>
    <dgm:pt modelId="{2B8BF8D4-C63A-4946-B1C4-16E3AFEFA06E}" type="pres">
      <dgm:prSet presAssocID="{FA6A46DF-620D-4E81-A89F-2C30F12C8BDE}" presName="bgRect" presStyleLbl="bgShp" presStyleIdx="2" presStyleCnt="5"/>
      <dgm:spPr/>
    </dgm:pt>
    <dgm:pt modelId="{60B24F83-A320-4862-9365-D3A5978C94DB}" type="pres">
      <dgm:prSet presAssocID="{FA6A46DF-620D-4E81-A89F-2C30F12C8BD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9CB8CAC-A39E-4013-97EE-9B80FAF2B5EC}" type="pres">
      <dgm:prSet presAssocID="{FA6A46DF-620D-4E81-A89F-2C30F12C8BDE}" presName="spaceRect" presStyleCnt="0"/>
      <dgm:spPr/>
    </dgm:pt>
    <dgm:pt modelId="{0605BE68-325F-403B-A8B6-57EF36ADF27E}" type="pres">
      <dgm:prSet presAssocID="{FA6A46DF-620D-4E81-A89F-2C30F12C8BDE}" presName="parTx" presStyleLbl="revTx" presStyleIdx="2" presStyleCnt="5">
        <dgm:presLayoutVars>
          <dgm:chMax val="0"/>
          <dgm:chPref val="0"/>
        </dgm:presLayoutVars>
      </dgm:prSet>
      <dgm:spPr/>
    </dgm:pt>
    <dgm:pt modelId="{CE87656B-E6D7-42B2-B65E-60553463CDFC}" type="pres">
      <dgm:prSet presAssocID="{29743731-3CB3-45E2-96E9-99DB82A7DD24}" presName="sibTrans" presStyleCnt="0"/>
      <dgm:spPr/>
    </dgm:pt>
    <dgm:pt modelId="{2F06AA8E-3414-4E5C-BB91-B6F1F0FE0C50}" type="pres">
      <dgm:prSet presAssocID="{3F7108CD-5C68-4456-913B-0972ACBCC89F}" presName="compNode" presStyleCnt="0"/>
      <dgm:spPr/>
    </dgm:pt>
    <dgm:pt modelId="{EF7A1AAE-5EF5-40FE-8ECD-3BA04645847E}" type="pres">
      <dgm:prSet presAssocID="{3F7108CD-5C68-4456-913B-0972ACBCC89F}" presName="bgRect" presStyleLbl="bgShp" presStyleIdx="3" presStyleCnt="5"/>
      <dgm:spPr/>
    </dgm:pt>
    <dgm:pt modelId="{88F41D21-FFB2-4B1E-8817-8983145D625B}" type="pres">
      <dgm:prSet presAssocID="{3F7108CD-5C68-4456-913B-0972ACBCC89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 racket and ball"/>
        </a:ext>
      </dgm:extLst>
    </dgm:pt>
    <dgm:pt modelId="{318E87BA-76D6-4B75-AA3B-8960D15B1955}" type="pres">
      <dgm:prSet presAssocID="{3F7108CD-5C68-4456-913B-0972ACBCC89F}" presName="spaceRect" presStyleCnt="0"/>
      <dgm:spPr/>
    </dgm:pt>
    <dgm:pt modelId="{C7A7B0E1-F424-48F2-8397-6DA3E8ED758B}" type="pres">
      <dgm:prSet presAssocID="{3F7108CD-5C68-4456-913B-0972ACBCC89F}" presName="parTx" presStyleLbl="revTx" presStyleIdx="3" presStyleCnt="5">
        <dgm:presLayoutVars>
          <dgm:chMax val="0"/>
          <dgm:chPref val="0"/>
        </dgm:presLayoutVars>
      </dgm:prSet>
      <dgm:spPr/>
    </dgm:pt>
    <dgm:pt modelId="{782D0D7F-EF62-4240-AC7A-A9F0F1CFEBDA}" type="pres">
      <dgm:prSet presAssocID="{4FCEF5A6-4046-4BBA-B9D7-54CAD484D4B1}" presName="sibTrans" presStyleCnt="0"/>
      <dgm:spPr/>
    </dgm:pt>
    <dgm:pt modelId="{8B8E56C5-EB63-4694-8B2B-7C362FF06161}" type="pres">
      <dgm:prSet presAssocID="{AB4B6A6C-9B52-41A2-A93D-776A3A111E8C}" presName="compNode" presStyleCnt="0"/>
      <dgm:spPr/>
    </dgm:pt>
    <dgm:pt modelId="{C1D11328-76FB-4711-9410-B1F1FB708E7B}" type="pres">
      <dgm:prSet presAssocID="{AB4B6A6C-9B52-41A2-A93D-776A3A111E8C}" presName="bgRect" presStyleLbl="bgShp" presStyleIdx="4" presStyleCnt="5"/>
      <dgm:spPr/>
    </dgm:pt>
    <dgm:pt modelId="{71DAD58A-4E76-4635-9E37-4DF94386F741}" type="pres">
      <dgm:prSet presAssocID="{AB4B6A6C-9B52-41A2-A93D-776A3A111E8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62E0BA0C-AD92-4D4F-AE9E-8FEAEABC5071}" type="pres">
      <dgm:prSet presAssocID="{AB4B6A6C-9B52-41A2-A93D-776A3A111E8C}" presName="spaceRect" presStyleCnt="0"/>
      <dgm:spPr/>
    </dgm:pt>
    <dgm:pt modelId="{5F9756F7-1250-4310-A92A-01D73C2EF662}" type="pres">
      <dgm:prSet presAssocID="{AB4B6A6C-9B52-41A2-A93D-776A3A111E8C}" presName="parTx" presStyleLbl="revTx" presStyleIdx="4" presStyleCnt="5" custScaleX="116524">
        <dgm:presLayoutVars>
          <dgm:chMax val="0"/>
          <dgm:chPref val="0"/>
        </dgm:presLayoutVars>
      </dgm:prSet>
      <dgm:spPr/>
    </dgm:pt>
  </dgm:ptLst>
  <dgm:cxnLst>
    <dgm:cxn modelId="{7148040E-4150-4D24-8254-1B94B0FF530C}" srcId="{E425AE11-44AF-470E-91BE-AE5A24859DB5}" destId="{3F7108CD-5C68-4456-913B-0972ACBCC89F}" srcOrd="3" destOrd="0" parTransId="{01AE49A9-439C-4E12-8149-386F2EBBA80F}" sibTransId="{4FCEF5A6-4046-4BBA-B9D7-54CAD484D4B1}"/>
    <dgm:cxn modelId="{14D21637-4790-446F-9010-C17A707FC3E3}" type="presOf" srcId="{AB4B6A6C-9B52-41A2-A93D-776A3A111E8C}" destId="{5F9756F7-1250-4310-A92A-01D73C2EF662}" srcOrd="0" destOrd="0" presId="urn:microsoft.com/office/officeart/2018/2/layout/IconVerticalSolidList"/>
    <dgm:cxn modelId="{9B66BE5B-104F-4692-9FA9-28E4353F869C}" type="presOf" srcId="{E425AE11-44AF-470E-91BE-AE5A24859DB5}" destId="{8DBF9730-9F1F-4A8A-98A3-62668CA0DCF4}" srcOrd="0" destOrd="0" presId="urn:microsoft.com/office/officeart/2018/2/layout/IconVerticalSolidList"/>
    <dgm:cxn modelId="{5D3F1997-9E7B-4214-8B19-6FD04DEA55A4}" type="presOf" srcId="{FA6A46DF-620D-4E81-A89F-2C30F12C8BDE}" destId="{0605BE68-325F-403B-A8B6-57EF36ADF27E}" srcOrd="0" destOrd="0" presId="urn:microsoft.com/office/officeart/2018/2/layout/IconVerticalSolidList"/>
    <dgm:cxn modelId="{BD764898-258D-4E57-A6EB-E88A578E6B3D}" type="presOf" srcId="{3F7108CD-5C68-4456-913B-0972ACBCC89F}" destId="{C7A7B0E1-F424-48F2-8397-6DA3E8ED758B}" srcOrd="0" destOrd="0" presId="urn:microsoft.com/office/officeart/2018/2/layout/IconVerticalSolidList"/>
    <dgm:cxn modelId="{D54EAC98-03D9-46D5-B114-5D7F40EF5E1A}" srcId="{E425AE11-44AF-470E-91BE-AE5A24859DB5}" destId="{AB4B6A6C-9B52-41A2-A93D-776A3A111E8C}" srcOrd="4" destOrd="0" parTransId="{652C21C9-337B-4DE3-9030-274EB835A8C6}" sibTransId="{D8143E42-BB96-4504-8466-90A7831BD24A}"/>
    <dgm:cxn modelId="{7B3E06B1-99B9-4021-BAEC-D2CF28337F29}" srcId="{E425AE11-44AF-470E-91BE-AE5A24859DB5}" destId="{4D904086-6549-4935-97A7-AEF676AC7BAF}" srcOrd="1" destOrd="0" parTransId="{140A38A3-2103-4DF8-91FE-3376441B597F}" sibTransId="{20065732-5F6B-4A37-ADCF-72064FFE3B49}"/>
    <dgm:cxn modelId="{177BD9C8-8A9A-4359-8512-F1E4C03E70AD}" type="presOf" srcId="{4D904086-6549-4935-97A7-AEF676AC7BAF}" destId="{82AAC21F-F7E4-46D1-9AB1-1FF0E30B36A2}" srcOrd="0" destOrd="0" presId="urn:microsoft.com/office/officeart/2018/2/layout/IconVerticalSolidList"/>
    <dgm:cxn modelId="{D1BD50CB-7325-4F85-A8FF-176AE004A896}" type="presOf" srcId="{9C2A2D16-5E20-48D7-8DEE-E9FAFDCA02FC}" destId="{0F26CB39-9569-41FC-9C5E-504C740829B3}" srcOrd="0" destOrd="0" presId="urn:microsoft.com/office/officeart/2018/2/layout/IconVerticalSolidList"/>
    <dgm:cxn modelId="{0D303DE5-7D25-4960-BB23-FADE4345BE82}" srcId="{E425AE11-44AF-470E-91BE-AE5A24859DB5}" destId="{FA6A46DF-620D-4E81-A89F-2C30F12C8BDE}" srcOrd="2" destOrd="0" parTransId="{780B0DAC-9045-48A9-A4C8-5B3618AEB3CA}" sibTransId="{29743731-3CB3-45E2-96E9-99DB82A7DD24}"/>
    <dgm:cxn modelId="{53F203F6-A6E8-4188-A28C-748F768A6DA5}" srcId="{E425AE11-44AF-470E-91BE-AE5A24859DB5}" destId="{9C2A2D16-5E20-48D7-8DEE-E9FAFDCA02FC}" srcOrd="0" destOrd="0" parTransId="{D206BAEE-761E-4356-97BA-9BF6FA975EA4}" sibTransId="{083540C3-71D9-4081-8A81-AB719CBA63C1}"/>
    <dgm:cxn modelId="{2E0DE50F-818D-4118-B6FB-375686E90CA5}" type="presParOf" srcId="{8DBF9730-9F1F-4A8A-98A3-62668CA0DCF4}" destId="{DCD308DD-D098-44B0-8CB6-8F9A95C12B35}" srcOrd="0" destOrd="0" presId="urn:microsoft.com/office/officeart/2018/2/layout/IconVerticalSolidList"/>
    <dgm:cxn modelId="{F5484644-C47A-4BB1-923B-1ACDB6529BA7}" type="presParOf" srcId="{DCD308DD-D098-44B0-8CB6-8F9A95C12B35}" destId="{6B364CCF-C000-418F-B83A-1691BD903982}" srcOrd="0" destOrd="0" presId="urn:microsoft.com/office/officeart/2018/2/layout/IconVerticalSolidList"/>
    <dgm:cxn modelId="{B040D030-58C1-4C2C-8BD0-E02FC7B04DDC}" type="presParOf" srcId="{DCD308DD-D098-44B0-8CB6-8F9A95C12B35}" destId="{062F0321-1B6B-454D-9380-4E071DF003D6}" srcOrd="1" destOrd="0" presId="urn:microsoft.com/office/officeart/2018/2/layout/IconVerticalSolidList"/>
    <dgm:cxn modelId="{33643EC1-83E4-4450-B682-750CDC176F23}" type="presParOf" srcId="{DCD308DD-D098-44B0-8CB6-8F9A95C12B35}" destId="{B12C7699-FAD1-4A11-B863-05665BC8A9A8}" srcOrd="2" destOrd="0" presId="urn:microsoft.com/office/officeart/2018/2/layout/IconVerticalSolidList"/>
    <dgm:cxn modelId="{8EB2D0D6-687D-43D1-B935-577C0D347A46}" type="presParOf" srcId="{DCD308DD-D098-44B0-8CB6-8F9A95C12B35}" destId="{0F26CB39-9569-41FC-9C5E-504C740829B3}" srcOrd="3" destOrd="0" presId="urn:microsoft.com/office/officeart/2018/2/layout/IconVerticalSolidList"/>
    <dgm:cxn modelId="{456E7612-685D-4026-84EF-36163096E365}" type="presParOf" srcId="{8DBF9730-9F1F-4A8A-98A3-62668CA0DCF4}" destId="{78B90ED1-57F5-4748-B529-F9A23E0F02C2}" srcOrd="1" destOrd="0" presId="urn:microsoft.com/office/officeart/2018/2/layout/IconVerticalSolidList"/>
    <dgm:cxn modelId="{704E4A34-CCF5-471A-85C3-3E449E4E19A9}" type="presParOf" srcId="{8DBF9730-9F1F-4A8A-98A3-62668CA0DCF4}" destId="{FBD97F42-0439-4334-A063-961F941824AB}" srcOrd="2" destOrd="0" presId="urn:microsoft.com/office/officeart/2018/2/layout/IconVerticalSolidList"/>
    <dgm:cxn modelId="{F48AAD70-790E-4F53-B0A1-A248B11486DC}" type="presParOf" srcId="{FBD97F42-0439-4334-A063-961F941824AB}" destId="{AAD62443-80FE-4A10-B136-C58298805D4F}" srcOrd="0" destOrd="0" presId="urn:microsoft.com/office/officeart/2018/2/layout/IconVerticalSolidList"/>
    <dgm:cxn modelId="{8AA0B97E-4898-4364-AE08-278A42DA1832}" type="presParOf" srcId="{FBD97F42-0439-4334-A063-961F941824AB}" destId="{7300AEE5-86C8-4EDC-AEA6-ADABB1765C6E}" srcOrd="1" destOrd="0" presId="urn:microsoft.com/office/officeart/2018/2/layout/IconVerticalSolidList"/>
    <dgm:cxn modelId="{6016A622-1660-4277-A46F-23696B1B0952}" type="presParOf" srcId="{FBD97F42-0439-4334-A063-961F941824AB}" destId="{D92D8A69-3A47-41BB-A091-7AB50204AFA6}" srcOrd="2" destOrd="0" presId="urn:microsoft.com/office/officeart/2018/2/layout/IconVerticalSolidList"/>
    <dgm:cxn modelId="{4A2A8A81-2C1E-4BA1-862C-25D34B1584A6}" type="presParOf" srcId="{FBD97F42-0439-4334-A063-961F941824AB}" destId="{82AAC21F-F7E4-46D1-9AB1-1FF0E30B36A2}" srcOrd="3" destOrd="0" presId="urn:microsoft.com/office/officeart/2018/2/layout/IconVerticalSolidList"/>
    <dgm:cxn modelId="{79BBFB67-FB41-4385-BC6C-6E6A66C80201}" type="presParOf" srcId="{8DBF9730-9F1F-4A8A-98A3-62668CA0DCF4}" destId="{CF2E7F62-7690-446C-9608-B55C76D72AA5}" srcOrd="3" destOrd="0" presId="urn:microsoft.com/office/officeart/2018/2/layout/IconVerticalSolidList"/>
    <dgm:cxn modelId="{61EF1001-7446-46E8-91C6-4CC076E63551}" type="presParOf" srcId="{8DBF9730-9F1F-4A8A-98A3-62668CA0DCF4}" destId="{B20345A6-6907-4C5B-A19D-1BD5CAA3494D}" srcOrd="4" destOrd="0" presId="urn:microsoft.com/office/officeart/2018/2/layout/IconVerticalSolidList"/>
    <dgm:cxn modelId="{B118379E-7928-49CF-9269-7F43D4A563AC}" type="presParOf" srcId="{B20345A6-6907-4C5B-A19D-1BD5CAA3494D}" destId="{2B8BF8D4-C63A-4946-B1C4-16E3AFEFA06E}" srcOrd="0" destOrd="0" presId="urn:microsoft.com/office/officeart/2018/2/layout/IconVerticalSolidList"/>
    <dgm:cxn modelId="{AEED0956-9146-4624-82DD-CAF98F8DA9AB}" type="presParOf" srcId="{B20345A6-6907-4C5B-A19D-1BD5CAA3494D}" destId="{60B24F83-A320-4862-9365-D3A5978C94DB}" srcOrd="1" destOrd="0" presId="urn:microsoft.com/office/officeart/2018/2/layout/IconVerticalSolidList"/>
    <dgm:cxn modelId="{FD2C62CB-4157-4275-8BA4-08D8C0677ABE}" type="presParOf" srcId="{B20345A6-6907-4C5B-A19D-1BD5CAA3494D}" destId="{39CB8CAC-A39E-4013-97EE-9B80FAF2B5EC}" srcOrd="2" destOrd="0" presId="urn:microsoft.com/office/officeart/2018/2/layout/IconVerticalSolidList"/>
    <dgm:cxn modelId="{1A68292A-1F8E-4993-9E80-D9434E1C0C80}" type="presParOf" srcId="{B20345A6-6907-4C5B-A19D-1BD5CAA3494D}" destId="{0605BE68-325F-403B-A8B6-57EF36ADF27E}" srcOrd="3" destOrd="0" presId="urn:microsoft.com/office/officeart/2018/2/layout/IconVerticalSolidList"/>
    <dgm:cxn modelId="{7FE68A6D-7614-4901-B2D5-5BE700C72A25}" type="presParOf" srcId="{8DBF9730-9F1F-4A8A-98A3-62668CA0DCF4}" destId="{CE87656B-E6D7-42B2-B65E-60553463CDFC}" srcOrd="5" destOrd="0" presId="urn:microsoft.com/office/officeart/2018/2/layout/IconVerticalSolidList"/>
    <dgm:cxn modelId="{4697BF7D-B34A-4FD4-95D7-A9CDA5234A0A}" type="presParOf" srcId="{8DBF9730-9F1F-4A8A-98A3-62668CA0DCF4}" destId="{2F06AA8E-3414-4E5C-BB91-B6F1F0FE0C50}" srcOrd="6" destOrd="0" presId="urn:microsoft.com/office/officeart/2018/2/layout/IconVerticalSolidList"/>
    <dgm:cxn modelId="{55641CED-3C4A-499C-9EA2-60D10C8EBBB8}" type="presParOf" srcId="{2F06AA8E-3414-4E5C-BB91-B6F1F0FE0C50}" destId="{EF7A1AAE-5EF5-40FE-8ECD-3BA04645847E}" srcOrd="0" destOrd="0" presId="urn:microsoft.com/office/officeart/2018/2/layout/IconVerticalSolidList"/>
    <dgm:cxn modelId="{72662710-9110-4B00-BCDD-D12494F35498}" type="presParOf" srcId="{2F06AA8E-3414-4E5C-BB91-B6F1F0FE0C50}" destId="{88F41D21-FFB2-4B1E-8817-8983145D625B}" srcOrd="1" destOrd="0" presId="urn:microsoft.com/office/officeart/2018/2/layout/IconVerticalSolidList"/>
    <dgm:cxn modelId="{9E3564FC-9D36-4122-AB21-78E4227137A4}" type="presParOf" srcId="{2F06AA8E-3414-4E5C-BB91-B6F1F0FE0C50}" destId="{318E87BA-76D6-4B75-AA3B-8960D15B1955}" srcOrd="2" destOrd="0" presId="urn:microsoft.com/office/officeart/2018/2/layout/IconVerticalSolidList"/>
    <dgm:cxn modelId="{45C40B74-09E4-4931-95A7-8AE5DFAEEB47}" type="presParOf" srcId="{2F06AA8E-3414-4E5C-BB91-B6F1F0FE0C50}" destId="{C7A7B0E1-F424-48F2-8397-6DA3E8ED758B}" srcOrd="3" destOrd="0" presId="urn:microsoft.com/office/officeart/2018/2/layout/IconVerticalSolidList"/>
    <dgm:cxn modelId="{4B7BFFB8-B6BF-4F69-B657-20F403791F0A}" type="presParOf" srcId="{8DBF9730-9F1F-4A8A-98A3-62668CA0DCF4}" destId="{782D0D7F-EF62-4240-AC7A-A9F0F1CFEBDA}" srcOrd="7" destOrd="0" presId="urn:microsoft.com/office/officeart/2018/2/layout/IconVerticalSolidList"/>
    <dgm:cxn modelId="{8BF8CA46-5DDC-45E4-BEC5-8BD6D5563F11}" type="presParOf" srcId="{8DBF9730-9F1F-4A8A-98A3-62668CA0DCF4}" destId="{8B8E56C5-EB63-4694-8B2B-7C362FF06161}" srcOrd="8" destOrd="0" presId="urn:microsoft.com/office/officeart/2018/2/layout/IconVerticalSolidList"/>
    <dgm:cxn modelId="{54F84AE6-FB69-4088-80CE-CA528320677B}" type="presParOf" srcId="{8B8E56C5-EB63-4694-8B2B-7C362FF06161}" destId="{C1D11328-76FB-4711-9410-B1F1FB708E7B}" srcOrd="0" destOrd="0" presId="urn:microsoft.com/office/officeart/2018/2/layout/IconVerticalSolidList"/>
    <dgm:cxn modelId="{5DB6BC20-0337-48F4-992D-82B8A1768670}" type="presParOf" srcId="{8B8E56C5-EB63-4694-8B2B-7C362FF06161}" destId="{71DAD58A-4E76-4635-9E37-4DF94386F741}" srcOrd="1" destOrd="0" presId="urn:microsoft.com/office/officeart/2018/2/layout/IconVerticalSolidList"/>
    <dgm:cxn modelId="{3CD423C1-CB72-4F3F-955F-D8CD7E0370DE}" type="presParOf" srcId="{8B8E56C5-EB63-4694-8B2B-7C362FF06161}" destId="{62E0BA0C-AD92-4D4F-AE9E-8FEAEABC5071}" srcOrd="2" destOrd="0" presId="urn:microsoft.com/office/officeart/2018/2/layout/IconVerticalSolidList"/>
    <dgm:cxn modelId="{6A0E01C5-A141-4C99-B5F2-0A57CDEF995F}" type="presParOf" srcId="{8B8E56C5-EB63-4694-8B2B-7C362FF06161}" destId="{5F9756F7-1250-4310-A92A-01D73C2EF6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4FFB9-2670-45F0-AD15-3FF3990B41B4}">
      <dsp:nvSpPr>
        <dsp:cNvPr id="0" name=""/>
        <dsp:cNvSpPr/>
      </dsp:nvSpPr>
      <dsp:spPr>
        <a:xfrm>
          <a:off x="0" y="55596"/>
          <a:ext cx="5878512" cy="17379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9/8 (n</a:t>
          </a:r>
          <a:r>
            <a:rPr lang="en-US" sz="2800" kern="1200" baseline="30000" dirty="0"/>
            <a:t>3</a:t>
          </a:r>
          <a:r>
            <a:rPr lang="en-US" sz="2800" kern="1200" dirty="0"/>
            <a:t>) memory accesses</a:t>
          </a:r>
        </a:p>
      </dsp:txBody>
      <dsp:txXfrm>
        <a:off x="84841" y="140437"/>
        <a:ext cx="5708830" cy="1568293"/>
      </dsp:txXfrm>
    </dsp:sp>
    <dsp:sp modelId="{B1DED829-1732-487A-AD87-02A42D1915FF}">
      <dsp:nvSpPr>
        <dsp:cNvPr id="0" name=""/>
        <dsp:cNvSpPr/>
      </dsp:nvSpPr>
      <dsp:spPr>
        <a:xfrm>
          <a:off x="0" y="1874212"/>
          <a:ext cx="5878512" cy="173797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How: One miss in eight accesses (64B cache block) for the first array (n/8)</a:t>
          </a:r>
        </a:p>
      </dsp:txBody>
      <dsp:txXfrm>
        <a:off x="84841" y="1959053"/>
        <a:ext cx="5708830" cy="1568293"/>
      </dsp:txXfrm>
    </dsp:sp>
    <dsp:sp modelId="{77AD69CD-210A-4543-BF6A-2FCFBEAF29FB}">
      <dsp:nvSpPr>
        <dsp:cNvPr id="0" name=""/>
        <dsp:cNvSpPr/>
      </dsp:nvSpPr>
      <dsp:spPr>
        <a:xfrm>
          <a:off x="0" y="3692827"/>
          <a:ext cx="5878512" cy="173797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Second array: 8/8 misses, total: 9n/8 misses per iteration 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n</a:t>
          </a:r>
          <a:r>
            <a:rPr lang="en-US" sz="2800" kern="1200" baseline="30000" dirty="0"/>
            <a:t>2</a:t>
          </a:r>
          <a:r>
            <a:rPr lang="en-US" sz="2800" kern="1200" dirty="0"/>
            <a:t> iterations = 9/8 (n</a:t>
          </a:r>
          <a:r>
            <a:rPr lang="en-US" sz="2800" kern="1200" baseline="30000" dirty="0"/>
            <a:t>3</a:t>
          </a:r>
          <a:r>
            <a:rPr lang="en-US" sz="2800" kern="1200" dirty="0"/>
            <a:t>)  </a:t>
          </a:r>
          <a:r>
            <a:rPr lang="en-US" sz="2800" kern="1200" dirty="0">
              <a:sym typeface="Wingdings" panose="05000000000000000000" pitchFamily="2" charset="2"/>
            </a:rPr>
            <a:t></a:t>
          </a:r>
          <a:r>
            <a:rPr lang="en-US" sz="2800" kern="1200" dirty="0"/>
            <a:t>  </a:t>
          </a:r>
        </a:p>
      </dsp:txBody>
      <dsp:txXfrm>
        <a:off x="84841" y="3777668"/>
        <a:ext cx="5708830" cy="15682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64CCF-C000-418F-B83A-1691BD903982}">
      <dsp:nvSpPr>
        <dsp:cNvPr id="0" name=""/>
        <dsp:cNvSpPr/>
      </dsp:nvSpPr>
      <dsp:spPr>
        <a:xfrm>
          <a:off x="-198294" y="12302"/>
          <a:ext cx="5878512" cy="9102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F0321-1B6B-454D-9380-4E071DF003D6}">
      <dsp:nvSpPr>
        <dsp:cNvPr id="0" name=""/>
        <dsp:cNvSpPr/>
      </dsp:nvSpPr>
      <dsp:spPr>
        <a:xfrm>
          <a:off x="77070" y="217119"/>
          <a:ext cx="500664" cy="500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6CB39-9569-41FC-9C5E-504C740829B3}">
      <dsp:nvSpPr>
        <dsp:cNvPr id="0" name=""/>
        <dsp:cNvSpPr/>
      </dsp:nvSpPr>
      <dsp:spPr>
        <a:xfrm>
          <a:off x="853100" y="12302"/>
          <a:ext cx="4825059" cy="910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0" tIns="96340" rIns="96340" bIns="963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Number of tiles per row or per column= n/B, For two arrays = 2n/B </a:t>
          </a:r>
        </a:p>
      </dsp:txBody>
      <dsp:txXfrm>
        <a:off x="853100" y="12302"/>
        <a:ext cx="4825059" cy="910299"/>
      </dsp:txXfrm>
    </dsp:sp>
    <dsp:sp modelId="{AAD62443-80FE-4A10-B136-C58298805D4F}">
      <dsp:nvSpPr>
        <dsp:cNvPr id="0" name=""/>
        <dsp:cNvSpPr/>
      </dsp:nvSpPr>
      <dsp:spPr>
        <a:xfrm>
          <a:off x="-198294" y="1162365"/>
          <a:ext cx="5878512" cy="9102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0AEE5-86C8-4EDC-AEA6-ADABB1765C6E}">
      <dsp:nvSpPr>
        <dsp:cNvPr id="0" name=""/>
        <dsp:cNvSpPr/>
      </dsp:nvSpPr>
      <dsp:spPr>
        <a:xfrm>
          <a:off x="77070" y="1354993"/>
          <a:ext cx="500664" cy="500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AC21F-F7E4-46D1-9AB1-1FF0E30B36A2}">
      <dsp:nvSpPr>
        <dsp:cNvPr id="0" name=""/>
        <dsp:cNvSpPr/>
      </dsp:nvSpPr>
      <dsp:spPr>
        <a:xfrm>
          <a:off x="853100" y="1150176"/>
          <a:ext cx="4825059" cy="910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0" tIns="96340" rIns="96340" bIns="963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Tile size = B X B </a:t>
          </a:r>
        </a:p>
      </dsp:txBody>
      <dsp:txXfrm>
        <a:off x="853100" y="1150176"/>
        <a:ext cx="4825059" cy="910299"/>
      </dsp:txXfrm>
    </dsp:sp>
    <dsp:sp modelId="{2B8BF8D4-C63A-4946-B1C4-16E3AFEFA06E}">
      <dsp:nvSpPr>
        <dsp:cNvPr id="0" name=""/>
        <dsp:cNvSpPr/>
      </dsp:nvSpPr>
      <dsp:spPr>
        <a:xfrm>
          <a:off x="-198294" y="2288050"/>
          <a:ext cx="5878512" cy="9102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24F83-A320-4862-9365-D3A5978C94DB}">
      <dsp:nvSpPr>
        <dsp:cNvPr id="0" name=""/>
        <dsp:cNvSpPr/>
      </dsp:nvSpPr>
      <dsp:spPr>
        <a:xfrm>
          <a:off x="77070" y="2492867"/>
          <a:ext cx="500664" cy="500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5BE68-325F-403B-A8B6-57EF36ADF27E}">
      <dsp:nvSpPr>
        <dsp:cNvPr id="0" name=""/>
        <dsp:cNvSpPr/>
      </dsp:nvSpPr>
      <dsp:spPr>
        <a:xfrm>
          <a:off x="853100" y="2288050"/>
          <a:ext cx="4825059" cy="910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0" tIns="96340" rIns="96340" bIns="963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Three tiles are in the C, 3B</a:t>
          </a:r>
          <a:r>
            <a:rPr lang="en-US" sz="1500" kern="1200" baseline="30000" dirty="0"/>
            <a:t>2</a:t>
          </a:r>
          <a:r>
            <a:rPr lang="en-US" sz="1500" kern="1200" dirty="0"/>
            <a:t> are in the cache</a:t>
          </a:r>
        </a:p>
      </dsp:txBody>
      <dsp:txXfrm>
        <a:off x="853100" y="2288050"/>
        <a:ext cx="4825059" cy="910299"/>
      </dsp:txXfrm>
    </dsp:sp>
    <dsp:sp modelId="{EF7A1AAE-5EF5-40FE-8ECD-3BA04645847E}">
      <dsp:nvSpPr>
        <dsp:cNvPr id="0" name=""/>
        <dsp:cNvSpPr/>
      </dsp:nvSpPr>
      <dsp:spPr>
        <a:xfrm>
          <a:off x="-198294" y="3425924"/>
          <a:ext cx="5878512" cy="9102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41D21-FFB2-4B1E-8817-8983145D625B}">
      <dsp:nvSpPr>
        <dsp:cNvPr id="0" name=""/>
        <dsp:cNvSpPr/>
      </dsp:nvSpPr>
      <dsp:spPr>
        <a:xfrm>
          <a:off x="77070" y="3630741"/>
          <a:ext cx="500664" cy="5006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7B0E1-F424-48F2-8397-6DA3E8ED758B}">
      <dsp:nvSpPr>
        <dsp:cNvPr id="0" name=""/>
        <dsp:cNvSpPr/>
      </dsp:nvSpPr>
      <dsp:spPr>
        <a:xfrm>
          <a:off x="853100" y="3425924"/>
          <a:ext cx="4825059" cy="910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0" tIns="96340" rIns="96340" bIns="963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 each tile: B</a:t>
          </a:r>
          <a:r>
            <a:rPr lang="en-US" sz="1500" kern="1200" baseline="30000" dirty="0"/>
            <a:t>2</a:t>
          </a:r>
          <a:r>
            <a:rPr lang="en-US" sz="1500" kern="1200" baseline="0" dirty="0"/>
            <a:t>/8</a:t>
          </a:r>
          <a:r>
            <a:rPr lang="en-US" sz="1500" kern="1200" dirty="0"/>
            <a:t> misses, 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Two arrays = 2n/B X B</a:t>
          </a:r>
          <a:r>
            <a:rPr lang="en-US" sz="1500" kern="1200" baseline="30000" dirty="0"/>
            <a:t>2</a:t>
          </a:r>
          <a:r>
            <a:rPr lang="en-US" sz="1500" kern="1200" baseline="0" dirty="0"/>
            <a:t>/8</a:t>
          </a:r>
          <a:r>
            <a:rPr lang="en-US" sz="1500" kern="1200" dirty="0"/>
            <a:t> = </a:t>
          </a:r>
          <a:r>
            <a:rPr lang="en-US" sz="1500" kern="1200" dirty="0" err="1"/>
            <a:t>nB</a:t>
          </a:r>
          <a:r>
            <a:rPr lang="en-US" sz="1500" kern="1200" dirty="0"/>
            <a:t>/4 for each block/tile iteration </a:t>
          </a:r>
        </a:p>
      </dsp:txBody>
      <dsp:txXfrm>
        <a:off x="853100" y="3425924"/>
        <a:ext cx="4825059" cy="910299"/>
      </dsp:txXfrm>
    </dsp:sp>
    <dsp:sp modelId="{C1D11328-76FB-4711-9410-B1F1FB708E7B}">
      <dsp:nvSpPr>
        <dsp:cNvPr id="0" name=""/>
        <dsp:cNvSpPr/>
      </dsp:nvSpPr>
      <dsp:spPr>
        <a:xfrm>
          <a:off x="-198294" y="4563798"/>
          <a:ext cx="5878512" cy="9102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AD58A-4E76-4635-9E37-4DF94386F741}">
      <dsp:nvSpPr>
        <dsp:cNvPr id="0" name=""/>
        <dsp:cNvSpPr/>
      </dsp:nvSpPr>
      <dsp:spPr>
        <a:xfrm>
          <a:off x="77070" y="4768615"/>
          <a:ext cx="500664" cy="5006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756F7-1250-4310-A92A-01D73C2EF662}">
      <dsp:nvSpPr>
        <dsp:cNvPr id="0" name=""/>
        <dsp:cNvSpPr/>
      </dsp:nvSpPr>
      <dsp:spPr>
        <a:xfrm>
          <a:off x="454454" y="4563798"/>
          <a:ext cx="5622352" cy="910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0" tIns="96340" rIns="96340" bIns="963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Total number of misses for (n/B)</a:t>
          </a:r>
          <a:r>
            <a:rPr lang="en-US" sz="1500" kern="1200" baseline="30000" dirty="0"/>
            <a:t>2 </a:t>
          </a:r>
          <a:r>
            <a:rPr lang="en-US" sz="1500" kern="1200" dirty="0"/>
            <a:t>iterations  = n</a:t>
          </a:r>
          <a:r>
            <a:rPr lang="en-US" sz="1500" kern="1200" baseline="30000" dirty="0"/>
            <a:t>3</a:t>
          </a:r>
          <a:r>
            <a:rPr lang="en-US" sz="1500" kern="1200" dirty="0"/>
            <a:t>/4B  </a:t>
          </a:r>
        </a:p>
      </dsp:txBody>
      <dsp:txXfrm>
        <a:off x="454454" y="4563798"/>
        <a:ext cx="5622352" cy="910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60327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Lecture-2: Microarchitecture Conscious Programming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256D-273E-4564-A60F-941B4CB7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Access Contents of a Cache?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47F3E-A5A2-4CCE-8BA7-8F4E875AA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4DFFCAAB-CFE0-4224-BEB0-BFE1AE50018A}"/>
              </a:ext>
            </a:extLst>
          </p:cNvPr>
          <p:cNvSpPr/>
          <p:nvPr/>
        </p:nvSpPr>
        <p:spPr>
          <a:xfrm>
            <a:off x="4671215" y="2198438"/>
            <a:ext cx="5296250" cy="3197028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68ED60-6DBF-4A7B-907F-4F72C22AFE16}"/>
              </a:ext>
            </a:extLst>
          </p:cNvPr>
          <p:cNvCxnSpPr>
            <a:cxnSpLocks/>
          </p:cNvCxnSpPr>
          <p:nvPr/>
        </p:nvCxnSpPr>
        <p:spPr>
          <a:xfrm>
            <a:off x="6435251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BCD0FD-D6EF-4CF3-A756-D7A4635B0872}"/>
              </a:ext>
            </a:extLst>
          </p:cNvPr>
          <p:cNvCxnSpPr/>
          <p:nvPr/>
        </p:nvCxnSpPr>
        <p:spPr>
          <a:xfrm>
            <a:off x="54610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5D62BF-DD9E-4727-B486-F14F84CC3B3D}"/>
              </a:ext>
            </a:extLst>
          </p:cNvPr>
          <p:cNvCxnSpPr/>
          <p:nvPr/>
        </p:nvCxnSpPr>
        <p:spPr>
          <a:xfrm>
            <a:off x="731934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7738A5-4E9C-432F-A10B-A3817B3ED496}"/>
              </a:ext>
            </a:extLst>
          </p:cNvPr>
          <p:cNvCxnSpPr/>
          <p:nvPr/>
        </p:nvCxnSpPr>
        <p:spPr>
          <a:xfrm>
            <a:off x="8239634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F2E5B7-3B5D-4C8F-BA8E-DAF76CA797EE}"/>
              </a:ext>
            </a:extLst>
          </p:cNvPr>
          <p:cNvCxnSpPr/>
          <p:nvPr/>
        </p:nvCxnSpPr>
        <p:spPr>
          <a:xfrm>
            <a:off x="91186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DE813B-CA24-4ABF-8243-3836FF4706E8}"/>
              </a:ext>
            </a:extLst>
          </p:cNvPr>
          <p:cNvCxnSpPr>
            <a:cxnSpLocks/>
            <a:stCxn id="5" idx="3"/>
            <a:endCxn id="5" idx="1"/>
          </p:cNvCxnSpPr>
          <p:nvPr/>
        </p:nvCxnSpPr>
        <p:spPr>
          <a:xfrm flipH="1">
            <a:off x="4671215" y="3796952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9276B8-C040-4006-A49D-D4C6A5C18C04}"/>
              </a:ext>
            </a:extLst>
          </p:cNvPr>
          <p:cNvCxnSpPr>
            <a:cxnSpLocks/>
          </p:cNvCxnSpPr>
          <p:nvPr/>
        </p:nvCxnSpPr>
        <p:spPr>
          <a:xfrm flipH="1">
            <a:off x="4671215" y="4606104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B66D05-84F0-4F6C-824B-EA0B4AF492C4}"/>
              </a:ext>
            </a:extLst>
          </p:cNvPr>
          <p:cNvCxnSpPr>
            <a:cxnSpLocks/>
          </p:cNvCxnSpPr>
          <p:nvPr/>
        </p:nvCxnSpPr>
        <p:spPr>
          <a:xfrm flipH="1">
            <a:off x="4697315" y="2964215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1">
            <a:extLst>
              <a:ext uri="{FF2B5EF4-FFF2-40B4-BE49-F238E27FC236}">
                <a16:creationId xmlns:a16="http://schemas.microsoft.com/office/drawing/2014/main" id="{1D0BC677-7BBF-4E61-AA23-C893543D0ABD}"/>
              </a:ext>
            </a:extLst>
          </p:cNvPr>
          <p:cNvSpPr/>
          <p:nvPr/>
        </p:nvSpPr>
        <p:spPr>
          <a:xfrm rot="16200000">
            <a:off x="1493704" y="3353405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308448-9E67-440E-9AED-67064C2DCE02}"/>
              </a:ext>
            </a:extLst>
          </p:cNvPr>
          <p:cNvCxnSpPr>
            <a:cxnSpLocks/>
          </p:cNvCxnSpPr>
          <p:nvPr/>
        </p:nvCxnSpPr>
        <p:spPr>
          <a:xfrm flipV="1">
            <a:off x="2484342" y="3696303"/>
            <a:ext cx="2092640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EE3543-6211-44EA-8EF3-1A46C1E4CB38}"/>
              </a:ext>
            </a:extLst>
          </p:cNvPr>
          <p:cNvCxnSpPr/>
          <p:nvPr/>
        </p:nvCxnSpPr>
        <p:spPr>
          <a:xfrm flipV="1">
            <a:off x="9522895" y="1995514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3F795B-63CC-42E6-9BAD-A86AB58EC892}"/>
              </a:ext>
            </a:extLst>
          </p:cNvPr>
          <p:cNvSpPr txBox="1"/>
          <p:nvPr/>
        </p:nvSpPr>
        <p:spPr>
          <a:xfrm>
            <a:off x="10448921" y="1624869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</p:spTree>
    <p:extLst>
      <p:ext uri="{BB962C8B-B14F-4D97-AF65-F5344CB8AC3E}">
        <p14:creationId xmlns:p14="http://schemas.microsoft.com/office/powerpoint/2010/main" val="332788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1F7BD456-C4A1-4BD3-B132-E7852687F480}"/>
              </a:ext>
            </a:extLst>
          </p:cNvPr>
          <p:cNvSpPr/>
          <p:nvPr/>
        </p:nvSpPr>
        <p:spPr>
          <a:xfrm>
            <a:off x="4701456" y="4627856"/>
            <a:ext cx="5296250" cy="789878"/>
          </a:xfrm>
          <a:prstGeom prst="round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46C479AD-35C9-47F0-A66D-B3D9C9DBFF85}"/>
              </a:ext>
            </a:extLst>
          </p:cNvPr>
          <p:cNvSpPr/>
          <p:nvPr/>
        </p:nvSpPr>
        <p:spPr>
          <a:xfrm>
            <a:off x="4671215" y="3809946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3A8DE627-FD9D-4331-B49A-89C24D0A4A57}"/>
              </a:ext>
            </a:extLst>
          </p:cNvPr>
          <p:cNvSpPr/>
          <p:nvPr/>
        </p:nvSpPr>
        <p:spPr>
          <a:xfrm>
            <a:off x="4671215" y="3002473"/>
            <a:ext cx="5296250" cy="789878"/>
          </a:xfrm>
          <a:prstGeom prst="roundRect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83A6C-8637-4C8F-931D-F2364130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From Bytes to Blocks (Lines)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B903-9397-43AA-8D83-109B89AE26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CA5A7503-9A07-480D-8578-98EDD390E2A2}"/>
              </a:ext>
            </a:extLst>
          </p:cNvPr>
          <p:cNvSpPr/>
          <p:nvPr/>
        </p:nvSpPr>
        <p:spPr>
          <a:xfrm>
            <a:off x="4671215" y="2198439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080EE9-810C-42CD-8581-57889387F096}"/>
              </a:ext>
            </a:extLst>
          </p:cNvPr>
          <p:cNvCxnSpPr>
            <a:cxnSpLocks/>
          </p:cNvCxnSpPr>
          <p:nvPr/>
        </p:nvCxnSpPr>
        <p:spPr>
          <a:xfrm>
            <a:off x="6435251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474CD9-5381-446C-8073-2E222A0C206A}"/>
              </a:ext>
            </a:extLst>
          </p:cNvPr>
          <p:cNvCxnSpPr/>
          <p:nvPr/>
        </p:nvCxnSpPr>
        <p:spPr>
          <a:xfrm>
            <a:off x="54610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124BC-D1A7-402F-8E34-6E07ACEDE04F}"/>
              </a:ext>
            </a:extLst>
          </p:cNvPr>
          <p:cNvCxnSpPr/>
          <p:nvPr/>
        </p:nvCxnSpPr>
        <p:spPr>
          <a:xfrm>
            <a:off x="731934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D9DDEC-04B0-4A80-ABAF-59E78C624910}"/>
              </a:ext>
            </a:extLst>
          </p:cNvPr>
          <p:cNvCxnSpPr/>
          <p:nvPr/>
        </p:nvCxnSpPr>
        <p:spPr>
          <a:xfrm>
            <a:off x="8239634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1143A0-EA93-4092-A24F-F9B8AF20C1FD}"/>
              </a:ext>
            </a:extLst>
          </p:cNvPr>
          <p:cNvCxnSpPr/>
          <p:nvPr/>
        </p:nvCxnSpPr>
        <p:spPr>
          <a:xfrm>
            <a:off x="91186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60FBEC-C139-42BB-8D81-48BBD4459F03}"/>
              </a:ext>
            </a:extLst>
          </p:cNvPr>
          <p:cNvCxnSpPr>
            <a:cxnSpLocks/>
          </p:cNvCxnSpPr>
          <p:nvPr/>
        </p:nvCxnSpPr>
        <p:spPr>
          <a:xfrm flipH="1">
            <a:off x="4697315" y="377168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5E2DC6-06A9-437A-87DA-9CED23BE318A}"/>
              </a:ext>
            </a:extLst>
          </p:cNvPr>
          <p:cNvCxnSpPr>
            <a:cxnSpLocks/>
          </p:cNvCxnSpPr>
          <p:nvPr/>
        </p:nvCxnSpPr>
        <p:spPr>
          <a:xfrm flipH="1">
            <a:off x="4671215" y="4606104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9521F-EFAC-4A83-A0AE-C9FF651E93D6}"/>
              </a:ext>
            </a:extLst>
          </p:cNvPr>
          <p:cNvCxnSpPr>
            <a:cxnSpLocks/>
          </p:cNvCxnSpPr>
          <p:nvPr/>
        </p:nvCxnSpPr>
        <p:spPr>
          <a:xfrm flipH="1">
            <a:off x="4697315" y="2964215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4D415EA1-BB49-46DC-A05D-23BB56171A0C}"/>
              </a:ext>
            </a:extLst>
          </p:cNvPr>
          <p:cNvSpPr/>
          <p:nvPr/>
        </p:nvSpPr>
        <p:spPr>
          <a:xfrm rot="16200000">
            <a:off x="1493704" y="3353405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8C27ED-5160-4837-9003-5F3E4697CF4A}"/>
              </a:ext>
            </a:extLst>
          </p:cNvPr>
          <p:cNvCxnSpPr>
            <a:cxnSpLocks/>
          </p:cNvCxnSpPr>
          <p:nvPr/>
        </p:nvCxnSpPr>
        <p:spPr>
          <a:xfrm flipV="1">
            <a:off x="2484342" y="3696303"/>
            <a:ext cx="2092640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41169A-B067-4B8F-8EA4-F39CA403CFE1}"/>
              </a:ext>
            </a:extLst>
          </p:cNvPr>
          <p:cNvCxnSpPr/>
          <p:nvPr/>
        </p:nvCxnSpPr>
        <p:spPr>
          <a:xfrm flipV="1">
            <a:off x="9522895" y="1995514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C887067-7471-4D4F-92D2-E9FCDB3AD9F4}"/>
              </a:ext>
            </a:extLst>
          </p:cNvPr>
          <p:cNvSpPr txBox="1"/>
          <p:nvPr/>
        </p:nvSpPr>
        <p:spPr>
          <a:xfrm>
            <a:off x="10448921" y="1624869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765AEC-EDE8-45C9-A1FD-FBD9F54D2C36}"/>
              </a:ext>
            </a:extLst>
          </p:cNvPr>
          <p:cNvCxnSpPr>
            <a:cxnSpLocks/>
          </p:cNvCxnSpPr>
          <p:nvPr/>
        </p:nvCxnSpPr>
        <p:spPr>
          <a:xfrm>
            <a:off x="9938064" y="2798772"/>
            <a:ext cx="1075151" cy="301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31900C2-4CB6-49DD-A8AE-4C4C63A6F48C}"/>
              </a:ext>
            </a:extLst>
          </p:cNvPr>
          <p:cNvSpPr txBox="1"/>
          <p:nvPr/>
        </p:nvSpPr>
        <p:spPr>
          <a:xfrm>
            <a:off x="10558433" y="312391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line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5AD78321-B7C5-43A2-8B2B-354D375528D5}"/>
              </a:ext>
            </a:extLst>
          </p:cNvPr>
          <p:cNvSpPr/>
          <p:nvPr/>
        </p:nvSpPr>
        <p:spPr>
          <a:xfrm>
            <a:off x="3869785" y="5910803"/>
            <a:ext cx="6006745" cy="50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Typical line size: 64 to 128 Bytes</a:t>
            </a:r>
          </a:p>
        </p:txBody>
      </p:sp>
    </p:spTree>
    <p:extLst>
      <p:ext uri="{BB962C8B-B14F-4D97-AF65-F5344CB8AC3E}">
        <p14:creationId xmlns:p14="http://schemas.microsoft.com/office/powerpoint/2010/main" val="451207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3FED-E92E-417E-84CF-58518876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Bit Deeper: Cache with 1024 lines each of 32B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B83B-62CF-4758-8D84-6DE14E8B5D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61C647C9-4F6A-4B02-B87D-F0D15F059F8E}"/>
              </a:ext>
            </a:extLst>
          </p:cNvPr>
          <p:cNvSpPr/>
          <p:nvPr/>
        </p:nvSpPr>
        <p:spPr>
          <a:xfrm>
            <a:off x="4701456" y="4627856"/>
            <a:ext cx="5296250" cy="789878"/>
          </a:xfrm>
          <a:prstGeom prst="round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69A274-752D-430D-8745-0DD92A6A5B78}"/>
              </a:ext>
            </a:extLst>
          </p:cNvPr>
          <p:cNvSpPr/>
          <p:nvPr/>
        </p:nvSpPr>
        <p:spPr>
          <a:xfrm>
            <a:off x="4671215" y="3809946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5DCA4EB6-DD7F-41DE-8D52-8538DDE6E52A}"/>
              </a:ext>
            </a:extLst>
          </p:cNvPr>
          <p:cNvSpPr/>
          <p:nvPr/>
        </p:nvSpPr>
        <p:spPr>
          <a:xfrm>
            <a:off x="4671215" y="3002473"/>
            <a:ext cx="5296250" cy="789878"/>
          </a:xfrm>
          <a:prstGeom prst="roundRect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B454E45B-93E2-4250-B783-490B20456E0C}"/>
              </a:ext>
            </a:extLst>
          </p:cNvPr>
          <p:cNvSpPr/>
          <p:nvPr/>
        </p:nvSpPr>
        <p:spPr>
          <a:xfrm>
            <a:off x="4671215" y="2198439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1101A2-DF05-4F94-9929-1D26B7A74937}"/>
              </a:ext>
            </a:extLst>
          </p:cNvPr>
          <p:cNvCxnSpPr>
            <a:cxnSpLocks/>
          </p:cNvCxnSpPr>
          <p:nvPr/>
        </p:nvCxnSpPr>
        <p:spPr>
          <a:xfrm>
            <a:off x="6435251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F07F88-FFA8-4E26-B3C2-73E56379C7E6}"/>
              </a:ext>
            </a:extLst>
          </p:cNvPr>
          <p:cNvCxnSpPr/>
          <p:nvPr/>
        </p:nvCxnSpPr>
        <p:spPr>
          <a:xfrm>
            <a:off x="54610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996FA0-D791-44C1-968D-FE81CA2B3FF4}"/>
              </a:ext>
            </a:extLst>
          </p:cNvPr>
          <p:cNvCxnSpPr/>
          <p:nvPr/>
        </p:nvCxnSpPr>
        <p:spPr>
          <a:xfrm>
            <a:off x="731934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876B8C-FB55-4BD3-A648-8D7A91F5FAAB}"/>
              </a:ext>
            </a:extLst>
          </p:cNvPr>
          <p:cNvCxnSpPr/>
          <p:nvPr/>
        </p:nvCxnSpPr>
        <p:spPr>
          <a:xfrm>
            <a:off x="8239634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3ECB41-4320-40C7-95F7-CD62454CA1E6}"/>
              </a:ext>
            </a:extLst>
          </p:cNvPr>
          <p:cNvCxnSpPr/>
          <p:nvPr/>
        </p:nvCxnSpPr>
        <p:spPr>
          <a:xfrm>
            <a:off x="91186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05C060-4C87-4746-B0F2-82AD46B6DE9A}"/>
              </a:ext>
            </a:extLst>
          </p:cNvPr>
          <p:cNvCxnSpPr>
            <a:cxnSpLocks/>
          </p:cNvCxnSpPr>
          <p:nvPr/>
        </p:nvCxnSpPr>
        <p:spPr>
          <a:xfrm flipH="1">
            <a:off x="4697315" y="377168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8B7FE7-AA5C-44F6-87B7-CF9EB586C5CB}"/>
              </a:ext>
            </a:extLst>
          </p:cNvPr>
          <p:cNvCxnSpPr>
            <a:cxnSpLocks/>
          </p:cNvCxnSpPr>
          <p:nvPr/>
        </p:nvCxnSpPr>
        <p:spPr>
          <a:xfrm flipH="1">
            <a:off x="4671215" y="4606104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879CA-26FF-4364-A557-37D2938DB254}"/>
              </a:ext>
            </a:extLst>
          </p:cNvPr>
          <p:cNvCxnSpPr>
            <a:cxnSpLocks/>
          </p:cNvCxnSpPr>
          <p:nvPr/>
        </p:nvCxnSpPr>
        <p:spPr>
          <a:xfrm flipH="1">
            <a:off x="4697315" y="2964215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CDE1FCCF-642C-4F5E-993D-A3C4712DC7E5}"/>
              </a:ext>
            </a:extLst>
          </p:cNvPr>
          <p:cNvSpPr/>
          <p:nvPr/>
        </p:nvSpPr>
        <p:spPr>
          <a:xfrm rot="16200000">
            <a:off x="-230420" y="3176586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3626C7-0506-41E7-A63A-10C3BB2F7E10}"/>
              </a:ext>
            </a:extLst>
          </p:cNvPr>
          <p:cNvCxnSpPr>
            <a:cxnSpLocks/>
          </p:cNvCxnSpPr>
          <p:nvPr/>
        </p:nvCxnSpPr>
        <p:spPr>
          <a:xfrm flipV="1">
            <a:off x="758500" y="3519486"/>
            <a:ext cx="2092640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E5DC0B-E1D7-4E32-8906-40813EBF2FD5}"/>
              </a:ext>
            </a:extLst>
          </p:cNvPr>
          <p:cNvCxnSpPr/>
          <p:nvPr/>
        </p:nvCxnSpPr>
        <p:spPr>
          <a:xfrm flipV="1">
            <a:off x="9522895" y="1995514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82E601-05FF-45F5-8235-1B7173C96EF7}"/>
              </a:ext>
            </a:extLst>
          </p:cNvPr>
          <p:cNvSpPr txBox="1"/>
          <p:nvPr/>
        </p:nvSpPr>
        <p:spPr>
          <a:xfrm>
            <a:off x="10448921" y="1624869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D18C64-C4A4-4C75-9D04-34AFF1A628CE}"/>
              </a:ext>
            </a:extLst>
          </p:cNvPr>
          <p:cNvCxnSpPr>
            <a:cxnSpLocks/>
          </p:cNvCxnSpPr>
          <p:nvPr/>
        </p:nvCxnSpPr>
        <p:spPr>
          <a:xfrm>
            <a:off x="9938064" y="2798772"/>
            <a:ext cx="1075151" cy="301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60B285-56C3-4C53-9D00-975DC3716B8A}"/>
              </a:ext>
            </a:extLst>
          </p:cNvPr>
          <p:cNvSpPr txBox="1"/>
          <p:nvPr/>
        </p:nvSpPr>
        <p:spPr>
          <a:xfrm>
            <a:off x="3381514" y="2411801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641317-C034-4971-B96C-68AE1F734AC3}"/>
              </a:ext>
            </a:extLst>
          </p:cNvPr>
          <p:cNvSpPr txBox="1"/>
          <p:nvPr/>
        </p:nvSpPr>
        <p:spPr>
          <a:xfrm>
            <a:off x="669901" y="2996266"/>
            <a:ext cx="2518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Address (32-bit)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D992CC-29BF-4994-A77B-FA4C4BF6B458}"/>
              </a:ext>
            </a:extLst>
          </p:cNvPr>
          <p:cNvCxnSpPr>
            <a:cxnSpLocks/>
          </p:cNvCxnSpPr>
          <p:nvPr/>
        </p:nvCxnSpPr>
        <p:spPr>
          <a:xfrm flipV="1">
            <a:off x="1353416" y="2253069"/>
            <a:ext cx="13429" cy="7352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3758CE-C6C7-4522-938A-0887AA1984F0}"/>
              </a:ext>
            </a:extLst>
          </p:cNvPr>
          <p:cNvSpPr txBox="1"/>
          <p:nvPr/>
        </p:nvSpPr>
        <p:spPr>
          <a:xfrm>
            <a:off x="549153" y="1682039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4 GB DRAM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68E13-C37A-416A-8B3A-4B98596395C9}"/>
              </a:ext>
            </a:extLst>
          </p:cNvPr>
          <p:cNvSpPr txBox="1"/>
          <p:nvPr/>
        </p:nvSpPr>
        <p:spPr>
          <a:xfrm>
            <a:off x="3381607" y="4822786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1023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EB09D7-17DD-4F88-B030-3B732D8825F3}"/>
              </a:ext>
            </a:extLst>
          </p:cNvPr>
          <p:cNvSpPr txBox="1"/>
          <p:nvPr/>
        </p:nvSpPr>
        <p:spPr>
          <a:xfrm>
            <a:off x="10558433" y="312391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line</a:t>
            </a:r>
          </a:p>
        </p:txBody>
      </p:sp>
    </p:spTree>
    <p:extLst>
      <p:ext uri="{BB962C8B-B14F-4D97-AF65-F5344CB8AC3E}">
        <p14:creationId xmlns:p14="http://schemas.microsoft.com/office/powerpoint/2010/main" val="69711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3FED-E92E-417E-84CF-58518876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Bit Deeper: Cache with 1024 lines each of 32B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B83B-62CF-4758-8D84-6DE14E8B5D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61C647C9-4F6A-4B02-B87D-F0D15F059F8E}"/>
              </a:ext>
            </a:extLst>
          </p:cNvPr>
          <p:cNvSpPr/>
          <p:nvPr/>
        </p:nvSpPr>
        <p:spPr>
          <a:xfrm>
            <a:off x="4701456" y="4627856"/>
            <a:ext cx="5296250" cy="789878"/>
          </a:xfrm>
          <a:prstGeom prst="round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69A274-752D-430D-8745-0DD92A6A5B78}"/>
              </a:ext>
            </a:extLst>
          </p:cNvPr>
          <p:cNvSpPr/>
          <p:nvPr/>
        </p:nvSpPr>
        <p:spPr>
          <a:xfrm>
            <a:off x="4671215" y="3809946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5DCA4EB6-DD7F-41DE-8D52-8538DDE6E52A}"/>
              </a:ext>
            </a:extLst>
          </p:cNvPr>
          <p:cNvSpPr/>
          <p:nvPr/>
        </p:nvSpPr>
        <p:spPr>
          <a:xfrm>
            <a:off x="4671215" y="3002473"/>
            <a:ext cx="5296250" cy="789878"/>
          </a:xfrm>
          <a:prstGeom prst="roundRect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B454E45B-93E2-4250-B783-490B20456E0C}"/>
              </a:ext>
            </a:extLst>
          </p:cNvPr>
          <p:cNvSpPr/>
          <p:nvPr/>
        </p:nvSpPr>
        <p:spPr>
          <a:xfrm>
            <a:off x="4671215" y="2198439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1101A2-DF05-4F94-9929-1D26B7A74937}"/>
              </a:ext>
            </a:extLst>
          </p:cNvPr>
          <p:cNvCxnSpPr>
            <a:cxnSpLocks/>
          </p:cNvCxnSpPr>
          <p:nvPr/>
        </p:nvCxnSpPr>
        <p:spPr>
          <a:xfrm>
            <a:off x="6435251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F07F88-FFA8-4E26-B3C2-73E56379C7E6}"/>
              </a:ext>
            </a:extLst>
          </p:cNvPr>
          <p:cNvCxnSpPr/>
          <p:nvPr/>
        </p:nvCxnSpPr>
        <p:spPr>
          <a:xfrm>
            <a:off x="54610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996FA0-D791-44C1-968D-FE81CA2B3FF4}"/>
              </a:ext>
            </a:extLst>
          </p:cNvPr>
          <p:cNvCxnSpPr/>
          <p:nvPr/>
        </p:nvCxnSpPr>
        <p:spPr>
          <a:xfrm>
            <a:off x="731934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876B8C-FB55-4BD3-A648-8D7A91F5FAAB}"/>
              </a:ext>
            </a:extLst>
          </p:cNvPr>
          <p:cNvCxnSpPr/>
          <p:nvPr/>
        </p:nvCxnSpPr>
        <p:spPr>
          <a:xfrm>
            <a:off x="8239634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3ECB41-4320-40C7-95F7-CD62454CA1E6}"/>
              </a:ext>
            </a:extLst>
          </p:cNvPr>
          <p:cNvCxnSpPr/>
          <p:nvPr/>
        </p:nvCxnSpPr>
        <p:spPr>
          <a:xfrm>
            <a:off x="9118670" y="219843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05C060-4C87-4746-B0F2-82AD46B6DE9A}"/>
              </a:ext>
            </a:extLst>
          </p:cNvPr>
          <p:cNvCxnSpPr>
            <a:cxnSpLocks/>
          </p:cNvCxnSpPr>
          <p:nvPr/>
        </p:nvCxnSpPr>
        <p:spPr>
          <a:xfrm flipH="1">
            <a:off x="4697315" y="377168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8B7FE7-AA5C-44F6-87B7-CF9EB586C5CB}"/>
              </a:ext>
            </a:extLst>
          </p:cNvPr>
          <p:cNvCxnSpPr>
            <a:cxnSpLocks/>
          </p:cNvCxnSpPr>
          <p:nvPr/>
        </p:nvCxnSpPr>
        <p:spPr>
          <a:xfrm flipH="1">
            <a:off x="4671215" y="4606104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879CA-26FF-4364-A557-37D2938DB254}"/>
              </a:ext>
            </a:extLst>
          </p:cNvPr>
          <p:cNvCxnSpPr>
            <a:cxnSpLocks/>
          </p:cNvCxnSpPr>
          <p:nvPr/>
        </p:nvCxnSpPr>
        <p:spPr>
          <a:xfrm flipH="1">
            <a:off x="4697315" y="2964215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CDE1FCCF-642C-4F5E-993D-A3C4712DC7E5}"/>
              </a:ext>
            </a:extLst>
          </p:cNvPr>
          <p:cNvSpPr/>
          <p:nvPr/>
        </p:nvSpPr>
        <p:spPr>
          <a:xfrm rot="16200000">
            <a:off x="-230420" y="3176586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3626C7-0506-41E7-A63A-10C3BB2F7E10}"/>
              </a:ext>
            </a:extLst>
          </p:cNvPr>
          <p:cNvCxnSpPr>
            <a:cxnSpLocks/>
          </p:cNvCxnSpPr>
          <p:nvPr/>
        </p:nvCxnSpPr>
        <p:spPr>
          <a:xfrm flipV="1">
            <a:off x="758500" y="3519486"/>
            <a:ext cx="2092640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E5DC0B-E1D7-4E32-8906-40813EBF2FD5}"/>
              </a:ext>
            </a:extLst>
          </p:cNvPr>
          <p:cNvCxnSpPr/>
          <p:nvPr/>
        </p:nvCxnSpPr>
        <p:spPr>
          <a:xfrm flipV="1">
            <a:off x="9522895" y="1995514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82E601-05FF-45F5-8235-1B7173C96EF7}"/>
              </a:ext>
            </a:extLst>
          </p:cNvPr>
          <p:cNvSpPr txBox="1"/>
          <p:nvPr/>
        </p:nvSpPr>
        <p:spPr>
          <a:xfrm>
            <a:off x="10448921" y="1624869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D18C64-C4A4-4C75-9D04-34AFF1A628CE}"/>
              </a:ext>
            </a:extLst>
          </p:cNvPr>
          <p:cNvCxnSpPr>
            <a:cxnSpLocks/>
          </p:cNvCxnSpPr>
          <p:nvPr/>
        </p:nvCxnSpPr>
        <p:spPr>
          <a:xfrm>
            <a:off x="9938064" y="2798772"/>
            <a:ext cx="1075151" cy="301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60B285-56C3-4C53-9D00-975DC3716B8A}"/>
              </a:ext>
            </a:extLst>
          </p:cNvPr>
          <p:cNvSpPr txBox="1"/>
          <p:nvPr/>
        </p:nvSpPr>
        <p:spPr>
          <a:xfrm>
            <a:off x="3381514" y="2411801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641317-C034-4971-B96C-68AE1F734AC3}"/>
              </a:ext>
            </a:extLst>
          </p:cNvPr>
          <p:cNvSpPr txBox="1"/>
          <p:nvPr/>
        </p:nvSpPr>
        <p:spPr>
          <a:xfrm>
            <a:off x="669901" y="2996266"/>
            <a:ext cx="2518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Address (32-bit)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D992CC-29BF-4994-A77B-FA4C4BF6B458}"/>
              </a:ext>
            </a:extLst>
          </p:cNvPr>
          <p:cNvCxnSpPr>
            <a:cxnSpLocks/>
          </p:cNvCxnSpPr>
          <p:nvPr/>
        </p:nvCxnSpPr>
        <p:spPr>
          <a:xfrm flipV="1">
            <a:off x="1353416" y="2253069"/>
            <a:ext cx="13429" cy="7352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3758CE-C6C7-4522-938A-0887AA1984F0}"/>
              </a:ext>
            </a:extLst>
          </p:cNvPr>
          <p:cNvSpPr txBox="1"/>
          <p:nvPr/>
        </p:nvSpPr>
        <p:spPr>
          <a:xfrm>
            <a:off x="549153" y="1682039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4 GB DRAM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14604-1B5D-4F6A-A573-9F6247231168}"/>
              </a:ext>
            </a:extLst>
          </p:cNvPr>
          <p:cNvSpPr txBox="1"/>
          <p:nvPr/>
        </p:nvSpPr>
        <p:spPr>
          <a:xfrm>
            <a:off x="0" y="5492954"/>
            <a:ext cx="4268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Line number (index): 10 bits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18271D-9E23-4795-9EC7-CBA283E0D0E4}"/>
              </a:ext>
            </a:extLst>
          </p:cNvPr>
          <p:cNvSpPr txBox="1"/>
          <p:nvPr/>
        </p:nvSpPr>
        <p:spPr>
          <a:xfrm>
            <a:off x="-587" y="6013561"/>
            <a:ext cx="4108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Byte offset    (offset): 5 bits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68E13-C37A-416A-8B3A-4B98596395C9}"/>
              </a:ext>
            </a:extLst>
          </p:cNvPr>
          <p:cNvSpPr txBox="1"/>
          <p:nvPr/>
        </p:nvSpPr>
        <p:spPr>
          <a:xfrm>
            <a:off x="3381607" y="4822786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1023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0B4D98-467A-495D-9372-5495313852C9}"/>
              </a:ext>
            </a:extLst>
          </p:cNvPr>
          <p:cNvSpPr txBox="1"/>
          <p:nvPr/>
        </p:nvSpPr>
        <p:spPr>
          <a:xfrm>
            <a:off x="10558433" y="312391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line</a:t>
            </a:r>
          </a:p>
        </p:txBody>
      </p:sp>
    </p:spTree>
    <p:extLst>
      <p:ext uri="{BB962C8B-B14F-4D97-AF65-F5344CB8AC3E}">
        <p14:creationId xmlns:p14="http://schemas.microsoft.com/office/powerpoint/2010/main" val="346510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EA5A-2910-4417-85FC-6C169C6D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Directed Mapped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F78E7-A2C4-4E10-A71C-18E90D24B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D37183BC-894D-4024-AE7A-080E3320CE89}"/>
              </a:ext>
            </a:extLst>
          </p:cNvPr>
          <p:cNvSpPr/>
          <p:nvPr/>
        </p:nvSpPr>
        <p:spPr>
          <a:xfrm>
            <a:off x="644824" y="2562119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655CF9-426D-41AB-B66E-E754E1309777}"/>
              </a:ext>
            </a:extLst>
          </p:cNvPr>
          <p:cNvCxnSpPr>
            <a:cxnSpLocks/>
          </p:cNvCxnSpPr>
          <p:nvPr/>
        </p:nvCxnSpPr>
        <p:spPr>
          <a:xfrm>
            <a:off x="3186859" y="2562119"/>
            <a:ext cx="0" cy="789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9AF5C3-58E7-41B3-A848-4E23844CB145}"/>
              </a:ext>
            </a:extLst>
          </p:cNvPr>
          <p:cNvSpPr txBox="1"/>
          <p:nvPr/>
        </p:nvSpPr>
        <p:spPr>
          <a:xfrm>
            <a:off x="752737" y="2695448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B357B-F03C-4CC2-818F-D646000BB7F0}"/>
              </a:ext>
            </a:extLst>
          </p:cNvPr>
          <p:cNvSpPr txBox="1"/>
          <p:nvPr/>
        </p:nvSpPr>
        <p:spPr>
          <a:xfrm>
            <a:off x="3377290" y="2682811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Index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4AD331-DD83-4973-80F5-46AD4A1006CD}"/>
              </a:ext>
            </a:extLst>
          </p:cNvPr>
          <p:cNvCxnSpPr>
            <a:cxnSpLocks/>
          </p:cNvCxnSpPr>
          <p:nvPr/>
        </p:nvCxnSpPr>
        <p:spPr>
          <a:xfrm>
            <a:off x="4460789" y="2549482"/>
            <a:ext cx="0" cy="789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39CE0B-711C-46D4-A8A2-8EF081FEA9D0}"/>
              </a:ext>
            </a:extLst>
          </p:cNvPr>
          <p:cNvSpPr txBox="1"/>
          <p:nvPr/>
        </p:nvSpPr>
        <p:spPr>
          <a:xfrm>
            <a:off x="4749489" y="2682811"/>
            <a:ext cx="1068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Offset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70CD455C-9C48-4686-A621-BD5EC8884574}"/>
              </a:ext>
            </a:extLst>
          </p:cNvPr>
          <p:cNvSpPr/>
          <p:nvPr/>
        </p:nvSpPr>
        <p:spPr>
          <a:xfrm>
            <a:off x="5690090" y="5902106"/>
            <a:ext cx="5296250" cy="789878"/>
          </a:xfrm>
          <a:prstGeom prst="round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B4E1E810-3F30-4428-BD1A-12EF546297AC}"/>
              </a:ext>
            </a:extLst>
          </p:cNvPr>
          <p:cNvSpPr/>
          <p:nvPr/>
        </p:nvSpPr>
        <p:spPr>
          <a:xfrm>
            <a:off x="5659849" y="5084196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BFABC330-3C0F-4C33-9185-68C77B7913C1}"/>
              </a:ext>
            </a:extLst>
          </p:cNvPr>
          <p:cNvSpPr/>
          <p:nvPr/>
        </p:nvSpPr>
        <p:spPr>
          <a:xfrm>
            <a:off x="5659849" y="4276723"/>
            <a:ext cx="5296250" cy="789878"/>
          </a:xfrm>
          <a:prstGeom prst="roundRect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53BBC0B-5679-4387-BFFC-4EEB3AB852E9}"/>
              </a:ext>
            </a:extLst>
          </p:cNvPr>
          <p:cNvSpPr/>
          <p:nvPr/>
        </p:nvSpPr>
        <p:spPr>
          <a:xfrm>
            <a:off x="5659849" y="3472689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BB0A2E-32A8-48EE-A637-CD01FAB3C6C7}"/>
              </a:ext>
            </a:extLst>
          </p:cNvPr>
          <p:cNvCxnSpPr>
            <a:cxnSpLocks/>
          </p:cNvCxnSpPr>
          <p:nvPr/>
        </p:nvCxnSpPr>
        <p:spPr>
          <a:xfrm>
            <a:off x="7423885" y="347268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4EC2D6-2E5D-4F21-8A3B-5868DD675762}"/>
              </a:ext>
            </a:extLst>
          </p:cNvPr>
          <p:cNvCxnSpPr/>
          <p:nvPr/>
        </p:nvCxnSpPr>
        <p:spPr>
          <a:xfrm>
            <a:off x="6449704" y="347268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A318D4-BF19-4034-9746-A24E3B6895EE}"/>
              </a:ext>
            </a:extLst>
          </p:cNvPr>
          <p:cNvCxnSpPr/>
          <p:nvPr/>
        </p:nvCxnSpPr>
        <p:spPr>
          <a:xfrm>
            <a:off x="8307974" y="347268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C8577C-0580-4A84-829F-49CD30EFB936}"/>
              </a:ext>
            </a:extLst>
          </p:cNvPr>
          <p:cNvCxnSpPr/>
          <p:nvPr/>
        </p:nvCxnSpPr>
        <p:spPr>
          <a:xfrm>
            <a:off x="9228268" y="347268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E3640B-3F48-4656-9AFF-DEB109CA161A}"/>
              </a:ext>
            </a:extLst>
          </p:cNvPr>
          <p:cNvCxnSpPr/>
          <p:nvPr/>
        </p:nvCxnSpPr>
        <p:spPr>
          <a:xfrm>
            <a:off x="10107304" y="3472688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348257-B97F-493A-B384-A6C5B50B3135}"/>
              </a:ext>
            </a:extLst>
          </p:cNvPr>
          <p:cNvCxnSpPr>
            <a:cxnSpLocks/>
          </p:cNvCxnSpPr>
          <p:nvPr/>
        </p:nvCxnSpPr>
        <p:spPr>
          <a:xfrm flipH="1">
            <a:off x="5685949" y="504593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C23794-AFED-42AF-84AE-9A286B89A654}"/>
              </a:ext>
            </a:extLst>
          </p:cNvPr>
          <p:cNvCxnSpPr>
            <a:cxnSpLocks/>
          </p:cNvCxnSpPr>
          <p:nvPr/>
        </p:nvCxnSpPr>
        <p:spPr>
          <a:xfrm flipH="1">
            <a:off x="5659849" y="5880354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79FADE-A977-4DCB-B1D2-995299B2CA14}"/>
              </a:ext>
            </a:extLst>
          </p:cNvPr>
          <p:cNvCxnSpPr>
            <a:cxnSpLocks/>
          </p:cNvCxnSpPr>
          <p:nvPr/>
        </p:nvCxnSpPr>
        <p:spPr>
          <a:xfrm flipH="1">
            <a:off x="5685949" y="4238465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E99491-BF38-4F66-9494-9112B7221E96}"/>
              </a:ext>
            </a:extLst>
          </p:cNvPr>
          <p:cNvSpPr txBox="1"/>
          <p:nvPr/>
        </p:nvSpPr>
        <p:spPr>
          <a:xfrm>
            <a:off x="4370148" y="3686051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617A81-FFBE-4C83-82ED-9127CAF40DB3}"/>
              </a:ext>
            </a:extLst>
          </p:cNvPr>
          <p:cNvSpPr txBox="1"/>
          <p:nvPr/>
        </p:nvSpPr>
        <p:spPr>
          <a:xfrm>
            <a:off x="4370241" y="6097036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1023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4101A-CCE3-491E-B55C-925CF5FC5B0E}"/>
              </a:ext>
            </a:extLst>
          </p:cNvPr>
          <p:cNvSpPr txBox="1"/>
          <p:nvPr/>
        </p:nvSpPr>
        <p:spPr>
          <a:xfrm>
            <a:off x="4460789" y="5155351"/>
            <a:ext cx="1236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Line 512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EF49F-8866-40FD-AB59-DBDEBDA38F63}"/>
              </a:ext>
            </a:extLst>
          </p:cNvPr>
          <p:cNvSpPr txBox="1"/>
          <p:nvPr/>
        </p:nvSpPr>
        <p:spPr>
          <a:xfrm>
            <a:off x="4937411" y="5350281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</a:t>
            </a:r>
          </a:p>
          <a:p>
            <a:r>
              <a:rPr lang="en-IN" dirty="0"/>
              <a:t>.</a:t>
            </a:r>
          </a:p>
          <a:p>
            <a:r>
              <a:rPr lang="en-IN" dirty="0"/>
              <a:t>.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BA66C26-DFB9-4209-8A3A-FFA88FE0D79C}"/>
              </a:ext>
            </a:extLst>
          </p:cNvPr>
          <p:cNvCxnSpPr>
            <a:endCxn id="27" idx="1"/>
          </p:cNvCxnSpPr>
          <p:nvPr/>
        </p:nvCxnSpPr>
        <p:spPr>
          <a:xfrm rot="16200000" flipH="1">
            <a:off x="3147126" y="4072520"/>
            <a:ext cx="2034187" cy="5931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43CDC4D-6961-44C9-9C91-7CB1D6678DCE}"/>
              </a:ext>
            </a:extLst>
          </p:cNvPr>
          <p:cNvCxnSpPr>
            <a:cxnSpLocks/>
          </p:cNvCxnSpPr>
          <p:nvPr/>
        </p:nvCxnSpPr>
        <p:spPr>
          <a:xfrm>
            <a:off x="5785930" y="3212311"/>
            <a:ext cx="3922403" cy="22668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8E6B11-CA74-4BA4-9E6A-989444514182}"/>
              </a:ext>
            </a:extLst>
          </p:cNvPr>
          <p:cNvSpPr txBox="1"/>
          <p:nvPr/>
        </p:nvSpPr>
        <p:spPr>
          <a:xfrm>
            <a:off x="9192063" y="5061928"/>
            <a:ext cx="823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byte </a:t>
            </a:r>
          </a:p>
        </p:txBody>
      </p:sp>
    </p:spTree>
    <p:extLst>
      <p:ext uri="{BB962C8B-B14F-4D97-AF65-F5344CB8AC3E}">
        <p14:creationId xmlns:p14="http://schemas.microsoft.com/office/powerpoint/2010/main" val="1447711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D265-E5CE-47A2-A430-8D6992B9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 Mapped in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48439-7713-4BD6-B8BC-9DBB3E105F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sp>
        <p:nvSpPr>
          <p:cNvPr id="5" name="Rectangle 74">
            <a:extLst>
              <a:ext uri="{FF2B5EF4-FFF2-40B4-BE49-F238E27FC236}">
                <a16:creationId xmlns:a16="http://schemas.microsoft.com/office/drawing/2014/main" id="{71097129-7B2E-46F3-B38A-045B27187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4145713"/>
            <a:ext cx="4564061" cy="411265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  <p:grpSp>
        <p:nvGrpSpPr>
          <p:cNvPr id="6" name="Group 91">
            <a:extLst>
              <a:ext uri="{FF2B5EF4-FFF2-40B4-BE49-F238E27FC236}">
                <a16:creationId xmlns:a16="http://schemas.microsoft.com/office/drawing/2014/main" id="{2E3FA267-8F10-484D-90B7-86A8E0B18C80}"/>
              </a:ext>
            </a:extLst>
          </p:cNvPr>
          <p:cNvGrpSpPr>
            <a:grpSpLocks/>
          </p:cNvGrpSpPr>
          <p:nvPr/>
        </p:nvGrpSpPr>
        <p:grpSpPr bwMode="auto">
          <a:xfrm>
            <a:off x="318272" y="3310332"/>
            <a:ext cx="5935957" cy="3281548"/>
            <a:chOff x="515" y="2334"/>
            <a:chExt cx="2661" cy="1532"/>
          </a:xfrm>
        </p:grpSpPr>
        <p:sp>
          <p:nvSpPr>
            <p:cNvPr id="7" name="Rectangle 24">
              <a:extLst>
                <a:ext uri="{FF2B5EF4-FFF2-40B4-BE49-F238E27FC236}">
                  <a16:creationId xmlns:a16="http://schemas.microsoft.com/office/drawing/2014/main" id="{D562D6B6-576E-4CE9-8C16-B1961896F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" y="2538"/>
              <a:ext cx="2048" cy="13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8" name="Line 25">
              <a:extLst>
                <a:ext uri="{FF2B5EF4-FFF2-40B4-BE49-F238E27FC236}">
                  <a16:creationId xmlns:a16="http://schemas.microsoft.com/office/drawing/2014/main" id="{4AAA2A36-070B-4DA5-9056-C7C9DBACC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722"/>
              <a:ext cx="2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9" name="Line 26">
              <a:extLst>
                <a:ext uri="{FF2B5EF4-FFF2-40B4-BE49-F238E27FC236}">
                  <a16:creationId xmlns:a16="http://schemas.microsoft.com/office/drawing/2014/main" id="{5B9F3D01-888D-4BCF-9D86-0EF1A5BCA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914"/>
              <a:ext cx="2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599202B6-5151-46DE-8752-EF9400BA9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3106"/>
              <a:ext cx="2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1" name="Line 28">
              <a:extLst>
                <a:ext uri="{FF2B5EF4-FFF2-40B4-BE49-F238E27FC236}">
                  <a16:creationId xmlns:a16="http://schemas.microsoft.com/office/drawing/2014/main" id="{7D8B249D-A0A3-4E78-BBD0-4AFDB9D36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3298"/>
              <a:ext cx="2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A45529F1-18AA-49FF-AD68-0383A2054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3682"/>
              <a:ext cx="2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31BC64C3-5738-4ADB-8A16-7101E5F44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" y="3333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14" name="Rectangle 35">
              <a:extLst>
                <a:ext uri="{FF2B5EF4-FFF2-40B4-BE49-F238E27FC236}">
                  <a16:creationId xmlns:a16="http://schemas.microsoft.com/office/drawing/2014/main" id="{42883FB4-3C34-4055-9CC8-54A2B38E4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271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0x50</a:t>
              </a:r>
            </a:p>
          </p:txBody>
        </p:sp>
        <p:sp>
          <p:nvSpPr>
            <p:cNvPr id="15" name="Rectangle 38">
              <a:extLst>
                <a:ext uri="{FF2B5EF4-FFF2-40B4-BE49-F238E27FC236}">
                  <a16:creationId xmlns:a16="http://schemas.microsoft.com/office/drawing/2014/main" id="{30BF0E70-F71D-49C9-B3DC-830A20D4E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538"/>
              <a:ext cx="176" cy="13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A1E81D11-953A-433B-9CF8-4BD4ECAA1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" y="2334"/>
              <a:ext cx="5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Valid Bit</a:t>
              </a:r>
            </a:p>
          </p:txBody>
        </p:sp>
        <p:sp>
          <p:nvSpPr>
            <p:cNvPr id="17" name="Line 40">
              <a:extLst>
                <a:ext uri="{FF2B5EF4-FFF2-40B4-BE49-F238E27FC236}">
                  <a16:creationId xmlns:a16="http://schemas.microsoft.com/office/drawing/2014/main" id="{4CB66235-4314-44D0-8022-9EE29F741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" y="2722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8" name="Line 41">
              <a:extLst>
                <a:ext uri="{FF2B5EF4-FFF2-40B4-BE49-F238E27FC236}">
                  <a16:creationId xmlns:a16="http://schemas.microsoft.com/office/drawing/2014/main" id="{E979014F-FFEA-4F05-83EA-9D392C072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" y="2914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23766CAA-9F96-4383-839A-615AFEA88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" y="3106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ADE2F16A-B783-470F-B1FB-351234471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" y="3298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21" name="Line 44">
              <a:extLst>
                <a:ext uri="{FF2B5EF4-FFF2-40B4-BE49-F238E27FC236}">
                  <a16:creationId xmlns:a16="http://schemas.microsoft.com/office/drawing/2014/main" id="{AC15E7DA-619F-44F7-8C31-0DBD3F108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" y="3682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6454C333-FD21-4979-92EF-A0E0A8303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" y="3333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23" name="Rectangle 63">
              <a:extLst>
                <a:ext uri="{FF2B5EF4-FFF2-40B4-BE49-F238E27FC236}">
                  <a16:creationId xmlns:a16="http://schemas.microsoft.com/office/drawing/2014/main" id="{2D1FA85A-BECF-404E-87B2-9306DEB2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334"/>
              <a:ext cx="6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 Cache Tag</a:t>
              </a:r>
            </a:p>
          </p:txBody>
        </p:sp>
      </p:grpSp>
      <p:sp>
        <p:nvSpPr>
          <p:cNvPr id="24" name="Rectangle 75">
            <a:extLst>
              <a:ext uri="{FF2B5EF4-FFF2-40B4-BE49-F238E27FC236}">
                <a16:creationId xmlns:a16="http://schemas.microsoft.com/office/drawing/2014/main" id="{32980497-C9F4-40BC-AB0E-6ACCF479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700" y="4135003"/>
            <a:ext cx="1057363" cy="415549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  <p:grpSp>
        <p:nvGrpSpPr>
          <p:cNvPr id="25" name="Group 90">
            <a:extLst>
              <a:ext uri="{FF2B5EF4-FFF2-40B4-BE49-F238E27FC236}">
                <a16:creationId xmlns:a16="http://schemas.microsoft.com/office/drawing/2014/main" id="{323F8437-4BCD-4C91-A82D-F71B6BF1FF4B}"/>
              </a:ext>
            </a:extLst>
          </p:cNvPr>
          <p:cNvGrpSpPr>
            <a:grpSpLocks/>
          </p:cNvGrpSpPr>
          <p:nvPr/>
        </p:nvGrpSpPr>
        <p:grpSpPr bwMode="auto">
          <a:xfrm>
            <a:off x="6635683" y="3310334"/>
            <a:ext cx="4561830" cy="3328674"/>
            <a:chOff x="3347" y="2334"/>
            <a:chExt cx="2045" cy="1554"/>
          </a:xfrm>
        </p:grpSpPr>
        <p:sp>
          <p:nvSpPr>
            <p:cNvPr id="26" name="Rectangle 53">
              <a:extLst>
                <a:ext uri="{FF2B5EF4-FFF2-40B4-BE49-F238E27FC236}">
                  <a16:creationId xmlns:a16="http://schemas.microsoft.com/office/drawing/2014/main" id="{A80B83E9-18DD-4D13-8318-6E172B26C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718"/>
              <a:ext cx="52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32</a:t>
              </a:r>
            </a:p>
          </p:txBody>
        </p:sp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7E699F62-F2E7-42D5-953B-7D8F48275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2538"/>
              <a:ext cx="1760" cy="13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28" name="Line 5">
              <a:extLst>
                <a:ext uri="{FF2B5EF4-FFF2-40B4-BE49-F238E27FC236}">
                  <a16:creationId xmlns:a16="http://schemas.microsoft.com/office/drawing/2014/main" id="{325F7364-8E9E-4B67-B4B9-334A31C45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2722"/>
              <a:ext cx="1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C44D95CE-AD06-4032-AE4D-B6BAC6373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2914"/>
              <a:ext cx="1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36706568-0DDF-4345-82FF-B63DC48A0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3106"/>
              <a:ext cx="1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D6DF55B0-AD85-4640-A763-9878F1B1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252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0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2D398F2D-5107-45DF-B87C-F5DEEE057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271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1</a:t>
              </a:r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4A7407F4-C17E-4DD4-BE96-F53967288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291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2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2F444CBD-2FBC-45F0-AE74-B48A82A75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31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3</a:t>
              </a:r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C50F99AD-C650-4890-84AA-754C7655E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3298"/>
              <a:ext cx="1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36" name="Line 14">
              <a:extLst>
                <a:ext uri="{FF2B5EF4-FFF2-40B4-BE49-F238E27FC236}">
                  <a16:creationId xmlns:a16="http://schemas.microsoft.com/office/drawing/2014/main" id="{527ADC5D-E552-4870-868E-E0A729CD7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3682"/>
              <a:ext cx="1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2FCA0E2-76C0-4981-85AD-F2AA12F3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3285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FE86F0E9-5EEA-44A9-BDB5-F20E2B75F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" y="2334"/>
              <a:ext cx="7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 Cache Data</a:t>
              </a: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32A9DD1B-C642-4BDA-B7AF-7DD494C60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" y="2526"/>
              <a:ext cx="4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0</a:t>
              </a:r>
            </a:p>
          </p:txBody>
        </p:sp>
        <p:sp>
          <p:nvSpPr>
            <p:cNvPr id="40" name="Line 47">
              <a:extLst>
                <a:ext uri="{FF2B5EF4-FFF2-40B4-BE49-F238E27FC236}">
                  <a16:creationId xmlns:a16="http://schemas.microsoft.com/office/drawing/2014/main" id="{70DE6224-7F95-4E53-9905-6E2BE6562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3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CEB26FB-117E-4FC5-A9C6-204375A36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3" y="2526"/>
              <a:ext cx="4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1</a:t>
              </a:r>
            </a:p>
          </p:txBody>
        </p:sp>
        <p:sp>
          <p:nvSpPr>
            <p:cNvPr id="42" name="Line 49">
              <a:extLst>
                <a:ext uri="{FF2B5EF4-FFF2-40B4-BE49-F238E27FC236}">
                  <a16:creationId xmlns:a16="http://schemas.microsoft.com/office/drawing/2014/main" id="{59BDDBD6-7011-46D8-819C-856CA88FB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53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E19E81A6-2F99-4FB5-8060-A46E3B531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2526"/>
              <a:ext cx="52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31</a:t>
              </a:r>
            </a:p>
          </p:txBody>
        </p:sp>
        <p:sp>
          <p:nvSpPr>
            <p:cNvPr id="44" name="Line 51">
              <a:extLst>
                <a:ext uri="{FF2B5EF4-FFF2-40B4-BE49-F238E27FC236}">
                  <a16:creationId xmlns:a16="http://schemas.microsoft.com/office/drawing/2014/main" id="{A1315274-23C4-4EAC-97F5-575EFED52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53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E14578CB-7443-4B23-BDFB-037BDC1DDA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32" y="2470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46" name="Line 54">
              <a:extLst>
                <a:ext uri="{FF2B5EF4-FFF2-40B4-BE49-F238E27FC236}">
                  <a16:creationId xmlns:a16="http://schemas.microsoft.com/office/drawing/2014/main" id="{32F50A2D-A9E7-451D-85DF-E70FEA3A4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73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47" name="Rectangle 55">
              <a:extLst>
                <a:ext uri="{FF2B5EF4-FFF2-40B4-BE49-F238E27FC236}">
                  <a16:creationId xmlns:a16="http://schemas.microsoft.com/office/drawing/2014/main" id="{34490B6B-5401-4E6C-931B-238C3635A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3" y="2718"/>
              <a:ext cx="52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33</a:t>
              </a:r>
            </a:p>
          </p:txBody>
        </p:sp>
        <p:sp>
          <p:nvSpPr>
            <p:cNvPr id="48" name="Line 56">
              <a:extLst>
                <a:ext uri="{FF2B5EF4-FFF2-40B4-BE49-F238E27FC236}">
                  <a16:creationId xmlns:a16="http://schemas.microsoft.com/office/drawing/2014/main" id="{22DF02AA-F80A-43FE-8711-086307626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73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49" name="Rectangle 57">
              <a:extLst>
                <a:ext uri="{FF2B5EF4-FFF2-40B4-BE49-F238E27FC236}">
                  <a16:creationId xmlns:a16="http://schemas.microsoft.com/office/drawing/2014/main" id="{3A4CD9F0-C26D-45B3-BCA4-0DFD3C066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2718"/>
              <a:ext cx="52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63</a:t>
              </a:r>
            </a:p>
          </p:txBody>
        </p:sp>
        <p:sp>
          <p:nvSpPr>
            <p:cNvPr id="50" name="Line 58">
              <a:extLst>
                <a:ext uri="{FF2B5EF4-FFF2-40B4-BE49-F238E27FC236}">
                  <a16:creationId xmlns:a16="http://schemas.microsoft.com/office/drawing/2014/main" id="{676C818C-6CAC-45D0-9B4A-ECC270754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73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51" name="Rectangle 59">
              <a:extLst>
                <a:ext uri="{FF2B5EF4-FFF2-40B4-BE49-F238E27FC236}">
                  <a16:creationId xmlns:a16="http://schemas.microsoft.com/office/drawing/2014/main" id="{02BD2AB2-5EC7-444D-AB36-7EB365D3E0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32" y="2662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52" name="Rectangle 60">
              <a:extLst>
                <a:ext uri="{FF2B5EF4-FFF2-40B4-BE49-F238E27FC236}">
                  <a16:creationId xmlns:a16="http://schemas.microsoft.com/office/drawing/2014/main" id="{EFA9545F-3095-47CF-A212-DEAEA67AF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3678"/>
              <a:ext cx="58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992</a:t>
              </a:r>
            </a:p>
          </p:txBody>
        </p:sp>
        <p:sp>
          <p:nvSpPr>
            <p:cNvPr id="53" name="Rectangle 61">
              <a:extLst>
                <a:ext uri="{FF2B5EF4-FFF2-40B4-BE49-F238E27FC236}">
                  <a16:creationId xmlns:a16="http://schemas.microsoft.com/office/drawing/2014/main" id="{66B4343A-07DB-4ADA-80BD-75A314022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3678"/>
              <a:ext cx="65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1023</a:t>
              </a:r>
            </a:p>
          </p:txBody>
        </p:sp>
        <p:sp>
          <p:nvSpPr>
            <p:cNvPr id="54" name="Rectangle 62">
              <a:extLst>
                <a:ext uri="{FF2B5EF4-FFF2-40B4-BE49-F238E27FC236}">
                  <a16:creationId xmlns:a16="http://schemas.microsoft.com/office/drawing/2014/main" id="{54FFE801-E0CD-4C69-86F2-5E5BC4A22F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20" y="3622"/>
              <a:ext cx="16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Marker Felt"/>
                </a:rPr>
                <a:t>:</a:t>
              </a:r>
            </a:p>
          </p:txBody>
        </p:sp>
        <p:sp>
          <p:nvSpPr>
            <p:cNvPr id="55" name="Rectangle 46">
              <a:extLst>
                <a:ext uri="{FF2B5EF4-FFF2-40B4-BE49-F238E27FC236}">
                  <a16:creationId xmlns:a16="http://schemas.microsoft.com/office/drawing/2014/main" id="{CC494CC3-5C7C-4710-B437-48F2B98AF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3678"/>
              <a:ext cx="269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Marker Felt"/>
                </a:rPr>
                <a:t>1023</a:t>
              </a:r>
            </a:p>
          </p:txBody>
        </p:sp>
      </p:grpSp>
      <p:sp>
        <p:nvSpPr>
          <p:cNvPr id="56" name="Rectangle 87">
            <a:extLst>
              <a:ext uri="{FF2B5EF4-FFF2-40B4-BE49-F238E27FC236}">
                <a16:creationId xmlns:a16="http://schemas.microsoft.com/office/drawing/2014/main" id="{CF45DB68-ABE6-4F8C-AACD-A96DE7F57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6177" y="2061545"/>
            <a:ext cx="2014343" cy="379134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  <p:sp>
        <p:nvSpPr>
          <p:cNvPr id="57" name="Rectangle 86">
            <a:extLst>
              <a:ext uri="{FF2B5EF4-FFF2-40B4-BE49-F238E27FC236}">
                <a16:creationId xmlns:a16="http://schemas.microsoft.com/office/drawing/2014/main" id="{F55ADC18-01E3-4DD0-A23E-70F98CC1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607" y="2074397"/>
            <a:ext cx="2248570" cy="3684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  <p:sp>
        <p:nvSpPr>
          <p:cNvPr id="58" name="Rectangle 78">
            <a:extLst>
              <a:ext uri="{FF2B5EF4-FFF2-40B4-BE49-F238E27FC236}">
                <a16:creationId xmlns:a16="http://schemas.microsoft.com/office/drawing/2014/main" id="{DE8BCF23-3972-4FFB-A88D-3B97E4C5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272" y="2076538"/>
            <a:ext cx="6210335" cy="359856"/>
          </a:xfrm>
          <a:prstGeom prst="rect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  <p:sp>
        <p:nvSpPr>
          <p:cNvPr id="59" name="Rectangle 32">
            <a:extLst>
              <a:ext uri="{FF2B5EF4-FFF2-40B4-BE49-F238E27FC236}">
                <a16:creationId xmlns:a16="http://schemas.microsoft.com/office/drawing/2014/main" id="{3617FD14-AA87-401E-B059-BF8BB567B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113" y="2474951"/>
            <a:ext cx="1227619" cy="453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1600" dirty="0">
                <a:latin typeface="Marker Felt"/>
              </a:rPr>
              <a:t>Ex: 0x50</a:t>
            </a:r>
          </a:p>
        </p:txBody>
      </p:sp>
      <p:sp>
        <p:nvSpPr>
          <p:cNvPr id="60" name="Line 36">
            <a:extLst>
              <a:ext uri="{FF2B5EF4-FFF2-40B4-BE49-F238E27FC236}">
                <a16:creationId xmlns:a16="http://schemas.microsoft.com/office/drawing/2014/main" id="{BA7EEB31-76A4-459D-9A5F-C6EDE2D5A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2233" y="2252182"/>
            <a:ext cx="0" cy="198349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Marker Felt"/>
            </a:endParaRPr>
          </a:p>
        </p:txBody>
      </p:sp>
      <p:grpSp>
        <p:nvGrpSpPr>
          <p:cNvPr id="61" name="Group 85">
            <a:extLst>
              <a:ext uri="{FF2B5EF4-FFF2-40B4-BE49-F238E27FC236}">
                <a16:creationId xmlns:a16="http://schemas.microsoft.com/office/drawing/2014/main" id="{079F1E6E-51C7-4BBB-B60C-527C4E24FA2C}"/>
              </a:ext>
            </a:extLst>
          </p:cNvPr>
          <p:cNvGrpSpPr>
            <a:grpSpLocks/>
          </p:cNvGrpSpPr>
          <p:nvPr/>
        </p:nvGrpSpPr>
        <p:grpSpPr bwMode="auto">
          <a:xfrm>
            <a:off x="9098413" y="2449247"/>
            <a:ext cx="1226899" cy="1824986"/>
            <a:chOff x="4451" y="1932"/>
            <a:chExt cx="550" cy="852"/>
          </a:xfrm>
        </p:grpSpPr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56664566-1D33-4374-9461-CBD8737C3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136"/>
              <a:ext cx="0" cy="6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63" name="Rectangle 66">
              <a:extLst>
                <a:ext uri="{FF2B5EF4-FFF2-40B4-BE49-F238E27FC236}">
                  <a16:creationId xmlns:a16="http://schemas.microsoft.com/office/drawing/2014/main" id="{8A595BB3-6975-4484-9195-CFAC5A9DC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1932"/>
              <a:ext cx="5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Marker Felt"/>
                </a:rPr>
                <a:t>Ex: 0x00</a:t>
              </a:r>
            </a:p>
          </p:txBody>
        </p:sp>
      </p:grpSp>
      <p:grpSp>
        <p:nvGrpSpPr>
          <p:cNvPr id="64" name="Group 80">
            <a:extLst>
              <a:ext uri="{FF2B5EF4-FFF2-40B4-BE49-F238E27FC236}">
                <a16:creationId xmlns:a16="http://schemas.microsoft.com/office/drawing/2014/main" id="{B5CFF7E4-F9C6-48DF-9DAA-6F531161AB34}"/>
              </a:ext>
            </a:extLst>
          </p:cNvPr>
          <p:cNvGrpSpPr>
            <a:grpSpLocks/>
          </p:cNvGrpSpPr>
          <p:nvPr/>
        </p:nvGrpSpPr>
        <p:grpSpPr bwMode="auto">
          <a:xfrm>
            <a:off x="318272" y="1626723"/>
            <a:ext cx="10575862" cy="865370"/>
            <a:chOff x="515" y="1470"/>
            <a:chExt cx="4741" cy="404"/>
          </a:xfrm>
        </p:grpSpPr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12D1772C-199A-47AB-8D58-ED8B2A82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1662"/>
              <a:ext cx="74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Marker Felt"/>
                </a:rPr>
                <a:t>Cache Index</a:t>
              </a:r>
            </a:p>
          </p:txBody>
        </p:sp>
        <p:sp>
          <p:nvSpPr>
            <p:cNvPr id="66" name="Rectangle 18">
              <a:extLst>
                <a:ext uri="{FF2B5EF4-FFF2-40B4-BE49-F238E27FC236}">
                  <a16:creationId xmlns:a16="http://schemas.microsoft.com/office/drawing/2014/main" id="{D1C690AC-3607-47C1-AC11-0EBE4DF3F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" y="1674"/>
              <a:ext cx="4688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67" name="Line 20">
              <a:extLst>
                <a:ext uri="{FF2B5EF4-FFF2-40B4-BE49-F238E27FC236}">
                  <a16:creationId xmlns:a16="http://schemas.microsoft.com/office/drawing/2014/main" id="{56CDB8EB-8B5B-462A-B33D-4EA383BE0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67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68" name="Rectangle 21">
              <a:extLst>
                <a:ext uri="{FF2B5EF4-FFF2-40B4-BE49-F238E27FC236}">
                  <a16:creationId xmlns:a16="http://schemas.microsoft.com/office/drawing/2014/main" id="{37718D72-EB47-4258-9F83-317F076B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" y="14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0</a:t>
              </a:r>
            </a:p>
          </p:txBody>
        </p:sp>
        <p:sp>
          <p:nvSpPr>
            <p:cNvPr id="69" name="Rectangle 22">
              <a:extLst>
                <a:ext uri="{FF2B5EF4-FFF2-40B4-BE49-F238E27FC236}">
                  <a16:creationId xmlns:a16="http://schemas.microsoft.com/office/drawing/2014/main" id="{1F518E99-2294-47CF-85A7-B75AB42EE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14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4</a:t>
              </a:r>
            </a:p>
          </p:txBody>
        </p:sp>
        <p:sp>
          <p:nvSpPr>
            <p:cNvPr id="70" name="Rectangle 23">
              <a:extLst>
                <a:ext uri="{FF2B5EF4-FFF2-40B4-BE49-F238E27FC236}">
                  <a16:creationId xmlns:a16="http://schemas.microsoft.com/office/drawing/2014/main" id="{4FF74AAA-3C9B-4ADC-98F2-736017C20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" y="1470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31</a:t>
              </a:r>
            </a:p>
          </p:txBody>
        </p:sp>
        <p:sp>
          <p:nvSpPr>
            <p:cNvPr id="71" name="Rectangle 31">
              <a:extLst>
                <a:ext uri="{FF2B5EF4-FFF2-40B4-BE49-F238E27FC236}">
                  <a16:creationId xmlns:a16="http://schemas.microsoft.com/office/drawing/2014/main" id="{D512FE17-315A-47C8-A087-D3306D78D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655"/>
              <a:ext cx="6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Cache Tag</a:t>
              </a:r>
            </a:p>
          </p:txBody>
        </p:sp>
        <p:sp>
          <p:nvSpPr>
            <p:cNvPr id="72" name="Line 64">
              <a:extLst>
                <a:ext uri="{FF2B5EF4-FFF2-40B4-BE49-F238E27FC236}">
                  <a16:creationId xmlns:a16="http://schemas.microsoft.com/office/drawing/2014/main" id="{D7643AF6-0FAC-4908-8B38-D578E0451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7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>
                <a:latin typeface="Marker Felt"/>
              </a:endParaRPr>
            </a:p>
          </p:txBody>
        </p:sp>
        <p:sp>
          <p:nvSpPr>
            <p:cNvPr id="73" name="Rectangle 65">
              <a:extLst>
                <a:ext uri="{FF2B5EF4-FFF2-40B4-BE49-F238E27FC236}">
                  <a16:creationId xmlns:a16="http://schemas.microsoft.com/office/drawing/2014/main" id="{5801631B-784D-4F12-AF34-A9801F93D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662"/>
              <a:ext cx="7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Marker Felt"/>
                </a:rPr>
                <a:t>Byte Select</a:t>
              </a:r>
            </a:p>
          </p:txBody>
        </p:sp>
        <p:sp>
          <p:nvSpPr>
            <p:cNvPr id="74" name="Rectangle 67">
              <a:extLst>
                <a:ext uri="{FF2B5EF4-FFF2-40B4-BE49-F238E27FC236}">
                  <a16:creationId xmlns:a16="http://schemas.microsoft.com/office/drawing/2014/main" id="{C2378B55-7A03-4EEE-9DB5-4BE985BE4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" y="1470"/>
              <a:ext cx="175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Marker Felt"/>
                </a:rPr>
                <a:t>14</a:t>
              </a:r>
            </a:p>
          </p:txBody>
        </p:sp>
      </p:grpSp>
      <p:grpSp>
        <p:nvGrpSpPr>
          <p:cNvPr id="75" name="Group 84">
            <a:extLst>
              <a:ext uri="{FF2B5EF4-FFF2-40B4-BE49-F238E27FC236}">
                <a16:creationId xmlns:a16="http://schemas.microsoft.com/office/drawing/2014/main" id="{8EABB9BA-9879-49F0-ABBE-AC772A92F721}"/>
              </a:ext>
            </a:extLst>
          </p:cNvPr>
          <p:cNvGrpSpPr>
            <a:grpSpLocks/>
          </p:cNvGrpSpPr>
          <p:nvPr/>
        </p:nvGrpSpPr>
        <p:grpSpPr bwMode="auto">
          <a:xfrm>
            <a:off x="6931055" y="2489937"/>
            <a:ext cx="4633214" cy="1889246"/>
            <a:chOff x="3443" y="1854"/>
            <a:chExt cx="2077" cy="882"/>
          </a:xfrm>
        </p:grpSpPr>
        <p:sp>
          <p:nvSpPr>
            <p:cNvPr id="76" name="Rectangle 34">
              <a:extLst>
                <a:ext uri="{FF2B5EF4-FFF2-40B4-BE49-F238E27FC236}">
                  <a16:creationId xmlns:a16="http://schemas.microsoft.com/office/drawing/2014/main" id="{6B75E3CB-2017-4F60-B047-04910D9C1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" y="1854"/>
              <a:ext cx="5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Marker Felt"/>
                </a:rPr>
                <a:t>Ex: 0x01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94B15D7-585F-477F-A858-FF93A1587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035"/>
              <a:ext cx="1776" cy="701"/>
              <a:chOff x="3744" y="1960"/>
              <a:chExt cx="1776" cy="928"/>
            </a:xfrm>
          </p:grpSpPr>
          <p:sp>
            <p:nvSpPr>
              <p:cNvPr id="78" name="Line 33">
                <a:extLst>
                  <a:ext uri="{FF2B5EF4-FFF2-40B4-BE49-F238E27FC236}">
                    <a16:creationId xmlns:a16="http://schemas.microsoft.com/office/drawing/2014/main" id="{07D56ADA-554D-45B8-A764-AC99295D7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40" y="2880"/>
                <a:ext cx="2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>
                  <a:latin typeface="Marker Felt"/>
                </a:endParaRPr>
              </a:p>
            </p:txBody>
          </p:sp>
          <p:sp>
            <p:nvSpPr>
              <p:cNvPr id="79" name="Line 68">
                <a:extLst>
                  <a:ext uri="{FF2B5EF4-FFF2-40B4-BE49-F238E27FC236}">
                    <a16:creationId xmlns:a16="http://schemas.microsoft.com/office/drawing/2014/main" id="{DFA57599-CE5C-453E-BB9A-0778AADCC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2" y="2160"/>
                <a:ext cx="17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>
                  <a:latin typeface="Marker Felt"/>
                </a:endParaRPr>
              </a:p>
            </p:txBody>
          </p:sp>
          <p:sp>
            <p:nvSpPr>
              <p:cNvPr id="80" name="Line 69">
                <a:extLst>
                  <a:ext uri="{FF2B5EF4-FFF2-40B4-BE49-F238E27FC236}">
                    <a16:creationId xmlns:a16="http://schemas.microsoft.com/office/drawing/2014/main" id="{64DEBB49-EFB6-491D-893B-1672EFB54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20" y="2152"/>
                <a:ext cx="0" cy="7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>
                  <a:latin typeface="Marker Felt"/>
                </a:endParaRPr>
              </a:p>
            </p:txBody>
          </p:sp>
          <p:sp>
            <p:nvSpPr>
              <p:cNvPr id="81" name="Line 70">
                <a:extLst>
                  <a:ext uri="{FF2B5EF4-FFF2-40B4-BE49-F238E27FC236}">
                    <a16:creationId xmlns:a16="http://schemas.microsoft.com/office/drawing/2014/main" id="{E574BCA1-7358-43D6-981A-45DEA412D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1960"/>
                <a:ext cx="0" cy="2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>
                  <a:latin typeface="Marker Felt"/>
                </a:endParaRPr>
              </a:p>
            </p:txBody>
          </p:sp>
        </p:grpSp>
      </p:grpSp>
      <p:sp>
        <p:nvSpPr>
          <p:cNvPr id="82" name="Rectangle 83">
            <a:extLst>
              <a:ext uri="{FF2B5EF4-FFF2-40B4-BE49-F238E27FC236}">
                <a16:creationId xmlns:a16="http://schemas.microsoft.com/office/drawing/2014/main" id="{B07EC1C0-428A-4DA1-816C-F50A06847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35" y="4068601"/>
            <a:ext cx="10111870" cy="565489"/>
          </a:xfrm>
          <a:prstGeom prst="rect">
            <a:avLst/>
          </a:prstGeom>
          <a:noFill/>
          <a:ln w="38100" algn="ctr">
            <a:solidFill>
              <a:schemeClr val="hlink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IN">
              <a:latin typeface="Marker Felt"/>
            </a:endParaRPr>
          </a:p>
        </p:txBody>
      </p:sp>
    </p:spTree>
    <p:extLst>
      <p:ext uri="{BB962C8B-B14F-4D97-AF65-F5344CB8AC3E}">
        <p14:creationId xmlns:p14="http://schemas.microsoft.com/office/powerpoint/2010/main" val="137407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9DA8-3E2A-48E5-AAFB-670B23E9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if We Provide Multiple Ways?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C6DFA-D2FF-4AE6-BC44-9F87A0B5BC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5E5790CE-596A-4176-AE33-1C2B19458E0A}"/>
              </a:ext>
            </a:extLst>
          </p:cNvPr>
          <p:cNvSpPr/>
          <p:nvPr/>
        </p:nvSpPr>
        <p:spPr>
          <a:xfrm>
            <a:off x="5166239" y="5415960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1D1078-097E-4917-990E-1E1656A662E7}"/>
              </a:ext>
            </a:extLst>
          </p:cNvPr>
          <p:cNvSpPr/>
          <p:nvPr/>
        </p:nvSpPr>
        <p:spPr>
          <a:xfrm>
            <a:off x="5135998" y="4598050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788F4F2-9FE5-4D06-8594-58FA1BADBABC}"/>
              </a:ext>
            </a:extLst>
          </p:cNvPr>
          <p:cNvSpPr/>
          <p:nvPr/>
        </p:nvSpPr>
        <p:spPr>
          <a:xfrm>
            <a:off x="5135998" y="3790577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7C460A4-3200-468D-8A7C-7B56E8D8E375}"/>
              </a:ext>
            </a:extLst>
          </p:cNvPr>
          <p:cNvSpPr/>
          <p:nvPr/>
        </p:nvSpPr>
        <p:spPr>
          <a:xfrm>
            <a:off x="5135998" y="2986543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8FE829-7424-4211-B02C-6E8057770E89}"/>
              </a:ext>
            </a:extLst>
          </p:cNvPr>
          <p:cNvCxnSpPr>
            <a:cxnSpLocks/>
          </p:cNvCxnSpPr>
          <p:nvPr/>
        </p:nvCxnSpPr>
        <p:spPr>
          <a:xfrm>
            <a:off x="6900034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65EEFF-5D03-4A32-BA66-63FB612B6B70}"/>
              </a:ext>
            </a:extLst>
          </p:cNvPr>
          <p:cNvCxnSpPr/>
          <p:nvPr/>
        </p:nvCxnSpPr>
        <p:spPr>
          <a:xfrm>
            <a:off x="592585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17FDAC-ABA3-43BA-9773-D2DF48E905DA}"/>
              </a:ext>
            </a:extLst>
          </p:cNvPr>
          <p:cNvCxnSpPr/>
          <p:nvPr/>
        </p:nvCxnSpPr>
        <p:spPr>
          <a:xfrm>
            <a:off x="778412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BAEC75-5E68-450C-9555-63176359B7CC}"/>
              </a:ext>
            </a:extLst>
          </p:cNvPr>
          <p:cNvCxnSpPr/>
          <p:nvPr/>
        </p:nvCxnSpPr>
        <p:spPr>
          <a:xfrm>
            <a:off x="8704417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AF1B19-5112-4F0E-BFFC-544310679E2A}"/>
              </a:ext>
            </a:extLst>
          </p:cNvPr>
          <p:cNvCxnSpPr/>
          <p:nvPr/>
        </p:nvCxnSpPr>
        <p:spPr>
          <a:xfrm>
            <a:off x="958345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183493-66F2-4301-BFAF-A5A3EAF99593}"/>
              </a:ext>
            </a:extLst>
          </p:cNvPr>
          <p:cNvCxnSpPr>
            <a:cxnSpLocks/>
          </p:cNvCxnSpPr>
          <p:nvPr/>
        </p:nvCxnSpPr>
        <p:spPr>
          <a:xfrm flipH="1">
            <a:off x="5162098" y="4559793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DD3AC0-B23B-4664-84F6-5019A7BA90D6}"/>
              </a:ext>
            </a:extLst>
          </p:cNvPr>
          <p:cNvCxnSpPr>
            <a:cxnSpLocks/>
          </p:cNvCxnSpPr>
          <p:nvPr/>
        </p:nvCxnSpPr>
        <p:spPr>
          <a:xfrm flipH="1">
            <a:off x="5135998" y="5394208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1D9F78-C8EE-472B-A9E5-26C40756D748}"/>
              </a:ext>
            </a:extLst>
          </p:cNvPr>
          <p:cNvCxnSpPr>
            <a:cxnSpLocks/>
          </p:cNvCxnSpPr>
          <p:nvPr/>
        </p:nvCxnSpPr>
        <p:spPr>
          <a:xfrm flipH="1">
            <a:off x="5162098" y="375231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7BCC09-3826-4925-888E-44BF08E3036E}"/>
              </a:ext>
            </a:extLst>
          </p:cNvPr>
          <p:cNvCxnSpPr/>
          <p:nvPr/>
        </p:nvCxnSpPr>
        <p:spPr>
          <a:xfrm flipV="1">
            <a:off x="9987678" y="2783618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A2905E-6952-45E4-8E3A-53F7BEA63528}"/>
              </a:ext>
            </a:extLst>
          </p:cNvPr>
          <p:cNvSpPr txBox="1"/>
          <p:nvPr/>
        </p:nvSpPr>
        <p:spPr>
          <a:xfrm>
            <a:off x="10913704" y="2412973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EB0FC0-3966-45FB-A099-DCB5DBC9ACAD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0402847" y="3383911"/>
            <a:ext cx="249343" cy="2029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3BC2C1A-E039-4B03-83C2-D7E1F4DDE7DF}"/>
              </a:ext>
            </a:extLst>
          </p:cNvPr>
          <p:cNvSpPr txBox="1"/>
          <p:nvPr/>
        </p:nvSpPr>
        <p:spPr>
          <a:xfrm>
            <a:off x="10652190" y="3153078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DF9DE6-0604-4544-A331-E66BA9E43C58}"/>
              </a:ext>
            </a:extLst>
          </p:cNvPr>
          <p:cNvSpPr txBox="1"/>
          <p:nvPr/>
        </p:nvSpPr>
        <p:spPr>
          <a:xfrm>
            <a:off x="10563598" y="5559571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1023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BC469CC-0D5A-436D-97FB-DD9CA814D0B6}"/>
              </a:ext>
            </a:extLst>
          </p:cNvPr>
          <p:cNvSpPr/>
          <p:nvPr/>
        </p:nvSpPr>
        <p:spPr>
          <a:xfrm>
            <a:off x="4976160" y="2874638"/>
            <a:ext cx="5587438" cy="1807250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9813E600-3937-405F-AB17-F20C8CFF015F}"/>
              </a:ext>
            </a:extLst>
          </p:cNvPr>
          <p:cNvSpPr/>
          <p:nvPr/>
        </p:nvSpPr>
        <p:spPr>
          <a:xfrm>
            <a:off x="5001351" y="4557766"/>
            <a:ext cx="5587438" cy="1807250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3E857-8A8F-4F5C-9FC1-A2C16F673366}"/>
              </a:ext>
            </a:extLst>
          </p:cNvPr>
          <p:cNvSpPr txBox="1"/>
          <p:nvPr/>
        </p:nvSpPr>
        <p:spPr>
          <a:xfrm>
            <a:off x="3057599" y="3314756"/>
            <a:ext cx="804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Set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7F2370-8FF1-4DDC-8B69-C21FF0A33D75}"/>
              </a:ext>
            </a:extLst>
          </p:cNvPr>
          <p:cNvSpPr txBox="1"/>
          <p:nvPr/>
        </p:nvSpPr>
        <p:spPr>
          <a:xfrm>
            <a:off x="3014716" y="5097906"/>
            <a:ext cx="1115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Set 511</a:t>
            </a: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DEF1E809-5D36-4A73-AE52-33806EA1D7C0}"/>
              </a:ext>
            </a:extLst>
          </p:cNvPr>
          <p:cNvSpPr/>
          <p:nvPr/>
        </p:nvSpPr>
        <p:spPr>
          <a:xfrm>
            <a:off x="263566" y="2080501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5FFD0F-45AB-4B72-80DB-D0D784D59941}"/>
              </a:ext>
            </a:extLst>
          </p:cNvPr>
          <p:cNvCxnSpPr>
            <a:cxnSpLocks/>
          </p:cNvCxnSpPr>
          <p:nvPr/>
        </p:nvCxnSpPr>
        <p:spPr>
          <a:xfrm>
            <a:off x="2805601" y="2080501"/>
            <a:ext cx="0" cy="789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7268781-CE51-422A-A23E-74FBD028CBEF}"/>
              </a:ext>
            </a:extLst>
          </p:cNvPr>
          <p:cNvSpPr txBox="1"/>
          <p:nvPr/>
        </p:nvSpPr>
        <p:spPr>
          <a:xfrm>
            <a:off x="371479" y="2213830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F84177-080D-4F57-BD78-38C5B32DA888}"/>
              </a:ext>
            </a:extLst>
          </p:cNvPr>
          <p:cNvSpPr txBox="1"/>
          <p:nvPr/>
        </p:nvSpPr>
        <p:spPr>
          <a:xfrm>
            <a:off x="2996032" y="2201193"/>
            <a:ext cx="98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Index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56454B-2776-4C87-B1EB-51056AA11958}"/>
              </a:ext>
            </a:extLst>
          </p:cNvPr>
          <p:cNvCxnSpPr>
            <a:cxnSpLocks/>
          </p:cNvCxnSpPr>
          <p:nvPr/>
        </p:nvCxnSpPr>
        <p:spPr>
          <a:xfrm>
            <a:off x="4079531" y="2067864"/>
            <a:ext cx="0" cy="789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AAED3C9-11C2-4A55-B283-F617D539B055}"/>
              </a:ext>
            </a:extLst>
          </p:cNvPr>
          <p:cNvSpPr txBox="1"/>
          <p:nvPr/>
        </p:nvSpPr>
        <p:spPr>
          <a:xfrm>
            <a:off x="4368231" y="2201193"/>
            <a:ext cx="1068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Offset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012E833-7A90-48E7-9520-DFE997E393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92577" y="4044876"/>
            <a:ext cx="2642082" cy="29308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5364858-5088-4474-B9AA-22A883C72166}"/>
              </a:ext>
            </a:extLst>
          </p:cNvPr>
          <p:cNvCxnSpPr>
            <a:cxnSpLocks/>
          </p:cNvCxnSpPr>
          <p:nvPr/>
        </p:nvCxnSpPr>
        <p:spPr>
          <a:xfrm>
            <a:off x="5404672" y="2730693"/>
            <a:ext cx="3922403" cy="22668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C19AE7B-0E53-4FB1-9D7D-C5E2B221E8B6}"/>
              </a:ext>
            </a:extLst>
          </p:cNvPr>
          <p:cNvSpPr txBox="1"/>
          <p:nvPr/>
        </p:nvSpPr>
        <p:spPr>
          <a:xfrm>
            <a:off x="8651910" y="4961890"/>
            <a:ext cx="823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byte </a:t>
            </a:r>
          </a:p>
        </p:txBody>
      </p:sp>
      <p:sp>
        <p:nvSpPr>
          <p:cNvPr id="51" name="Rounded Rectangle 5">
            <a:extLst>
              <a:ext uri="{FF2B5EF4-FFF2-40B4-BE49-F238E27FC236}">
                <a16:creationId xmlns:a16="http://schemas.microsoft.com/office/drawing/2014/main" id="{3267112F-0C5E-479B-9EA5-930A849C0B15}"/>
              </a:ext>
            </a:extLst>
          </p:cNvPr>
          <p:cNvSpPr/>
          <p:nvPr/>
        </p:nvSpPr>
        <p:spPr>
          <a:xfrm>
            <a:off x="4058753" y="3876734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52" name="Rounded Rectangle 5">
            <a:extLst>
              <a:ext uri="{FF2B5EF4-FFF2-40B4-BE49-F238E27FC236}">
                <a16:creationId xmlns:a16="http://schemas.microsoft.com/office/drawing/2014/main" id="{3CC000DE-B03F-4FBA-8BC4-158352638A12}"/>
              </a:ext>
            </a:extLst>
          </p:cNvPr>
          <p:cNvSpPr/>
          <p:nvPr/>
        </p:nvSpPr>
        <p:spPr>
          <a:xfrm>
            <a:off x="4051636" y="311859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5D70B401-7BA9-4C7B-8A85-D8C441C1DD72}"/>
              </a:ext>
            </a:extLst>
          </p:cNvPr>
          <p:cNvSpPr/>
          <p:nvPr/>
        </p:nvSpPr>
        <p:spPr>
          <a:xfrm>
            <a:off x="4086614" y="475431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BEA4AF3C-AA9A-49C6-B2BD-946F36491871}"/>
              </a:ext>
            </a:extLst>
          </p:cNvPr>
          <p:cNvSpPr/>
          <p:nvPr/>
        </p:nvSpPr>
        <p:spPr>
          <a:xfrm>
            <a:off x="4086614" y="553440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F8DDC8-C32B-4BF5-9135-8CD90D521972}"/>
              </a:ext>
            </a:extLst>
          </p:cNvPr>
          <p:cNvSpPr txBox="1"/>
          <p:nvPr/>
        </p:nvSpPr>
        <p:spPr>
          <a:xfrm>
            <a:off x="4085045" y="3171434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E1D555-D21E-4995-B8B0-BE31E27377CB}"/>
              </a:ext>
            </a:extLst>
          </p:cNvPr>
          <p:cNvSpPr txBox="1"/>
          <p:nvPr/>
        </p:nvSpPr>
        <p:spPr>
          <a:xfrm>
            <a:off x="4069925" y="3915574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66E0F3-171F-4090-9A94-1DCC82FF5C86}"/>
              </a:ext>
            </a:extLst>
          </p:cNvPr>
          <p:cNvSpPr txBox="1"/>
          <p:nvPr/>
        </p:nvSpPr>
        <p:spPr>
          <a:xfrm>
            <a:off x="4105993" y="4791622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D89A9-BC58-4269-9118-8A0EF2560B9D}"/>
              </a:ext>
            </a:extLst>
          </p:cNvPr>
          <p:cNvSpPr txBox="1"/>
          <p:nvPr/>
        </p:nvSpPr>
        <p:spPr>
          <a:xfrm>
            <a:off x="4103818" y="5578585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102482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0391-63AD-407A-8AC1-8AE7E299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2-Way Associative Cache in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A171C-42CD-4C4B-A2DF-CE873FE685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5" name="Rectangle 147">
            <a:extLst>
              <a:ext uri="{FF2B5EF4-FFF2-40B4-BE49-F238E27FC236}">
                <a16:creationId xmlns:a16="http://schemas.microsoft.com/office/drawing/2014/main" id="{177AF248-D9CF-48D8-9056-C5FECD607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634" y="1856596"/>
            <a:ext cx="1677311" cy="352287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/>
          </a:p>
        </p:txBody>
      </p:sp>
      <p:sp>
        <p:nvSpPr>
          <p:cNvPr id="6" name="Rectangle 106">
            <a:extLst>
              <a:ext uri="{FF2B5EF4-FFF2-40B4-BE49-F238E27FC236}">
                <a16:creationId xmlns:a16="http://schemas.microsoft.com/office/drawing/2014/main" id="{F7935B0F-97AC-47B3-92A7-C8F1EC648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065" y="1877960"/>
            <a:ext cx="5270470" cy="318194"/>
          </a:xfrm>
          <a:prstGeom prst="rect">
            <a:avLst/>
          </a:prstGeom>
          <a:solidFill>
            <a:srgbClr val="FFC0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65EE090C-F69C-47A9-8209-F7421EE14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535" y="1876067"/>
            <a:ext cx="1908274" cy="32577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/>
          </a:p>
        </p:txBody>
      </p:sp>
      <p:grpSp>
        <p:nvGrpSpPr>
          <p:cNvPr id="8" name="Group 108">
            <a:extLst>
              <a:ext uri="{FF2B5EF4-FFF2-40B4-BE49-F238E27FC236}">
                <a16:creationId xmlns:a16="http://schemas.microsoft.com/office/drawing/2014/main" id="{60F0DD9F-2CB8-44C1-BF9D-67A5B8122E8A}"/>
              </a:ext>
            </a:extLst>
          </p:cNvPr>
          <p:cNvGrpSpPr>
            <a:grpSpLocks/>
          </p:cNvGrpSpPr>
          <p:nvPr/>
        </p:nvGrpSpPr>
        <p:grpSpPr bwMode="auto">
          <a:xfrm>
            <a:off x="1226453" y="1480217"/>
            <a:ext cx="8969644" cy="761394"/>
            <a:chOff x="515" y="1470"/>
            <a:chExt cx="4738" cy="402"/>
          </a:xfrm>
        </p:grpSpPr>
        <p:sp>
          <p:nvSpPr>
            <p:cNvPr id="9" name="Rectangle 109">
              <a:extLst>
                <a:ext uri="{FF2B5EF4-FFF2-40B4-BE49-F238E27FC236}">
                  <a16:creationId xmlns:a16="http://schemas.microsoft.com/office/drawing/2014/main" id="{815289FB-8030-4373-9087-9BF8E132F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1662"/>
              <a:ext cx="8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Index</a:t>
              </a:r>
            </a:p>
          </p:txBody>
        </p:sp>
        <p:sp>
          <p:nvSpPr>
            <p:cNvPr id="10" name="Rectangle 110">
              <a:extLst>
                <a:ext uri="{FF2B5EF4-FFF2-40B4-BE49-F238E27FC236}">
                  <a16:creationId xmlns:a16="http://schemas.microsoft.com/office/drawing/2014/main" id="{B9C6DC11-0F54-4C19-BC7C-1443E45D7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" y="1674"/>
              <a:ext cx="4688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11">
              <a:extLst>
                <a:ext uri="{FF2B5EF4-FFF2-40B4-BE49-F238E27FC236}">
                  <a16:creationId xmlns:a16="http://schemas.microsoft.com/office/drawing/2014/main" id="{5FF31E48-ADF7-408B-ADFA-B068D4E9D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67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12">
              <a:extLst>
                <a:ext uri="{FF2B5EF4-FFF2-40B4-BE49-F238E27FC236}">
                  <a16:creationId xmlns:a16="http://schemas.microsoft.com/office/drawing/2014/main" id="{F33C7287-CFD0-452D-82B6-2A23FA101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" y="1470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" name="Rectangle 113">
              <a:extLst>
                <a:ext uri="{FF2B5EF4-FFF2-40B4-BE49-F238E27FC236}">
                  <a16:creationId xmlns:a16="http://schemas.microsoft.com/office/drawing/2014/main" id="{1C1529CC-94B9-4531-8ED3-64F591922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1470"/>
              <a:ext cx="151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" name="Rectangle 114">
              <a:extLst>
                <a:ext uri="{FF2B5EF4-FFF2-40B4-BE49-F238E27FC236}">
                  <a16:creationId xmlns:a16="http://schemas.microsoft.com/office/drawing/2014/main" id="{1324CB1F-6057-4018-B424-1FE2F8D45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" y="1470"/>
              <a:ext cx="2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15" name="Rectangle 115">
              <a:extLst>
                <a:ext uri="{FF2B5EF4-FFF2-40B4-BE49-F238E27FC236}">
                  <a16:creationId xmlns:a16="http://schemas.microsoft.com/office/drawing/2014/main" id="{A2EFFF4F-6403-4B01-A0D2-6D99CE783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655"/>
              <a:ext cx="7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Tag</a:t>
              </a:r>
            </a:p>
          </p:txBody>
        </p:sp>
        <p:sp>
          <p:nvSpPr>
            <p:cNvPr id="16" name="Line 116">
              <a:extLst>
                <a:ext uri="{FF2B5EF4-FFF2-40B4-BE49-F238E27FC236}">
                  <a16:creationId xmlns:a16="http://schemas.microsoft.com/office/drawing/2014/main" id="{6E015716-7BAF-442F-991A-DE8D4B73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7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17">
              <a:extLst>
                <a:ext uri="{FF2B5EF4-FFF2-40B4-BE49-F238E27FC236}">
                  <a16:creationId xmlns:a16="http://schemas.microsoft.com/office/drawing/2014/main" id="{3BC63E29-F49C-41B9-9051-E58A3A865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662"/>
              <a:ext cx="71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Byte Select</a:t>
              </a:r>
            </a:p>
          </p:txBody>
        </p:sp>
        <p:sp>
          <p:nvSpPr>
            <p:cNvPr id="18" name="Rectangle 118">
              <a:extLst>
                <a:ext uri="{FF2B5EF4-FFF2-40B4-BE49-F238E27FC236}">
                  <a16:creationId xmlns:a16="http://schemas.microsoft.com/office/drawing/2014/main" id="{79477D2C-B4D3-4700-9906-BD86407FD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" y="1470"/>
              <a:ext cx="205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 dirty="0">
                  <a:latin typeface="Times New Roman" panose="02020603050405020304" pitchFamily="18" charset="0"/>
                </a:rPr>
                <a:t>14</a:t>
              </a:r>
            </a:p>
          </p:txBody>
        </p:sp>
      </p:grpSp>
      <p:grpSp>
        <p:nvGrpSpPr>
          <p:cNvPr id="19" name="Group 140">
            <a:extLst>
              <a:ext uri="{FF2B5EF4-FFF2-40B4-BE49-F238E27FC236}">
                <a16:creationId xmlns:a16="http://schemas.microsoft.com/office/drawing/2014/main" id="{A97C9B01-8A98-4244-BDFE-BF3D7324BA79}"/>
              </a:ext>
            </a:extLst>
          </p:cNvPr>
          <p:cNvGrpSpPr>
            <a:grpSpLocks/>
          </p:cNvGrpSpPr>
          <p:nvPr/>
        </p:nvGrpSpPr>
        <p:grpSpPr bwMode="auto">
          <a:xfrm>
            <a:off x="474882" y="2561700"/>
            <a:ext cx="4916455" cy="1810678"/>
            <a:chOff x="35" y="2155"/>
            <a:chExt cx="2597" cy="956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D156124B-0631-4153-8368-83744CCE9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2359"/>
              <a:ext cx="992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F694A6CC-47CC-4124-9021-F36267A3C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2543"/>
              <a:ext cx="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FE87AAF1-C218-4F59-97FD-B16D11863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2927"/>
              <a:ext cx="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E8D3FBAB-B25E-41EF-900E-CE6AEFF05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" y="2155"/>
              <a:ext cx="75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Data</a:t>
              </a:r>
            </a:p>
          </p:txBody>
        </p:sp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B67B7566-8872-4113-96B5-9338503E1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5" y="2347"/>
              <a:ext cx="89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Block 0</a:t>
              </a: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5B0D9E17-514E-4349-8A03-1C0D669A8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" y="2359"/>
              <a:ext cx="1088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E5A107DD-A985-4EDB-815D-DAA7AA86D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2543"/>
              <a:ext cx="11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4F6398E3-09B4-4488-804A-7B0EC819C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" y="2927"/>
              <a:ext cx="11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Rectangle 12">
              <a:extLst>
                <a:ext uri="{FF2B5EF4-FFF2-40B4-BE49-F238E27FC236}">
                  <a16:creationId xmlns:a16="http://schemas.microsoft.com/office/drawing/2014/main" id="{54E03C56-3312-430B-973A-4D5F1E8A6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" y="2359"/>
              <a:ext cx="128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0D6EAC81-93C3-49AB-A0F9-6317DE425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" y="2543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888F9BB0-1E96-41CB-87F1-54D36B772D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" y="2927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ADA7F1B0-5F3F-4075-83EC-0C1C86881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2155"/>
              <a:ext cx="7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Tag</a:t>
              </a:r>
            </a:p>
          </p:txBody>
        </p:sp>
        <p:sp>
          <p:nvSpPr>
            <p:cNvPr id="32" name="Rectangle 16">
              <a:extLst>
                <a:ext uri="{FF2B5EF4-FFF2-40B4-BE49-F238E27FC236}">
                  <a16:creationId xmlns:a16="http://schemas.microsoft.com/office/drawing/2014/main" id="{3146F67E-6158-4378-A206-2FF18B37B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" y="2155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Valid</a:t>
              </a:r>
            </a:p>
          </p:txBody>
        </p:sp>
        <p:sp>
          <p:nvSpPr>
            <p:cNvPr id="33" name="Rectangle 17">
              <a:extLst>
                <a:ext uri="{FF2B5EF4-FFF2-40B4-BE49-F238E27FC236}">
                  <a16:creationId xmlns:a16="http://schemas.microsoft.com/office/drawing/2014/main" id="{FE6B0C67-E748-4E00-86C5-FAA60E1E8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" y="2578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EF313FF4-52A3-47C4-854C-0EE86C346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2578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A2F9A661-FD5C-4284-BC9E-8AB4A0632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" y="2578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</p:grpSp>
      <p:grpSp>
        <p:nvGrpSpPr>
          <p:cNvPr id="36" name="Group 20">
            <a:extLst>
              <a:ext uri="{FF2B5EF4-FFF2-40B4-BE49-F238E27FC236}">
                <a16:creationId xmlns:a16="http://schemas.microsoft.com/office/drawing/2014/main" id="{30FBC067-1244-4D79-AE03-D621A4642B81}"/>
              </a:ext>
            </a:extLst>
          </p:cNvPr>
          <p:cNvGrpSpPr>
            <a:grpSpLocks/>
          </p:cNvGrpSpPr>
          <p:nvPr/>
        </p:nvGrpSpPr>
        <p:grpSpPr bwMode="auto">
          <a:xfrm>
            <a:off x="6281107" y="2569276"/>
            <a:ext cx="4941066" cy="1803102"/>
            <a:chOff x="3102" y="2064"/>
            <a:chExt cx="2610" cy="952"/>
          </a:xfrm>
        </p:grpSpPr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E651518D-4CDE-4C64-B0BE-BA623D5FE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2264"/>
              <a:ext cx="992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Line 22">
              <a:extLst>
                <a:ext uri="{FF2B5EF4-FFF2-40B4-BE49-F238E27FC236}">
                  <a16:creationId xmlns:a16="http://schemas.microsoft.com/office/drawing/2014/main" id="{431B9B8D-9DC9-4064-8FBD-04EFAC033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2" y="2448"/>
              <a:ext cx="10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Line 23">
              <a:extLst>
                <a:ext uri="{FF2B5EF4-FFF2-40B4-BE49-F238E27FC236}">
                  <a16:creationId xmlns:a16="http://schemas.microsoft.com/office/drawing/2014/main" id="{030EF955-51AF-44EE-8FCA-97A37BA54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2" y="2832"/>
              <a:ext cx="10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8B4DA7CE-2B04-4015-8B55-0EAA472677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33" y="2064"/>
              <a:ext cx="75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Data</a:t>
              </a:r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9B70751D-8874-41D8-B217-E6F4374871C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35" y="2256"/>
              <a:ext cx="89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Block 0</a:t>
              </a:r>
            </a:p>
          </p:txBody>
        </p:sp>
        <p:sp>
          <p:nvSpPr>
            <p:cNvPr id="42" name="Rectangle 26">
              <a:extLst>
                <a:ext uri="{FF2B5EF4-FFF2-40B4-BE49-F238E27FC236}">
                  <a16:creationId xmlns:a16="http://schemas.microsoft.com/office/drawing/2014/main" id="{824DBA8D-7FBD-4DC3-B175-AC6A04013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2264"/>
              <a:ext cx="1088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F03AB524-DCA0-48C7-92FE-487EB98B4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2" y="2448"/>
              <a:ext cx="1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" name="Line 28">
              <a:extLst>
                <a:ext uri="{FF2B5EF4-FFF2-40B4-BE49-F238E27FC236}">
                  <a16:creationId xmlns:a16="http://schemas.microsoft.com/office/drawing/2014/main" id="{EF4F92E3-EC38-44D6-A067-AC652F002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2" y="2832"/>
              <a:ext cx="1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004D0622-7EF2-4B13-A708-C00735071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" y="2264"/>
              <a:ext cx="128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Line 30">
              <a:extLst>
                <a:ext uri="{FF2B5EF4-FFF2-40B4-BE49-F238E27FC236}">
                  <a16:creationId xmlns:a16="http://schemas.microsoft.com/office/drawing/2014/main" id="{AA890142-3B49-4AAE-866C-FA717B689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2" y="244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Line 31">
              <a:extLst>
                <a:ext uri="{FF2B5EF4-FFF2-40B4-BE49-F238E27FC236}">
                  <a16:creationId xmlns:a16="http://schemas.microsoft.com/office/drawing/2014/main" id="{E5844D59-1ABA-49BB-A9D3-694089256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2" y="283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Rectangle 32">
              <a:extLst>
                <a:ext uri="{FF2B5EF4-FFF2-40B4-BE49-F238E27FC236}">
                  <a16:creationId xmlns:a16="http://schemas.microsoft.com/office/drawing/2014/main" id="{49934370-CA58-48A4-BBA2-BD5EBC1C429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34" y="2064"/>
              <a:ext cx="7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Cache Tag</a:t>
              </a:r>
            </a:p>
          </p:txBody>
        </p:sp>
        <p:sp>
          <p:nvSpPr>
            <p:cNvPr id="49" name="Rectangle 33">
              <a:extLst>
                <a:ext uri="{FF2B5EF4-FFF2-40B4-BE49-F238E27FC236}">
                  <a16:creationId xmlns:a16="http://schemas.microsoft.com/office/drawing/2014/main" id="{54D7D84A-8114-4F6A-A89F-9ABEFCCC07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299" y="2064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Valid</a:t>
              </a:r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D9B5F007-1ED9-44A1-9C57-1FF04E5D30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69" y="2487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3F1F5E4B-B121-4C63-95D2-FA96163A39A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389" y="2487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C3243AED-1348-4839-92DA-D47E0E1982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517" y="2487"/>
              <a:ext cx="17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2400">
                  <a:latin typeface="Times New Roman" panose="02020603050405020304" pitchFamily="18" charset="0"/>
                </a:rPr>
                <a:t>:</a:t>
              </a:r>
            </a:p>
          </p:txBody>
        </p:sp>
      </p:grpSp>
      <p:grpSp>
        <p:nvGrpSpPr>
          <p:cNvPr id="53" name="Group 122">
            <a:extLst>
              <a:ext uri="{FF2B5EF4-FFF2-40B4-BE49-F238E27FC236}">
                <a16:creationId xmlns:a16="http://schemas.microsoft.com/office/drawing/2014/main" id="{ABAF3553-77B0-47A1-B177-5DF5522E2426}"/>
              </a:ext>
            </a:extLst>
          </p:cNvPr>
          <p:cNvGrpSpPr>
            <a:grpSpLocks/>
          </p:cNvGrpSpPr>
          <p:nvPr/>
        </p:nvGrpSpPr>
        <p:grpSpPr bwMode="auto">
          <a:xfrm>
            <a:off x="5421627" y="2207518"/>
            <a:ext cx="1983999" cy="2000079"/>
            <a:chOff x="2648" y="1968"/>
            <a:chExt cx="1048" cy="1056"/>
          </a:xfrm>
        </p:grpSpPr>
        <p:sp>
          <p:nvSpPr>
            <p:cNvPr id="54" name="Freeform 121">
              <a:extLst>
                <a:ext uri="{FF2B5EF4-FFF2-40B4-BE49-F238E27FC236}">
                  <a16:creationId xmlns:a16="http://schemas.microsoft.com/office/drawing/2014/main" id="{A91A8AD5-4BF3-460C-A6F1-BD2B6EC7B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968"/>
              <a:ext cx="816" cy="1056"/>
            </a:xfrm>
            <a:custGeom>
              <a:avLst/>
              <a:gdLst>
                <a:gd name="T0" fmla="*/ 816 w 816"/>
                <a:gd name="T1" fmla="*/ 0 h 1056"/>
                <a:gd name="T2" fmla="*/ 816 w 816"/>
                <a:gd name="T3" fmla="*/ 96 h 1056"/>
                <a:gd name="T4" fmla="*/ 0 w 816"/>
                <a:gd name="T5" fmla="*/ 96 h 1056"/>
                <a:gd name="T6" fmla="*/ 0 w 816"/>
                <a:gd name="T7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1056">
                  <a:moveTo>
                    <a:pt x="816" y="0"/>
                  </a:moveTo>
                  <a:lnTo>
                    <a:pt x="816" y="96"/>
                  </a:lnTo>
                  <a:lnTo>
                    <a:pt x="0" y="96"/>
                  </a:lnTo>
                  <a:lnTo>
                    <a:pt x="0" y="105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IN"/>
            </a:p>
          </p:txBody>
        </p:sp>
        <p:sp>
          <p:nvSpPr>
            <p:cNvPr id="55" name="Line 38">
              <a:extLst>
                <a:ext uri="{FF2B5EF4-FFF2-40B4-BE49-F238E27FC236}">
                  <a16:creationId xmlns:a16="http://schemas.microsoft.com/office/drawing/2014/main" id="{6AACC435-DCCC-4650-A6A1-EAC486065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3023"/>
              <a:ext cx="4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6" name="Rectangle 119">
            <a:extLst>
              <a:ext uri="{FF2B5EF4-FFF2-40B4-BE49-F238E27FC236}">
                <a16:creationId xmlns:a16="http://schemas.microsoft.com/office/drawing/2014/main" id="{F6C64EBA-B95A-4B23-8573-32E4F695D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338" y="5946303"/>
            <a:ext cx="5088730" cy="7273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IN"/>
          </a:p>
        </p:txBody>
      </p:sp>
      <p:grpSp>
        <p:nvGrpSpPr>
          <p:cNvPr id="57" name="Group 103">
            <a:extLst>
              <a:ext uri="{FF2B5EF4-FFF2-40B4-BE49-F238E27FC236}">
                <a16:creationId xmlns:a16="http://schemas.microsoft.com/office/drawing/2014/main" id="{F368395A-9B9A-41BB-90CA-74DFCA4F6E42}"/>
              </a:ext>
            </a:extLst>
          </p:cNvPr>
          <p:cNvGrpSpPr>
            <a:grpSpLocks/>
          </p:cNvGrpSpPr>
          <p:nvPr/>
        </p:nvGrpSpPr>
        <p:grpSpPr bwMode="auto">
          <a:xfrm>
            <a:off x="4382300" y="4389423"/>
            <a:ext cx="2947601" cy="2193268"/>
            <a:chOff x="2099" y="2936"/>
            <a:chExt cx="1557" cy="1158"/>
          </a:xfrm>
        </p:grpSpPr>
        <p:sp>
          <p:nvSpPr>
            <p:cNvPr id="58" name="Line 41">
              <a:extLst>
                <a:ext uri="{FF2B5EF4-FFF2-40B4-BE49-F238E27FC236}">
                  <a16:creationId xmlns:a16="http://schemas.microsoft.com/office/drawing/2014/main" id="{B7A76282-519E-40E0-B327-C32E9ABF1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3312"/>
              <a:ext cx="1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" name="Line 42">
              <a:extLst>
                <a:ext uri="{FF2B5EF4-FFF2-40B4-BE49-F238E27FC236}">
                  <a16:creationId xmlns:a16="http://schemas.microsoft.com/office/drawing/2014/main" id="{59D6F85B-11E2-47E0-A64C-FAD6F83EC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3320"/>
              <a:ext cx="128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Line 43">
              <a:extLst>
                <a:ext uri="{FF2B5EF4-FFF2-40B4-BE49-F238E27FC236}">
                  <a16:creationId xmlns:a16="http://schemas.microsoft.com/office/drawing/2014/main" id="{AAE102EA-33F0-4B22-888A-50C9D9830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3504"/>
              <a:ext cx="12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" name="Line 44">
              <a:extLst>
                <a:ext uri="{FF2B5EF4-FFF2-40B4-BE49-F238E27FC236}">
                  <a16:creationId xmlns:a16="http://schemas.microsoft.com/office/drawing/2014/main" id="{17591755-F77B-4F9F-B938-842597526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6" y="3320"/>
              <a:ext cx="16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2" name="Rectangle 45">
              <a:extLst>
                <a:ext uri="{FF2B5EF4-FFF2-40B4-BE49-F238E27FC236}">
                  <a16:creationId xmlns:a16="http://schemas.microsoft.com/office/drawing/2014/main" id="{E3F61FA7-2521-4627-9C69-0C8AA7E6D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3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Mux</a:t>
              </a:r>
            </a:p>
          </p:txBody>
        </p:sp>
        <p:sp>
          <p:nvSpPr>
            <p:cNvPr id="63" name="Line 46">
              <a:extLst>
                <a:ext uri="{FF2B5EF4-FFF2-40B4-BE49-F238E27FC236}">
                  <a16:creationId xmlns:a16="http://schemas.microsoft.com/office/drawing/2014/main" id="{B9A43F38-BF86-4F3F-9068-758C23B35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936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" name="Line 47">
              <a:extLst>
                <a:ext uri="{FF2B5EF4-FFF2-40B4-BE49-F238E27FC236}">
                  <a16:creationId xmlns:a16="http://schemas.microsoft.com/office/drawing/2014/main" id="{5C62EF1D-75D0-495E-A7A4-20B3FDF61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936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" name="Rectangle 48">
              <a:extLst>
                <a:ext uri="{FF2B5EF4-FFF2-40B4-BE49-F238E27FC236}">
                  <a16:creationId xmlns:a16="http://schemas.microsoft.com/office/drawing/2014/main" id="{F6161880-A4C3-4C88-8EED-D9C553B8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3275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Rectangle 49">
              <a:extLst>
                <a:ext uri="{FF2B5EF4-FFF2-40B4-BE49-F238E27FC236}">
                  <a16:creationId xmlns:a16="http://schemas.microsoft.com/office/drawing/2014/main" id="{D5812683-5A73-45D2-9BF7-825688778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3275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Rectangle 50">
              <a:extLst>
                <a:ext uri="{FF2B5EF4-FFF2-40B4-BE49-F238E27FC236}">
                  <a16:creationId xmlns:a16="http://schemas.microsoft.com/office/drawing/2014/main" id="{F781BACE-90B4-4272-85AB-9AB143008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3323"/>
              <a:ext cx="31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400" b="0">
                  <a:latin typeface="Times New Roman" panose="02020603050405020304" pitchFamily="18" charset="0"/>
                </a:rPr>
                <a:t>Sel1</a:t>
              </a:r>
            </a:p>
          </p:txBody>
        </p:sp>
        <p:sp>
          <p:nvSpPr>
            <p:cNvPr id="68" name="Rectangle 51">
              <a:extLst>
                <a:ext uri="{FF2B5EF4-FFF2-40B4-BE49-F238E27FC236}">
                  <a16:creationId xmlns:a16="http://schemas.microsoft.com/office/drawing/2014/main" id="{8E6D085D-D0E2-4CD4-A0BB-F014B254D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323"/>
              <a:ext cx="31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400" b="0">
                  <a:latin typeface="Times New Roman" panose="02020603050405020304" pitchFamily="18" charset="0"/>
                </a:rPr>
                <a:t>Sel0</a:t>
              </a:r>
            </a:p>
          </p:txBody>
        </p:sp>
        <p:sp>
          <p:nvSpPr>
            <p:cNvPr id="69" name="Line 52">
              <a:extLst>
                <a:ext uri="{FF2B5EF4-FFF2-40B4-BE49-F238E27FC236}">
                  <a16:creationId xmlns:a16="http://schemas.microsoft.com/office/drawing/2014/main" id="{2C994AC9-8B25-4B0A-973E-812359BB2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512"/>
              <a:ext cx="0" cy="4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" name="Rectangle 53">
              <a:extLst>
                <a:ext uri="{FF2B5EF4-FFF2-40B4-BE49-F238E27FC236}">
                  <a16:creationId xmlns:a16="http://schemas.microsoft.com/office/drawing/2014/main" id="{5E87AF1A-544A-426D-A609-8A8E16CC3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" y="3788"/>
              <a:ext cx="11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71" name="Oval 90">
              <a:extLst>
                <a:ext uri="{FF2B5EF4-FFF2-40B4-BE49-F238E27FC236}">
                  <a16:creationId xmlns:a16="http://schemas.microsoft.com/office/drawing/2014/main" id="{1884B031-2B6B-4D93-8213-5BC3D479B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3560"/>
              <a:ext cx="272" cy="27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" name="Rectangle 91">
              <a:extLst>
                <a:ext uri="{FF2B5EF4-FFF2-40B4-BE49-F238E27FC236}">
                  <a16:creationId xmlns:a16="http://schemas.microsoft.com/office/drawing/2014/main" id="{4E32D08D-3F64-4C1B-92DA-E61E1696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" y="3596"/>
              <a:ext cx="3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OR</a:t>
              </a:r>
            </a:p>
          </p:txBody>
        </p:sp>
        <p:sp>
          <p:nvSpPr>
            <p:cNvPr id="73" name="Line 92">
              <a:extLst>
                <a:ext uri="{FF2B5EF4-FFF2-40B4-BE49-F238E27FC236}">
                  <a16:creationId xmlns:a16="http://schemas.microsoft.com/office/drawing/2014/main" id="{165F8847-0D76-4EB2-82F6-E85802FE2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4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" name="Line 93">
              <a:extLst>
                <a:ext uri="{FF2B5EF4-FFF2-40B4-BE49-F238E27FC236}">
                  <a16:creationId xmlns:a16="http://schemas.microsoft.com/office/drawing/2014/main" id="{F4355462-4E41-4812-B695-1EBBE52E9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3696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5" name="Line 94">
              <a:extLst>
                <a:ext uri="{FF2B5EF4-FFF2-40B4-BE49-F238E27FC236}">
                  <a16:creationId xmlns:a16="http://schemas.microsoft.com/office/drawing/2014/main" id="{A86661C3-7161-49E2-8054-187010219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4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6" name="Line 95">
              <a:extLst>
                <a:ext uri="{FF2B5EF4-FFF2-40B4-BE49-F238E27FC236}">
                  <a16:creationId xmlns:a16="http://schemas.microsoft.com/office/drawing/2014/main" id="{84191D2D-D7B5-4003-AAFA-F96109145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3696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7" name="Line 96">
              <a:extLst>
                <a:ext uri="{FF2B5EF4-FFF2-40B4-BE49-F238E27FC236}">
                  <a16:creationId xmlns:a16="http://schemas.microsoft.com/office/drawing/2014/main" id="{B4B54BD4-36D1-4C68-A7D7-132E597D2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848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8" name="Rectangle 97">
              <a:extLst>
                <a:ext uri="{FF2B5EF4-FFF2-40B4-BE49-F238E27FC236}">
                  <a16:creationId xmlns:a16="http://schemas.microsoft.com/office/drawing/2014/main" id="{7501D085-85EC-4AA8-98A4-E3E375BD1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3884"/>
              <a:ext cx="29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SzTx/>
              </a:pPr>
              <a:r>
                <a:rPr lang="en-US" altLang="en-US" sz="1600">
                  <a:latin typeface="Times New Roman" panose="02020603050405020304" pitchFamily="18" charset="0"/>
                </a:rPr>
                <a:t>Hit</a:t>
              </a:r>
            </a:p>
          </p:txBody>
        </p:sp>
      </p:grpSp>
      <p:sp>
        <p:nvSpPr>
          <p:cNvPr id="79" name="Rectangle 40">
            <a:extLst>
              <a:ext uri="{FF2B5EF4-FFF2-40B4-BE49-F238E27FC236}">
                <a16:creationId xmlns:a16="http://schemas.microsoft.com/office/drawing/2014/main" id="{3A7C6E55-0524-44AC-832A-055688E7B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232" y="3842053"/>
            <a:ext cx="10328910" cy="606085"/>
          </a:xfrm>
          <a:prstGeom prst="rect">
            <a:avLst/>
          </a:prstGeom>
          <a:noFill/>
          <a:ln w="25400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" name="Freeform 124">
            <a:extLst>
              <a:ext uri="{FF2B5EF4-FFF2-40B4-BE49-F238E27FC236}">
                <a16:creationId xmlns:a16="http://schemas.microsoft.com/office/drawing/2014/main" id="{EF8ABCB4-E2D8-4277-981B-A32E805F23BA}"/>
              </a:ext>
            </a:extLst>
          </p:cNvPr>
          <p:cNvSpPr>
            <a:spLocks/>
          </p:cNvSpPr>
          <p:nvPr/>
        </p:nvSpPr>
        <p:spPr bwMode="auto">
          <a:xfrm>
            <a:off x="1589934" y="4662161"/>
            <a:ext cx="8723537" cy="545476"/>
          </a:xfrm>
          <a:custGeom>
            <a:avLst/>
            <a:gdLst>
              <a:gd name="T0" fmla="*/ 0 w 4608"/>
              <a:gd name="T1" fmla="*/ 0 h 288"/>
              <a:gd name="T2" fmla="*/ 4608 w 4608"/>
              <a:gd name="T3" fmla="*/ 0 h 288"/>
              <a:gd name="T4" fmla="*/ 4608 w 4608"/>
              <a:gd name="T5" fmla="*/ 288 h 288"/>
              <a:gd name="T6" fmla="*/ 4272 w 4608"/>
              <a:gd name="T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08" h="288">
                <a:moveTo>
                  <a:pt x="0" y="0"/>
                </a:moveTo>
                <a:lnTo>
                  <a:pt x="4608" y="0"/>
                </a:lnTo>
                <a:lnTo>
                  <a:pt x="4608" y="288"/>
                </a:lnTo>
                <a:lnTo>
                  <a:pt x="4272" y="288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IN"/>
          </a:p>
        </p:txBody>
      </p:sp>
      <p:grpSp>
        <p:nvGrpSpPr>
          <p:cNvPr id="81" name="Group 146">
            <a:extLst>
              <a:ext uri="{FF2B5EF4-FFF2-40B4-BE49-F238E27FC236}">
                <a16:creationId xmlns:a16="http://schemas.microsoft.com/office/drawing/2014/main" id="{869E57AA-6B4B-45D1-B8C9-3931D2A59B37}"/>
              </a:ext>
            </a:extLst>
          </p:cNvPr>
          <p:cNvGrpSpPr>
            <a:grpSpLocks/>
          </p:cNvGrpSpPr>
          <p:nvPr/>
        </p:nvGrpSpPr>
        <p:grpSpPr bwMode="auto">
          <a:xfrm>
            <a:off x="938698" y="4402682"/>
            <a:ext cx="9829124" cy="1259519"/>
            <a:chOff x="280" y="3127"/>
            <a:chExt cx="5192" cy="665"/>
          </a:xfrm>
        </p:grpSpPr>
        <p:grpSp>
          <p:nvGrpSpPr>
            <p:cNvPr id="82" name="Group 144">
              <a:extLst>
                <a:ext uri="{FF2B5EF4-FFF2-40B4-BE49-F238E27FC236}">
                  <a16:creationId xmlns:a16="http://schemas.microsoft.com/office/drawing/2014/main" id="{4A3CC5B2-2CD4-4FFB-BEF7-08A295E45B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3127"/>
              <a:ext cx="1934" cy="664"/>
              <a:chOff x="280" y="3127"/>
              <a:chExt cx="1934" cy="664"/>
            </a:xfrm>
          </p:grpSpPr>
          <p:grpSp>
            <p:nvGrpSpPr>
              <p:cNvPr id="97" name="Group 126">
                <a:extLst>
                  <a:ext uri="{FF2B5EF4-FFF2-40B4-BE49-F238E27FC236}">
                    <a16:creationId xmlns:a16="http://schemas.microsoft.com/office/drawing/2014/main" id="{56BC153F-3FEF-4C44-A623-3D8F5B8FF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0" y="3503"/>
                <a:ext cx="494" cy="288"/>
                <a:chOff x="1720" y="3503"/>
                <a:chExt cx="494" cy="288"/>
              </a:xfrm>
            </p:grpSpPr>
            <p:grpSp>
              <p:nvGrpSpPr>
                <p:cNvPr id="106" name="Group 125">
                  <a:extLst>
                    <a:ext uri="{FF2B5EF4-FFF2-40B4-BE49-F238E27FC236}">
                      <a16:creationId xmlns:a16="http://schemas.microsoft.com/office/drawing/2014/main" id="{5CE6A137-542C-4570-9909-1247D099A4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20" y="3503"/>
                  <a:ext cx="321" cy="288"/>
                  <a:chOff x="1720" y="3503"/>
                  <a:chExt cx="321" cy="288"/>
                </a:xfrm>
              </p:grpSpPr>
              <p:sp>
                <p:nvSpPr>
                  <p:cNvPr id="108" name="Arc 57">
                    <a:extLst>
                      <a:ext uri="{FF2B5EF4-FFF2-40B4-BE49-F238E27FC236}">
                        <a16:creationId xmlns:a16="http://schemas.microsoft.com/office/drawing/2014/main" id="{AC0CDD9E-FE89-4E47-9F8D-181DB7C829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8" y="3504"/>
                    <a:ext cx="192" cy="13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09" name="Arc 58">
                    <a:extLst>
                      <a:ext uri="{FF2B5EF4-FFF2-40B4-BE49-F238E27FC236}">
                        <a16:creationId xmlns:a16="http://schemas.microsoft.com/office/drawing/2014/main" id="{58256247-CC66-4501-B2B6-32E3D9EE5C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851" y="3644"/>
                    <a:ext cx="190" cy="146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0 w 21600"/>
                      <a:gd name="T1" fmla="*/ 21600 h 21600"/>
                      <a:gd name="T2" fmla="*/ 21488 w 21600"/>
                      <a:gd name="T3" fmla="*/ 0 h 21600"/>
                      <a:gd name="T4" fmla="*/ 2160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14"/>
                          <a:pt x="9602" y="61"/>
                          <a:pt x="21488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14"/>
                          <a:pt x="9602" y="61"/>
                          <a:pt x="21488" y="0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10" name="Line 59">
                    <a:extLst>
                      <a:ext uri="{FF2B5EF4-FFF2-40B4-BE49-F238E27FC236}">
                        <a16:creationId xmlns:a16="http://schemas.microsoft.com/office/drawing/2014/main" id="{92564D23-A10C-498F-B853-FFC96CD14A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20" y="3503"/>
                    <a:ext cx="1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11" name="Line 60">
                    <a:extLst>
                      <a:ext uri="{FF2B5EF4-FFF2-40B4-BE49-F238E27FC236}">
                        <a16:creationId xmlns:a16="http://schemas.microsoft.com/office/drawing/2014/main" id="{36ED07AD-B6F0-40C6-AC34-0A4F157BDD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3511"/>
                    <a:ext cx="0" cy="27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12" name="Line 61">
                    <a:extLst>
                      <a:ext uri="{FF2B5EF4-FFF2-40B4-BE49-F238E27FC236}">
                        <a16:creationId xmlns:a16="http://schemas.microsoft.com/office/drawing/2014/main" id="{C864A54C-DE7C-48E9-9CB3-79C0366AB9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20" y="3791"/>
                    <a:ext cx="1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07" name="Line 62">
                  <a:extLst>
                    <a:ext uri="{FF2B5EF4-FFF2-40B4-BE49-F238E27FC236}">
                      <a16:creationId xmlns:a16="http://schemas.microsoft.com/office/drawing/2014/main" id="{AC1337D2-A1B8-4C39-AC33-08D47E1BA2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40" y="3646"/>
                  <a:ext cx="174" cy="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grpSp>
            <p:nvGrpSpPr>
              <p:cNvPr id="98" name="Group 141">
                <a:extLst>
                  <a:ext uri="{FF2B5EF4-FFF2-40B4-BE49-F238E27FC236}">
                    <a16:creationId xmlns:a16="http://schemas.microsoft.com/office/drawing/2014/main" id="{13DD6CE6-FBF0-4769-8851-A59B3799C5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" y="3127"/>
                <a:ext cx="1456" cy="616"/>
                <a:chOff x="280" y="3127"/>
                <a:chExt cx="1456" cy="616"/>
              </a:xfrm>
            </p:grpSpPr>
            <p:sp>
              <p:nvSpPr>
                <p:cNvPr id="99" name="Oval 54">
                  <a:extLst>
                    <a:ext uri="{FF2B5EF4-FFF2-40B4-BE49-F238E27FC236}">
                      <a16:creationId xmlns:a16="http://schemas.microsoft.com/office/drawing/2014/main" id="{5F88B805-3029-4525-8354-90BBB0962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2" y="3415"/>
                  <a:ext cx="560" cy="272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00" name="Line 63">
                  <a:extLst>
                    <a:ext uri="{FF2B5EF4-FFF2-40B4-BE49-F238E27FC236}">
                      <a16:creationId xmlns:a16="http://schemas.microsoft.com/office/drawing/2014/main" id="{CC05C846-9BA8-4CDE-930C-009D5218C6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64" y="3551"/>
                  <a:ext cx="16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01" name="Line 64">
                  <a:extLst>
                    <a:ext uri="{FF2B5EF4-FFF2-40B4-BE49-F238E27FC236}">
                      <a16:creationId xmlns:a16="http://schemas.microsoft.com/office/drawing/2014/main" id="{C07CD236-B95E-4724-A4C6-DFC12F41F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76" y="3743"/>
                  <a:ext cx="16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02" name="Rectangle 65">
                  <a:extLst>
                    <a:ext uri="{FF2B5EF4-FFF2-40B4-BE49-F238E27FC236}">
                      <a16:creationId xmlns:a16="http://schemas.microsoft.com/office/drawing/2014/main" id="{A1199E32-3133-472E-A786-675002020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1" y="3451"/>
                  <a:ext cx="62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ct val="0"/>
                    </a:spcBef>
                    <a:buSzTx/>
                  </a:pPr>
                  <a:r>
                    <a:rPr lang="en-US" altLang="en-US" sz="1600">
                      <a:latin typeface="Times New Roman" panose="02020603050405020304" pitchFamily="18" charset="0"/>
                    </a:rPr>
                    <a:t>Compare</a:t>
                  </a:r>
                </a:p>
              </p:txBody>
            </p:sp>
            <p:sp>
              <p:nvSpPr>
                <p:cNvPr id="103" name="Line 66">
                  <a:extLst>
                    <a:ext uri="{FF2B5EF4-FFF2-40B4-BE49-F238E27FC236}">
                      <a16:creationId xmlns:a16="http://schemas.microsoft.com/office/drawing/2014/main" id="{8B97A995-47E4-4FBD-B0EF-B1C5CC61C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6" y="3551"/>
                  <a:ext cx="1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04" name="Line 67">
                  <a:extLst>
                    <a:ext uri="{FF2B5EF4-FFF2-40B4-BE49-F238E27FC236}">
                      <a16:creationId xmlns:a16="http://schemas.microsoft.com/office/drawing/2014/main" id="{F17E41AD-E587-4244-BB58-B2A6F960B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0" y="3743"/>
                  <a:ext cx="131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05" name="Line 68">
                  <a:extLst>
                    <a:ext uri="{FF2B5EF4-FFF2-40B4-BE49-F238E27FC236}">
                      <a16:creationId xmlns:a16="http://schemas.microsoft.com/office/drawing/2014/main" id="{E47244EE-B43C-4C70-B300-C4C036F4D1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3127"/>
                  <a:ext cx="0" cy="60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83" name="Group 145">
              <a:extLst>
                <a:ext uri="{FF2B5EF4-FFF2-40B4-BE49-F238E27FC236}">
                  <a16:creationId xmlns:a16="http://schemas.microsoft.com/office/drawing/2014/main" id="{31B31EAA-DE13-44C8-80F2-1B0DD5704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2" y="3127"/>
              <a:ext cx="1950" cy="665"/>
              <a:chOff x="3522" y="3127"/>
              <a:chExt cx="1950" cy="665"/>
            </a:xfrm>
          </p:grpSpPr>
          <p:grpSp>
            <p:nvGrpSpPr>
              <p:cNvPr id="84" name="Group 143">
                <a:extLst>
                  <a:ext uri="{FF2B5EF4-FFF2-40B4-BE49-F238E27FC236}">
                    <a16:creationId xmlns:a16="http://schemas.microsoft.com/office/drawing/2014/main" id="{206EF914-63AE-41DE-B620-15E97D8F17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5" y="3127"/>
                <a:ext cx="1617" cy="665"/>
                <a:chOff x="3855" y="3127"/>
                <a:chExt cx="1617" cy="665"/>
              </a:xfrm>
            </p:grpSpPr>
            <p:sp>
              <p:nvSpPr>
                <p:cNvPr id="86" name="Oval 73">
                  <a:extLst>
                    <a:ext uri="{FF2B5EF4-FFF2-40B4-BE49-F238E27FC236}">
                      <a16:creationId xmlns:a16="http://schemas.microsoft.com/office/drawing/2014/main" id="{5F66A740-8BAB-46C6-B568-FAB47AC83B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415"/>
                  <a:ext cx="560" cy="272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FCC5198C-81E4-482D-BA19-B83191199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279" y="3455"/>
                  <a:ext cx="62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l">
                    <a:lnSpc>
                      <a:spcPct val="100000"/>
                    </a:lnSpc>
                    <a:spcBef>
                      <a:spcPct val="0"/>
                    </a:spcBef>
                    <a:buSzTx/>
                  </a:pPr>
                  <a:r>
                    <a:rPr lang="en-US" altLang="en-US" sz="1600">
                      <a:latin typeface="Times New Roman" panose="02020603050405020304" pitchFamily="18" charset="0"/>
                    </a:rPr>
                    <a:t>Compare</a:t>
                  </a:r>
                </a:p>
              </p:txBody>
            </p:sp>
            <p:sp>
              <p:nvSpPr>
                <p:cNvPr id="88" name="Line 85">
                  <a:extLst>
                    <a:ext uri="{FF2B5EF4-FFF2-40B4-BE49-F238E27FC236}">
                      <a16:creationId xmlns:a16="http://schemas.microsoft.com/office/drawing/2014/main" id="{B8AAC35A-F4E5-46CB-8B4D-BE36570360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68" y="3551"/>
                  <a:ext cx="16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9" name="Line 86">
                  <a:extLst>
                    <a:ext uri="{FF2B5EF4-FFF2-40B4-BE49-F238E27FC236}">
                      <a16:creationId xmlns:a16="http://schemas.microsoft.com/office/drawing/2014/main" id="{8CB6A949-5503-40CF-8ABF-EABFD37001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743"/>
                  <a:ext cx="12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90" name="Line 87">
                  <a:extLst>
                    <a:ext uri="{FF2B5EF4-FFF2-40B4-BE49-F238E27FC236}">
                      <a16:creationId xmlns:a16="http://schemas.microsoft.com/office/drawing/2014/main" id="{AC34E484-2F05-4916-905E-F3425AC345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72" y="3127"/>
                  <a:ext cx="0" cy="60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grpSp>
              <p:nvGrpSpPr>
                <p:cNvPr id="91" name="Group 128">
                  <a:extLst>
                    <a:ext uri="{FF2B5EF4-FFF2-40B4-BE49-F238E27FC236}">
                      <a16:creationId xmlns:a16="http://schemas.microsoft.com/office/drawing/2014/main" id="{1892C135-984B-437F-9AC5-AA41F822B4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3855" y="3504"/>
                  <a:ext cx="321" cy="288"/>
                  <a:chOff x="1720" y="3503"/>
                  <a:chExt cx="321" cy="288"/>
                </a:xfrm>
              </p:grpSpPr>
              <p:sp>
                <p:nvSpPr>
                  <p:cNvPr id="92" name="Arc 129">
                    <a:extLst>
                      <a:ext uri="{FF2B5EF4-FFF2-40B4-BE49-F238E27FC236}">
                        <a16:creationId xmlns:a16="http://schemas.microsoft.com/office/drawing/2014/main" id="{939C5146-01CE-423F-AF64-5DB5FC4C59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8" y="3504"/>
                    <a:ext cx="192" cy="13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93" name="Arc 130">
                    <a:extLst>
                      <a:ext uri="{FF2B5EF4-FFF2-40B4-BE49-F238E27FC236}">
                        <a16:creationId xmlns:a16="http://schemas.microsoft.com/office/drawing/2014/main" id="{AC0F1FD9-96F8-42AE-A61E-53340A4EA7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>
                    <a:off x="1851" y="3644"/>
                    <a:ext cx="190" cy="146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0 w 21600"/>
                      <a:gd name="T1" fmla="*/ 21600 h 21600"/>
                      <a:gd name="T2" fmla="*/ 21488 w 21600"/>
                      <a:gd name="T3" fmla="*/ 0 h 21600"/>
                      <a:gd name="T4" fmla="*/ 2160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21600"/>
                        </a:moveTo>
                        <a:cubicBezTo>
                          <a:pt x="0" y="9714"/>
                          <a:pt x="9602" y="61"/>
                          <a:pt x="21488" y="0"/>
                        </a:cubicBezTo>
                      </a:path>
                      <a:path w="21600" h="21600" stroke="0" extrusionOk="0">
                        <a:moveTo>
                          <a:pt x="0" y="21600"/>
                        </a:moveTo>
                        <a:cubicBezTo>
                          <a:pt x="0" y="9714"/>
                          <a:pt x="9602" y="61"/>
                          <a:pt x="21488" y="0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94" name="Line 131">
                    <a:extLst>
                      <a:ext uri="{FF2B5EF4-FFF2-40B4-BE49-F238E27FC236}">
                        <a16:creationId xmlns:a16="http://schemas.microsoft.com/office/drawing/2014/main" id="{84D9227D-32ED-4B3E-A672-EB6CE1BC9B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20" y="3503"/>
                    <a:ext cx="1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95" name="Line 132">
                    <a:extLst>
                      <a:ext uri="{FF2B5EF4-FFF2-40B4-BE49-F238E27FC236}">
                        <a16:creationId xmlns:a16="http://schemas.microsoft.com/office/drawing/2014/main" id="{04CDEFEC-A863-4C94-B786-41566E0AB6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3511"/>
                    <a:ext cx="0" cy="27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96" name="Line 133">
                    <a:extLst>
                      <a:ext uri="{FF2B5EF4-FFF2-40B4-BE49-F238E27FC236}">
                        <a16:creationId xmlns:a16="http://schemas.microsoft.com/office/drawing/2014/main" id="{8B3F1F6A-C71E-4B25-9069-87DE48A485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20" y="3791"/>
                    <a:ext cx="1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85" name="Line 134">
                <a:extLst>
                  <a:ext uri="{FF2B5EF4-FFF2-40B4-BE49-F238E27FC236}">
                    <a16:creationId xmlns:a16="http://schemas.microsoft.com/office/drawing/2014/main" id="{3A061744-5B4D-423E-9169-C53AD3CEC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22" y="3646"/>
                <a:ext cx="348" cy="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grpSp>
        <p:nvGrpSpPr>
          <p:cNvPr id="113" name="Group 139">
            <a:extLst>
              <a:ext uri="{FF2B5EF4-FFF2-40B4-BE49-F238E27FC236}">
                <a16:creationId xmlns:a16="http://schemas.microsoft.com/office/drawing/2014/main" id="{B8E772B7-B874-49C3-9BE6-4553578AEAD3}"/>
              </a:ext>
            </a:extLst>
          </p:cNvPr>
          <p:cNvGrpSpPr>
            <a:grpSpLocks/>
          </p:cNvGrpSpPr>
          <p:nvPr/>
        </p:nvGrpSpPr>
        <p:grpSpPr bwMode="auto">
          <a:xfrm>
            <a:off x="1259409" y="4029560"/>
            <a:ext cx="9217644" cy="1073907"/>
            <a:chOff x="440" y="2928"/>
            <a:chExt cx="4869" cy="567"/>
          </a:xfrm>
        </p:grpSpPr>
        <p:grpSp>
          <p:nvGrpSpPr>
            <p:cNvPr id="114" name="Group 138">
              <a:extLst>
                <a:ext uri="{FF2B5EF4-FFF2-40B4-BE49-F238E27FC236}">
                  <a16:creationId xmlns:a16="http://schemas.microsoft.com/office/drawing/2014/main" id="{0E669CA4-3D54-4E21-B3F2-6AAD6365E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127"/>
              <a:ext cx="3456" cy="368"/>
              <a:chOff x="1152" y="3127"/>
              <a:chExt cx="3456" cy="368"/>
            </a:xfrm>
          </p:grpSpPr>
          <p:sp>
            <p:nvSpPr>
              <p:cNvPr id="118" name="Line 69">
                <a:extLst>
                  <a:ext uri="{FF2B5EF4-FFF2-40B4-BE49-F238E27FC236}">
                    <a16:creationId xmlns:a16="http://schemas.microsoft.com/office/drawing/2014/main" id="{E9F48F22-12C5-42A1-A3AA-E643F4C89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127"/>
                <a:ext cx="0" cy="3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9" name="Line 88">
                <a:extLst>
                  <a:ext uri="{FF2B5EF4-FFF2-40B4-BE49-F238E27FC236}">
                    <a16:creationId xmlns:a16="http://schemas.microsoft.com/office/drawing/2014/main" id="{F92E6E2F-9B3B-4777-94D1-6AA8C4E66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127"/>
                <a:ext cx="0" cy="3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15" name="Group 137">
              <a:extLst>
                <a:ext uri="{FF2B5EF4-FFF2-40B4-BE49-F238E27FC236}">
                  <a16:creationId xmlns:a16="http://schemas.microsoft.com/office/drawing/2014/main" id="{B029C9C1-AAA6-4ADD-9CA2-A5CB5039D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2928"/>
              <a:ext cx="4869" cy="184"/>
              <a:chOff x="440" y="2928"/>
              <a:chExt cx="4869" cy="184"/>
            </a:xfrm>
          </p:grpSpPr>
          <p:sp>
            <p:nvSpPr>
              <p:cNvPr id="116" name="Rectangle 135">
                <a:extLst>
                  <a:ext uri="{FF2B5EF4-FFF2-40B4-BE49-F238E27FC236}">
                    <a16:creationId xmlns:a16="http://schemas.microsoft.com/office/drawing/2014/main" id="{4BF0D0E2-DF45-4B63-903F-DDD8E3F9B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28"/>
                <a:ext cx="1085" cy="184"/>
              </a:xfrm>
              <a:prstGeom prst="rect">
                <a:avLst/>
              </a:prstGeom>
              <a:solidFill>
                <a:srgbClr val="FFC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IN" dirty="0"/>
              </a:p>
            </p:txBody>
          </p:sp>
          <p:sp>
            <p:nvSpPr>
              <p:cNvPr id="117" name="Rectangle 136">
                <a:extLst>
                  <a:ext uri="{FF2B5EF4-FFF2-40B4-BE49-F238E27FC236}">
                    <a16:creationId xmlns:a16="http://schemas.microsoft.com/office/drawing/2014/main" id="{1D2B639E-C6CF-4265-8BC2-06F157227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" y="2928"/>
                <a:ext cx="1085" cy="184"/>
              </a:xfrm>
              <a:prstGeom prst="rect">
                <a:avLst/>
              </a:prstGeom>
              <a:solidFill>
                <a:srgbClr val="FFC0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IN"/>
              </a:p>
            </p:txBody>
          </p:sp>
        </p:grpSp>
      </p:grpSp>
      <p:sp>
        <p:nvSpPr>
          <p:cNvPr id="120" name="Freeform 123">
            <a:extLst>
              <a:ext uri="{FF2B5EF4-FFF2-40B4-BE49-F238E27FC236}">
                <a16:creationId xmlns:a16="http://schemas.microsoft.com/office/drawing/2014/main" id="{432A3638-0F9C-4FBB-A2FD-AE5660AA5BBC}"/>
              </a:ext>
            </a:extLst>
          </p:cNvPr>
          <p:cNvSpPr>
            <a:spLocks/>
          </p:cNvSpPr>
          <p:nvPr/>
        </p:nvSpPr>
        <p:spPr bwMode="auto">
          <a:xfrm>
            <a:off x="1589934" y="2116606"/>
            <a:ext cx="454351" cy="3091031"/>
          </a:xfrm>
          <a:custGeom>
            <a:avLst/>
            <a:gdLst>
              <a:gd name="T0" fmla="*/ 0 w 240"/>
              <a:gd name="T1" fmla="*/ 0 h 1584"/>
              <a:gd name="T2" fmla="*/ 0 w 240"/>
              <a:gd name="T3" fmla="*/ 1584 h 1584"/>
              <a:gd name="T4" fmla="*/ 240 w 240"/>
              <a:gd name="T5" fmla="*/ 1584 h 1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584">
                <a:moveTo>
                  <a:pt x="0" y="0"/>
                </a:moveTo>
                <a:lnTo>
                  <a:pt x="0" y="1584"/>
                </a:lnTo>
                <a:lnTo>
                  <a:pt x="240" y="158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IN"/>
          </a:p>
        </p:txBody>
      </p:sp>
      <p:sp>
        <p:nvSpPr>
          <p:cNvPr id="121" name="Rectangle 147">
            <a:extLst>
              <a:ext uri="{FF2B5EF4-FFF2-40B4-BE49-F238E27FC236}">
                <a16:creationId xmlns:a16="http://schemas.microsoft.com/office/drawing/2014/main" id="{511085BD-0271-40A8-BDD0-099A64F80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567" y="4025772"/>
            <a:ext cx="1885556" cy="352287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/>
          </a:p>
        </p:txBody>
      </p:sp>
      <p:sp>
        <p:nvSpPr>
          <p:cNvPr id="122" name="Freeform 148">
            <a:extLst>
              <a:ext uri="{FF2B5EF4-FFF2-40B4-BE49-F238E27FC236}">
                <a16:creationId xmlns:a16="http://schemas.microsoft.com/office/drawing/2014/main" id="{00DCBBBC-C6F9-4B74-9E96-2D5F88A115D9}"/>
              </a:ext>
            </a:extLst>
          </p:cNvPr>
          <p:cNvSpPr>
            <a:spLocks/>
          </p:cNvSpPr>
          <p:nvPr/>
        </p:nvSpPr>
        <p:spPr bwMode="auto">
          <a:xfrm>
            <a:off x="5133871" y="4298510"/>
            <a:ext cx="726961" cy="2000079"/>
          </a:xfrm>
          <a:custGeom>
            <a:avLst/>
            <a:gdLst>
              <a:gd name="T0" fmla="*/ 0 w 384"/>
              <a:gd name="T1" fmla="*/ 0 h 1056"/>
              <a:gd name="T2" fmla="*/ 0 w 384"/>
              <a:gd name="T3" fmla="*/ 528 h 1056"/>
              <a:gd name="T4" fmla="*/ 384 w 384"/>
              <a:gd name="T5" fmla="*/ 528 h 1056"/>
              <a:gd name="T6" fmla="*/ 384 w 384"/>
              <a:gd name="T7" fmla="*/ 1056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4" h="1056">
                <a:moveTo>
                  <a:pt x="0" y="0"/>
                </a:moveTo>
                <a:lnTo>
                  <a:pt x="0" y="528"/>
                </a:lnTo>
                <a:lnTo>
                  <a:pt x="384" y="528"/>
                </a:lnTo>
                <a:lnTo>
                  <a:pt x="384" y="105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IN"/>
          </a:p>
        </p:txBody>
      </p:sp>
      <p:grpSp>
        <p:nvGrpSpPr>
          <p:cNvPr id="123" name="Group 152">
            <a:extLst>
              <a:ext uri="{FF2B5EF4-FFF2-40B4-BE49-F238E27FC236}">
                <a16:creationId xmlns:a16="http://schemas.microsoft.com/office/drawing/2014/main" id="{7EEAAE38-0435-4984-8A4B-63F910CF7220}"/>
              </a:ext>
            </a:extLst>
          </p:cNvPr>
          <p:cNvGrpSpPr>
            <a:grpSpLocks/>
          </p:cNvGrpSpPr>
          <p:nvPr/>
        </p:nvGrpSpPr>
        <p:grpSpPr bwMode="auto">
          <a:xfrm>
            <a:off x="5497352" y="6298589"/>
            <a:ext cx="2241464" cy="363651"/>
            <a:chOff x="2688" y="4128"/>
            <a:chExt cx="1184" cy="192"/>
          </a:xfrm>
        </p:grpSpPr>
        <p:sp>
          <p:nvSpPr>
            <p:cNvPr id="124" name="Rectangle 149">
              <a:extLst>
                <a:ext uri="{FF2B5EF4-FFF2-40B4-BE49-F238E27FC236}">
                  <a16:creationId xmlns:a16="http://schemas.microsoft.com/office/drawing/2014/main" id="{FF06D95D-A716-45DA-8E23-E1C72477E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4128"/>
              <a:ext cx="384" cy="192"/>
            </a:xfrm>
            <a:prstGeom prst="rect">
              <a:avLst/>
            </a:prstGeom>
            <a:solidFill>
              <a:srgbClr val="92D05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IN"/>
            </a:p>
          </p:txBody>
        </p:sp>
        <p:sp>
          <p:nvSpPr>
            <p:cNvPr id="125" name="Text Box 151">
              <a:extLst>
                <a:ext uri="{FF2B5EF4-FFF2-40B4-BE49-F238E27FC236}">
                  <a16:creationId xmlns:a16="http://schemas.microsoft.com/office/drawing/2014/main" id="{0D0EDF46-9080-4431-95D1-4736DF398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4141"/>
              <a:ext cx="80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/>
            <a:p>
              <a:r>
                <a:rPr lang="en-US" altLang="en-US" sz="1600">
                  <a:latin typeface="Times New Roman" panose="02020603050405020304" pitchFamily="18" charset="0"/>
                </a:rPr>
                <a:t>Cache Block</a:t>
              </a:r>
            </a:p>
          </p:txBody>
        </p:sp>
      </p:grpSp>
      <p:sp>
        <p:nvSpPr>
          <p:cNvPr id="126" name="Rectangle 147">
            <a:extLst>
              <a:ext uri="{FF2B5EF4-FFF2-40B4-BE49-F238E27FC236}">
                <a16:creationId xmlns:a16="http://schemas.microsoft.com/office/drawing/2014/main" id="{35308ED8-B2E1-409A-A42E-439C9F0F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509" y="4018406"/>
            <a:ext cx="1885556" cy="352287"/>
          </a:xfrm>
          <a:prstGeom prst="rect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02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9" grpId="0" animBg="1"/>
      <p:bldP spid="80" grpId="0" animBg="1"/>
      <p:bldP spid="120" grpId="0" animBg="1"/>
      <p:bldP spid="121" grpId="0" animBg="1"/>
      <p:bldP spid="122" grpId="0" animBg="1"/>
      <p:bldP spid="1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5833-1D02-4349-B0B9-9B4EE5CB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4-way : Just a Better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01089-12FE-4F69-9F68-DF5DD74616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4D4A91-51D7-4300-8978-DE8EC0FAC29C}"/>
              </a:ext>
            </a:extLst>
          </p:cNvPr>
          <p:cNvGrpSpPr/>
          <p:nvPr/>
        </p:nvGrpSpPr>
        <p:grpSpPr>
          <a:xfrm>
            <a:off x="212182" y="1303399"/>
            <a:ext cx="11856888" cy="5507801"/>
            <a:chOff x="1905000" y="950912"/>
            <a:chExt cx="8153402" cy="55820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F9B1FFB-C308-46BE-B0A6-B927DDF70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3300" y="950912"/>
              <a:ext cx="2835275" cy="498475"/>
              <a:chOff x="2072" y="896"/>
              <a:chExt cx="1786" cy="314"/>
            </a:xfrm>
          </p:grpSpPr>
          <p:sp>
            <p:nvSpPr>
              <p:cNvPr id="171" name="Line 5">
                <a:extLst>
                  <a:ext uri="{FF2B5EF4-FFF2-40B4-BE49-F238E27FC236}">
                    <a16:creationId xmlns:a16="http://schemas.microsoft.com/office/drawing/2014/main" id="{E743E5E0-5409-4817-BCB5-06451C722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6" y="1061"/>
                <a:ext cx="3" cy="149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72" name="Line 6">
                <a:extLst>
                  <a:ext uri="{FF2B5EF4-FFF2-40B4-BE49-F238E27FC236}">
                    <a16:creationId xmlns:a16="http://schemas.microsoft.com/office/drawing/2014/main" id="{4F5A9348-E701-4F55-999F-79A5B8490F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0" y="1051"/>
                <a:ext cx="1" cy="14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73" name="Freeform 7">
                <a:extLst>
                  <a:ext uri="{FF2B5EF4-FFF2-40B4-BE49-F238E27FC236}">
                    <a16:creationId xmlns:a16="http://schemas.microsoft.com/office/drawing/2014/main" id="{0EF0FDFE-DBB2-40AB-AA51-7EE8727B8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1059"/>
                <a:ext cx="1570" cy="151"/>
              </a:xfrm>
              <a:custGeom>
                <a:avLst/>
                <a:gdLst>
                  <a:gd name="T0" fmla="*/ 0 w 1570"/>
                  <a:gd name="T1" fmla="*/ 149 h 151"/>
                  <a:gd name="T2" fmla="*/ 3 w 1570"/>
                  <a:gd name="T3" fmla="*/ 0 h 151"/>
                  <a:gd name="T4" fmla="*/ 1570 w 1570"/>
                  <a:gd name="T5" fmla="*/ 0 h 151"/>
                  <a:gd name="T6" fmla="*/ 1570 w 1570"/>
                  <a:gd name="T7" fmla="*/ 151 h 151"/>
                  <a:gd name="T8" fmla="*/ 3 w 1570"/>
                  <a:gd name="T9" fmla="*/ 151 h 151"/>
                  <a:gd name="T10" fmla="*/ 3 w 1570"/>
                  <a:gd name="T11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70" h="151">
                    <a:moveTo>
                      <a:pt x="0" y="149"/>
                    </a:moveTo>
                    <a:lnTo>
                      <a:pt x="3" y="0"/>
                    </a:lnTo>
                    <a:lnTo>
                      <a:pt x="1570" y="0"/>
                    </a:lnTo>
                    <a:lnTo>
                      <a:pt x="1570" y="151"/>
                    </a:lnTo>
                    <a:lnTo>
                      <a:pt x="3" y="151"/>
                    </a:lnTo>
                    <a:lnTo>
                      <a:pt x="3" y="151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74" name="Text Box 8">
                <a:extLst>
                  <a:ext uri="{FF2B5EF4-FFF2-40B4-BE49-F238E27FC236}">
                    <a16:creationId xmlns:a16="http://schemas.microsoft.com/office/drawing/2014/main" id="{38000D64-8111-434A-9A52-86E75EAD26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2" y="896"/>
                <a:ext cx="1786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 altLang="en-US" sz="1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0CF9A5-308E-4D49-9883-17BDE1339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7364" y="2092324"/>
              <a:ext cx="1951038" cy="2439986"/>
              <a:chOff x="4195" y="1632"/>
              <a:chExt cx="1229" cy="1537"/>
            </a:xfrm>
          </p:grpSpPr>
          <p:sp>
            <p:nvSpPr>
              <p:cNvPr id="153" name="Freeform 12">
                <a:extLst>
                  <a:ext uri="{FF2B5EF4-FFF2-40B4-BE49-F238E27FC236}">
                    <a16:creationId xmlns:a16="http://schemas.microsoft.com/office/drawing/2014/main" id="{7C3A70AA-73C1-473A-8504-6430EC67B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1829"/>
                <a:ext cx="1019" cy="1103"/>
              </a:xfrm>
              <a:custGeom>
                <a:avLst/>
                <a:gdLst>
                  <a:gd name="T0" fmla="*/ 1608 w 1608"/>
                  <a:gd name="T1" fmla="*/ 1101 h 1103"/>
                  <a:gd name="T2" fmla="*/ 1608 w 1608"/>
                  <a:gd name="T3" fmla="*/ 0 h 1103"/>
                  <a:gd name="T4" fmla="*/ 0 w 1608"/>
                  <a:gd name="T5" fmla="*/ 0 h 1103"/>
                  <a:gd name="T6" fmla="*/ 0 w 1608"/>
                  <a:gd name="T7" fmla="*/ 1103 h 1103"/>
                  <a:gd name="T8" fmla="*/ 1608 w 1608"/>
                  <a:gd name="T9" fmla="*/ 1103 h 1103"/>
                  <a:gd name="T10" fmla="*/ 1608 w 1608"/>
                  <a:gd name="T11" fmla="*/ 1103 h 1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08" h="1103">
                    <a:moveTo>
                      <a:pt x="1608" y="1101"/>
                    </a:moveTo>
                    <a:lnTo>
                      <a:pt x="1608" y="0"/>
                    </a:lnTo>
                    <a:lnTo>
                      <a:pt x="0" y="0"/>
                    </a:lnTo>
                    <a:lnTo>
                      <a:pt x="0" y="1103"/>
                    </a:lnTo>
                    <a:lnTo>
                      <a:pt x="1608" y="1103"/>
                    </a:lnTo>
                    <a:lnTo>
                      <a:pt x="1608" y="1103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BDBC780B-4E29-4A55-BBD6-6CF9AFD3F9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5" y="1925"/>
                <a:ext cx="1019" cy="894"/>
                <a:chOff x="2208" y="1920"/>
                <a:chExt cx="2130" cy="894"/>
              </a:xfrm>
            </p:grpSpPr>
            <p:sp>
              <p:nvSpPr>
                <p:cNvPr id="161" name="Freeform 14">
                  <a:extLst>
                    <a:ext uri="{FF2B5EF4-FFF2-40B4-BE49-F238E27FC236}">
                      <a16:creationId xmlns:a16="http://schemas.microsoft.com/office/drawing/2014/main" id="{C653D090-9B9A-4D63-B0C9-0B415796DC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2" name="Freeform 15">
                  <a:extLst>
                    <a:ext uri="{FF2B5EF4-FFF2-40B4-BE49-F238E27FC236}">
                      <a16:creationId xmlns:a16="http://schemas.microsoft.com/office/drawing/2014/main" id="{9CF60C96-76F6-4D47-A1A8-2464EDA501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</a:path>
                  </a:pathLst>
                </a:custGeom>
                <a:solidFill>
                  <a:srgbClr val="92D050"/>
                </a:solidFill>
                <a:ln w="20638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3" name="Line 16">
                  <a:extLst>
                    <a:ext uri="{FF2B5EF4-FFF2-40B4-BE49-F238E27FC236}">
                      <a16:creationId xmlns:a16="http://schemas.microsoft.com/office/drawing/2014/main" id="{BFAD133A-F59F-455F-A4B4-6575A1BD71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4" name="Line 17">
                  <a:extLst>
                    <a:ext uri="{FF2B5EF4-FFF2-40B4-BE49-F238E27FC236}">
                      <a16:creationId xmlns:a16="http://schemas.microsoft.com/office/drawing/2014/main" id="{38FE9C7C-AED7-4F29-96E3-C5C0025647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044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5" name="Line 18">
                  <a:extLst>
                    <a:ext uri="{FF2B5EF4-FFF2-40B4-BE49-F238E27FC236}">
                      <a16:creationId xmlns:a16="http://schemas.microsoft.com/office/drawing/2014/main" id="{AE79F24A-D75C-4972-BB5E-15AA625A17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154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6" name="Line 19">
                  <a:extLst>
                    <a:ext uri="{FF2B5EF4-FFF2-40B4-BE49-F238E27FC236}">
                      <a16:creationId xmlns:a16="http://schemas.microsoft.com/office/drawing/2014/main" id="{FBB4D728-8CD7-42F1-97E2-7EC583D56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37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7" name="Line 20">
                  <a:extLst>
                    <a:ext uri="{FF2B5EF4-FFF2-40B4-BE49-F238E27FC236}">
                      <a16:creationId xmlns:a16="http://schemas.microsoft.com/office/drawing/2014/main" id="{86CACFA8-86FD-466E-A5AC-8D07FDE125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48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8" name="Line 21">
                  <a:extLst>
                    <a:ext uri="{FF2B5EF4-FFF2-40B4-BE49-F238E27FC236}">
                      <a16:creationId xmlns:a16="http://schemas.microsoft.com/office/drawing/2014/main" id="{4FBEC32B-125D-4579-B64A-211C424F9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59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69" name="Line 22">
                  <a:extLst>
                    <a:ext uri="{FF2B5EF4-FFF2-40B4-BE49-F238E27FC236}">
                      <a16:creationId xmlns:a16="http://schemas.microsoft.com/office/drawing/2014/main" id="{4A2AA317-7B7D-44F7-AC28-2BFDA25251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70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70" name="Line 23">
                  <a:extLst>
                    <a:ext uri="{FF2B5EF4-FFF2-40B4-BE49-F238E27FC236}">
                      <a16:creationId xmlns:a16="http://schemas.microsoft.com/office/drawing/2014/main" id="{C743DF50-EF7D-4F25-A6AD-605F87E1F1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81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  <p:sp>
            <p:nvSpPr>
              <p:cNvPr id="155" name="Line 24">
                <a:extLst>
                  <a:ext uri="{FF2B5EF4-FFF2-40B4-BE49-F238E27FC236}">
                    <a16:creationId xmlns:a16="http://schemas.microsoft.com/office/drawing/2014/main" id="{60788FC6-7614-439D-AE7F-48C746B01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0" y="1835"/>
                <a:ext cx="4" cy="11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56" name="Line 25">
                <a:extLst>
                  <a:ext uri="{FF2B5EF4-FFF2-40B4-BE49-F238E27FC236}">
                    <a16:creationId xmlns:a16="http://schemas.microsoft.com/office/drawing/2014/main" id="{115F4065-E640-4E71-A329-B62F2A7A5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1824"/>
                <a:ext cx="1" cy="1106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57" name="Text Box 26">
                <a:extLst>
                  <a:ext uri="{FF2B5EF4-FFF2-40B4-BE49-F238E27FC236}">
                    <a16:creationId xmlns:a16="http://schemas.microsoft.com/office/drawing/2014/main" id="{6827FC9C-2A06-47F1-8589-FB28A70B72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637"/>
                <a:ext cx="24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Data</a:t>
                </a:r>
              </a:p>
            </p:txBody>
          </p:sp>
          <p:sp>
            <p:nvSpPr>
              <p:cNvPr id="158" name="Text Box 27">
                <a:extLst>
                  <a:ext uri="{FF2B5EF4-FFF2-40B4-BE49-F238E27FC236}">
                    <a16:creationId xmlns:a16="http://schemas.microsoft.com/office/drawing/2014/main" id="{8F94A2E9-E5F6-41E7-88F0-57EAA3459D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632"/>
                <a:ext cx="20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Tag</a:t>
                </a:r>
              </a:p>
            </p:txBody>
          </p:sp>
          <p:sp>
            <p:nvSpPr>
              <p:cNvPr id="159" name="Text Box 28">
                <a:extLst>
                  <a:ext uri="{FF2B5EF4-FFF2-40B4-BE49-F238E27FC236}">
                    <a16:creationId xmlns:a16="http://schemas.microsoft.com/office/drawing/2014/main" id="{EE2A2B3C-5FB0-41F9-BCAA-93F5C63B3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632"/>
                <a:ext cx="13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</a:t>
                </a:r>
              </a:p>
            </p:txBody>
          </p:sp>
          <p:sp>
            <p:nvSpPr>
              <p:cNvPr id="160" name="Text Box 29">
                <a:extLst>
                  <a:ext uri="{FF2B5EF4-FFF2-40B4-BE49-F238E27FC236}">
                    <a16:creationId xmlns:a16="http://schemas.microsoft.com/office/drawing/2014/main" id="{7C176465-A067-46B6-8ECC-8D85CAA45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776"/>
                <a:ext cx="235" cy="1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0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1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2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255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5059A0-26BC-41BF-92DA-A51CBEFEB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6164" y="2092324"/>
              <a:ext cx="1951038" cy="2439986"/>
              <a:chOff x="4195" y="1632"/>
              <a:chExt cx="1229" cy="1537"/>
            </a:xfrm>
          </p:grpSpPr>
          <p:sp>
            <p:nvSpPr>
              <p:cNvPr id="135" name="Freeform 31">
                <a:extLst>
                  <a:ext uri="{FF2B5EF4-FFF2-40B4-BE49-F238E27FC236}">
                    <a16:creationId xmlns:a16="http://schemas.microsoft.com/office/drawing/2014/main" id="{4133A273-06EE-47DB-9F03-33250A566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1829"/>
                <a:ext cx="1019" cy="1103"/>
              </a:xfrm>
              <a:custGeom>
                <a:avLst/>
                <a:gdLst>
                  <a:gd name="T0" fmla="*/ 1608 w 1608"/>
                  <a:gd name="T1" fmla="*/ 1101 h 1103"/>
                  <a:gd name="T2" fmla="*/ 1608 w 1608"/>
                  <a:gd name="T3" fmla="*/ 0 h 1103"/>
                  <a:gd name="T4" fmla="*/ 0 w 1608"/>
                  <a:gd name="T5" fmla="*/ 0 h 1103"/>
                  <a:gd name="T6" fmla="*/ 0 w 1608"/>
                  <a:gd name="T7" fmla="*/ 1103 h 1103"/>
                  <a:gd name="T8" fmla="*/ 1608 w 1608"/>
                  <a:gd name="T9" fmla="*/ 1103 h 1103"/>
                  <a:gd name="T10" fmla="*/ 1608 w 1608"/>
                  <a:gd name="T11" fmla="*/ 1103 h 1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08" h="1103">
                    <a:moveTo>
                      <a:pt x="1608" y="1101"/>
                    </a:moveTo>
                    <a:lnTo>
                      <a:pt x="1608" y="0"/>
                    </a:lnTo>
                    <a:lnTo>
                      <a:pt x="0" y="0"/>
                    </a:lnTo>
                    <a:lnTo>
                      <a:pt x="0" y="1103"/>
                    </a:lnTo>
                    <a:lnTo>
                      <a:pt x="1608" y="1103"/>
                    </a:lnTo>
                    <a:lnTo>
                      <a:pt x="1608" y="1103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62F4E33C-AFD3-4DCC-847F-B24E8E4A58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5" y="1925"/>
                <a:ext cx="1019" cy="894"/>
                <a:chOff x="2208" y="1920"/>
                <a:chExt cx="2130" cy="894"/>
              </a:xfrm>
            </p:grpSpPr>
            <p:sp>
              <p:nvSpPr>
                <p:cNvPr id="143" name="Freeform 33">
                  <a:extLst>
                    <a:ext uri="{FF2B5EF4-FFF2-40B4-BE49-F238E27FC236}">
                      <a16:creationId xmlns:a16="http://schemas.microsoft.com/office/drawing/2014/main" id="{148DC28A-08D6-4ED4-A959-88388BCA7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4" name="Freeform 34">
                  <a:extLst>
                    <a:ext uri="{FF2B5EF4-FFF2-40B4-BE49-F238E27FC236}">
                      <a16:creationId xmlns:a16="http://schemas.microsoft.com/office/drawing/2014/main" id="{882B08FC-C745-4F5E-9F0C-65BDFBA3D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5" name="Line 35">
                  <a:extLst>
                    <a:ext uri="{FF2B5EF4-FFF2-40B4-BE49-F238E27FC236}">
                      <a16:creationId xmlns:a16="http://schemas.microsoft.com/office/drawing/2014/main" id="{B67CE8BF-5A28-4140-B4DD-995629261D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6" name="Line 36">
                  <a:extLst>
                    <a:ext uri="{FF2B5EF4-FFF2-40B4-BE49-F238E27FC236}">
                      <a16:creationId xmlns:a16="http://schemas.microsoft.com/office/drawing/2014/main" id="{C092B108-C92A-4509-AFEC-A11E35DF1C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044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7" name="Line 37">
                  <a:extLst>
                    <a:ext uri="{FF2B5EF4-FFF2-40B4-BE49-F238E27FC236}">
                      <a16:creationId xmlns:a16="http://schemas.microsoft.com/office/drawing/2014/main" id="{7854FBC9-9C60-4AF7-93E1-0DBA2B92BB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154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8" name="Line 38">
                  <a:extLst>
                    <a:ext uri="{FF2B5EF4-FFF2-40B4-BE49-F238E27FC236}">
                      <a16:creationId xmlns:a16="http://schemas.microsoft.com/office/drawing/2014/main" id="{85D8FA92-1938-4C8C-AD50-A772FE2BD0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37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49" name="Line 39">
                  <a:extLst>
                    <a:ext uri="{FF2B5EF4-FFF2-40B4-BE49-F238E27FC236}">
                      <a16:creationId xmlns:a16="http://schemas.microsoft.com/office/drawing/2014/main" id="{76EEF844-3DCF-4AB0-8E0A-8CCBEB5068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48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50" name="Line 40">
                  <a:extLst>
                    <a:ext uri="{FF2B5EF4-FFF2-40B4-BE49-F238E27FC236}">
                      <a16:creationId xmlns:a16="http://schemas.microsoft.com/office/drawing/2014/main" id="{6830CFFE-B3DF-4C9B-B033-476FAB0C23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59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51" name="Line 41">
                  <a:extLst>
                    <a:ext uri="{FF2B5EF4-FFF2-40B4-BE49-F238E27FC236}">
                      <a16:creationId xmlns:a16="http://schemas.microsoft.com/office/drawing/2014/main" id="{62FCCA76-79E0-4B13-88B6-BE08518868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70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52" name="Line 42">
                  <a:extLst>
                    <a:ext uri="{FF2B5EF4-FFF2-40B4-BE49-F238E27FC236}">
                      <a16:creationId xmlns:a16="http://schemas.microsoft.com/office/drawing/2014/main" id="{4E1E6A54-CF0A-447F-91AA-C229EF171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81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  <p:sp>
            <p:nvSpPr>
              <p:cNvPr id="137" name="Line 43">
                <a:extLst>
                  <a:ext uri="{FF2B5EF4-FFF2-40B4-BE49-F238E27FC236}">
                    <a16:creationId xmlns:a16="http://schemas.microsoft.com/office/drawing/2014/main" id="{8418728E-22D4-4D81-B4A5-3C38D10AF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0" y="1835"/>
                <a:ext cx="4" cy="11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38" name="Line 44">
                <a:extLst>
                  <a:ext uri="{FF2B5EF4-FFF2-40B4-BE49-F238E27FC236}">
                    <a16:creationId xmlns:a16="http://schemas.microsoft.com/office/drawing/2014/main" id="{81893522-FBBF-4427-8029-4C2644736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1824"/>
                <a:ext cx="1" cy="1106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39" name="Text Box 45">
                <a:extLst>
                  <a:ext uri="{FF2B5EF4-FFF2-40B4-BE49-F238E27FC236}">
                    <a16:creationId xmlns:a16="http://schemas.microsoft.com/office/drawing/2014/main" id="{05E56C7A-22E9-4F7C-86BC-C123AA304B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637"/>
                <a:ext cx="24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Data</a:t>
                </a:r>
              </a:p>
            </p:txBody>
          </p:sp>
          <p:sp>
            <p:nvSpPr>
              <p:cNvPr id="140" name="Text Box 46">
                <a:extLst>
                  <a:ext uri="{FF2B5EF4-FFF2-40B4-BE49-F238E27FC236}">
                    <a16:creationId xmlns:a16="http://schemas.microsoft.com/office/drawing/2014/main" id="{1AFA81C0-FBB8-4C8E-9DC1-3AE968B9EE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632"/>
                <a:ext cx="20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Tag</a:t>
                </a:r>
              </a:p>
            </p:txBody>
          </p:sp>
          <p:sp>
            <p:nvSpPr>
              <p:cNvPr id="141" name="Text Box 47">
                <a:extLst>
                  <a:ext uri="{FF2B5EF4-FFF2-40B4-BE49-F238E27FC236}">
                    <a16:creationId xmlns:a16="http://schemas.microsoft.com/office/drawing/2014/main" id="{CEAA5E3A-57C3-4812-894A-638075B1B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632"/>
                <a:ext cx="13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</a:t>
                </a:r>
              </a:p>
            </p:txBody>
          </p:sp>
          <p:sp>
            <p:nvSpPr>
              <p:cNvPr id="142" name="Text Box 48">
                <a:extLst>
                  <a:ext uri="{FF2B5EF4-FFF2-40B4-BE49-F238E27FC236}">
                    <a16:creationId xmlns:a16="http://schemas.microsoft.com/office/drawing/2014/main" id="{97FB5C12-7C47-491C-9D10-1F5B878C9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776"/>
                <a:ext cx="235" cy="1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0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1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2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255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6FC47E4-020E-474D-BB72-3AB17A91D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4964" y="2092324"/>
              <a:ext cx="1951038" cy="2439986"/>
              <a:chOff x="4195" y="1632"/>
              <a:chExt cx="1229" cy="1537"/>
            </a:xfrm>
          </p:grpSpPr>
          <p:sp>
            <p:nvSpPr>
              <p:cNvPr id="117" name="Freeform 50">
                <a:extLst>
                  <a:ext uri="{FF2B5EF4-FFF2-40B4-BE49-F238E27FC236}">
                    <a16:creationId xmlns:a16="http://schemas.microsoft.com/office/drawing/2014/main" id="{451501A6-252F-40DB-85CD-8B862FF9D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1829"/>
                <a:ext cx="1019" cy="1103"/>
              </a:xfrm>
              <a:custGeom>
                <a:avLst/>
                <a:gdLst>
                  <a:gd name="T0" fmla="*/ 1608 w 1608"/>
                  <a:gd name="T1" fmla="*/ 1101 h 1103"/>
                  <a:gd name="T2" fmla="*/ 1608 w 1608"/>
                  <a:gd name="T3" fmla="*/ 0 h 1103"/>
                  <a:gd name="T4" fmla="*/ 0 w 1608"/>
                  <a:gd name="T5" fmla="*/ 0 h 1103"/>
                  <a:gd name="T6" fmla="*/ 0 w 1608"/>
                  <a:gd name="T7" fmla="*/ 1103 h 1103"/>
                  <a:gd name="T8" fmla="*/ 1608 w 1608"/>
                  <a:gd name="T9" fmla="*/ 1103 h 1103"/>
                  <a:gd name="T10" fmla="*/ 1608 w 1608"/>
                  <a:gd name="T11" fmla="*/ 1103 h 1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08" h="1103">
                    <a:moveTo>
                      <a:pt x="1608" y="1101"/>
                    </a:moveTo>
                    <a:lnTo>
                      <a:pt x="1608" y="0"/>
                    </a:lnTo>
                    <a:lnTo>
                      <a:pt x="0" y="0"/>
                    </a:lnTo>
                    <a:lnTo>
                      <a:pt x="0" y="1103"/>
                    </a:lnTo>
                    <a:lnTo>
                      <a:pt x="1608" y="1103"/>
                    </a:lnTo>
                    <a:lnTo>
                      <a:pt x="1608" y="1103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53DAD39B-F099-462E-80A9-D627EDA585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5" y="1925"/>
                <a:ext cx="1019" cy="894"/>
                <a:chOff x="2208" y="1920"/>
                <a:chExt cx="2130" cy="894"/>
              </a:xfrm>
            </p:grpSpPr>
            <p:sp>
              <p:nvSpPr>
                <p:cNvPr id="125" name="Freeform 52">
                  <a:extLst>
                    <a:ext uri="{FF2B5EF4-FFF2-40B4-BE49-F238E27FC236}">
                      <a16:creationId xmlns:a16="http://schemas.microsoft.com/office/drawing/2014/main" id="{C67B8C00-3C5A-4ECA-88CD-117BA61EC2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26" name="Freeform 53">
                  <a:extLst>
                    <a:ext uri="{FF2B5EF4-FFF2-40B4-BE49-F238E27FC236}">
                      <a16:creationId xmlns:a16="http://schemas.microsoft.com/office/drawing/2014/main" id="{5E7A7782-CB7A-4204-83C8-DB5022614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27" name="Line 54">
                  <a:extLst>
                    <a:ext uri="{FF2B5EF4-FFF2-40B4-BE49-F238E27FC236}">
                      <a16:creationId xmlns:a16="http://schemas.microsoft.com/office/drawing/2014/main" id="{05318219-759B-4646-BDF9-3AB26468B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28" name="Line 55">
                  <a:extLst>
                    <a:ext uri="{FF2B5EF4-FFF2-40B4-BE49-F238E27FC236}">
                      <a16:creationId xmlns:a16="http://schemas.microsoft.com/office/drawing/2014/main" id="{1009619C-CD52-497C-ACA1-4FE125D393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044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29" name="Line 56">
                  <a:extLst>
                    <a:ext uri="{FF2B5EF4-FFF2-40B4-BE49-F238E27FC236}">
                      <a16:creationId xmlns:a16="http://schemas.microsoft.com/office/drawing/2014/main" id="{1A9AD4E4-2BDE-4C62-BB71-56F054289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154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30" name="Line 57">
                  <a:extLst>
                    <a:ext uri="{FF2B5EF4-FFF2-40B4-BE49-F238E27FC236}">
                      <a16:creationId xmlns:a16="http://schemas.microsoft.com/office/drawing/2014/main" id="{8D2F0FC6-A1FA-4D8B-B1D9-D3121D3578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37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31" name="Line 58">
                  <a:extLst>
                    <a:ext uri="{FF2B5EF4-FFF2-40B4-BE49-F238E27FC236}">
                      <a16:creationId xmlns:a16="http://schemas.microsoft.com/office/drawing/2014/main" id="{939EF8AB-3FD7-46C6-8DC8-F2FED941E1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48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32" name="Line 59">
                  <a:extLst>
                    <a:ext uri="{FF2B5EF4-FFF2-40B4-BE49-F238E27FC236}">
                      <a16:creationId xmlns:a16="http://schemas.microsoft.com/office/drawing/2014/main" id="{A4FF62F5-D79F-4624-8C28-0C1B3E18D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59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33" name="Line 60">
                  <a:extLst>
                    <a:ext uri="{FF2B5EF4-FFF2-40B4-BE49-F238E27FC236}">
                      <a16:creationId xmlns:a16="http://schemas.microsoft.com/office/drawing/2014/main" id="{80A21792-D6FC-455A-9F7D-6E788629B2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70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34" name="Line 61">
                  <a:extLst>
                    <a:ext uri="{FF2B5EF4-FFF2-40B4-BE49-F238E27FC236}">
                      <a16:creationId xmlns:a16="http://schemas.microsoft.com/office/drawing/2014/main" id="{114D753E-DE2E-457D-A3D6-A660313CB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81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  <p:sp>
            <p:nvSpPr>
              <p:cNvPr id="119" name="Line 62">
                <a:extLst>
                  <a:ext uri="{FF2B5EF4-FFF2-40B4-BE49-F238E27FC236}">
                    <a16:creationId xmlns:a16="http://schemas.microsoft.com/office/drawing/2014/main" id="{3B98AD1D-84A4-4F24-8C5F-3A234FA45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0" y="1835"/>
                <a:ext cx="4" cy="11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20" name="Line 63">
                <a:extLst>
                  <a:ext uri="{FF2B5EF4-FFF2-40B4-BE49-F238E27FC236}">
                    <a16:creationId xmlns:a16="http://schemas.microsoft.com/office/drawing/2014/main" id="{0D69B0DC-B5D9-4C9D-BA73-806CE48AE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1824"/>
                <a:ext cx="1" cy="1106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21" name="Text Box 64">
                <a:extLst>
                  <a:ext uri="{FF2B5EF4-FFF2-40B4-BE49-F238E27FC236}">
                    <a16:creationId xmlns:a16="http://schemas.microsoft.com/office/drawing/2014/main" id="{49F0A3C3-AE54-4EF7-87CB-3FCE04E8BF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637"/>
                <a:ext cx="24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Data</a:t>
                </a:r>
              </a:p>
            </p:txBody>
          </p:sp>
          <p:sp>
            <p:nvSpPr>
              <p:cNvPr id="122" name="Text Box 65">
                <a:extLst>
                  <a:ext uri="{FF2B5EF4-FFF2-40B4-BE49-F238E27FC236}">
                    <a16:creationId xmlns:a16="http://schemas.microsoft.com/office/drawing/2014/main" id="{2B8EDE7F-73DC-4341-AC82-48980AC5C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632"/>
                <a:ext cx="20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Tag</a:t>
                </a:r>
              </a:p>
            </p:txBody>
          </p:sp>
          <p:sp>
            <p:nvSpPr>
              <p:cNvPr id="123" name="Text Box 66">
                <a:extLst>
                  <a:ext uri="{FF2B5EF4-FFF2-40B4-BE49-F238E27FC236}">
                    <a16:creationId xmlns:a16="http://schemas.microsoft.com/office/drawing/2014/main" id="{CB2722F6-AE5D-4F4A-A7A5-3DA2C919B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632"/>
                <a:ext cx="13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</a:t>
                </a:r>
              </a:p>
            </p:txBody>
          </p:sp>
          <p:sp>
            <p:nvSpPr>
              <p:cNvPr id="124" name="Text Box 67">
                <a:extLst>
                  <a:ext uri="{FF2B5EF4-FFF2-40B4-BE49-F238E27FC236}">
                    <a16:creationId xmlns:a16="http://schemas.microsoft.com/office/drawing/2014/main" id="{A9557E41-3764-482C-9C81-E7CA330484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776"/>
                <a:ext cx="235" cy="1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0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1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2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255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5635721-48C0-4B2C-B02D-3BE3377C5D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764" y="2092324"/>
              <a:ext cx="1951038" cy="2439986"/>
              <a:chOff x="4195" y="1632"/>
              <a:chExt cx="1229" cy="1537"/>
            </a:xfrm>
          </p:grpSpPr>
          <p:sp>
            <p:nvSpPr>
              <p:cNvPr id="99" name="Freeform 71">
                <a:extLst>
                  <a:ext uri="{FF2B5EF4-FFF2-40B4-BE49-F238E27FC236}">
                    <a16:creationId xmlns:a16="http://schemas.microsoft.com/office/drawing/2014/main" id="{23AB00F6-3450-4869-9C70-6FB6A1763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1829"/>
                <a:ext cx="1019" cy="1103"/>
              </a:xfrm>
              <a:custGeom>
                <a:avLst/>
                <a:gdLst>
                  <a:gd name="T0" fmla="*/ 1608 w 1608"/>
                  <a:gd name="T1" fmla="*/ 1101 h 1103"/>
                  <a:gd name="T2" fmla="*/ 1608 w 1608"/>
                  <a:gd name="T3" fmla="*/ 0 h 1103"/>
                  <a:gd name="T4" fmla="*/ 0 w 1608"/>
                  <a:gd name="T5" fmla="*/ 0 h 1103"/>
                  <a:gd name="T6" fmla="*/ 0 w 1608"/>
                  <a:gd name="T7" fmla="*/ 1103 h 1103"/>
                  <a:gd name="T8" fmla="*/ 1608 w 1608"/>
                  <a:gd name="T9" fmla="*/ 1103 h 1103"/>
                  <a:gd name="T10" fmla="*/ 1608 w 1608"/>
                  <a:gd name="T11" fmla="*/ 1103 h 1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08" h="1103">
                    <a:moveTo>
                      <a:pt x="1608" y="1101"/>
                    </a:moveTo>
                    <a:lnTo>
                      <a:pt x="1608" y="0"/>
                    </a:lnTo>
                    <a:lnTo>
                      <a:pt x="0" y="0"/>
                    </a:lnTo>
                    <a:lnTo>
                      <a:pt x="0" y="1103"/>
                    </a:lnTo>
                    <a:lnTo>
                      <a:pt x="1608" y="1103"/>
                    </a:lnTo>
                    <a:lnTo>
                      <a:pt x="1608" y="1103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A3FB038-6B62-4261-9212-3D15119948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5" y="1925"/>
                <a:ext cx="1019" cy="894"/>
                <a:chOff x="2208" y="1920"/>
                <a:chExt cx="2130" cy="894"/>
              </a:xfrm>
            </p:grpSpPr>
            <p:sp>
              <p:nvSpPr>
                <p:cNvPr id="107" name="Freeform 73">
                  <a:extLst>
                    <a:ext uri="{FF2B5EF4-FFF2-40B4-BE49-F238E27FC236}">
                      <a16:creationId xmlns:a16="http://schemas.microsoft.com/office/drawing/2014/main" id="{F8025F19-AB82-4255-B272-F515D2FD2A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08" name="Freeform 74">
                  <a:extLst>
                    <a:ext uri="{FF2B5EF4-FFF2-40B4-BE49-F238E27FC236}">
                      <a16:creationId xmlns:a16="http://schemas.microsoft.com/office/drawing/2014/main" id="{FA0E132A-6DBB-4318-85B1-C5DCED9564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" y="2263"/>
                  <a:ext cx="2130" cy="110"/>
                </a:xfrm>
                <a:custGeom>
                  <a:avLst/>
                  <a:gdLst>
                    <a:gd name="T0" fmla="*/ 1608 w 1608"/>
                    <a:gd name="T1" fmla="*/ 110 h 110"/>
                    <a:gd name="T2" fmla="*/ 1608 w 1608"/>
                    <a:gd name="T3" fmla="*/ 0 h 110"/>
                    <a:gd name="T4" fmla="*/ 0 w 1608"/>
                    <a:gd name="T5" fmla="*/ 0 h 110"/>
                    <a:gd name="T6" fmla="*/ 0 w 1608"/>
                    <a:gd name="T7" fmla="*/ 110 h 110"/>
                    <a:gd name="T8" fmla="*/ 1608 w 1608"/>
                    <a:gd name="T9" fmla="*/ 110 h 110"/>
                    <a:gd name="T10" fmla="*/ 1608 w 1608"/>
                    <a:gd name="T1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08" h="110">
                      <a:moveTo>
                        <a:pt x="1608" y="110"/>
                      </a:moveTo>
                      <a:lnTo>
                        <a:pt x="1608" y="0"/>
                      </a:lnTo>
                      <a:lnTo>
                        <a:pt x="0" y="0"/>
                      </a:lnTo>
                      <a:lnTo>
                        <a:pt x="0" y="110"/>
                      </a:lnTo>
                      <a:lnTo>
                        <a:pt x="1608" y="110"/>
                      </a:lnTo>
                      <a:lnTo>
                        <a:pt x="1608" y="110"/>
                      </a:lnTo>
                    </a:path>
                  </a:pathLst>
                </a:custGeom>
                <a:solidFill>
                  <a:srgbClr val="92D050"/>
                </a:solidFill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09" name="Line 75">
                  <a:extLst>
                    <a:ext uri="{FF2B5EF4-FFF2-40B4-BE49-F238E27FC236}">
                      <a16:creationId xmlns:a16="http://schemas.microsoft.com/office/drawing/2014/main" id="{7B8475A8-B94E-4D03-B81C-27566ABE8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0" name="Line 76">
                  <a:extLst>
                    <a:ext uri="{FF2B5EF4-FFF2-40B4-BE49-F238E27FC236}">
                      <a16:creationId xmlns:a16="http://schemas.microsoft.com/office/drawing/2014/main" id="{91D9B9AD-051A-4963-82F1-95D4D1E6E7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044"/>
                  <a:ext cx="2130" cy="2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1" name="Line 77">
                  <a:extLst>
                    <a:ext uri="{FF2B5EF4-FFF2-40B4-BE49-F238E27FC236}">
                      <a16:creationId xmlns:a16="http://schemas.microsoft.com/office/drawing/2014/main" id="{DB3AD679-24A6-46C5-8B01-8C723B49A5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154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2" name="Line 78">
                  <a:extLst>
                    <a:ext uri="{FF2B5EF4-FFF2-40B4-BE49-F238E27FC236}">
                      <a16:creationId xmlns:a16="http://schemas.microsoft.com/office/drawing/2014/main" id="{B8458E8A-1544-4747-8180-CF3C9E11A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37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3" name="Line 79">
                  <a:extLst>
                    <a:ext uri="{FF2B5EF4-FFF2-40B4-BE49-F238E27FC236}">
                      <a16:creationId xmlns:a16="http://schemas.microsoft.com/office/drawing/2014/main" id="{85E691D2-FB82-4E8F-AF17-12DD32B34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48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4" name="Line 80">
                  <a:extLst>
                    <a:ext uri="{FF2B5EF4-FFF2-40B4-BE49-F238E27FC236}">
                      <a16:creationId xmlns:a16="http://schemas.microsoft.com/office/drawing/2014/main" id="{AD90F9D3-0A0F-483A-99E1-B1365C14C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59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5" name="Line 81">
                  <a:extLst>
                    <a:ext uri="{FF2B5EF4-FFF2-40B4-BE49-F238E27FC236}">
                      <a16:creationId xmlns:a16="http://schemas.microsoft.com/office/drawing/2014/main" id="{2BD2D22B-1E88-4344-A099-E91CD0A4A1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70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16" name="Line 82">
                  <a:extLst>
                    <a:ext uri="{FF2B5EF4-FFF2-40B4-BE49-F238E27FC236}">
                      <a16:creationId xmlns:a16="http://schemas.microsoft.com/office/drawing/2014/main" id="{D53E9A61-E8F3-4AD9-8E3F-6F698E718A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8" y="2813"/>
                  <a:ext cx="2130" cy="1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  <p:sp>
            <p:nvSpPr>
              <p:cNvPr id="101" name="Line 83">
                <a:extLst>
                  <a:ext uri="{FF2B5EF4-FFF2-40B4-BE49-F238E27FC236}">
                    <a16:creationId xmlns:a16="http://schemas.microsoft.com/office/drawing/2014/main" id="{025F5C67-1BAD-4DA4-A7FE-BA8F444AB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0" y="1835"/>
                <a:ext cx="4" cy="11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02" name="Line 84">
                <a:extLst>
                  <a:ext uri="{FF2B5EF4-FFF2-40B4-BE49-F238E27FC236}">
                    <a16:creationId xmlns:a16="http://schemas.microsoft.com/office/drawing/2014/main" id="{7BCAD3DC-91E5-4A59-B0DC-E753A5C61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1824"/>
                <a:ext cx="1" cy="1106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03" name="Text Box 85">
                <a:extLst>
                  <a:ext uri="{FF2B5EF4-FFF2-40B4-BE49-F238E27FC236}">
                    <a16:creationId xmlns:a16="http://schemas.microsoft.com/office/drawing/2014/main" id="{F5595FFD-9B17-4E3F-A9CA-84544296B5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3" y="1637"/>
                <a:ext cx="24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Data</a:t>
                </a:r>
              </a:p>
            </p:txBody>
          </p:sp>
          <p:sp>
            <p:nvSpPr>
              <p:cNvPr id="104" name="Text Box 86">
                <a:extLst>
                  <a:ext uri="{FF2B5EF4-FFF2-40B4-BE49-F238E27FC236}">
                    <a16:creationId xmlns:a16="http://schemas.microsoft.com/office/drawing/2014/main" id="{2FFA9442-4099-4780-AAD6-7FDEFC8FA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632"/>
                <a:ext cx="20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Tag</a:t>
                </a:r>
              </a:p>
            </p:txBody>
          </p:sp>
          <p:sp>
            <p:nvSpPr>
              <p:cNvPr id="105" name="Text Box 87">
                <a:extLst>
                  <a:ext uri="{FF2B5EF4-FFF2-40B4-BE49-F238E27FC236}">
                    <a16:creationId xmlns:a16="http://schemas.microsoft.com/office/drawing/2014/main" id="{4EC3ABF8-1639-4BF7-93FC-E435DA030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632"/>
                <a:ext cx="13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</a:t>
                </a:r>
              </a:p>
            </p:txBody>
          </p:sp>
          <p:sp>
            <p:nvSpPr>
              <p:cNvPr id="106" name="Text Box 88">
                <a:extLst>
                  <a:ext uri="{FF2B5EF4-FFF2-40B4-BE49-F238E27FC236}">
                    <a16:creationId xmlns:a16="http://schemas.microsoft.com/office/drawing/2014/main" id="{65F6D0DA-2258-417A-8C8A-7F31CB7B0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776"/>
                <a:ext cx="235" cy="1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0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1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2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.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255</a:t>
                </a:r>
              </a:p>
              <a:p>
                <a:pPr algn="r">
                  <a:lnSpc>
                    <a:spcPct val="110000"/>
                  </a:lnSpc>
                </a:pPr>
                <a:r>
                  <a:rPr lang="en-US" altLang="en-US" sz="14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39BCD6-26EC-4B64-8F2E-7CDE4ED23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7400" y="1433512"/>
              <a:ext cx="4856163" cy="1752600"/>
              <a:chOff x="384" y="1200"/>
              <a:chExt cx="3059" cy="1104"/>
            </a:xfrm>
          </p:grpSpPr>
          <p:sp>
            <p:nvSpPr>
              <p:cNvPr id="92" name="Line 90">
                <a:extLst>
                  <a:ext uri="{FF2B5EF4-FFF2-40B4-BE49-F238E27FC236}">
                    <a16:creationId xmlns:a16="http://schemas.microsoft.com/office/drawing/2014/main" id="{E1673C9A-5D3D-4007-9EC5-FD188E6385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1291"/>
                <a:ext cx="148" cy="5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93" name="Text Box 91">
                <a:extLst>
                  <a:ext uri="{FF2B5EF4-FFF2-40B4-BE49-F238E27FC236}">
                    <a16:creationId xmlns:a16="http://schemas.microsoft.com/office/drawing/2014/main" id="{14C4FDC6-2F25-46EA-9DCC-A14CA37D10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8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altLang="en-US" sz="1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94" name="Text Box 92">
                <a:extLst>
                  <a:ext uri="{FF2B5EF4-FFF2-40B4-BE49-F238E27FC236}">
                    <a16:creationId xmlns:a16="http://schemas.microsoft.com/office/drawing/2014/main" id="{F859D214-4FCE-401B-8654-A35E121CCF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4" y="1370"/>
                <a:ext cx="277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Index</a:t>
                </a:r>
              </a:p>
            </p:txBody>
          </p:sp>
          <p:sp>
            <p:nvSpPr>
              <p:cNvPr id="95" name="Line 93">
                <a:extLst>
                  <a:ext uri="{FF2B5EF4-FFF2-40B4-BE49-F238E27FC236}">
                    <a16:creationId xmlns:a16="http://schemas.microsoft.com/office/drawing/2014/main" id="{C0B9CD37-9493-4041-8825-FAC664ED7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200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96" name="Line 94">
                <a:extLst>
                  <a:ext uri="{FF2B5EF4-FFF2-40B4-BE49-F238E27FC236}">
                    <a16:creationId xmlns:a16="http://schemas.microsoft.com/office/drawing/2014/main" id="{9E976A47-8254-4A57-B86B-2BFA9498C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584"/>
                <a:ext cx="29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97" name="Line 95">
                <a:extLst>
                  <a:ext uri="{FF2B5EF4-FFF2-40B4-BE49-F238E27FC236}">
                    <a16:creationId xmlns:a16="http://schemas.microsoft.com/office/drawing/2014/main" id="{4C41A842-FEC4-41BA-B9FD-79046B720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584"/>
                <a:ext cx="0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98" name="Line 96">
                <a:extLst>
                  <a:ext uri="{FF2B5EF4-FFF2-40B4-BE49-F238E27FC236}">
                    <a16:creationId xmlns:a16="http://schemas.microsoft.com/office/drawing/2014/main" id="{F5C13DB7-774D-4767-A28A-6EDB2B56C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30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2D28E3D-1FF8-41A9-9A54-146F63E12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1433512"/>
              <a:ext cx="7194550" cy="3657600"/>
              <a:chOff x="240" y="1056"/>
              <a:chExt cx="4532" cy="2304"/>
            </a:xfrm>
          </p:grpSpPr>
          <p:sp>
            <p:nvSpPr>
              <p:cNvPr id="53" name="Text Box 98">
                <a:extLst>
                  <a:ext uri="{FF2B5EF4-FFF2-40B4-BE49-F238E27FC236}">
                    <a16:creationId xmlns:a16="http://schemas.microsoft.com/office/drawing/2014/main" id="{1AF087B4-3837-4200-A53B-78E045A0F4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056"/>
                <a:ext cx="8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altLang="en-US" sz="14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54" name="Line 99">
                <a:extLst>
                  <a:ext uri="{FF2B5EF4-FFF2-40B4-BE49-F238E27FC236}">
                    <a16:creationId xmlns:a16="http://schemas.microsoft.com/office/drawing/2014/main" id="{C3AE28EB-BCD5-42F4-BE9D-72B6A29CC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152"/>
                <a:ext cx="145" cy="5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55" name="Text Box 100">
                <a:extLst>
                  <a:ext uri="{FF2B5EF4-FFF2-40B4-BE49-F238E27FC236}">
                    <a16:creationId xmlns:a16="http://schemas.microsoft.com/office/drawing/2014/main" id="{F44EE44C-59B3-4EE2-88FD-BB48659B30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1056"/>
                <a:ext cx="203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140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Tag</a:t>
                </a: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6126004-1A44-43DD-B7D6-231CC74700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056"/>
                <a:ext cx="4532" cy="2304"/>
                <a:chOff x="240" y="1200"/>
                <a:chExt cx="4532" cy="2304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A2415F78-738B-469F-972C-B8E1595CD3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4" y="2304"/>
                  <a:ext cx="404" cy="1200"/>
                  <a:chOff x="624" y="2304"/>
                  <a:chExt cx="404" cy="1200"/>
                </a:xfrm>
              </p:grpSpPr>
              <p:sp>
                <p:nvSpPr>
                  <p:cNvPr id="86" name="Freeform 103">
                    <a:extLst>
                      <a:ext uri="{FF2B5EF4-FFF2-40B4-BE49-F238E27FC236}">
                        <a16:creationId xmlns:a16="http://schemas.microsoft.com/office/drawing/2014/main" id="{46F71404-F95A-4C7E-B7C1-C6549892C5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4" y="3342"/>
                    <a:ext cx="158" cy="162"/>
                  </a:xfrm>
                  <a:custGeom>
                    <a:avLst/>
                    <a:gdLst>
                      <a:gd name="T0" fmla="*/ 0 w 222"/>
                      <a:gd name="T1" fmla="*/ 101 h 172"/>
                      <a:gd name="T2" fmla="*/ 3 w 222"/>
                      <a:gd name="T3" fmla="*/ 114 h 172"/>
                      <a:gd name="T4" fmla="*/ 7 w 222"/>
                      <a:gd name="T5" fmla="*/ 125 h 172"/>
                      <a:gd name="T6" fmla="*/ 13 w 222"/>
                      <a:gd name="T7" fmla="*/ 134 h 172"/>
                      <a:gd name="T8" fmla="*/ 23 w 222"/>
                      <a:gd name="T9" fmla="*/ 143 h 172"/>
                      <a:gd name="T10" fmla="*/ 33 w 222"/>
                      <a:gd name="T11" fmla="*/ 152 h 172"/>
                      <a:gd name="T12" fmla="*/ 47 w 222"/>
                      <a:gd name="T13" fmla="*/ 158 h 172"/>
                      <a:gd name="T14" fmla="*/ 60 w 222"/>
                      <a:gd name="T15" fmla="*/ 165 h 172"/>
                      <a:gd name="T16" fmla="*/ 77 w 222"/>
                      <a:gd name="T17" fmla="*/ 169 h 172"/>
                      <a:gd name="T18" fmla="*/ 94 w 222"/>
                      <a:gd name="T19" fmla="*/ 172 h 172"/>
                      <a:gd name="T20" fmla="*/ 111 w 222"/>
                      <a:gd name="T21" fmla="*/ 172 h 172"/>
                      <a:gd name="T22" fmla="*/ 131 w 222"/>
                      <a:gd name="T23" fmla="*/ 172 h 172"/>
                      <a:gd name="T24" fmla="*/ 148 w 222"/>
                      <a:gd name="T25" fmla="*/ 169 h 172"/>
                      <a:gd name="T26" fmla="*/ 161 w 222"/>
                      <a:gd name="T27" fmla="*/ 165 h 172"/>
                      <a:gd name="T28" fmla="*/ 178 w 222"/>
                      <a:gd name="T29" fmla="*/ 158 h 172"/>
                      <a:gd name="T30" fmla="*/ 188 w 222"/>
                      <a:gd name="T31" fmla="*/ 152 h 172"/>
                      <a:gd name="T32" fmla="*/ 202 w 222"/>
                      <a:gd name="T33" fmla="*/ 143 h 172"/>
                      <a:gd name="T34" fmla="*/ 208 w 222"/>
                      <a:gd name="T35" fmla="*/ 134 h 172"/>
                      <a:gd name="T36" fmla="*/ 215 w 222"/>
                      <a:gd name="T37" fmla="*/ 125 h 172"/>
                      <a:gd name="T38" fmla="*/ 222 w 222"/>
                      <a:gd name="T39" fmla="*/ 114 h 172"/>
                      <a:gd name="T40" fmla="*/ 222 w 222"/>
                      <a:gd name="T41" fmla="*/ 104 h 172"/>
                      <a:gd name="T42" fmla="*/ 222 w 222"/>
                      <a:gd name="T43" fmla="*/ 0 h 172"/>
                      <a:gd name="T44" fmla="*/ 3 w 222"/>
                      <a:gd name="T45" fmla="*/ 0 h 172"/>
                      <a:gd name="T46" fmla="*/ 3 w 222"/>
                      <a:gd name="T47" fmla="*/ 104 h 172"/>
                      <a:gd name="T48" fmla="*/ 3 w 222"/>
                      <a:gd name="T49" fmla="*/ 104 h 1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22" h="172">
                        <a:moveTo>
                          <a:pt x="0" y="101"/>
                        </a:moveTo>
                        <a:lnTo>
                          <a:pt x="3" y="114"/>
                        </a:lnTo>
                        <a:lnTo>
                          <a:pt x="7" y="125"/>
                        </a:lnTo>
                        <a:lnTo>
                          <a:pt x="13" y="134"/>
                        </a:lnTo>
                        <a:lnTo>
                          <a:pt x="23" y="143"/>
                        </a:lnTo>
                        <a:lnTo>
                          <a:pt x="33" y="152"/>
                        </a:lnTo>
                        <a:lnTo>
                          <a:pt x="47" y="158"/>
                        </a:lnTo>
                        <a:lnTo>
                          <a:pt x="60" y="165"/>
                        </a:lnTo>
                        <a:lnTo>
                          <a:pt x="77" y="169"/>
                        </a:lnTo>
                        <a:lnTo>
                          <a:pt x="94" y="172"/>
                        </a:lnTo>
                        <a:lnTo>
                          <a:pt x="111" y="172"/>
                        </a:lnTo>
                        <a:lnTo>
                          <a:pt x="131" y="172"/>
                        </a:lnTo>
                        <a:lnTo>
                          <a:pt x="148" y="169"/>
                        </a:lnTo>
                        <a:lnTo>
                          <a:pt x="161" y="165"/>
                        </a:lnTo>
                        <a:lnTo>
                          <a:pt x="178" y="158"/>
                        </a:lnTo>
                        <a:lnTo>
                          <a:pt x="188" y="152"/>
                        </a:lnTo>
                        <a:lnTo>
                          <a:pt x="202" y="143"/>
                        </a:lnTo>
                        <a:lnTo>
                          <a:pt x="208" y="134"/>
                        </a:lnTo>
                        <a:lnTo>
                          <a:pt x="215" y="125"/>
                        </a:lnTo>
                        <a:lnTo>
                          <a:pt x="222" y="114"/>
                        </a:lnTo>
                        <a:lnTo>
                          <a:pt x="222" y="104"/>
                        </a:lnTo>
                        <a:lnTo>
                          <a:pt x="222" y="0"/>
                        </a:lnTo>
                        <a:lnTo>
                          <a:pt x="3" y="0"/>
                        </a:lnTo>
                        <a:lnTo>
                          <a:pt x="3" y="104"/>
                        </a:lnTo>
                        <a:lnTo>
                          <a:pt x="3" y="104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7" name="Line 104">
                    <a:extLst>
                      <a:ext uri="{FF2B5EF4-FFF2-40B4-BE49-F238E27FC236}">
                        <a16:creationId xmlns:a16="http://schemas.microsoft.com/office/drawing/2014/main" id="{4DF4BC98-5057-4A09-8A30-09BC4E9718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2304"/>
                    <a:ext cx="6" cy="1036"/>
                  </a:xfrm>
                  <a:prstGeom prst="line">
                    <a:avLst/>
                  </a:prstGeom>
                  <a:noFill/>
                  <a:ln w="20701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8" name="Freeform 105">
                    <a:extLst>
                      <a:ext uri="{FF2B5EF4-FFF2-40B4-BE49-F238E27FC236}">
                        <a16:creationId xmlns:a16="http://schemas.microsoft.com/office/drawing/2014/main" id="{D32A4DA5-0027-4F15-921B-F1C99ABB5D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9" y="3218"/>
                    <a:ext cx="180" cy="113"/>
                  </a:xfrm>
                  <a:custGeom>
                    <a:avLst/>
                    <a:gdLst>
                      <a:gd name="T0" fmla="*/ 248 w 252"/>
                      <a:gd name="T1" fmla="*/ 0 h 136"/>
                      <a:gd name="T2" fmla="*/ 252 w 252"/>
                      <a:gd name="T3" fmla="*/ 68 h 136"/>
                      <a:gd name="T4" fmla="*/ 0 w 252"/>
                      <a:gd name="T5" fmla="*/ 68 h 136"/>
                      <a:gd name="T6" fmla="*/ 0 w 252"/>
                      <a:gd name="T7" fmla="*/ 136 h 1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52" h="136">
                        <a:moveTo>
                          <a:pt x="248" y="0"/>
                        </a:moveTo>
                        <a:lnTo>
                          <a:pt x="252" y="68"/>
                        </a:lnTo>
                        <a:lnTo>
                          <a:pt x="0" y="68"/>
                        </a:lnTo>
                        <a:lnTo>
                          <a:pt x="0" y="136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9" name="Freeform 106">
                    <a:extLst>
                      <a:ext uri="{FF2B5EF4-FFF2-40B4-BE49-F238E27FC236}">
                        <a16:creationId xmlns:a16="http://schemas.microsoft.com/office/drawing/2014/main" id="{77C5FD37-AE88-4B8B-B40E-27F5852811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8" y="3069"/>
                    <a:ext cx="220" cy="149"/>
                  </a:xfrm>
                  <a:custGeom>
                    <a:avLst/>
                    <a:gdLst>
                      <a:gd name="T0" fmla="*/ 125 w 249"/>
                      <a:gd name="T1" fmla="*/ 162 h 165"/>
                      <a:gd name="T2" fmla="*/ 145 w 249"/>
                      <a:gd name="T3" fmla="*/ 162 h 165"/>
                      <a:gd name="T4" fmla="*/ 165 w 249"/>
                      <a:gd name="T5" fmla="*/ 160 h 165"/>
                      <a:gd name="T6" fmla="*/ 182 w 249"/>
                      <a:gd name="T7" fmla="*/ 154 h 165"/>
                      <a:gd name="T8" fmla="*/ 199 w 249"/>
                      <a:gd name="T9" fmla="*/ 147 h 165"/>
                      <a:gd name="T10" fmla="*/ 216 w 249"/>
                      <a:gd name="T11" fmla="*/ 140 h 165"/>
                      <a:gd name="T12" fmla="*/ 226 w 249"/>
                      <a:gd name="T13" fmla="*/ 130 h 165"/>
                      <a:gd name="T14" fmla="*/ 236 w 249"/>
                      <a:gd name="T15" fmla="*/ 121 h 165"/>
                      <a:gd name="T16" fmla="*/ 246 w 249"/>
                      <a:gd name="T17" fmla="*/ 108 h 165"/>
                      <a:gd name="T18" fmla="*/ 249 w 249"/>
                      <a:gd name="T19" fmla="*/ 94 h 165"/>
                      <a:gd name="T20" fmla="*/ 249 w 249"/>
                      <a:gd name="T21" fmla="*/ 81 h 165"/>
                      <a:gd name="T22" fmla="*/ 249 w 249"/>
                      <a:gd name="T23" fmla="*/ 68 h 165"/>
                      <a:gd name="T24" fmla="*/ 246 w 249"/>
                      <a:gd name="T25" fmla="*/ 57 h 165"/>
                      <a:gd name="T26" fmla="*/ 236 w 249"/>
                      <a:gd name="T27" fmla="*/ 44 h 165"/>
                      <a:gd name="T28" fmla="*/ 226 w 249"/>
                      <a:gd name="T29" fmla="*/ 35 h 165"/>
                      <a:gd name="T30" fmla="*/ 216 w 249"/>
                      <a:gd name="T31" fmla="*/ 24 h 165"/>
                      <a:gd name="T32" fmla="*/ 199 w 249"/>
                      <a:gd name="T33" fmla="*/ 15 h 165"/>
                      <a:gd name="T34" fmla="*/ 182 w 249"/>
                      <a:gd name="T35" fmla="*/ 9 h 165"/>
                      <a:gd name="T36" fmla="*/ 165 w 249"/>
                      <a:gd name="T37" fmla="*/ 4 h 165"/>
                      <a:gd name="T38" fmla="*/ 145 w 249"/>
                      <a:gd name="T39" fmla="*/ 2 h 165"/>
                      <a:gd name="T40" fmla="*/ 125 w 249"/>
                      <a:gd name="T41" fmla="*/ 0 h 165"/>
                      <a:gd name="T42" fmla="*/ 105 w 249"/>
                      <a:gd name="T43" fmla="*/ 2 h 165"/>
                      <a:gd name="T44" fmla="*/ 88 w 249"/>
                      <a:gd name="T45" fmla="*/ 4 h 165"/>
                      <a:gd name="T46" fmla="*/ 68 w 249"/>
                      <a:gd name="T47" fmla="*/ 9 h 165"/>
                      <a:gd name="T48" fmla="*/ 51 w 249"/>
                      <a:gd name="T49" fmla="*/ 15 h 165"/>
                      <a:gd name="T50" fmla="*/ 37 w 249"/>
                      <a:gd name="T51" fmla="*/ 24 h 165"/>
                      <a:gd name="T52" fmla="*/ 24 w 249"/>
                      <a:gd name="T53" fmla="*/ 35 h 165"/>
                      <a:gd name="T54" fmla="*/ 14 w 249"/>
                      <a:gd name="T55" fmla="*/ 44 h 165"/>
                      <a:gd name="T56" fmla="*/ 7 w 249"/>
                      <a:gd name="T57" fmla="*/ 57 h 165"/>
                      <a:gd name="T58" fmla="*/ 4 w 249"/>
                      <a:gd name="T59" fmla="*/ 68 h 165"/>
                      <a:gd name="T60" fmla="*/ 0 w 249"/>
                      <a:gd name="T61" fmla="*/ 81 h 165"/>
                      <a:gd name="T62" fmla="*/ 4 w 249"/>
                      <a:gd name="T63" fmla="*/ 94 h 165"/>
                      <a:gd name="T64" fmla="*/ 7 w 249"/>
                      <a:gd name="T65" fmla="*/ 108 h 165"/>
                      <a:gd name="T66" fmla="*/ 14 w 249"/>
                      <a:gd name="T67" fmla="*/ 121 h 165"/>
                      <a:gd name="T68" fmla="*/ 24 w 249"/>
                      <a:gd name="T69" fmla="*/ 130 h 165"/>
                      <a:gd name="T70" fmla="*/ 37 w 249"/>
                      <a:gd name="T71" fmla="*/ 140 h 165"/>
                      <a:gd name="T72" fmla="*/ 51 w 249"/>
                      <a:gd name="T73" fmla="*/ 147 h 165"/>
                      <a:gd name="T74" fmla="*/ 68 w 249"/>
                      <a:gd name="T75" fmla="*/ 154 h 165"/>
                      <a:gd name="T76" fmla="*/ 88 w 249"/>
                      <a:gd name="T77" fmla="*/ 160 h 165"/>
                      <a:gd name="T78" fmla="*/ 105 w 249"/>
                      <a:gd name="T79" fmla="*/ 162 h 165"/>
                      <a:gd name="T80" fmla="*/ 125 w 249"/>
                      <a:gd name="T81" fmla="*/ 165 h 165"/>
                      <a:gd name="T82" fmla="*/ 125 w 249"/>
                      <a:gd name="T83" fmla="*/ 165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249" h="165">
                        <a:moveTo>
                          <a:pt x="125" y="162"/>
                        </a:moveTo>
                        <a:lnTo>
                          <a:pt x="145" y="162"/>
                        </a:lnTo>
                        <a:lnTo>
                          <a:pt x="165" y="160"/>
                        </a:lnTo>
                        <a:lnTo>
                          <a:pt x="182" y="154"/>
                        </a:lnTo>
                        <a:lnTo>
                          <a:pt x="199" y="147"/>
                        </a:lnTo>
                        <a:lnTo>
                          <a:pt x="216" y="140"/>
                        </a:lnTo>
                        <a:lnTo>
                          <a:pt x="226" y="130"/>
                        </a:lnTo>
                        <a:lnTo>
                          <a:pt x="236" y="121"/>
                        </a:lnTo>
                        <a:lnTo>
                          <a:pt x="246" y="108"/>
                        </a:lnTo>
                        <a:lnTo>
                          <a:pt x="249" y="94"/>
                        </a:lnTo>
                        <a:lnTo>
                          <a:pt x="249" y="81"/>
                        </a:lnTo>
                        <a:lnTo>
                          <a:pt x="249" y="68"/>
                        </a:lnTo>
                        <a:lnTo>
                          <a:pt x="246" y="57"/>
                        </a:lnTo>
                        <a:lnTo>
                          <a:pt x="236" y="44"/>
                        </a:lnTo>
                        <a:lnTo>
                          <a:pt x="226" y="35"/>
                        </a:lnTo>
                        <a:lnTo>
                          <a:pt x="216" y="24"/>
                        </a:lnTo>
                        <a:lnTo>
                          <a:pt x="199" y="15"/>
                        </a:lnTo>
                        <a:lnTo>
                          <a:pt x="182" y="9"/>
                        </a:lnTo>
                        <a:lnTo>
                          <a:pt x="165" y="4"/>
                        </a:lnTo>
                        <a:lnTo>
                          <a:pt x="145" y="2"/>
                        </a:lnTo>
                        <a:lnTo>
                          <a:pt x="125" y="0"/>
                        </a:lnTo>
                        <a:lnTo>
                          <a:pt x="105" y="2"/>
                        </a:lnTo>
                        <a:lnTo>
                          <a:pt x="88" y="4"/>
                        </a:lnTo>
                        <a:lnTo>
                          <a:pt x="68" y="9"/>
                        </a:lnTo>
                        <a:lnTo>
                          <a:pt x="51" y="15"/>
                        </a:lnTo>
                        <a:lnTo>
                          <a:pt x="37" y="24"/>
                        </a:lnTo>
                        <a:lnTo>
                          <a:pt x="24" y="35"/>
                        </a:lnTo>
                        <a:lnTo>
                          <a:pt x="14" y="44"/>
                        </a:lnTo>
                        <a:lnTo>
                          <a:pt x="7" y="57"/>
                        </a:lnTo>
                        <a:lnTo>
                          <a:pt x="4" y="68"/>
                        </a:lnTo>
                        <a:lnTo>
                          <a:pt x="0" y="81"/>
                        </a:lnTo>
                        <a:lnTo>
                          <a:pt x="4" y="94"/>
                        </a:lnTo>
                        <a:lnTo>
                          <a:pt x="7" y="108"/>
                        </a:lnTo>
                        <a:lnTo>
                          <a:pt x="14" y="121"/>
                        </a:lnTo>
                        <a:lnTo>
                          <a:pt x="24" y="130"/>
                        </a:lnTo>
                        <a:lnTo>
                          <a:pt x="37" y="140"/>
                        </a:lnTo>
                        <a:lnTo>
                          <a:pt x="51" y="147"/>
                        </a:lnTo>
                        <a:lnTo>
                          <a:pt x="68" y="154"/>
                        </a:lnTo>
                        <a:lnTo>
                          <a:pt x="88" y="160"/>
                        </a:lnTo>
                        <a:lnTo>
                          <a:pt x="105" y="162"/>
                        </a:lnTo>
                        <a:lnTo>
                          <a:pt x="125" y="165"/>
                        </a:lnTo>
                        <a:lnTo>
                          <a:pt x="125" y="165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90" name="Freeform 107">
                    <a:extLst>
                      <a:ext uri="{FF2B5EF4-FFF2-40B4-BE49-F238E27FC236}">
                        <a16:creationId xmlns:a16="http://schemas.microsoft.com/office/drawing/2014/main" id="{BF6F6F36-0AA6-40BC-B266-C11E5251486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86" y="3134"/>
                    <a:ext cx="65" cy="22"/>
                  </a:xfrm>
                  <a:custGeom>
                    <a:avLst/>
                    <a:gdLst>
                      <a:gd name="T0" fmla="*/ 0 w 74"/>
                      <a:gd name="T1" fmla="*/ 0 h 25"/>
                      <a:gd name="T2" fmla="*/ 74 w 74"/>
                      <a:gd name="T3" fmla="*/ 0 h 25"/>
                      <a:gd name="T4" fmla="*/ 74 w 74"/>
                      <a:gd name="T5" fmla="*/ 7 h 25"/>
                      <a:gd name="T6" fmla="*/ 3 w 74"/>
                      <a:gd name="T7" fmla="*/ 7 h 25"/>
                      <a:gd name="T8" fmla="*/ 3 w 74"/>
                      <a:gd name="T9" fmla="*/ 0 h 25"/>
                      <a:gd name="T10" fmla="*/ 3 w 74"/>
                      <a:gd name="T11" fmla="*/ 0 h 25"/>
                      <a:gd name="T12" fmla="*/ 0 w 74"/>
                      <a:gd name="T13" fmla="*/ 0 h 25"/>
                      <a:gd name="T14" fmla="*/ 3 w 74"/>
                      <a:gd name="T15" fmla="*/ 18 h 25"/>
                      <a:gd name="T16" fmla="*/ 74 w 74"/>
                      <a:gd name="T17" fmla="*/ 18 h 25"/>
                      <a:gd name="T18" fmla="*/ 74 w 74"/>
                      <a:gd name="T19" fmla="*/ 25 h 25"/>
                      <a:gd name="T20" fmla="*/ 3 w 74"/>
                      <a:gd name="T21" fmla="*/ 25 h 25"/>
                      <a:gd name="T22" fmla="*/ 3 w 74"/>
                      <a:gd name="T23" fmla="*/ 18 h 25"/>
                      <a:gd name="T24" fmla="*/ 3 w 74"/>
                      <a:gd name="T25" fmla="*/ 18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4" h="25">
                        <a:moveTo>
                          <a:pt x="0" y="0"/>
                        </a:moveTo>
                        <a:lnTo>
                          <a:pt x="74" y="0"/>
                        </a:lnTo>
                        <a:lnTo>
                          <a:pt x="74" y="7"/>
                        </a:lnTo>
                        <a:lnTo>
                          <a:pt x="3" y="7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  <a:moveTo>
                          <a:pt x="3" y="18"/>
                        </a:moveTo>
                        <a:lnTo>
                          <a:pt x="74" y="18"/>
                        </a:lnTo>
                        <a:lnTo>
                          <a:pt x="74" y="25"/>
                        </a:lnTo>
                        <a:lnTo>
                          <a:pt x="3" y="25"/>
                        </a:lnTo>
                        <a:lnTo>
                          <a:pt x="3" y="18"/>
                        </a:lnTo>
                        <a:lnTo>
                          <a:pt x="3" y="1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91" name="Line 108">
                    <a:extLst>
                      <a:ext uri="{FF2B5EF4-FFF2-40B4-BE49-F238E27FC236}">
                        <a16:creationId xmlns:a16="http://schemas.microsoft.com/office/drawing/2014/main" id="{F4AC754C-D573-49C1-892F-42BEF42BB0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2" y="2304"/>
                    <a:ext cx="0" cy="76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 type="oval" w="sm" len="sm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</p:grpSp>
            <p:grpSp>
              <p:nvGrpSpPr>
                <p:cNvPr id="58" name="Group 109">
                  <a:extLst>
                    <a:ext uri="{FF2B5EF4-FFF2-40B4-BE49-F238E27FC236}">
                      <a16:creationId xmlns:a16="http://schemas.microsoft.com/office/drawing/2014/main" id="{E4C1A9C4-E024-4A4E-BBA5-D3BD50DEF1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72" y="2304"/>
                  <a:ext cx="404" cy="1200"/>
                  <a:chOff x="624" y="2304"/>
                  <a:chExt cx="404" cy="1200"/>
                </a:xfrm>
              </p:grpSpPr>
              <p:sp>
                <p:nvSpPr>
                  <p:cNvPr id="80" name="Freeform 110">
                    <a:extLst>
                      <a:ext uri="{FF2B5EF4-FFF2-40B4-BE49-F238E27FC236}">
                        <a16:creationId xmlns:a16="http://schemas.microsoft.com/office/drawing/2014/main" id="{0F6FC3FD-617E-4B7C-8FAD-2F000DCFFD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4" y="3342"/>
                    <a:ext cx="158" cy="162"/>
                  </a:xfrm>
                  <a:custGeom>
                    <a:avLst/>
                    <a:gdLst>
                      <a:gd name="T0" fmla="*/ 0 w 222"/>
                      <a:gd name="T1" fmla="*/ 101 h 172"/>
                      <a:gd name="T2" fmla="*/ 3 w 222"/>
                      <a:gd name="T3" fmla="*/ 114 h 172"/>
                      <a:gd name="T4" fmla="*/ 7 w 222"/>
                      <a:gd name="T5" fmla="*/ 125 h 172"/>
                      <a:gd name="T6" fmla="*/ 13 w 222"/>
                      <a:gd name="T7" fmla="*/ 134 h 172"/>
                      <a:gd name="T8" fmla="*/ 23 w 222"/>
                      <a:gd name="T9" fmla="*/ 143 h 172"/>
                      <a:gd name="T10" fmla="*/ 33 w 222"/>
                      <a:gd name="T11" fmla="*/ 152 h 172"/>
                      <a:gd name="T12" fmla="*/ 47 w 222"/>
                      <a:gd name="T13" fmla="*/ 158 h 172"/>
                      <a:gd name="T14" fmla="*/ 60 w 222"/>
                      <a:gd name="T15" fmla="*/ 165 h 172"/>
                      <a:gd name="T16" fmla="*/ 77 w 222"/>
                      <a:gd name="T17" fmla="*/ 169 h 172"/>
                      <a:gd name="T18" fmla="*/ 94 w 222"/>
                      <a:gd name="T19" fmla="*/ 172 h 172"/>
                      <a:gd name="T20" fmla="*/ 111 w 222"/>
                      <a:gd name="T21" fmla="*/ 172 h 172"/>
                      <a:gd name="T22" fmla="*/ 131 w 222"/>
                      <a:gd name="T23" fmla="*/ 172 h 172"/>
                      <a:gd name="T24" fmla="*/ 148 w 222"/>
                      <a:gd name="T25" fmla="*/ 169 h 172"/>
                      <a:gd name="T26" fmla="*/ 161 w 222"/>
                      <a:gd name="T27" fmla="*/ 165 h 172"/>
                      <a:gd name="T28" fmla="*/ 178 w 222"/>
                      <a:gd name="T29" fmla="*/ 158 h 172"/>
                      <a:gd name="T30" fmla="*/ 188 w 222"/>
                      <a:gd name="T31" fmla="*/ 152 h 172"/>
                      <a:gd name="T32" fmla="*/ 202 w 222"/>
                      <a:gd name="T33" fmla="*/ 143 h 172"/>
                      <a:gd name="T34" fmla="*/ 208 w 222"/>
                      <a:gd name="T35" fmla="*/ 134 h 172"/>
                      <a:gd name="T36" fmla="*/ 215 w 222"/>
                      <a:gd name="T37" fmla="*/ 125 h 172"/>
                      <a:gd name="T38" fmla="*/ 222 w 222"/>
                      <a:gd name="T39" fmla="*/ 114 h 172"/>
                      <a:gd name="T40" fmla="*/ 222 w 222"/>
                      <a:gd name="T41" fmla="*/ 104 h 172"/>
                      <a:gd name="T42" fmla="*/ 222 w 222"/>
                      <a:gd name="T43" fmla="*/ 0 h 172"/>
                      <a:gd name="T44" fmla="*/ 3 w 222"/>
                      <a:gd name="T45" fmla="*/ 0 h 172"/>
                      <a:gd name="T46" fmla="*/ 3 w 222"/>
                      <a:gd name="T47" fmla="*/ 104 h 172"/>
                      <a:gd name="T48" fmla="*/ 3 w 222"/>
                      <a:gd name="T49" fmla="*/ 104 h 1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22" h="172">
                        <a:moveTo>
                          <a:pt x="0" y="101"/>
                        </a:moveTo>
                        <a:lnTo>
                          <a:pt x="3" y="114"/>
                        </a:lnTo>
                        <a:lnTo>
                          <a:pt x="7" y="125"/>
                        </a:lnTo>
                        <a:lnTo>
                          <a:pt x="13" y="134"/>
                        </a:lnTo>
                        <a:lnTo>
                          <a:pt x="23" y="143"/>
                        </a:lnTo>
                        <a:lnTo>
                          <a:pt x="33" y="152"/>
                        </a:lnTo>
                        <a:lnTo>
                          <a:pt x="47" y="158"/>
                        </a:lnTo>
                        <a:lnTo>
                          <a:pt x="60" y="165"/>
                        </a:lnTo>
                        <a:lnTo>
                          <a:pt x="77" y="169"/>
                        </a:lnTo>
                        <a:lnTo>
                          <a:pt x="94" y="172"/>
                        </a:lnTo>
                        <a:lnTo>
                          <a:pt x="111" y="172"/>
                        </a:lnTo>
                        <a:lnTo>
                          <a:pt x="131" y="172"/>
                        </a:lnTo>
                        <a:lnTo>
                          <a:pt x="148" y="169"/>
                        </a:lnTo>
                        <a:lnTo>
                          <a:pt x="161" y="165"/>
                        </a:lnTo>
                        <a:lnTo>
                          <a:pt x="178" y="158"/>
                        </a:lnTo>
                        <a:lnTo>
                          <a:pt x="188" y="152"/>
                        </a:lnTo>
                        <a:lnTo>
                          <a:pt x="202" y="143"/>
                        </a:lnTo>
                        <a:lnTo>
                          <a:pt x="208" y="134"/>
                        </a:lnTo>
                        <a:lnTo>
                          <a:pt x="215" y="125"/>
                        </a:lnTo>
                        <a:lnTo>
                          <a:pt x="222" y="114"/>
                        </a:lnTo>
                        <a:lnTo>
                          <a:pt x="222" y="104"/>
                        </a:lnTo>
                        <a:lnTo>
                          <a:pt x="222" y="0"/>
                        </a:lnTo>
                        <a:lnTo>
                          <a:pt x="3" y="0"/>
                        </a:lnTo>
                        <a:lnTo>
                          <a:pt x="3" y="104"/>
                        </a:lnTo>
                        <a:lnTo>
                          <a:pt x="3" y="104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1" name="Line 111">
                    <a:extLst>
                      <a:ext uri="{FF2B5EF4-FFF2-40B4-BE49-F238E27FC236}">
                        <a16:creationId xmlns:a16="http://schemas.microsoft.com/office/drawing/2014/main" id="{DC984059-5D3E-4369-B5B9-DFCC3B1BB6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2304"/>
                    <a:ext cx="6" cy="1036"/>
                  </a:xfrm>
                  <a:prstGeom prst="line">
                    <a:avLst/>
                  </a:prstGeom>
                  <a:noFill/>
                  <a:ln w="20701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" name="Freeform 112">
                    <a:extLst>
                      <a:ext uri="{FF2B5EF4-FFF2-40B4-BE49-F238E27FC236}">
                        <a16:creationId xmlns:a16="http://schemas.microsoft.com/office/drawing/2014/main" id="{BD62F1DD-7A11-4CD4-AC56-83B580B69CE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9" y="3218"/>
                    <a:ext cx="180" cy="113"/>
                  </a:xfrm>
                  <a:custGeom>
                    <a:avLst/>
                    <a:gdLst>
                      <a:gd name="T0" fmla="*/ 248 w 252"/>
                      <a:gd name="T1" fmla="*/ 0 h 136"/>
                      <a:gd name="T2" fmla="*/ 252 w 252"/>
                      <a:gd name="T3" fmla="*/ 68 h 136"/>
                      <a:gd name="T4" fmla="*/ 0 w 252"/>
                      <a:gd name="T5" fmla="*/ 68 h 136"/>
                      <a:gd name="T6" fmla="*/ 0 w 252"/>
                      <a:gd name="T7" fmla="*/ 136 h 1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52" h="136">
                        <a:moveTo>
                          <a:pt x="248" y="0"/>
                        </a:moveTo>
                        <a:lnTo>
                          <a:pt x="252" y="68"/>
                        </a:lnTo>
                        <a:lnTo>
                          <a:pt x="0" y="68"/>
                        </a:lnTo>
                        <a:lnTo>
                          <a:pt x="0" y="136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" name="Freeform 113">
                    <a:extLst>
                      <a:ext uri="{FF2B5EF4-FFF2-40B4-BE49-F238E27FC236}">
                        <a16:creationId xmlns:a16="http://schemas.microsoft.com/office/drawing/2014/main" id="{6ED9FC14-04CF-4F77-9F9B-C98AC999D5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8" y="3069"/>
                    <a:ext cx="220" cy="149"/>
                  </a:xfrm>
                  <a:custGeom>
                    <a:avLst/>
                    <a:gdLst>
                      <a:gd name="T0" fmla="*/ 125 w 249"/>
                      <a:gd name="T1" fmla="*/ 162 h 165"/>
                      <a:gd name="T2" fmla="*/ 145 w 249"/>
                      <a:gd name="T3" fmla="*/ 162 h 165"/>
                      <a:gd name="T4" fmla="*/ 165 w 249"/>
                      <a:gd name="T5" fmla="*/ 160 h 165"/>
                      <a:gd name="T6" fmla="*/ 182 w 249"/>
                      <a:gd name="T7" fmla="*/ 154 h 165"/>
                      <a:gd name="T8" fmla="*/ 199 w 249"/>
                      <a:gd name="T9" fmla="*/ 147 h 165"/>
                      <a:gd name="T10" fmla="*/ 216 w 249"/>
                      <a:gd name="T11" fmla="*/ 140 h 165"/>
                      <a:gd name="T12" fmla="*/ 226 w 249"/>
                      <a:gd name="T13" fmla="*/ 130 h 165"/>
                      <a:gd name="T14" fmla="*/ 236 w 249"/>
                      <a:gd name="T15" fmla="*/ 121 h 165"/>
                      <a:gd name="T16" fmla="*/ 246 w 249"/>
                      <a:gd name="T17" fmla="*/ 108 h 165"/>
                      <a:gd name="T18" fmla="*/ 249 w 249"/>
                      <a:gd name="T19" fmla="*/ 94 h 165"/>
                      <a:gd name="T20" fmla="*/ 249 w 249"/>
                      <a:gd name="T21" fmla="*/ 81 h 165"/>
                      <a:gd name="T22" fmla="*/ 249 w 249"/>
                      <a:gd name="T23" fmla="*/ 68 h 165"/>
                      <a:gd name="T24" fmla="*/ 246 w 249"/>
                      <a:gd name="T25" fmla="*/ 57 h 165"/>
                      <a:gd name="T26" fmla="*/ 236 w 249"/>
                      <a:gd name="T27" fmla="*/ 44 h 165"/>
                      <a:gd name="T28" fmla="*/ 226 w 249"/>
                      <a:gd name="T29" fmla="*/ 35 h 165"/>
                      <a:gd name="T30" fmla="*/ 216 w 249"/>
                      <a:gd name="T31" fmla="*/ 24 h 165"/>
                      <a:gd name="T32" fmla="*/ 199 w 249"/>
                      <a:gd name="T33" fmla="*/ 15 h 165"/>
                      <a:gd name="T34" fmla="*/ 182 w 249"/>
                      <a:gd name="T35" fmla="*/ 9 h 165"/>
                      <a:gd name="T36" fmla="*/ 165 w 249"/>
                      <a:gd name="T37" fmla="*/ 4 h 165"/>
                      <a:gd name="T38" fmla="*/ 145 w 249"/>
                      <a:gd name="T39" fmla="*/ 2 h 165"/>
                      <a:gd name="T40" fmla="*/ 125 w 249"/>
                      <a:gd name="T41" fmla="*/ 0 h 165"/>
                      <a:gd name="T42" fmla="*/ 105 w 249"/>
                      <a:gd name="T43" fmla="*/ 2 h 165"/>
                      <a:gd name="T44" fmla="*/ 88 w 249"/>
                      <a:gd name="T45" fmla="*/ 4 h 165"/>
                      <a:gd name="T46" fmla="*/ 68 w 249"/>
                      <a:gd name="T47" fmla="*/ 9 h 165"/>
                      <a:gd name="T48" fmla="*/ 51 w 249"/>
                      <a:gd name="T49" fmla="*/ 15 h 165"/>
                      <a:gd name="T50" fmla="*/ 37 w 249"/>
                      <a:gd name="T51" fmla="*/ 24 h 165"/>
                      <a:gd name="T52" fmla="*/ 24 w 249"/>
                      <a:gd name="T53" fmla="*/ 35 h 165"/>
                      <a:gd name="T54" fmla="*/ 14 w 249"/>
                      <a:gd name="T55" fmla="*/ 44 h 165"/>
                      <a:gd name="T56" fmla="*/ 7 w 249"/>
                      <a:gd name="T57" fmla="*/ 57 h 165"/>
                      <a:gd name="T58" fmla="*/ 4 w 249"/>
                      <a:gd name="T59" fmla="*/ 68 h 165"/>
                      <a:gd name="T60" fmla="*/ 0 w 249"/>
                      <a:gd name="T61" fmla="*/ 81 h 165"/>
                      <a:gd name="T62" fmla="*/ 4 w 249"/>
                      <a:gd name="T63" fmla="*/ 94 h 165"/>
                      <a:gd name="T64" fmla="*/ 7 w 249"/>
                      <a:gd name="T65" fmla="*/ 108 h 165"/>
                      <a:gd name="T66" fmla="*/ 14 w 249"/>
                      <a:gd name="T67" fmla="*/ 121 h 165"/>
                      <a:gd name="T68" fmla="*/ 24 w 249"/>
                      <a:gd name="T69" fmla="*/ 130 h 165"/>
                      <a:gd name="T70" fmla="*/ 37 w 249"/>
                      <a:gd name="T71" fmla="*/ 140 h 165"/>
                      <a:gd name="T72" fmla="*/ 51 w 249"/>
                      <a:gd name="T73" fmla="*/ 147 h 165"/>
                      <a:gd name="T74" fmla="*/ 68 w 249"/>
                      <a:gd name="T75" fmla="*/ 154 h 165"/>
                      <a:gd name="T76" fmla="*/ 88 w 249"/>
                      <a:gd name="T77" fmla="*/ 160 h 165"/>
                      <a:gd name="T78" fmla="*/ 105 w 249"/>
                      <a:gd name="T79" fmla="*/ 162 h 165"/>
                      <a:gd name="T80" fmla="*/ 125 w 249"/>
                      <a:gd name="T81" fmla="*/ 165 h 165"/>
                      <a:gd name="T82" fmla="*/ 125 w 249"/>
                      <a:gd name="T83" fmla="*/ 165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249" h="165">
                        <a:moveTo>
                          <a:pt x="125" y="162"/>
                        </a:moveTo>
                        <a:lnTo>
                          <a:pt x="145" y="162"/>
                        </a:lnTo>
                        <a:lnTo>
                          <a:pt x="165" y="160"/>
                        </a:lnTo>
                        <a:lnTo>
                          <a:pt x="182" y="154"/>
                        </a:lnTo>
                        <a:lnTo>
                          <a:pt x="199" y="147"/>
                        </a:lnTo>
                        <a:lnTo>
                          <a:pt x="216" y="140"/>
                        </a:lnTo>
                        <a:lnTo>
                          <a:pt x="226" y="130"/>
                        </a:lnTo>
                        <a:lnTo>
                          <a:pt x="236" y="121"/>
                        </a:lnTo>
                        <a:lnTo>
                          <a:pt x="246" y="108"/>
                        </a:lnTo>
                        <a:lnTo>
                          <a:pt x="249" y="94"/>
                        </a:lnTo>
                        <a:lnTo>
                          <a:pt x="249" y="81"/>
                        </a:lnTo>
                        <a:lnTo>
                          <a:pt x="249" y="68"/>
                        </a:lnTo>
                        <a:lnTo>
                          <a:pt x="246" y="57"/>
                        </a:lnTo>
                        <a:lnTo>
                          <a:pt x="236" y="44"/>
                        </a:lnTo>
                        <a:lnTo>
                          <a:pt x="226" y="35"/>
                        </a:lnTo>
                        <a:lnTo>
                          <a:pt x="216" y="24"/>
                        </a:lnTo>
                        <a:lnTo>
                          <a:pt x="199" y="15"/>
                        </a:lnTo>
                        <a:lnTo>
                          <a:pt x="182" y="9"/>
                        </a:lnTo>
                        <a:lnTo>
                          <a:pt x="165" y="4"/>
                        </a:lnTo>
                        <a:lnTo>
                          <a:pt x="145" y="2"/>
                        </a:lnTo>
                        <a:lnTo>
                          <a:pt x="125" y="0"/>
                        </a:lnTo>
                        <a:lnTo>
                          <a:pt x="105" y="2"/>
                        </a:lnTo>
                        <a:lnTo>
                          <a:pt x="88" y="4"/>
                        </a:lnTo>
                        <a:lnTo>
                          <a:pt x="68" y="9"/>
                        </a:lnTo>
                        <a:lnTo>
                          <a:pt x="51" y="15"/>
                        </a:lnTo>
                        <a:lnTo>
                          <a:pt x="37" y="24"/>
                        </a:lnTo>
                        <a:lnTo>
                          <a:pt x="24" y="35"/>
                        </a:lnTo>
                        <a:lnTo>
                          <a:pt x="14" y="44"/>
                        </a:lnTo>
                        <a:lnTo>
                          <a:pt x="7" y="57"/>
                        </a:lnTo>
                        <a:lnTo>
                          <a:pt x="4" y="68"/>
                        </a:lnTo>
                        <a:lnTo>
                          <a:pt x="0" y="81"/>
                        </a:lnTo>
                        <a:lnTo>
                          <a:pt x="4" y="94"/>
                        </a:lnTo>
                        <a:lnTo>
                          <a:pt x="7" y="108"/>
                        </a:lnTo>
                        <a:lnTo>
                          <a:pt x="14" y="121"/>
                        </a:lnTo>
                        <a:lnTo>
                          <a:pt x="24" y="130"/>
                        </a:lnTo>
                        <a:lnTo>
                          <a:pt x="37" y="140"/>
                        </a:lnTo>
                        <a:lnTo>
                          <a:pt x="51" y="147"/>
                        </a:lnTo>
                        <a:lnTo>
                          <a:pt x="68" y="154"/>
                        </a:lnTo>
                        <a:lnTo>
                          <a:pt x="88" y="160"/>
                        </a:lnTo>
                        <a:lnTo>
                          <a:pt x="105" y="162"/>
                        </a:lnTo>
                        <a:lnTo>
                          <a:pt x="125" y="165"/>
                        </a:lnTo>
                        <a:lnTo>
                          <a:pt x="125" y="165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" name="Freeform 114">
                    <a:extLst>
                      <a:ext uri="{FF2B5EF4-FFF2-40B4-BE49-F238E27FC236}">
                        <a16:creationId xmlns:a16="http://schemas.microsoft.com/office/drawing/2014/main" id="{ABC4513B-1FDE-4FC8-845A-1186545D1AD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86" y="3134"/>
                    <a:ext cx="65" cy="22"/>
                  </a:xfrm>
                  <a:custGeom>
                    <a:avLst/>
                    <a:gdLst>
                      <a:gd name="T0" fmla="*/ 0 w 74"/>
                      <a:gd name="T1" fmla="*/ 0 h 25"/>
                      <a:gd name="T2" fmla="*/ 74 w 74"/>
                      <a:gd name="T3" fmla="*/ 0 h 25"/>
                      <a:gd name="T4" fmla="*/ 74 w 74"/>
                      <a:gd name="T5" fmla="*/ 7 h 25"/>
                      <a:gd name="T6" fmla="*/ 3 w 74"/>
                      <a:gd name="T7" fmla="*/ 7 h 25"/>
                      <a:gd name="T8" fmla="*/ 3 w 74"/>
                      <a:gd name="T9" fmla="*/ 0 h 25"/>
                      <a:gd name="T10" fmla="*/ 3 w 74"/>
                      <a:gd name="T11" fmla="*/ 0 h 25"/>
                      <a:gd name="T12" fmla="*/ 0 w 74"/>
                      <a:gd name="T13" fmla="*/ 0 h 25"/>
                      <a:gd name="T14" fmla="*/ 3 w 74"/>
                      <a:gd name="T15" fmla="*/ 18 h 25"/>
                      <a:gd name="T16" fmla="*/ 74 w 74"/>
                      <a:gd name="T17" fmla="*/ 18 h 25"/>
                      <a:gd name="T18" fmla="*/ 74 w 74"/>
                      <a:gd name="T19" fmla="*/ 25 h 25"/>
                      <a:gd name="T20" fmla="*/ 3 w 74"/>
                      <a:gd name="T21" fmla="*/ 25 h 25"/>
                      <a:gd name="T22" fmla="*/ 3 w 74"/>
                      <a:gd name="T23" fmla="*/ 18 h 25"/>
                      <a:gd name="T24" fmla="*/ 3 w 74"/>
                      <a:gd name="T25" fmla="*/ 18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4" h="25">
                        <a:moveTo>
                          <a:pt x="0" y="0"/>
                        </a:moveTo>
                        <a:lnTo>
                          <a:pt x="74" y="0"/>
                        </a:lnTo>
                        <a:lnTo>
                          <a:pt x="74" y="7"/>
                        </a:lnTo>
                        <a:lnTo>
                          <a:pt x="3" y="7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  <a:moveTo>
                          <a:pt x="3" y="18"/>
                        </a:moveTo>
                        <a:lnTo>
                          <a:pt x="74" y="18"/>
                        </a:lnTo>
                        <a:lnTo>
                          <a:pt x="74" y="25"/>
                        </a:lnTo>
                        <a:lnTo>
                          <a:pt x="3" y="25"/>
                        </a:lnTo>
                        <a:lnTo>
                          <a:pt x="3" y="18"/>
                        </a:lnTo>
                        <a:lnTo>
                          <a:pt x="3" y="1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" name="Line 115">
                    <a:extLst>
                      <a:ext uri="{FF2B5EF4-FFF2-40B4-BE49-F238E27FC236}">
                        <a16:creationId xmlns:a16="http://schemas.microsoft.com/office/drawing/2014/main" id="{4BA51CED-5F76-4FCF-A2C2-3092DB1690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2" y="2304"/>
                    <a:ext cx="0" cy="76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 type="oval" w="sm" len="sm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</p:grpSp>
            <p:grpSp>
              <p:nvGrpSpPr>
                <p:cNvPr id="59" name="Group 116">
                  <a:extLst>
                    <a:ext uri="{FF2B5EF4-FFF2-40B4-BE49-F238E27FC236}">
                      <a16:creationId xmlns:a16="http://schemas.microsoft.com/office/drawing/2014/main" id="{A847736D-3768-4F3A-AAC5-21CF0B7D44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2304"/>
                  <a:ext cx="404" cy="1200"/>
                  <a:chOff x="624" y="2304"/>
                  <a:chExt cx="404" cy="1200"/>
                </a:xfrm>
              </p:grpSpPr>
              <p:sp>
                <p:nvSpPr>
                  <p:cNvPr id="74" name="Freeform 117">
                    <a:extLst>
                      <a:ext uri="{FF2B5EF4-FFF2-40B4-BE49-F238E27FC236}">
                        <a16:creationId xmlns:a16="http://schemas.microsoft.com/office/drawing/2014/main" id="{89D3C204-61E8-49D4-8623-8A25E2A12E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4" y="3342"/>
                    <a:ext cx="158" cy="162"/>
                  </a:xfrm>
                  <a:custGeom>
                    <a:avLst/>
                    <a:gdLst>
                      <a:gd name="T0" fmla="*/ 0 w 222"/>
                      <a:gd name="T1" fmla="*/ 101 h 172"/>
                      <a:gd name="T2" fmla="*/ 3 w 222"/>
                      <a:gd name="T3" fmla="*/ 114 h 172"/>
                      <a:gd name="T4" fmla="*/ 7 w 222"/>
                      <a:gd name="T5" fmla="*/ 125 h 172"/>
                      <a:gd name="T6" fmla="*/ 13 w 222"/>
                      <a:gd name="T7" fmla="*/ 134 h 172"/>
                      <a:gd name="T8" fmla="*/ 23 w 222"/>
                      <a:gd name="T9" fmla="*/ 143 h 172"/>
                      <a:gd name="T10" fmla="*/ 33 w 222"/>
                      <a:gd name="T11" fmla="*/ 152 h 172"/>
                      <a:gd name="T12" fmla="*/ 47 w 222"/>
                      <a:gd name="T13" fmla="*/ 158 h 172"/>
                      <a:gd name="T14" fmla="*/ 60 w 222"/>
                      <a:gd name="T15" fmla="*/ 165 h 172"/>
                      <a:gd name="T16" fmla="*/ 77 w 222"/>
                      <a:gd name="T17" fmla="*/ 169 h 172"/>
                      <a:gd name="T18" fmla="*/ 94 w 222"/>
                      <a:gd name="T19" fmla="*/ 172 h 172"/>
                      <a:gd name="T20" fmla="*/ 111 w 222"/>
                      <a:gd name="T21" fmla="*/ 172 h 172"/>
                      <a:gd name="T22" fmla="*/ 131 w 222"/>
                      <a:gd name="T23" fmla="*/ 172 h 172"/>
                      <a:gd name="T24" fmla="*/ 148 w 222"/>
                      <a:gd name="T25" fmla="*/ 169 h 172"/>
                      <a:gd name="T26" fmla="*/ 161 w 222"/>
                      <a:gd name="T27" fmla="*/ 165 h 172"/>
                      <a:gd name="T28" fmla="*/ 178 w 222"/>
                      <a:gd name="T29" fmla="*/ 158 h 172"/>
                      <a:gd name="T30" fmla="*/ 188 w 222"/>
                      <a:gd name="T31" fmla="*/ 152 h 172"/>
                      <a:gd name="T32" fmla="*/ 202 w 222"/>
                      <a:gd name="T33" fmla="*/ 143 h 172"/>
                      <a:gd name="T34" fmla="*/ 208 w 222"/>
                      <a:gd name="T35" fmla="*/ 134 h 172"/>
                      <a:gd name="T36" fmla="*/ 215 w 222"/>
                      <a:gd name="T37" fmla="*/ 125 h 172"/>
                      <a:gd name="T38" fmla="*/ 222 w 222"/>
                      <a:gd name="T39" fmla="*/ 114 h 172"/>
                      <a:gd name="T40" fmla="*/ 222 w 222"/>
                      <a:gd name="T41" fmla="*/ 104 h 172"/>
                      <a:gd name="T42" fmla="*/ 222 w 222"/>
                      <a:gd name="T43" fmla="*/ 0 h 172"/>
                      <a:gd name="T44" fmla="*/ 3 w 222"/>
                      <a:gd name="T45" fmla="*/ 0 h 172"/>
                      <a:gd name="T46" fmla="*/ 3 w 222"/>
                      <a:gd name="T47" fmla="*/ 104 h 172"/>
                      <a:gd name="T48" fmla="*/ 3 w 222"/>
                      <a:gd name="T49" fmla="*/ 104 h 1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22" h="172">
                        <a:moveTo>
                          <a:pt x="0" y="101"/>
                        </a:moveTo>
                        <a:lnTo>
                          <a:pt x="3" y="114"/>
                        </a:lnTo>
                        <a:lnTo>
                          <a:pt x="7" y="125"/>
                        </a:lnTo>
                        <a:lnTo>
                          <a:pt x="13" y="134"/>
                        </a:lnTo>
                        <a:lnTo>
                          <a:pt x="23" y="143"/>
                        </a:lnTo>
                        <a:lnTo>
                          <a:pt x="33" y="152"/>
                        </a:lnTo>
                        <a:lnTo>
                          <a:pt x="47" y="158"/>
                        </a:lnTo>
                        <a:lnTo>
                          <a:pt x="60" y="165"/>
                        </a:lnTo>
                        <a:lnTo>
                          <a:pt x="77" y="169"/>
                        </a:lnTo>
                        <a:lnTo>
                          <a:pt x="94" y="172"/>
                        </a:lnTo>
                        <a:lnTo>
                          <a:pt x="111" y="172"/>
                        </a:lnTo>
                        <a:lnTo>
                          <a:pt x="131" y="172"/>
                        </a:lnTo>
                        <a:lnTo>
                          <a:pt x="148" y="169"/>
                        </a:lnTo>
                        <a:lnTo>
                          <a:pt x="161" y="165"/>
                        </a:lnTo>
                        <a:lnTo>
                          <a:pt x="178" y="158"/>
                        </a:lnTo>
                        <a:lnTo>
                          <a:pt x="188" y="152"/>
                        </a:lnTo>
                        <a:lnTo>
                          <a:pt x="202" y="143"/>
                        </a:lnTo>
                        <a:lnTo>
                          <a:pt x="208" y="134"/>
                        </a:lnTo>
                        <a:lnTo>
                          <a:pt x="215" y="125"/>
                        </a:lnTo>
                        <a:lnTo>
                          <a:pt x="222" y="114"/>
                        </a:lnTo>
                        <a:lnTo>
                          <a:pt x="222" y="104"/>
                        </a:lnTo>
                        <a:lnTo>
                          <a:pt x="222" y="0"/>
                        </a:lnTo>
                        <a:lnTo>
                          <a:pt x="3" y="0"/>
                        </a:lnTo>
                        <a:lnTo>
                          <a:pt x="3" y="104"/>
                        </a:lnTo>
                        <a:lnTo>
                          <a:pt x="3" y="104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5" name="Line 118">
                    <a:extLst>
                      <a:ext uri="{FF2B5EF4-FFF2-40B4-BE49-F238E27FC236}">
                        <a16:creationId xmlns:a16="http://schemas.microsoft.com/office/drawing/2014/main" id="{43F66E22-5A9F-49E3-8AD8-240F49318B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2304"/>
                    <a:ext cx="6" cy="1036"/>
                  </a:xfrm>
                  <a:prstGeom prst="line">
                    <a:avLst/>
                  </a:prstGeom>
                  <a:noFill/>
                  <a:ln w="20701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6" name="Freeform 119">
                    <a:extLst>
                      <a:ext uri="{FF2B5EF4-FFF2-40B4-BE49-F238E27FC236}">
                        <a16:creationId xmlns:a16="http://schemas.microsoft.com/office/drawing/2014/main" id="{874499FA-AD06-482D-8A7C-040A667183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9" y="3218"/>
                    <a:ext cx="180" cy="113"/>
                  </a:xfrm>
                  <a:custGeom>
                    <a:avLst/>
                    <a:gdLst>
                      <a:gd name="T0" fmla="*/ 248 w 252"/>
                      <a:gd name="T1" fmla="*/ 0 h 136"/>
                      <a:gd name="T2" fmla="*/ 252 w 252"/>
                      <a:gd name="T3" fmla="*/ 68 h 136"/>
                      <a:gd name="T4" fmla="*/ 0 w 252"/>
                      <a:gd name="T5" fmla="*/ 68 h 136"/>
                      <a:gd name="T6" fmla="*/ 0 w 252"/>
                      <a:gd name="T7" fmla="*/ 136 h 1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52" h="136">
                        <a:moveTo>
                          <a:pt x="248" y="0"/>
                        </a:moveTo>
                        <a:lnTo>
                          <a:pt x="252" y="68"/>
                        </a:lnTo>
                        <a:lnTo>
                          <a:pt x="0" y="68"/>
                        </a:lnTo>
                        <a:lnTo>
                          <a:pt x="0" y="136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7" name="Freeform 120">
                    <a:extLst>
                      <a:ext uri="{FF2B5EF4-FFF2-40B4-BE49-F238E27FC236}">
                        <a16:creationId xmlns:a16="http://schemas.microsoft.com/office/drawing/2014/main" id="{A0FA7647-BA88-448F-BE9A-43E3790E31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8" y="3069"/>
                    <a:ext cx="220" cy="149"/>
                  </a:xfrm>
                  <a:custGeom>
                    <a:avLst/>
                    <a:gdLst>
                      <a:gd name="T0" fmla="*/ 125 w 249"/>
                      <a:gd name="T1" fmla="*/ 162 h 165"/>
                      <a:gd name="T2" fmla="*/ 145 w 249"/>
                      <a:gd name="T3" fmla="*/ 162 h 165"/>
                      <a:gd name="T4" fmla="*/ 165 w 249"/>
                      <a:gd name="T5" fmla="*/ 160 h 165"/>
                      <a:gd name="T6" fmla="*/ 182 w 249"/>
                      <a:gd name="T7" fmla="*/ 154 h 165"/>
                      <a:gd name="T8" fmla="*/ 199 w 249"/>
                      <a:gd name="T9" fmla="*/ 147 h 165"/>
                      <a:gd name="T10" fmla="*/ 216 w 249"/>
                      <a:gd name="T11" fmla="*/ 140 h 165"/>
                      <a:gd name="T12" fmla="*/ 226 w 249"/>
                      <a:gd name="T13" fmla="*/ 130 h 165"/>
                      <a:gd name="T14" fmla="*/ 236 w 249"/>
                      <a:gd name="T15" fmla="*/ 121 h 165"/>
                      <a:gd name="T16" fmla="*/ 246 w 249"/>
                      <a:gd name="T17" fmla="*/ 108 h 165"/>
                      <a:gd name="T18" fmla="*/ 249 w 249"/>
                      <a:gd name="T19" fmla="*/ 94 h 165"/>
                      <a:gd name="T20" fmla="*/ 249 w 249"/>
                      <a:gd name="T21" fmla="*/ 81 h 165"/>
                      <a:gd name="T22" fmla="*/ 249 w 249"/>
                      <a:gd name="T23" fmla="*/ 68 h 165"/>
                      <a:gd name="T24" fmla="*/ 246 w 249"/>
                      <a:gd name="T25" fmla="*/ 57 h 165"/>
                      <a:gd name="T26" fmla="*/ 236 w 249"/>
                      <a:gd name="T27" fmla="*/ 44 h 165"/>
                      <a:gd name="T28" fmla="*/ 226 w 249"/>
                      <a:gd name="T29" fmla="*/ 35 h 165"/>
                      <a:gd name="T30" fmla="*/ 216 w 249"/>
                      <a:gd name="T31" fmla="*/ 24 h 165"/>
                      <a:gd name="T32" fmla="*/ 199 w 249"/>
                      <a:gd name="T33" fmla="*/ 15 h 165"/>
                      <a:gd name="T34" fmla="*/ 182 w 249"/>
                      <a:gd name="T35" fmla="*/ 9 h 165"/>
                      <a:gd name="T36" fmla="*/ 165 w 249"/>
                      <a:gd name="T37" fmla="*/ 4 h 165"/>
                      <a:gd name="T38" fmla="*/ 145 w 249"/>
                      <a:gd name="T39" fmla="*/ 2 h 165"/>
                      <a:gd name="T40" fmla="*/ 125 w 249"/>
                      <a:gd name="T41" fmla="*/ 0 h 165"/>
                      <a:gd name="T42" fmla="*/ 105 w 249"/>
                      <a:gd name="T43" fmla="*/ 2 h 165"/>
                      <a:gd name="T44" fmla="*/ 88 w 249"/>
                      <a:gd name="T45" fmla="*/ 4 h 165"/>
                      <a:gd name="T46" fmla="*/ 68 w 249"/>
                      <a:gd name="T47" fmla="*/ 9 h 165"/>
                      <a:gd name="T48" fmla="*/ 51 w 249"/>
                      <a:gd name="T49" fmla="*/ 15 h 165"/>
                      <a:gd name="T50" fmla="*/ 37 w 249"/>
                      <a:gd name="T51" fmla="*/ 24 h 165"/>
                      <a:gd name="T52" fmla="*/ 24 w 249"/>
                      <a:gd name="T53" fmla="*/ 35 h 165"/>
                      <a:gd name="T54" fmla="*/ 14 w 249"/>
                      <a:gd name="T55" fmla="*/ 44 h 165"/>
                      <a:gd name="T56" fmla="*/ 7 w 249"/>
                      <a:gd name="T57" fmla="*/ 57 h 165"/>
                      <a:gd name="T58" fmla="*/ 4 w 249"/>
                      <a:gd name="T59" fmla="*/ 68 h 165"/>
                      <a:gd name="T60" fmla="*/ 0 w 249"/>
                      <a:gd name="T61" fmla="*/ 81 h 165"/>
                      <a:gd name="T62" fmla="*/ 4 w 249"/>
                      <a:gd name="T63" fmla="*/ 94 h 165"/>
                      <a:gd name="T64" fmla="*/ 7 w 249"/>
                      <a:gd name="T65" fmla="*/ 108 h 165"/>
                      <a:gd name="T66" fmla="*/ 14 w 249"/>
                      <a:gd name="T67" fmla="*/ 121 h 165"/>
                      <a:gd name="T68" fmla="*/ 24 w 249"/>
                      <a:gd name="T69" fmla="*/ 130 h 165"/>
                      <a:gd name="T70" fmla="*/ 37 w 249"/>
                      <a:gd name="T71" fmla="*/ 140 h 165"/>
                      <a:gd name="T72" fmla="*/ 51 w 249"/>
                      <a:gd name="T73" fmla="*/ 147 h 165"/>
                      <a:gd name="T74" fmla="*/ 68 w 249"/>
                      <a:gd name="T75" fmla="*/ 154 h 165"/>
                      <a:gd name="T76" fmla="*/ 88 w 249"/>
                      <a:gd name="T77" fmla="*/ 160 h 165"/>
                      <a:gd name="T78" fmla="*/ 105 w 249"/>
                      <a:gd name="T79" fmla="*/ 162 h 165"/>
                      <a:gd name="T80" fmla="*/ 125 w 249"/>
                      <a:gd name="T81" fmla="*/ 165 h 165"/>
                      <a:gd name="T82" fmla="*/ 125 w 249"/>
                      <a:gd name="T83" fmla="*/ 165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249" h="165">
                        <a:moveTo>
                          <a:pt x="125" y="162"/>
                        </a:moveTo>
                        <a:lnTo>
                          <a:pt x="145" y="162"/>
                        </a:lnTo>
                        <a:lnTo>
                          <a:pt x="165" y="160"/>
                        </a:lnTo>
                        <a:lnTo>
                          <a:pt x="182" y="154"/>
                        </a:lnTo>
                        <a:lnTo>
                          <a:pt x="199" y="147"/>
                        </a:lnTo>
                        <a:lnTo>
                          <a:pt x="216" y="140"/>
                        </a:lnTo>
                        <a:lnTo>
                          <a:pt x="226" y="130"/>
                        </a:lnTo>
                        <a:lnTo>
                          <a:pt x="236" y="121"/>
                        </a:lnTo>
                        <a:lnTo>
                          <a:pt x="246" y="108"/>
                        </a:lnTo>
                        <a:lnTo>
                          <a:pt x="249" y="94"/>
                        </a:lnTo>
                        <a:lnTo>
                          <a:pt x="249" y="81"/>
                        </a:lnTo>
                        <a:lnTo>
                          <a:pt x="249" y="68"/>
                        </a:lnTo>
                        <a:lnTo>
                          <a:pt x="246" y="57"/>
                        </a:lnTo>
                        <a:lnTo>
                          <a:pt x="236" y="44"/>
                        </a:lnTo>
                        <a:lnTo>
                          <a:pt x="226" y="35"/>
                        </a:lnTo>
                        <a:lnTo>
                          <a:pt x="216" y="24"/>
                        </a:lnTo>
                        <a:lnTo>
                          <a:pt x="199" y="15"/>
                        </a:lnTo>
                        <a:lnTo>
                          <a:pt x="182" y="9"/>
                        </a:lnTo>
                        <a:lnTo>
                          <a:pt x="165" y="4"/>
                        </a:lnTo>
                        <a:lnTo>
                          <a:pt x="145" y="2"/>
                        </a:lnTo>
                        <a:lnTo>
                          <a:pt x="125" y="0"/>
                        </a:lnTo>
                        <a:lnTo>
                          <a:pt x="105" y="2"/>
                        </a:lnTo>
                        <a:lnTo>
                          <a:pt x="88" y="4"/>
                        </a:lnTo>
                        <a:lnTo>
                          <a:pt x="68" y="9"/>
                        </a:lnTo>
                        <a:lnTo>
                          <a:pt x="51" y="15"/>
                        </a:lnTo>
                        <a:lnTo>
                          <a:pt x="37" y="24"/>
                        </a:lnTo>
                        <a:lnTo>
                          <a:pt x="24" y="35"/>
                        </a:lnTo>
                        <a:lnTo>
                          <a:pt x="14" y="44"/>
                        </a:lnTo>
                        <a:lnTo>
                          <a:pt x="7" y="57"/>
                        </a:lnTo>
                        <a:lnTo>
                          <a:pt x="4" y="68"/>
                        </a:lnTo>
                        <a:lnTo>
                          <a:pt x="0" y="81"/>
                        </a:lnTo>
                        <a:lnTo>
                          <a:pt x="4" y="94"/>
                        </a:lnTo>
                        <a:lnTo>
                          <a:pt x="7" y="108"/>
                        </a:lnTo>
                        <a:lnTo>
                          <a:pt x="14" y="121"/>
                        </a:lnTo>
                        <a:lnTo>
                          <a:pt x="24" y="130"/>
                        </a:lnTo>
                        <a:lnTo>
                          <a:pt x="37" y="140"/>
                        </a:lnTo>
                        <a:lnTo>
                          <a:pt x="51" y="147"/>
                        </a:lnTo>
                        <a:lnTo>
                          <a:pt x="68" y="154"/>
                        </a:lnTo>
                        <a:lnTo>
                          <a:pt x="88" y="160"/>
                        </a:lnTo>
                        <a:lnTo>
                          <a:pt x="105" y="162"/>
                        </a:lnTo>
                        <a:lnTo>
                          <a:pt x="125" y="165"/>
                        </a:lnTo>
                        <a:lnTo>
                          <a:pt x="125" y="165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8" name="Freeform 121">
                    <a:extLst>
                      <a:ext uri="{FF2B5EF4-FFF2-40B4-BE49-F238E27FC236}">
                        <a16:creationId xmlns:a16="http://schemas.microsoft.com/office/drawing/2014/main" id="{B139D136-C1E5-477E-8AF6-2D8409635B0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86" y="3134"/>
                    <a:ext cx="65" cy="22"/>
                  </a:xfrm>
                  <a:custGeom>
                    <a:avLst/>
                    <a:gdLst>
                      <a:gd name="T0" fmla="*/ 0 w 74"/>
                      <a:gd name="T1" fmla="*/ 0 h 25"/>
                      <a:gd name="T2" fmla="*/ 74 w 74"/>
                      <a:gd name="T3" fmla="*/ 0 h 25"/>
                      <a:gd name="T4" fmla="*/ 74 w 74"/>
                      <a:gd name="T5" fmla="*/ 7 h 25"/>
                      <a:gd name="T6" fmla="*/ 3 w 74"/>
                      <a:gd name="T7" fmla="*/ 7 h 25"/>
                      <a:gd name="T8" fmla="*/ 3 w 74"/>
                      <a:gd name="T9" fmla="*/ 0 h 25"/>
                      <a:gd name="T10" fmla="*/ 3 w 74"/>
                      <a:gd name="T11" fmla="*/ 0 h 25"/>
                      <a:gd name="T12" fmla="*/ 0 w 74"/>
                      <a:gd name="T13" fmla="*/ 0 h 25"/>
                      <a:gd name="T14" fmla="*/ 3 w 74"/>
                      <a:gd name="T15" fmla="*/ 18 h 25"/>
                      <a:gd name="T16" fmla="*/ 74 w 74"/>
                      <a:gd name="T17" fmla="*/ 18 h 25"/>
                      <a:gd name="T18" fmla="*/ 74 w 74"/>
                      <a:gd name="T19" fmla="*/ 25 h 25"/>
                      <a:gd name="T20" fmla="*/ 3 w 74"/>
                      <a:gd name="T21" fmla="*/ 25 h 25"/>
                      <a:gd name="T22" fmla="*/ 3 w 74"/>
                      <a:gd name="T23" fmla="*/ 18 h 25"/>
                      <a:gd name="T24" fmla="*/ 3 w 74"/>
                      <a:gd name="T25" fmla="*/ 18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4" h="25">
                        <a:moveTo>
                          <a:pt x="0" y="0"/>
                        </a:moveTo>
                        <a:lnTo>
                          <a:pt x="74" y="0"/>
                        </a:lnTo>
                        <a:lnTo>
                          <a:pt x="74" y="7"/>
                        </a:lnTo>
                        <a:lnTo>
                          <a:pt x="3" y="7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  <a:moveTo>
                          <a:pt x="3" y="18"/>
                        </a:moveTo>
                        <a:lnTo>
                          <a:pt x="74" y="18"/>
                        </a:lnTo>
                        <a:lnTo>
                          <a:pt x="74" y="25"/>
                        </a:lnTo>
                        <a:lnTo>
                          <a:pt x="3" y="25"/>
                        </a:lnTo>
                        <a:lnTo>
                          <a:pt x="3" y="18"/>
                        </a:lnTo>
                        <a:lnTo>
                          <a:pt x="3" y="1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9" name="Line 122">
                    <a:extLst>
                      <a:ext uri="{FF2B5EF4-FFF2-40B4-BE49-F238E27FC236}">
                        <a16:creationId xmlns:a16="http://schemas.microsoft.com/office/drawing/2014/main" id="{A3B406DE-1C23-45E4-8328-C318C7DEAB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2" y="2304"/>
                    <a:ext cx="0" cy="76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 type="oval" w="sm" len="sm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</p:grpSp>
            <p:grpSp>
              <p:nvGrpSpPr>
                <p:cNvPr id="60" name="Group 123">
                  <a:extLst>
                    <a:ext uri="{FF2B5EF4-FFF2-40B4-BE49-F238E27FC236}">
                      <a16:creationId xmlns:a16="http://schemas.microsoft.com/office/drawing/2014/main" id="{104B02DE-080D-4238-9CBF-9573261B8B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68" y="2304"/>
                  <a:ext cx="404" cy="1200"/>
                  <a:chOff x="624" y="2304"/>
                  <a:chExt cx="404" cy="1200"/>
                </a:xfrm>
              </p:grpSpPr>
              <p:sp>
                <p:nvSpPr>
                  <p:cNvPr id="68" name="Freeform 124">
                    <a:extLst>
                      <a:ext uri="{FF2B5EF4-FFF2-40B4-BE49-F238E27FC236}">
                        <a16:creationId xmlns:a16="http://schemas.microsoft.com/office/drawing/2014/main" id="{EFCA2116-7D70-4192-90B9-3D1D85461D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4" y="3342"/>
                    <a:ext cx="158" cy="162"/>
                  </a:xfrm>
                  <a:custGeom>
                    <a:avLst/>
                    <a:gdLst>
                      <a:gd name="T0" fmla="*/ 0 w 222"/>
                      <a:gd name="T1" fmla="*/ 101 h 172"/>
                      <a:gd name="T2" fmla="*/ 3 w 222"/>
                      <a:gd name="T3" fmla="*/ 114 h 172"/>
                      <a:gd name="T4" fmla="*/ 7 w 222"/>
                      <a:gd name="T5" fmla="*/ 125 h 172"/>
                      <a:gd name="T6" fmla="*/ 13 w 222"/>
                      <a:gd name="T7" fmla="*/ 134 h 172"/>
                      <a:gd name="T8" fmla="*/ 23 w 222"/>
                      <a:gd name="T9" fmla="*/ 143 h 172"/>
                      <a:gd name="T10" fmla="*/ 33 w 222"/>
                      <a:gd name="T11" fmla="*/ 152 h 172"/>
                      <a:gd name="T12" fmla="*/ 47 w 222"/>
                      <a:gd name="T13" fmla="*/ 158 h 172"/>
                      <a:gd name="T14" fmla="*/ 60 w 222"/>
                      <a:gd name="T15" fmla="*/ 165 h 172"/>
                      <a:gd name="T16" fmla="*/ 77 w 222"/>
                      <a:gd name="T17" fmla="*/ 169 h 172"/>
                      <a:gd name="T18" fmla="*/ 94 w 222"/>
                      <a:gd name="T19" fmla="*/ 172 h 172"/>
                      <a:gd name="T20" fmla="*/ 111 w 222"/>
                      <a:gd name="T21" fmla="*/ 172 h 172"/>
                      <a:gd name="T22" fmla="*/ 131 w 222"/>
                      <a:gd name="T23" fmla="*/ 172 h 172"/>
                      <a:gd name="T24" fmla="*/ 148 w 222"/>
                      <a:gd name="T25" fmla="*/ 169 h 172"/>
                      <a:gd name="T26" fmla="*/ 161 w 222"/>
                      <a:gd name="T27" fmla="*/ 165 h 172"/>
                      <a:gd name="T28" fmla="*/ 178 w 222"/>
                      <a:gd name="T29" fmla="*/ 158 h 172"/>
                      <a:gd name="T30" fmla="*/ 188 w 222"/>
                      <a:gd name="T31" fmla="*/ 152 h 172"/>
                      <a:gd name="T32" fmla="*/ 202 w 222"/>
                      <a:gd name="T33" fmla="*/ 143 h 172"/>
                      <a:gd name="T34" fmla="*/ 208 w 222"/>
                      <a:gd name="T35" fmla="*/ 134 h 172"/>
                      <a:gd name="T36" fmla="*/ 215 w 222"/>
                      <a:gd name="T37" fmla="*/ 125 h 172"/>
                      <a:gd name="T38" fmla="*/ 222 w 222"/>
                      <a:gd name="T39" fmla="*/ 114 h 172"/>
                      <a:gd name="T40" fmla="*/ 222 w 222"/>
                      <a:gd name="T41" fmla="*/ 104 h 172"/>
                      <a:gd name="T42" fmla="*/ 222 w 222"/>
                      <a:gd name="T43" fmla="*/ 0 h 172"/>
                      <a:gd name="T44" fmla="*/ 3 w 222"/>
                      <a:gd name="T45" fmla="*/ 0 h 172"/>
                      <a:gd name="T46" fmla="*/ 3 w 222"/>
                      <a:gd name="T47" fmla="*/ 104 h 172"/>
                      <a:gd name="T48" fmla="*/ 3 w 222"/>
                      <a:gd name="T49" fmla="*/ 104 h 1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22" h="172">
                        <a:moveTo>
                          <a:pt x="0" y="101"/>
                        </a:moveTo>
                        <a:lnTo>
                          <a:pt x="3" y="114"/>
                        </a:lnTo>
                        <a:lnTo>
                          <a:pt x="7" y="125"/>
                        </a:lnTo>
                        <a:lnTo>
                          <a:pt x="13" y="134"/>
                        </a:lnTo>
                        <a:lnTo>
                          <a:pt x="23" y="143"/>
                        </a:lnTo>
                        <a:lnTo>
                          <a:pt x="33" y="152"/>
                        </a:lnTo>
                        <a:lnTo>
                          <a:pt x="47" y="158"/>
                        </a:lnTo>
                        <a:lnTo>
                          <a:pt x="60" y="165"/>
                        </a:lnTo>
                        <a:lnTo>
                          <a:pt x="77" y="169"/>
                        </a:lnTo>
                        <a:lnTo>
                          <a:pt x="94" y="172"/>
                        </a:lnTo>
                        <a:lnTo>
                          <a:pt x="111" y="172"/>
                        </a:lnTo>
                        <a:lnTo>
                          <a:pt x="131" y="172"/>
                        </a:lnTo>
                        <a:lnTo>
                          <a:pt x="148" y="169"/>
                        </a:lnTo>
                        <a:lnTo>
                          <a:pt x="161" y="165"/>
                        </a:lnTo>
                        <a:lnTo>
                          <a:pt x="178" y="158"/>
                        </a:lnTo>
                        <a:lnTo>
                          <a:pt x="188" y="152"/>
                        </a:lnTo>
                        <a:lnTo>
                          <a:pt x="202" y="143"/>
                        </a:lnTo>
                        <a:lnTo>
                          <a:pt x="208" y="134"/>
                        </a:lnTo>
                        <a:lnTo>
                          <a:pt x="215" y="125"/>
                        </a:lnTo>
                        <a:lnTo>
                          <a:pt x="222" y="114"/>
                        </a:lnTo>
                        <a:lnTo>
                          <a:pt x="222" y="104"/>
                        </a:lnTo>
                        <a:lnTo>
                          <a:pt x="222" y="0"/>
                        </a:lnTo>
                        <a:lnTo>
                          <a:pt x="3" y="0"/>
                        </a:lnTo>
                        <a:lnTo>
                          <a:pt x="3" y="104"/>
                        </a:lnTo>
                        <a:lnTo>
                          <a:pt x="3" y="104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69" name="Line 125">
                    <a:extLst>
                      <a:ext uri="{FF2B5EF4-FFF2-40B4-BE49-F238E27FC236}">
                        <a16:creationId xmlns:a16="http://schemas.microsoft.com/office/drawing/2014/main" id="{645DB0D3-5A96-4C18-8D21-C7CEB3B19D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51" y="2304"/>
                    <a:ext cx="6" cy="1036"/>
                  </a:xfrm>
                  <a:prstGeom prst="line">
                    <a:avLst/>
                  </a:prstGeom>
                  <a:noFill/>
                  <a:ln w="20701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0" name="Freeform 126">
                    <a:extLst>
                      <a:ext uri="{FF2B5EF4-FFF2-40B4-BE49-F238E27FC236}">
                        <a16:creationId xmlns:a16="http://schemas.microsoft.com/office/drawing/2014/main" id="{DE64C40F-998B-4A3C-88CF-971374A787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9" y="3218"/>
                    <a:ext cx="180" cy="113"/>
                  </a:xfrm>
                  <a:custGeom>
                    <a:avLst/>
                    <a:gdLst>
                      <a:gd name="T0" fmla="*/ 248 w 252"/>
                      <a:gd name="T1" fmla="*/ 0 h 136"/>
                      <a:gd name="T2" fmla="*/ 252 w 252"/>
                      <a:gd name="T3" fmla="*/ 68 h 136"/>
                      <a:gd name="T4" fmla="*/ 0 w 252"/>
                      <a:gd name="T5" fmla="*/ 68 h 136"/>
                      <a:gd name="T6" fmla="*/ 0 w 252"/>
                      <a:gd name="T7" fmla="*/ 136 h 1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52" h="136">
                        <a:moveTo>
                          <a:pt x="248" y="0"/>
                        </a:moveTo>
                        <a:lnTo>
                          <a:pt x="252" y="68"/>
                        </a:lnTo>
                        <a:lnTo>
                          <a:pt x="0" y="68"/>
                        </a:lnTo>
                        <a:lnTo>
                          <a:pt x="0" y="136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1" name="Freeform 127">
                    <a:extLst>
                      <a:ext uri="{FF2B5EF4-FFF2-40B4-BE49-F238E27FC236}">
                        <a16:creationId xmlns:a16="http://schemas.microsoft.com/office/drawing/2014/main" id="{8A0A680F-AB02-4CF3-882F-0A63ADD84F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08" y="3069"/>
                    <a:ext cx="220" cy="149"/>
                  </a:xfrm>
                  <a:custGeom>
                    <a:avLst/>
                    <a:gdLst>
                      <a:gd name="T0" fmla="*/ 125 w 249"/>
                      <a:gd name="T1" fmla="*/ 162 h 165"/>
                      <a:gd name="T2" fmla="*/ 145 w 249"/>
                      <a:gd name="T3" fmla="*/ 162 h 165"/>
                      <a:gd name="T4" fmla="*/ 165 w 249"/>
                      <a:gd name="T5" fmla="*/ 160 h 165"/>
                      <a:gd name="T6" fmla="*/ 182 w 249"/>
                      <a:gd name="T7" fmla="*/ 154 h 165"/>
                      <a:gd name="T8" fmla="*/ 199 w 249"/>
                      <a:gd name="T9" fmla="*/ 147 h 165"/>
                      <a:gd name="T10" fmla="*/ 216 w 249"/>
                      <a:gd name="T11" fmla="*/ 140 h 165"/>
                      <a:gd name="T12" fmla="*/ 226 w 249"/>
                      <a:gd name="T13" fmla="*/ 130 h 165"/>
                      <a:gd name="T14" fmla="*/ 236 w 249"/>
                      <a:gd name="T15" fmla="*/ 121 h 165"/>
                      <a:gd name="T16" fmla="*/ 246 w 249"/>
                      <a:gd name="T17" fmla="*/ 108 h 165"/>
                      <a:gd name="T18" fmla="*/ 249 w 249"/>
                      <a:gd name="T19" fmla="*/ 94 h 165"/>
                      <a:gd name="T20" fmla="*/ 249 w 249"/>
                      <a:gd name="T21" fmla="*/ 81 h 165"/>
                      <a:gd name="T22" fmla="*/ 249 w 249"/>
                      <a:gd name="T23" fmla="*/ 68 h 165"/>
                      <a:gd name="T24" fmla="*/ 246 w 249"/>
                      <a:gd name="T25" fmla="*/ 57 h 165"/>
                      <a:gd name="T26" fmla="*/ 236 w 249"/>
                      <a:gd name="T27" fmla="*/ 44 h 165"/>
                      <a:gd name="T28" fmla="*/ 226 w 249"/>
                      <a:gd name="T29" fmla="*/ 35 h 165"/>
                      <a:gd name="T30" fmla="*/ 216 w 249"/>
                      <a:gd name="T31" fmla="*/ 24 h 165"/>
                      <a:gd name="T32" fmla="*/ 199 w 249"/>
                      <a:gd name="T33" fmla="*/ 15 h 165"/>
                      <a:gd name="T34" fmla="*/ 182 w 249"/>
                      <a:gd name="T35" fmla="*/ 9 h 165"/>
                      <a:gd name="T36" fmla="*/ 165 w 249"/>
                      <a:gd name="T37" fmla="*/ 4 h 165"/>
                      <a:gd name="T38" fmla="*/ 145 w 249"/>
                      <a:gd name="T39" fmla="*/ 2 h 165"/>
                      <a:gd name="T40" fmla="*/ 125 w 249"/>
                      <a:gd name="T41" fmla="*/ 0 h 165"/>
                      <a:gd name="T42" fmla="*/ 105 w 249"/>
                      <a:gd name="T43" fmla="*/ 2 h 165"/>
                      <a:gd name="T44" fmla="*/ 88 w 249"/>
                      <a:gd name="T45" fmla="*/ 4 h 165"/>
                      <a:gd name="T46" fmla="*/ 68 w 249"/>
                      <a:gd name="T47" fmla="*/ 9 h 165"/>
                      <a:gd name="T48" fmla="*/ 51 w 249"/>
                      <a:gd name="T49" fmla="*/ 15 h 165"/>
                      <a:gd name="T50" fmla="*/ 37 w 249"/>
                      <a:gd name="T51" fmla="*/ 24 h 165"/>
                      <a:gd name="T52" fmla="*/ 24 w 249"/>
                      <a:gd name="T53" fmla="*/ 35 h 165"/>
                      <a:gd name="T54" fmla="*/ 14 w 249"/>
                      <a:gd name="T55" fmla="*/ 44 h 165"/>
                      <a:gd name="T56" fmla="*/ 7 w 249"/>
                      <a:gd name="T57" fmla="*/ 57 h 165"/>
                      <a:gd name="T58" fmla="*/ 4 w 249"/>
                      <a:gd name="T59" fmla="*/ 68 h 165"/>
                      <a:gd name="T60" fmla="*/ 0 w 249"/>
                      <a:gd name="T61" fmla="*/ 81 h 165"/>
                      <a:gd name="T62" fmla="*/ 4 w 249"/>
                      <a:gd name="T63" fmla="*/ 94 h 165"/>
                      <a:gd name="T64" fmla="*/ 7 w 249"/>
                      <a:gd name="T65" fmla="*/ 108 h 165"/>
                      <a:gd name="T66" fmla="*/ 14 w 249"/>
                      <a:gd name="T67" fmla="*/ 121 h 165"/>
                      <a:gd name="T68" fmla="*/ 24 w 249"/>
                      <a:gd name="T69" fmla="*/ 130 h 165"/>
                      <a:gd name="T70" fmla="*/ 37 w 249"/>
                      <a:gd name="T71" fmla="*/ 140 h 165"/>
                      <a:gd name="T72" fmla="*/ 51 w 249"/>
                      <a:gd name="T73" fmla="*/ 147 h 165"/>
                      <a:gd name="T74" fmla="*/ 68 w 249"/>
                      <a:gd name="T75" fmla="*/ 154 h 165"/>
                      <a:gd name="T76" fmla="*/ 88 w 249"/>
                      <a:gd name="T77" fmla="*/ 160 h 165"/>
                      <a:gd name="T78" fmla="*/ 105 w 249"/>
                      <a:gd name="T79" fmla="*/ 162 h 165"/>
                      <a:gd name="T80" fmla="*/ 125 w 249"/>
                      <a:gd name="T81" fmla="*/ 165 h 165"/>
                      <a:gd name="T82" fmla="*/ 125 w 249"/>
                      <a:gd name="T83" fmla="*/ 165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249" h="165">
                        <a:moveTo>
                          <a:pt x="125" y="162"/>
                        </a:moveTo>
                        <a:lnTo>
                          <a:pt x="145" y="162"/>
                        </a:lnTo>
                        <a:lnTo>
                          <a:pt x="165" y="160"/>
                        </a:lnTo>
                        <a:lnTo>
                          <a:pt x="182" y="154"/>
                        </a:lnTo>
                        <a:lnTo>
                          <a:pt x="199" y="147"/>
                        </a:lnTo>
                        <a:lnTo>
                          <a:pt x="216" y="140"/>
                        </a:lnTo>
                        <a:lnTo>
                          <a:pt x="226" y="130"/>
                        </a:lnTo>
                        <a:lnTo>
                          <a:pt x="236" y="121"/>
                        </a:lnTo>
                        <a:lnTo>
                          <a:pt x="246" y="108"/>
                        </a:lnTo>
                        <a:lnTo>
                          <a:pt x="249" y="94"/>
                        </a:lnTo>
                        <a:lnTo>
                          <a:pt x="249" y="81"/>
                        </a:lnTo>
                        <a:lnTo>
                          <a:pt x="249" y="68"/>
                        </a:lnTo>
                        <a:lnTo>
                          <a:pt x="246" y="57"/>
                        </a:lnTo>
                        <a:lnTo>
                          <a:pt x="236" y="44"/>
                        </a:lnTo>
                        <a:lnTo>
                          <a:pt x="226" y="35"/>
                        </a:lnTo>
                        <a:lnTo>
                          <a:pt x="216" y="24"/>
                        </a:lnTo>
                        <a:lnTo>
                          <a:pt x="199" y="15"/>
                        </a:lnTo>
                        <a:lnTo>
                          <a:pt x="182" y="9"/>
                        </a:lnTo>
                        <a:lnTo>
                          <a:pt x="165" y="4"/>
                        </a:lnTo>
                        <a:lnTo>
                          <a:pt x="145" y="2"/>
                        </a:lnTo>
                        <a:lnTo>
                          <a:pt x="125" y="0"/>
                        </a:lnTo>
                        <a:lnTo>
                          <a:pt x="105" y="2"/>
                        </a:lnTo>
                        <a:lnTo>
                          <a:pt x="88" y="4"/>
                        </a:lnTo>
                        <a:lnTo>
                          <a:pt x="68" y="9"/>
                        </a:lnTo>
                        <a:lnTo>
                          <a:pt x="51" y="15"/>
                        </a:lnTo>
                        <a:lnTo>
                          <a:pt x="37" y="24"/>
                        </a:lnTo>
                        <a:lnTo>
                          <a:pt x="24" y="35"/>
                        </a:lnTo>
                        <a:lnTo>
                          <a:pt x="14" y="44"/>
                        </a:lnTo>
                        <a:lnTo>
                          <a:pt x="7" y="57"/>
                        </a:lnTo>
                        <a:lnTo>
                          <a:pt x="4" y="68"/>
                        </a:lnTo>
                        <a:lnTo>
                          <a:pt x="0" y="81"/>
                        </a:lnTo>
                        <a:lnTo>
                          <a:pt x="4" y="94"/>
                        </a:lnTo>
                        <a:lnTo>
                          <a:pt x="7" y="108"/>
                        </a:lnTo>
                        <a:lnTo>
                          <a:pt x="14" y="121"/>
                        </a:lnTo>
                        <a:lnTo>
                          <a:pt x="24" y="130"/>
                        </a:lnTo>
                        <a:lnTo>
                          <a:pt x="37" y="140"/>
                        </a:lnTo>
                        <a:lnTo>
                          <a:pt x="51" y="147"/>
                        </a:lnTo>
                        <a:lnTo>
                          <a:pt x="68" y="154"/>
                        </a:lnTo>
                        <a:lnTo>
                          <a:pt x="88" y="160"/>
                        </a:lnTo>
                        <a:lnTo>
                          <a:pt x="105" y="162"/>
                        </a:lnTo>
                        <a:lnTo>
                          <a:pt x="125" y="165"/>
                        </a:lnTo>
                        <a:lnTo>
                          <a:pt x="125" y="165"/>
                        </a:lnTo>
                      </a:path>
                    </a:pathLst>
                  </a:custGeom>
                  <a:noFill/>
                  <a:ln w="206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2" name="Freeform 128">
                    <a:extLst>
                      <a:ext uri="{FF2B5EF4-FFF2-40B4-BE49-F238E27FC236}">
                        <a16:creationId xmlns:a16="http://schemas.microsoft.com/office/drawing/2014/main" id="{2B72F37C-70B0-463B-847F-A12B8B626AA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86" y="3134"/>
                    <a:ext cx="65" cy="22"/>
                  </a:xfrm>
                  <a:custGeom>
                    <a:avLst/>
                    <a:gdLst>
                      <a:gd name="T0" fmla="*/ 0 w 74"/>
                      <a:gd name="T1" fmla="*/ 0 h 25"/>
                      <a:gd name="T2" fmla="*/ 74 w 74"/>
                      <a:gd name="T3" fmla="*/ 0 h 25"/>
                      <a:gd name="T4" fmla="*/ 74 w 74"/>
                      <a:gd name="T5" fmla="*/ 7 h 25"/>
                      <a:gd name="T6" fmla="*/ 3 w 74"/>
                      <a:gd name="T7" fmla="*/ 7 h 25"/>
                      <a:gd name="T8" fmla="*/ 3 w 74"/>
                      <a:gd name="T9" fmla="*/ 0 h 25"/>
                      <a:gd name="T10" fmla="*/ 3 w 74"/>
                      <a:gd name="T11" fmla="*/ 0 h 25"/>
                      <a:gd name="T12" fmla="*/ 0 w 74"/>
                      <a:gd name="T13" fmla="*/ 0 h 25"/>
                      <a:gd name="T14" fmla="*/ 3 w 74"/>
                      <a:gd name="T15" fmla="*/ 18 h 25"/>
                      <a:gd name="T16" fmla="*/ 74 w 74"/>
                      <a:gd name="T17" fmla="*/ 18 h 25"/>
                      <a:gd name="T18" fmla="*/ 74 w 74"/>
                      <a:gd name="T19" fmla="*/ 25 h 25"/>
                      <a:gd name="T20" fmla="*/ 3 w 74"/>
                      <a:gd name="T21" fmla="*/ 25 h 25"/>
                      <a:gd name="T22" fmla="*/ 3 w 74"/>
                      <a:gd name="T23" fmla="*/ 18 h 25"/>
                      <a:gd name="T24" fmla="*/ 3 w 74"/>
                      <a:gd name="T25" fmla="*/ 18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4" h="25">
                        <a:moveTo>
                          <a:pt x="0" y="0"/>
                        </a:moveTo>
                        <a:lnTo>
                          <a:pt x="74" y="0"/>
                        </a:lnTo>
                        <a:lnTo>
                          <a:pt x="74" y="7"/>
                        </a:lnTo>
                        <a:lnTo>
                          <a:pt x="3" y="7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  <a:moveTo>
                          <a:pt x="3" y="18"/>
                        </a:moveTo>
                        <a:lnTo>
                          <a:pt x="74" y="18"/>
                        </a:lnTo>
                        <a:lnTo>
                          <a:pt x="74" y="25"/>
                        </a:lnTo>
                        <a:lnTo>
                          <a:pt x="3" y="25"/>
                        </a:lnTo>
                        <a:lnTo>
                          <a:pt x="3" y="18"/>
                        </a:lnTo>
                        <a:lnTo>
                          <a:pt x="3" y="1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73" name="Line 129">
                    <a:extLst>
                      <a:ext uri="{FF2B5EF4-FFF2-40B4-BE49-F238E27FC236}">
                        <a16:creationId xmlns:a16="http://schemas.microsoft.com/office/drawing/2014/main" id="{16F98900-2722-49F7-9134-5278F08C09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2" y="2304"/>
                    <a:ext cx="0" cy="76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 type="oval" w="sm" len="sm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 sz="1400">
                      <a:latin typeface="Cambria" panose="02040503050406030204" pitchFamily="18" charset="0"/>
                    </a:endParaRPr>
                  </a:p>
                </p:txBody>
              </p:sp>
            </p:grpSp>
            <p:sp>
              <p:nvSpPr>
                <p:cNvPr id="61" name="Line 130">
                  <a:extLst>
                    <a:ext uri="{FF2B5EF4-FFF2-40B4-BE49-F238E27FC236}">
                      <a16:creationId xmlns:a16="http://schemas.microsoft.com/office/drawing/2014/main" id="{8DD54755-D794-41AB-A171-AEC4825576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20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2" name="Line 131">
                  <a:extLst>
                    <a:ext uri="{FF2B5EF4-FFF2-40B4-BE49-F238E27FC236}">
                      <a16:creationId xmlns:a16="http://schemas.microsoft.com/office/drawing/2014/main" id="{31294756-CC13-4F80-A8CC-044039772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" y="1392"/>
                  <a:ext cx="235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3" name="Line 132">
                  <a:extLst>
                    <a:ext uri="{FF2B5EF4-FFF2-40B4-BE49-F238E27FC236}">
                      <a16:creationId xmlns:a16="http://schemas.microsoft.com/office/drawing/2014/main" id="{BCCA6306-C351-410B-B5C7-A1665641B7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" y="1392"/>
                  <a:ext cx="0" cy="17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4" name="Line 133">
                  <a:extLst>
                    <a:ext uri="{FF2B5EF4-FFF2-40B4-BE49-F238E27FC236}">
                      <a16:creationId xmlns:a16="http://schemas.microsoft.com/office/drawing/2014/main" id="{47EFF6AB-689E-4E32-A790-D4C0AFA23E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" y="3120"/>
                  <a:ext cx="57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5" name="Line 134">
                  <a:extLst>
                    <a:ext uri="{FF2B5EF4-FFF2-40B4-BE49-F238E27FC236}">
                      <a16:creationId xmlns:a16="http://schemas.microsoft.com/office/drawing/2014/main" id="{7E86AEB3-2145-41DA-BAA0-37EAB5EE89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3120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6" name="Line 135">
                  <a:extLst>
                    <a:ext uri="{FF2B5EF4-FFF2-40B4-BE49-F238E27FC236}">
                      <a16:creationId xmlns:a16="http://schemas.microsoft.com/office/drawing/2014/main" id="{D480A777-584D-490D-92E6-AD2ECB6F6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3120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67" name="Line 136">
                  <a:extLst>
                    <a:ext uri="{FF2B5EF4-FFF2-40B4-BE49-F238E27FC236}">
                      <a16:creationId xmlns:a16="http://schemas.microsoft.com/office/drawing/2014/main" id="{2A572C75-1F08-4184-8072-63987B41ED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120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C3531E-7B02-42D4-B9FE-0C998164FB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000" y="3160712"/>
              <a:ext cx="7162800" cy="3372295"/>
              <a:chOff x="720" y="2017"/>
              <a:chExt cx="4512" cy="2171"/>
            </a:xfrm>
          </p:grpSpPr>
          <p:sp>
            <p:nvSpPr>
              <p:cNvPr id="14" name="Line 138">
                <a:extLst>
                  <a:ext uri="{FF2B5EF4-FFF2-40B4-BE49-F238E27FC236}">
                    <a16:creationId xmlns:a16="http://schemas.microsoft.com/office/drawing/2014/main" id="{D5CBD651-BB32-41CC-9D37-4F4426541E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2017"/>
                <a:ext cx="0" cy="158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5" name="Line 139">
                <a:extLst>
                  <a:ext uri="{FF2B5EF4-FFF2-40B4-BE49-F238E27FC236}">
                    <a16:creationId xmlns:a16="http://schemas.microsoft.com/office/drawing/2014/main" id="{9E1DAD51-A34E-4727-9C84-D9E22921BF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017"/>
                <a:ext cx="0" cy="16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6" name="Line 140">
                <a:extLst>
                  <a:ext uri="{FF2B5EF4-FFF2-40B4-BE49-F238E27FC236}">
                    <a16:creationId xmlns:a16="http://schemas.microsoft.com/office/drawing/2014/main" id="{F307ACD6-FC8A-4201-84A3-0FD7F7CD1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017"/>
                <a:ext cx="0" cy="12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sp>
            <p:nvSpPr>
              <p:cNvPr id="17" name="Line 141">
                <a:extLst>
                  <a:ext uri="{FF2B5EF4-FFF2-40B4-BE49-F238E27FC236}">
                    <a16:creationId xmlns:a16="http://schemas.microsoft.com/office/drawing/2014/main" id="{DC5FAA67-C90C-45E3-A84B-07C5D6499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017"/>
                <a:ext cx="0" cy="13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 sz="1400">
                  <a:latin typeface="Cambria" panose="02040503050406030204" pitchFamily="18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74C454C-F52C-4CC6-957D-035C5D5A28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3277"/>
                <a:ext cx="4512" cy="911"/>
                <a:chOff x="720" y="3277"/>
                <a:chExt cx="4512" cy="911"/>
              </a:xfrm>
            </p:grpSpPr>
            <p:sp>
              <p:nvSpPr>
                <p:cNvPr id="19" name="Text Box 143">
                  <a:extLst>
                    <a:ext uri="{FF2B5EF4-FFF2-40B4-BE49-F238E27FC236}">
                      <a16:creationId xmlns:a16="http://schemas.microsoft.com/office/drawing/2014/main" id="{C35DB442-2A1F-4FBD-8D20-F1B5E1F888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4" y="3984"/>
                  <a:ext cx="188" cy="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400">
                      <a:solidFill>
                        <a:schemeClr val="tx1"/>
                      </a:solidFill>
                      <a:latin typeface="Cambria" panose="02040503050406030204" pitchFamily="18" charset="0"/>
                    </a:rPr>
                    <a:t>Hit</a:t>
                  </a:r>
                </a:p>
              </p:txBody>
            </p:sp>
            <p:sp>
              <p:nvSpPr>
                <p:cNvPr id="20" name="Line 144">
                  <a:extLst>
                    <a:ext uri="{FF2B5EF4-FFF2-40B4-BE49-F238E27FC236}">
                      <a16:creationId xmlns:a16="http://schemas.microsoft.com/office/drawing/2014/main" id="{F8B00471-9387-4B6F-B36D-A1AA406ACB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0" y="3325"/>
                  <a:ext cx="192" cy="57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1" name="Text Box 145">
                  <a:extLst>
                    <a:ext uri="{FF2B5EF4-FFF2-40B4-BE49-F238E27FC236}">
                      <a16:creationId xmlns:a16="http://schemas.microsoft.com/office/drawing/2014/main" id="{AF23FB18-D6F0-450A-871C-F976CB5502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6" y="3984"/>
                  <a:ext cx="243" cy="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400">
                      <a:solidFill>
                        <a:schemeClr val="tx1"/>
                      </a:solidFill>
                      <a:latin typeface="Cambria" panose="02040503050406030204" pitchFamily="18" charset="0"/>
                    </a:rPr>
                    <a:t>Data</a:t>
                  </a:r>
                </a:p>
              </p:txBody>
            </p:sp>
            <p:sp>
              <p:nvSpPr>
                <p:cNvPr id="22" name="AutoShape 147">
                  <a:extLst>
                    <a:ext uri="{FF2B5EF4-FFF2-40B4-BE49-F238E27FC236}">
                      <a16:creationId xmlns:a16="http://schemas.microsoft.com/office/drawing/2014/main" id="{3C31B79D-D097-45B8-B3E6-2A15AEA029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872" y="3648"/>
                  <a:ext cx="288" cy="384"/>
                </a:xfrm>
                <a:prstGeom prst="moon">
                  <a:avLst>
                    <a:gd name="adj" fmla="val 81944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3" name="AutoShape 148">
                  <a:extLst>
                    <a:ext uri="{FF2B5EF4-FFF2-40B4-BE49-F238E27FC236}">
                      <a16:creationId xmlns:a16="http://schemas.microsoft.com/office/drawing/2014/main" id="{33503C50-00DB-4A3A-942D-C7460960D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0" y="3709"/>
                  <a:ext cx="1104" cy="192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4" name="Text Box 149">
                  <a:extLst>
                    <a:ext uri="{FF2B5EF4-FFF2-40B4-BE49-F238E27FC236}">
                      <a16:creationId xmlns:a16="http://schemas.microsoft.com/office/drawing/2014/main" id="{3DA7739E-7A9B-4AC6-8CC7-673DBBF4FD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2" y="3709"/>
                  <a:ext cx="427" cy="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400">
                      <a:solidFill>
                        <a:schemeClr val="tx1"/>
                      </a:solidFill>
                      <a:latin typeface="Cambria" panose="02040503050406030204" pitchFamily="18" charset="0"/>
                    </a:rPr>
                    <a:t>4x1 select</a:t>
                  </a:r>
                </a:p>
              </p:txBody>
            </p:sp>
            <p:sp>
              <p:nvSpPr>
                <p:cNvPr id="25" name="Line 150">
                  <a:extLst>
                    <a:ext uri="{FF2B5EF4-FFF2-40B4-BE49-F238E27FC236}">
                      <a16:creationId xmlns:a16="http://schemas.microsoft.com/office/drawing/2014/main" id="{744704B1-8644-465F-A135-8CC79E3821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3613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6" name="Line 151">
                  <a:extLst>
                    <a:ext uri="{FF2B5EF4-FFF2-40B4-BE49-F238E27FC236}">
                      <a16:creationId xmlns:a16="http://schemas.microsoft.com/office/drawing/2014/main" id="{F3A73F2D-5FD3-4B54-87E0-65ACC1D10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277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7" name="Line 152">
                  <a:extLst>
                    <a:ext uri="{FF2B5EF4-FFF2-40B4-BE49-F238E27FC236}">
                      <a16:creationId xmlns:a16="http://schemas.microsoft.com/office/drawing/2014/main" id="{58D3793D-4C46-4638-BD71-A03EF9265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3277"/>
                  <a:ext cx="0" cy="46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8" name="Line 153">
                  <a:extLst>
                    <a:ext uri="{FF2B5EF4-FFF2-40B4-BE49-F238E27FC236}">
                      <a16:creationId xmlns:a16="http://schemas.microsoft.com/office/drawing/2014/main" id="{AC046DB2-ADC8-4578-88DC-446E2211EB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3277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9" name="Line 154">
                  <a:extLst>
                    <a:ext uri="{FF2B5EF4-FFF2-40B4-BE49-F238E27FC236}">
                      <a16:creationId xmlns:a16="http://schemas.microsoft.com/office/drawing/2014/main" id="{ED5EB971-AE6F-4957-8677-1CED9DD61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4" y="3277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0" name="Line 155">
                  <a:extLst>
                    <a:ext uri="{FF2B5EF4-FFF2-40B4-BE49-F238E27FC236}">
                      <a16:creationId xmlns:a16="http://schemas.microsoft.com/office/drawing/2014/main" id="{8BD15BD0-7B5C-40C0-AA47-EEAAB8654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3469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1" name="Line 156">
                  <a:extLst>
                    <a:ext uri="{FF2B5EF4-FFF2-40B4-BE49-F238E27FC236}">
                      <a16:creationId xmlns:a16="http://schemas.microsoft.com/office/drawing/2014/main" id="{B41590C8-0F40-4730-8F5F-8F71DED82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3469"/>
                  <a:ext cx="0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2" name="Line 157">
                  <a:extLst>
                    <a:ext uri="{FF2B5EF4-FFF2-40B4-BE49-F238E27FC236}">
                      <a16:creationId xmlns:a16="http://schemas.microsoft.com/office/drawing/2014/main" id="{8277C5A5-279F-4661-98F8-2A3390DA3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3469"/>
                  <a:ext cx="0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3" name="Line 158">
                  <a:extLst>
                    <a:ext uri="{FF2B5EF4-FFF2-40B4-BE49-F238E27FC236}">
                      <a16:creationId xmlns:a16="http://schemas.microsoft.com/office/drawing/2014/main" id="{C0BA22A1-7AD6-46DB-970E-1E3916377D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3373"/>
                  <a:ext cx="0" cy="37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4" name="Line 159">
                  <a:extLst>
                    <a:ext uri="{FF2B5EF4-FFF2-40B4-BE49-F238E27FC236}">
                      <a16:creationId xmlns:a16="http://schemas.microsoft.com/office/drawing/2014/main" id="{63C8FFE8-CF52-4352-B696-DB7FB1916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4" y="3373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5" name="Line 160">
                  <a:extLst>
                    <a:ext uri="{FF2B5EF4-FFF2-40B4-BE49-F238E27FC236}">
                      <a16:creationId xmlns:a16="http://schemas.microsoft.com/office/drawing/2014/main" id="{FC6B597B-E341-401C-BA07-09EA17DDD9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3469"/>
                  <a:ext cx="230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6" name="Line 161">
                  <a:extLst>
                    <a:ext uri="{FF2B5EF4-FFF2-40B4-BE49-F238E27FC236}">
                      <a16:creationId xmlns:a16="http://schemas.microsoft.com/office/drawing/2014/main" id="{E5107D76-E2CD-4296-8D67-DFF16BC16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3613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7" name="Line 162">
                  <a:extLst>
                    <a:ext uri="{FF2B5EF4-FFF2-40B4-BE49-F238E27FC236}">
                      <a16:creationId xmlns:a16="http://schemas.microsoft.com/office/drawing/2014/main" id="{F192F845-65A0-42C9-BAE1-CE649D2D16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3325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8" name="Line 163">
                  <a:extLst>
                    <a:ext uri="{FF2B5EF4-FFF2-40B4-BE49-F238E27FC236}">
                      <a16:creationId xmlns:a16="http://schemas.microsoft.com/office/drawing/2014/main" id="{0EE16301-64F3-4DF6-A1EC-AD724D2043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3421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9" name="Line 164">
                  <a:extLst>
                    <a:ext uri="{FF2B5EF4-FFF2-40B4-BE49-F238E27FC236}">
                      <a16:creationId xmlns:a16="http://schemas.microsoft.com/office/drawing/2014/main" id="{957AEE94-9EFF-4279-96E2-EF39677727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3325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0" name="Line 165">
                  <a:extLst>
                    <a:ext uri="{FF2B5EF4-FFF2-40B4-BE49-F238E27FC236}">
                      <a16:creationId xmlns:a16="http://schemas.microsoft.com/office/drawing/2014/main" id="{8BEAE552-5588-4080-B2C3-A45FA60A15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3421"/>
                  <a:ext cx="19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1" name="Line 166">
                  <a:extLst>
                    <a:ext uri="{FF2B5EF4-FFF2-40B4-BE49-F238E27FC236}">
                      <a16:creationId xmlns:a16="http://schemas.microsoft.com/office/drawing/2014/main" id="{087D105C-CCFC-4D00-946D-185F725224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901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2" name="Line 167">
                  <a:extLst>
                    <a:ext uri="{FF2B5EF4-FFF2-40B4-BE49-F238E27FC236}">
                      <a16:creationId xmlns:a16="http://schemas.microsoft.com/office/drawing/2014/main" id="{5F47DF73-3901-47FC-B590-7D34CA23C9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984"/>
                  <a:ext cx="0" cy="2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3" name="Line 168">
                  <a:extLst>
                    <a:ext uri="{FF2B5EF4-FFF2-40B4-BE49-F238E27FC236}">
                      <a16:creationId xmlns:a16="http://schemas.microsoft.com/office/drawing/2014/main" id="{66C39142-4C47-452E-8FFF-AF93B9B66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24" y="3741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4" name="Line 169">
                  <a:extLst>
                    <a:ext uri="{FF2B5EF4-FFF2-40B4-BE49-F238E27FC236}">
                      <a16:creationId xmlns:a16="http://schemas.microsoft.com/office/drawing/2014/main" id="{D141C8F6-B677-44A7-AB4B-30DFB9F9A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24" y="3453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5" name="Line 170">
                  <a:extLst>
                    <a:ext uri="{FF2B5EF4-FFF2-40B4-BE49-F238E27FC236}">
                      <a16:creationId xmlns:a16="http://schemas.microsoft.com/office/drawing/2014/main" id="{534D3DB7-4D79-424F-850D-C1EB745DA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789"/>
                  <a:ext cx="28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6" name="Line 171">
                  <a:extLst>
                    <a:ext uri="{FF2B5EF4-FFF2-40B4-BE49-F238E27FC236}">
                      <a16:creationId xmlns:a16="http://schemas.microsoft.com/office/drawing/2014/main" id="{8EF5EA87-6AA0-4C01-84DA-67FF695A9E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357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7" name="Line 172">
                  <a:extLst>
                    <a:ext uri="{FF2B5EF4-FFF2-40B4-BE49-F238E27FC236}">
                      <a16:creationId xmlns:a16="http://schemas.microsoft.com/office/drawing/2014/main" id="{9500C23F-B201-45D7-A476-32FB9B18A3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48" y="3837"/>
                  <a:ext cx="864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8" name="Line 173">
                  <a:extLst>
                    <a:ext uri="{FF2B5EF4-FFF2-40B4-BE49-F238E27FC236}">
                      <a16:creationId xmlns:a16="http://schemas.microsoft.com/office/drawing/2014/main" id="{8B34681A-E433-4FE5-9B67-35329F479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2" y="3885"/>
                  <a:ext cx="1008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9" name="Line 174">
                  <a:extLst>
                    <a:ext uri="{FF2B5EF4-FFF2-40B4-BE49-F238E27FC236}">
                      <a16:creationId xmlns:a16="http://schemas.microsoft.com/office/drawing/2014/main" id="{9DEAA70C-CDFE-4C0B-9E87-0AA8B520C6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3648"/>
                  <a:ext cx="4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50" name="Line 175">
                  <a:extLst>
                    <a:ext uri="{FF2B5EF4-FFF2-40B4-BE49-F238E27FC236}">
                      <a16:creationId xmlns:a16="http://schemas.microsoft.com/office/drawing/2014/main" id="{2E41F138-E783-4124-B587-7F3B485D65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3600"/>
                  <a:ext cx="4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51" name="Line 176">
                  <a:extLst>
                    <a:ext uri="{FF2B5EF4-FFF2-40B4-BE49-F238E27FC236}">
                      <a16:creationId xmlns:a16="http://schemas.microsoft.com/office/drawing/2014/main" id="{8516E1B1-727A-40F6-B57E-7E411F5C28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648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52" name="Line 177">
                  <a:extLst>
                    <a:ext uri="{FF2B5EF4-FFF2-40B4-BE49-F238E27FC236}">
                      <a16:creationId xmlns:a16="http://schemas.microsoft.com/office/drawing/2014/main" id="{B30CA2EE-FC4F-42A4-850C-7101E0E71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8" y="3600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 sz="1400">
                    <a:latin typeface="Cambria" panose="020405030504060302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133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C4CA-D755-44F9-8000-A304FC50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Bit Different Way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181A-8A75-4CC1-A02F-5221AB128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2050" name="Picture 2" descr="Blue Plaque with words 221B Baker Street, London">
            <a:extLst>
              <a:ext uri="{FF2B5EF4-FFF2-40B4-BE49-F238E27FC236}">
                <a16:creationId xmlns:a16="http://schemas.microsoft.com/office/drawing/2014/main" id="{AE667EF9-7D91-490E-88CF-3D5EEE642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" y="1941871"/>
            <a:ext cx="4105213" cy="353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401C858F-BA7D-4D07-8F98-35A6BD383664}"/>
              </a:ext>
            </a:extLst>
          </p:cNvPr>
          <p:cNvSpPr/>
          <p:nvPr/>
        </p:nvSpPr>
        <p:spPr>
          <a:xfrm>
            <a:off x="5048138" y="2207992"/>
            <a:ext cx="5183403" cy="5302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Baker Street: Cache Index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</a:t>
            </a:r>
            <a:endParaRPr 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E4DD0FC6-474E-4DE8-99E5-FFD7C94BA971}"/>
              </a:ext>
            </a:extLst>
          </p:cNvPr>
          <p:cNvSpPr/>
          <p:nvPr/>
        </p:nvSpPr>
        <p:spPr>
          <a:xfrm>
            <a:off x="5048138" y="3020970"/>
            <a:ext cx="5183402" cy="5302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221b: Tag bits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 </a:t>
            </a:r>
            <a:endParaRPr 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6381864E-04CE-4CD7-A116-1559FD2F3F85}"/>
              </a:ext>
            </a:extLst>
          </p:cNvPr>
          <p:cNvSpPr/>
          <p:nvPr/>
        </p:nvSpPr>
        <p:spPr>
          <a:xfrm>
            <a:off x="5048138" y="3932741"/>
            <a:ext cx="6325050" cy="5302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Sherlock Holmes: Byte offset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  </a:t>
            </a:r>
            <a:endParaRPr 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81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021D-97AB-4DB5-8985-194B79EF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Extreme: One Cache is One Set (Fully-assoc.)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D71A-F0D1-4FCA-B6C3-8BF120F75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718AE2C9-8E2B-4664-B57E-64589FB07F51}"/>
              </a:ext>
            </a:extLst>
          </p:cNvPr>
          <p:cNvSpPr/>
          <p:nvPr/>
        </p:nvSpPr>
        <p:spPr>
          <a:xfrm>
            <a:off x="5166239" y="5415960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CA825C-0B12-4E3C-A457-50749BC6B2F8}"/>
              </a:ext>
            </a:extLst>
          </p:cNvPr>
          <p:cNvSpPr/>
          <p:nvPr/>
        </p:nvSpPr>
        <p:spPr>
          <a:xfrm>
            <a:off x="5135998" y="4598050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9E80993-8C62-46C1-ACD3-2023D155605E}"/>
              </a:ext>
            </a:extLst>
          </p:cNvPr>
          <p:cNvSpPr/>
          <p:nvPr/>
        </p:nvSpPr>
        <p:spPr>
          <a:xfrm>
            <a:off x="5135998" y="3790577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A39997F-C79B-47EE-85A9-082F366B4CCD}"/>
              </a:ext>
            </a:extLst>
          </p:cNvPr>
          <p:cNvSpPr/>
          <p:nvPr/>
        </p:nvSpPr>
        <p:spPr>
          <a:xfrm>
            <a:off x="5135998" y="2986543"/>
            <a:ext cx="5296250" cy="789878"/>
          </a:xfrm>
          <a:prstGeom prst="roundRect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D5DD4-690E-4167-8AFB-9810DAE05F34}"/>
              </a:ext>
            </a:extLst>
          </p:cNvPr>
          <p:cNvCxnSpPr>
            <a:cxnSpLocks/>
          </p:cNvCxnSpPr>
          <p:nvPr/>
        </p:nvCxnSpPr>
        <p:spPr>
          <a:xfrm>
            <a:off x="6900034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37D5A6-7B0C-449A-8AA0-A8A8E79F9D4F}"/>
              </a:ext>
            </a:extLst>
          </p:cNvPr>
          <p:cNvCxnSpPr/>
          <p:nvPr/>
        </p:nvCxnSpPr>
        <p:spPr>
          <a:xfrm>
            <a:off x="592585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F427F-211B-4A3C-9D01-F2443D1C3B11}"/>
              </a:ext>
            </a:extLst>
          </p:cNvPr>
          <p:cNvCxnSpPr/>
          <p:nvPr/>
        </p:nvCxnSpPr>
        <p:spPr>
          <a:xfrm>
            <a:off x="778412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A118C7-248E-40AF-AEC2-C0DD3A52F50D}"/>
              </a:ext>
            </a:extLst>
          </p:cNvPr>
          <p:cNvCxnSpPr/>
          <p:nvPr/>
        </p:nvCxnSpPr>
        <p:spPr>
          <a:xfrm>
            <a:off x="8704417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3EFAFF-2E8C-4936-92E0-BBDD79398584}"/>
              </a:ext>
            </a:extLst>
          </p:cNvPr>
          <p:cNvCxnSpPr/>
          <p:nvPr/>
        </p:nvCxnSpPr>
        <p:spPr>
          <a:xfrm>
            <a:off x="9583453" y="2986542"/>
            <a:ext cx="0" cy="3197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1EFC28-E713-4FA2-8EF3-ECC1E85B769D}"/>
              </a:ext>
            </a:extLst>
          </p:cNvPr>
          <p:cNvCxnSpPr>
            <a:cxnSpLocks/>
          </p:cNvCxnSpPr>
          <p:nvPr/>
        </p:nvCxnSpPr>
        <p:spPr>
          <a:xfrm flipH="1">
            <a:off x="5162098" y="4559793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BFA103-49BB-4352-AEAB-9938D532BF59}"/>
              </a:ext>
            </a:extLst>
          </p:cNvPr>
          <p:cNvCxnSpPr>
            <a:cxnSpLocks/>
          </p:cNvCxnSpPr>
          <p:nvPr/>
        </p:nvCxnSpPr>
        <p:spPr>
          <a:xfrm flipH="1">
            <a:off x="5135998" y="5394208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5A735-F221-4A84-969C-D5B0364A20C9}"/>
              </a:ext>
            </a:extLst>
          </p:cNvPr>
          <p:cNvCxnSpPr>
            <a:cxnSpLocks/>
          </p:cNvCxnSpPr>
          <p:nvPr/>
        </p:nvCxnSpPr>
        <p:spPr>
          <a:xfrm flipH="1">
            <a:off x="5162098" y="3752319"/>
            <a:ext cx="52962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235DD8-6A2B-4EBF-B415-1B42EB5F39A5}"/>
              </a:ext>
            </a:extLst>
          </p:cNvPr>
          <p:cNvCxnSpPr/>
          <p:nvPr/>
        </p:nvCxnSpPr>
        <p:spPr>
          <a:xfrm flipV="1">
            <a:off x="9987678" y="2783618"/>
            <a:ext cx="1005335" cy="535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10C946-B041-48C2-92D9-E1F45A24ECF4}"/>
              </a:ext>
            </a:extLst>
          </p:cNvPr>
          <p:cNvSpPr txBox="1"/>
          <p:nvPr/>
        </p:nvSpPr>
        <p:spPr>
          <a:xfrm>
            <a:off x="10913704" y="2412973"/>
            <a:ext cx="1327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One byte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165AC1-3E97-42DD-AE0F-A375C2322427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0402847" y="3383911"/>
            <a:ext cx="249343" cy="2029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89424B-9C90-4206-AFD7-B900CE419047}"/>
              </a:ext>
            </a:extLst>
          </p:cNvPr>
          <p:cNvSpPr txBox="1"/>
          <p:nvPr/>
        </p:nvSpPr>
        <p:spPr>
          <a:xfrm>
            <a:off x="10652190" y="3153078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10C143-433B-47B3-961C-00A7C1A05DD5}"/>
              </a:ext>
            </a:extLst>
          </p:cNvPr>
          <p:cNvSpPr txBox="1"/>
          <p:nvPr/>
        </p:nvSpPr>
        <p:spPr>
          <a:xfrm>
            <a:off x="10563598" y="5559571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Line 1023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DAAC6F4C-087A-4DB2-AEDF-01529D6418BE}"/>
              </a:ext>
            </a:extLst>
          </p:cNvPr>
          <p:cNvSpPr/>
          <p:nvPr/>
        </p:nvSpPr>
        <p:spPr>
          <a:xfrm>
            <a:off x="4976160" y="2874638"/>
            <a:ext cx="5587438" cy="3560068"/>
          </a:xfrm>
          <a:prstGeom prst="round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A4B3B693-A10E-463D-A291-2C049C93AD86}"/>
              </a:ext>
            </a:extLst>
          </p:cNvPr>
          <p:cNvSpPr/>
          <p:nvPr/>
        </p:nvSpPr>
        <p:spPr>
          <a:xfrm>
            <a:off x="263566" y="2080501"/>
            <a:ext cx="5296250" cy="7898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336E91-64E7-4FA2-BD1C-FC324554CB3F}"/>
              </a:ext>
            </a:extLst>
          </p:cNvPr>
          <p:cNvSpPr txBox="1"/>
          <p:nvPr/>
        </p:nvSpPr>
        <p:spPr>
          <a:xfrm>
            <a:off x="371479" y="2213830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E4D277-FE1C-4A95-916F-24D621C4935F}"/>
              </a:ext>
            </a:extLst>
          </p:cNvPr>
          <p:cNvCxnSpPr>
            <a:cxnSpLocks/>
          </p:cNvCxnSpPr>
          <p:nvPr/>
        </p:nvCxnSpPr>
        <p:spPr>
          <a:xfrm>
            <a:off x="4079531" y="2067864"/>
            <a:ext cx="0" cy="789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A88AF4C-543F-4B6C-B852-7D83E17FF5F0}"/>
              </a:ext>
            </a:extLst>
          </p:cNvPr>
          <p:cNvSpPr txBox="1"/>
          <p:nvPr/>
        </p:nvSpPr>
        <p:spPr>
          <a:xfrm>
            <a:off x="4368231" y="2201193"/>
            <a:ext cx="1068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Offset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31F03F9-EE4A-4C97-9936-452371A3DB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11893" y="4044876"/>
            <a:ext cx="2642082" cy="29308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B57C6BE-822A-481E-89E7-D4E19C7053B2}"/>
              </a:ext>
            </a:extLst>
          </p:cNvPr>
          <p:cNvCxnSpPr>
            <a:cxnSpLocks/>
          </p:cNvCxnSpPr>
          <p:nvPr/>
        </p:nvCxnSpPr>
        <p:spPr>
          <a:xfrm>
            <a:off x="5404672" y="2730693"/>
            <a:ext cx="3922403" cy="22668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5E92A1B-3F2B-43C1-98F4-1516CCB49D76}"/>
              </a:ext>
            </a:extLst>
          </p:cNvPr>
          <p:cNvSpPr txBox="1"/>
          <p:nvPr/>
        </p:nvSpPr>
        <p:spPr>
          <a:xfrm>
            <a:off x="8831125" y="4575782"/>
            <a:ext cx="823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byte </a:t>
            </a: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9131D7ED-B138-4279-BDFF-27229FAD95A0}"/>
              </a:ext>
            </a:extLst>
          </p:cNvPr>
          <p:cNvSpPr/>
          <p:nvPr/>
        </p:nvSpPr>
        <p:spPr>
          <a:xfrm>
            <a:off x="4058753" y="3896942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2B8A622E-B69B-4CBA-B631-8C55CED0F545}"/>
              </a:ext>
            </a:extLst>
          </p:cNvPr>
          <p:cNvSpPr/>
          <p:nvPr/>
        </p:nvSpPr>
        <p:spPr>
          <a:xfrm>
            <a:off x="4051636" y="311859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CFDADD8B-5AFD-4E61-9FD3-1DC9280A294A}"/>
              </a:ext>
            </a:extLst>
          </p:cNvPr>
          <p:cNvSpPr/>
          <p:nvPr/>
        </p:nvSpPr>
        <p:spPr>
          <a:xfrm>
            <a:off x="4086614" y="475431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9D3823AC-6441-4142-9239-C2B50DDECBF8}"/>
              </a:ext>
            </a:extLst>
          </p:cNvPr>
          <p:cNvSpPr/>
          <p:nvPr/>
        </p:nvSpPr>
        <p:spPr>
          <a:xfrm>
            <a:off x="4086614" y="5534400"/>
            <a:ext cx="762839" cy="62936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47F58-423C-42FF-A5CE-4D726C7A9465}"/>
              </a:ext>
            </a:extLst>
          </p:cNvPr>
          <p:cNvSpPr txBox="1"/>
          <p:nvPr/>
        </p:nvSpPr>
        <p:spPr>
          <a:xfrm>
            <a:off x="4085045" y="3171434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56F5F8-34FC-492B-BF2E-25E6A37A6EFE}"/>
              </a:ext>
            </a:extLst>
          </p:cNvPr>
          <p:cNvSpPr txBox="1"/>
          <p:nvPr/>
        </p:nvSpPr>
        <p:spPr>
          <a:xfrm>
            <a:off x="4069925" y="3915574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FA17A2-2E8A-4968-96AC-34C2FE851C3B}"/>
              </a:ext>
            </a:extLst>
          </p:cNvPr>
          <p:cNvSpPr txBox="1"/>
          <p:nvPr/>
        </p:nvSpPr>
        <p:spPr>
          <a:xfrm>
            <a:off x="4105993" y="4791622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DFC846-E5A9-4311-A58D-1F1E002A5BAF}"/>
              </a:ext>
            </a:extLst>
          </p:cNvPr>
          <p:cNvSpPr txBox="1"/>
          <p:nvPr/>
        </p:nvSpPr>
        <p:spPr>
          <a:xfrm>
            <a:off x="4103818" y="5578585"/>
            <a:ext cx="67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2392719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8A4E-673F-4046-BD36-69A40CB4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Wake-up test again: #</a:t>
            </a:r>
            <a:r>
              <a:rPr lang="en-IN" dirty="0" err="1"/>
              <a:t>ints</a:t>
            </a:r>
            <a:r>
              <a:rPr lang="en-IN" dirty="0"/>
              <a:t> inside a block?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F66D3-E8CD-412E-A60E-77AD0D72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13</a:t>
            </a:fld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F9A92E-DBE0-4436-BB56-E2BCC75E1B19}"/>
              </a:ext>
            </a:extLst>
          </p:cNvPr>
          <p:cNvGrpSpPr/>
          <p:nvPr/>
        </p:nvGrpSpPr>
        <p:grpSpPr>
          <a:xfrm>
            <a:off x="0" y="1544443"/>
            <a:ext cx="12004288" cy="3155795"/>
            <a:chOff x="1276920" y="2486880"/>
            <a:chExt cx="3764880" cy="1393920"/>
          </a:xfrm>
        </p:grpSpPr>
        <p:sp>
          <p:nvSpPr>
            <p:cNvPr id="24" name="CustomShape 4">
              <a:extLst>
                <a:ext uri="{FF2B5EF4-FFF2-40B4-BE49-F238E27FC236}">
                  <a16:creationId xmlns:a16="http://schemas.microsoft.com/office/drawing/2014/main" id="{1EE5D9B4-C2A5-4488-87B7-E88ED63B2EA5}"/>
                </a:ext>
              </a:extLst>
            </p:cNvPr>
            <p:cNvSpPr/>
            <p:nvPr/>
          </p:nvSpPr>
          <p:spPr>
            <a:xfrm>
              <a:off x="2301120" y="2486880"/>
              <a:ext cx="702720" cy="295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18 </a:t>
              </a:r>
              <a:r>
                <a:rPr lang="en-US" sz="3200" b="0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bits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25" name="CustomShape 5">
              <a:extLst>
                <a:ext uri="{FF2B5EF4-FFF2-40B4-BE49-F238E27FC236}">
                  <a16:creationId xmlns:a16="http://schemas.microsoft.com/office/drawing/2014/main" id="{58A4FDC2-8CD5-4877-9A0C-4240F6AE5550}"/>
                </a:ext>
              </a:extLst>
            </p:cNvPr>
            <p:cNvSpPr/>
            <p:nvPr/>
          </p:nvSpPr>
          <p:spPr>
            <a:xfrm>
              <a:off x="3133800" y="2486880"/>
              <a:ext cx="702720" cy="295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10</a:t>
              </a:r>
              <a:r>
                <a:rPr lang="en-US" sz="3200" b="0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 bits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26" name="CustomShape 6">
              <a:extLst>
                <a:ext uri="{FF2B5EF4-FFF2-40B4-BE49-F238E27FC236}">
                  <a16:creationId xmlns:a16="http://schemas.microsoft.com/office/drawing/2014/main" id="{98AE1508-A049-49EC-B1EF-C50F0BE63B70}"/>
                </a:ext>
              </a:extLst>
            </p:cNvPr>
            <p:cNvSpPr/>
            <p:nvPr/>
          </p:nvSpPr>
          <p:spPr>
            <a:xfrm>
              <a:off x="3927600" y="2771280"/>
              <a:ext cx="856800" cy="173520"/>
            </a:xfrm>
            <a:prstGeom prst="rect">
              <a:avLst/>
            </a:prstGeom>
            <a:noFill/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CustomShape 7">
              <a:extLst>
                <a:ext uri="{FF2B5EF4-FFF2-40B4-BE49-F238E27FC236}">
                  <a16:creationId xmlns:a16="http://schemas.microsoft.com/office/drawing/2014/main" id="{2AA8396D-CAF8-4C87-8510-72DD45AC7164}"/>
                </a:ext>
              </a:extLst>
            </p:cNvPr>
            <p:cNvSpPr/>
            <p:nvPr/>
          </p:nvSpPr>
          <p:spPr>
            <a:xfrm>
              <a:off x="3070440" y="2771280"/>
              <a:ext cx="856800" cy="173520"/>
            </a:xfrm>
            <a:prstGeom prst="rect">
              <a:avLst/>
            </a:prstGeom>
            <a:noFill/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C55061D7-CBDB-4FB5-A878-D20CB8118583}"/>
                </a:ext>
              </a:extLst>
            </p:cNvPr>
            <p:cNvSpPr/>
            <p:nvPr/>
          </p:nvSpPr>
          <p:spPr>
            <a:xfrm>
              <a:off x="2213280" y="2771280"/>
              <a:ext cx="856800" cy="173520"/>
            </a:xfrm>
            <a:prstGeom prst="rect">
              <a:avLst/>
            </a:prstGeom>
            <a:noFill/>
            <a:ln w="126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CustomShape 9">
              <a:extLst>
                <a:ext uri="{FF2B5EF4-FFF2-40B4-BE49-F238E27FC236}">
                  <a16:creationId xmlns:a16="http://schemas.microsoft.com/office/drawing/2014/main" id="{03B69FB1-1686-4DFE-BF5D-0EE5564497C2}"/>
                </a:ext>
              </a:extLst>
            </p:cNvPr>
            <p:cNvSpPr/>
            <p:nvPr/>
          </p:nvSpPr>
          <p:spPr>
            <a:xfrm>
              <a:off x="4077720" y="2486880"/>
              <a:ext cx="595800" cy="295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4</a:t>
              </a:r>
              <a:r>
                <a:rPr lang="en-US" sz="3200" b="0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 bits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0" name="CustomShape 10">
              <a:extLst>
                <a:ext uri="{FF2B5EF4-FFF2-40B4-BE49-F238E27FC236}">
                  <a16:creationId xmlns:a16="http://schemas.microsoft.com/office/drawing/2014/main" id="{50FB4563-5F22-49EE-AC48-4BD866899E5E}"/>
                </a:ext>
              </a:extLst>
            </p:cNvPr>
            <p:cNvSpPr/>
            <p:nvPr/>
          </p:nvSpPr>
          <p:spPr>
            <a:xfrm>
              <a:off x="4677480" y="2887560"/>
              <a:ext cx="260280" cy="250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en-US" sz="3200" b="0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ourier New"/>
                </a:rPr>
                <a:t>0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1" name="CustomShape 11">
              <a:extLst>
                <a:ext uri="{FF2B5EF4-FFF2-40B4-BE49-F238E27FC236}">
                  <a16:creationId xmlns:a16="http://schemas.microsoft.com/office/drawing/2014/main" id="{31A5BEF7-35E1-44EA-9CCD-1A724E7F096E}"/>
                </a:ext>
              </a:extLst>
            </p:cNvPr>
            <p:cNvSpPr/>
            <p:nvPr/>
          </p:nvSpPr>
          <p:spPr>
            <a:xfrm>
              <a:off x="2146680" y="2887560"/>
              <a:ext cx="339480" cy="250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en-US" sz="3200" b="0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ourier New"/>
                </a:rPr>
                <a:t>31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2" name="CustomShape 12">
              <a:extLst>
                <a:ext uri="{FF2B5EF4-FFF2-40B4-BE49-F238E27FC236}">
                  <a16:creationId xmlns:a16="http://schemas.microsoft.com/office/drawing/2014/main" id="{F0E6F436-5EE8-4528-B45B-CCEEA7CB6510}"/>
                </a:ext>
              </a:extLst>
            </p:cNvPr>
            <p:cNvSpPr/>
            <p:nvPr/>
          </p:nvSpPr>
          <p:spPr>
            <a:xfrm>
              <a:off x="2457000" y="3357000"/>
              <a:ext cx="449640" cy="295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Tag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3" name="CustomShape 13">
              <a:extLst>
                <a:ext uri="{FF2B5EF4-FFF2-40B4-BE49-F238E27FC236}">
                  <a16:creationId xmlns:a16="http://schemas.microsoft.com/office/drawing/2014/main" id="{E1EC4190-B059-42E6-B067-04F91A8DC149}"/>
                </a:ext>
              </a:extLst>
            </p:cNvPr>
            <p:cNvSpPr/>
            <p:nvPr/>
          </p:nvSpPr>
          <p:spPr>
            <a:xfrm>
              <a:off x="3069360" y="3357000"/>
              <a:ext cx="857880" cy="523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Set index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4" name="CustomShape 14">
              <a:extLst>
                <a:ext uri="{FF2B5EF4-FFF2-40B4-BE49-F238E27FC236}">
                  <a16:creationId xmlns:a16="http://schemas.microsoft.com/office/drawing/2014/main" id="{C36BF76C-A7B2-4F67-9315-D9A624254347}"/>
                </a:ext>
              </a:extLst>
            </p:cNvPr>
            <p:cNvSpPr/>
            <p:nvPr/>
          </p:nvSpPr>
          <p:spPr>
            <a:xfrm>
              <a:off x="3913920" y="3357000"/>
              <a:ext cx="1127880" cy="295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68040" tIns="33480" rIns="68040" bIns="33480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Block offset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35" name="CustomShape 15">
              <a:extLst>
                <a:ext uri="{FF2B5EF4-FFF2-40B4-BE49-F238E27FC236}">
                  <a16:creationId xmlns:a16="http://schemas.microsoft.com/office/drawing/2014/main" id="{AB2C1AFE-0F64-4A3B-A669-3E02AF96EC32}"/>
                </a:ext>
              </a:extLst>
            </p:cNvPr>
            <p:cNvSpPr/>
            <p:nvPr/>
          </p:nvSpPr>
          <p:spPr>
            <a:xfrm rot="5400000">
              <a:off x="2499120" y="2806920"/>
              <a:ext cx="228240" cy="799560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260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CustomShape 16">
              <a:extLst>
                <a:ext uri="{FF2B5EF4-FFF2-40B4-BE49-F238E27FC236}">
                  <a16:creationId xmlns:a16="http://schemas.microsoft.com/office/drawing/2014/main" id="{CBBBB919-3AE5-47F8-AECA-18FAF7348261}"/>
                </a:ext>
              </a:extLst>
            </p:cNvPr>
            <p:cNvSpPr/>
            <p:nvPr/>
          </p:nvSpPr>
          <p:spPr>
            <a:xfrm rot="5400000">
              <a:off x="3356280" y="2806920"/>
              <a:ext cx="228240" cy="799560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260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CustomShape 17">
              <a:extLst>
                <a:ext uri="{FF2B5EF4-FFF2-40B4-BE49-F238E27FC236}">
                  <a16:creationId xmlns:a16="http://schemas.microsoft.com/office/drawing/2014/main" id="{2C686B7C-CAAE-4E4B-91DF-0A47AF0876BD}"/>
                </a:ext>
              </a:extLst>
            </p:cNvPr>
            <p:cNvSpPr/>
            <p:nvPr/>
          </p:nvSpPr>
          <p:spPr>
            <a:xfrm rot="5400000">
              <a:off x="4270680" y="2806920"/>
              <a:ext cx="228240" cy="799560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260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CustomShape 18">
              <a:extLst>
                <a:ext uri="{FF2B5EF4-FFF2-40B4-BE49-F238E27FC236}">
                  <a16:creationId xmlns:a16="http://schemas.microsoft.com/office/drawing/2014/main" id="{15AFC0F5-29BC-431B-94FD-4A0CCF6ABD34}"/>
                </a:ext>
              </a:extLst>
            </p:cNvPr>
            <p:cNvSpPr/>
            <p:nvPr/>
          </p:nvSpPr>
          <p:spPr>
            <a:xfrm>
              <a:off x="1276920" y="2693880"/>
              <a:ext cx="937080" cy="318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en-US" sz="3200" b="0" i="1" strike="noStrike" spc="-1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entury Gothic"/>
                </a:rPr>
                <a:t>Address:</a:t>
              </a:r>
              <a:endPara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</p:grpSp>
      <p:graphicFrame>
        <p:nvGraphicFramePr>
          <p:cNvPr id="39" name="Table 19">
            <a:extLst>
              <a:ext uri="{FF2B5EF4-FFF2-40B4-BE49-F238E27FC236}">
                <a16:creationId xmlns:a16="http://schemas.microsoft.com/office/drawing/2014/main" id="{5F043E00-E791-4324-AEE6-EE7334620BDD}"/>
              </a:ext>
            </a:extLst>
          </p:cNvPr>
          <p:cNvGraphicFramePr/>
          <p:nvPr/>
        </p:nvGraphicFramePr>
        <p:xfrm>
          <a:off x="7268032" y="4048301"/>
          <a:ext cx="2457000" cy="2674440"/>
        </p:xfrm>
        <a:graphic>
          <a:graphicData uri="http://schemas.openxmlformats.org/drawingml/2006/table">
            <a:tbl>
              <a:tblPr/>
              <a:tblGrid>
                <a:gridCol w="43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4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# of int in block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100" b="1" strike="noStrike" spc="-1">
                          <a:solidFill>
                            <a:srgbClr val="660066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0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100" b="1" strike="noStrike" spc="-1">
                          <a:solidFill>
                            <a:srgbClr val="660066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1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100" b="1" strike="noStrike" spc="-1">
                          <a:solidFill>
                            <a:srgbClr val="660066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2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100" b="1" strike="noStrike" spc="-1">
                          <a:solidFill>
                            <a:srgbClr val="660066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4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100" b="1" strike="noStrike" spc="-1">
                          <a:solidFill>
                            <a:srgbClr val="660066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entury Gothic"/>
                        </a:rPr>
                        <a:t>Unknown: We need more info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68400" marR="684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CustomShape 20">
            <a:extLst>
              <a:ext uri="{FF2B5EF4-FFF2-40B4-BE49-F238E27FC236}">
                <a16:creationId xmlns:a16="http://schemas.microsoft.com/office/drawing/2014/main" id="{AC2F629B-7CC6-4A4B-8177-5756E469360D}"/>
              </a:ext>
            </a:extLst>
          </p:cNvPr>
          <p:cNvSpPr/>
          <p:nvPr/>
        </p:nvSpPr>
        <p:spPr>
          <a:xfrm>
            <a:off x="7306132" y="5687781"/>
            <a:ext cx="342360" cy="342360"/>
          </a:xfrm>
          <a:prstGeom prst="ellipse">
            <a:avLst/>
          </a:prstGeom>
          <a:noFill/>
          <a:ln w="57240">
            <a:solidFill>
              <a:srgbClr val="00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C5A1BD-57A7-516E-C4C5-7367C540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68542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7535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9D90-3992-425A-B656-D4059F67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Wake-up test again: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016A-4E74-4C51-9EAB-F33CDDFD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14</a:t>
            </a:fld>
            <a:endParaRPr lang="en-IN"/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B6405C43-CECF-409F-BE25-E5728EFF08C1}"/>
              </a:ext>
            </a:extLst>
          </p:cNvPr>
          <p:cNvSpPr txBox="1"/>
          <p:nvPr/>
        </p:nvSpPr>
        <p:spPr>
          <a:xfrm>
            <a:off x="440473" y="2855288"/>
            <a:ext cx="8675649" cy="22705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CS683(int* a, int N)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{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int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i;</a:t>
            </a: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int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sum = 0;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for(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0;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&lt; N;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++)</a:t>
            </a: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{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sum += a[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];</a:t>
            </a: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}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return sum;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60">
              <a:lnSpc>
                <a:spcPct val="90000"/>
              </a:lnSpc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}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5CF2692A-8141-4222-BBF4-B8CB0681A46E}"/>
              </a:ext>
            </a:extLst>
          </p:cNvPr>
          <p:cNvGraphicFramePr/>
          <p:nvPr/>
        </p:nvGraphicFramePr>
        <p:xfrm>
          <a:off x="9271562" y="3748392"/>
          <a:ext cx="1871640" cy="2651760"/>
        </p:xfrm>
        <a:graphic>
          <a:graphicData uri="http://schemas.openxmlformats.org/drawingml/2006/table">
            <a:tbl>
              <a:tblPr/>
              <a:tblGrid>
                <a:gridCol w="37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68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82800" marR="8280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Accessed Bytes</a:t>
                      </a:r>
                    </a:p>
                  </a:txBody>
                  <a:tcPr marL="82800" marR="82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A</a:t>
                      </a:r>
                      <a:endParaRPr lang="en-US" sz="24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2800" marR="828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</a:p>
                  </a:txBody>
                  <a:tcPr marL="82800" marR="82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B</a:t>
                      </a:r>
                      <a:endParaRPr lang="en-US" sz="24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2800" marR="828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16</a:t>
                      </a:r>
                    </a:p>
                  </a:txBody>
                  <a:tcPr marL="82800" marR="82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</a:t>
                      </a:r>
                      <a:endParaRPr lang="en-US" sz="24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2800" marR="828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64</a:t>
                      </a:r>
                    </a:p>
                  </a:txBody>
                  <a:tcPr marL="82800" marR="82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</a:t>
                      </a:r>
                      <a:endParaRPr lang="en-US" sz="24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2800" marR="828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256</a:t>
                      </a:r>
                    </a:p>
                  </a:txBody>
                  <a:tcPr marL="82800" marR="828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ustomShape 4">
            <a:extLst>
              <a:ext uri="{FF2B5EF4-FFF2-40B4-BE49-F238E27FC236}">
                <a16:creationId xmlns:a16="http://schemas.microsoft.com/office/drawing/2014/main" id="{3A872F4D-7DA4-427C-9270-2D0D129AFBF0}"/>
              </a:ext>
            </a:extLst>
          </p:cNvPr>
          <p:cNvSpPr/>
          <p:nvPr/>
        </p:nvSpPr>
        <p:spPr>
          <a:xfrm>
            <a:off x="140111" y="1690688"/>
            <a:ext cx="11493998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If N = 16, how many bytes does the loop access of a?</a:t>
            </a:r>
          </a:p>
        </p:txBody>
      </p:sp>
      <p:sp>
        <p:nvSpPr>
          <p:cNvPr id="8" name="CustomShape 41">
            <a:extLst>
              <a:ext uri="{FF2B5EF4-FFF2-40B4-BE49-F238E27FC236}">
                <a16:creationId xmlns:a16="http://schemas.microsoft.com/office/drawing/2014/main" id="{25CB6263-AE8D-4188-8071-196ACEA6BF16}"/>
              </a:ext>
            </a:extLst>
          </p:cNvPr>
          <p:cNvSpPr/>
          <p:nvPr/>
        </p:nvSpPr>
        <p:spPr>
          <a:xfrm>
            <a:off x="9271562" y="5514898"/>
            <a:ext cx="342360" cy="342360"/>
          </a:xfrm>
          <a:prstGeom prst="ellipse">
            <a:avLst/>
          </a:prstGeom>
          <a:noFill/>
          <a:ln w="57240">
            <a:solidFill>
              <a:srgbClr val="00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84A2B4C-46FF-3704-0992-F699D6E9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196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F9E1-5174-48CF-BAD5-14B7EA97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3Cs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0401-B206-4603-AA6E-7C61074E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15</a:t>
            </a:fld>
            <a:endParaRPr lang="en-IN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60AFAD0-46DA-4C48-A0FE-677472597436}"/>
              </a:ext>
            </a:extLst>
          </p:cNvPr>
          <p:cNvSpPr txBox="1">
            <a:spLocks noChangeArrowheads="1"/>
          </p:cNvSpPr>
          <p:nvPr/>
        </p:nvSpPr>
        <p:spPr>
          <a:xfrm>
            <a:off x="396875" y="1733550"/>
            <a:ext cx="1117809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Cold (compulsory) miss</a:t>
            </a:r>
          </a:p>
          <a:p>
            <a:pPr lvl="1"/>
            <a:r>
              <a:rPr lang="en-US" sz="3200" dirty="0"/>
              <a:t>Cold misses occur because the cache starts empty and this is the first reference</a:t>
            </a:r>
          </a:p>
          <a:p>
            <a:pPr lvl="1"/>
            <a:endParaRPr lang="en-US" sz="3200" dirty="0"/>
          </a:p>
          <a:p>
            <a:r>
              <a:rPr lang="en-US" sz="3200" dirty="0">
                <a:solidFill>
                  <a:srgbClr val="C00000"/>
                </a:solidFill>
              </a:rPr>
              <a:t>Capacity miss</a:t>
            </a:r>
          </a:p>
          <a:p>
            <a:pPr lvl="1"/>
            <a:r>
              <a:rPr lang="en-US" sz="3200" dirty="0"/>
              <a:t>Occurs when the set of active cache blocks (</a:t>
            </a:r>
            <a:r>
              <a:rPr lang="en-US" sz="3200" dirty="0">
                <a:solidFill>
                  <a:srgbClr val="C00000"/>
                </a:solidFill>
              </a:rPr>
              <a:t>working set</a:t>
            </a:r>
            <a:r>
              <a:rPr lang="en-US" sz="3200" dirty="0"/>
              <a:t>) is larger than the cache.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200" dirty="0">
                <a:solidFill>
                  <a:srgbClr val="C00000"/>
                </a:solidFill>
              </a:rPr>
              <a:t>Conflict miss </a:t>
            </a:r>
            <a:r>
              <a:rPr lang="en-US" sz="3200" dirty="0">
                <a:solidFill>
                  <a:srgbClr val="C00000"/>
                </a:solidFill>
                <a:sym typeface="Wingdings" panose="05000000000000000000" pitchFamily="2" charset="2"/>
              </a:rPr>
              <a:t> conflicting addresses into one set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32FB21B-2A4E-C3EF-D600-9B864B09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1261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013-007C-4484-9116-0B0CB71B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3484-DBB6-41FF-BAA0-299B0710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16</a:t>
            </a:fld>
            <a:endParaRPr lang="en-IN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0CADFA3-102B-4CCA-AB90-934EDF04E29F}"/>
              </a:ext>
            </a:extLst>
          </p:cNvPr>
          <p:cNvSpPr txBox="1">
            <a:spLocks noChangeArrowheads="1"/>
          </p:cNvSpPr>
          <p:nvPr/>
        </p:nvSpPr>
        <p:spPr>
          <a:xfrm>
            <a:off x="876080" y="1968415"/>
            <a:ext cx="5720314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Description:</a:t>
            </a:r>
          </a:p>
          <a:p>
            <a:pPr lvl="1"/>
            <a:r>
              <a:rPr lang="en-US" dirty="0"/>
              <a:t>Multiply </a:t>
            </a:r>
            <a:r>
              <a:rPr lang="en-US" i="1" dirty="0"/>
              <a:t>N</a:t>
            </a:r>
            <a:r>
              <a:rPr lang="en-US" dirty="0"/>
              <a:t> x </a:t>
            </a:r>
            <a:r>
              <a:rPr lang="en-US" i="1" dirty="0"/>
              <a:t>N</a:t>
            </a:r>
            <a:r>
              <a:rPr lang="en-US" dirty="0"/>
              <a:t> matrices</a:t>
            </a:r>
          </a:p>
          <a:p>
            <a:pPr lvl="1"/>
            <a:r>
              <a:rPr lang="en-US" dirty="0"/>
              <a:t>Matrix elements are </a:t>
            </a:r>
            <a:r>
              <a:rPr lang="en-US" dirty="0">
                <a:latin typeface="Calibri"/>
                <a:cs typeface="Calibri"/>
              </a:rPr>
              <a:t>double</a:t>
            </a:r>
            <a:r>
              <a:rPr lang="en-US" dirty="0">
                <a:latin typeface="+mj-lt"/>
                <a:cs typeface="Courier New"/>
              </a:rPr>
              <a:t>s</a:t>
            </a:r>
            <a:r>
              <a:rPr lang="en-US" dirty="0"/>
              <a:t> (8 bytes)</a:t>
            </a:r>
          </a:p>
          <a:p>
            <a:pPr lvl="1"/>
            <a:r>
              <a:rPr lang="en-US" dirty="0"/>
              <a:t>O(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) total operations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80275C9-95B6-416F-AF51-8715D5B46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177" y="2221023"/>
            <a:ext cx="4492625" cy="28343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4998"/>
              </a:scheme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/* </a:t>
            </a:r>
            <a:r>
              <a:rPr lang="en-US" sz="1800" dirty="0" err="1">
                <a:latin typeface="Courier New" charset="0"/>
              </a:rPr>
              <a:t>ijk</a:t>
            </a:r>
            <a:r>
              <a:rPr lang="en-US" sz="1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&lt;n;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 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for (j=0; j&lt;n; </a:t>
            </a:r>
            <a:r>
              <a:rPr lang="en-US" sz="1800" dirty="0" err="1">
                <a:latin typeface="Courier New" charset="0"/>
              </a:rPr>
              <a:t>j++</a:t>
            </a:r>
            <a:r>
              <a:rPr lang="en-US" sz="1800" dirty="0">
                <a:latin typeface="Courier New" charset="0"/>
              </a:rPr>
              <a:t>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sum = 0.0;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for (k=0; k&lt;n; k++)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  sum += a[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][k] * b[k][j];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c[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][j] = sum;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}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7BC293F-B967-E24A-CE88-F63E2B49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71197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A8079-0084-181F-A6A8-DE00E450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Why Matrix Multiplication?</a:t>
            </a:r>
            <a:endParaRPr lang="en-IN" sz="54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D48E-6075-0BB0-D2B8-78CA6F7DB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52" y="2872899"/>
            <a:ext cx="4505717" cy="3320668"/>
          </a:xfrm>
        </p:spPr>
        <p:txBody>
          <a:bodyPr>
            <a:normAutofit/>
          </a:bodyPr>
          <a:lstStyle/>
          <a:p>
            <a:r>
              <a:rPr lang="en-US" sz="3200" dirty="0"/>
              <a:t>AI/ML</a:t>
            </a:r>
          </a:p>
          <a:p>
            <a:r>
              <a:rPr lang="en-US" sz="3200" dirty="0"/>
              <a:t>Image Processing</a:t>
            </a:r>
          </a:p>
          <a:p>
            <a:r>
              <a:rPr lang="en-US" sz="3200" dirty="0"/>
              <a:t>Scientific Computing</a:t>
            </a:r>
          </a:p>
          <a:p>
            <a:r>
              <a:rPr lang="en-US" sz="3200" dirty="0"/>
              <a:t>Graph traversals </a:t>
            </a:r>
          </a:p>
          <a:p>
            <a:r>
              <a:rPr lang="en-US" sz="3200" dirty="0"/>
              <a:t>Many more …</a:t>
            </a:r>
            <a:endParaRPr lang="en-IN" sz="3200" dirty="0"/>
          </a:p>
        </p:txBody>
      </p:sp>
      <p:pic>
        <p:nvPicPr>
          <p:cNvPr id="7" name="Picture 6" descr="CPU with binary numbers and blueprint">
            <a:extLst>
              <a:ext uri="{FF2B5EF4-FFF2-40B4-BE49-F238E27FC236}">
                <a16:creationId xmlns:a16="http://schemas.microsoft.com/office/drawing/2014/main" id="{FA1D0BA2-96B8-4C59-F247-FE60532E2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40" r="18840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C2EB8-0ABF-C3FF-12C6-C1A48F76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 dirty="0">
                <a:solidFill>
                  <a:srgbClr val="FFFFFF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D5A97-1FCF-3166-15B1-353155C5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959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8E36-5219-49A9-A4A6-DCBD5F59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Miss Rate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E966-7077-4D27-AA90-91B83E76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18</a:t>
            </a:fld>
            <a:endParaRPr lang="en-IN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6550E261-A873-4B7E-B07B-2E3B29F1195E}"/>
              </a:ext>
            </a:extLst>
          </p:cNvPr>
          <p:cNvSpPr txBox="1">
            <a:spLocks noChangeArrowheads="1"/>
          </p:cNvSpPr>
          <p:nvPr/>
        </p:nvSpPr>
        <p:spPr>
          <a:xfrm>
            <a:off x="685376" y="1340800"/>
            <a:ext cx="936324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Assume:</a:t>
            </a:r>
          </a:p>
          <a:p>
            <a:pPr lvl="1"/>
            <a:r>
              <a:rPr lang="en-US" dirty="0"/>
              <a:t>Block size = 32B (big enough for four </a:t>
            </a:r>
            <a:r>
              <a:rPr lang="en-US" dirty="0">
                <a:latin typeface="Calibri"/>
                <a:cs typeface="Calibri"/>
              </a:rPr>
              <a:t>doubles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Matrix dimension (N) is very large</a:t>
            </a:r>
          </a:p>
          <a:p>
            <a:pPr lvl="2"/>
            <a:r>
              <a:rPr lang="en-US" dirty="0"/>
              <a:t>Approximate 1/N as 0.0</a:t>
            </a:r>
          </a:p>
          <a:p>
            <a:pPr lvl="1"/>
            <a:r>
              <a:rPr lang="en-US" dirty="0"/>
              <a:t>Cache is not even big enough to hold multiple rows</a:t>
            </a:r>
          </a:p>
          <a:p>
            <a:r>
              <a:rPr lang="en-US" dirty="0"/>
              <a:t>Analysis Method:</a:t>
            </a:r>
          </a:p>
          <a:p>
            <a:pPr lvl="1"/>
            <a:r>
              <a:rPr lang="en-US" dirty="0"/>
              <a:t>Look at access pattern of inner loop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4E812-0805-4FD9-9AB8-EBABB6278F1F}"/>
              </a:ext>
            </a:extLst>
          </p:cNvPr>
          <p:cNvGrpSpPr/>
          <p:nvPr/>
        </p:nvGrpSpPr>
        <p:grpSpPr>
          <a:xfrm>
            <a:off x="3492970" y="4648200"/>
            <a:ext cx="1536069" cy="1752600"/>
            <a:chOff x="1752600" y="4648200"/>
            <a:chExt cx="1295400" cy="1752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1F2DB-B3FC-4987-A701-5B442E4EA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950" y="5111750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A6AC83-5E59-43EF-8985-34B6B1D7E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650" y="5941700"/>
              <a:ext cx="400750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9AF2D36E-36F2-457C-9A7A-DFD4E1311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300" y="4648200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FA97203F-FB62-42DC-B143-964C8090C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713" y="4662487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k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840FC466-3190-4B1E-BE39-427C7F4CB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5130800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A37BA3A5-A329-4CF0-9803-3EA5C8BD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337" y="5205414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i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197D44-D870-4F89-872D-AF151A2FCDD5}"/>
              </a:ext>
            </a:extLst>
          </p:cNvPr>
          <p:cNvGrpSpPr/>
          <p:nvPr/>
        </p:nvGrpSpPr>
        <p:grpSpPr>
          <a:xfrm>
            <a:off x="5956975" y="4648200"/>
            <a:ext cx="1488516" cy="1752600"/>
            <a:chOff x="3505200" y="4648200"/>
            <a:chExt cx="1255297" cy="1752600"/>
          </a:xfrm>
        </p:grpSpPr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A7C4BA53-2810-43D0-A326-A64226DBE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941700"/>
              <a:ext cx="388026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68555098-96B1-4D6D-9403-EE10AB4E6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118101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ACC533D7-8165-4A39-8EB6-1041631B5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113" y="5205414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k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C46C900D-5072-4A35-8EB8-35B3EAD07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648200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j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03AB771E-3C41-409D-8022-3CDA851F6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447" y="5111749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10FFC881-17DA-4BAA-829D-6A36BDC39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447" y="4648200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C377F7-B0BE-45FE-8852-B2E0AED73D8F}"/>
              </a:ext>
            </a:extLst>
          </p:cNvPr>
          <p:cNvGrpSpPr/>
          <p:nvPr/>
        </p:nvGrpSpPr>
        <p:grpSpPr>
          <a:xfrm>
            <a:off x="939099" y="4648200"/>
            <a:ext cx="1543599" cy="1698624"/>
            <a:chOff x="5334000" y="4648200"/>
            <a:chExt cx="1301750" cy="1698624"/>
          </a:xfrm>
        </p:grpSpPr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BA9D82AC-EB89-4D46-A2EB-4733E4E7C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5887724"/>
              <a:ext cx="405008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2C24E92A-8C06-47DC-B9D5-CD6ECA439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5118100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BC667E74-C69A-46AE-B388-D55F9E1C8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913" y="5205413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>
                  <a:latin typeface="Courier New"/>
                  <a:cs typeface="Courier New"/>
                </a:rPr>
                <a:t>i</a:t>
              </a:r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5B79656B-0EBE-4016-959B-8FB72DE62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113" y="4648200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j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B32DA16A-7F43-4D6E-BD92-9E5BCE78F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700" y="5053425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B9552713-59A0-455B-AB8C-2A48D2A30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7700" y="4662487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4E5EBCA-6056-48FB-B7AA-9CF8AF4213B2}"/>
              </a:ext>
            </a:extLst>
          </p:cNvPr>
          <p:cNvSpPr txBox="1"/>
          <p:nvPr/>
        </p:nvSpPr>
        <p:spPr>
          <a:xfrm>
            <a:off x="2590799" y="4931041"/>
            <a:ext cx="63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dirty="0">
                <a:latin typeface="Calibri" pitchFamily="34" charset="0"/>
              </a:rPr>
              <a:t>=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42FB6A-6F98-43A4-8929-042E2A84B28F}"/>
              </a:ext>
            </a:extLst>
          </p:cNvPr>
          <p:cNvSpPr txBox="1"/>
          <p:nvPr/>
        </p:nvSpPr>
        <p:spPr>
          <a:xfrm>
            <a:off x="5105399" y="4931041"/>
            <a:ext cx="63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dirty="0">
                <a:latin typeface="Calibri" pitchFamily="34" charset="0"/>
              </a:rPr>
              <a:t>x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0B84F47-9200-77FD-F929-9875470C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92271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EABD-4C84-46C4-AB9A-4636783B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Layout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971AA-7A4B-40E5-8010-F9936A48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19</a:t>
            </a:fld>
            <a:endParaRPr lang="en-I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60ACF30-B751-4EE2-B108-F34C805D0C26}"/>
              </a:ext>
            </a:extLst>
          </p:cNvPr>
          <p:cNvSpPr txBox="1">
            <a:spLocks noChangeArrowheads="1"/>
          </p:cNvSpPr>
          <p:nvPr/>
        </p:nvSpPr>
        <p:spPr>
          <a:xfrm>
            <a:off x="695155" y="1821720"/>
            <a:ext cx="11612571" cy="4972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/>
              <a:t>C arrays allocated in row-major order</a:t>
            </a:r>
          </a:p>
          <a:p>
            <a:pPr lvl="1"/>
            <a:r>
              <a:rPr lang="en-US" dirty="0"/>
              <a:t>each row in contiguous memory locations</a:t>
            </a:r>
          </a:p>
          <a:p>
            <a:pPr>
              <a:lnSpc>
                <a:spcPct val="85000"/>
              </a:lnSpc>
            </a:pPr>
            <a:r>
              <a:rPr lang="en-US" dirty="0"/>
              <a:t>Stepping through columns in one row:</a:t>
            </a:r>
          </a:p>
          <a:p>
            <a:pPr lvl="1"/>
            <a:r>
              <a:rPr lang="en-US" b="1" dirty="0">
                <a:latin typeface="Courier New" charset="0"/>
              </a:rPr>
              <a:t>for (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 = 0; 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 &lt; N; 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++)</a:t>
            </a:r>
          </a:p>
          <a:p>
            <a:pPr lvl="2">
              <a:lnSpc>
                <a:spcPct val="97000"/>
              </a:lnSpc>
              <a:buFont typeface="Wingdings" charset="2"/>
              <a:buNone/>
            </a:pPr>
            <a:r>
              <a:rPr lang="en-US" b="1" dirty="0">
                <a:latin typeface="Courier New" charset="0"/>
              </a:rPr>
              <a:t>sum += a[0][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];</a:t>
            </a:r>
          </a:p>
          <a:p>
            <a:pPr lvl="1"/>
            <a:r>
              <a:rPr lang="en-US" dirty="0"/>
              <a:t>accesses successive elements</a:t>
            </a:r>
          </a:p>
          <a:p>
            <a:pPr lvl="1"/>
            <a:r>
              <a:rPr lang="en-US" dirty="0"/>
              <a:t>if block size (B) &gt; </a:t>
            </a:r>
            <a:r>
              <a:rPr lang="en-US" dirty="0" err="1">
                <a:latin typeface="Calibri"/>
                <a:cs typeface="Calibri"/>
              </a:rPr>
              <a:t>sizeof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dirty="0" err="1">
                <a:latin typeface="Calibri"/>
                <a:cs typeface="Calibri"/>
              </a:rPr>
              <a:t>a</a:t>
            </a:r>
            <a:r>
              <a:rPr lang="en-US" baseline="-25000" dirty="0" err="1">
                <a:latin typeface="Calibri"/>
                <a:cs typeface="Calibri"/>
              </a:rPr>
              <a:t>ij</a:t>
            </a:r>
            <a:r>
              <a:rPr lang="en-US" dirty="0">
                <a:latin typeface="Calibri"/>
                <a:cs typeface="Calibri"/>
              </a:rPr>
              <a:t>) bytes</a:t>
            </a:r>
            <a:r>
              <a:rPr lang="en-US" dirty="0"/>
              <a:t>, exploit spatial locality</a:t>
            </a:r>
          </a:p>
          <a:p>
            <a:pPr lvl="2">
              <a:lnSpc>
                <a:spcPct val="97000"/>
              </a:lnSpc>
            </a:pPr>
            <a:r>
              <a:rPr lang="en-US" sz="3500" dirty="0">
                <a:solidFill>
                  <a:srgbClr val="C00000"/>
                </a:solidFill>
              </a:rPr>
              <a:t>miss rate = </a:t>
            </a:r>
            <a:r>
              <a:rPr lang="en-US" sz="3500" dirty="0" err="1">
                <a:solidFill>
                  <a:srgbClr val="C00000"/>
                </a:solidFill>
                <a:latin typeface="Calibri"/>
                <a:cs typeface="Calibri"/>
              </a:rPr>
              <a:t>sizeof</a:t>
            </a:r>
            <a:r>
              <a:rPr lang="en-US" sz="3500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lang="en-US" sz="3500" dirty="0" err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lang="en-US" sz="3500" baseline="-25000" dirty="0" err="1">
                <a:solidFill>
                  <a:srgbClr val="C00000"/>
                </a:solidFill>
                <a:latin typeface="Calibri"/>
                <a:cs typeface="Calibri"/>
              </a:rPr>
              <a:t>ij</a:t>
            </a:r>
            <a:r>
              <a:rPr lang="en-US" sz="3500" dirty="0">
                <a:solidFill>
                  <a:srgbClr val="C00000"/>
                </a:solidFill>
                <a:latin typeface="Calibri"/>
                <a:cs typeface="Calibri"/>
              </a:rPr>
              <a:t>) </a:t>
            </a:r>
            <a:r>
              <a:rPr lang="en-US" sz="3500" dirty="0">
                <a:solidFill>
                  <a:srgbClr val="C00000"/>
                </a:solidFill>
              </a:rPr>
              <a:t>/ B</a:t>
            </a:r>
          </a:p>
          <a:p>
            <a:pPr>
              <a:lnSpc>
                <a:spcPct val="85000"/>
              </a:lnSpc>
            </a:pPr>
            <a:r>
              <a:rPr lang="en-US" dirty="0"/>
              <a:t>Stepping through rows in one column:</a:t>
            </a:r>
          </a:p>
          <a:p>
            <a:pPr lvl="1"/>
            <a:r>
              <a:rPr lang="en-US" b="1" dirty="0">
                <a:latin typeface="Courier New" charset="0"/>
              </a:rPr>
              <a:t>for (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 = 0; 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 &lt; N; 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++)</a:t>
            </a:r>
          </a:p>
          <a:p>
            <a:pPr lvl="2">
              <a:lnSpc>
                <a:spcPct val="97000"/>
              </a:lnSpc>
              <a:buFont typeface="Wingdings" charset="2"/>
              <a:buNone/>
            </a:pPr>
            <a:r>
              <a:rPr lang="en-US" b="1" dirty="0">
                <a:latin typeface="Courier New" charset="0"/>
              </a:rPr>
              <a:t>sum += a[</a:t>
            </a:r>
            <a:r>
              <a:rPr lang="en-US" b="1" dirty="0" err="1">
                <a:latin typeface="Courier New" charset="0"/>
              </a:rPr>
              <a:t>i</a:t>
            </a:r>
            <a:r>
              <a:rPr lang="en-US" b="1" dirty="0">
                <a:latin typeface="Courier New" charset="0"/>
              </a:rPr>
              <a:t>][0];</a:t>
            </a:r>
          </a:p>
          <a:p>
            <a:pPr lvl="1"/>
            <a:r>
              <a:rPr lang="en-US" dirty="0"/>
              <a:t>accesses distant elements</a:t>
            </a:r>
          </a:p>
          <a:p>
            <a:pPr lvl="1"/>
            <a:r>
              <a:rPr lang="en-US" dirty="0"/>
              <a:t>no spatial locality!</a:t>
            </a:r>
          </a:p>
          <a:p>
            <a:pPr lvl="2">
              <a:lnSpc>
                <a:spcPct val="97000"/>
              </a:lnSpc>
            </a:pPr>
            <a:r>
              <a:rPr lang="en-US" sz="3500" dirty="0">
                <a:solidFill>
                  <a:srgbClr val="C00000"/>
                </a:solidFill>
              </a:rPr>
              <a:t>miss rate = 1 (i.e. 100%)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DE2BA0B-9938-D025-4416-743760F5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77942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F8AD-6B17-4549-81B1-8FA21936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loops (</a:t>
            </a:r>
            <a:r>
              <a:rPr lang="en-IN" dirty="0" err="1"/>
              <a:t>ijk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906AF-FE5C-44B4-83AC-407BBD8C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20</a:t>
            </a:fld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65CA2CE-5141-44BB-8626-71CAA6F3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99" y="1574704"/>
            <a:ext cx="6070371" cy="46517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4998"/>
              </a:schemeClr>
            </a:outerShdw>
          </a:effectLst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/* </a:t>
            </a:r>
            <a:r>
              <a:rPr lang="en-US" sz="2800" dirty="0" err="1">
                <a:latin typeface="Courier New" charset="0"/>
              </a:rPr>
              <a:t>ijk</a:t>
            </a:r>
            <a:r>
              <a:rPr lang="en-US" sz="2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for (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++) 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for (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sum = 0.0;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for (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++)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  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sum += 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a[i][k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] * 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b[k][j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</a:t>
            </a:r>
            <a:r>
              <a:rPr lang="en-US" sz="2800" dirty="0" err="1">
                <a:latin typeface="Courier New" charset="0"/>
              </a:rPr>
              <a:t>c[i][j</a:t>
            </a:r>
            <a:r>
              <a:rPr lang="en-US" sz="2800" dirty="0">
                <a:latin typeface="Courier New" charset="0"/>
              </a:rPr>
              <a:t>] = sum;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}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AC6F10-0B7E-4501-AB8E-F2F3E94D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4756" y="1834589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122E31E-39A3-4504-BE72-932EC9E17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3956" y="1834589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5D5193D-7B93-44B8-B4C7-E4248E2B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6956" y="1834589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1906FAC-4473-4FE6-B040-98C2EE183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6519" y="2415614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52FFBBB-037F-45BF-9E5A-77D2CA04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5719" y="2415614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76266007-B90B-4DB9-AC75-A65696337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8719" y="2415614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4CF6612-766C-458A-B9F1-63C43BD63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6206" y="1840939"/>
            <a:ext cx="0" cy="5080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FDD295A1-4347-4101-9145-BC5DFDB11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1106" y="2209239"/>
            <a:ext cx="584200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51B1B59-FD8B-40EB-A848-29792C61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719" y="2034614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A22E655-E0E3-4492-9C18-37133F32F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319" y="1501214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(*,j)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298DD51C-69FF-4527-B26C-86FD3E4AC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5706" y="2145739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EFEF5D5D-1963-4ABE-9CAC-7ED04836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6319" y="1806014"/>
            <a:ext cx="52250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(i,j)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6B43ACD1-2814-4098-92B1-A29F00A9F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7919" y="1044014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4499E8-2727-4C6B-93F7-AB7A5E843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6144" y="3503052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Column-</a:t>
            </a:r>
          </a:p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wise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703D6D7A-C7C3-4293-9909-464831CE2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53357" y="2839477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FB7DF6-E81A-4360-A0C1-011882A62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944" y="3503052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Row-wise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657E894C-CB21-42F0-B216-B204FE72F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34156" y="2839477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F206DAAD-CEC6-40C2-BDE0-34E91C91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272" y="3503052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52A1E148-246F-4D28-92DD-1DEA171DA2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09057" y="2839477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5" name="Rectangle 31">
            <a:extLst>
              <a:ext uri="{FF2B5EF4-FFF2-40B4-BE49-F238E27FC236}">
                <a16:creationId xmlns:a16="http://schemas.microsoft.com/office/drawing/2014/main" id="{A5643B87-3030-43BB-9F3A-F5991866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931" y="5455577"/>
            <a:ext cx="507365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 rate for </a:t>
            </a:r>
            <a:r>
              <a:rPr lang="en-US" b="0" u="sng" dirty="0">
                <a:latin typeface="Calibri"/>
                <a:cs typeface="Calibri"/>
              </a:rPr>
              <a:t>inner loop iterations</a:t>
            </a:r>
            <a:r>
              <a:rPr lang="en-US" sz="2400" b="0" u="sng" dirty="0">
                <a:latin typeface="Calibri"/>
                <a:cs typeface="Calibri"/>
              </a:rPr>
              <a:t>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0.25	1.0	0.0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21EE61-B283-48A2-B557-30B0CE229456}"/>
              </a:ext>
            </a:extLst>
          </p:cNvPr>
          <p:cNvSpPr/>
          <p:nvPr/>
        </p:nvSpPr>
        <p:spPr>
          <a:xfrm>
            <a:off x="6718634" y="4288532"/>
            <a:ext cx="55771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Block size = 32B (four doubles), your laptop will have 64B blocks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1362958-E3AE-13E7-B0F8-EB17EED5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218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74C0-95E8-4361-AB6A-6EF6FCFE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loops (</a:t>
            </a:r>
            <a:r>
              <a:rPr lang="en-IN" dirty="0" err="1"/>
              <a:t>kij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88EAC-5A86-4747-90F5-D7FCDBE2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21</a:t>
            </a:fld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72DCEE-8A72-42FB-88BE-36DC7363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51" y="1535691"/>
            <a:ext cx="6525360" cy="38761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/* </a:t>
            </a:r>
            <a:r>
              <a:rPr lang="en-US" sz="2800" dirty="0" err="1">
                <a:latin typeface="Courier New" charset="0"/>
              </a:rPr>
              <a:t>kij</a:t>
            </a:r>
            <a:r>
              <a:rPr lang="en-US" sz="2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for (k=0; k&lt;n; k++)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for (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&lt;n;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r = a[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][k];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for (j=0; j&lt;n; j++)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  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c[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i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][j] += r * b[k][j];</a:t>
            </a:r>
            <a:r>
              <a:rPr lang="en-US" sz="2800" dirty="0">
                <a:latin typeface="Courier New" charset="0"/>
              </a:rPr>
              <a:t>  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}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C35A523-E571-4D5A-BBE0-86E15670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6560" y="2177592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0BD1A5C-5601-42AA-B3A1-725CAEA60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5760" y="2177592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FC6D99C-77B8-44FF-929B-ECBF39514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160" y="2177592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751C258-682A-46B0-96BC-42B94D74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8323" y="2758617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D205569-7FD4-4EFC-9DFC-4B8A68A9B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7523" y="2758617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2D688BF1-14A2-409C-A8C5-8875DD0F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4810" y="2758617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79B6F4E8-DC3F-4D02-928F-B3767F6FA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3123" y="2377617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D2EACE2B-306A-42BF-B931-76BF0F915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20510" y="2552242"/>
            <a:ext cx="584200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23948E9A-BF6D-4BB9-9B1E-39E55A960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9110" y="2564942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4D83791C-E375-4899-852A-93669E6B8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879" y="2149017"/>
            <a:ext cx="577731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</a:t>
            </a:r>
            <a:r>
              <a:rPr lang="en-US" sz="2000" b="0" dirty="0" err="1">
                <a:latin typeface="Calibri"/>
                <a:cs typeface="Calibri"/>
              </a:rPr>
              <a:t>i,k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18E588BE-60E4-4410-96FE-A39AC39F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4723" y="2149017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(k,*)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D6B1F686-3606-42AD-8CC5-22E23707C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2110" y="2323642"/>
            <a:ext cx="584200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DBE5BA87-0C71-4724-908C-86D7F8777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9423" y="1615617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DF2684-CC3F-4942-8CEB-2C682CC01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0810" y="3663492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7EA41543-FFB6-4252-BE17-336208E0AD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68023" y="3152317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B6560FC6-7AE7-47B1-8BDE-C48BDA56D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810" y="3663492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ADD0A9E3-6C0E-4EEF-97D0-F5F90CF2B9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311023" y="3152317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28736565-F600-4673-BFA2-B71A982E6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9876" y="3671430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9196971C-5182-47E3-B2B3-D4CE52EC69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8661" y="3160255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950AB85-F7FD-273E-FC78-16C5760C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817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3405-D91C-47DE-903C-946D118F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loops (</a:t>
            </a:r>
            <a:r>
              <a:rPr lang="en-IN" dirty="0" err="1"/>
              <a:t>jki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43996-9FF1-4129-89EE-B6D2BCC3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22</a:t>
            </a:fld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C40DF7-7BB8-4717-8912-8E76DAC56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70" y="1490905"/>
            <a:ext cx="6674562" cy="387618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/* </a:t>
            </a:r>
            <a:r>
              <a:rPr lang="en-US" sz="2800" dirty="0" err="1">
                <a:latin typeface="Courier New" charset="0"/>
              </a:rPr>
              <a:t>jki</a:t>
            </a:r>
            <a:r>
              <a:rPr lang="en-US" sz="2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for (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j</a:t>
            </a:r>
            <a:r>
              <a:rPr lang="en-US" sz="2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for (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k</a:t>
            </a:r>
            <a:r>
              <a:rPr lang="en-US" sz="2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</a:t>
            </a:r>
            <a:r>
              <a:rPr lang="en-US" sz="2800" dirty="0" err="1">
                <a:latin typeface="Courier New" charset="0"/>
              </a:rPr>
              <a:t>r</a:t>
            </a:r>
            <a:r>
              <a:rPr lang="en-US" sz="2800" dirty="0">
                <a:latin typeface="Courier New" charset="0"/>
              </a:rPr>
              <a:t> = </a:t>
            </a:r>
            <a:r>
              <a:rPr lang="en-US" sz="2800" dirty="0" err="1">
                <a:latin typeface="Courier New" charset="0"/>
              </a:rPr>
              <a:t>b[k][j</a:t>
            </a:r>
            <a:r>
              <a:rPr lang="en-US" sz="2800" dirty="0">
                <a:latin typeface="Courier New" charset="0"/>
              </a:rPr>
              <a:t>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for (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=0;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&lt;</a:t>
            </a:r>
            <a:r>
              <a:rPr lang="en-US" sz="2800" dirty="0" err="1">
                <a:latin typeface="Courier New" charset="0"/>
              </a:rPr>
              <a:t>n</a:t>
            </a:r>
            <a:r>
              <a:rPr lang="en-US" sz="2800" dirty="0">
                <a:latin typeface="Courier New" charset="0"/>
              </a:rPr>
              <a:t>; </a:t>
            </a:r>
            <a:r>
              <a:rPr lang="en-US" sz="2800" dirty="0" err="1">
                <a:latin typeface="Courier New" charset="0"/>
              </a:rPr>
              <a:t>i</a:t>
            </a:r>
            <a:r>
              <a:rPr lang="en-US" sz="2800" dirty="0">
                <a:latin typeface="Courier New" charset="0"/>
              </a:rPr>
              <a:t>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    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c[i][j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] += 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a[i][k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] * </a:t>
            </a:r>
            <a:r>
              <a:rPr lang="en-US" sz="2800" dirty="0" err="1">
                <a:solidFill>
                  <a:srgbClr val="C00000"/>
                </a:solidFill>
                <a:latin typeface="Courier New" charset="0"/>
              </a:rPr>
              <a:t>r</a:t>
            </a:r>
            <a:r>
              <a:rPr lang="en-US" sz="2800" dirty="0">
                <a:solidFill>
                  <a:srgbClr val="C00000"/>
                </a:solidFill>
                <a:latin typeface="Courier New" charset="0"/>
              </a:rPr>
              <a:t>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2800" dirty="0">
                <a:latin typeface="Courier New" charset="0"/>
              </a:rPr>
              <a:t>}	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F8B1C5-5625-4566-B602-EF889ED13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13" y="239996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6FC0805-C01B-4A4D-B735-62353DDA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013" y="239996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9A879E7-0DBF-45C6-A9D2-4344E5ACB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1413" y="239996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EF7E6D4-EF71-4641-A8CE-6014C0332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5576" y="2927015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DE020B7F-6F47-461D-A993-074EC7156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4776" y="2927015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7F6383B-17F8-44EA-B063-401CE3630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2063" y="2927015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1D60F619-51A8-42FC-B977-5A0D80369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9976" y="2025315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(*,</a:t>
            </a:r>
            <a:r>
              <a:rPr lang="en-US" sz="2000" b="0" dirty="0" err="1">
                <a:latin typeface="Calibri"/>
                <a:cs typeface="Calibri"/>
              </a:rPr>
              <a:t>j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BCB3D1D-B62D-44BC-8B4B-4C984AAB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6363" y="2800015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2CC43D7A-B092-4FDA-8EBE-5DB79B8CA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8876" y="2384090"/>
            <a:ext cx="580236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(k,j)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3AB0CBB-A8C9-4626-A030-88951B01F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76" y="1568115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392868D9-2458-4EE3-806F-3F6A66F6F6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57363" y="2393615"/>
            <a:ext cx="0" cy="5334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8904177D-87B9-477B-A09A-C70B3238CC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40163" y="2406315"/>
            <a:ext cx="0" cy="5334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745374B2-6C69-428F-811B-31950E441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6376" y="2025315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(*,</a:t>
            </a:r>
            <a:r>
              <a:rPr lang="en-US" sz="2000" b="0" dirty="0" err="1">
                <a:latin typeface="Calibri"/>
                <a:cs typeface="Calibri"/>
              </a:rPr>
              <a:t>k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532DEE-133D-4D21-B685-9A44FE946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316" y="3834594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BAA3D200-04F3-4590-91AF-4C6C6FEC09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92263" y="3303898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A6C8512F-D1CC-42A5-AB93-9169BA3DA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1063" y="3834594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AC1F9E0C-C4EA-4848-A79A-C5F5680EC0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78276" y="3303898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4DC41EF8-05E6-44E3-8107-C65B43F7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463" y="3834594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56979898-782F-4E86-B9DC-4EF68B77F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69248" y="3311836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B6E404E-9CA2-7964-4F69-4A835390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64389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AEB4-45B4-45FD-9449-5DB34B2D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864" y="83433"/>
            <a:ext cx="10515600" cy="1325563"/>
          </a:xfrm>
        </p:spPr>
        <p:txBody>
          <a:bodyPr/>
          <a:lstStyle/>
          <a:p>
            <a:r>
              <a:rPr lang="en-IN" dirty="0"/>
              <a:t>Let’s Dig Deep: Where are the Cache misses? Cache grind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A8805-02AD-4992-83E2-95A27F3A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0790EC-E951-403C-ABD8-6AB7773C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2" y="1384045"/>
            <a:ext cx="10853744" cy="5024762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205FF8-A55E-964F-A133-31B2D357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56179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73BF-FBE9-42D4-B28D-B7D262D2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5123"/>
            <a:ext cx="11353800" cy="1325563"/>
          </a:xfrm>
        </p:spPr>
        <p:txBody>
          <a:bodyPr/>
          <a:lstStyle/>
          <a:p>
            <a:r>
              <a:rPr lang="en-IN" dirty="0"/>
              <a:t>Matrix Multiplication with Tiling/Blocking: 101 </a:t>
            </a:r>
            <a:r>
              <a:rPr lang="en-IN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A3152-8E2A-40B6-8AA1-43AB4001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D419D-B7CB-4D81-82B0-D6247169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1615589"/>
            <a:ext cx="10824321" cy="4815861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D44BA23-9E94-CAB5-FC46-60362719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14632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EAAE6-13B6-FD0D-006F-F3ACD176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Here it is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(Naïve MM) </a:t>
            </a:r>
            <a:endParaRPr lang="en-IN" sz="800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9A929-1032-BD21-9D98-1D7452FA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5292" y="1008369"/>
            <a:ext cx="3945835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>
                <a:solidFill>
                  <a:schemeClr val="bg1">
                    <a:lumMod val="50000"/>
                  </a:schemeClr>
                </a:solidFill>
              </a:rPr>
              <a:t>Advanced Computer Architecture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A401B-124B-5B40-5D6C-0F59AB44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533" y="6356350"/>
            <a:ext cx="2050774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chemeClr val="bg1">
                    <a:lumMod val="5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IN" sz="180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B32CFC-4F24-32C2-F7F8-70BFE3242A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286678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29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FB1E1-B903-A9A8-1046-63A5FE87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Tiled/Blocked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AE8903-660B-54EC-4C6B-E7B56A6E5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297" y="1675227"/>
            <a:ext cx="8137406" cy="439419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EAA39-A44E-47D0-6519-A19B3666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8AD4C-4E69-BF43-0F5F-970E8D73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186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5355E-1500-E54C-EAE1-37553D15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588FD-2682-6552-D100-2420BEAF7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36677"/>
            <a:ext cx="10905066" cy="387129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D74EF-CD9F-2398-B83A-A7E99056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BB7FB-31C0-0517-DA81-F5C7D6E9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537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F0F04-F99B-EDBE-C51C-2AE79817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Blocked or Tiled MM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8CBC6C-3CE8-E186-496C-408C2A0E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5292" y="1008369"/>
            <a:ext cx="39458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32B03-2280-DF2A-3DB3-BD2D1939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533" y="6356350"/>
            <a:ext cx="20507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8651ABE-1138-46C6-9A43-7FCD4EB2550C}" type="slidenum">
              <a:rPr lang="en-US" sz="1200">
                <a:solidFill>
                  <a:schemeClr val="bg1">
                    <a:lumMod val="50000"/>
                  </a:schemeClr>
                </a:solidFill>
              </a:rPr>
              <a:pPr algn="l">
                <a:spcAft>
                  <a:spcPts val="600"/>
                </a:spcAft>
              </a:pPr>
              <a:t>28</a:t>
            </a:fld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5F6B9FA-5B13-CB66-F335-A17278EA4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3330575"/>
            <a:ext cx="11188918" cy="71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marL="203200" indent="-2032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15000"/>
              </a:spcBef>
              <a:buSzPct val="100000"/>
            </a:pPr>
            <a:endParaRPr lang="en-US" altLang="en-US" b="0" dirty="0">
              <a:solidFill>
                <a:schemeClr val="accent2"/>
              </a:solidFill>
              <a:latin typeface="Helvetica" panose="020B0604020202020204" pitchFamily="34" charset="0"/>
            </a:endParaRPr>
          </a:p>
          <a:p>
            <a:pPr>
              <a:spcBef>
                <a:spcPct val="15000"/>
              </a:spcBef>
              <a:buSzPct val="100000"/>
            </a:pPr>
            <a:r>
              <a:rPr lang="en-US" altLang="en-US" b="0" dirty="0">
                <a:solidFill>
                  <a:schemeClr val="tx1"/>
                </a:solidFill>
                <a:latin typeface="Helvetica" panose="020B0604020202020204" pitchFamily="34" charset="0"/>
              </a:rPr>
              <a:t> </a:t>
            </a:r>
          </a:p>
        </p:txBody>
      </p:sp>
      <p:graphicFrame>
        <p:nvGraphicFramePr>
          <p:cNvPr id="9" name="Rectangle 3">
            <a:extLst>
              <a:ext uri="{FF2B5EF4-FFF2-40B4-BE49-F238E27FC236}">
                <a16:creationId xmlns:a16="http://schemas.microsoft.com/office/drawing/2014/main" id="{055EF90F-0F72-26DD-78D0-26182C6A6E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234831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373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BC7E-8F84-5DFA-9902-DE41F6C7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X factor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A052-E4A7-8894-690A-0BE53920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Matrix multiplication has inherent temporal locality:  </a:t>
            </a:r>
          </a:p>
          <a:p>
            <a:pPr marL="0" indent="0">
              <a:buNone/>
            </a:pPr>
            <a:r>
              <a:rPr lang="en-US" dirty="0"/>
              <a:t>Input data: 3n</a:t>
            </a:r>
            <a:r>
              <a:rPr lang="en-US" baseline="30000" dirty="0"/>
              <a:t>2 </a:t>
            </a:r>
          </a:p>
          <a:p>
            <a:pPr marL="0" indent="0">
              <a:buNone/>
            </a:pPr>
            <a:endParaRPr lang="en-US" baseline="30000" dirty="0"/>
          </a:p>
          <a:p>
            <a:pPr marL="0" indent="0">
              <a:buNone/>
            </a:pPr>
            <a:r>
              <a:rPr lang="en-US" dirty="0"/>
              <a:t>computation 2n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array element is used O(n) times!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04BF8-553D-94DB-8219-BC34E839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666A7-832C-2C90-BAC5-BB483FA1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869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FA13-FEC0-98B0-0933-0ED64424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DA62-B4BF-11E7-1ED4-B321D9F67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A: Non-tiled: 9/8 (n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B: Tiled: n</a:t>
            </a:r>
            <a:r>
              <a:rPr lang="en-US" baseline="30000" dirty="0"/>
              <a:t>3</a:t>
            </a:r>
            <a:r>
              <a:rPr lang="en-US" dirty="0"/>
              <a:t>/4B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Speedup =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92B07-B39D-6CD4-4FEB-B81F31AA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A56BC-3232-F030-D92A-2094E0A9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667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erial view of forest road">
            <a:extLst>
              <a:ext uri="{FF2B5EF4-FFF2-40B4-BE49-F238E27FC236}">
                <a16:creationId xmlns:a16="http://schemas.microsoft.com/office/drawing/2014/main" id="{167A7E38-7C66-E558-5F3A-851E06ACB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1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F617B-4399-8D69-69E4-F0AC481E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Speedup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269DF-E618-7D1B-F189-8116BDE1D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435396" cy="120814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If B = 16, 72X speedup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  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Why 16?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3DDF6-98B0-29BF-677C-F3F5C9E5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75CF4-0012-F3C7-EE79-629B2B26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31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788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44259</TotalTime>
  <Words>1499</Words>
  <Application>Microsoft Office PowerPoint</Application>
  <PresentationFormat>Widescreen</PresentationFormat>
  <Paragraphs>443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Calibri Light</vt:lpstr>
      <vt:lpstr>Cambria</vt:lpstr>
      <vt:lpstr>Century Gothic</vt:lpstr>
      <vt:lpstr>Courier New</vt:lpstr>
      <vt:lpstr>Helvetica</vt:lpstr>
      <vt:lpstr>Marker Felt</vt:lpstr>
      <vt:lpstr>Times New Roman</vt:lpstr>
      <vt:lpstr>Wingdings</vt:lpstr>
      <vt:lpstr>Office Theme</vt:lpstr>
      <vt:lpstr>CS683: Advanced Computer Architecture-2025</vt:lpstr>
      <vt:lpstr>How to Access Contents of a Cache?</vt:lpstr>
      <vt:lpstr>From Bytes to Blocks (Lines)</vt:lpstr>
      <vt:lpstr>A Bit Deeper: Cache with 1024 lines each of 32B</vt:lpstr>
      <vt:lpstr>A Bit Deeper: Cache with 1024 lines each of 32B</vt:lpstr>
      <vt:lpstr>Directed Mapped Cache</vt:lpstr>
      <vt:lpstr>Direct Mapped in Action</vt:lpstr>
      <vt:lpstr>What if We Provide Multiple Ways?</vt:lpstr>
      <vt:lpstr>2-Way Associative Cache in Action</vt:lpstr>
      <vt:lpstr>4-way : Just a Better Picture</vt:lpstr>
      <vt:lpstr>A Bit Different Way </vt:lpstr>
      <vt:lpstr>The Extreme: One Cache is One Set (Fully-assoc.)</vt:lpstr>
      <vt:lpstr>Wake-up test again: #ints inside a block?</vt:lpstr>
      <vt:lpstr>Wake-up test again:</vt:lpstr>
      <vt:lpstr>The 3Cs</vt:lpstr>
      <vt:lpstr>Matrix Multiplication</vt:lpstr>
      <vt:lpstr>Why Matrix Multiplication?</vt:lpstr>
      <vt:lpstr>Miss Rate Analysis</vt:lpstr>
      <vt:lpstr>Cache Layout </vt:lpstr>
      <vt:lpstr>Effect of loops (ijk)</vt:lpstr>
      <vt:lpstr>Effect of loops (kij)</vt:lpstr>
      <vt:lpstr>Effect of loops (jki)</vt:lpstr>
      <vt:lpstr>Let’s Dig Deep: Where are the Cache misses? Cache grind </vt:lpstr>
      <vt:lpstr>Matrix Multiplication with Tiling/Blocking: 101 </vt:lpstr>
      <vt:lpstr>Here it is (Naïve MM) </vt:lpstr>
      <vt:lpstr>Tiled/Blocked</vt:lpstr>
      <vt:lpstr>The Code</vt:lpstr>
      <vt:lpstr>Blocked or Tiled MM</vt:lpstr>
      <vt:lpstr>The X factor</vt:lpstr>
      <vt:lpstr>Speedup</vt:lpstr>
      <vt:lpstr>Speedup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956</cp:revision>
  <dcterms:created xsi:type="dcterms:W3CDTF">2021-05-31T06:57:48Z</dcterms:created>
  <dcterms:modified xsi:type="dcterms:W3CDTF">2025-08-04T15:27:46Z</dcterms:modified>
</cp:coreProperties>
</file>