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546" r:id="rId3"/>
    <p:sldId id="547" r:id="rId4"/>
    <p:sldId id="290" r:id="rId5"/>
    <p:sldId id="1230" r:id="rId6"/>
    <p:sldId id="1231" r:id="rId7"/>
    <p:sldId id="1234" r:id="rId8"/>
    <p:sldId id="1237" r:id="rId9"/>
    <p:sldId id="1238" r:id="rId10"/>
    <p:sldId id="1239" r:id="rId11"/>
    <p:sldId id="7258" r:id="rId12"/>
    <p:sldId id="1224" r:id="rId13"/>
    <p:sldId id="1229" r:id="rId14"/>
    <p:sldId id="1225" r:id="rId15"/>
    <p:sldId id="1232" r:id="rId16"/>
    <p:sldId id="1226" r:id="rId17"/>
    <p:sldId id="496" r:id="rId18"/>
    <p:sldId id="1228" r:id="rId19"/>
    <p:sldId id="7259" r:id="rId20"/>
    <p:sldId id="7956" r:id="rId21"/>
    <p:sldId id="497" r:id="rId22"/>
    <p:sldId id="7957" r:id="rId23"/>
    <p:sldId id="7958" r:id="rId24"/>
    <p:sldId id="79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9334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seweb.ucsd.edu/~calder/papers/MICRO-99-FDP.pdf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06656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16: Bye </a:t>
            </a:r>
            <a:r>
              <a:rPr lang="en-US" sz="3600" dirty="0" err="1">
                <a:solidFill>
                  <a:srgbClr val="C00000"/>
                </a:solidFill>
              </a:rPr>
              <a:t>Bye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Monsoon;Time</a:t>
            </a:r>
            <a:r>
              <a:rPr lang="en-US" sz="3600" dirty="0">
                <a:solidFill>
                  <a:srgbClr val="C00000"/>
                </a:solidFill>
              </a:rPr>
              <a:t> for front-end mysteries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https://www.cse.iitb.ac.in/~biswa/courses/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4445-A5A8-4B64-9511-CA69421E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Level Parallelism (ILP)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2754D-17CC-46EA-A705-BF5DAC26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FF526A-BF0E-45DE-AA2C-A1380E260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43792"/>
            <a:ext cx="10515600" cy="4633171"/>
          </a:xfrm>
        </p:spPr>
        <p:txBody>
          <a:bodyPr/>
          <a:lstStyle/>
          <a:p>
            <a:r>
              <a:rPr lang="en-US" dirty="0"/>
              <a:t>Scalar pipeline (baseline)</a:t>
            </a:r>
          </a:p>
          <a:p>
            <a:pPr lvl="1"/>
            <a:r>
              <a:rPr lang="en-US" dirty="0"/>
              <a:t>Instruction overlap parallelism = D</a:t>
            </a:r>
          </a:p>
          <a:p>
            <a:pPr lvl="1"/>
            <a:r>
              <a:rPr lang="en-US" dirty="0"/>
              <a:t>Peak IPC = 1.0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EEF4A2D-19DE-45B5-8805-18B0E3457C8C}"/>
              </a:ext>
            </a:extLst>
          </p:cNvPr>
          <p:cNvSpPr/>
          <p:nvPr/>
        </p:nvSpPr>
        <p:spPr bwMode="auto">
          <a:xfrm rot="5400000">
            <a:off x="8801100" y="1805870"/>
            <a:ext cx="304800" cy="2209800"/>
          </a:xfrm>
          <a:prstGeom prst="leftBrace">
            <a:avLst>
              <a:gd name="adj1" fmla="val 6041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B1418A2-63A6-40BE-9785-E1405A19C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1" y="2150358"/>
            <a:ext cx="453971" cy="52322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D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A380F96-7DAF-4823-81CB-4FAFADBE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251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5840D735-213A-4A75-9AFD-3B721C46B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251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9D1DBB93-135F-479B-BE87-2092DA9D8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8251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29E75D61-3C37-468F-9452-DF28D15D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8251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677F557-73A7-40EF-93AD-79FE0471D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251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7B9202C-9CDC-4326-97DA-534A830EE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8251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CDE6F33B-26E1-4355-A5DC-987FD75F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0537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F361A386-D373-4F87-B09E-A5C17DA3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0537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5F45D714-35A6-4AAE-AF2E-85F908D6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0537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3E3844EA-9B37-4221-9E5F-DED17E3E5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537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351A282-6BB7-4E2C-882F-CD53CEAFE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537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D28A9467-E0D8-4171-95F9-26410A593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537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2910231B-8F79-44CB-AF65-86188022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2823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F15A4932-E36C-4245-B5BC-9FD7E090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2823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05E44E02-6B03-45EA-8439-5BFCC2612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2823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B6B51A15-4DAD-4A67-8618-C88C9DD33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2823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135966C6-8A3E-4001-A98D-B052B7228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2823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F3556D45-EB0E-48F9-A892-C86B84A4A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2823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D773EC46-6DCC-4533-98A4-83DB5D29C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109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8" name="Rectangle 26">
            <a:extLst>
              <a:ext uri="{FF2B5EF4-FFF2-40B4-BE49-F238E27FC236}">
                <a16:creationId xmlns:a16="http://schemas.microsoft.com/office/drawing/2014/main" id="{75D9E1C6-DA8B-43A5-835C-7F1252202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109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40D6A26E-B0CB-4590-86B4-B5CDACCBF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109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5B653B94-377C-4097-8EE5-C8CAACDC2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109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8FF6BD98-284A-4737-9153-D344D14F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109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47630F5D-DC02-4E1A-9354-D517CD64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5109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229E1F5C-6758-46AF-BCEF-C05530FFD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7395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0792B1BE-CD49-453A-991D-A7B79866E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7395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921A0495-4DAF-4E18-8848-3E2D483C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395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BC2C5C96-4C01-4445-A7A8-BD0191501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7395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A4653A21-2AE9-4BF1-86D9-68DE93469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7395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8D329E17-0747-4EF2-AA99-2B42037CC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7395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54F1D9C7-3985-4871-AC05-ED537B744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9681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A66FCDE9-C7B7-418A-89A1-2EF214B0B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681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82010244-4170-42F0-8F5D-164F5BD2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9681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ECD0CF49-FCCF-4871-BD23-BDA989217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9681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6E74314E-4B0D-40B2-BD8A-83B719B01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9681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ECC6CD89-8A6E-4F2B-93C6-7894E0A9F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9681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grpSp>
        <p:nvGrpSpPr>
          <p:cNvPr id="45" name="Group 49">
            <a:extLst>
              <a:ext uri="{FF2B5EF4-FFF2-40B4-BE49-F238E27FC236}">
                <a16:creationId xmlns:a16="http://schemas.microsoft.com/office/drawing/2014/main" id="{51095B22-3852-483D-AB17-85ED3DF53B7D}"/>
              </a:ext>
            </a:extLst>
          </p:cNvPr>
          <p:cNvGrpSpPr/>
          <p:nvPr/>
        </p:nvGrpSpPr>
        <p:grpSpPr>
          <a:xfrm>
            <a:off x="7848600" y="3139370"/>
            <a:ext cx="2209800" cy="152400"/>
            <a:chOff x="3168" y="1584"/>
            <a:chExt cx="2304" cy="14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CBA262BA-386A-4370-8D28-F251BD751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584"/>
              <a:ext cx="384" cy="144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FF0FDEBE-F9E4-471D-91EB-ACA42B886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584"/>
              <a:ext cx="384" cy="144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0E13166B-7BCC-4F3D-B5B0-E3F8CDD6D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584"/>
              <a:ext cx="384" cy="144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5A98F83B-6EE8-4D0C-9F97-A3262F799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584"/>
              <a:ext cx="384" cy="144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25469070-7C8C-4C11-B3C3-E18E4A974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584"/>
              <a:ext cx="384" cy="144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44671E4B-64DB-4E9E-BCA3-AEF4CEBC8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584"/>
              <a:ext cx="384" cy="144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</p:grpSp>
      <p:sp>
        <p:nvSpPr>
          <p:cNvPr id="52" name="Line 50">
            <a:extLst>
              <a:ext uri="{FF2B5EF4-FFF2-40B4-BE49-F238E27FC236}">
                <a16:creationId xmlns:a16="http://schemas.microsoft.com/office/drawing/2014/main" id="{A0A959AA-2E3C-4687-B867-9E46E8BC8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67277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B48A65FE-2A0D-4473-885A-080D7B5D27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5577770"/>
            <a:ext cx="731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85102C45-AC34-4950-8CCF-666E2132D1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2517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5" name="Text Box 53">
            <a:extLst>
              <a:ext uri="{FF2B5EF4-FFF2-40B4-BE49-F238E27FC236}">
                <a16:creationId xmlns:a16="http://schemas.microsoft.com/office/drawing/2014/main" id="{8CC3550A-1187-4914-97F9-1EF36A04F7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901767" y="3895305"/>
            <a:ext cx="800219" cy="13202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Successive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Instructions</a:t>
            </a:r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45C9952D-7AAF-4C73-88C3-272221E5E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938579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7" name="Rectangle 55">
            <a:extLst>
              <a:ext uri="{FF2B5EF4-FFF2-40B4-BE49-F238E27FC236}">
                <a16:creationId xmlns:a16="http://schemas.microsoft.com/office/drawing/2014/main" id="{85242E54-465C-49F9-A63F-715A1757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1967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8" name="Rectangle 56">
            <a:extLst>
              <a:ext uri="{FF2B5EF4-FFF2-40B4-BE49-F238E27FC236}">
                <a16:creationId xmlns:a16="http://schemas.microsoft.com/office/drawing/2014/main" id="{3D6C0A4C-C07E-41A2-A65A-73F0916B2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1967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C9D56AD3-EDB4-40DD-899E-11A3E684B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1967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0" name="Rectangle 58">
            <a:extLst>
              <a:ext uri="{FF2B5EF4-FFF2-40B4-BE49-F238E27FC236}">
                <a16:creationId xmlns:a16="http://schemas.microsoft.com/office/drawing/2014/main" id="{7D2D7839-9689-4B7E-964E-2B41A5ABA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1967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1" name="Rectangle 59">
            <a:extLst>
              <a:ext uri="{FF2B5EF4-FFF2-40B4-BE49-F238E27FC236}">
                <a16:creationId xmlns:a16="http://schemas.microsoft.com/office/drawing/2014/main" id="{8D0531B2-30D7-47D4-BBD0-45EEF5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1967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DE105E30-8F52-424F-ACA0-91282E3DB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1967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6B33E317-703C-413B-ACA9-7D06E73CA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909210"/>
            <a:ext cx="165782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Time in cycles</a:t>
            </a:r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885A6A84-0ECA-4BA5-BE06-DAD1AA468F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5" name="Line 63">
            <a:extLst>
              <a:ext uri="{FF2B5EF4-FFF2-40B4-BE49-F238E27FC236}">
                <a16:creationId xmlns:a16="http://schemas.microsoft.com/office/drawing/2014/main" id="{5B96EB2E-E17B-48A3-AB29-CF60D7075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6" name="Line 64">
            <a:extLst>
              <a:ext uri="{FF2B5EF4-FFF2-40B4-BE49-F238E27FC236}">
                <a16:creationId xmlns:a16="http://schemas.microsoft.com/office/drawing/2014/main" id="{7CF77FE2-5367-4ED6-B550-D41F1131F4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7" name="Line 65">
            <a:extLst>
              <a:ext uri="{FF2B5EF4-FFF2-40B4-BE49-F238E27FC236}">
                <a16:creationId xmlns:a16="http://schemas.microsoft.com/office/drawing/2014/main" id="{1296D174-D74E-4D99-8124-B5FD5EB5A2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8" name="Line 66">
            <a:extLst>
              <a:ext uri="{FF2B5EF4-FFF2-40B4-BE49-F238E27FC236}">
                <a16:creationId xmlns:a16="http://schemas.microsoft.com/office/drawing/2014/main" id="{E052F070-87C5-4FAD-84A3-9CE0349900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9" name="Line 67">
            <a:extLst>
              <a:ext uri="{FF2B5EF4-FFF2-40B4-BE49-F238E27FC236}">
                <a16:creationId xmlns:a16="http://schemas.microsoft.com/office/drawing/2014/main" id="{64E93663-731F-4DAA-97E8-A1FC4CCC2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0" name="Line 68">
            <a:extLst>
              <a:ext uri="{FF2B5EF4-FFF2-40B4-BE49-F238E27FC236}">
                <a16:creationId xmlns:a16="http://schemas.microsoft.com/office/drawing/2014/main" id="{6D432F54-D042-44CF-B19D-7FCB58E56C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1" name="Line 69">
            <a:extLst>
              <a:ext uri="{FF2B5EF4-FFF2-40B4-BE49-F238E27FC236}">
                <a16:creationId xmlns:a16="http://schemas.microsoft.com/office/drawing/2014/main" id="{EEFE4B6A-95F1-4822-8747-FA97A8F51F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2" name="Line 70">
            <a:extLst>
              <a:ext uri="{FF2B5EF4-FFF2-40B4-BE49-F238E27FC236}">
                <a16:creationId xmlns:a16="http://schemas.microsoft.com/office/drawing/2014/main" id="{72B21B7F-12C2-4BAD-81C7-FCB8130781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3" name="Line 71">
            <a:extLst>
              <a:ext uri="{FF2B5EF4-FFF2-40B4-BE49-F238E27FC236}">
                <a16:creationId xmlns:a16="http://schemas.microsoft.com/office/drawing/2014/main" id="{73E46B4F-BA6C-4555-99FF-E4A8EF5197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1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4" name="Line 72">
            <a:extLst>
              <a:ext uri="{FF2B5EF4-FFF2-40B4-BE49-F238E27FC236}">
                <a16:creationId xmlns:a16="http://schemas.microsoft.com/office/drawing/2014/main" id="{3A1949CF-75CC-4DED-A586-74D40CC3AA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01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5" name="Text Box 73">
            <a:extLst>
              <a:ext uri="{FF2B5EF4-FFF2-40B4-BE49-F238E27FC236}">
                <a16:creationId xmlns:a16="http://schemas.microsoft.com/office/drawing/2014/main" id="{EBE83FA5-CE5C-41FB-BABF-107C84539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</a:t>
            </a:r>
          </a:p>
        </p:txBody>
      </p:sp>
      <p:sp>
        <p:nvSpPr>
          <p:cNvPr id="76" name="Text Box 74">
            <a:extLst>
              <a:ext uri="{FF2B5EF4-FFF2-40B4-BE49-F238E27FC236}">
                <a16:creationId xmlns:a16="http://schemas.microsoft.com/office/drawing/2014/main" id="{5AD721AF-1961-4445-A595-168C9B090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2</a:t>
            </a:r>
          </a:p>
        </p:txBody>
      </p:sp>
      <p:sp>
        <p:nvSpPr>
          <p:cNvPr id="77" name="Text Box 75">
            <a:extLst>
              <a:ext uri="{FF2B5EF4-FFF2-40B4-BE49-F238E27FC236}">
                <a16:creationId xmlns:a16="http://schemas.microsoft.com/office/drawing/2014/main" id="{47AE3E65-1FE4-4651-B69F-C4113ED1D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3</a:t>
            </a:r>
          </a:p>
        </p:txBody>
      </p:sp>
      <p:sp>
        <p:nvSpPr>
          <p:cNvPr id="78" name="Text Box 76">
            <a:extLst>
              <a:ext uri="{FF2B5EF4-FFF2-40B4-BE49-F238E27FC236}">
                <a16:creationId xmlns:a16="http://schemas.microsoft.com/office/drawing/2014/main" id="{B7EC029D-3CFF-4E87-982A-5E1CA1E5B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4</a:t>
            </a:r>
          </a:p>
        </p:txBody>
      </p:sp>
      <p:sp>
        <p:nvSpPr>
          <p:cNvPr id="79" name="Text Box 77">
            <a:extLst>
              <a:ext uri="{FF2B5EF4-FFF2-40B4-BE49-F238E27FC236}">
                <a16:creationId xmlns:a16="http://schemas.microsoft.com/office/drawing/2014/main" id="{5336D074-E38D-421B-A6B7-B9DE8428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5</a:t>
            </a:r>
          </a:p>
        </p:txBody>
      </p:sp>
      <p:sp>
        <p:nvSpPr>
          <p:cNvPr id="80" name="Text Box 78">
            <a:extLst>
              <a:ext uri="{FF2B5EF4-FFF2-40B4-BE49-F238E27FC236}">
                <a16:creationId xmlns:a16="http://schemas.microsoft.com/office/drawing/2014/main" id="{BA42F401-6753-43B2-88F5-5DFC49E58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6</a:t>
            </a:r>
          </a:p>
        </p:txBody>
      </p:sp>
      <p:sp>
        <p:nvSpPr>
          <p:cNvPr id="81" name="Text Box 79">
            <a:extLst>
              <a:ext uri="{FF2B5EF4-FFF2-40B4-BE49-F238E27FC236}">
                <a16:creationId xmlns:a16="http://schemas.microsoft.com/office/drawing/2014/main" id="{A6097660-9357-45C1-AA36-D9747359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7</a:t>
            </a:r>
          </a:p>
        </p:txBody>
      </p:sp>
      <p:sp>
        <p:nvSpPr>
          <p:cNvPr id="82" name="Text Box 80">
            <a:extLst>
              <a:ext uri="{FF2B5EF4-FFF2-40B4-BE49-F238E27FC236}">
                <a16:creationId xmlns:a16="http://schemas.microsoft.com/office/drawing/2014/main" id="{B68C9F18-51E9-4BD5-A410-67D9A3C9F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8</a:t>
            </a:r>
          </a:p>
        </p:txBody>
      </p:sp>
      <p:sp>
        <p:nvSpPr>
          <p:cNvPr id="83" name="Text Box 81">
            <a:extLst>
              <a:ext uri="{FF2B5EF4-FFF2-40B4-BE49-F238E27FC236}">
                <a16:creationId xmlns:a16="http://schemas.microsoft.com/office/drawing/2014/main" id="{54D40579-9A92-4BCD-86B9-2A79C538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9</a:t>
            </a:r>
          </a:p>
        </p:txBody>
      </p:sp>
      <p:sp>
        <p:nvSpPr>
          <p:cNvPr id="84" name="Text Box 82">
            <a:extLst>
              <a:ext uri="{FF2B5EF4-FFF2-40B4-BE49-F238E27FC236}">
                <a16:creationId xmlns:a16="http://schemas.microsoft.com/office/drawing/2014/main" id="{9AC2B387-0CF5-4DC0-B3ED-2DB57405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10</a:t>
            </a:r>
          </a:p>
        </p:txBody>
      </p:sp>
      <p:sp>
        <p:nvSpPr>
          <p:cNvPr id="85" name="Text Box 83">
            <a:extLst>
              <a:ext uri="{FF2B5EF4-FFF2-40B4-BE49-F238E27FC236}">
                <a16:creationId xmlns:a16="http://schemas.microsoft.com/office/drawing/2014/main" id="{F552F84D-1A20-4DBD-9636-BE2828E5D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11</a:t>
            </a:r>
          </a:p>
        </p:txBody>
      </p:sp>
      <p:sp>
        <p:nvSpPr>
          <p:cNvPr id="86" name="Text Box 84">
            <a:extLst>
              <a:ext uri="{FF2B5EF4-FFF2-40B4-BE49-F238E27FC236}">
                <a16:creationId xmlns:a16="http://schemas.microsoft.com/office/drawing/2014/main" id="{A266CF64-3CF5-420D-8339-D80B2DEF5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12</a:t>
            </a:r>
          </a:p>
        </p:txBody>
      </p:sp>
      <p:sp>
        <p:nvSpPr>
          <p:cNvPr id="87" name="AutoShape 85">
            <a:extLst>
              <a:ext uri="{FF2B5EF4-FFF2-40B4-BE49-F238E27FC236}">
                <a16:creationId xmlns:a16="http://schemas.microsoft.com/office/drawing/2014/main" id="{E4330864-AC7E-414F-8A8F-9DA617646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48970"/>
            <a:ext cx="762000" cy="1524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8" name="Text Box 86">
            <a:extLst>
              <a:ext uri="{FF2B5EF4-FFF2-40B4-BE49-F238E27FC236}">
                <a16:creationId xmlns:a16="http://schemas.microsoft.com/office/drawing/2014/main" id="{0CE7D05E-73FF-4FAC-8A81-25FF1968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367970"/>
            <a:ext cx="382175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FF"/>
                </a:solidFill>
                <a:latin typeface="Gill Sans MT" pitchFamily="34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different instructions overlapped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7641B1B-1B51-72D1-9B75-53D65704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86148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613C-78D9-475C-BEA0-792A9C38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Superscalar Processor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E9032-EAB4-4FB6-920E-3AFC1769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037468-B638-423F-B9DB-2B995160D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43792"/>
            <a:ext cx="10515600" cy="4633171"/>
          </a:xfrm>
        </p:spPr>
        <p:txBody>
          <a:bodyPr/>
          <a:lstStyle/>
          <a:p>
            <a:r>
              <a:rPr lang="en-US" dirty="0"/>
              <a:t>Superscalar (pipelined) Execution</a:t>
            </a:r>
          </a:p>
          <a:p>
            <a:pPr lvl="1"/>
            <a:r>
              <a:rPr lang="en-US" dirty="0"/>
              <a:t>Instruction parallelism = D x N</a:t>
            </a:r>
          </a:p>
          <a:p>
            <a:pPr lvl="1"/>
            <a:r>
              <a:rPr lang="en-US" dirty="0"/>
              <a:t>Peak IPC = N per cycle</a:t>
            </a:r>
          </a:p>
        </p:txBody>
      </p:sp>
      <p:sp>
        <p:nvSpPr>
          <p:cNvPr id="7" name="Line 43">
            <a:extLst>
              <a:ext uri="{FF2B5EF4-FFF2-40B4-BE49-F238E27FC236}">
                <a16:creationId xmlns:a16="http://schemas.microsoft.com/office/drawing/2014/main" id="{50EC039B-B004-4901-B065-D99E8BD104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5577770"/>
            <a:ext cx="731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9C9B63CE-CF33-477E-95E6-6A20D7372CEA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901767" y="3895305"/>
            <a:ext cx="800219" cy="13202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Successive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Instructions</a:t>
            </a:r>
          </a:p>
        </p:txBody>
      </p:sp>
      <p:sp>
        <p:nvSpPr>
          <p:cNvPr id="9" name="Line 46">
            <a:extLst>
              <a:ext uri="{FF2B5EF4-FFF2-40B4-BE49-F238E27FC236}">
                <a16:creationId xmlns:a16="http://schemas.microsoft.com/office/drawing/2014/main" id="{10DC999D-7E3E-4B6B-B214-356571ACB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938579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" name="Text Box 53">
            <a:extLst>
              <a:ext uri="{FF2B5EF4-FFF2-40B4-BE49-F238E27FC236}">
                <a16:creationId xmlns:a16="http://schemas.microsoft.com/office/drawing/2014/main" id="{5F271A55-1690-4842-A168-F1285A3AB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909210"/>
            <a:ext cx="165782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Time in cycles</a:t>
            </a:r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790AA23B-ED0C-4051-A27C-E033AA273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" name="Line 55">
            <a:extLst>
              <a:ext uri="{FF2B5EF4-FFF2-40B4-BE49-F238E27FC236}">
                <a16:creationId xmlns:a16="http://schemas.microsoft.com/office/drawing/2014/main" id="{891F9D44-7689-47F3-8F94-CF10B33FB3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3" name="Line 56">
            <a:extLst>
              <a:ext uri="{FF2B5EF4-FFF2-40B4-BE49-F238E27FC236}">
                <a16:creationId xmlns:a16="http://schemas.microsoft.com/office/drawing/2014/main" id="{387F7FF8-9AF3-4FD9-8E79-9C43AA6383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4" name="Line 57">
            <a:extLst>
              <a:ext uri="{FF2B5EF4-FFF2-40B4-BE49-F238E27FC236}">
                <a16:creationId xmlns:a16="http://schemas.microsoft.com/office/drawing/2014/main" id="{D6936BA7-E0C3-4267-AE67-5DE98298B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5" name="Line 58">
            <a:extLst>
              <a:ext uri="{FF2B5EF4-FFF2-40B4-BE49-F238E27FC236}">
                <a16:creationId xmlns:a16="http://schemas.microsoft.com/office/drawing/2014/main" id="{6DFD9BE0-78CA-45F0-86CB-79B1931B06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6" name="Line 59">
            <a:extLst>
              <a:ext uri="{FF2B5EF4-FFF2-40B4-BE49-F238E27FC236}">
                <a16:creationId xmlns:a16="http://schemas.microsoft.com/office/drawing/2014/main" id="{F47DD043-FB82-471D-B111-FF7BC35EB1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7" name="Line 60">
            <a:extLst>
              <a:ext uri="{FF2B5EF4-FFF2-40B4-BE49-F238E27FC236}">
                <a16:creationId xmlns:a16="http://schemas.microsoft.com/office/drawing/2014/main" id="{0E5F617E-A859-4ACB-BC43-25FB891B61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8" name="Line 61">
            <a:extLst>
              <a:ext uri="{FF2B5EF4-FFF2-40B4-BE49-F238E27FC236}">
                <a16:creationId xmlns:a16="http://schemas.microsoft.com/office/drawing/2014/main" id="{A409E9C3-A502-42EB-AF50-8621673CF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9" name="Line 62">
            <a:extLst>
              <a:ext uri="{FF2B5EF4-FFF2-40B4-BE49-F238E27FC236}">
                <a16:creationId xmlns:a16="http://schemas.microsoft.com/office/drawing/2014/main" id="{4D2799B0-80E5-4EA6-B3D6-F809F462F0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0" name="Line 63">
            <a:extLst>
              <a:ext uri="{FF2B5EF4-FFF2-40B4-BE49-F238E27FC236}">
                <a16:creationId xmlns:a16="http://schemas.microsoft.com/office/drawing/2014/main" id="{CC6FA29D-0D4B-4ABF-AE0B-DA2044CB9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1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1" name="Line 64">
            <a:extLst>
              <a:ext uri="{FF2B5EF4-FFF2-40B4-BE49-F238E27FC236}">
                <a16:creationId xmlns:a16="http://schemas.microsoft.com/office/drawing/2014/main" id="{BBB409F7-DB85-4EFC-95C3-6E72D2CB0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01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39E8B6B6-4F05-41C6-9291-15433DB84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</a:t>
            </a:r>
          </a:p>
        </p:txBody>
      </p:sp>
      <p:sp>
        <p:nvSpPr>
          <p:cNvPr id="23" name="Text Box 66">
            <a:extLst>
              <a:ext uri="{FF2B5EF4-FFF2-40B4-BE49-F238E27FC236}">
                <a16:creationId xmlns:a16="http://schemas.microsoft.com/office/drawing/2014/main" id="{A2F807C0-01F3-48EB-9103-1FA8E03CD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2</a:t>
            </a:r>
          </a:p>
        </p:txBody>
      </p:sp>
      <p:sp>
        <p:nvSpPr>
          <p:cNvPr id="24" name="Text Box 67">
            <a:extLst>
              <a:ext uri="{FF2B5EF4-FFF2-40B4-BE49-F238E27FC236}">
                <a16:creationId xmlns:a16="http://schemas.microsoft.com/office/drawing/2014/main" id="{588E011F-B4E0-4028-BDDD-5C7928F1F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3</a:t>
            </a:r>
          </a:p>
        </p:txBody>
      </p:sp>
      <p:sp>
        <p:nvSpPr>
          <p:cNvPr id="25" name="Text Box 68">
            <a:extLst>
              <a:ext uri="{FF2B5EF4-FFF2-40B4-BE49-F238E27FC236}">
                <a16:creationId xmlns:a16="http://schemas.microsoft.com/office/drawing/2014/main" id="{DDB9FC9C-18F1-43ED-8048-6176BE45E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4</a:t>
            </a:r>
          </a:p>
        </p:txBody>
      </p:sp>
      <p:sp>
        <p:nvSpPr>
          <p:cNvPr id="26" name="Text Box 69">
            <a:extLst>
              <a:ext uri="{FF2B5EF4-FFF2-40B4-BE49-F238E27FC236}">
                <a16:creationId xmlns:a16="http://schemas.microsoft.com/office/drawing/2014/main" id="{9C9C5905-3964-48EA-B4C0-CE15F9539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5</a:t>
            </a:r>
          </a:p>
        </p:txBody>
      </p:sp>
      <p:sp>
        <p:nvSpPr>
          <p:cNvPr id="27" name="Text Box 70">
            <a:extLst>
              <a:ext uri="{FF2B5EF4-FFF2-40B4-BE49-F238E27FC236}">
                <a16:creationId xmlns:a16="http://schemas.microsoft.com/office/drawing/2014/main" id="{F0E53278-BC5A-4CB2-8EB5-3E066313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6</a:t>
            </a:r>
          </a:p>
        </p:txBody>
      </p:sp>
      <p:sp>
        <p:nvSpPr>
          <p:cNvPr id="28" name="Text Box 71">
            <a:extLst>
              <a:ext uri="{FF2B5EF4-FFF2-40B4-BE49-F238E27FC236}">
                <a16:creationId xmlns:a16="http://schemas.microsoft.com/office/drawing/2014/main" id="{16B31349-B244-4DF6-A3CC-6430EA003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7</a:t>
            </a:r>
          </a:p>
        </p:txBody>
      </p:sp>
      <p:sp>
        <p:nvSpPr>
          <p:cNvPr id="29" name="Text Box 72">
            <a:extLst>
              <a:ext uri="{FF2B5EF4-FFF2-40B4-BE49-F238E27FC236}">
                <a16:creationId xmlns:a16="http://schemas.microsoft.com/office/drawing/2014/main" id="{65A58992-B18C-40D7-8050-7FDC6768A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8</a:t>
            </a:r>
          </a:p>
        </p:txBody>
      </p:sp>
      <p:sp>
        <p:nvSpPr>
          <p:cNvPr id="30" name="Text Box 73">
            <a:extLst>
              <a:ext uri="{FF2B5EF4-FFF2-40B4-BE49-F238E27FC236}">
                <a16:creationId xmlns:a16="http://schemas.microsoft.com/office/drawing/2014/main" id="{14D084DB-678B-4284-ABB5-BBCA6F02B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9</a:t>
            </a:r>
          </a:p>
        </p:txBody>
      </p:sp>
      <p:sp>
        <p:nvSpPr>
          <p:cNvPr id="31" name="Text Box 74">
            <a:extLst>
              <a:ext uri="{FF2B5EF4-FFF2-40B4-BE49-F238E27FC236}">
                <a16:creationId xmlns:a16="http://schemas.microsoft.com/office/drawing/2014/main" id="{AF57A39A-5784-4694-9E8F-9ECC9ADFB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10</a:t>
            </a:r>
          </a:p>
        </p:txBody>
      </p:sp>
      <p:sp>
        <p:nvSpPr>
          <p:cNvPr id="32" name="Text Box 75">
            <a:extLst>
              <a:ext uri="{FF2B5EF4-FFF2-40B4-BE49-F238E27FC236}">
                <a16:creationId xmlns:a16="http://schemas.microsoft.com/office/drawing/2014/main" id="{19FC5E28-BE75-4A9C-BF32-210BFDD73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11</a:t>
            </a:r>
          </a:p>
        </p:txBody>
      </p:sp>
      <p:sp>
        <p:nvSpPr>
          <p:cNvPr id="33" name="Text Box 76">
            <a:extLst>
              <a:ext uri="{FF2B5EF4-FFF2-40B4-BE49-F238E27FC236}">
                <a16:creationId xmlns:a16="http://schemas.microsoft.com/office/drawing/2014/main" id="{DB819C36-8F32-413E-9E01-76D28E3FF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12</a:t>
            </a: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56EC3E57-F143-4D24-84C1-619E416D8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301" y="3734316"/>
            <a:ext cx="385041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FF"/>
                </a:solidFill>
                <a:latin typeface="Gill Sans MT" pitchFamily="34" charset="0"/>
              </a:rPr>
              <a:t>N</a:t>
            </a:r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08CCC477-D232-473F-9F5F-BEA83451DBF1}"/>
              </a:ext>
            </a:extLst>
          </p:cNvPr>
          <p:cNvSpPr/>
          <p:nvPr/>
        </p:nvSpPr>
        <p:spPr bwMode="auto">
          <a:xfrm>
            <a:off x="6705600" y="3793495"/>
            <a:ext cx="139700" cy="236716"/>
          </a:xfrm>
          <a:prstGeom prst="rightBrace">
            <a:avLst>
              <a:gd name="adj1" fmla="val 18182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4C2AC39B-E72B-484F-ADB8-582EE4B7E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93495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37271E07-1B32-4A89-AB6F-1C651A8C1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793495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239D6D33-680D-4686-AE73-1DFF06AF6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93495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3320BBDC-9389-4D85-80F3-64ACC51B4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93495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03D6B049-4F92-48BF-9C25-445FFEDB1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793495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1" name="Rectangle 12">
            <a:extLst>
              <a:ext uri="{FF2B5EF4-FFF2-40B4-BE49-F238E27FC236}">
                <a16:creationId xmlns:a16="http://schemas.microsoft.com/office/drawing/2014/main" id="{B999B40C-A6AE-49F3-8141-E1EC5120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93495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2" name="Rectangle 90">
            <a:extLst>
              <a:ext uri="{FF2B5EF4-FFF2-40B4-BE49-F238E27FC236}">
                <a16:creationId xmlns:a16="http://schemas.microsoft.com/office/drawing/2014/main" id="{0A9B377E-8BB7-4C7B-963A-63B23A63D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911853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3" name="Rectangle 91">
            <a:extLst>
              <a:ext uri="{FF2B5EF4-FFF2-40B4-BE49-F238E27FC236}">
                <a16:creationId xmlns:a16="http://schemas.microsoft.com/office/drawing/2014/main" id="{2CB576F7-468E-4B4C-BCC2-98D0449A5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11853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4" name="Rectangle 92">
            <a:extLst>
              <a:ext uri="{FF2B5EF4-FFF2-40B4-BE49-F238E27FC236}">
                <a16:creationId xmlns:a16="http://schemas.microsoft.com/office/drawing/2014/main" id="{91807A92-53E1-4DAB-87DB-6F275A0C2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11853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5" name="Rectangle 93">
            <a:extLst>
              <a:ext uri="{FF2B5EF4-FFF2-40B4-BE49-F238E27FC236}">
                <a16:creationId xmlns:a16="http://schemas.microsoft.com/office/drawing/2014/main" id="{5486E16B-F524-44DC-B404-17DE74D60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911853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6" name="Rectangle 94">
            <a:extLst>
              <a:ext uri="{FF2B5EF4-FFF2-40B4-BE49-F238E27FC236}">
                <a16:creationId xmlns:a16="http://schemas.microsoft.com/office/drawing/2014/main" id="{11A647AD-4568-45E4-81DC-9A6E94FA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911853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7" name="Rectangle 95">
            <a:extLst>
              <a:ext uri="{FF2B5EF4-FFF2-40B4-BE49-F238E27FC236}">
                <a16:creationId xmlns:a16="http://schemas.microsoft.com/office/drawing/2014/main" id="{F2AFDEA4-83AD-4D21-A43F-9C218EE98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911853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8" name="Rectangle 96">
            <a:extLst>
              <a:ext uri="{FF2B5EF4-FFF2-40B4-BE49-F238E27FC236}">
                <a16:creationId xmlns:a16="http://schemas.microsoft.com/office/drawing/2014/main" id="{67DB753A-FE4B-4443-916C-1827F2D48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030211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9" name="Rectangle 97">
            <a:extLst>
              <a:ext uri="{FF2B5EF4-FFF2-40B4-BE49-F238E27FC236}">
                <a16:creationId xmlns:a16="http://schemas.microsoft.com/office/drawing/2014/main" id="{FB2649FA-EE31-44DC-918F-3B1119E03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030211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0" name="Rectangle 98">
            <a:extLst>
              <a:ext uri="{FF2B5EF4-FFF2-40B4-BE49-F238E27FC236}">
                <a16:creationId xmlns:a16="http://schemas.microsoft.com/office/drawing/2014/main" id="{40B2F4AD-E748-455D-B6D4-76D8BC7A4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030211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1" name="Rectangle 99">
            <a:extLst>
              <a:ext uri="{FF2B5EF4-FFF2-40B4-BE49-F238E27FC236}">
                <a16:creationId xmlns:a16="http://schemas.microsoft.com/office/drawing/2014/main" id="{ADA76689-6BA3-4935-9663-85663A298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30211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2" name="Rectangle 100">
            <a:extLst>
              <a:ext uri="{FF2B5EF4-FFF2-40B4-BE49-F238E27FC236}">
                <a16:creationId xmlns:a16="http://schemas.microsoft.com/office/drawing/2014/main" id="{C2BB717C-30AA-40DE-A7AA-5991E072F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30211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3" name="Rectangle 101">
            <a:extLst>
              <a:ext uri="{FF2B5EF4-FFF2-40B4-BE49-F238E27FC236}">
                <a16:creationId xmlns:a16="http://schemas.microsoft.com/office/drawing/2014/main" id="{0BD6CB9B-510A-4099-9AB7-AF4846DB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30211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4" name="Rectangle 102">
            <a:extLst>
              <a:ext uri="{FF2B5EF4-FFF2-40B4-BE49-F238E27FC236}">
                <a16:creationId xmlns:a16="http://schemas.microsoft.com/office/drawing/2014/main" id="{61D107E8-D05B-4E2D-8AE4-DE87308AB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148569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5" name="Rectangle 103">
            <a:extLst>
              <a:ext uri="{FF2B5EF4-FFF2-40B4-BE49-F238E27FC236}">
                <a16:creationId xmlns:a16="http://schemas.microsoft.com/office/drawing/2014/main" id="{0D95D952-E36F-427F-9472-809229D5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148569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6" name="Rectangle 104">
            <a:extLst>
              <a:ext uri="{FF2B5EF4-FFF2-40B4-BE49-F238E27FC236}">
                <a16:creationId xmlns:a16="http://schemas.microsoft.com/office/drawing/2014/main" id="{441D0C2A-CB4F-4CC6-9682-95B361F05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48569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7" name="Rectangle 105">
            <a:extLst>
              <a:ext uri="{FF2B5EF4-FFF2-40B4-BE49-F238E27FC236}">
                <a16:creationId xmlns:a16="http://schemas.microsoft.com/office/drawing/2014/main" id="{F8089DFF-ADAC-475B-A53A-2C7019473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148569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8" name="Rectangle 106">
            <a:extLst>
              <a:ext uri="{FF2B5EF4-FFF2-40B4-BE49-F238E27FC236}">
                <a16:creationId xmlns:a16="http://schemas.microsoft.com/office/drawing/2014/main" id="{2CA0026C-7C9E-4231-8C6F-F534625C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148569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9" name="Rectangle 107">
            <a:extLst>
              <a:ext uri="{FF2B5EF4-FFF2-40B4-BE49-F238E27FC236}">
                <a16:creationId xmlns:a16="http://schemas.microsoft.com/office/drawing/2014/main" id="{C7F020DD-AE2F-4986-904A-4CBB01B0E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48569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0" name="Rectangle 108">
            <a:extLst>
              <a:ext uri="{FF2B5EF4-FFF2-40B4-BE49-F238E27FC236}">
                <a16:creationId xmlns:a16="http://schemas.microsoft.com/office/drawing/2014/main" id="{1DA8A47A-29AA-47F9-8D9F-147A8F66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266927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1" name="Rectangle 109">
            <a:extLst>
              <a:ext uri="{FF2B5EF4-FFF2-40B4-BE49-F238E27FC236}">
                <a16:creationId xmlns:a16="http://schemas.microsoft.com/office/drawing/2014/main" id="{97E58034-8027-4B16-89B0-8F460FA03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266927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2" name="Rectangle 110">
            <a:extLst>
              <a:ext uri="{FF2B5EF4-FFF2-40B4-BE49-F238E27FC236}">
                <a16:creationId xmlns:a16="http://schemas.microsoft.com/office/drawing/2014/main" id="{7CF591F6-F421-47A9-8321-E49AAB27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266927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3" name="Rectangle 111">
            <a:extLst>
              <a:ext uri="{FF2B5EF4-FFF2-40B4-BE49-F238E27FC236}">
                <a16:creationId xmlns:a16="http://schemas.microsoft.com/office/drawing/2014/main" id="{EE702C6A-B474-490A-B3F0-76D61942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266927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4" name="Rectangle 112">
            <a:extLst>
              <a:ext uri="{FF2B5EF4-FFF2-40B4-BE49-F238E27FC236}">
                <a16:creationId xmlns:a16="http://schemas.microsoft.com/office/drawing/2014/main" id="{09DB84CA-CC20-45BF-92DE-7F20A86E8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266927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5" name="Rectangle 113">
            <a:extLst>
              <a:ext uri="{FF2B5EF4-FFF2-40B4-BE49-F238E27FC236}">
                <a16:creationId xmlns:a16="http://schemas.microsoft.com/office/drawing/2014/main" id="{45BC8CD5-52FC-4D11-A167-96AD653B4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266927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6" name="Rectangle 114">
            <a:extLst>
              <a:ext uri="{FF2B5EF4-FFF2-40B4-BE49-F238E27FC236}">
                <a16:creationId xmlns:a16="http://schemas.microsoft.com/office/drawing/2014/main" id="{70723EDE-F9B4-47FA-AA73-940466985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85285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7" name="Rectangle 115">
            <a:extLst>
              <a:ext uri="{FF2B5EF4-FFF2-40B4-BE49-F238E27FC236}">
                <a16:creationId xmlns:a16="http://schemas.microsoft.com/office/drawing/2014/main" id="{F5392CB1-0554-443C-9658-8FCF3EE07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385285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8" name="Rectangle 116">
            <a:extLst>
              <a:ext uri="{FF2B5EF4-FFF2-40B4-BE49-F238E27FC236}">
                <a16:creationId xmlns:a16="http://schemas.microsoft.com/office/drawing/2014/main" id="{B75B4B22-AD44-4E3A-990A-57A556DA1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385285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9" name="Rectangle 117">
            <a:extLst>
              <a:ext uri="{FF2B5EF4-FFF2-40B4-BE49-F238E27FC236}">
                <a16:creationId xmlns:a16="http://schemas.microsoft.com/office/drawing/2014/main" id="{64DD0D8D-8A25-4D19-9533-BDD27BD0D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385285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0" name="Rectangle 118">
            <a:extLst>
              <a:ext uri="{FF2B5EF4-FFF2-40B4-BE49-F238E27FC236}">
                <a16:creationId xmlns:a16="http://schemas.microsoft.com/office/drawing/2014/main" id="{488266B9-8798-42F4-95A6-A3C5267D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385285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1" name="Rectangle 119">
            <a:extLst>
              <a:ext uri="{FF2B5EF4-FFF2-40B4-BE49-F238E27FC236}">
                <a16:creationId xmlns:a16="http://schemas.microsoft.com/office/drawing/2014/main" id="{1220CCAA-2B5D-4224-B368-341657677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385285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2" name="Rectangle 120">
            <a:extLst>
              <a:ext uri="{FF2B5EF4-FFF2-40B4-BE49-F238E27FC236}">
                <a16:creationId xmlns:a16="http://schemas.microsoft.com/office/drawing/2014/main" id="{808BF695-69E8-4082-806A-DCF77F73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03643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3" name="Rectangle 121">
            <a:extLst>
              <a:ext uri="{FF2B5EF4-FFF2-40B4-BE49-F238E27FC236}">
                <a16:creationId xmlns:a16="http://schemas.microsoft.com/office/drawing/2014/main" id="{78734B0E-0D9B-48DE-9E70-6BC8B78B2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03643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4" name="Rectangle 122">
            <a:extLst>
              <a:ext uri="{FF2B5EF4-FFF2-40B4-BE49-F238E27FC236}">
                <a16:creationId xmlns:a16="http://schemas.microsoft.com/office/drawing/2014/main" id="{AC83DD48-9DB3-4560-A16A-A32998B6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03643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5" name="Rectangle 123">
            <a:extLst>
              <a:ext uri="{FF2B5EF4-FFF2-40B4-BE49-F238E27FC236}">
                <a16:creationId xmlns:a16="http://schemas.microsoft.com/office/drawing/2014/main" id="{FC26D82E-BB35-45AD-9377-C7AFA4FA0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03643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6" name="Rectangle 124">
            <a:extLst>
              <a:ext uri="{FF2B5EF4-FFF2-40B4-BE49-F238E27FC236}">
                <a16:creationId xmlns:a16="http://schemas.microsoft.com/office/drawing/2014/main" id="{C4D63563-7EED-4E5D-A271-41D15009B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03643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7" name="Rectangle 125">
            <a:extLst>
              <a:ext uri="{FF2B5EF4-FFF2-40B4-BE49-F238E27FC236}">
                <a16:creationId xmlns:a16="http://schemas.microsoft.com/office/drawing/2014/main" id="{EB137029-6F18-4AF1-8334-61E7BC4F3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503643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8" name="Rectangle 126">
            <a:extLst>
              <a:ext uri="{FF2B5EF4-FFF2-40B4-BE49-F238E27FC236}">
                <a16:creationId xmlns:a16="http://schemas.microsoft.com/office/drawing/2014/main" id="{2D6104B8-ED02-41CC-A585-0D2240CAC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22000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9" name="Rectangle 127">
            <a:extLst>
              <a:ext uri="{FF2B5EF4-FFF2-40B4-BE49-F238E27FC236}">
                <a16:creationId xmlns:a16="http://schemas.microsoft.com/office/drawing/2014/main" id="{D93C2FA3-BD0F-410E-A5E5-2FF805DE7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22000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0" name="Rectangle 128">
            <a:extLst>
              <a:ext uri="{FF2B5EF4-FFF2-40B4-BE49-F238E27FC236}">
                <a16:creationId xmlns:a16="http://schemas.microsoft.com/office/drawing/2014/main" id="{D21C4168-EBA9-4D04-8988-8CA4F89ED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622000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1" name="Rectangle 129">
            <a:extLst>
              <a:ext uri="{FF2B5EF4-FFF2-40B4-BE49-F238E27FC236}">
                <a16:creationId xmlns:a16="http://schemas.microsoft.com/office/drawing/2014/main" id="{16D89B9D-5618-4FED-8406-5F0C04A9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22000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2" name="Rectangle 130">
            <a:extLst>
              <a:ext uri="{FF2B5EF4-FFF2-40B4-BE49-F238E27FC236}">
                <a16:creationId xmlns:a16="http://schemas.microsoft.com/office/drawing/2014/main" id="{7C0989D7-E6D4-4468-8603-89D5CE6F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622000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3" name="Rectangle 131">
            <a:extLst>
              <a:ext uri="{FF2B5EF4-FFF2-40B4-BE49-F238E27FC236}">
                <a16:creationId xmlns:a16="http://schemas.microsoft.com/office/drawing/2014/main" id="{E208F7A2-40C8-43FF-B69B-7FC439B9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622000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4" name="Rectangle 132">
            <a:extLst>
              <a:ext uri="{FF2B5EF4-FFF2-40B4-BE49-F238E27FC236}">
                <a16:creationId xmlns:a16="http://schemas.microsoft.com/office/drawing/2014/main" id="{230422BE-7DE9-43CF-B8C1-DE059F1A7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740358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5" name="Rectangle 133">
            <a:extLst>
              <a:ext uri="{FF2B5EF4-FFF2-40B4-BE49-F238E27FC236}">
                <a16:creationId xmlns:a16="http://schemas.microsoft.com/office/drawing/2014/main" id="{3B299B6A-8788-4208-BE7A-CBE6F6CF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740358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6" name="Rectangle 134">
            <a:extLst>
              <a:ext uri="{FF2B5EF4-FFF2-40B4-BE49-F238E27FC236}">
                <a16:creationId xmlns:a16="http://schemas.microsoft.com/office/drawing/2014/main" id="{4A71EE78-8A5F-4234-8366-C4835F990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40358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7" name="Rectangle 135">
            <a:extLst>
              <a:ext uri="{FF2B5EF4-FFF2-40B4-BE49-F238E27FC236}">
                <a16:creationId xmlns:a16="http://schemas.microsoft.com/office/drawing/2014/main" id="{48FE10D1-710B-4A08-9AA2-FCDB6A8FA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740358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8" name="Rectangle 136">
            <a:extLst>
              <a:ext uri="{FF2B5EF4-FFF2-40B4-BE49-F238E27FC236}">
                <a16:creationId xmlns:a16="http://schemas.microsoft.com/office/drawing/2014/main" id="{F940B065-A6ED-4937-890E-E463AE41A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740358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9" name="Rectangle 137">
            <a:extLst>
              <a:ext uri="{FF2B5EF4-FFF2-40B4-BE49-F238E27FC236}">
                <a16:creationId xmlns:a16="http://schemas.microsoft.com/office/drawing/2014/main" id="{31C18B21-0602-4893-A023-FFC000BF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740358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0" name="Rectangle 138">
            <a:extLst>
              <a:ext uri="{FF2B5EF4-FFF2-40B4-BE49-F238E27FC236}">
                <a16:creationId xmlns:a16="http://schemas.microsoft.com/office/drawing/2014/main" id="{F4663D0B-2794-4674-9441-D147B32F7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58716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1" name="Rectangle 139">
            <a:extLst>
              <a:ext uri="{FF2B5EF4-FFF2-40B4-BE49-F238E27FC236}">
                <a16:creationId xmlns:a16="http://schemas.microsoft.com/office/drawing/2014/main" id="{99A2AD82-2CFA-4428-8220-1FBA31945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58716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2" name="Rectangle 140">
            <a:extLst>
              <a:ext uri="{FF2B5EF4-FFF2-40B4-BE49-F238E27FC236}">
                <a16:creationId xmlns:a16="http://schemas.microsoft.com/office/drawing/2014/main" id="{5DCAFC42-BD99-45AE-8DFC-B80F2E419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858716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3" name="Rectangle 141">
            <a:extLst>
              <a:ext uri="{FF2B5EF4-FFF2-40B4-BE49-F238E27FC236}">
                <a16:creationId xmlns:a16="http://schemas.microsoft.com/office/drawing/2014/main" id="{E180EB4B-1329-4332-8770-1135BE4E7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858716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4" name="Rectangle 142">
            <a:extLst>
              <a:ext uri="{FF2B5EF4-FFF2-40B4-BE49-F238E27FC236}">
                <a16:creationId xmlns:a16="http://schemas.microsoft.com/office/drawing/2014/main" id="{DD9A0644-1135-4472-9248-298E8058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858716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5" name="Rectangle 143">
            <a:extLst>
              <a:ext uri="{FF2B5EF4-FFF2-40B4-BE49-F238E27FC236}">
                <a16:creationId xmlns:a16="http://schemas.microsoft.com/office/drawing/2014/main" id="{CA56B01B-BC87-44CF-9FAF-64B901D6D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858716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6" name="Rectangle 144">
            <a:extLst>
              <a:ext uri="{FF2B5EF4-FFF2-40B4-BE49-F238E27FC236}">
                <a16:creationId xmlns:a16="http://schemas.microsoft.com/office/drawing/2014/main" id="{D3E27C40-B604-459C-9C38-F42DB7FA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977074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7" name="Rectangle 145">
            <a:extLst>
              <a:ext uri="{FF2B5EF4-FFF2-40B4-BE49-F238E27FC236}">
                <a16:creationId xmlns:a16="http://schemas.microsoft.com/office/drawing/2014/main" id="{C7CEE7BB-18CD-4B58-A869-81C1CFC6A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77074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8" name="Rectangle 146">
            <a:extLst>
              <a:ext uri="{FF2B5EF4-FFF2-40B4-BE49-F238E27FC236}">
                <a16:creationId xmlns:a16="http://schemas.microsoft.com/office/drawing/2014/main" id="{6F309A67-C283-4CC4-865B-453EBF582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977074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9" name="Rectangle 147">
            <a:extLst>
              <a:ext uri="{FF2B5EF4-FFF2-40B4-BE49-F238E27FC236}">
                <a16:creationId xmlns:a16="http://schemas.microsoft.com/office/drawing/2014/main" id="{B520E2A4-952E-43F8-936F-C70E38BAF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977074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0" name="Rectangle 148">
            <a:extLst>
              <a:ext uri="{FF2B5EF4-FFF2-40B4-BE49-F238E27FC236}">
                <a16:creationId xmlns:a16="http://schemas.microsoft.com/office/drawing/2014/main" id="{FB75E240-E2D6-4EDE-B965-B14C5B50A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977074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1" name="Rectangle 149">
            <a:extLst>
              <a:ext uri="{FF2B5EF4-FFF2-40B4-BE49-F238E27FC236}">
                <a16:creationId xmlns:a16="http://schemas.microsoft.com/office/drawing/2014/main" id="{3F7AE39D-0B6B-4804-A11A-B3643B6B7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977074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2" name="Rectangle 150">
            <a:extLst>
              <a:ext uri="{FF2B5EF4-FFF2-40B4-BE49-F238E27FC236}">
                <a16:creationId xmlns:a16="http://schemas.microsoft.com/office/drawing/2014/main" id="{B33199FB-CC41-4BF3-BF75-0B77B89F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095432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3" name="Rectangle 151">
            <a:extLst>
              <a:ext uri="{FF2B5EF4-FFF2-40B4-BE49-F238E27FC236}">
                <a16:creationId xmlns:a16="http://schemas.microsoft.com/office/drawing/2014/main" id="{A715CD5E-84C9-42E0-B36D-FB2D8377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095432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4" name="Rectangle 152">
            <a:extLst>
              <a:ext uri="{FF2B5EF4-FFF2-40B4-BE49-F238E27FC236}">
                <a16:creationId xmlns:a16="http://schemas.microsoft.com/office/drawing/2014/main" id="{2B9C4BD3-DD6E-4631-9D11-21E0CC3E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095432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5" name="Rectangle 153">
            <a:extLst>
              <a:ext uri="{FF2B5EF4-FFF2-40B4-BE49-F238E27FC236}">
                <a16:creationId xmlns:a16="http://schemas.microsoft.com/office/drawing/2014/main" id="{3208466B-16F8-47B7-8285-EF0A18947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095432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6" name="Rectangle 154">
            <a:extLst>
              <a:ext uri="{FF2B5EF4-FFF2-40B4-BE49-F238E27FC236}">
                <a16:creationId xmlns:a16="http://schemas.microsoft.com/office/drawing/2014/main" id="{69295FF9-8846-483A-A341-3C11966B5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095432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7" name="Rectangle 155">
            <a:extLst>
              <a:ext uri="{FF2B5EF4-FFF2-40B4-BE49-F238E27FC236}">
                <a16:creationId xmlns:a16="http://schemas.microsoft.com/office/drawing/2014/main" id="{7DB7739E-3E5C-4783-9635-3CF5F06F6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095432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8" name="Text Box 156">
            <a:extLst>
              <a:ext uri="{FF2B5EF4-FFF2-40B4-BE49-F238E27FC236}">
                <a16:creationId xmlns:a16="http://schemas.microsoft.com/office/drawing/2014/main" id="{D93FBD74-D746-4BD3-8D25-E31741264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3284984"/>
            <a:ext cx="4291431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FF"/>
                </a:solidFill>
                <a:latin typeface="Gill Sans MT" pitchFamily="34" charset="0"/>
              </a:rPr>
              <a:t>D x N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different instructions overlapped</a:t>
            </a:r>
          </a:p>
        </p:txBody>
      </p:sp>
      <p:sp>
        <p:nvSpPr>
          <p:cNvPr id="109" name="Line 50">
            <a:extLst>
              <a:ext uri="{FF2B5EF4-FFF2-40B4-BE49-F238E27FC236}">
                <a16:creationId xmlns:a16="http://schemas.microsoft.com/office/drawing/2014/main" id="{FE0A8BF5-0881-4B58-AB68-04D225938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67277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0" name="Line 52">
            <a:extLst>
              <a:ext uri="{FF2B5EF4-FFF2-40B4-BE49-F238E27FC236}">
                <a16:creationId xmlns:a16="http://schemas.microsoft.com/office/drawing/2014/main" id="{87886127-DCC7-4480-B32B-93A09C3DE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2517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1" name="Rectangle 144">
            <a:extLst>
              <a:ext uri="{FF2B5EF4-FFF2-40B4-BE49-F238E27FC236}">
                <a16:creationId xmlns:a16="http://schemas.microsoft.com/office/drawing/2014/main" id="{8F663D8C-2FB7-4578-896A-FBB303B1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215537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2" name="Rectangle 145">
            <a:extLst>
              <a:ext uri="{FF2B5EF4-FFF2-40B4-BE49-F238E27FC236}">
                <a16:creationId xmlns:a16="http://schemas.microsoft.com/office/drawing/2014/main" id="{D62D570E-FB66-469E-88A9-D4AE47AC3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215537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3" name="Rectangle 146">
            <a:extLst>
              <a:ext uri="{FF2B5EF4-FFF2-40B4-BE49-F238E27FC236}">
                <a16:creationId xmlns:a16="http://schemas.microsoft.com/office/drawing/2014/main" id="{82C7011C-4D2D-450E-9F3D-8AC72FD6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215537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4" name="Rectangle 147">
            <a:extLst>
              <a:ext uri="{FF2B5EF4-FFF2-40B4-BE49-F238E27FC236}">
                <a16:creationId xmlns:a16="http://schemas.microsoft.com/office/drawing/2014/main" id="{F17C61DF-E2D9-44ED-A1DE-3AD4C160D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215537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5" name="Rectangle 148">
            <a:extLst>
              <a:ext uri="{FF2B5EF4-FFF2-40B4-BE49-F238E27FC236}">
                <a16:creationId xmlns:a16="http://schemas.microsoft.com/office/drawing/2014/main" id="{81AB5CB7-F39C-405D-BAC4-77D92B323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215537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6" name="Rectangle 149">
            <a:extLst>
              <a:ext uri="{FF2B5EF4-FFF2-40B4-BE49-F238E27FC236}">
                <a16:creationId xmlns:a16="http://schemas.microsoft.com/office/drawing/2014/main" id="{296DC97E-C4DA-4B41-84E8-D5E1639E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215537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7" name="Rectangle 150">
            <a:extLst>
              <a:ext uri="{FF2B5EF4-FFF2-40B4-BE49-F238E27FC236}">
                <a16:creationId xmlns:a16="http://schemas.microsoft.com/office/drawing/2014/main" id="{666F4344-B90B-4AC7-8B8F-81D5D5C61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333895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8" name="Rectangle 151">
            <a:extLst>
              <a:ext uri="{FF2B5EF4-FFF2-40B4-BE49-F238E27FC236}">
                <a16:creationId xmlns:a16="http://schemas.microsoft.com/office/drawing/2014/main" id="{A874B2C1-CA20-4BBA-888A-CA814EE93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333895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9" name="Rectangle 152">
            <a:extLst>
              <a:ext uri="{FF2B5EF4-FFF2-40B4-BE49-F238E27FC236}">
                <a16:creationId xmlns:a16="http://schemas.microsoft.com/office/drawing/2014/main" id="{C8DC7590-5B78-451D-9FDD-7F0E4917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333895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0" name="Rectangle 153">
            <a:extLst>
              <a:ext uri="{FF2B5EF4-FFF2-40B4-BE49-F238E27FC236}">
                <a16:creationId xmlns:a16="http://schemas.microsoft.com/office/drawing/2014/main" id="{C84A3F9B-A055-4B5C-A67A-DE8BA16FF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333895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1" name="Rectangle 154">
            <a:extLst>
              <a:ext uri="{FF2B5EF4-FFF2-40B4-BE49-F238E27FC236}">
                <a16:creationId xmlns:a16="http://schemas.microsoft.com/office/drawing/2014/main" id="{D8813E35-49F0-4902-8075-C6BDE1271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333895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2" name="Rectangle 155">
            <a:extLst>
              <a:ext uri="{FF2B5EF4-FFF2-40B4-BE49-F238E27FC236}">
                <a16:creationId xmlns:a16="http://schemas.microsoft.com/office/drawing/2014/main" id="{BD56DD21-1326-48D9-A3BF-8496D669A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333895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3" name="AutoShape 77">
            <a:extLst>
              <a:ext uri="{FF2B5EF4-FFF2-40B4-BE49-F238E27FC236}">
                <a16:creationId xmlns:a16="http://schemas.microsoft.com/office/drawing/2014/main" id="{7DA6B501-1A57-407D-809A-E05FC04B5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34317"/>
            <a:ext cx="762000" cy="153865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05EB4B7-BA5A-F5CB-3444-53701C97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8114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1C3F-B368-FFFE-AA54-B8C3F8F6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</a:t>
            </a:r>
            <a:r>
              <a:rPr lang="en-US"/>
              <a:t>of the Computer </a:t>
            </a:r>
            <a:r>
              <a:rPr lang="en-US" dirty="0"/>
              <a:t>Architecture Courses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AE404-A5AF-10BF-B5B2-AEFFF2D9B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561A2ED-46B2-E61E-F324-6CEF1028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7" y="1508675"/>
            <a:ext cx="12192000" cy="531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5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9FD-9F4D-47D4-8796-C2C6B52B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In-order fetch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63A53-A426-4C8A-A5F1-36465CA72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9F32654F-244A-4715-A59C-06214B56FC27}"/>
              </a:ext>
            </a:extLst>
          </p:cNvPr>
          <p:cNvSpPr/>
          <p:nvPr/>
        </p:nvSpPr>
        <p:spPr>
          <a:xfrm>
            <a:off x="415600" y="284962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EC2913-F80A-4F0B-93B5-F9A48B413DAC}"/>
              </a:ext>
            </a:extLst>
          </p:cNvPr>
          <p:cNvCxnSpPr>
            <a:cxnSpLocks/>
          </p:cNvCxnSpPr>
          <p:nvPr/>
        </p:nvCxnSpPr>
        <p:spPr>
          <a:xfrm>
            <a:off x="415600" y="368305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F47D02-0209-4FB1-AB11-8962003BC1B9}"/>
              </a:ext>
            </a:extLst>
          </p:cNvPr>
          <p:cNvCxnSpPr>
            <a:cxnSpLocks/>
          </p:cNvCxnSpPr>
          <p:nvPr/>
        </p:nvCxnSpPr>
        <p:spPr>
          <a:xfrm>
            <a:off x="415600" y="409739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DFF65-2DCC-4669-94AB-443C377C93C0}"/>
              </a:ext>
            </a:extLst>
          </p:cNvPr>
          <p:cNvCxnSpPr>
            <a:cxnSpLocks/>
          </p:cNvCxnSpPr>
          <p:nvPr/>
        </p:nvCxnSpPr>
        <p:spPr>
          <a:xfrm>
            <a:off x="415600" y="325444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98BB9D-F38F-40EF-8D13-694115F18E21}"/>
              </a:ext>
            </a:extLst>
          </p:cNvPr>
          <p:cNvCxnSpPr>
            <a:cxnSpLocks/>
          </p:cNvCxnSpPr>
          <p:nvPr/>
        </p:nvCxnSpPr>
        <p:spPr>
          <a:xfrm>
            <a:off x="415600" y="447363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98B07E-CA00-45D7-B825-F44EF35EED1C}"/>
              </a:ext>
            </a:extLst>
          </p:cNvPr>
          <p:cNvSpPr txBox="1"/>
          <p:nvPr/>
        </p:nvSpPr>
        <p:spPr>
          <a:xfrm>
            <a:off x="-14452" y="499074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7682CE-1072-4BEE-A0AD-5400696EC997}"/>
              </a:ext>
            </a:extLst>
          </p:cNvPr>
          <p:cNvSpPr txBox="1"/>
          <p:nvPr/>
        </p:nvSpPr>
        <p:spPr>
          <a:xfrm>
            <a:off x="429866" y="27768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B91CF-D7A6-4D98-A129-2387246CE490}"/>
              </a:ext>
            </a:extLst>
          </p:cNvPr>
          <p:cNvSpPr txBox="1"/>
          <p:nvPr/>
        </p:nvSpPr>
        <p:spPr>
          <a:xfrm>
            <a:off x="429866" y="362412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6767EE-041E-4820-A227-06745E7F177D}"/>
              </a:ext>
            </a:extLst>
          </p:cNvPr>
          <p:cNvSpPr txBox="1"/>
          <p:nvPr/>
        </p:nvSpPr>
        <p:spPr>
          <a:xfrm>
            <a:off x="442559" y="402838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9FA03-69FF-4EA2-ADF6-D20A26825352}"/>
              </a:ext>
            </a:extLst>
          </p:cNvPr>
          <p:cNvSpPr txBox="1"/>
          <p:nvPr/>
        </p:nvSpPr>
        <p:spPr>
          <a:xfrm>
            <a:off x="429866" y="437544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6A2E74-B131-4AE6-9803-8FB0DF5E948A}"/>
              </a:ext>
            </a:extLst>
          </p:cNvPr>
          <p:cNvSpPr txBox="1"/>
          <p:nvPr/>
        </p:nvSpPr>
        <p:spPr>
          <a:xfrm>
            <a:off x="415600" y="319574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1FFFA6-119D-481B-9E0D-CC921056B6E5}"/>
              </a:ext>
            </a:extLst>
          </p:cNvPr>
          <p:cNvCxnSpPr>
            <a:cxnSpLocks/>
          </p:cNvCxnSpPr>
          <p:nvPr/>
        </p:nvCxnSpPr>
        <p:spPr>
          <a:xfrm>
            <a:off x="228600" y="289404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BDD0DDC-5FF3-FDF5-0E66-53112D8BE715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50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363E-4497-4CFC-847D-E7FCE108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Out-of-order Execute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3674A-4F96-421E-ABF5-CE05544C5C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A0F87EBC-5027-4E64-9E4B-9A4C65D6EB41}"/>
              </a:ext>
            </a:extLst>
          </p:cNvPr>
          <p:cNvSpPr/>
          <p:nvPr/>
        </p:nvSpPr>
        <p:spPr>
          <a:xfrm>
            <a:off x="415600" y="284962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321E4D-956C-4E4F-B699-158E099F9DCD}"/>
              </a:ext>
            </a:extLst>
          </p:cNvPr>
          <p:cNvCxnSpPr>
            <a:cxnSpLocks/>
          </p:cNvCxnSpPr>
          <p:nvPr/>
        </p:nvCxnSpPr>
        <p:spPr>
          <a:xfrm>
            <a:off x="415600" y="368305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F6FF8-1835-4015-B994-3C7459C5FBBE}"/>
              </a:ext>
            </a:extLst>
          </p:cNvPr>
          <p:cNvCxnSpPr>
            <a:cxnSpLocks/>
          </p:cNvCxnSpPr>
          <p:nvPr/>
        </p:nvCxnSpPr>
        <p:spPr>
          <a:xfrm>
            <a:off x="415600" y="409739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58D1DE-B09A-49B9-8A07-7A8164ADDE49}"/>
              </a:ext>
            </a:extLst>
          </p:cNvPr>
          <p:cNvCxnSpPr>
            <a:cxnSpLocks/>
          </p:cNvCxnSpPr>
          <p:nvPr/>
        </p:nvCxnSpPr>
        <p:spPr>
          <a:xfrm>
            <a:off x="415600" y="325444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AD8CE-8C2F-48F3-9645-121E4A153755}"/>
              </a:ext>
            </a:extLst>
          </p:cNvPr>
          <p:cNvCxnSpPr>
            <a:cxnSpLocks/>
          </p:cNvCxnSpPr>
          <p:nvPr/>
        </p:nvCxnSpPr>
        <p:spPr>
          <a:xfrm>
            <a:off x="415600" y="447363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CE14E5-89ED-45E0-9801-1E12E747EFD0}"/>
              </a:ext>
            </a:extLst>
          </p:cNvPr>
          <p:cNvSpPr txBox="1"/>
          <p:nvPr/>
        </p:nvSpPr>
        <p:spPr>
          <a:xfrm>
            <a:off x="-14452" y="499074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92441E-CC2B-4D02-943C-CC7AC803F3A8}"/>
              </a:ext>
            </a:extLst>
          </p:cNvPr>
          <p:cNvSpPr txBox="1"/>
          <p:nvPr/>
        </p:nvSpPr>
        <p:spPr>
          <a:xfrm>
            <a:off x="429866" y="27768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AFE2B-BBB3-431D-A2C8-A885079E98E6}"/>
              </a:ext>
            </a:extLst>
          </p:cNvPr>
          <p:cNvSpPr txBox="1"/>
          <p:nvPr/>
        </p:nvSpPr>
        <p:spPr>
          <a:xfrm>
            <a:off x="429866" y="362412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B7F2A-C2AB-4A04-9773-007F9A692525}"/>
              </a:ext>
            </a:extLst>
          </p:cNvPr>
          <p:cNvSpPr txBox="1"/>
          <p:nvPr/>
        </p:nvSpPr>
        <p:spPr>
          <a:xfrm>
            <a:off x="442559" y="402838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D4C20-9945-4A5C-9C76-6A6D4D820A1D}"/>
              </a:ext>
            </a:extLst>
          </p:cNvPr>
          <p:cNvSpPr txBox="1"/>
          <p:nvPr/>
        </p:nvSpPr>
        <p:spPr>
          <a:xfrm>
            <a:off x="429866" y="437544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67A81-FAB2-43A1-AE9A-A273E457C470}"/>
              </a:ext>
            </a:extLst>
          </p:cNvPr>
          <p:cNvSpPr txBox="1"/>
          <p:nvPr/>
        </p:nvSpPr>
        <p:spPr>
          <a:xfrm>
            <a:off x="415600" y="319574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EA7B44-7C7A-41C0-9C18-7022AF7CA237}"/>
              </a:ext>
            </a:extLst>
          </p:cNvPr>
          <p:cNvCxnSpPr>
            <a:cxnSpLocks/>
          </p:cNvCxnSpPr>
          <p:nvPr/>
        </p:nvCxnSpPr>
        <p:spPr>
          <a:xfrm>
            <a:off x="228600" y="289404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1EA6AA75-406A-4896-A8FD-EDB29DAAA1DB}"/>
              </a:ext>
            </a:extLst>
          </p:cNvPr>
          <p:cNvSpPr/>
          <p:nvPr/>
        </p:nvSpPr>
        <p:spPr>
          <a:xfrm>
            <a:off x="4982685" y="2776814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71F00F-6719-4484-941A-AE7E0749777C}"/>
              </a:ext>
            </a:extLst>
          </p:cNvPr>
          <p:cNvCxnSpPr>
            <a:cxnSpLocks/>
          </p:cNvCxnSpPr>
          <p:nvPr/>
        </p:nvCxnSpPr>
        <p:spPr>
          <a:xfrm>
            <a:off x="4982685" y="361024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827797-9100-4B24-A706-6727A41B7586}"/>
              </a:ext>
            </a:extLst>
          </p:cNvPr>
          <p:cNvCxnSpPr>
            <a:cxnSpLocks/>
          </p:cNvCxnSpPr>
          <p:nvPr/>
        </p:nvCxnSpPr>
        <p:spPr>
          <a:xfrm>
            <a:off x="4982685" y="4024585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94A98C-8B00-4EBF-80F5-F2B8F4133B82}"/>
              </a:ext>
            </a:extLst>
          </p:cNvPr>
          <p:cNvCxnSpPr>
            <a:cxnSpLocks/>
          </p:cNvCxnSpPr>
          <p:nvPr/>
        </p:nvCxnSpPr>
        <p:spPr>
          <a:xfrm>
            <a:off x="4982685" y="3181627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3FAFC4-CE31-466F-977A-8D77368F6E84}"/>
              </a:ext>
            </a:extLst>
          </p:cNvPr>
          <p:cNvCxnSpPr>
            <a:cxnSpLocks/>
          </p:cNvCxnSpPr>
          <p:nvPr/>
        </p:nvCxnSpPr>
        <p:spPr>
          <a:xfrm>
            <a:off x="4982685" y="4400823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CCE4A48-872C-474B-8E54-500DFDA37CB5}"/>
              </a:ext>
            </a:extLst>
          </p:cNvPr>
          <p:cNvSpPr txBox="1"/>
          <p:nvPr/>
        </p:nvSpPr>
        <p:spPr>
          <a:xfrm>
            <a:off x="4996951" y="2704001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LOAD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D29212-1D61-4A03-8DF8-B877F025DD36}"/>
              </a:ext>
            </a:extLst>
          </p:cNvPr>
          <p:cNvSpPr txBox="1"/>
          <p:nvPr/>
        </p:nvSpPr>
        <p:spPr>
          <a:xfrm>
            <a:off x="4996951" y="35513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77ECB9-7173-4E84-8918-F2F5CC1DCA2B}"/>
              </a:ext>
            </a:extLst>
          </p:cNvPr>
          <p:cNvSpPr txBox="1"/>
          <p:nvPr/>
        </p:nvSpPr>
        <p:spPr>
          <a:xfrm>
            <a:off x="5009644" y="3955570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LOAD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377AC-EB22-4B9E-9A08-A9068CEDE6DA}"/>
              </a:ext>
            </a:extLst>
          </p:cNvPr>
          <p:cNvSpPr txBox="1"/>
          <p:nvPr/>
        </p:nvSpPr>
        <p:spPr>
          <a:xfrm>
            <a:off x="4996951" y="430263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MUL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A7D4FE-E0B4-45E0-B66C-C0FAFB2EBBAA}"/>
              </a:ext>
            </a:extLst>
          </p:cNvPr>
          <p:cNvSpPr txBox="1"/>
          <p:nvPr/>
        </p:nvSpPr>
        <p:spPr>
          <a:xfrm>
            <a:off x="4982685" y="3122935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SUB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38401-D907-4064-9D52-14A8FF142903}"/>
              </a:ext>
            </a:extLst>
          </p:cNvPr>
          <p:cNvSpPr txBox="1"/>
          <p:nvPr/>
        </p:nvSpPr>
        <p:spPr>
          <a:xfrm>
            <a:off x="4502713" y="5152139"/>
            <a:ext cx="438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</a:t>
            </a:r>
            <a:r>
              <a:rPr lang="en-IN" sz="2800" dirty="0" err="1"/>
              <a:t>ut</a:t>
            </a:r>
            <a:r>
              <a:rPr lang="en-IN" sz="2800" dirty="0"/>
              <a:t> of order execute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C25B17F-5E1C-3216-8AA6-F4685B91F71A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47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In-order Commit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F5156-A74E-4D2D-BA86-F74CA8A112D0}"/>
              </a:ext>
            </a:extLst>
          </p:cNvPr>
          <p:cNvSpPr txBox="1"/>
          <p:nvPr/>
        </p:nvSpPr>
        <p:spPr>
          <a:xfrm>
            <a:off x="9020065" y="4817902"/>
            <a:ext cx="31967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Completion (commit)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19F5F795-58F8-4142-9BC3-282539869A97}"/>
              </a:ext>
            </a:extLst>
          </p:cNvPr>
          <p:cNvSpPr/>
          <p:nvPr/>
        </p:nvSpPr>
        <p:spPr>
          <a:xfrm>
            <a:off x="9697877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3F9943-6BD7-45AB-BDC8-4BB43A2059AD}"/>
              </a:ext>
            </a:extLst>
          </p:cNvPr>
          <p:cNvCxnSpPr>
            <a:cxnSpLocks/>
          </p:cNvCxnSpPr>
          <p:nvPr/>
        </p:nvCxnSpPr>
        <p:spPr>
          <a:xfrm>
            <a:off x="9697877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C86449-0913-4B3B-998E-7DA08EC9992E}"/>
              </a:ext>
            </a:extLst>
          </p:cNvPr>
          <p:cNvCxnSpPr>
            <a:cxnSpLocks/>
          </p:cNvCxnSpPr>
          <p:nvPr/>
        </p:nvCxnSpPr>
        <p:spPr>
          <a:xfrm>
            <a:off x="9697877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B91E05-7F59-4CC0-A1DC-F93969C1F189}"/>
              </a:ext>
            </a:extLst>
          </p:cNvPr>
          <p:cNvCxnSpPr>
            <a:cxnSpLocks/>
          </p:cNvCxnSpPr>
          <p:nvPr/>
        </p:nvCxnSpPr>
        <p:spPr>
          <a:xfrm>
            <a:off x="9697877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918F9D-E888-414D-B2B8-C5E6D7D500BF}"/>
              </a:ext>
            </a:extLst>
          </p:cNvPr>
          <p:cNvCxnSpPr>
            <a:cxnSpLocks/>
          </p:cNvCxnSpPr>
          <p:nvPr/>
        </p:nvCxnSpPr>
        <p:spPr>
          <a:xfrm>
            <a:off x="9697877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27B010-D92A-450F-B307-E31188BE5774}"/>
              </a:ext>
            </a:extLst>
          </p:cNvPr>
          <p:cNvSpPr txBox="1"/>
          <p:nvPr/>
        </p:nvSpPr>
        <p:spPr>
          <a:xfrm>
            <a:off x="9712143" y="2529164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46FF0-BDE0-4A26-8EA9-52C3098B23BC}"/>
              </a:ext>
            </a:extLst>
          </p:cNvPr>
          <p:cNvSpPr txBox="1"/>
          <p:nvPr/>
        </p:nvSpPr>
        <p:spPr>
          <a:xfrm>
            <a:off x="9712143" y="3376477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A4511-05F6-4719-91FD-08A28B25D57A}"/>
              </a:ext>
            </a:extLst>
          </p:cNvPr>
          <p:cNvSpPr txBox="1"/>
          <p:nvPr/>
        </p:nvSpPr>
        <p:spPr>
          <a:xfrm>
            <a:off x="9724836" y="3780733"/>
            <a:ext cx="1730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EAEC8-FAB8-4C98-A1CF-3E5DA0AE69C7}"/>
              </a:ext>
            </a:extLst>
          </p:cNvPr>
          <p:cNvSpPr txBox="1"/>
          <p:nvPr/>
        </p:nvSpPr>
        <p:spPr>
          <a:xfrm>
            <a:off x="9712143" y="4127793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80E6BF-D3D0-4A44-85BC-BD438AE525F6}"/>
              </a:ext>
            </a:extLst>
          </p:cNvPr>
          <p:cNvSpPr txBox="1"/>
          <p:nvPr/>
        </p:nvSpPr>
        <p:spPr>
          <a:xfrm>
            <a:off x="9697877" y="29480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4DF75488-3453-492C-B4C3-C166E8D3EFCE}"/>
              </a:ext>
            </a:extLst>
          </p:cNvPr>
          <p:cNvSpPr/>
          <p:nvPr/>
        </p:nvSpPr>
        <p:spPr>
          <a:xfrm>
            <a:off x="4982685" y="2776814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2A1146-A415-4CEA-9B34-B2C73601AB16}"/>
              </a:ext>
            </a:extLst>
          </p:cNvPr>
          <p:cNvCxnSpPr>
            <a:cxnSpLocks/>
          </p:cNvCxnSpPr>
          <p:nvPr/>
        </p:nvCxnSpPr>
        <p:spPr>
          <a:xfrm>
            <a:off x="4982685" y="361024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5BAD6C-E687-4B7D-9C6A-70858A2C867D}"/>
              </a:ext>
            </a:extLst>
          </p:cNvPr>
          <p:cNvCxnSpPr>
            <a:cxnSpLocks/>
          </p:cNvCxnSpPr>
          <p:nvPr/>
        </p:nvCxnSpPr>
        <p:spPr>
          <a:xfrm>
            <a:off x="4982685" y="4024585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CF024DD-ED5A-4486-887F-3207E0F67F4C}"/>
              </a:ext>
            </a:extLst>
          </p:cNvPr>
          <p:cNvCxnSpPr>
            <a:cxnSpLocks/>
          </p:cNvCxnSpPr>
          <p:nvPr/>
        </p:nvCxnSpPr>
        <p:spPr>
          <a:xfrm>
            <a:off x="4982685" y="3181627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8EBF80-9CF7-4811-8800-F15CAD24D666}"/>
              </a:ext>
            </a:extLst>
          </p:cNvPr>
          <p:cNvCxnSpPr>
            <a:cxnSpLocks/>
          </p:cNvCxnSpPr>
          <p:nvPr/>
        </p:nvCxnSpPr>
        <p:spPr>
          <a:xfrm>
            <a:off x="4982685" y="4400823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49D24B-4F5C-4CC9-BBF2-8ED571CA6FAE}"/>
              </a:ext>
            </a:extLst>
          </p:cNvPr>
          <p:cNvSpPr txBox="1"/>
          <p:nvPr/>
        </p:nvSpPr>
        <p:spPr>
          <a:xfrm>
            <a:off x="4996951" y="2704001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LOAD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9092C0-C09A-48A7-A346-C2B82412624B}"/>
              </a:ext>
            </a:extLst>
          </p:cNvPr>
          <p:cNvSpPr txBox="1"/>
          <p:nvPr/>
        </p:nvSpPr>
        <p:spPr>
          <a:xfrm>
            <a:off x="4996951" y="35513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6E6D93-DE52-423A-8221-DE6C234D096A}"/>
              </a:ext>
            </a:extLst>
          </p:cNvPr>
          <p:cNvSpPr txBox="1"/>
          <p:nvPr/>
        </p:nvSpPr>
        <p:spPr>
          <a:xfrm>
            <a:off x="5009644" y="3955570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LOAD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F81CC-103D-428D-B3D7-E95F4CFB58F7}"/>
              </a:ext>
            </a:extLst>
          </p:cNvPr>
          <p:cNvSpPr txBox="1"/>
          <p:nvPr/>
        </p:nvSpPr>
        <p:spPr>
          <a:xfrm>
            <a:off x="4996951" y="430263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MUL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35BEA6-0636-4B75-B612-0589179CDFCD}"/>
              </a:ext>
            </a:extLst>
          </p:cNvPr>
          <p:cNvSpPr txBox="1"/>
          <p:nvPr/>
        </p:nvSpPr>
        <p:spPr>
          <a:xfrm>
            <a:off x="4982685" y="3122935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SUB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2A2350-FA6E-44D3-9C70-8FC04F35BA37}"/>
              </a:ext>
            </a:extLst>
          </p:cNvPr>
          <p:cNvSpPr txBox="1"/>
          <p:nvPr/>
        </p:nvSpPr>
        <p:spPr>
          <a:xfrm>
            <a:off x="4502713" y="5152139"/>
            <a:ext cx="438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</a:t>
            </a:r>
            <a:r>
              <a:rPr lang="en-IN" sz="2800" dirty="0" err="1"/>
              <a:t>ut</a:t>
            </a:r>
            <a:r>
              <a:rPr lang="en-IN" sz="2800" dirty="0"/>
              <a:t> of order execute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98D9D9-1C04-1B13-8460-0D48EC37A871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20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In-order Commit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F5156-A74E-4D2D-BA86-F74CA8A112D0}"/>
              </a:ext>
            </a:extLst>
          </p:cNvPr>
          <p:cNvSpPr txBox="1"/>
          <p:nvPr/>
        </p:nvSpPr>
        <p:spPr>
          <a:xfrm>
            <a:off x="9020065" y="4817902"/>
            <a:ext cx="31967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Completion (commit)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19F5F795-58F8-4142-9BC3-282539869A97}"/>
              </a:ext>
            </a:extLst>
          </p:cNvPr>
          <p:cNvSpPr/>
          <p:nvPr/>
        </p:nvSpPr>
        <p:spPr>
          <a:xfrm>
            <a:off x="9697877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3F9943-6BD7-45AB-BDC8-4BB43A2059AD}"/>
              </a:ext>
            </a:extLst>
          </p:cNvPr>
          <p:cNvCxnSpPr>
            <a:cxnSpLocks/>
          </p:cNvCxnSpPr>
          <p:nvPr/>
        </p:nvCxnSpPr>
        <p:spPr>
          <a:xfrm>
            <a:off x="9697877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C86449-0913-4B3B-998E-7DA08EC9992E}"/>
              </a:ext>
            </a:extLst>
          </p:cNvPr>
          <p:cNvCxnSpPr>
            <a:cxnSpLocks/>
          </p:cNvCxnSpPr>
          <p:nvPr/>
        </p:nvCxnSpPr>
        <p:spPr>
          <a:xfrm>
            <a:off x="9697877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B91E05-7F59-4CC0-A1DC-F93969C1F189}"/>
              </a:ext>
            </a:extLst>
          </p:cNvPr>
          <p:cNvCxnSpPr>
            <a:cxnSpLocks/>
          </p:cNvCxnSpPr>
          <p:nvPr/>
        </p:nvCxnSpPr>
        <p:spPr>
          <a:xfrm>
            <a:off x="9697877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918F9D-E888-414D-B2B8-C5E6D7D500BF}"/>
              </a:ext>
            </a:extLst>
          </p:cNvPr>
          <p:cNvCxnSpPr>
            <a:cxnSpLocks/>
          </p:cNvCxnSpPr>
          <p:nvPr/>
        </p:nvCxnSpPr>
        <p:spPr>
          <a:xfrm>
            <a:off x="9697877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27B010-D92A-450F-B307-E31188BE5774}"/>
              </a:ext>
            </a:extLst>
          </p:cNvPr>
          <p:cNvSpPr txBox="1"/>
          <p:nvPr/>
        </p:nvSpPr>
        <p:spPr>
          <a:xfrm>
            <a:off x="9712143" y="2529164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46FF0-BDE0-4A26-8EA9-52C3098B23BC}"/>
              </a:ext>
            </a:extLst>
          </p:cNvPr>
          <p:cNvSpPr txBox="1"/>
          <p:nvPr/>
        </p:nvSpPr>
        <p:spPr>
          <a:xfrm>
            <a:off x="9712143" y="3376477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A4511-05F6-4719-91FD-08A28B25D57A}"/>
              </a:ext>
            </a:extLst>
          </p:cNvPr>
          <p:cNvSpPr txBox="1"/>
          <p:nvPr/>
        </p:nvSpPr>
        <p:spPr>
          <a:xfrm>
            <a:off x="9724836" y="3780733"/>
            <a:ext cx="1730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EAEC8-FAB8-4C98-A1CF-3E5DA0AE69C7}"/>
              </a:ext>
            </a:extLst>
          </p:cNvPr>
          <p:cNvSpPr txBox="1"/>
          <p:nvPr/>
        </p:nvSpPr>
        <p:spPr>
          <a:xfrm>
            <a:off x="9712143" y="4127793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80E6BF-D3D0-4A44-85BC-BD438AE525F6}"/>
              </a:ext>
            </a:extLst>
          </p:cNvPr>
          <p:cNvSpPr txBox="1"/>
          <p:nvPr/>
        </p:nvSpPr>
        <p:spPr>
          <a:xfrm>
            <a:off x="9697877" y="29480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4DF75488-3453-492C-B4C3-C166E8D3EFCE}"/>
              </a:ext>
            </a:extLst>
          </p:cNvPr>
          <p:cNvSpPr/>
          <p:nvPr/>
        </p:nvSpPr>
        <p:spPr>
          <a:xfrm>
            <a:off x="4982685" y="2776814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2A1146-A415-4CEA-9B34-B2C73601AB16}"/>
              </a:ext>
            </a:extLst>
          </p:cNvPr>
          <p:cNvCxnSpPr>
            <a:cxnSpLocks/>
          </p:cNvCxnSpPr>
          <p:nvPr/>
        </p:nvCxnSpPr>
        <p:spPr>
          <a:xfrm>
            <a:off x="4982685" y="361024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5BAD6C-E687-4B7D-9C6A-70858A2C867D}"/>
              </a:ext>
            </a:extLst>
          </p:cNvPr>
          <p:cNvCxnSpPr>
            <a:cxnSpLocks/>
          </p:cNvCxnSpPr>
          <p:nvPr/>
        </p:nvCxnSpPr>
        <p:spPr>
          <a:xfrm>
            <a:off x="4982685" y="4024585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CF024DD-ED5A-4486-887F-3207E0F67F4C}"/>
              </a:ext>
            </a:extLst>
          </p:cNvPr>
          <p:cNvCxnSpPr>
            <a:cxnSpLocks/>
          </p:cNvCxnSpPr>
          <p:nvPr/>
        </p:nvCxnSpPr>
        <p:spPr>
          <a:xfrm>
            <a:off x="4982685" y="3181627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8EBF80-9CF7-4811-8800-F15CAD24D666}"/>
              </a:ext>
            </a:extLst>
          </p:cNvPr>
          <p:cNvCxnSpPr>
            <a:cxnSpLocks/>
          </p:cNvCxnSpPr>
          <p:nvPr/>
        </p:nvCxnSpPr>
        <p:spPr>
          <a:xfrm>
            <a:off x="4982685" y="4400823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49D24B-4F5C-4CC9-BBF2-8ED571CA6FAE}"/>
              </a:ext>
            </a:extLst>
          </p:cNvPr>
          <p:cNvSpPr txBox="1"/>
          <p:nvPr/>
        </p:nvSpPr>
        <p:spPr>
          <a:xfrm>
            <a:off x="4996951" y="2704001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LOAD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9092C0-C09A-48A7-A346-C2B82412624B}"/>
              </a:ext>
            </a:extLst>
          </p:cNvPr>
          <p:cNvSpPr txBox="1"/>
          <p:nvPr/>
        </p:nvSpPr>
        <p:spPr>
          <a:xfrm>
            <a:off x="4996951" y="35513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6E6D93-DE52-423A-8221-DE6C234D096A}"/>
              </a:ext>
            </a:extLst>
          </p:cNvPr>
          <p:cNvSpPr txBox="1"/>
          <p:nvPr/>
        </p:nvSpPr>
        <p:spPr>
          <a:xfrm>
            <a:off x="5009644" y="3955570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LOAD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F81CC-103D-428D-B3D7-E95F4CFB58F7}"/>
              </a:ext>
            </a:extLst>
          </p:cNvPr>
          <p:cNvSpPr txBox="1"/>
          <p:nvPr/>
        </p:nvSpPr>
        <p:spPr>
          <a:xfrm>
            <a:off x="4996951" y="430263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MUL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35BEA6-0636-4B75-B612-0589179CDFCD}"/>
              </a:ext>
            </a:extLst>
          </p:cNvPr>
          <p:cNvSpPr txBox="1"/>
          <p:nvPr/>
        </p:nvSpPr>
        <p:spPr>
          <a:xfrm>
            <a:off x="4982685" y="3122935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SUB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2A2350-FA6E-44D3-9C70-8FC04F35BA37}"/>
              </a:ext>
            </a:extLst>
          </p:cNvPr>
          <p:cNvSpPr txBox="1"/>
          <p:nvPr/>
        </p:nvSpPr>
        <p:spPr>
          <a:xfrm>
            <a:off x="4502713" y="5152139"/>
            <a:ext cx="438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</a:t>
            </a:r>
            <a:r>
              <a:rPr lang="en-IN" sz="2800" dirty="0" err="1"/>
              <a:t>ut</a:t>
            </a:r>
            <a:r>
              <a:rPr lang="en-IN" sz="2800" dirty="0"/>
              <a:t> of order execute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717BF-82BF-443D-8B17-024483F22F66}"/>
              </a:ext>
            </a:extLst>
          </p:cNvPr>
          <p:cNvSpPr/>
          <p:nvPr/>
        </p:nvSpPr>
        <p:spPr>
          <a:xfrm>
            <a:off x="3881438" y="1590675"/>
            <a:ext cx="791131" cy="16365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F8ACF9-EF4F-4CE6-AC15-9C581453904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881438" y="2408947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F07E1-46E8-4B6C-938C-D740E62A6848}"/>
              </a:ext>
            </a:extLst>
          </p:cNvPr>
          <p:cNvCxnSpPr/>
          <p:nvPr/>
        </p:nvCxnSpPr>
        <p:spPr>
          <a:xfrm>
            <a:off x="3881438" y="1980322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896A35-A7DB-42A2-B0CB-5C4067FB292D}"/>
              </a:ext>
            </a:extLst>
          </p:cNvPr>
          <p:cNvCxnSpPr/>
          <p:nvPr/>
        </p:nvCxnSpPr>
        <p:spPr>
          <a:xfrm>
            <a:off x="3881438" y="2842335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CCE27C-C5B9-49F2-A8C2-72F97DD4CB49}"/>
              </a:ext>
            </a:extLst>
          </p:cNvPr>
          <p:cNvSpPr txBox="1"/>
          <p:nvPr/>
        </p:nvSpPr>
        <p:spPr>
          <a:xfrm>
            <a:off x="1153223" y="1928645"/>
            <a:ext cx="2809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Reorder buffer (ROB)</a:t>
            </a:r>
            <a:endParaRPr lang="en-IN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0E723-49E5-4E8E-831A-E9880FB087EC}"/>
              </a:ext>
            </a:extLst>
          </p:cNvPr>
          <p:cNvSpPr txBox="1"/>
          <p:nvPr/>
        </p:nvSpPr>
        <p:spPr>
          <a:xfrm>
            <a:off x="4050656" y="278217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9143-7D4E-4684-9386-8B5DC617B02F}"/>
              </a:ext>
            </a:extLst>
          </p:cNvPr>
          <p:cNvSpPr txBox="1"/>
          <p:nvPr/>
        </p:nvSpPr>
        <p:spPr>
          <a:xfrm>
            <a:off x="4052082" y="238966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endParaRPr lang="en-IN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D15214-5178-4A0E-A788-701F6D04A491}"/>
              </a:ext>
            </a:extLst>
          </p:cNvPr>
          <p:cNvSpPr txBox="1"/>
          <p:nvPr/>
        </p:nvSpPr>
        <p:spPr>
          <a:xfrm>
            <a:off x="4043983" y="200384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  <a:endParaRPr lang="en-IN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1785A-DFD7-44E2-954C-C0128FA1873C}"/>
              </a:ext>
            </a:extLst>
          </p:cNvPr>
          <p:cNvCxnSpPr>
            <a:endCxn id="30" idx="2"/>
          </p:cNvCxnSpPr>
          <p:nvPr/>
        </p:nvCxnSpPr>
        <p:spPr>
          <a:xfrm flipV="1">
            <a:off x="3652838" y="3243836"/>
            <a:ext cx="567897" cy="3804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5751BCC-C23E-437A-987F-7E11FA10F44C}"/>
              </a:ext>
            </a:extLst>
          </p:cNvPr>
          <p:cNvSpPr txBox="1"/>
          <p:nvPr/>
        </p:nvSpPr>
        <p:spPr>
          <a:xfrm>
            <a:off x="3115380" y="3581668"/>
            <a:ext cx="1412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ROB head</a:t>
            </a:r>
            <a:endParaRPr lang="en-IN" sz="240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6DF5409-A327-9B32-F810-B81B0F9C2A1D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94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Speculative Execution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BE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</a:rPr>
              <a:t>5. ADD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SUB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F717BF-82BF-443D-8B17-024483F22F66}"/>
              </a:ext>
            </a:extLst>
          </p:cNvPr>
          <p:cNvSpPr/>
          <p:nvPr/>
        </p:nvSpPr>
        <p:spPr>
          <a:xfrm>
            <a:off x="8258267" y="1633538"/>
            <a:ext cx="791131" cy="16365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F8ACF9-EF4F-4CE6-AC15-9C581453904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8258267" y="2451810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F07E1-46E8-4B6C-938C-D740E62A6848}"/>
              </a:ext>
            </a:extLst>
          </p:cNvPr>
          <p:cNvCxnSpPr/>
          <p:nvPr/>
        </p:nvCxnSpPr>
        <p:spPr>
          <a:xfrm>
            <a:off x="8258267" y="2023185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896A35-A7DB-42A2-B0CB-5C4067FB292D}"/>
              </a:ext>
            </a:extLst>
          </p:cNvPr>
          <p:cNvCxnSpPr/>
          <p:nvPr/>
        </p:nvCxnSpPr>
        <p:spPr>
          <a:xfrm>
            <a:off x="8258267" y="2885198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80E723-49E5-4E8E-831A-E9880FB087EC}"/>
              </a:ext>
            </a:extLst>
          </p:cNvPr>
          <p:cNvSpPr txBox="1"/>
          <p:nvPr/>
        </p:nvSpPr>
        <p:spPr>
          <a:xfrm>
            <a:off x="8427485" y="282503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9143-7D4E-4684-9386-8B5DC617B02F}"/>
              </a:ext>
            </a:extLst>
          </p:cNvPr>
          <p:cNvSpPr txBox="1"/>
          <p:nvPr/>
        </p:nvSpPr>
        <p:spPr>
          <a:xfrm>
            <a:off x="8428911" y="243253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endParaRPr lang="en-IN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D15214-5178-4A0E-A788-701F6D04A491}"/>
              </a:ext>
            </a:extLst>
          </p:cNvPr>
          <p:cNvSpPr txBox="1"/>
          <p:nvPr/>
        </p:nvSpPr>
        <p:spPr>
          <a:xfrm>
            <a:off x="8420812" y="204671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  <a:endParaRPr lang="en-IN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1785A-DFD7-44E2-954C-C0128FA1873C}"/>
              </a:ext>
            </a:extLst>
          </p:cNvPr>
          <p:cNvCxnSpPr>
            <a:endCxn id="30" idx="2"/>
          </p:cNvCxnSpPr>
          <p:nvPr/>
        </p:nvCxnSpPr>
        <p:spPr>
          <a:xfrm flipV="1">
            <a:off x="8029667" y="3286699"/>
            <a:ext cx="567897" cy="3804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5751BCC-C23E-437A-987F-7E11FA10F44C}"/>
              </a:ext>
            </a:extLst>
          </p:cNvPr>
          <p:cNvSpPr txBox="1"/>
          <p:nvPr/>
        </p:nvSpPr>
        <p:spPr>
          <a:xfrm>
            <a:off x="7492209" y="3624531"/>
            <a:ext cx="4848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BE</a:t>
            </a:r>
            <a:r>
              <a:rPr lang="en-US" sz="2400" dirty="0"/>
              <a:t> reaches ROB head and </a:t>
            </a:r>
          </a:p>
          <a:p>
            <a:r>
              <a:rPr lang="en-US" sz="2400" dirty="0"/>
              <a:t>then processor realized it is a mistake</a:t>
            </a:r>
            <a:endParaRPr lang="en-IN" sz="2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140924-E502-4E43-86AD-23BD401C7FAD}"/>
              </a:ext>
            </a:extLst>
          </p:cNvPr>
          <p:cNvSpPr/>
          <p:nvPr/>
        </p:nvSpPr>
        <p:spPr>
          <a:xfrm>
            <a:off x="2430334" y="1540313"/>
            <a:ext cx="474792" cy="763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40BBA7-461E-46D6-868B-3E95D2CC1C62}"/>
              </a:ext>
            </a:extLst>
          </p:cNvPr>
          <p:cNvCxnSpPr>
            <a:cxnSpLocks/>
            <a:stCxn id="48" idx="1"/>
            <a:endCxn id="48" idx="3"/>
          </p:cNvCxnSpPr>
          <p:nvPr/>
        </p:nvCxnSpPr>
        <p:spPr>
          <a:xfrm>
            <a:off x="2430334" y="1922113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A21890-B646-480E-A2EE-EAC0FF7A695A}"/>
              </a:ext>
            </a:extLst>
          </p:cNvPr>
          <p:cNvCxnSpPr>
            <a:cxnSpLocks/>
          </p:cNvCxnSpPr>
          <p:nvPr/>
        </p:nvCxnSpPr>
        <p:spPr>
          <a:xfrm>
            <a:off x="2430334" y="1688751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0C1457-0E04-481F-9B22-B13123536647}"/>
              </a:ext>
            </a:extLst>
          </p:cNvPr>
          <p:cNvCxnSpPr>
            <a:cxnSpLocks/>
          </p:cNvCxnSpPr>
          <p:nvPr/>
        </p:nvCxnSpPr>
        <p:spPr>
          <a:xfrm>
            <a:off x="2419285" y="2117375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4796C05-A200-4661-B9C3-99BE330B6865}"/>
              </a:ext>
            </a:extLst>
          </p:cNvPr>
          <p:cNvSpPr txBox="1"/>
          <p:nvPr/>
        </p:nvSpPr>
        <p:spPr>
          <a:xfrm>
            <a:off x="2855070" y="1924642"/>
            <a:ext cx="3085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Branch Predictor: TRUE</a:t>
            </a:r>
            <a:endParaRPr lang="en-IN" sz="2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8E8C55-C7F6-47D8-A355-B5E6BD2C483F}"/>
              </a:ext>
            </a:extLst>
          </p:cNvPr>
          <p:cNvSpPr txBox="1"/>
          <p:nvPr/>
        </p:nvSpPr>
        <p:spPr>
          <a:xfrm>
            <a:off x="2683640" y="3096572"/>
            <a:ext cx="3365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Speculative (wrong path) </a:t>
            </a:r>
          </a:p>
          <a:p>
            <a:r>
              <a:rPr lang="en-US" sz="2400" dirty="0"/>
              <a:t>instructions</a:t>
            </a:r>
            <a:endParaRPr lang="en-IN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DD1810-7BFF-408D-95F1-91EDD5E17296}"/>
              </a:ext>
            </a:extLst>
          </p:cNvPr>
          <p:cNvSpPr txBox="1"/>
          <p:nvPr/>
        </p:nvSpPr>
        <p:spPr>
          <a:xfrm>
            <a:off x="8420812" y="15991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  <a:endParaRPr lang="en-IN" sz="2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0C8236-11EF-4B1B-9630-BCC94B69EC1E}"/>
              </a:ext>
            </a:extLst>
          </p:cNvPr>
          <p:cNvSpPr txBox="1"/>
          <p:nvPr/>
        </p:nvSpPr>
        <p:spPr>
          <a:xfrm>
            <a:off x="3743051" y="6142820"/>
            <a:ext cx="571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Recent Intel processors have 750-entry ROBs</a:t>
            </a:r>
            <a:endParaRPr lang="en-US" sz="2400" i="1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E30610B-1AC6-9A3D-5564-8DD0A8EB300E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68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Speculative Execution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BE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</a:rPr>
              <a:t>5. ADD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SUB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F717BF-82BF-443D-8B17-024483F22F66}"/>
              </a:ext>
            </a:extLst>
          </p:cNvPr>
          <p:cNvSpPr/>
          <p:nvPr/>
        </p:nvSpPr>
        <p:spPr>
          <a:xfrm>
            <a:off x="8258267" y="1633538"/>
            <a:ext cx="791131" cy="16365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F8ACF9-EF4F-4CE6-AC15-9C581453904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8258267" y="2451810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F07E1-46E8-4B6C-938C-D740E62A6848}"/>
              </a:ext>
            </a:extLst>
          </p:cNvPr>
          <p:cNvCxnSpPr/>
          <p:nvPr/>
        </p:nvCxnSpPr>
        <p:spPr>
          <a:xfrm>
            <a:off x="8258267" y="2023185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896A35-A7DB-42A2-B0CB-5C4067FB292D}"/>
              </a:ext>
            </a:extLst>
          </p:cNvPr>
          <p:cNvCxnSpPr/>
          <p:nvPr/>
        </p:nvCxnSpPr>
        <p:spPr>
          <a:xfrm>
            <a:off x="8258267" y="2885198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80E723-49E5-4E8E-831A-E9880FB087EC}"/>
              </a:ext>
            </a:extLst>
          </p:cNvPr>
          <p:cNvSpPr txBox="1"/>
          <p:nvPr/>
        </p:nvSpPr>
        <p:spPr>
          <a:xfrm>
            <a:off x="8427485" y="282503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9143-7D4E-4684-9386-8B5DC617B02F}"/>
              </a:ext>
            </a:extLst>
          </p:cNvPr>
          <p:cNvSpPr txBox="1"/>
          <p:nvPr/>
        </p:nvSpPr>
        <p:spPr>
          <a:xfrm>
            <a:off x="8428911" y="243253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2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D15214-5178-4A0E-A788-701F6D04A491}"/>
              </a:ext>
            </a:extLst>
          </p:cNvPr>
          <p:cNvSpPr txBox="1"/>
          <p:nvPr/>
        </p:nvSpPr>
        <p:spPr>
          <a:xfrm>
            <a:off x="8420812" y="204671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</a:t>
            </a:r>
            <a:endParaRPr lang="en-IN" sz="2400" dirty="0">
              <a:solidFill>
                <a:srgbClr val="C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1785A-DFD7-44E2-954C-C0128FA1873C}"/>
              </a:ext>
            </a:extLst>
          </p:cNvPr>
          <p:cNvCxnSpPr>
            <a:endCxn id="30" idx="2"/>
          </p:cNvCxnSpPr>
          <p:nvPr/>
        </p:nvCxnSpPr>
        <p:spPr>
          <a:xfrm flipV="1">
            <a:off x="8029667" y="3286699"/>
            <a:ext cx="567897" cy="3804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5751BCC-C23E-437A-987F-7E11FA10F44C}"/>
              </a:ext>
            </a:extLst>
          </p:cNvPr>
          <p:cNvSpPr txBox="1"/>
          <p:nvPr/>
        </p:nvSpPr>
        <p:spPr>
          <a:xfrm>
            <a:off x="7492209" y="3624531"/>
            <a:ext cx="4848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BE reaches ROB head and </a:t>
            </a:r>
          </a:p>
          <a:p>
            <a:r>
              <a:rPr lang="en-US" sz="2400" dirty="0"/>
              <a:t>then processor realized it is a mistake</a:t>
            </a:r>
            <a:endParaRPr lang="en-IN" sz="2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140924-E502-4E43-86AD-23BD401C7FAD}"/>
              </a:ext>
            </a:extLst>
          </p:cNvPr>
          <p:cNvSpPr/>
          <p:nvPr/>
        </p:nvSpPr>
        <p:spPr>
          <a:xfrm>
            <a:off x="2430334" y="1540313"/>
            <a:ext cx="474792" cy="763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40BBA7-461E-46D6-868B-3E95D2CC1C62}"/>
              </a:ext>
            </a:extLst>
          </p:cNvPr>
          <p:cNvCxnSpPr>
            <a:cxnSpLocks/>
            <a:stCxn id="48" idx="1"/>
            <a:endCxn id="48" idx="3"/>
          </p:cNvCxnSpPr>
          <p:nvPr/>
        </p:nvCxnSpPr>
        <p:spPr>
          <a:xfrm>
            <a:off x="2430334" y="1922113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A21890-B646-480E-A2EE-EAC0FF7A695A}"/>
              </a:ext>
            </a:extLst>
          </p:cNvPr>
          <p:cNvCxnSpPr>
            <a:cxnSpLocks/>
          </p:cNvCxnSpPr>
          <p:nvPr/>
        </p:nvCxnSpPr>
        <p:spPr>
          <a:xfrm>
            <a:off x="2430334" y="1688751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0C1457-0E04-481F-9B22-B13123536647}"/>
              </a:ext>
            </a:extLst>
          </p:cNvPr>
          <p:cNvCxnSpPr>
            <a:cxnSpLocks/>
          </p:cNvCxnSpPr>
          <p:nvPr/>
        </p:nvCxnSpPr>
        <p:spPr>
          <a:xfrm>
            <a:off x="2419285" y="2117375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4796C05-A200-4661-B9C3-99BE330B6865}"/>
              </a:ext>
            </a:extLst>
          </p:cNvPr>
          <p:cNvSpPr txBox="1"/>
          <p:nvPr/>
        </p:nvSpPr>
        <p:spPr>
          <a:xfrm>
            <a:off x="2855070" y="1924642"/>
            <a:ext cx="3085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Branch Predictor: TRUE</a:t>
            </a:r>
            <a:endParaRPr lang="en-IN" sz="2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8E8C55-C7F6-47D8-A355-B5E6BD2C483F}"/>
              </a:ext>
            </a:extLst>
          </p:cNvPr>
          <p:cNvSpPr txBox="1"/>
          <p:nvPr/>
        </p:nvSpPr>
        <p:spPr>
          <a:xfrm>
            <a:off x="2683640" y="3096572"/>
            <a:ext cx="3365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Speculative (wrong path) </a:t>
            </a:r>
          </a:p>
          <a:p>
            <a:r>
              <a:rPr lang="en-US" sz="2400" dirty="0"/>
              <a:t>instructions</a:t>
            </a:r>
            <a:endParaRPr lang="en-IN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DD1810-7BFF-408D-95F1-91EDD5E17296}"/>
              </a:ext>
            </a:extLst>
          </p:cNvPr>
          <p:cNvSpPr txBox="1"/>
          <p:nvPr/>
        </p:nvSpPr>
        <p:spPr>
          <a:xfrm>
            <a:off x="8420812" y="15991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4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C6D73-E158-4861-B48B-1422C6445E72}"/>
              </a:ext>
            </a:extLst>
          </p:cNvPr>
          <p:cNvSpPr txBox="1"/>
          <p:nvPr/>
        </p:nvSpPr>
        <p:spPr>
          <a:xfrm>
            <a:off x="9008353" y="2017032"/>
            <a:ext cx="30265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Instructions 2, 3, and 4</a:t>
            </a:r>
          </a:p>
          <a:p>
            <a:r>
              <a:rPr lang="en-US" sz="2400" dirty="0"/>
              <a:t>Got squashed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69683A-4400-439C-8B1B-46739A2189E2}"/>
              </a:ext>
            </a:extLst>
          </p:cNvPr>
          <p:cNvSpPr txBox="1"/>
          <p:nvPr/>
        </p:nvSpPr>
        <p:spPr>
          <a:xfrm>
            <a:off x="2964740" y="5960998"/>
            <a:ext cx="7315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Same happens in the case of a page fault, exception </a:t>
            </a:r>
            <a:r>
              <a:rPr lang="en-US" sz="2400" i="1" dirty="0" err="1"/>
              <a:t>etc</a:t>
            </a:r>
            <a:r>
              <a:rPr lang="en-US" sz="2400" i="1" dirty="0"/>
              <a:t>…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D3732D3-BE3A-CB16-5753-715F7417BC42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33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4F35-BF15-2BC9-160C-FE7FC2F5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Great tastes that tastes great together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AF4A5-CE58-9A87-45CC-1ABC96C2D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CPI &lt; 1 : Go for Superscalar </a:t>
            </a:r>
          </a:p>
          <a:p>
            <a:endParaRPr lang="en-US" sz="3600" dirty="0"/>
          </a:p>
          <a:p>
            <a:r>
              <a:rPr lang="en-US" sz="3600" dirty="0"/>
              <a:t>Superscalar increases data hazards: Go for out-of-order 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Branch instructions are the problem: Speculative execution</a:t>
            </a:r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2CCF6-F5F9-70E0-F456-E0D00FF99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3207412-0697-DB48-90D2-67AFBF1EB8BB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237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E095-8354-452A-AAA1-5DA26716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Bottleneck (Servers, mobile workloads)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215B2-C1D1-4416-88DC-EE68648265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5" name="Google Shape;151;p26">
            <a:extLst>
              <a:ext uri="{FF2B5EF4-FFF2-40B4-BE49-F238E27FC236}">
                <a16:creationId xmlns:a16="http://schemas.microsoft.com/office/drawing/2014/main" id="{3991D8A2-CA5F-4811-B6F3-4C26381D98A1}"/>
              </a:ext>
            </a:extLst>
          </p:cNvPr>
          <p:cNvSpPr/>
          <p:nvPr/>
        </p:nvSpPr>
        <p:spPr>
          <a:xfrm>
            <a:off x="1782100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Conditional</a:t>
            </a:r>
            <a:endParaRPr sz="1200" dirty="0"/>
          </a:p>
        </p:txBody>
      </p:sp>
      <p:sp>
        <p:nvSpPr>
          <p:cNvPr id="6" name="Google Shape;154;p26">
            <a:extLst>
              <a:ext uri="{FF2B5EF4-FFF2-40B4-BE49-F238E27FC236}">
                <a16:creationId xmlns:a16="http://schemas.microsoft.com/office/drawing/2014/main" id="{FC1BD28D-CEF5-4676-8FD1-659CE88429A8}"/>
              </a:ext>
            </a:extLst>
          </p:cNvPr>
          <p:cNvSpPr/>
          <p:nvPr/>
        </p:nvSpPr>
        <p:spPr>
          <a:xfrm>
            <a:off x="3049485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Direct Jump</a:t>
            </a:r>
            <a:endParaRPr sz="1200" dirty="0"/>
          </a:p>
        </p:txBody>
      </p:sp>
      <p:sp>
        <p:nvSpPr>
          <p:cNvPr id="7" name="Google Shape;155;p26">
            <a:extLst>
              <a:ext uri="{FF2B5EF4-FFF2-40B4-BE49-F238E27FC236}">
                <a16:creationId xmlns:a16="http://schemas.microsoft.com/office/drawing/2014/main" id="{A1764B25-3052-4D16-B69B-2E45BF39AE4A}"/>
              </a:ext>
            </a:extLst>
          </p:cNvPr>
          <p:cNvSpPr/>
          <p:nvPr/>
        </p:nvSpPr>
        <p:spPr>
          <a:xfrm>
            <a:off x="6851640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Indirect Jump</a:t>
            </a:r>
            <a:endParaRPr sz="1200" dirty="0"/>
          </a:p>
        </p:txBody>
      </p:sp>
      <p:sp>
        <p:nvSpPr>
          <p:cNvPr id="8" name="Google Shape;156;p26">
            <a:extLst>
              <a:ext uri="{FF2B5EF4-FFF2-40B4-BE49-F238E27FC236}">
                <a16:creationId xmlns:a16="http://schemas.microsoft.com/office/drawing/2014/main" id="{5B255DD4-2804-48A4-9E4D-48E2C0558D3F}"/>
              </a:ext>
            </a:extLst>
          </p:cNvPr>
          <p:cNvSpPr/>
          <p:nvPr/>
        </p:nvSpPr>
        <p:spPr>
          <a:xfrm>
            <a:off x="8119025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Return</a:t>
            </a:r>
            <a:endParaRPr sz="1200" dirty="0"/>
          </a:p>
        </p:txBody>
      </p:sp>
      <p:sp>
        <p:nvSpPr>
          <p:cNvPr id="9" name="Google Shape;157;p26">
            <a:extLst>
              <a:ext uri="{FF2B5EF4-FFF2-40B4-BE49-F238E27FC236}">
                <a16:creationId xmlns:a16="http://schemas.microsoft.com/office/drawing/2014/main" id="{996D4B3E-E064-4CC5-8452-E4BE20300F7C}"/>
              </a:ext>
            </a:extLst>
          </p:cNvPr>
          <p:cNvSpPr/>
          <p:nvPr/>
        </p:nvSpPr>
        <p:spPr>
          <a:xfrm>
            <a:off x="4316870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Direct Call</a:t>
            </a:r>
            <a:endParaRPr sz="1200"/>
          </a:p>
        </p:txBody>
      </p:sp>
      <p:sp>
        <p:nvSpPr>
          <p:cNvPr id="10" name="Google Shape;158;p26">
            <a:extLst>
              <a:ext uri="{FF2B5EF4-FFF2-40B4-BE49-F238E27FC236}">
                <a16:creationId xmlns:a16="http://schemas.microsoft.com/office/drawing/2014/main" id="{B2ABC17D-3239-4B4D-8BD2-40A30BC67900}"/>
              </a:ext>
            </a:extLst>
          </p:cNvPr>
          <p:cNvSpPr/>
          <p:nvPr/>
        </p:nvSpPr>
        <p:spPr>
          <a:xfrm>
            <a:off x="5584255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Indirect Call</a:t>
            </a:r>
            <a:endParaRPr sz="1200"/>
          </a:p>
        </p:txBody>
      </p:sp>
      <p:sp>
        <p:nvSpPr>
          <p:cNvPr id="11" name="Google Shape;151;p26">
            <a:extLst>
              <a:ext uri="{FF2B5EF4-FFF2-40B4-BE49-F238E27FC236}">
                <a16:creationId xmlns:a16="http://schemas.microsoft.com/office/drawing/2014/main" id="{A639C80B-2A69-4CC5-B8CC-133A8D764563}"/>
              </a:ext>
            </a:extLst>
          </p:cNvPr>
          <p:cNvSpPr/>
          <p:nvPr/>
        </p:nvSpPr>
        <p:spPr>
          <a:xfrm>
            <a:off x="1782099" y="2111085"/>
            <a:ext cx="1267385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Direct Branch Predictor</a:t>
            </a:r>
            <a:endParaRPr sz="1200" dirty="0"/>
          </a:p>
        </p:txBody>
      </p:sp>
      <p:sp>
        <p:nvSpPr>
          <p:cNvPr id="12" name="Google Shape;151;p26">
            <a:extLst>
              <a:ext uri="{FF2B5EF4-FFF2-40B4-BE49-F238E27FC236}">
                <a16:creationId xmlns:a16="http://schemas.microsoft.com/office/drawing/2014/main" id="{A63FD522-730A-45DF-A0A3-9CEDF95C7B4F}"/>
              </a:ext>
            </a:extLst>
          </p:cNvPr>
          <p:cNvSpPr/>
          <p:nvPr/>
        </p:nvSpPr>
        <p:spPr>
          <a:xfrm>
            <a:off x="5483662" y="2134335"/>
            <a:ext cx="1267385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Always Taken</a:t>
            </a:r>
            <a:endParaRPr sz="1200" dirty="0"/>
          </a:p>
        </p:txBody>
      </p:sp>
      <p:sp>
        <p:nvSpPr>
          <p:cNvPr id="13" name="Google Shape;151;p26">
            <a:extLst>
              <a:ext uri="{FF2B5EF4-FFF2-40B4-BE49-F238E27FC236}">
                <a16:creationId xmlns:a16="http://schemas.microsoft.com/office/drawing/2014/main" id="{E291BDD3-36FC-4BFA-BAF2-60F5ED817C95}"/>
              </a:ext>
            </a:extLst>
          </p:cNvPr>
          <p:cNvSpPr/>
          <p:nvPr/>
        </p:nvSpPr>
        <p:spPr>
          <a:xfrm>
            <a:off x="2948892" y="3915410"/>
            <a:ext cx="1267385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Branch Target Buffer</a:t>
            </a:r>
            <a:endParaRPr sz="1200" dirty="0"/>
          </a:p>
        </p:txBody>
      </p:sp>
      <p:sp>
        <p:nvSpPr>
          <p:cNvPr id="14" name="Google Shape;151;p26">
            <a:extLst>
              <a:ext uri="{FF2B5EF4-FFF2-40B4-BE49-F238E27FC236}">
                <a16:creationId xmlns:a16="http://schemas.microsoft.com/office/drawing/2014/main" id="{030036CF-9F6B-4534-8C95-A10EEB5D8D2E}"/>
              </a:ext>
            </a:extLst>
          </p:cNvPr>
          <p:cNvSpPr/>
          <p:nvPr/>
        </p:nvSpPr>
        <p:spPr>
          <a:xfrm>
            <a:off x="6117354" y="3915410"/>
            <a:ext cx="1267385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Indirect Branch Predictor</a:t>
            </a:r>
            <a:endParaRPr sz="1200" dirty="0"/>
          </a:p>
        </p:txBody>
      </p:sp>
      <p:sp>
        <p:nvSpPr>
          <p:cNvPr id="15" name="Google Shape;151;p26">
            <a:extLst>
              <a:ext uri="{FF2B5EF4-FFF2-40B4-BE49-F238E27FC236}">
                <a16:creationId xmlns:a16="http://schemas.microsoft.com/office/drawing/2014/main" id="{AC573E14-CF85-4125-A1BB-F5CA7CF47F8C}"/>
              </a:ext>
            </a:extLst>
          </p:cNvPr>
          <p:cNvSpPr/>
          <p:nvPr/>
        </p:nvSpPr>
        <p:spPr>
          <a:xfrm>
            <a:off x="8012807" y="3915410"/>
            <a:ext cx="1267385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Return Address Stack</a:t>
            </a:r>
            <a:endParaRPr sz="1200" dirty="0"/>
          </a:p>
        </p:txBody>
      </p:sp>
      <p:sp>
        <p:nvSpPr>
          <p:cNvPr id="16" name="Google Shape;151;p26">
            <a:extLst>
              <a:ext uri="{FF2B5EF4-FFF2-40B4-BE49-F238E27FC236}">
                <a16:creationId xmlns:a16="http://schemas.microsoft.com/office/drawing/2014/main" id="{42E4E638-0822-49D3-9FF5-93818F71F3A6}"/>
              </a:ext>
            </a:extLst>
          </p:cNvPr>
          <p:cNvSpPr/>
          <p:nvPr/>
        </p:nvSpPr>
        <p:spPr>
          <a:xfrm>
            <a:off x="455524" y="2107655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Direction</a:t>
            </a:r>
            <a:endParaRPr sz="1200" dirty="0"/>
          </a:p>
        </p:txBody>
      </p:sp>
      <p:sp>
        <p:nvSpPr>
          <p:cNvPr id="17" name="Google Shape;151;p26">
            <a:extLst>
              <a:ext uri="{FF2B5EF4-FFF2-40B4-BE49-F238E27FC236}">
                <a16:creationId xmlns:a16="http://schemas.microsoft.com/office/drawing/2014/main" id="{CDE3D926-7856-4A55-8786-31042FE2C9C9}"/>
              </a:ext>
            </a:extLst>
          </p:cNvPr>
          <p:cNvSpPr/>
          <p:nvPr/>
        </p:nvSpPr>
        <p:spPr>
          <a:xfrm>
            <a:off x="455524" y="3013248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Branches</a:t>
            </a:r>
            <a:endParaRPr sz="1200" dirty="0"/>
          </a:p>
        </p:txBody>
      </p:sp>
      <p:sp>
        <p:nvSpPr>
          <p:cNvPr id="18" name="Google Shape;151;p26">
            <a:extLst>
              <a:ext uri="{FF2B5EF4-FFF2-40B4-BE49-F238E27FC236}">
                <a16:creationId xmlns:a16="http://schemas.microsoft.com/office/drawing/2014/main" id="{DA7FCE37-A680-4380-A950-570BAED99FF3}"/>
              </a:ext>
            </a:extLst>
          </p:cNvPr>
          <p:cNvSpPr/>
          <p:nvPr/>
        </p:nvSpPr>
        <p:spPr>
          <a:xfrm>
            <a:off x="450123" y="3915410"/>
            <a:ext cx="1066200" cy="4125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Branch Target</a:t>
            </a:r>
            <a:endParaRPr sz="1200" dirty="0"/>
          </a:p>
        </p:txBody>
      </p:sp>
      <p:cxnSp>
        <p:nvCxnSpPr>
          <p:cNvPr id="19" name="Google Shape;191;p27">
            <a:extLst>
              <a:ext uri="{FF2B5EF4-FFF2-40B4-BE49-F238E27FC236}">
                <a16:creationId xmlns:a16="http://schemas.microsoft.com/office/drawing/2014/main" id="{619E2F4D-311A-4D34-9771-D0C16BCD2F19}"/>
              </a:ext>
            </a:extLst>
          </p:cNvPr>
          <p:cNvCxnSpPr>
            <a:cxnSpLocks/>
          </p:cNvCxnSpPr>
          <p:nvPr/>
        </p:nvCxnSpPr>
        <p:spPr>
          <a:xfrm>
            <a:off x="1649211" y="1793029"/>
            <a:ext cx="0" cy="297680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FABDF060-CFA4-463A-BE39-AF6989DA82C7}"/>
              </a:ext>
            </a:extLst>
          </p:cNvPr>
          <p:cNvSpPr/>
          <p:nvPr/>
        </p:nvSpPr>
        <p:spPr>
          <a:xfrm rot="5400000">
            <a:off x="5911105" y="-314786"/>
            <a:ext cx="412500" cy="61357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0521365C-F016-45D3-A491-1FD54B140DA8}"/>
              </a:ext>
            </a:extLst>
          </p:cNvPr>
          <p:cNvSpPr/>
          <p:nvPr/>
        </p:nvSpPr>
        <p:spPr>
          <a:xfrm rot="16200000">
            <a:off x="3376335" y="1885425"/>
            <a:ext cx="412500" cy="36009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AF50473F-6014-4A14-802C-E7D16838AE76}"/>
              </a:ext>
            </a:extLst>
          </p:cNvPr>
          <p:cNvSpPr/>
          <p:nvPr/>
        </p:nvSpPr>
        <p:spPr>
          <a:xfrm rot="16200000">
            <a:off x="6544800" y="2519117"/>
            <a:ext cx="412500" cy="23335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297AA8CB-ACF8-41B7-A1D3-B9BAFA828063}"/>
              </a:ext>
            </a:extLst>
          </p:cNvPr>
          <p:cNvSpPr/>
          <p:nvPr/>
        </p:nvSpPr>
        <p:spPr>
          <a:xfrm rot="16200000">
            <a:off x="8440250" y="3188775"/>
            <a:ext cx="412500" cy="10407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B6AFCAAA-BE4E-4732-B373-E9BDA00BBD8F}"/>
              </a:ext>
            </a:extLst>
          </p:cNvPr>
          <p:cNvSpPr/>
          <p:nvPr/>
        </p:nvSpPr>
        <p:spPr>
          <a:xfrm rot="5400000">
            <a:off x="2090834" y="2263364"/>
            <a:ext cx="412500" cy="10407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A67C8B-1D20-8F96-C6D0-8B40306B5E68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33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34BB-6AEC-4B8C-8224-539FBDD9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instructions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A5AD1-E0B2-4833-A8BF-FD2E0D422E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49" name="Google Shape;149;p26">
            <a:extLst>
              <a:ext uri="{FF2B5EF4-FFF2-40B4-BE49-F238E27FC236}">
                <a16:creationId xmlns:a16="http://schemas.microsoft.com/office/drawing/2014/main" id="{A4B4374C-2670-4EF9-9794-F859FF7D3590}"/>
              </a:ext>
            </a:extLst>
          </p:cNvPr>
          <p:cNvSpPr txBox="1"/>
          <p:nvPr/>
        </p:nvSpPr>
        <p:spPr>
          <a:xfrm>
            <a:off x="1585837" y="1861783"/>
            <a:ext cx="3000000" cy="4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int 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func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(int num) {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int temp = 0;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FFAB4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if(num &gt; 0) </a:t>
            </a:r>
            <a:endParaRPr sz="1100" kern="0" dirty="0">
              <a:solidFill>
                <a:srgbClr val="FFAB4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{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 temp = temp + 1;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 </a:t>
            </a: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goto</a:t>
            </a: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loc;</a:t>
            </a:r>
            <a:endParaRPr sz="1100" kern="0" dirty="0">
              <a:solidFill>
                <a:srgbClr val="FFAB4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}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FFAB4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switch(temp)</a:t>
            </a:r>
            <a:endParaRPr sz="1100" kern="0" dirty="0">
              <a:solidFill>
                <a:srgbClr val="FFAB4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{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case 0: break;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case 1: break;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case 2: break;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case 3: break;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    case 4: break;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}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temp--;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loc: return temp;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FFAB4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}</a:t>
            </a:r>
            <a:endParaRPr sz="1100" kern="0" dirty="0">
              <a:solidFill>
                <a:srgbClr val="FFAB4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int main() {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FFAB4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func</a:t>
            </a: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(5);</a:t>
            </a:r>
            <a:endParaRPr sz="1100" kern="0" dirty="0">
              <a:solidFill>
                <a:srgbClr val="FFAB4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int (*temp)(int) = &amp;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func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;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628650" indent="-469900">
              <a:buClr>
                <a:srgbClr val="FFAB4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temp(5);</a:t>
            </a:r>
            <a:endParaRPr sz="1100" kern="0" dirty="0">
              <a:solidFill>
                <a:srgbClr val="FFAB4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}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150;p26">
            <a:extLst>
              <a:ext uri="{FF2B5EF4-FFF2-40B4-BE49-F238E27FC236}">
                <a16:creationId xmlns:a16="http://schemas.microsoft.com/office/drawing/2014/main" id="{52155D46-1FCE-48D4-B8BB-80BE5045129E}"/>
              </a:ext>
            </a:extLst>
          </p:cNvPr>
          <p:cNvSpPr txBox="1"/>
          <p:nvPr/>
        </p:nvSpPr>
        <p:spPr>
          <a:xfrm>
            <a:off x="5701687" y="1861783"/>
            <a:ext cx="30000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func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(int):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….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cmp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DWORD PTR [rbp-20], 0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jle</a:t>
            </a: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.L2</a:t>
            </a:r>
            <a:endParaRPr sz="1100" kern="0" dirty="0">
              <a:solidFill>
                <a:srgbClr val="0097A7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add DWORD PTR [rbp-4], 1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jmp</a:t>
            </a: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.L3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.L2: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cmp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DWORD PTR [rbp-4], 4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ja .L4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mov 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eax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, DWORD PTR [rbp-4]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mov 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rax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, QWORD PTR .L6[0+rax*8]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jmp</a:t>
            </a: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</a:t>
            </a: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rax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 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….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ret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main: ….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call </a:t>
            </a: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func</a:t>
            </a: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(int)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mov QWORD PTR [rbp-8], OFFSET 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FLAT:func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(int)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mov 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rax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, QWORD PTR [rbp-8]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mov </a:t>
            </a:r>
            <a:r>
              <a:rPr lang="en" sz="1100" kern="0" dirty="0" err="1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edi</a:t>
            </a: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, 5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call </a:t>
            </a:r>
            <a:r>
              <a:rPr lang="en" sz="1100" kern="0" dirty="0" err="1">
                <a:solidFill>
                  <a:srgbClr val="FFAB4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rax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  <a:p>
            <a:pPr marL="457200" indent="-298450"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 kern="0" dirty="0">
                <a:solidFill>
                  <a:srgbClr val="000000"/>
                </a:solidFill>
                <a:highlight>
                  <a:srgbClr val="FFFFFE"/>
                </a:highlight>
                <a:latin typeface="Arial"/>
                <a:cs typeface="Arial"/>
                <a:sym typeface="Arial"/>
              </a:rPr>
              <a:t>ret </a:t>
            </a:r>
            <a:endParaRPr sz="1100" kern="0" dirty="0">
              <a:solidFill>
                <a:srgbClr val="000000"/>
              </a:solidFill>
              <a:highlight>
                <a:srgbClr val="FFFFFE"/>
              </a:highlight>
              <a:latin typeface="Arial"/>
              <a:cs typeface="Arial"/>
              <a:sym typeface="Arial"/>
            </a:endParaRPr>
          </a:p>
        </p:txBody>
      </p:sp>
      <p:sp>
        <p:nvSpPr>
          <p:cNvPr id="51" name="Google Shape;151;p26">
            <a:extLst>
              <a:ext uri="{FF2B5EF4-FFF2-40B4-BE49-F238E27FC236}">
                <a16:creationId xmlns:a16="http://schemas.microsoft.com/office/drawing/2014/main" id="{B8F8201C-9A4C-4A97-A002-EFB9388699DF}"/>
              </a:ext>
            </a:extLst>
          </p:cNvPr>
          <p:cNvSpPr/>
          <p:nvPr/>
        </p:nvSpPr>
        <p:spPr>
          <a:xfrm>
            <a:off x="4128762" y="2305333"/>
            <a:ext cx="1066200" cy="4125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Conditional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52" name="Google Shape;152;p26">
            <a:extLst>
              <a:ext uri="{FF2B5EF4-FFF2-40B4-BE49-F238E27FC236}">
                <a16:creationId xmlns:a16="http://schemas.microsoft.com/office/drawing/2014/main" id="{807C7BDA-46F7-49E2-81D0-3242D006F320}"/>
              </a:ext>
            </a:extLst>
          </p:cNvPr>
          <p:cNvCxnSpPr>
            <a:stCxn id="51" idx="1"/>
          </p:cNvCxnSpPr>
          <p:nvPr/>
        </p:nvCxnSpPr>
        <p:spPr>
          <a:xfrm rot="10800000">
            <a:off x="3047262" y="2367583"/>
            <a:ext cx="1081500" cy="144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153;p26">
            <a:extLst>
              <a:ext uri="{FF2B5EF4-FFF2-40B4-BE49-F238E27FC236}">
                <a16:creationId xmlns:a16="http://schemas.microsoft.com/office/drawing/2014/main" id="{16399143-953F-4347-9077-D9640A97792D}"/>
              </a:ext>
            </a:extLst>
          </p:cNvPr>
          <p:cNvCxnSpPr>
            <a:stCxn id="51" idx="3"/>
          </p:cNvCxnSpPr>
          <p:nvPr/>
        </p:nvCxnSpPr>
        <p:spPr>
          <a:xfrm>
            <a:off x="5194962" y="2511583"/>
            <a:ext cx="693900" cy="35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Google Shape;154;p26">
            <a:extLst>
              <a:ext uri="{FF2B5EF4-FFF2-40B4-BE49-F238E27FC236}">
                <a16:creationId xmlns:a16="http://schemas.microsoft.com/office/drawing/2014/main" id="{69C6A988-4907-4930-8626-A2284C63A3F8}"/>
              </a:ext>
            </a:extLst>
          </p:cNvPr>
          <p:cNvSpPr/>
          <p:nvPr/>
        </p:nvSpPr>
        <p:spPr>
          <a:xfrm>
            <a:off x="4128762" y="2885708"/>
            <a:ext cx="1066200" cy="4125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Direct Jump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155;p26">
            <a:extLst>
              <a:ext uri="{FF2B5EF4-FFF2-40B4-BE49-F238E27FC236}">
                <a16:creationId xmlns:a16="http://schemas.microsoft.com/office/drawing/2014/main" id="{4AFB6791-5F33-410C-9AB6-AA643FFDBE03}"/>
              </a:ext>
            </a:extLst>
          </p:cNvPr>
          <p:cNvSpPr/>
          <p:nvPr/>
        </p:nvSpPr>
        <p:spPr>
          <a:xfrm>
            <a:off x="4128762" y="3466083"/>
            <a:ext cx="1066200" cy="4125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Indirect Jump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156;p26">
            <a:extLst>
              <a:ext uri="{FF2B5EF4-FFF2-40B4-BE49-F238E27FC236}">
                <a16:creationId xmlns:a16="http://schemas.microsoft.com/office/drawing/2014/main" id="{8F77AA58-5140-463C-ACBE-95E03BD6791A}"/>
              </a:ext>
            </a:extLst>
          </p:cNvPr>
          <p:cNvSpPr/>
          <p:nvPr/>
        </p:nvSpPr>
        <p:spPr>
          <a:xfrm>
            <a:off x="4128762" y="4046458"/>
            <a:ext cx="1066200" cy="4125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Return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157;p26">
            <a:extLst>
              <a:ext uri="{FF2B5EF4-FFF2-40B4-BE49-F238E27FC236}">
                <a16:creationId xmlns:a16="http://schemas.microsoft.com/office/drawing/2014/main" id="{A1B69067-6345-4D8B-AC37-8E36DE05B4CD}"/>
              </a:ext>
            </a:extLst>
          </p:cNvPr>
          <p:cNvSpPr/>
          <p:nvPr/>
        </p:nvSpPr>
        <p:spPr>
          <a:xfrm>
            <a:off x="4128762" y="4626833"/>
            <a:ext cx="1066200" cy="4125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Direct Call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158;p26">
            <a:extLst>
              <a:ext uri="{FF2B5EF4-FFF2-40B4-BE49-F238E27FC236}">
                <a16:creationId xmlns:a16="http://schemas.microsoft.com/office/drawing/2014/main" id="{B7EB2A36-36BC-4CD6-B42F-AEF4860C3A60}"/>
              </a:ext>
            </a:extLst>
          </p:cNvPr>
          <p:cNvSpPr/>
          <p:nvPr/>
        </p:nvSpPr>
        <p:spPr>
          <a:xfrm>
            <a:off x="4128762" y="5207208"/>
            <a:ext cx="1066200" cy="4125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Indirect Call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59" name="Google Shape;159;p26">
            <a:extLst>
              <a:ext uri="{FF2B5EF4-FFF2-40B4-BE49-F238E27FC236}">
                <a16:creationId xmlns:a16="http://schemas.microsoft.com/office/drawing/2014/main" id="{BEAB0CEA-6B04-477B-8213-10E976ACE225}"/>
              </a:ext>
            </a:extLst>
          </p:cNvPr>
          <p:cNvCxnSpPr>
            <a:stCxn id="54" idx="1"/>
          </p:cNvCxnSpPr>
          <p:nvPr/>
        </p:nvCxnSpPr>
        <p:spPr>
          <a:xfrm rot="10800000">
            <a:off x="3118662" y="2881058"/>
            <a:ext cx="1010100" cy="210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160;p26">
            <a:extLst>
              <a:ext uri="{FF2B5EF4-FFF2-40B4-BE49-F238E27FC236}">
                <a16:creationId xmlns:a16="http://schemas.microsoft.com/office/drawing/2014/main" id="{661A8B56-A626-4824-AC59-2E4E8311A8F8}"/>
              </a:ext>
            </a:extLst>
          </p:cNvPr>
          <p:cNvCxnSpPr>
            <a:stCxn id="55" idx="1"/>
          </p:cNvCxnSpPr>
          <p:nvPr/>
        </p:nvCxnSpPr>
        <p:spPr>
          <a:xfrm rot="10800000">
            <a:off x="3142062" y="3223533"/>
            <a:ext cx="986700" cy="448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161;p26">
            <a:extLst>
              <a:ext uri="{FF2B5EF4-FFF2-40B4-BE49-F238E27FC236}">
                <a16:creationId xmlns:a16="http://schemas.microsoft.com/office/drawing/2014/main" id="{9F97DD02-D274-4006-9A8D-2F1D0CEF5C7E}"/>
              </a:ext>
            </a:extLst>
          </p:cNvPr>
          <p:cNvCxnSpPr>
            <a:stCxn id="56" idx="1"/>
          </p:cNvCxnSpPr>
          <p:nvPr/>
        </p:nvCxnSpPr>
        <p:spPr>
          <a:xfrm flipH="1">
            <a:off x="2317362" y="4252708"/>
            <a:ext cx="1811400" cy="589500"/>
          </a:xfrm>
          <a:prstGeom prst="bentConnector3">
            <a:avLst>
              <a:gd name="adj1" fmla="val 2697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162;p26">
            <a:extLst>
              <a:ext uri="{FF2B5EF4-FFF2-40B4-BE49-F238E27FC236}">
                <a16:creationId xmlns:a16="http://schemas.microsoft.com/office/drawing/2014/main" id="{3CA753E7-6373-49F9-8FB5-9F7207D8E716}"/>
              </a:ext>
            </a:extLst>
          </p:cNvPr>
          <p:cNvCxnSpPr>
            <a:stCxn id="57" idx="1"/>
          </p:cNvCxnSpPr>
          <p:nvPr/>
        </p:nvCxnSpPr>
        <p:spPr>
          <a:xfrm flipH="1">
            <a:off x="3033162" y="4833083"/>
            <a:ext cx="1095600" cy="405900"/>
          </a:xfrm>
          <a:prstGeom prst="bentConnector3">
            <a:avLst>
              <a:gd name="adj1" fmla="val 17609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163;p26">
            <a:extLst>
              <a:ext uri="{FF2B5EF4-FFF2-40B4-BE49-F238E27FC236}">
                <a16:creationId xmlns:a16="http://schemas.microsoft.com/office/drawing/2014/main" id="{B8517F8F-EAEB-476B-977C-E61D9CFB56D0}"/>
              </a:ext>
            </a:extLst>
          </p:cNvPr>
          <p:cNvCxnSpPr>
            <a:stCxn id="58" idx="1"/>
          </p:cNvCxnSpPr>
          <p:nvPr/>
        </p:nvCxnSpPr>
        <p:spPr>
          <a:xfrm flipH="1">
            <a:off x="2877462" y="5413458"/>
            <a:ext cx="1251300" cy="167700"/>
          </a:xfrm>
          <a:prstGeom prst="bentConnector3">
            <a:avLst>
              <a:gd name="adj1" fmla="val 1541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" name="Google Shape;164;p26">
            <a:extLst>
              <a:ext uri="{FF2B5EF4-FFF2-40B4-BE49-F238E27FC236}">
                <a16:creationId xmlns:a16="http://schemas.microsoft.com/office/drawing/2014/main" id="{A3544A43-A6ED-43D1-837C-4B62FB468A87}"/>
              </a:ext>
            </a:extLst>
          </p:cNvPr>
          <p:cNvCxnSpPr>
            <a:stCxn id="54" idx="3"/>
          </p:cNvCxnSpPr>
          <p:nvPr/>
        </p:nvCxnSpPr>
        <p:spPr>
          <a:xfrm rot="10800000" flipH="1">
            <a:off x="5194962" y="2888858"/>
            <a:ext cx="693900" cy="203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" name="Google Shape;165;p26">
            <a:extLst>
              <a:ext uri="{FF2B5EF4-FFF2-40B4-BE49-F238E27FC236}">
                <a16:creationId xmlns:a16="http://schemas.microsoft.com/office/drawing/2014/main" id="{526EF4A5-F079-4589-9D47-3166A6559B39}"/>
              </a:ext>
            </a:extLst>
          </p:cNvPr>
          <p:cNvCxnSpPr>
            <a:stCxn id="55" idx="3"/>
          </p:cNvCxnSpPr>
          <p:nvPr/>
        </p:nvCxnSpPr>
        <p:spPr>
          <a:xfrm>
            <a:off x="5194962" y="3672333"/>
            <a:ext cx="639600" cy="228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166;p26">
            <a:extLst>
              <a:ext uri="{FF2B5EF4-FFF2-40B4-BE49-F238E27FC236}">
                <a16:creationId xmlns:a16="http://schemas.microsoft.com/office/drawing/2014/main" id="{B2939D76-D92E-42FE-B001-B7ECB4C89A1E}"/>
              </a:ext>
            </a:extLst>
          </p:cNvPr>
          <p:cNvCxnSpPr>
            <a:stCxn id="56" idx="3"/>
          </p:cNvCxnSpPr>
          <p:nvPr/>
        </p:nvCxnSpPr>
        <p:spPr>
          <a:xfrm rot="10800000" flipH="1">
            <a:off x="5194962" y="4227208"/>
            <a:ext cx="663000" cy="2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167;p26">
            <a:extLst>
              <a:ext uri="{FF2B5EF4-FFF2-40B4-BE49-F238E27FC236}">
                <a16:creationId xmlns:a16="http://schemas.microsoft.com/office/drawing/2014/main" id="{8739ECD9-D107-4F14-871C-26484A0CB723}"/>
              </a:ext>
            </a:extLst>
          </p:cNvPr>
          <p:cNvCxnSpPr>
            <a:stCxn id="57" idx="3"/>
          </p:cNvCxnSpPr>
          <p:nvPr/>
        </p:nvCxnSpPr>
        <p:spPr>
          <a:xfrm rot="10800000" flipH="1">
            <a:off x="5194962" y="4561883"/>
            <a:ext cx="655200" cy="27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168;p26">
            <a:extLst>
              <a:ext uri="{FF2B5EF4-FFF2-40B4-BE49-F238E27FC236}">
                <a16:creationId xmlns:a16="http://schemas.microsoft.com/office/drawing/2014/main" id="{F12111EE-2B2B-48ED-9844-84D62F4B65AE}"/>
              </a:ext>
            </a:extLst>
          </p:cNvPr>
          <p:cNvCxnSpPr>
            <a:stCxn id="58" idx="3"/>
          </p:cNvCxnSpPr>
          <p:nvPr/>
        </p:nvCxnSpPr>
        <p:spPr>
          <a:xfrm rot="10800000" flipH="1">
            <a:off x="5194962" y="5410158"/>
            <a:ext cx="639600" cy="3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169;p26">
            <a:extLst>
              <a:ext uri="{FF2B5EF4-FFF2-40B4-BE49-F238E27FC236}">
                <a16:creationId xmlns:a16="http://schemas.microsoft.com/office/drawing/2014/main" id="{3A4727D9-CBBA-4AE6-B397-1F08AA071817}"/>
              </a:ext>
            </a:extLst>
          </p:cNvPr>
          <p:cNvSpPr txBox="1"/>
          <p:nvPr/>
        </p:nvSpPr>
        <p:spPr>
          <a:xfrm>
            <a:off x="2340037" y="5843586"/>
            <a:ext cx="1491599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indent="-133350">
              <a:buClr>
                <a:srgbClr val="000000"/>
              </a:buClr>
              <a:buSzPts val="1200"/>
              <a:buFont typeface="Arial"/>
              <a:buAutoNum type="alphaLcParenBoth"/>
            </a:pPr>
            <a:r>
              <a:rPr lang="en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C++ Code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0" name="Google Shape;170;p26">
            <a:extLst>
              <a:ext uri="{FF2B5EF4-FFF2-40B4-BE49-F238E27FC236}">
                <a16:creationId xmlns:a16="http://schemas.microsoft.com/office/drawing/2014/main" id="{F2FBD9E5-DA2F-401A-8957-C62B365E1CBC}"/>
              </a:ext>
            </a:extLst>
          </p:cNvPr>
          <p:cNvSpPr txBox="1"/>
          <p:nvPr/>
        </p:nvSpPr>
        <p:spPr>
          <a:xfrm>
            <a:off x="6455887" y="5843586"/>
            <a:ext cx="149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(b) Assembly Code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5BE469-0932-B333-9C91-9E5EAAF91011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786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2DDF-60D1-42EA-A362-ED41857F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BTB/L1I Capacity</a:t>
            </a:r>
            <a:r>
              <a:rPr lang="en-US"/>
              <a:t>/latency </a:t>
            </a:r>
            <a:r>
              <a:rPr lang="en-US" dirty="0"/>
              <a:t>Problem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7D4AE-A7A7-4413-9DF0-E631BE1064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5" name="Rounded Rectangle 19">
            <a:extLst>
              <a:ext uri="{FF2B5EF4-FFF2-40B4-BE49-F238E27FC236}">
                <a16:creationId xmlns:a16="http://schemas.microsoft.com/office/drawing/2014/main" id="{D523FFE9-3D08-466C-873C-150B0F960EFA}"/>
              </a:ext>
            </a:extLst>
          </p:cNvPr>
          <p:cNvSpPr/>
          <p:nvPr/>
        </p:nvSpPr>
        <p:spPr>
          <a:xfrm>
            <a:off x="687920" y="1941265"/>
            <a:ext cx="3757717" cy="19722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 with low confidence">
            <a:extLst>
              <a:ext uri="{FF2B5EF4-FFF2-40B4-BE49-F238E27FC236}">
                <a16:creationId xmlns:a16="http://schemas.microsoft.com/office/drawing/2014/main" id="{3F3E4214-4475-4A0C-AA04-1C3074402E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15" b="-1"/>
          <a:stretch/>
        </p:blipFill>
        <p:spPr>
          <a:xfrm>
            <a:off x="854781" y="1996497"/>
            <a:ext cx="3402946" cy="930897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2B6245AF-0828-4689-9259-8D6A3085A6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015"/>
          <a:stretch/>
        </p:blipFill>
        <p:spPr>
          <a:xfrm>
            <a:off x="854781" y="2857600"/>
            <a:ext cx="3402946" cy="99577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17C663D-ECC1-4FE3-A921-8DBEADAE7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975" y="2023805"/>
            <a:ext cx="3413377" cy="445223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78FE9816-15B9-49FF-A01A-22D39FC9B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713" y="2476461"/>
            <a:ext cx="2779900" cy="1050062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93E14640-9BDC-4BC9-94BD-572906F71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600" y="3771853"/>
            <a:ext cx="3155596" cy="1440658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BC1EBF7B-7F89-40A7-9AC9-54F2BCD9B5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608" y="4967400"/>
            <a:ext cx="2710185" cy="630819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69DC99D0-250D-402A-AB19-B442A80C29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781" y="4167824"/>
            <a:ext cx="3270482" cy="606802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F83476E-C797-4CC2-B50F-17AB7F2ACE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781" y="4915981"/>
            <a:ext cx="3426291" cy="680233"/>
          </a:xfrm>
          <a:prstGeom prst="rect">
            <a:avLst/>
          </a:prstGeom>
        </p:spPr>
      </p:pic>
      <p:sp>
        <p:nvSpPr>
          <p:cNvPr id="14" name="Rounded Rectangle 28">
            <a:extLst>
              <a:ext uri="{FF2B5EF4-FFF2-40B4-BE49-F238E27FC236}">
                <a16:creationId xmlns:a16="http://schemas.microsoft.com/office/drawing/2014/main" id="{4AD9F4EA-0476-4F2E-8C6F-B9CDB19CB0B0}"/>
              </a:ext>
            </a:extLst>
          </p:cNvPr>
          <p:cNvSpPr/>
          <p:nvPr/>
        </p:nvSpPr>
        <p:spPr>
          <a:xfrm>
            <a:off x="687919" y="4081013"/>
            <a:ext cx="3757717" cy="16105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29">
            <a:extLst>
              <a:ext uri="{FF2B5EF4-FFF2-40B4-BE49-F238E27FC236}">
                <a16:creationId xmlns:a16="http://schemas.microsoft.com/office/drawing/2014/main" id="{5C763AA2-453F-4BE6-96BC-1F41B35CC666}"/>
              </a:ext>
            </a:extLst>
          </p:cNvPr>
          <p:cNvSpPr/>
          <p:nvPr/>
        </p:nvSpPr>
        <p:spPr>
          <a:xfrm>
            <a:off x="5053012" y="1941265"/>
            <a:ext cx="4003305" cy="160724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005B660C-58A0-42A6-AE51-E1257008478F}"/>
              </a:ext>
            </a:extLst>
          </p:cNvPr>
          <p:cNvSpPr/>
          <p:nvPr/>
        </p:nvSpPr>
        <p:spPr>
          <a:xfrm>
            <a:off x="5053012" y="3719306"/>
            <a:ext cx="4003305" cy="19722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5A9C0F54-43EA-4DA8-916B-B23CAAD2CA54}"/>
              </a:ext>
            </a:extLst>
          </p:cNvPr>
          <p:cNvSpPr/>
          <p:nvPr/>
        </p:nvSpPr>
        <p:spPr>
          <a:xfrm>
            <a:off x="1440507" y="3650588"/>
            <a:ext cx="936049" cy="22354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32">
            <a:extLst>
              <a:ext uri="{FF2B5EF4-FFF2-40B4-BE49-F238E27FC236}">
                <a16:creationId xmlns:a16="http://schemas.microsoft.com/office/drawing/2014/main" id="{EB4A820B-EAED-45B1-9215-9FE5D9E1C7EE}"/>
              </a:ext>
            </a:extLst>
          </p:cNvPr>
          <p:cNvSpPr/>
          <p:nvPr/>
        </p:nvSpPr>
        <p:spPr>
          <a:xfrm>
            <a:off x="3355043" y="5233543"/>
            <a:ext cx="936049" cy="22354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22D20088-51AE-4BC1-BA2F-B45CFAD51100}"/>
              </a:ext>
            </a:extLst>
          </p:cNvPr>
          <p:cNvSpPr/>
          <p:nvPr/>
        </p:nvSpPr>
        <p:spPr>
          <a:xfrm>
            <a:off x="7475838" y="3333598"/>
            <a:ext cx="487235" cy="1394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EE8F273C-70C1-4478-82D1-F242AA35FC67}"/>
              </a:ext>
            </a:extLst>
          </p:cNvPr>
          <p:cNvSpPr/>
          <p:nvPr/>
        </p:nvSpPr>
        <p:spPr>
          <a:xfrm>
            <a:off x="8573417" y="4936796"/>
            <a:ext cx="304973" cy="18836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B0A508F-40B7-3371-3BEE-C6A4374841D7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71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A1CE-F84A-43B1-9CFA-EC796AC1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76ECF-62B2-4034-9166-5BA81DD6D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pic>
        <p:nvPicPr>
          <p:cNvPr id="5" name="Google Shape;241;p35" title="Chart">
            <a:extLst>
              <a:ext uri="{FF2B5EF4-FFF2-40B4-BE49-F238E27FC236}">
                <a16:creationId xmlns:a16="http://schemas.microsoft.com/office/drawing/2014/main" id="{F0BFBA5A-86FE-4BD1-8FB8-EC5D7BF376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40850" y="2221412"/>
            <a:ext cx="6540375" cy="35597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42;p35">
            <a:extLst>
              <a:ext uri="{FF2B5EF4-FFF2-40B4-BE49-F238E27FC236}">
                <a16:creationId xmlns:a16="http://schemas.microsoft.com/office/drawing/2014/main" id="{EADD6B5A-812B-4031-BBB3-DAF89AC73DC3}"/>
              </a:ext>
            </a:extLst>
          </p:cNvPr>
          <p:cNvSpPr/>
          <p:nvPr/>
        </p:nvSpPr>
        <p:spPr>
          <a:xfrm>
            <a:off x="1700025" y="5781187"/>
            <a:ext cx="7344900" cy="404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/>
              <a:t>High MPKI in front-end structures due to increase in codebase.</a:t>
            </a:r>
            <a:endParaRPr sz="1700" b="1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D21A208-87C0-9648-FAE5-907B17B2028F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57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B7D4-42A2-49F9-BADB-6DEC913F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front-end: Google Web search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4B768-AA77-4325-9ADB-541189D31F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472DD0-5035-4C86-9E2A-DD288A260539}"/>
              </a:ext>
            </a:extLst>
          </p:cNvPr>
          <p:cNvSpPr/>
          <p:nvPr/>
        </p:nvSpPr>
        <p:spPr>
          <a:xfrm>
            <a:off x="585787" y="5043488"/>
            <a:ext cx="7393782" cy="7121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Ideal front-end does not provide significant performance improvement on top of ideal BTB (it has ideal ITLB too).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351C08-B406-498A-9CEF-9BD6D6BEC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879" y="2057400"/>
            <a:ext cx="3657600" cy="27432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C60A04C6-8C12-4BBF-8C63-D9ABF99F8583}"/>
              </a:ext>
            </a:extLst>
          </p:cNvPr>
          <p:cNvSpPr/>
          <p:nvPr/>
        </p:nvSpPr>
        <p:spPr>
          <a:xfrm>
            <a:off x="546497" y="3067050"/>
            <a:ext cx="3530636" cy="15021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Ideal BTB :- All misses converted to hits.</a:t>
            </a:r>
          </a:p>
          <a:p>
            <a:pPr algn="ctr"/>
            <a:r>
              <a:rPr lang="en-US" dirty="0"/>
              <a:t>Ideal L1I :- Misses converted to hits.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4EA1D8-3FDC-474E-8F5C-13E091344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479" y="1814512"/>
            <a:ext cx="4339340" cy="2805114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01862C-20E2-FEB6-9BBE-83D540A24916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72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D5DEDD-B589-8806-1156-0D2601A0F12F}"/>
              </a:ext>
            </a:extLst>
          </p:cNvPr>
          <p:cNvCxnSpPr>
            <a:cxnSpLocks/>
          </p:cNvCxnSpPr>
          <p:nvPr/>
        </p:nvCxnSpPr>
        <p:spPr>
          <a:xfrm flipV="1">
            <a:off x="2101763" y="2740819"/>
            <a:ext cx="1752048" cy="2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F5CE7148-2C94-3004-4A9E-A3B103EB5AC4}"/>
              </a:ext>
            </a:extLst>
          </p:cNvPr>
          <p:cNvSpPr/>
          <p:nvPr/>
        </p:nvSpPr>
        <p:spPr>
          <a:xfrm rot="5400000">
            <a:off x="1412694" y="1908005"/>
            <a:ext cx="1578007" cy="1716427"/>
          </a:xfrm>
          <a:prstGeom prst="rect">
            <a:avLst/>
          </a:prstGeom>
          <a:solidFill>
            <a:srgbClr val="3EC1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endParaRPr lang="en-GB" sz="1650"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4C31F8-8B9C-9BDF-A89E-B53B27C4FA02}"/>
              </a:ext>
            </a:extLst>
          </p:cNvPr>
          <p:cNvGraphicFramePr>
            <a:graphicFrameLocks noGrp="1"/>
          </p:cNvGraphicFramePr>
          <p:nvPr/>
        </p:nvGraphicFramePr>
        <p:xfrm>
          <a:off x="3863752" y="2492896"/>
          <a:ext cx="4289219" cy="57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9">
                  <a:extLst>
                    <a:ext uri="{9D8B030D-6E8A-4147-A177-3AD203B41FA5}">
                      <a16:colId xmlns:a16="http://schemas.microsoft.com/office/drawing/2014/main" val="302455526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335474623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3374791021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2973444415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2059491436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951072971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4137058173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2125914821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3230656609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98016043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364572440"/>
                    </a:ext>
                  </a:extLst>
                </a:gridCol>
              </a:tblGrid>
              <a:tr h="57973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58521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B3269A2-B3AD-0A44-7553-09A270EA335F}"/>
              </a:ext>
            </a:extLst>
          </p:cNvPr>
          <p:cNvSpPr txBox="1"/>
          <p:nvPr/>
        </p:nvSpPr>
        <p:spPr>
          <a:xfrm>
            <a:off x="1502127" y="2479045"/>
            <a:ext cx="1372341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650" b="1"/>
              <a:t>Branch Predictor </a:t>
            </a:r>
          </a:p>
        </p:txBody>
      </p:sp>
      <p:graphicFrame>
        <p:nvGraphicFramePr>
          <p:cNvPr id="29" name="Table 20">
            <a:extLst>
              <a:ext uri="{FF2B5EF4-FFF2-40B4-BE49-F238E27FC236}">
                <a16:creationId xmlns:a16="http://schemas.microsoft.com/office/drawing/2014/main" id="{3030327E-1146-4AA4-97C8-9F5FEAE97B71}"/>
              </a:ext>
            </a:extLst>
          </p:cNvPr>
          <p:cNvGraphicFramePr>
            <a:graphicFrameLocks noGrp="1"/>
          </p:cNvGraphicFramePr>
          <p:nvPr/>
        </p:nvGraphicFramePr>
        <p:xfrm>
          <a:off x="3879939" y="2509218"/>
          <a:ext cx="381586" cy="53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86">
                  <a:extLst>
                    <a:ext uri="{9D8B030D-6E8A-4147-A177-3AD203B41FA5}">
                      <a16:colId xmlns:a16="http://schemas.microsoft.com/office/drawing/2014/main" val="4177868672"/>
                    </a:ext>
                  </a:extLst>
                </a:gridCol>
              </a:tblGrid>
              <a:tr h="53866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6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17290"/>
                  </a:ext>
                </a:extLst>
              </a:tr>
            </a:tbl>
          </a:graphicData>
        </a:graphic>
      </p:graphicFrame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1AD920A6-9CC7-4A47-B7D1-FE80537D34C0}"/>
              </a:ext>
            </a:extLst>
          </p:cNvPr>
          <p:cNvGraphicFramePr>
            <a:graphicFrameLocks noGrp="1"/>
          </p:cNvGraphicFramePr>
          <p:nvPr/>
        </p:nvGraphicFramePr>
        <p:xfrm>
          <a:off x="2029227" y="2509218"/>
          <a:ext cx="381586" cy="53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86">
                  <a:extLst>
                    <a:ext uri="{9D8B030D-6E8A-4147-A177-3AD203B41FA5}">
                      <a16:colId xmlns:a16="http://schemas.microsoft.com/office/drawing/2014/main" val="4177868672"/>
                    </a:ext>
                  </a:extLst>
                </a:gridCol>
              </a:tblGrid>
              <a:tr h="538665">
                <a:tc>
                  <a:txBody>
                    <a:bodyPr/>
                    <a:lstStyle/>
                    <a:p>
                      <a:pPr algn="ctr"/>
                      <a:r>
                        <a:rPr lang="en-US" sz="2000" err="1"/>
                        <a:t>i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6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17290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255425-175B-7BFB-77E7-E5674404BDAE}"/>
              </a:ext>
            </a:extLst>
          </p:cNvPr>
          <p:cNvSpPr/>
          <p:nvPr/>
        </p:nvSpPr>
        <p:spPr>
          <a:xfrm>
            <a:off x="8916143" y="2148582"/>
            <a:ext cx="1755913" cy="2234957"/>
          </a:xfrm>
          <a:prstGeom prst="roundRect">
            <a:avLst/>
          </a:prstGeom>
          <a:solidFill>
            <a:srgbClr val="3EC1D3"/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endParaRPr lang="en-GB" sz="1650" b="1">
              <a:solidFill>
                <a:schemeClr val="tx1"/>
              </a:solidFill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D1ABF-FA60-953F-83BA-66BB62C5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D20062"/>
                </a:solidFill>
              </a:rPr>
              <a:t>Decoupled Frontend: Welcome to the Mystery</a:t>
            </a:r>
          </a:p>
          <a:p>
            <a:endParaRPr lang="en-GB" b="1" dirty="0">
              <a:solidFill>
                <a:srgbClr val="D2006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95C91-2B2E-89C6-8EB5-1A307A458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C214F10-485F-E78F-5F8E-F071A597DDA6}"/>
              </a:ext>
            </a:extLst>
          </p:cNvPr>
          <p:cNvSpPr/>
          <p:nvPr/>
        </p:nvSpPr>
        <p:spPr>
          <a:xfrm>
            <a:off x="9091590" y="3347213"/>
            <a:ext cx="1416463" cy="765444"/>
          </a:xfrm>
          <a:prstGeom prst="flowChartProcess">
            <a:avLst/>
          </a:prstGeom>
          <a:solidFill>
            <a:srgbClr val="C4E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165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L1I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EF7777-E345-0659-BBF8-ADD6AC84284A}"/>
              </a:ext>
            </a:extLst>
          </p:cNvPr>
          <p:cNvCxnSpPr>
            <a:cxnSpLocks/>
          </p:cNvCxnSpPr>
          <p:nvPr/>
        </p:nvCxnSpPr>
        <p:spPr>
          <a:xfrm flipV="1">
            <a:off x="8101686" y="2766219"/>
            <a:ext cx="811695" cy="2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7404A3E-89DA-B284-9194-90EEAC56FB3D}"/>
              </a:ext>
            </a:extLst>
          </p:cNvPr>
          <p:cNvSpPr txBox="1"/>
          <p:nvPr/>
        </p:nvSpPr>
        <p:spPr>
          <a:xfrm>
            <a:off x="4923926" y="2149443"/>
            <a:ext cx="2236856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50" b="1"/>
              <a:t>Fetch Target Queue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D5586-73E3-4284-A546-38B118F12DD8}"/>
              </a:ext>
            </a:extLst>
          </p:cNvPr>
          <p:cNvSpPr txBox="1"/>
          <p:nvPr/>
        </p:nvSpPr>
        <p:spPr>
          <a:xfrm>
            <a:off x="5588742" y="3362017"/>
            <a:ext cx="2073964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50"/>
              <a:t>Prefetch Request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3AA98B-5F77-0943-2EEA-A5F1FC784675}"/>
              </a:ext>
            </a:extLst>
          </p:cNvPr>
          <p:cNvSpPr txBox="1"/>
          <p:nvPr/>
        </p:nvSpPr>
        <p:spPr>
          <a:xfrm>
            <a:off x="9087179" y="2544939"/>
            <a:ext cx="130492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700" b="1"/>
              <a:t>Instruction Fetch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415C02E-87B2-1D07-2014-47725288E07C}"/>
              </a:ext>
            </a:extLst>
          </p:cNvPr>
          <p:cNvCxnSpPr>
            <a:cxnSpLocks/>
          </p:cNvCxnSpPr>
          <p:nvPr/>
        </p:nvCxnSpPr>
        <p:spPr>
          <a:xfrm>
            <a:off x="10652455" y="3291064"/>
            <a:ext cx="1257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CF3966B-0E76-FC82-9E10-FE0FB847EE38}"/>
              </a:ext>
            </a:extLst>
          </p:cNvPr>
          <p:cNvSpPr txBox="1"/>
          <p:nvPr/>
        </p:nvSpPr>
        <p:spPr>
          <a:xfrm>
            <a:off x="10722169" y="2620414"/>
            <a:ext cx="120332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700"/>
              <a:t>Instruction Decode</a:t>
            </a:r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EF9E34-2601-4880-8EF7-3115FA97D273}"/>
              </a:ext>
            </a:extLst>
          </p:cNvPr>
          <p:cNvSpPr/>
          <p:nvPr/>
        </p:nvSpPr>
        <p:spPr>
          <a:xfrm>
            <a:off x="334580" y="5610060"/>
            <a:ext cx="11441821" cy="719864"/>
          </a:xfrm>
          <a:prstGeom prst="roundRect">
            <a:avLst/>
          </a:prstGeom>
          <a:solidFill>
            <a:srgbClr val="40679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1650" b="1" dirty="0">
                <a:solidFill>
                  <a:srgbClr val="FFCAD4"/>
                </a:solidFill>
                <a:latin typeface="Arial"/>
                <a:cs typeface="Arial"/>
              </a:rPr>
              <a:t> Decoupling allows to run way ahead of demand fetch which helps to reduce the impact of long latency L1I misses</a:t>
            </a:r>
          </a:p>
        </p:txBody>
      </p:sp>
      <p:sp>
        <p:nvSpPr>
          <p:cNvPr id="24" name="Flowchart: Manual Operation 23">
            <a:extLst>
              <a:ext uri="{FF2B5EF4-FFF2-40B4-BE49-F238E27FC236}">
                <a16:creationId xmlns:a16="http://schemas.microsoft.com/office/drawing/2014/main" id="{693E5796-B2EA-4FEE-80DA-7403DADCABFD}"/>
              </a:ext>
            </a:extLst>
          </p:cNvPr>
          <p:cNvSpPr/>
          <p:nvPr/>
        </p:nvSpPr>
        <p:spPr>
          <a:xfrm rot="16200000">
            <a:off x="-677881" y="2255072"/>
            <a:ext cx="2604658" cy="579735"/>
          </a:xfrm>
          <a:prstGeom prst="flowChartManualOperation">
            <a:avLst/>
          </a:prstGeom>
          <a:solidFill>
            <a:srgbClr val="C4E4FF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Next Instruction Pointer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176323-F2C3-44F0-8861-12B5B0440DE7}"/>
              </a:ext>
            </a:extLst>
          </p:cNvPr>
          <p:cNvCxnSpPr>
            <a:cxnSpLocks/>
          </p:cNvCxnSpPr>
          <p:nvPr/>
        </p:nvCxnSpPr>
        <p:spPr>
          <a:xfrm flipV="1">
            <a:off x="913624" y="2723586"/>
            <a:ext cx="437015" cy="17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EEB4F71-F556-4C14-A59D-5624CC1A6910}"/>
              </a:ext>
            </a:extLst>
          </p:cNvPr>
          <p:cNvCxnSpPr>
            <a:cxnSpLocks/>
          </p:cNvCxnSpPr>
          <p:nvPr/>
        </p:nvCxnSpPr>
        <p:spPr>
          <a:xfrm>
            <a:off x="-18220" y="2492896"/>
            <a:ext cx="352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DCE59-909E-4715-8B50-2C24DE5BC8F5}"/>
              </a:ext>
            </a:extLst>
          </p:cNvPr>
          <p:cNvSpPr txBox="1"/>
          <p:nvPr/>
        </p:nvSpPr>
        <p:spPr>
          <a:xfrm>
            <a:off x="3482166" y="5058432"/>
            <a:ext cx="5624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Fetch Directed Instruction Prefetching (FDIP)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3977FB0-FDB8-4EAB-85FE-8D404DF42015}"/>
              </a:ext>
            </a:extLst>
          </p:cNvPr>
          <p:cNvCxnSpPr/>
          <p:nvPr/>
        </p:nvCxnSpPr>
        <p:spPr>
          <a:xfrm>
            <a:off x="4079776" y="3079209"/>
            <a:ext cx="4833605" cy="768060"/>
          </a:xfrm>
          <a:prstGeom prst="bentConnector3">
            <a:avLst>
              <a:gd name="adj1" fmla="val 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AD166C-D30E-D5B6-5064-10A38D7F81CE}"/>
              </a:ext>
            </a:extLst>
          </p:cNvPr>
          <p:cNvSpPr txBox="1"/>
          <p:nvPr/>
        </p:nvSpPr>
        <p:spPr>
          <a:xfrm>
            <a:off x="158180" y="6488668"/>
            <a:ext cx="301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Thanks to Vedant for this slide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1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59259E-6 L 0.15065 -0.00139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26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65 -0.00139 L 0.63099 0.00324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10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5E-6 0.00024 C 0.00027 0.01389 0.00053 0.02824 0.00131 0.04236 C 0.00131 0.04514 0.00274 0.04746 0.00274 0.05 C 0.00573 0.10186 0.00131 0.07616 0.00573 0.09908 C 0.00612 0.10533 0.00639 0.11135 0.00717 0.11783 C 0.00769 0.12338 0.00964 0.12848 0.0099 0.13403 C 0.01029 0.13704 0.00912 0.14005 0.0086 0.14283 C 0.0086 0.14329 0.0086 0.14375 0.0086 0.14422 L 0.0086 0.14445 L 0.03672 0.14537 C 0.06342 0.14653 0.05365 0.14514 0.06902 0.14815 L 0.15001 0.14653 C 0.16498 0.1463 0.1767 0.14537 0.19115 0.14422 C 0.20352 0.14306 0.19987 0.14352 0.20873 0.14167 C 0.2224 0.14213 0.23633 0.14213 0.25001 0.14283 C 0.253 0.14306 0.25586 0.14422 0.25886 0.14422 C 0.27696 0.14422 0.29506 0.14329 0.31316 0.14283 C 0.32735 0.14005 0.31237 0.14283 0.33959 0.14051 C 0.34714 0.13982 0.3543 0.1382 0.36185 0.13774 C 0.41732 0.13542 0.42149 0.13542 0.45326 0.13542 " pathEditMode="relative" rAng="0" ptsTypes="AAAAAAAAAAAAAAAAAAAAA">
                                      <p:cBhvr>
                                        <p:cTn id="8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56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/>
      <p:bldP spid="8" grpId="0" animBg="1"/>
      <p:bldP spid="7" grpId="0" animBg="1"/>
      <p:bldP spid="16" grpId="0"/>
      <p:bldP spid="18" grpId="0"/>
      <p:bldP spid="15" grpId="0"/>
      <p:bldP spid="6" grpId="0"/>
      <p:bldP spid="19" grpId="0" animBg="1"/>
      <p:bldP spid="24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08BE-48C9-4D18-94C9-5021BFDB8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Decoupled Front-end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72E71-5523-479B-A844-4B134C05CF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  <p:sp>
        <p:nvSpPr>
          <p:cNvPr id="97" name="Google Shape;175;p27">
            <a:extLst>
              <a:ext uri="{FF2B5EF4-FFF2-40B4-BE49-F238E27FC236}">
                <a16:creationId xmlns:a16="http://schemas.microsoft.com/office/drawing/2014/main" id="{82A5DB5E-1B7B-4A72-8C96-613E5E32F1F3}"/>
              </a:ext>
            </a:extLst>
          </p:cNvPr>
          <p:cNvSpPr/>
          <p:nvPr/>
        </p:nvSpPr>
        <p:spPr>
          <a:xfrm>
            <a:off x="1029952" y="3814872"/>
            <a:ext cx="853902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Instruction</a:t>
            </a:r>
            <a:endParaRPr sz="11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98" name="Google Shape;176;p27">
            <a:extLst>
              <a:ext uri="{FF2B5EF4-FFF2-40B4-BE49-F238E27FC236}">
                <a16:creationId xmlns:a16="http://schemas.microsoft.com/office/drawing/2014/main" id="{AED62E44-432B-45B2-889E-5EAA3762185D}"/>
              </a:ext>
            </a:extLst>
          </p:cNvPr>
          <p:cNvCxnSpPr>
            <a:cxnSpLocks/>
            <a:stCxn id="97" idx="3"/>
            <a:endCxn id="128" idx="1"/>
          </p:cNvCxnSpPr>
          <p:nvPr/>
        </p:nvCxnSpPr>
        <p:spPr>
          <a:xfrm>
            <a:off x="1883854" y="3926772"/>
            <a:ext cx="296056" cy="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" name="Google Shape;178;p27">
            <a:extLst>
              <a:ext uri="{FF2B5EF4-FFF2-40B4-BE49-F238E27FC236}">
                <a16:creationId xmlns:a16="http://schemas.microsoft.com/office/drawing/2014/main" id="{BCD276C6-3168-459D-B497-9855C1DE8442}"/>
              </a:ext>
            </a:extLst>
          </p:cNvPr>
          <p:cNvCxnSpPr>
            <a:stCxn id="122" idx="3"/>
            <a:endCxn id="133" idx="1"/>
          </p:cNvCxnSpPr>
          <p:nvPr/>
        </p:nvCxnSpPr>
        <p:spPr>
          <a:xfrm>
            <a:off x="8150698" y="4011790"/>
            <a:ext cx="557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" name="Google Shape;181;p27">
            <a:extLst>
              <a:ext uri="{FF2B5EF4-FFF2-40B4-BE49-F238E27FC236}">
                <a16:creationId xmlns:a16="http://schemas.microsoft.com/office/drawing/2014/main" id="{912C60AA-5D4B-48D7-9204-8E0F45CC6D50}"/>
              </a:ext>
            </a:extLst>
          </p:cNvPr>
          <p:cNvSpPr txBox="1"/>
          <p:nvPr/>
        </p:nvSpPr>
        <p:spPr>
          <a:xfrm>
            <a:off x="7652710" y="2899452"/>
            <a:ext cx="9774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Direct</a:t>
            </a:r>
            <a:r>
              <a:rPr lang="en" sz="1200" i="1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Jump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Direct Call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Conditional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182;p27">
            <a:extLst>
              <a:ext uri="{FF2B5EF4-FFF2-40B4-BE49-F238E27FC236}">
                <a16:creationId xmlns:a16="http://schemas.microsoft.com/office/drawing/2014/main" id="{C70C70F5-CF5E-4FC0-BB8F-E779A51F868D}"/>
              </a:ext>
            </a:extLst>
          </p:cNvPr>
          <p:cNvSpPr txBox="1"/>
          <p:nvPr/>
        </p:nvSpPr>
        <p:spPr>
          <a:xfrm>
            <a:off x="9109645" y="2899002"/>
            <a:ext cx="1059564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Indirect Jump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Indirect Call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Return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183;p27">
            <a:extLst>
              <a:ext uri="{FF2B5EF4-FFF2-40B4-BE49-F238E27FC236}">
                <a16:creationId xmlns:a16="http://schemas.microsoft.com/office/drawing/2014/main" id="{5F7E4E78-4F95-465B-9233-8A863FE6A14F}"/>
              </a:ext>
            </a:extLst>
          </p:cNvPr>
          <p:cNvSpPr/>
          <p:nvPr/>
        </p:nvSpPr>
        <p:spPr>
          <a:xfrm>
            <a:off x="1880384" y="3636975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03" name="Google Shape;184;p27">
            <a:extLst>
              <a:ext uri="{FF2B5EF4-FFF2-40B4-BE49-F238E27FC236}">
                <a16:creationId xmlns:a16="http://schemas.microsoft.com/office/drawing/2014/main" id="{C7266F63-A233-4113-B7B3-54DEADED7226}"/>
              </a:ext>
            </a:extLst>
          </p:cNvPr>
          <p:cNvGraphicFramePr/>
          <p:nvPr/>
        </p:nvGraphicFramePr>
        <p:xfrm>
          <a:off x="5150833" y="3870815"/>
          <a:ext cx="1918525" cy="2819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" name="Google Shape;185;p27">
            <a:extLst>
              <a:ext uri="{FF2B5EF4-FFF2-40B4-BE49-F238E27FC236}">
                <a16:creationId xmlns:a16="http://schemas.microsoft.com/office/drawing/2014/main" id="{EA3901FC-FF52-4599-9E08-2541623EBC80}"/>
              </a:ext>
            </a:extLst>
          </p:cNvPr>
          <p:cNvSpPr txBox="1"/>
          <p:nvPr/>
        </p:nvSpPr>
        <p:spPr>
          <a:xfrm>
            <a:off x="5071010" y="4107527"/>
            <a:ext cx="1555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Fetch Target Queue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186;p27">
            <a:extLst>
              <a:ext uri="{FF2B5EF4-FFF2-40B4-BE49-F238E27FC236}">
                <a16:creationId xmlns:a16="http://schemas.microsoft.com/office/drawing/2014/main" id="{5B72F127-F4FD-44FC-829E-E6239AB45A50}"/>
              </a:ext>
            </a:extLst>
          </p:cNvPr>
          <p:cNvSpPr txBox="1"/>
          <p:nvPr/>
        </p:nvSpPr>
        <p:spPr>
          <a:xfrm>
            <a:off x="2199710" y="2584527"/>
            <a:ext cx="2809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3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Insert Branch Target in to BTB</a:t>
            </a:r>
            <a:endParaRPr sz="13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187;p27">
            <a:extLst>
              <a:ext uri="{FF2B5EF4-FFF2-40B4-BE49-F238E27FC236}">
                <a16:creationId xmlns:a16="http://schemas.microsoft.com/office/drawing/2014/main" id="{EECD71EB-C4A7-48D5-9EA1-467B6AC44429}"/>
              </a:ext>
            </a:extLst>
          </p:cNvPr>
          <p:cNvSpPr txBox="1"/>
          <p:nvPr/>
        </p:nvSpPr>
        <p:spPr>
          <a:xfrm>
            <a:off x="5829110" y="4484002"/>
            <a:ext cx="1268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Branch Target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7" name="Google Shape;188;p27">
            <a:extLst>
              <a:ext uri="{FF2B5EF4-FFF2-40B4-BE49-F238E27FC236}">
                <a16:creationId xmlns:a16="http://schemas.microsoft.com/office/drawing/2014/main" id="{5E82E282-2480-4A3A-A43E-BE397771F4DF}"/>
              </a:ext>
            </a:extLst>
          </p:cNvPr>
          <p:cNvCxnSpPr/>
          <p:nvPr/>
        </p:nvCxnSpPr>
        <p:spPr>
          <a:xfrm>
            <a:off x="6108560" y="3523123"/>
            <a:ext cx="1500" cy="34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08" name="Google Shape;190;p27">
            <a:extLst>
              <a:ext uri="{FF2B5EF4-FFF2-40B4-BE49-F238E27FC236}">
                <a16:creationId xmlns:a16="http://schemas.microsoft.com/office/drawing/2014/main" id="{15A068D7-EAE8-4017-AA17-C9DA0B41441F}"/>
              </a:ext>
            </a:extLst>
          </p:cNvPr>
          <p:cNvCxnSpPr>
            <a:endCxn id="122" idx="1"/>
          </p:cNvCxnSpPr>
          <p:nvPr/>
        </p:nvCxnSpPr>
        <p:spPr>
          <a:xfrm rot="10800000" flipH="1">
            <a:off x="7087798" y="4011790"/>
            <a:ext cx="196200" cy="8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" name="Google Shape;191;p27">
            <a:extLst>
              <a:ext uri="{FF2B5EF4-FFF2-40B4-BE49-F238E27FC236}">
                <a16:creationId xmlns:a16="http://schemas.microsoft.com/office/drawing/2014/main" id="{83DE7909-EA1C-43A3-8138-243F873C3F2A}"/>
              </a:ext>
            </a:extLst>
          </p:cNvPr>
          <p:cNvCxnSpPr/>
          <p:nvPr/>
        </p:nvCxnSpPr>
        <p:spPr>
          <a:xfrm flipH="1">
            <a:off x="5035760" y="2557077"/>
            <a:ext cx="5400" cy="241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92;p27">
            <a:extLst>
              <a:ext uri="{FF2B5EF4-FFF2-40B4-BE49-F238E27FC236}">
                <a16:creationId xmlns:a16="http://schemas.microsoft.com/office/drawing/2014/main" id="{EFD3D3F9-8ABD-4047-B65C-4AE6DF1CD254}"/>
              </a:ext>
            </a:extLst>
          </p:cNvPr>
          <p:cNvCxnSpPr/>
          <p:nvPr/>
        </p:nvCxnSpPr>
        <p:spPr>
          <a:xfrm flipH="1">
            <a:off x="7104685" y="2510402"/>
            <a:ext cx="14100" cy="244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11" name="Google Shape;193;p27">
            <a:extLst>
              <a:ext uri="{FF2B5EF4-FFF2-40B4-BE49-F238E27FC236}">
                <a16:creationId xmlns:a16="http://schemas.microsoft.com/office/drawing/2014/main" id="{1477E4F7-6F36-43F7-A27F-0A528AEE22DA}"/>
              </a:ext>
            </a:extLst>
          </p:cNvPr>
          <p:cNvCxnSpPr/>
          <p:nvPr/>
        </p:nvCxnSpPr>
        <p:spPr>
          <a:xfrm>
            <a:off x="8657885" y="2533727"/>
            <a:ext cx="12300" cy="2426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12" name="Google Shape;194;p27">
            <a:extLst>
              <a:ext uri="{FF2B5EF4-FFF2-40B4-BE49-F238E27FC236}">
                <a16:creationId xmlns:a16="http://schemas.microsoft.com/office/drawing/2014/main" id="{0D7A65A1-3A00-456B-9CBC-DAD57CC861CF}"/>
              </a:ext>
            </a:extLst>
          </p:cNvPr>
          <p:cNvCxnSpPr>
            <a:stCxn id="122" idx="0"/>
          </p:cNvCxnSpPr>
          <p:nvPr/>
        </p:nvCxnSpPr>
        <p:spPr>
          <a:xfrm rot="5400000">
            <a:off x="4748998" y="958390"/>
            <a:ext cx="88800" cy="5847900"/>
          </a:xfrm>
          <a:prstGeom prst="bentConnector4">
            <a:avLst>
              <a:gd name="adj1" fmla="val -1056855"/>
              <a:gd name="adj2" fmla="val 9992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3" name="Google Shape;195;p27">
            <a:extLst>
              <a:ext uri="{FF2B5EF4-FFF2-40B4-BE49-F238E27FC236}">
                <a16:creationId xmlns:a16="http://schemas.microsoft.com/office/drawing/2014/main" id="{D15D2CF5-04D0-4262-BE8F-A11D223A2CF4}"/>
              </a:ext>
            </a:extLst>
          </p:cNvPr>
          <p:cNvCxnSpPr>
            <a:stCxn id="133" idx="0"/>
          </p:cNvCxnSpPr>
          <p:nvPr/>
        </p:nvCxnSpPr>
        <p:spPr>
          <a:xfrm rot="5400000">
            <a:off x="5473510" y="252202"/>
            <a:ext cx="82200" cy="7253700"/>
          </a:xfrm>
          <a:prstGeom prst="bentConnector4">
            <a:avLst>
              <a:gd name="adj1" fmla="val -1141727"/>
              <a:gd name="adj2" fmla="val 100188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" name="Google Shape;196;p27">
            <a:extLst>
              <a:ext uri="{FF2B5EF4-FFF2-40B4-BE49-F238E27FC236}">
                <a16:creationId xmlns:a16="http://schemas.microsoft.com/office/drawing/2014/main" id="{7A867CEA-9043-4F12-A0E7-7CA88E7BF7F7}"/>
              </a:ext>
            </a:extLst>
          </p:cNvPr>
          <p:cNvCxnSpPr>
            <a:cxnSpLocks/>
            <a:stCxn id="122" idx="2"/>
            <a:endCxn id="103" idx="1"/>
          </p:cNvCxnSpPr>
          <p:nvPr/>
        </p:nvCxnSpPr>
        <p:spPr>
          <a:xfrm rot="5400000" flipH="1">
            <a:off x="6347168" y="2815461"/>
            <a:ext cx="173845" cy="2566515"/>
          </a:xfrm>
          <a:prstGeom prst="bentConnector4">
            <a:avLst>
              <a:gd name="adj1" fmla="val -131496"/>
              <a:gd name="adj2" fmla="val 111629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" name="Google Shape;197;p27">
            <a:extLst>
              <a:ext uri="{FF2B5EF4-FFF2-40B4-BE49-F238E27FC236}">
                <a16:creationId xmlns:a16="http://schemas.microsoft.com/office/drawing/2014/main" id="{CBB87A87-725F-45D1-8EC6-13DA60003606}"/>
              </a:ext>
            </a:extLst>
          </p:cNvPr>
          <p:cNvCxnSpPr>
            <a:cxnSpLocks/>
            <a:stCxn id="133" idx="2"/>
          </p:cNvCxnSpPr>
          <p:nvPr/>
        </p:nvCxnSpPr>
        <p:spPr>
          <a:xfrm rot="5400000" flipH="1">
            <a:off x="6909499" y="1953691"/>
            <a:ext cx="173862" cy="4290060"/>
          </a:xfrm>
          <a:prstGeom prst="bentConnector4">
            <a:avLst>
              <a:gd name="adj1" fmla="val -131484"/>
              <a:gd name="adj2" fmla="val 99984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med" len="med"/>
          </a:ln>
        </p:spPr>
      </p:cxnSp>
      <p:cxnSp>
        <p:nvCxnSpPr>
          <p:cNvPr id="116" name="Google Shape;198;p27">
            <a:extLst>
              <a:ext uri="{FF2B5EF4-FFF2-40B4-BE49-F238E27FC236}">
                <a16:creationId xmlns:a16="http://schemas.microsoft.com/office/drawing/2014/main" id="{93674E35-5255-4E8D-B7E2-1241F7241256}"/>
              </a:ext>
            </a:extLst>
          </p:cNvPr>
          <p:cNvCxnSpPr>
            <a:cxnSpLocks/>
            <a:stCxn id="128" idx="3"/>
            <a:endCxn id="103" idx="1"/>
          </p:cNvCxnSpPr>
          <p:nvPr/>
        </p:nvCxnSpPr>
        <p:spPr>
          <a:xfrm>
            <a:off x="4418510" y="3926777"/>
            <a:ext cx="732323" cy="8501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7" name="Google Shape;199;p27">
            <a:extLst>
              <a:ext uri="{FF2B5EF4-FFF2-40B4-BE49-F238E27FC236}">
                <a16:creationId xmlns:a16="http://schemas.microsoft.com/office/drawing/2014/main" id="{796ABA93-DB4A-4D2F-9513-EF8E58EF092D}"/>
              </a:ext>
            </a:extLst>
          </p:cNvPr>
          <p:cNvCxnSpPr/>
          <p:nvPr/>
        </p:nvCxnSpPr>
        <p:spPr>
          <a:xfrm rot="10800000">
            <a:off x="7716709" y="3072727"/>
            <a:ext cx="0" cy="72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200;p27">
            <a:extLst>
              <a:ext uri="{FF2B5EF4-FFF2-40B4-BE49-F238E27FC236}">
                <a16:creationId xmlns:a16="http://schemas.microsoft.com/office/drawing/2014/main" id="{90C8CB50-C207-443D-8953-6E1472595263}"/>
              </a:ext>
            </a:extLst>
          </p:cNvPr>
          <p:cNvCxnSpPr/>
          <p:nvPr/>
        </p:nvCxnSpPr>
        <p:spPr>
          <a:xfrm rot="10800000">
            <a:off x="9141462" y="3106333"/>
            <a:ext cx="0" cy="72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201;p27">
            <a:extLst>
              <a:ext uri="{FF2B5EF4-FFF2-40B4-BE49-F238E27FC236}">
                <a16:creationId xmlns:a16="http://schemas.microsoft.com/office/drawing/2014/main" id="{D9C15859-4770-4268-8956-66AA8CE302DF}"/>
              </a:ext>
            </a:extLst>
          </p:cNvPr>
          <p:cNvCxnSpPr/>
          <p:nvPr/>
        </p:nvCxnSpPr>
        <p:spPr>
          <a:xfrm rot="10800000">
            <a:off x="8530512" y="2898991"/>
            <a:ext cx="522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202;p27">
            <a:extLst>
              <a:ext uri="{FF2B5EF4-FFF2-40B4-BE49-F238E27FC236}">
                <a16:creationId xmlns:a16="http://schemas.microsoft.com/office/drawing/2014/main" id="{9844EFC9-0C6F-4230-9910-E829182B8F29}"/>
              </a:ext>
            </a:extLst>
          </p:cNvPr>
          <p:cNvCxnSpPr/>
          <p:nvPr/>
        </p:nvCxnSpPr>
        <p:spPr>
          <a:xfrm rot="10800000">
            <a:off x="6966867" y="4409501"/>
            <a:ext cx="639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" name="Google Shape;203;p27">
            <a:extLst>
              <a:ext uri="{FF2B5EF4-FFF2-40B4-BE49-F238E27FC236}">
                <a16:creationId xmlns:a16="http://schemas.microsoft.com/office/drawing/2014/main" id="{1A650306-EECA-4D6A-8B49-25A4224CBEB8}"/>
              </a:ext>
            </a:extLst>
          </p:cNvPr>
          <p:cNvCxnSpPr/>
          <p:nvPr/>
        </p:nvCxnSpPr>
        <p:spPr>
          <a:xfrm rot="10800000">
            <a:off x="8248095" y="4409494"/>
            <a:ext cx="831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2" name="Google Shape;179;p27">
            <a:extLst>
              <a:ext uri="{FF2B5EF4-FFF2-40B4-BE49-F238E27FC236}">
                <a16:creationId xmlns:a16="http://schemas.microsoft.com/office/drawing/2014/main" id="{50C6A156-0756-43D6-887C-890ACCA74EE6}"/>
              </a:ext>
            </a:extLst>
          </p:cNvPr>
          <p:cNvSpPr/>
          <p:nvPr/>
        </p:nvSpPr>
        <p:spPr>
          <a:xfrm>
            <a:off x="7283998" y="3837940"/>
            <a:ext cx="866700" cy="3477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Decode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3" name="Google Shape;204;p27">
            <a:extLst>
              <a:ext uri="{FF2B5EF4-FFF2-40B4-BE49-F238E27FC236}">
                <a16:creationId xmlns:a16="http://schemas.microsoft.com/office/drawing/2014/main" id="{60438B06-8AF6-43B0-8EB5-EB7875F642DA}"/>
              </a:ext>
            </a:extLst>
          </p:cNvPr>
          <p:cNvGrpSpPr/>
          <p:nvPr/>
        </p:nvGrpSpPr>
        <p:grpSpPr>
          <a:xfrm>
            <a:off x="5132498" y="3003877"/>
            <a:ext cx="1918500" cy="534600"/>
            <a:chOff x="4174900" y="802650"/>
            <a:chExt cx="1918500" cy="534600"/>
          </a:xfrm>
          <a:solidFill>
            <a:srgbClr val="FFAB40">
              <a:lumMod val="60000"/>
              <a:lumOff val="40000"/>
            </a:srgbClr>
          </a:solidFill>
        </p:grpSpPr>
        <p:sp>
          <p:nvSpPr>
            <p:cNvPr id="124" name="Google Shape;205;p27">
              <a:extLst>
                <a:ext uri="{FF2B5EF4-FFF2-40B4-BE49-F238E27FC236}">
                  <a16:creationId xmlns:a16="http://schemas.microsoft.com/office/drawing/2014/main" id="{EEFF2D93-DC0C-47AC-B5E6-0935DBBF31E8}"/>
                </a:ext>
              </a:extLst>
            </p:cNvPr>
            <p:cNvSpPr/>
            <p:nvPr/>
          </p:nvSpPr>
          <p:spPr>
            <a:xfrm>
              <a:off x="4174900" y="802650"/>
              <a:ext cx="1918500" cy="534600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206;p27">
              <a:extLst>
                <a:ext uri="{FF2B5EF4-FFF2-40B4-BE49-F238E27FC236}">
                  <a16:creationId xmlns:a16="http://schemas.microsoft.com/office/drawing/2014/main" id="{914D0968-22B0-475E-A4DD-C082877F4E7C}"/>
                </a:ext>
              </a:extLst>
            </p:cNvPr>
            <p:cNvSpPr/>
            <p:nvPr/>
          </p:nvSpPr>
          <p:spPr>
            <a:xfrm>
              <a:off x="4224400" y="914812"/>
              <a:ext cx="629100" cy="310200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ITLB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207;p27">
              <a:extLst>
                <a:ext uri="{FF2B5EF4-FFF2-40B4-BE49-F238E27FC236}">
                  <a16:creationId xmlns:a16="http://schemas.microsoft.com/office/drawing/2014/main" id="{90F98037-C1BE-400B-B7A2-7179F3E18B8C}"/>
                </a:ext>
              </a:extLst>
            </p:cNvPr>
            <p:cNvSpPr/>
            <p:nvPr/>
          </p:nvSpPr>
          <p:spPr>
            <a:xfrm>
              <a:off x="4952200" y="914812"/>
              <a:ext cx="1055100" cy="310200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L1I Cache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27" name="Google Shape;208;p27">
            <a:extLst>
              <a:ext uri="{FF2B5EF4-FFF2-40B4-BE49-F238E27FC236}">
                <a16:creationId xmlns:a16="http://schemas.microsoft.com/office/drawing/2014/main" id="{A8F47BA3-6CA4-417B-801F-224FEC2CE0B5}"/>
              </a:ext>
            </a:extLst>
          </p:cNvPr>
          <p:cNvCxnSpPr/>
          <p:nvPr/>
        </p:nvCxnSpPr>
        <p:spPr>
          <a:xfrm rot="10800000">
            <a:off x="6869365" y="2898991"/>
            <a:ext cx="639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8" name="Google Shape;177;p27">
            <a:extLst>
              <a:ext uri="{FF2B5EF4-FFF2-40B4-BE49-F238E27FC236}">
                <a16:creationId xmlns:a16="http://schemas.microsoft.com/office/drawing/2014/main" id="{0563D49A-64D1-413C-9756-8B98617B7AAA}"/>
              </a:ext>
            </a:extLst>
          </p:cNvPr>
          <p:cNvSpPr/>
          <p:nvPr/>
        </p:nvSpPr>
        <p:spPr>
          <a:xfrm>
            <a:off x="2179910" y="3237677"/>
            <a:ext cx="2238600" cy="1378200"/>
          </a:xfrm>
          <a:prstGeom prst="rect">
            <a:avLst/>
          </a:prstGeom>
          <a:solidFill>
            <a:srgbClr val="FFAB40">
              <a:lumMod val="60000"/>
              <a:lumOff val="40000"/>
            </a:srgbClr>
          </a:solidFill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210;p27">
            <a:extLst>
              <a:ext uri="{FF2B5EF4-FFF2-40B4-BE49-F238E27FC236}">
                <a16:creationId xmlns:a16="http://schemas.microsoft.com/office/drawing/2014/main" id="{F8A77674-F2B3-4C81-9F16-98D3FD7DC00E}"/>
              </a:ext>
            </a:extLst>
          </p:cNvPr>
          <p:cNvSpPr/>
          <p:nvPr/>
        </p:nvSpPr>
        <p:spPr>
          <a:xfrm>
            <a:off x="2252010" y="3286052"/>
            <a:ext cx="994200" cy="5991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Direct Branch Predictor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0" name="Google Shape;211;p27">
            <a:extLst>
              <a:ext uri="{FF2B5EF4-FFF2-40B4-BE49-F238E27FC236}">
                <a16:creationId xmlns:a16="http://schemas.microsoft.com/office/drawing/2014/main" id="{28D549CD-88FD-4220-9E74-7FA2FE74B5E5}"/>
              </a:ext>
            </a:extLst>
          </p:cNvPr>
          <p:cNvSpPr/>
          <p:nvPr/>
        </p:nvSpPr>
        <p:spPr>
          <a:xfrm>
            <a:off x="2252010" y="3948202"/>
            <a:ext cx="994200" cy="5991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Return Address Stack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212;p27">
            <a:extLst>
              <a:ext uri="{FF2B5EF4-FFF2-40B4-BE49-F238E27FC236}">
                <a16:creationId xmlns:a16="http://schemas.microsoft.com/office/drawing/2014/main" id="{EEF37C28-02D2-4246-A06E-731BEDC52E52}"/>
              </a:ext>
            </a:extLst>
          </p:cNvPr>
          <p:cNvSpPr/>
          <p:nvPr/>
        </p:nvSpPr>
        <p:spPr>
          <a:xfrm>
            <a:off x="3318160" y="3948202"/>
            <a:ext cx="994200" cy="5991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Branch Target Buffer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2" name="Google Shape;213;p27">
            <a:extLst>
              <a:ext uri="{FF2B5EF4-FFF2-40B4-BE49-F238E27FC236}">
                <a16:creationId xmlns:a16="http://schemas.microsoft.com/office/drawing/2014/main" id="{8DEC001B-BB11-4BF8-A8D2-4463958AD415}"/>
              </a:ext>
            </a:extLst>
          </p:cNvPr>
          <p:cNvSpPr/>
          <p:nvPr/>
        </p:nvSpPr>
        <p:spPr>
          <a:xfrm>
            <a:off x="3318160" y="3286052"/>
            <a:ext cx="994200" cy="5991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Indirect Branch Predictor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3" name="Google Shape;180;p27">
            <a:extLst>
              <a:ext uri="{FF2B5EF4-FFF2-40B4-BE49-F238E27FC236}">
                <a16:creationId xmlns:a16="http://schemas.microsoft.com/office/drawing/2014/main" id="{15C525C8-8D38-4FB3-99BD-001DD52E9C9D}"/>
              </a:ext>
            </a:extLst>
          </p:cNvPr>
          <p:cNvSpPr/>
          <p:nvPr/>
        </p:nvSpPr>
        <p:spPr>
          <a:xfrm>
            <a:off x="8708110" y="3837952"/>
            <a:ext cx="866700" cy="347700"/>
          </a:xfrm>
          <a:prstGeom prst="roundRect">
            <a:avLst>
              <a:gd name="adj" fmla="val 16667"/>
            </a:avLst>
          </a:prstGeom>
          <a:solidFill>
            <a:srgbClr val="FFAB40">
              <a:lumMod val="60000"/>
              <a:lumOff val="4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Execute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4" name="Google Shape;214;p27">
            <a:extLst>
              <a:ext uri="{FF2B5EF4-FFF2-40B4-BE49-F238E27FC236}">
                <a16:creationId xmlns:a16="http://schemas.microsoft.com/office/drawing/2014/main" id="{42EC3DC9-4345-4E01-A077-A263BB873556}"/>
              </a:ext>
            </a:extLst>
          </p:cNvPr>
          <p:cNvSpPr/>
          <p:nvPr/>
        </p:nvSpPr>
        <p:spPr>
          <a:xfrm>
            <a:off x="4498134" y="3636975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215;p27">
            <a:extLst>
              <a:ext uri="{FF2B5EF4-FFF2-40B4-BE49-F238E27FC236}">
                <a16:creationId xmlns:a16="http://schemas.microsoft.com/office/drawing/2014/main" id="{65730678-6DA8-471B-B6E5-88EE0B079976}"/>
              </a:ext>
            </a:extLst>
          </p:cNvPr>
          <p:cNvSpPr/>
          <p:nvPr/>
        </p:nvSpPr>
        <p:spPr>
          <a:xfrm>
            <a:off x="5829122" y="3594700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217;p27">
            <a:extLst>
              <a:ext uri="{FF2B5EF4-FFF2-40B4-BE49-F238E27FC236}">
                <a16:creationId xmlns:a16="http://schemas.microsoft.com/office/drawing/2014/main" id="{86E2E16B-78F7-4C65-A1C0-BDFB51B6E07A}"/>
              </a:ext>
            </a:extLst>
          </p:cNvPr>
          <p:cNvSpPr/>
          <p:nvPr/>
        </p:nvSpPr>
        <p:spPr>
          <a:xfrm>
            <a:off x="7112173" y="4097747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" name="Google Shape;218;p27">
            <a:extLst>
              <a:ext uri="{FF2B5EF4-FFF2-40B4-BE49-F238E27FC236}">
                <a16:creationId xmlns:a16="http://schemas.microsoft.com/office/drawing/2014/main" id="{57B7105E-98CF-469B-80F7-4F2556D6664F}"/>
              </a:ext>
            </a:extLst>
          </p:cNvPr>
          <p:cNvSpPr/>
          <p:nvPr/>
        </p:nvSpPr>
        <p:spPr>
          <a:xfrm>
            <a:off x="1960009" y="2618725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9" name="Google Shape;219;p27">
            <a:extLst>
              <a:ext uri="{FF2B5EF4-FFF2-40B4-BE49-F238E27FC236}">
                <a16:creationId xmlns:a16="http://schemas.microsoft.com/office/drawing/2014/main" id="{DC2FF59F-273D-4485-82EE-9E207A2447D8}"/>
              </a:ext>
            </a:extLst>
          </p:cNvPr>
          <p:cNvSpPr/>
          <p:nvPr/>
        </p:nvSpPr>
        <p:spPr>
          <a:xfrm>
            <a:off x="7176859" y="3587025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0" name="Google Shape;220;p27">
            <a:extLst>
              <a:ext uri="{FF2B5EF4-FFF2-40B4-BE49-F238E27FC236}">
                <a16:creationId xmlns:a16="http://schemas.microsoft.com/office/drawing/2014/main" id="{5AAFD1E8-733B-4754-9154-6B63BC76764A}"/>
              </a:ext>
            </a:extLst>
          </p:cNvPr>
          <p:cNvSpPr/>
          <p:nvPr/>
        </p:nvSpPr>
        <p:spPr>
          <a:xfrm>
            <a:off x="8708109" y="3594700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221;p27">
            <a:extLst>
              <a:ext uri="{FF2B5EF4-FFF2-40B4-BE49-F238E27FC236}">
                <a16:creationId xmlns:a16="http://schemas.microsoft.com/office/drawing/2014/main" id="{853C3904-AF7F-45A2-B0E0-EC91DE2DD1CF}"/>
              </a:ext>
            </a:extLst>
          </p:cNvPr>
          <p:cNvSpPr/>
          <p:nvPr/>
        </p:nvSpPr>
        <p:spPr>
          <a:xfrm>
            <a:off x="5655434" y="4501100"/>
            <a:ext cx="219900" cy="219900"/>
          </a:xfrm>
          <a:prstGeom prst="ellipse">
            <a:avLst/>
          </a:prstGeom>
          <a:solidFill>
            <a:srgbClr val="D0CECE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575" tIns="34275" rIns="68575" bIns="3427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2" name="Rounded Rectangle 4">
            <a:extLst>
              <a:ext uri="{FF2B5EF4-FFF2-40B4-BE49-F238E27FC236}">
                <a16:creationId xmlns:a16="http://schemas.microsoft.com/office/drawing/2014/main" id="{0A805C59-8637-43CA-8280-0DAB6E23E2FE}"/>
              </a:ext>
            </a:extLst>
          </p:cNvPr>
          <p:cNvSpPr/>
          <p:nvPr/>
        </p:nvSpPr>
        <p:spPr>
          <a:xfrm>
            <a:off x="1485107" y="5416436"/>
            <a:ext cx="7393782" cy="7121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predictor looks ahead even if L1I misses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34077-AC36-983A-9DC2-81E169706E46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0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0" grpId="0"/>
      <p:bldP spid="101" grpId="0"/>
      <p:bldP spid="102" grpId="0" animBg="1"/>
      <p:bldP spid="104" grpId="0"/>
      <p:bldP spid="105" grpId="0"/>
      <p:bldP spid="106" grpId="0"/>
      <p:bldP spid="122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FF6F-B5C9-31B2-06DB-EB56A8E7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2829"/>
            <a:ext cx="11776400" cy="763600"/>
          </a:xfrm>
        </p:spPr>
        <p:txBody>
          <a:bodyPr/>
          <a:lstStyle/>
          <a:p>
            <a:r>
              <a:rPr lang="en-US" dirty="0"/>
              <a:t>FDIP paper (Fetch Directed Instruction Prefetching)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0C7E0-97B1-783E-1447-C2CFEC2DA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IN" dirty="0">
                <a:hlinkClick r:id="rId2"/>
              </a:rPr>
              <a:t>https://cseweb.ucsd.edu/~calder/papers/MICRO-99-FDP.pdf</a:t>
            </a:r>
            <a:endParaRPr lang="en-IN" dirty="0"/>
          </a:p>
          <a:p>
            <a:pPr marL="50799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11B9F-0E13-2E00-9C3C-F9CCED5757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F2DBB3-64E8-C41B-A13B-85C6E46BE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591" y="2111205"/>
            <a:ext cx="5973009" cy="45631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FDADDB-C53B-0E4B-D847-9B50A6B1AC08}"/>
              </a:ext>
            </a:extLst>
          </p:cNvPr>
          <p:cNvSpPr/>
          <p:nvPr/>
        </p:nvSpPr>
        <p:spPr>
          <a:xfrm>
            <a:off x="742635" y="2560544"/>
            <a:ext cx="3134956" cy="17369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en-GB" sz="1600">
                <a:solidFill>
                  <a:schemeClr val="tx1"/>
                </a:solidFill>
                <a:cs typeface="Arial"/>
              </a:rPr>
              <a:t>PIQ: Prefetch Instruction Queue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>
              <a:lnSpc>
                <a:spcPct val="200000"/>
              </a:lnSpc>
            </a:pPr>
            <a:r>
              <a:rPr lang="en-GB" sz="1600">
                <a:solidFill>
                  <a:schemeClr val="tx1"/>
                </a:solidFill>
                <a:cs typeface="Arial"/>
              </a:rPr>
              <a:t>FTQ: Fetch Target Queue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7E5D9-4413-311C-72BC-418BE605E500}"/>
              </a:ext>
            </a:extLst>
          </p:cNvPr>
          <p:cNvSpPr txBox="1"/>
          <p:nvPr/>
        </p:nvSpPr>
        <p:spPr>
          <a:xfrm>
            <a:off x="415600" y="4872027"/>
            <a:ext cx="3715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entry in FTQ stores 8 instructions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46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4A59-B7F5-0A4E-FA5F-D2DDABD4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4E8F2-6190-E62A-56D5-66AEDB06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predictor can move ahead and L1I misses can be amortized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Instruction prefetching?</a:t>
            </a:r>
          </a:p>
          <a:p>
            <a:r>
              <a:rPr lang="en-US" dirty="0">
                <a:sym typeface="Wingdings" panose="05000000000000000000" pitchFamily="2" charset="2"/>
              </a:rPr>
              <a:t>Hides latency of multi-level branch predictor and BTB</a:t>
            </a:r>
          </a:p>
          <a:p>
            <a:r>
              <a:rPr lang="en-US" dirty="0">
                <a:sym typeface="Wingdings" panose="05000000000000000000" pitchFamily="2" charset="2"/>
              </a:rPr>
              <a:t>Demands a larger BTB though   </a:t>
            </a:r>
          </a:p>
          <a:p>
            <a:r>
              <a:rPr lang="en-US" dirty="0">
                <a:sym typeface="Wingdings" panose="05000000000000000000" pitchFamily="2" charset="2"/>
              </a:rPr>
              <a:t>BTB prefetching? </a:t>
            </a:r>
          </a:p>
          <a:p>
            <a:r>
              <a:rPr lang="en-US" dirty="0">
                <a:sym typeface="Wingdings" panose="05000000000000000000" pitchFamily="2" charset="2"/>
              </a:rPr>
              <a:t>Tradeoffs: BTB capacity vs L1I capacity and latency </a:t>
            </a:r>
          </a:p>
          <a:p>
            <a:r>
              <a:rPr lang="en-US" dirty="0">
                <a:sym typeface="Wingdings" panose="05000000000000000000" pitchFamily="2" charset="2"/>
              </a:rPr>
              <a:t>What else?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C4776-AB30-0C25-4E15-C50DF61B22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EAE2EDB-06FD-A635-ABA4-EB0472C921DB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555796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41B45FB5-966C-CF0D-A998-8E3926161600}"/>
              </a:ext>
            </a:extLst>
          </p:cNvPr>
          <p:cNvSpPr/>
          <p:nvPr/>
        </p:nvSpPr>
        <p:spPr>
          <a:xfrm>
            <a:off x="7427691" y="2439670"/>
            <a:ext cx="1466140" cy="346249"/>
          </a:xfrm>
          <a:prstGeom prst="rightArrow">
            <a:avLst/>
          </a:prstGeom>
          <a:solidFill>
            <a:srgbClr val="FFC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56FDF-15E9-9A34-2604-CD13B24790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AF351A5-DA5D-2A56-5ADF-D98145E35880}"/>
              </a:ext>
            </a:extLst>
          </p:cNvPr>
          <p:cNvSpPr txBox="1"/>
          <p:nvPr/>
        </p:nvSpPr>
        <p:spPr>
          <a:xfrm>
            <a:off x="11436038" y="6438800"/>
            <a:ext cx="8588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" sz="2150"/>
          </a:p>
        </p:txBody>
      </p: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B9B3B75B-9418-20F2-D9F4-8BF0A8F46C79}"/>
              </a:ext>
            </a:extLst>
          </p:cNvPr>
          <p:cNvSpPr/>
          <p:nvPr/>
        </p:nvSpPr>
        <p:spPr>
          <a:xfrm>
            <a:off x="2620957" y="4285544"/>
            <a:ext cx="962025" cy="552858"/>
          </a:xfrm>
          <a:prstGeom prst="flowChartProcess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</a:t>
            </a:r>
            <a:endParaRPr lang="en-US"/>
          </a:p>
        </p:txBody>
      </p:sp>
      <p:sp>
        <p:nvSpPr>
          <p:cNvPr id="36" name="Flowchart: Process 35">
            <a:extLst>
              <a:ext uri="{FF2B5EF4-FFF2-40B4-BE49-F238E27FC236}">
                <a16:creationId xmlns:a16="http://schemas.microsoft.com/office/drawing/2014/main" id="{0877B612-C230-ED8F-8D13-051B547321AD}"/>
              </a:ext>
            </a:extLst>
          </p:cNvPr>
          <p:cNvSpPr/>
          <p:nvPr/>
        </p:nvSpPr>
        <p:spPr>
          <a:xfrm>
            <a:off x="2493572" y="5022229"/>
            <a:ext cx="1210642" cy="743358"/>
          </a:xfrm>
          <a:prstGeom prst="flowChartProcess">
            <a:avLst/>
          </a:prstGeom>
          <a:gradFill flip="none" rotWithShape="1">
            <a:gsLst>
              <a:gs pos="0">
                <a:srgbClr val="1199FF">
                  <a:shade val="30000"/>
                  <a:satMod val="115000"/>
                </a:srgbClr>
              </a:gs>
              <a:gs pos="50000">
                <a:srgbClr val="1199FF">
                  <a:shade val="67500"/>
                  <a:satMod val="115000"/>
                </a:srgbClr>
              </a:gs>
              <a:gs pos="100000">
                <a:srgbClr val="11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LLC</a:t>
            </a:r>
            <a:endParaRPr lang="en-US"/>
          </a:p>
        </p:txBody>
      </p: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69FD82F0-B315-446D-C75C-577F527D365D}"/>
              </a:ext>
            </a:extLst>
          </p:cNvPr>
          <p:cNvSpPr/>
          <p:nvPr/>
        </p:nvSpPr>
        <p:spPr>
          <a:xfrm>
            <a:off x="2138823" y="5948954"/>
            <a:ext cx="1901688" cy="743358"/>
          </a:xfrm>
          <a:prstGeom prst="flowChart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DRAM</a:t>
            </a:r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1C7D1C-A681-518E-F15A-13D4A1CBBD22}"/>
              </a:ext>
            </a:extLst>
          </p:cNvPr>
          <p:cNvCxnSpPr/>
          <p:nvPr/>
        </p:nvCxnSpPr>
        <p:spPr>
          <a:xfrm flipH="1">
            <a:off x="3101970" y="4103041"/>
            <a:ext cx="6151" cy="182503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84B1C2B-0A52-CA6A-972E-EFC57FEB227C}"/>
              </a:ext>
            </a:extLst>
          </p:cNvPr>
          <p:cNvCxnSpPr/>
          <p:nvPr/>
        </p:nvCxnSpPr>
        <p:spPr>
          <a:xfrm flipH="1">
            <a:off x="3104577" y="4842751"/>
            <a:ext cx="6151" cy="182503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3D64161-9745-5174-7325-C694BC2BF189}"/>
              </a:ext>
            </a:extLst>
          </p:cNvPr>
          <p:cNvCxnSpPr/>
          <p:nvPr/>
        </p:nvCxnSpPr>
        <p:spPr>
          <a:xfrm flipH="1">
            <a:off x="3107184" y="5769379"/>
            <a:ext cx="6151" cy="182503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5487E11-AD12-B02B-DA01-70393657B82E}"/>
              </a:ext>
            </a:extLst>
          </p:cNvPr>
          <p:cNvSpPr txBox="1"/>
          <p:nvPr/>
        </p:nvSpPr>
        <p:spPr>
          <a:xfrm>
            <a:off x="1874630" y="1584738"/>
            <a:ext cx="1626152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50"/>
              <a:t>FETCH Queue</a:t>
            </a:r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EC1BE0-9C50-9113-C21D-1B4887A05FA3}"/>
              </a:ext>
            </a:extLst>
          </p:cNvPr>
          <p:cNvSpPr txBox="1"/>
          <p:nvPr/>
        </p:nvSpPr>
        <p:spPr>
          <a:xfrm>
            <a:off x="5055152" y="1551607"/>
            <a:ext cx="1922434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50"/>
              <a:t>DECODE Queue</a:t>
            </a:r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31D65C-2B4A-84C7-CDE9-B7EC658EAC4D}"/>
              </a:ext>
            </a:extLst>
          </p:cNvPr>
          <p:cNvSpPr txBox="1"/>
          <p:nvPr/>
        </p:nvSpPr>
        <p:spPr>
          <a:xfrm>
            <a:off x="8335065" y="1529520"/>
            <a:ext cx="1559891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50"/>
              <a:t>Issue Queue</a:t>
            </a:r>
            <a:endParaRPr lang="en-GB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A49E7DF-8125-BCE3-23D1-7A57A8299465}"/>
              </a:ext>
            </a:extLst>
          </p:cNvPr>
          <p:cNvSpPr/>
          <p:nvPr/>
        </p:nvSpPr>
        <p:spPr>
          <a:xfrm>
            <a:off x="4289604" y="4563034"/>
            <a:ext cx="6666885" cy="743359"/>
          </a:xfrm>
          <a:prstGeom prst="roundRect">
            <a:avLst/>
          </a:prstGeom>
          <a:solidFill>
            <a:srgbClr val="40679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1650" b="1" dirty="0">
                <a:solidFill>
                  <a:srgbClr val="FFCAD4"/>
                </a:solidFill>
                <a:latin typeface="Arial"/>
                <a:cs typeface="Arial"/>
              </a:rPr>
              <a:t>Decode stage stalls, waiting for the instructions to arrive from the outer levels of memory</a:t>
            </a:r>
            <a:endParaRPr lang="en-US" sz="1650" dirty="0">
              <a:solidFill>
                <a:srgbClr val="FFCAD4"/>
              </a:solidFill>
              <a:cs typeface="Arial"/>
            </a:endParaRP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F7F77CF7-7D2F-9D8A-6374-D995F59E60C7}"/>
              </a:ext>
            </a:extLst>
          </p:cNvPr>
          <p:cNvSpPr txBox="1"/>
          <p:nvPr/>
        </p:nvSpPr>
        <p:spPr>
          <a:xfrm>
            <a:off x="639121" y="745389"/>
            <a:ext cx="11360800" cy="76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B00E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mbria"/>
              <a:buNone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GB" b="1" dirty="0">
                <a:solidFill>
                  <a:srgbClr val="D20062"/>
                </a:solidFill>
              </a:rPr>
              <a:t>L1I misses can cause Decode Starvation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C18BFC-BE77-47CD-91DF-C678F74917EC}"/>
              </a:ext>
            </a:extLst>
          </p:cNvPr>
          <p:cNvCxnSpPr>
            <a:cxnSpLocks/>
          </p:cNvCxnSpPr>
          <p:nvPr/>
        </p:nvCxnSpPr>
        <p:spPr>
          <a:xfrm>
            <a:off x="4068093" y="2815955"/>
            <a:ext cx="1443904" cy="7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31C2B1-589C-4F77-85C3-E14C2E6961EB}"/>
              </a:ext>
            </a:extLst>
          </p:cNvPr>
          <p:cNvCxnSpPr>
            <a:cxnSpLocks/>
            <a:stCxn id="2" idx="3"/>
            <a:endCxn id="47" idx="1"/>
          </p:cNvCxnSpPr>
          <p:nvPr/>
        </p:nvCxnSpPr>
        <p:spPr>
          <a:xfrm>
            <a:off x="4074833" y="2648171"/>
            <a:ext cx="1437164" cy="21604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B9421F-1950-4861-B69B-FB2784CFD0AD}"/>
              </a:ext>
            </a:extLst>
          </p:cNvPr>
          <p:cNvCxnSpPr>
            <a:cxnSpLocks/>
          </p:cNvCxnSpPr>
          <p:nvPr/>
        </p:nvCxnSpPr>
        <p:spPr>
          <a:xfrm>
            <a:off x="4068093" y="2478295"/>
            <a:ext cx="144390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9E5A05-937A-43CD-AFF0-7EE1CE43BC7E}"/>
              </a:ext>
            </a:extLst>
          </p:cNvPr>
          <p:cNvCxnSpPr>
            <a:cxnSpLocks/>
          </p:cNvCxnSpPr>
          <p:nvPr/>
        </p:nvCxnSpPr>
        <p:spPr>
          <a:xfrm>
            <a:off x="843280" y="2439670"/>
            <a:ext cx="122594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5EAC00-96CF-46A7-B183-332F5F887EC0}"/>
              </a:ext>
            </a:extLst>
          </p:cNvPr>
          <p:cNvCxnSpPr/>
          <p:nvPr/>
        </p:nvCxnSpPr>
        <p:spPr>
          <a:xfrm>
            <a:off x="871855" y="2582545"/>
            <a:ext cx="1197369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1594D7-67DF-46AF-915E-AE8C0A503F78}"/>
              </a:ext>
            </a:extLst>
          </p:cNvPr>
          <p:cNvCxnSpPr/>
          <p:nvPr/>
        </p:nvCxnSpPr>
        <p:spPr>
          <a:xfrm>
            <a:off x="871855" y="2720997"/>
            <a:ext cx="119736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">
            <a:extLst>
              <a:ext uri="{FF2B5EF4-FFF2-40B4-BE49-F238E27FC236}">
                <a16:creationId xmlns:a16="http://schemas.microsoft.com/office/drawing/2014/main" id="{1A8C6DB2-0425-47DF-A3D4-58F0C9752831}"/>
              </a:ext>
            </a:extLst>
          </p:cNvPr>
          <p:cNvSpPr txBox="1"/>
          <p:nvPr/>
        </p:nvSpPr>
        <p:spPr>
          <a:xfrm>
            <a:off x="503574" y="2283979"/>
            <a:ext cx="426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4BBE5A8C-F580-41EB-8735-EFE68F689DD7}"/>
              </a:ext>
            </a:extLst>
          </p:cNvPr>
          <p:cNvSpPr txBox="1"/>
          <p:nvPr/>
        </p:nvSpPr>
        <p:spPr>
          <a:xfrm>
            <a:off x="503574" y="2442236"/>
            <a:ext cx="426767" cy="285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2FFB2314-49EC-4CA1-8920-C755D1465993}"/>
              </a:ext>
            </a:extLst>
          </p:cNvPr>
          <p:cNvSpPr txBox="1"/>
          <p:nvPr/>
        </p:nvSpPr>
        <p:spPr>
          <a:xfrm>
            <a:off x="493705" y="2589553"/>
            <a:ext cx="426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40FA9E-E5BD-CF72-3D34-FCCEB0F983C6}"/>
              </a:ext>
            </a:extLst>
          </p:cNvPr>
          <p:cNvSpPr/>
          <p:nvPr/>
        </p:nvSpPr>
        <p:spPr>
          <a:xfrm>
            <a:off x="502559" y="3369009"/>
            <a:ext cx="619760" cy="54864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6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C20CE8C1-2C00-5562-943F-FB6690F8A7E8}"/>
              </a:ext>
            </a:extLst>
          </p:cNvPr>
          <p:cNvSpPr/>
          <p:nvPr/>
        </p:nvSpPr>
        <p:spPr>
          <a:xfrm>
            <a:off x="2722358" y="3617148"/>
            <a:ext cx="771525" cy="485893"/>
          </a:xfrm>
          <a:prstGeom prst="flowChartProcess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L1 I</a:t>
            </a:r>
          </a:p>
        </p:txBody>
      </p:sp>
      <p:sp>
        <p:nvSpPr>
          <p:cNvPr id="43" name="Callout: Up Arrow 42">
            <a:extLst>
              <a:ext uri="{FF2B5EF4-FFF2-40B4-BE49-F238E27FC236}">
                <a16:creationId xmlns:a16="http://schemas.microsoft.com/office/drawing/2014/main" id="{58F30BED-4F55-41BB-9942-B57E9DA97DE0}"/>
              </a:ext>
            </a:extLst>
          </p:cNvPr>
          <p:cNvSpPr/>
          <p:nvPr/>
        </p:nvSpPr>
        <p:spPr>
          <a:xfrm>
            <a:off x="4907136" y="3447115"/>
            <a:ext cx="1617630" cy="704107"/>
          </a:xfrm>
          <a:prstGeom prst="upArrowCallout">
            <a:avLst/>
          </a:prstGeom>
          <a:solidFill>
            <a:srgbClr val="C4E4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Empty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876A03E-4A5F-4E2B-B088-41D878DC19A9}"/>
              </a:ext>
            </a:extLst>
          </p:cNvPr>
          <p:cNvGraphicFramePr>
            <a:graphicFrameLocks noGrp="1"/>
          </p:cNvGraphicFramePr>
          <p:nvPr/>
        </p:nvGraphicFramePr>
        <p:xfrm>
          <a:off x="2152399" y="1916651"/>
          <a:ext cx="1922434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61151">
                  <a:extLst>
                    <a:ext uri="{9D8B030D-6E8A-4147-A177-3AD203B41FA5}">
                      <a16:colId xmlns:a16="http://schemas.microsoft.com/office/drawing/2014/main" val="2973348881"/>
                    </a:ext>
                  </a:extLst>
                </a:gridCol>
                <a:gridCol w="1461283">
                  <a:extLst>
                    <a:ext uri="{9D8B030D-6E8A-4147-A177-3AD203B41FA5}">
                      <a16:colId xmlns:a16="http://schemas.microsoft.com/office/drawing/2014/main" val="2549525749"/>
                    </a:ext>
                  </a:extLst>
                </a:gridCol>
              </a:tblGrid>
              <a:tr h="2560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3600"/>
                        <a:t>IF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4594"/>
                  </a:ext>
                </a:extLst>
              </a:tr>
              <a:tr h="269520"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FA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654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4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FA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22357597"/>
                  </a:ext>
                </a:extLst>
              </a:tr>
            </a:tbl>
          </a:graphicData>
        </a:graphic>
      </p:graphicFrame>
      <p:graphicFrame>
        <p:nvGraphicFramePr>
          <p:cNvPr id="45" name="Table 2">
            <a:extLst>
              <a:ext uri="{FF2B5EF4-FFF2-40B4-BE49-F238E27FC236}">
                <a16:creationId xmlns:a16="http://schemas.microsoft.com/office/drawing/2014/main" id="{4284766B-6A16-426A-A046-0078C87A623B}"/>
              </a:ext>
            </a:extLst>
          </p:cNvPr>
          <p:cNvGraphicFramePr>
            <a:graphicFrameLocks noGrp="1"/>
          </p:cNvGraphicFramePr>
          <p:nvPr/>
        </p:nvGraphicFramePr>
        <p:xfrm>
          <a:off x="8864855" y="1938255"/>
          <a:ext cx="1915694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59534">
                  <a:extLst>
                    <a:ext uri="{9D8B030D-6E8A-4147-A177-3AD203B41FA5}">
                      <a16:colId xmlns:a16="http://schemas.microsoft.com/office/drawing/2014/main" val="2973348881"/>
                    </a:ext>
                  </a:extLst>
                </a:gridCol>
                <a:gridCol w="1456160">
                  <a:extLst>
                    <a:ext uri="{9D8B030D-6E8A-4147-A177-3AD203B41FA5}">
                      <a16:colId xmlns:a16="http://schemas.microsoft.com/office/drawing/2014/main" val="2549525749"/>
                    </a:ext>
                  </a:extLst>
                </a:gridCol>
              </a:tblGrid>
              <a:tr h="2560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3600"/>
                        <a:t>EX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4594"/>
                  </a:ext>
                </a:extLst>
              </a:tr>
              <a:tr h="269520"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FA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654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4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FA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22357597"/>
                  </a:ext>
                </a:extLst>
              </a:tr>
            </a:tbl>
          </a:graphicData>
        </a:graphic>
      </p:graphicFrame>
      <p:graphicFrame>
        <p:nvGraphicFramePr>
          <p:cNvPr id="47" name="Table 2">
            <a:extLst>
              <a:ext uri="{FF2B5EF4-FFF2-40B4-BE49-F238E27FC236}">
                <a16:creationId xmlns:a16="http://schemas.microsoft.com/office/drawing/2014/main" id="{E5B851AE-32F9-4CFC-B976-965529BB4F5A}"/>
              </a:ext>
            </a:extLst>
          </p:cNvPr>
          <p:cNvGraphicFramePr>
            <a:graphicFrameLocks noGrp="1"/>
          </p:cNvGraphicFramePr>
          <p:nvPr/>
        </p:nvGraphicFramePr>
        <p:xfrm>
          <a:off x="5511997" y="1938255"/>
          <a:ext cx="1915694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59534">
                  <a:extLst>
                    <a:ext uri="{9D8B030D-6E8A-4147-A177-3AD203B41FA5}">
                      <a16:colId xmlns:a16="http://schemas.microsoft.com/office/drawing/2014/main" val="2973348881"/>
                    </a:ext>
                  </a:extLst>
                </a:gridCol>
                <a:gridCol w="1456160">
                  <a:extLst>
                    <a:ext uri="{9D8B030D-6E8A-4147-A177-3AD203B41FA5}">
                      <a16:colId xmlns:a16="http://schemas.microsoft.com/office/drawing/2014/main" val="2549525749"/>
                    </a:ext>
                  </a:extLst>
                </a:gridCol>
              </a:tblGrid>
              <a:tr h="2560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3600"/>
                        <a:t>ID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4594"/>
                  </a:ext>
                </a:extLst>
              </a:tr>
              <a:tr h="269520"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FA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654"/>
                  </a:ext>
                </a:extLst>
              </a:tr>
              <a:tr h="249699"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D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4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FA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2235759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899160-EE87-6039-69B2-7F056F8D2BE3}"/>
              </a:ext>
            </a:extLst>
          </p:cNvPr>
          <p:cNvCxnSpPr/>
          <p:nvPr/>
        </p:nvCxnSpPr>
        <p:spPr>
          <a:xfrm>
            <a:off x="3089667" y="3359674"/>
            <a:ext cx="2606" cy="243813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352914-A851-A39C-BAA6-D631D2DD49E3}"/>
              </a:ext>
            </a:extLst>
          </p:cNvPr>
          <p:cNvCxnSpPr/>
          <p:nvPr/>
        </p:nvCxnSpPr>
        <p:spPr>
          <a:xfrm>
            <a:off x="871855" y="2889097"/>
            <a:ext cx="1197369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141F4E-B0B6-807A-666F-77FD02D85B14}"/>
              </a:ext>
            </a:extLst>
          </p:cNvPr>
          <p:cNvCxnSpPr/>
          <p:nvPr/>
        </p:nvCxnSpPr>
        <p:spPr>
          <a:xfrm>
            <a:off x="871855" y="3027549"/>
            <a:ext cx="119736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5">
            <a:extLst>
              <a:ext uri="{FF2B5EF4-FFF2-40B4-BE49-F238E27FC236}">
                <a16:creationId xmlns:a16="http://schemas.microsoft.com/office/drawing/2014/main" id="{A1D6422B-B23C-1B32-DC9C-6616E93A36BF}"/>
              </a:ext>
            </a:extLst>
          </p:cNvPr>
          <p:cNvSpPr txBox="1"/>
          <p:nvPr/>
        </p:nvSpPr>
        <p:spPr>
          <a:xfrm>
            <a:off x="503574" y="2748788"/>
            <a:ext cx="426767" cy="2857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I4 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14D6F164-7BFC-6214-AFFB-CDC1ACB9B256}"/>
              </a:ext>
            </a:extLst>
          </p:cNvPr>
          <p:cNvSpPr txBox="1"/>
          <p:nvPr/>
        </p:nvSpPr>
        <p:spPr>
          <a:xfrm>
            <a:off x="493705" y="2896105"/>
            <a:ext cx="42676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chemeClr val="bg1">
                    <a:lumMod val="49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3438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4" grpId="0" animBg="1"/>
      <p:bldP spid="36" grpId="0" animBg="1"/>
      <p:bldP spid="38" grpId="0" animBg="1"/>
      <p:bldP spid="80" grpId="0"/>
      <p:bldP spid="82" grpId="0"/>
      <p:bldP spid="84" grpId="0"/>
      <p:bldP spid="90" grpId="0" animBg="1"/>
      <p:bldP spid="19" grpId="0"/>
      <p:bldP spid="19" grpId="1"/>
      <p:bldP spid="21" grpId="0"/>
      <p:bldP spid="21" grpId="1"/>
      <p:bldP spid="23" grpId="0"/>
      <p:bldP spid="23" grpId="1"/>
      <p:bldP spid="41" grpId="0" animBg="1"/>
      <p:bldP spid="32" grpId="0" animBg="1"/>
      <p:bldP spid="43" grpId="0" animBg="1"/>
      <p:bldP spid="20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C01C-BE9A-B828-74A1-9DE3FED6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Latency will be there, anyways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74A22-DB56-87F1-E0C7-F40EA38BE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x86 uses variable-length instructions </a:t>
            </a:r>
          </a:p>
          <a:p>
            <a:r>
              <a:rPr lang="en-US" dirty="0"/>
              <a:t>Size of the decoder cannot be fixed like ARM ISA.</a:t>
            </a:r>
          </a:p>
          <a:p>
            <a:r>
              <a:rPr lang="en-US" dirty="0"/>
              <a:t>Also, x86 is RISCY ISA </a:t>
            </a:r>
            <a:r>
              <a:rPr lang="en-US" dirty="0">
                <a:sym typeface="Wingdings" panose="05000000000000000000" pitchFamily="2" charset="2"/>
              </a:rPr>
              <a:t> CISC for programmers, RISC for the execution units </a:t>
            </a:r>
          </a:p>
          <a:p>
            <a:r>
              <a:rPr lang="en-US" dirty="0">
                <a:sym typeface="Wingdings" panose="05000000000000000000" pitchFamily="2" charset="2"/>
              </a:rPr>
              <a:t>One CISC instruction -&gt; many RISC micro-operations </a:t>
            </a:r>
          </a:p>
          <a:p>
            <a:r>
              <a:rPr lang="en-US" dirty="0">
                <a:sym typeface="Wingdings" panose="05000000000000000000" pitchFamily="2" charset="2"/>
              </a:rPr>
              <a:t>Here is the deal: There is a macro-op queue containing CISC instructions that a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pre-decoder</a:t>
            </a:r>
            <a:r>
              <a:rPr lang="en-US" dirty="0">
                <a:sym typeface="Wingdings" panose="05000000000000000000" pitchFamily="2" charset="2"/>
              </a:rPr>
              <a:t> logic converts into micro-ops. It can take up to six cycles in the worst case. </a:t>
            </a:r>
            <a:r>
              <a:rPr lang="en-US" dirty="0"/>
              <a:t> </a:t>
            </a:r>
          </a:p>
          <a:p>
            <a:r>
              <a:rPr lang="en-US" dirty="0"/>
              <a:t>Then there will a decode. In general, decoding takes a considerable amount of power and latency. </a:t>
            </a:r>
          </a:p>
          <a:p>
            <a:r>
              <a:rPr lang="en-US" dirty="0"/>
              <a:t>What can be done? Well, use a cache, called micro-op cache. A hit in the micro-op cache can bypass decode latency. </a:t>
            </a:r>
          </a:p>
          <a:p>
            <a:r>
              <a:rPr lang="en-US" dirty="0"/>
              <a:t>BTW, which stage in the pipeline, the micro-op cache will be accessed?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FE295-A301-B8B9-660F-7DEE3925B4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8349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3307-9EDD-C396-AE4C-C795807E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about latency and bandwidth again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CA044-6D0A-A02A-A78A-02EC2EB19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Front-end latency and bandwidth </a:t>
            </a:r>
          </a:p>
          <a:p>
            <a:r>
              <a:rPr lang="en-US" dirty="0"/>
              <a:t>Bad speculation (branch predictor, micro-op cache too </a:t>
            </a:r>
            <a:r>
              <a:rPr lang="en-US" dirty="0">
                <a:sym typeface="Wingdings" panose="05000000000000000000" pitchFamily="2" charset="2"/>
              </a:rPr>
              <a:t>)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68BD0-0F68-FB77-B102-25DC631050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80627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F723-CDC7-4057-67BF-4035BBA3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025128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0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Students@CS683 after Front-end mysteries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3EB1F1-4DFF-1BEA-F30F-1B3E95473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22231" y="1837615"/>
            <a:ext cx="7347537" cy="451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06B3C-FA44-5816-BA9F-C9708610CE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00000000-1234-1234-1234-123412341234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l">
                <a:spcAft>
                  <a:spcPts val="600"/>
                </a:spcAft>
              </a:pPr>
              <a:t>24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52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48616</TotalTime>
  <Words>1329</Words>
  <Application>Microsoft Office PowerPoint</Application>
  <PresentationFormat>Widescreen</PresentationFormat>
  <Paragraphs>358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Gill Sans MT</vt:lpstr>
      <vt:lpstr>Wingdings</vt:lpstr>
      <vt:lpstr>Office Theme</vt:lpstr>
      <vt:lpstr>CS683: Advanced Computer Architecture</vt:lpstr>
      <vt:lpstr>Instruction Level Parallelism (ILP)</vt:lpstr>
      <vt:lpstr>Superscalar Processor</vt:lpstr>
      <vt:lpstr>Most of the Computer Architecture Courses</vt:lpstr>
      <vt:lpstr>Modern Processors: In-order fetch</vt:lpstr>
      <vt:lpstr>Modern Processors: Out-of-order Execute</vt:lpstr>
      <vt:lpstr>Modern Processors: In-order Commit</vt:lpstr>
      <vt:lpstr>Modern Processors: In-order Commit</vt:lpstr>
      <vt:lpstr>Modern Processors: Speculative Execution</vt:lpstr>
      <vt:lpstr>Modern Processors: Speculative Execution</vt:lpstr>
      <vt:lpstr>Three Great tastes that tastes great together</vt:lpstr>
      <vt:lpstr>Front-end Bottleneck (Servers, mobile workloads)</vt:lpstr>
      <vt:lpstr>Branch instructions</vt:lpstr>
      <vt:lpstr>BTB/L1I Capacity/latency Problem</vt:lpstr>
      <vt:lpstr>An Example</vt:lpstr>
      <vt:lpstr>Ideal front-end: Google Web search</vt:lpstr>
      <vt:lpstr>Decoupled Frontend: Welcome to the Mystery </vt:lpstr>
      <vt:lpstr>Decoupled Front-end</vt:lpstr>
      <vt:lpstr>FDIP paper (Fetch Directed Instruction Prefetching)</vt:lpstr>
      <vt:lpstr>Benefits</vt:lpstr>
      <vt:lpstr>PowerPoint Presentation</vt:lpstr>
      <vt:lpstr>Decode Latency will be there, anyways </vt:lpstr>
      <vt:lpstr>Think about latency and bandwidth again</vt:lpstr>
      <vt:lpstr>Students@CS683 after Front-end mysteries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 panda</cp:lastModifiedBy>
  <cp:revision>964</cp:revision>
  <dcterms:created xsi:type="dcterms:W3CDTF">2021-05-31T06:57:48Z</dcterms:created>
  <dcterms:modified xsi:type="dcterms:W3CDTF">2026-02-08T15:39:14Z</dcterms:modified>
</cp:coreProperties>
</file>