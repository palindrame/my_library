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7713" r:id="rId3"/>
    <p:sldId id="7772" r:id="rId4"/>
    <p:sldId id="7945" r:id="rId5"/>
    <p:sldId id="7943" r:id="rId6"/>
    <p:sldId id="7946" r:id="rId7"/>
    <p:sldId id="7947" r:id="rId8"/>
    <p:sldId id="7771" r:id="rId9"/>
    <p:sldId id="7901" r:id="rId10"/>
    <p:sldId id="7903" r:id="rId11"/>
    <p:sldId id="7948" r:id="rId12"/>
    <p:sldId id="7950" r:id="rId13"/>
    <p:sldId id="7951" r:id="rId14"/>
    <p:sldId id="7952" r:id="rId15"/>
    <p:sldId id="795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jp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hipsandcheese.com/p/hot-chips-2023-arms-neoverse-v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</a:t>
            </a:r>
            <a:r>
              <a:rPr lang="en-US"/>
              <a:t>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03544" cy="1655762"/>
          </a:xfrm>
        </p:spPr>
        <p:txBody>
          <a:bodyPr>
            <a:normAutofit fontScale="92500"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L8: August over, final lecture before the world of Maya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(Connecting </a:t>
            </a:r>
            <a:r>
              <a:rPr lang="en-US" sz="3600" dirty="0" err="1">
                <a:solidFill>
                  <a:srgbClr val="C00000"/>
                </a:solidFill>
              </a:rPr>
              <a:t>all@August</a:t>
            </a:r>
            <a:r>
              <a:rPr lang="en-US" sz="3600" dirty="0">
                <a:solidFill>
                  <a:srgbClr val="C00000"/>
                </a:solidFill>
              </a:rPr>
              <a:t>)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0AAE-555A-4C41-C3C4-1385C999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prefetchers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161EC-7413-0C5A-9E2F-CCB9C697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546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54D98-2A26-1CA6-E7FB-8E4ECC6B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397F5EE-4FC5-BBA3-9096-89A2079D6DBB}"/>
              </a:ext>
            </a:extLst>
          </p:cNvPr>
          <p:cNvSpPr/>
          <p:nvPr/>
        </p:nvSpPr>
        <p:spPr>
          <a:xfrm>
            <a:off x="3057047" y="1999394"/>
            <a:ext cx="1844039" cy="0"/>
          </a:xfrm>
          <a:custGeom>
            <a:avLst/>
            <a:gdLst/>
            <a:ahLst/>
            <a:cxnLst/>
            <a:rect l="l" t="t" r="r" b="b"/>
            <a:pathLst>
              <a:path w="1844039">
                <a:moveTo>
                  <a:pt x="0" y="0"/>
                </a:moveTo>
                <a:lnTo>
                  <a:pt x="1843685" y="0"/>
                </a:lnTo>
              </a:path>
            </a:pathLst>
          </a:custGeom>
          <a:ln w="308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083C5EB-6AC4-974D-1C9B-69410F61865D}"/>
              </a:ext>
            </a:extLst>
          </p:cNvPr>
          <p:cNvSpPr txBox="1"/>
          <p:nvPr/>
        </p:nvSpPr>
        <p:spPr>
          <a:xfrm>
            <a:off x="193992" y="1453769"/>
            <a:ext cx="4854575" cy="11226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8135" rIns="0" bIns="0" rtlCol="0">
            <a:spAutoFit/>
          </a:bodyPr>
          <a:lstStyle/>
          <a:p>
            <a:pPr marL="121920">
              <a:lnSpc>
                <a:spcPts val="2445"/>
              </a:lnSpc>
              <a:spcBef>
                <a:spcPts val="2505"/>
              </a:spcBef>
              <a:tabLst>
                <a:tab pos="3014345" algn="l"/>
              </a:tabLst>
            </a:pPr>
            <a:r>
              <a:rPr sz="2400" spc="-15" dirty="0">
                <a:latin typeface="Times New Roman"/>
                <a:cs typeface="Times New Roman"/>
              </a:rPr>
              <a:t>PrefetchAccuracy(i)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</a:t>
            </a:r>
            <a:r>
              <a:rPr sz="2400" spc="-10" dirty="0">
                <a:latin typeface="Times New Roman"/>
                <a:cs typeface="Times New Roman"/>
              </a:rPr>
              <a:t>	</a:t>
            </a:r>
            <a:r>
              <a:rPr sz="3600" spc="-22" baseline="38194" dirty="0">
                <a:latin typeface="Times New Roman"/>
                <a:cs typeface="Times New Roman"/>
              </a:rPr>
              <a:t>Prefetch</a:t>
            </a:r>
            <a:r>
              <a:rPr sz="2175" spc="-22" baseline="63218" dirty="0">
                <a:latin typeface="Times New Roman"/>
                <a:cs typeface="Times New Roman"/>
              </a:rPr>
              <a:t>hits</a:t>
            </a:r>
            <a:r>
              <a:rPr sz="3600" spc="-22" baseline="38194" dirty="0">
                <a:latin typeface="Times New Roman"/>
                <a:cs typeface="Times New Roman"/>
              </a:rPr>
              <a:t>(i)</a:t>
            </a:r>
            <a:endParaRPr sz="3600" baseline="38194">
              <a:latin typeface="Times New Roman"/>
              <a:cs typeface="Times New Roman"/>
            </a:endParaRPr>
          </a:p>
          <a:p>
            <a:pPr marL="2919730">
              <a:lnSpc>
                <a:spcPts val="2445"/>
              </a:lnSpc>
            </a:pPr>
            <a:r>
              <a:rPr sz="2400" spc="-15" dirty="0">
                <a:latin typeface="Times New Roman"/>
                <a:cs typeface="Times New Roman"/>
              </a:rPr>
              <a:t>Prefetch</a:t>
            </a:r>
            <a:r>
              <a:rPr sz="1450" spc="-15" dirty="0">
                <a:latin typeface="Times New Roman"/>
                <a:cs typeface="Times New Roman"/>
              </a:rPr>
              <a:t>issued</a:t>
            </a:r>
            <a:r>
              <a:rPr sz="2400" spc="-15" dirty="0">
                <a:latin typeface="Times New Roman"/>
                <a:cs typeface="Times New Roman"/>
              </a:rPr>
              <a:t>(i)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24E536C-7D8E-7F54-F6DB-77CA25CBFAD6}"/>
              </a:ext>
            </a:extLst>
          </p:cNvPr>
          <p:cNvSpPr/>
          <p:nvPr/>
        </p:nvSpPr>
        <p:spPr>
          <a:xfrm>
            <a:off x="2025954" y="3262482"/>
            <a:ext cx="1704339" cy="0"/>
          </a:xfrm>
          <a:custGeom>
            <a:avLst/>
            <a:gdLst/>
            <a:ahLst/>
            <a:cxnLst/>
            <a:rect l="l" t="t" r="r" b="b"/>
            <a:pathLst>
              <a:path w="1704339">
                <a:moveTo>
                  <a:pt x="0" y="0"/>
                </a:moveTo>
                <a:lnTo>
                  <a:pt x="1704153" y="0"/>
                </a:lnTo>
              </a:path>
            </a:pathLst>
          </a:custGeom>
          <a:ln w="29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FCDDCC9F-78D3-9D6C-87B1-D6A53416B158}"/>
              </a:ext>
            </a:extLst>
          </p:cNvPr>
          <p:cNvSpPr txBox="1"/>
          <p:nvPr/>
        </p:nvSpPr>
        <p:spPr>
          <a:xfrm>
            <a:off x="193992" y="2719070"/>
            <a:ext cx="3711575" cy="11226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7315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845"/>
              </a:spcBef>
              <a:tabLst>
                <a:tab pos="1892935" algn="l"/>
              </a:tabLst>
            </a:pPr>
            <a:r>
              <a:rPr sz="3600" spc="15" baseline="-38194" dirty="0">
                <a:latin typeface="Times New Roman"/>
                <a:cs typeface="Times New Roman"/>
              </a:rPr>
              <a:t>Lateness(i)</a:t>
            </a:r>
            <a:r>
              <a:rPr sz="3600" baseline="-38194" dirty="0">
                <a:latin typeface="Times New Roman"/>
                <a:cs typeface="Times New Roman"/>
              </a:rPr>
              <a:t> </a:t>
            </a:r>
            <a:r>
              <a:rPr sz="3600" spc="97" baseline="-38194" dirty="0">
                <a:latin typeface="Symbol"/>
                <a:cs typeface="Symbol"/>
              </a:rPr>
              <a:t></a:t>
            </a:r>
            <a:r>
              <a:rPr sz="3600" spc="97" baseline="-38194" dirty="0">
                <a:latin typeface="Times New Roman"/>
                <a:cs typeface="Times New Roman"/>
              </a:rPr>
              <a:t>	</a:t>
            </a:r>
            <a:r>
              <a:rPr sz="2400" spc="5" dirty="0">
                <a:latin typeface="Times New Roman"/>
                <a:cs typeface="Times New Roman"/>
              </a:rPr>
              <a:t>Prefetch</a:t>
            </a:r>
            <a:r>
              <a:rPr sz="1450" spc="5" dirty="0">
                <a:latin typeface="Times New Roman"/>
                <a:cs typeface="Times New Roman"/>
              </a:rPr>
              <a:t>late</a:t>
            </a:r>
            <a:r>
              <a:rPr sz="2400" spc="5" dirty="0">
                <a:latin typeface="Times New Roman"/>
                <a:cs typeface="Times New Roman"/>
              </a:rPr>
              <a:t>(i)</a:t>
            </a:r>
            <a:endParaRPr sz="2400">
              <a:latin typeface="Times New Roman"/>
              <a:cs typeface="Times New Roman"/>
            </a:endParaRPr>
          </a:p>
          <a:p>
            <a:pPr marL="1890395">
              <a:lnSpc>
                <a:spcPct val="100000"/>
              </a:lnSpc>
              <a:spcBef>
                <a:spcPts val="745"/>
              </a:spcBef>
            </a:pPr>
            <a:r>
              <a:rPr sz="2400" spc="75" dirty="0">
                <a:latin typeface="Times New Roman"/>
                <a:cs typeface="Times New Roman"/>
              </a:rPr>
              <a:t>P</a:t>
            </a:r>
            <a:r>
              <a:rPr sz="2400" spc="-105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spc="-10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spc="30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spc="200" dirty="0">
                <a:latin typeface="Times New Roman"/>
                <a:cs typeface="Times New Roman"/>
              </a:rPr>
              <a:t>h</a:t>
            </a:r>
            <a:r>
              <a:rPr sz="1450" spc="-25" dirty="0">
                <a:latin typeface="Times New Roman"/>
                <a:cs typeface="Times New Roman"/>
              </a:rPr>
              <a:t>h</a:t>
            </a:r>
            <a:r>
              <a:rPr sz="1450" spc="-55" dirty="0">
                <a:latin typeface="Times New Roman"/>
                <a:cs typeface="Times New Roman"/>
              </a:rPr>
              <a:t>it</a:t>
            </a:r>
            <a:r>
              <a:rPr sz="1450" spc="20" dirty="0">
                <a:latin typeface="Times New Roman"/>
                <a:cs typeface="Times New Roman"/>
              </a:rPr>
              <a:t>s</a:t>
            </a:r>
            <a:r>
              <a:rPr sz="1450" spc="-2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(</a:t>
            </a:r>
            <a:r>
              <a:rPr sz="2400" spc="35" dirty="0">
                <a:latin typeface="Times New Roman"/>
                <a:cs typeface="Times New Roman"/>
              </a:rPr>
              <a:t>i)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FD41E964-86BC-EB2B-0E31-46264DBF01F8}"/>
              </a:ext>
            </a:extLst>
          </p:cNvPr>
          <p:cNvSpPr/>
          <p:nvPr/>
        </p:nvSpPr>
        <p:spPr>
          <a:xfrm>
            <a:off x="2082354" y="4481682"/>
            <a:ext cx="1940560" cy="0"/>
          </a:xfrm>
          <a:custGeom>
            <a:avLst/>
            <a:gdLst/>
            <a:ahLst/>
            <a:cxnLst/>
            <a:rect l="l" t="t" r="r" b="b"/>
            <a:pathLst>
              <a:path w="1940560">
                <a:moveTo>
                  <a:pt x="0" y="0"/>
                </a:moveTo>
                <a:lnTo>
                  <a:pt x="1940372" y="0"/>
                </a:lnTo>
              </a:path>
            </a:pathLst>
          </a:custGeom>
          <a:ln w="29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5CBD0ED-3D19-E08D-B862-E92F44CBB092}"/>
              </a:ext>
            </a:extLst>
          </p:cNvPr>
          <p:cNvSpPr txBox="1"/>
          <p:nvPr/>
        </p:nvSpPr>
        <p:spPr>
          <a:xfrm>
            <a:off x="193993" y="3938270"/>
            <a:ext cx="4016375" cy="93358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4960" rIns="0" bIns="0" rtlCol="0">
            <a:spAutoFit/>
          </a:bodyPr>
          <a:lstStyle/>
          <a:p>
            <a:pPr marL="125730">
              <a:lnSpc>
                <a:spcPts val="2440"/>
              </a:lnSpc>
              <a:spcBef>
                <a:spcPts val="2480"/>
              </a:spcBef>
              <a:tabLst>
                <a:tab pos="2148840" algn="l"/>
              </a:tabLst>
            </a:pPr>
            <a:r>
              <a:rPr sz="2400" spc="15" dirty="0">
                <a:latin typeface="Times New Roman"/>
                <a:cs typeface="Times New Roman"/>
              </a:rPr>
              <a:t>Pollution(</a:t>
            </a:r>
            <a:r>
              <a:rPr lang="en-US" sz="2400" spc="15" dirty="0" err="1">
                <a:latin typeface="Times New Roman"/>
                <a:cs typeface="Times New Roman"/>
              </a:rPr>
              <a:t>i</a:t>
            </a:r>
            <a:r>
              <a:rPr sz="2400" spc="15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Symbol"/>
                <a:cs typeface="Symbol"/>
              </a:rPr>
              <a:t></a:t>
            </a:r>
            <a:r>
              <a:rPr sz="2400" spc="65" dirty="0">
                <a:latin typeface="Times New Roman"/>
                <a:cs typeface="Times New Roman"/>
              </a:rPr>
              <a:t>	</a:t>
            </a:r>
            <a:r>
              <a:rPr sz="3600" spc="-15" baseline="38194" dirty="0">
                <a:latin typeface="Times New Roman"/>
                <a:cs typeface="Times New Roman"/>
              </a:rPr>
              <a:t>LLC</a:t>
            </a:r>
            <a:r>
              <a:rPr sz="3600" spc="-172" baseline="38194" dirty="0">
                <a:latin typeface="Times New Roman"/>
                <a:cs typeface="Times New Roman"/>
              </a:rPr>
              <a:t> </a:t>
            </a:r>
            <a:r>
              <a:rPr sz="3600" spc="67" baseline="38194" dirty="0">
                <a:latin typeface="Times New Roman"/>
                <a:cs typeface="Times New Roman"/>
              </a:rPr>
              <a:t>Poll(i)</a:t>
            </a:r>
            <a:endParaRPr sz="3600" baseline="38194" dirty="0">
              <a:latin typeface="Times New Roman"/>
              <a:cs typeface="Times New Roman"/>
            </a:endParaRPr>
          </a:p>
          <a:p>
            <a:pPr marL="1946275">
              <a:lnSpc>
                <a:spcPts val="2440"/>
              </a:lnSpc>
            </a:pPr>
            <a:r>
              <a:rPr sz="2400" spc="5" dirty="0">
                <a:latin typeface="Times New Roman"/>
                <a:cs typeface="Times New Roman"/>
              </a:rPr>
              <a:t>Demand</a:t>
            </a:r>
            <a:r>
              <a:rPr sz="1450" spc="5" dirty="0">
                <a:latin typeface="Times New Roman"/>
                <a:cs typeface="Times New Roman"/>
              </a:rPr>
              <a:t>misses</a:t>
            </a:r>
            <a:r>
              <a:rPr sz="2400" spc="5" dirty="0">
                <a:latin typeface="Times New Roman"/>
                <a:cs typeface="Times New Roman"/>
              </a:rPr>
              <a:t>(i)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62CFAC86-B6D7-E8CB-8F22-465846A74115}"/>
              </a:ext>
            </a:extLst>
          </p:cNvPr>
          <p:cNvGrpSpPr/>
          <p:nvPr/>
        </p:nvGrpSpPr>
        <p:grpSpPr>
          <a:xfrm>
            <a:off x="5232782" y="1413208"/>
            <a:ext cx="5793105" cy="906780"/>
            <a:chOff x="5141976" y="1051575"/>
            <a:chExt cx="5793105" cy="906780"/>
          </a:xfrm>
        </p:grpSpPr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0E977A07-75AB-7E46-FF9A-28B6E30F32F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1051575"/>
              <a:ext cx="5715000" cy="906749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EF716F9A-884C-EBC7-FF67-EFDF028479B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1976" y="1153667"/>
              <a:ext cx="4965191" cy="804672"/>
            </a:xfrm>
            <a:prstGeom prst="rect">
              <a:avLst/>
            </a:prstGeom>
          </p:spPr>
        </p:pic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AEC21BEB-55F7-41A1-5274-B8C3B60B674F}"/>
                </a:ext>
              </a:extLst>
            </p:cNvPr>
            <p:cNvSpPr/>
            <p:nvPr/>
          </p:nvSpPr>
          <p:spPr>
            <a:xfrm>
              <a:off x="5257800" y="1066799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80">
                  <a:moveTo>
                    <a:pt x="55003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29"/>
                  </a:lnTo>
                  <a:lnTo>
                    <a:pt x="0" y="691896"/>
                  </a:lnTo>
                  <a:lnTo>
                    <a:pt x="7057" y="735637"/>
                  </a:lnTo>
                  <a:lnTo>
                    <a:pt x="26708" y="773606"/>
                  </a:lnTo>
                  <a:lnTo>
                    <a:pt x="56674" y="803535"/>
                  </a:lnTo>
                  <a:lnTo>
                    <a:pt x="94674" y="823155"/>
                  </a:lnTo>
                  <a:lnTo>
                    <a:pt x="138429" y="830199"/>
                  </a:lnTo>
                  <a:lnTo>
                    <a:pt x="5500370" y="830199"/>
                  </a:lnTo>
                  <a:lnTo>
                    <a:pt x="5544125" y="823155"/>
                  </a:lnTo>
                  <a:lnTo>
                    <a:pt x="5582125" y="803535"/>
                  </a:lnTo>
                  <a:lnTo>
                    <a:pt x="5612091" y="773606"/>
                  </a:lnTo>
                  <a:lnTo>
                    <a:pt x="5631742" y="735637"/>
                  </a:lnTo>
                  <a:lnTo>
                    <a:pt x="5638800" y="691896"/>
                  </a:lnTo>
                  <a:lnTo>
                    <a:pt x="5638800" y="138429"/>
                  </a:lnTo>
                  <a:lnTo>
                    <a:pt x="5631742" y="94674"/>
                  </a:lnTo>
                  <a:lnTo>
                    <a:pt x="5612091" y="56674"/>
                  </a:lnTo>
                  <a:lnTo>
                    <a:pt x="5582125" y="26708"/>
                  </a:lnTo>
                  <a:lnTo>
                    <a:pt x="5544125" y="7057"/>
                  </a:lnTo>
                  <a:lnTo>
                    <a:pt x="55003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CE211984-6B49-43BF-5B4F-1DCF11FF7B19}"/>
                </a:ext>
              </a:extLst>
            </p:cNvPr>
            <p:cNvSpPr/>
            <p:nvPr/>
          </p:nvSpPr>
          <p:spPr>
            <a:xfrm>
              <a:off x="5257800" y="1066799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80">
                  <a:moveTo>
                    <a:pt x="0" y="138429"/>
                  </a:moveTo>
                  <a:lnTo>
                    <a:pt x="7057" y="94674"/>
                  </a:lnTo>
                  <a:lnTo>
                    <a:pt x="26708" y="56674"/>
                  </a:lnTo>
                  <a:lnTo>
                    <a:pt x="56674" y="26708"/>
                  </a:lnTo>
                  <a:lnTo>
                    <a:pt x="94674" y="7057"/>
                  </a:lnTo>
                  <a:lnTo>
                    <a:pt x="138429" y="0"/>
                  </a:lnTo>
                  <a:lnTo>
                    <a:pt x="5500370" y="0"/>
                  </a:lnTo>
                  <a:lnTo>
                    <a:pt x="5544125" y="7057"/>
                  </a:lnTo>
                  <a:lnTo>
                    <a:pt x="5582125" y="26708"/>
                  </a:lnTo>
                  <a:lnTo>
                    <a:pt x="5612091" y="56674"/>
                  </a:lnTo>
                  <a:lnTo>
                    <a:pt x="5631742" y="94674"/>
                  </a:lnTo>
                  <a:lnTo>
                    <a:pt x="5638800" y="138429"/>
                  </a:lnTo>
                  <a:lnTo>
                    <a:pt x="5638800" y="691896"/>
                  </a:lnTo>
                  <a:lnTo>
                    <a:pt x="5631742" y="735637"/>
                  </a:lnTo>
                  <a:lnTo>
                    <a:pt x="5612091" y="773606"/>
                  </a:lnTo>
                  <a:lnTo>
                    <a:pt x="5582125" y="803535"/>
                  </a:lnTo>
                  <a:lnTo>
                    <a:pt x="5544125" y="823155"/>
                  </a:lnTo>
                  <a:lnTo>
                    <a:pt x="5500370" y="830199"/>
                  </a:lnTo>
                  <a:lnTo>
                    <a:pt x="138429" y="830199"/>
                  </a:lnTo>
                  <a:lnTo>
                    <a:pt x="94674" y="823155"/>
                  </a:lnTo>
                  <a:lnTo>
                    <a:pt x="56674" y="803535"/>
                  </a:lnTo>
                  <a:lnTo>
                    <a:pt x="26708" y="773606"/>
                  </a:lnTo>
                  <a:lnTo>
                    <a:pt x="7057" y="735637"/>
                  </a:lnTo>
                  <a:lnTo>
                    <a:pt x="0" y="691896"/>
                  </a:lnTo>
                  <a:lnTo>
                    <a:pt x="0" y="1384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91BEED3C-E403-D1AE-C9E0-55D5199553C6}"/>
              </a:ext>
            </a:extLst>
          </p:cNvPr>
          <p:cNvSpPr txBox="1"/>
          <p:nvPr/>
        </p:nvSpPr>
        <p:spPr>
          <a:xfrm>
            <a:off x="5468494" y="1616266"/>
            <a:ext cx="44170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mbria"/>
                <a:cs typeface="Cambria"/>
              </a:rPr>
              <a:t>Prefetched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the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Cache.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18" name="object 15">
            <a:extLst>
              <a:ext uri="{FF2B5EF4-FFF2-40B4-BE49-F238E27FC236}">
                <a16:creationId xmlns:a16="http://schemas.microsoft.com/office/drawing/2014/main" id="{2E9E5399-FA0F-68DA-148D-614AEE2009A6}"/>
              </a:ext>
            </a:extLst>
          </p:cNvPr>
          <p:cNvGrpSpPr/>
          <p:nvPr/>
        </p:nvGrpSpPr>
        <p:grpSpPr>
          <a:xfrm>
            <a:off x="5232782" y="2632408"/>
            <a:ext cx="5793105" cy="906780"/>
            <a:chOff x="5141976" y="2270775"/>
            <a:chExt cx="5793105" cy="906780"/>
          </a:xfrm>
        </p:grpSpPr>
        <p:pic>
          <p:nvPicPr>
            <p:cNvPr id="19" name="object 16">
              <a:extLst>
                <a:ext uri="{FF2B5EF4-FFF2-40B4-BE49-F238E27FC236}">
                  <a16:creationId xmlns:a16="http://schemas.microsoft.com/office/drawing/2014/main" id="{18FBA64B-48E1-A7C6-4B8B-EBE5B0EBB5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2270775"/>
              <a:ext cx="5715000" cy="906749"/>
            </a:xfrm>
            <a:prstGeom prst="rect">
              <a:avLst/>
            </a:prstGeom>
          </p:spPr>
        </p:pic>
        <p:pic>
          <p:nvPicPr>
            <p:cNvPr id="20" name="object 17">
              <a:extLst>
                <a:ext uri="{FF2B5EF4-FFF2-40B4-BE49-F238E27FC236}">
                  <a16:creationId xmlns:a16="http://schemas.microsoft.com/office/drawing/2014/main" id="{A9E996D0-0650-FFD5-AEE3-4D07653F54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1976" y="2372868"/>
              <a:ext cx="5237987" cy="804672"/>
            </a:xfrm>
            <a:prstGeom prst="rect">
              <a:avLst/>
            </a:prstGeom>
          </p:spPr>
        </p:pic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917321A4-E7C1-F403-6DBB-EFD036EAB223}"/>
                </a:ext>
              </a:extLst>
            </p:cNvPr>
            <p:cNvSpPr/>
            <p:nvPr/>
          </p:nvSpPr>
          <p:spPr>
            <a:xfrm>
              <a:off x="5257800" y="2286000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80">
                  <a:moveTo>
                    <a:pt x="55003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29"/>
                  </a:lnTo>
                  <a:lnTo>
                    <a:pt x="0" y="691896"/>
                  </a:lnTo>
                  <a:lnTo>
                    <a:pt x="7057" y="735637"/>
                  </a:lnTo>
                  <a:lnTo>
                    <a:pt x="26708" y="773606"/>
                  </a:lnTo>
                  <a:lnTo>
                    <a:pt x="56674" y="803535"/>
                  </a:lnTo>
                  <a:lnTo>
                    <a:pt x="94674" y="823155"/>
                  </a:lnTo>
                  <a:lnTo>
                    <a:pt x="138429" y="830199"/>
                  </a:lnTo>
                  <a:lnTo>
                    <a:pt x="5500370" y="830199"/>
                  </a:lnTo>
                  <a:lnTo>
                    <a:pt x="5544125" y="823155"/>
                  </a:lnTo>
                  <a:lnTo>
                    <a:pt x="5582125" y="803535"/>
                  </a:lnTo>
                  <a:lnTo>
                    <a:pt x="5612091" y="773606"/>
                  </a:lnTo>
                  <a:lnTo>
                    <a:pt x="5631742" y="735637"/>
                  </a:lnTo>
                  <a:lnTo>
                    <a:pt x="5638800" y="691896"/>
                  </a:lnTo>
                  <a:lnTo>
                    <a:pt x="5638800" y="138429"/>
                  </a:lnTo>
                  <a:lnTo>
                    <a:pt x="5631742" y="94674"/>
                  </a:lnTo>
                  <a:lnTo>
                    <a:pt x="5612091" y="56674"/>
                  </a:lnTo>
                  <a:lnTo>
                    <a:pt x="5582125" y="26708"/>
                  </a:lnTo>
                  <a:lnTo>
                    <a:pt x="5544125" y="7057"/>
                  </a:lnTo>
                  <a:lnTo>
                    <a:pt x="55003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76C5F225-E118-6E1A-E61A-0458091CB4F7}"/>
                </a:ext>
              </a:extLst>
            </p:cNvPr>
            <p:cNvSpPr/>
            <p:nvPr/>
          </p:nvSpPr>
          <p:spPr>
            <a:xfrm>
              <a:off x="5257800" y="2286000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80">
                  <a:moveTo>
                    <a:pt x="0" y="138429"/>
                  </a:moveTo>
                  <a:lnTo>
                    <a:pt x="7057" y="94674"/>
                  </a:lnTo>
                  <a:lnTo>
                    <a:pt x="26708" y="56674"/>
                  </a:lnTo>
                  <a:lnTo>
                    <a:pt x="56674" y="26708"/>
                  </a:lnTo>
                  <a:lnTo>
                    <a:pt x="94674" y="7057"/>
                  </a:lnTo>
                  <a:lnTo>
                    <a:pt x="138429" y="0"/>
                  </a:lnTo>
                  <a:lnTo>
                    <a:pt x="5500370" y="0"/>
                  </a:lnTo>
                  <a:lnTo>
                    <a:pt x="5544125" y="7057"/>
                  </a:lnTo>
                  <a:lnTo>
                    <a:pt x="5582125" y="26708"/>
                  </a:lnTo>
                  <a:lnTo>
                    <a:pt x="5612091" y="56674"/>
                  </a:lnTo>
                  <a:lnTo>
                    <a:pt x="5631742" y="94674"/>
                  </a:lnTo>
                  <a:lnTo>
                    <a:pt x="5638800" y="138429"/>
                  </a:lnTo>
                  <a:lnTo>
                    <a:pt x="5638800" y="691896"/>
                  </a:lnTo>
                  <a:lnTo>
                    <a:pt x="5631742" y="735637"/>
                  </a:lnTo>
                  <a:lnTo>
                    <a:pt x="5612091" y="773606"/>
                  </a:lnTo>
                  <a:lnTo>
                    <a:pt x="5582125" y="803535"/>
                  </a:lnTo>
                  <a:lnTo>
                    <a:pt x="5544125" y="823155"/>
                  </a:lnTo>
                  <a:lnTo>
                    <a:pt x="5500370" y="830199"/>
                  </a:lnTo>
                  <a:lnTo>
                    <a:pt x="138429" y="830199"/>
                  </a:lnTo>
                  <a:lnTo>
                    <a:pt x="94674" y="823155"/>
                  </a:lnTo>
                  <a:lnTo>
                    <a:pt x="56674" y="803535"/>
                  </a:lnTo>
                  <a:lnTo>
                    <a:pt x="26708" y="773606"/>
                  </a:lnTo>
                  <a:lnTo>
                    <a:pt x="7057" y="735637"/>
                  </a:lnTo>
                  <a:lnTo>
                    <a:pt x="0" y="691896"/>
                  </a:lnTo>
                  <a:lnTo>
                    <a:pt x="0" y="1384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0">
            <a:extLst>
              <a:ext uri="{FF2B5EF4-FFF2-40B4-BE49-F238E27FC236}">
                <a16:creationId xmlns:a16="http://schemas.microsoft.com/office/drawing/2014/main" id="{FD667FB8-2DFB-9087-A952-9CB61F6E2377}"/>
              </a:ext>
            </a:extLst>
          </p:cNvPr>
          <p:cNvSpPr txBox="1"/>
          <p:nvPr/>
        </p:nvSpPr>
        <p:spPr>
          <a:xfrm>
            <a:off x="5468494" y="2835847"/>
            <a:ext cx="46894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mbria"/>
                <a:cs typeface="Cambria"/>
              </a:rPr>
              <a:t>Prefetched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Still </a:t>
            </a:r>
            <a:r>
              <a:rPr sz="2700" dirty="0">
                <a:latin typeface="Cambria"/>
                <a:cs typeface="Cambria"/>
              </a:rPr>
              <a:t>on its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way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FB044B1F-D958-7985-AEFC-0DF43D1EA84B}"/>
              </a:ext>
            </a:extLst>
          </p:cNvPr>
          <p:cNvGrpSpPr/>
          <p:nvPr/>
        </p:nvGrpSpPr>
        <p:grpSpPr>
          <a:xfrm>
            <a:off x="5232782" y="3671761"/>
            <a:ext cx="5793105" cy="1216660"/>
            <a:chOff x="5141976" y="3310128"/>
            <a:chExt cx="5793105" cy="1216660"/>
          </a:xfrm>
        </p:grpSpPr>
        <p:pic>
          <p:nvPicPr>
            <p:cNvPr id="25" name="object 22">
              <a:extLst>
                <a:ext uri="{FF2B5EF4-FFF2-40B4-BE49-F238E27FC236}">
                  <a16:creationId xmlns:a16="http://schemas.microsoft.com/office/drawing/2014/main" id="{8FE9624A-F69D-DCB6-316F-B6F7AFCCEB8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3413775"/>
              <a:ext cx="5715000" cy="906749"/>
            </a:xfrm>
            <a:prstGeom prst="rect">
              <a:avLst/>
            </a:prstGeom>
          </p:spPr>
        </p:pic>
        <p:pic>
          <p:nvPicPr>
            <p:cNvPr id="26" name="object 23">
              <a:extLst>
                <a:ext uri="{FF2B5EF4-FFF2-40B4-BE49-F238E27FC236}">
                  <a16:creationId xmlns:a16="http://schemas.microsoft.com/office/drawing/2014/main" id="{DE28F596-3705-CB18-5F1E-8D189DCA135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1976" y="3310128"/>
              <a:ext cx="5678424" cy="1216152"/>
            </a:xfrm>
            <a:prstGeom prst="rect">
              <a:avLst/>
            </a:prstGeom>
          </p:spPr>
        </p:pic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8CA9720E-38E6-3326-99FF-79F41E1ABF87}"/>
                </a:ext>
              </a:extLst>
            </p:cNvPr>
            <p:cNvSpPr/>
            <p:nvPr/>
          </p:nvSpPr>
          <p:spPr>
            <a:xfrm>
              <a:off x="5257800" y="3429000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79">
                  <a:moveTo>
                    <a:pt x="55003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29"/>
                  </a:lnTo>
                  <a:lnTo>
                    <a:pt x="0" y="691895"/>
                  </a:lnTo>
                  <a:lnTo>
                    <a:pt x="7057" y="735637"/>
                  </a:lnTo>
                  <a:lnTo>
                    <a:pt x="26708" y="773606"/>
                  </a:lnTo>
                  <a:lnTo>
                    <a:pt x="56674" y="803535"/>
                  </a:lnTo>
                  <a:lnTo>
                    <a:pt x="94674" y="823155"/>
                  </a:lnTo>
                  <a:lnTo>
                    <a:pt x="138429" y="830199"/>
                  </a:lnTo>
                  <a:lnTo>
                    <a:pt x="5500370" y="830199"/>
                  </a:lnTo>
                  <a:lnTo>
                    <a:pt x="5544125" y="823155"/>
                  </a:lnTo>
                  <a:lnTo>
                    <a:pt x="5582125" y="803535"/>
                  </a:lnTo>
                  <a:lnTo>
                    <a:pt x="5612091" y="773606"/>
                  </a:lnTo>
                  <a:lnTo>
                    <a:pt x="5631742" y="735637"/>
                  </a:lnTo>
                  <a:lnTo>
                    <a:pt x="5638800" y="691895"/>
                  </a:lnTo>
                  <a:lnTo>
                    <a:pt x="5638800" y="138429"/>
                  </a:lnTo>
                  <a:lnTo>
                    <a:pt x="5631742" y="94674"/>
                  </a:lnTo>
                  <a:lnTo>
                    <a:pt x="5612091" y="56674"/>
                  </a:lnTo>
                  <a:lnTo>
                    <a:pt x="5582125" y="26708"/>
                  </a:lnTo>
                  <a:lnTo>
                    <a:pt x="5544125" y="7057"/>
                  </a:lnTo>
                  <a:lnTo>
                    <a:pt x="55003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1E425AB4-E0FE-DA9F-F39D-3A163B7B2565}"/>
                </a:ext>
              </a:extLst>
            </p:cNvPr>
            <p:cNvSpPr/>
            <p:nvPr/>
          </p:nvSpPr>
          <p:spPr>
            <a:xfrm>
              <a:off x="5257800" y="3429000"/>
              <a:ext cx="5638800" cy="830580"/>
            </a:xfrm>
            <a:custGeom>
              <a:avLst/>
              <a:gdLst/>
              <a:ahLst/>
              <a:cxnLst/>
              <a:rect l="l" t="t" r="r" b="b"/>
              <a:pathLst>
                <a:path w="5638800" h="830579">
                  <a:moveTo>
                    <a:pt x="0" y="138429"/>
                  </a:moveTo>
                  <a:lnTo>
                    <a:pt x="7057" y="94674"/>
                  </a:lnTo>
                  <a:lnTo>
                    <a:pt x="26708" y="56674"/>
                  </a:lnTo>
                  <a:lnTo>
                    <a:pt x="56674" y="26708"/>
                  </a:lnTo>
                  <a:lnTo>
                    <a:pt x="94674" y="7057"/>
                  </a:lnTo>
                  <a:lnTo>
                    <a:pt x="138429" y="0"/>
                  </a:lnTo>
                  <a:lnTo>
                    <a:pt x="5500370" y="0"/>
                  </a:lnTo>
                  <a:lnTo>
                    <a:pt x="5544125" y="7057"/>
                  </a:lnTo>
                  <a:lnTo>
                    <a:pt x="5582125" y="26708"/>
                  </a:lnTo>
                  <a:lnTo>
                    <a:pt x="5612091" y="56674"/>
                  </a:lnTo>
                  <a:lnTo>
                    <a:pt x="5631742" y="94674"/>
                  </a:lnTo>
                  <a:lnTo>
                    <a:pt x="5638800" y="138429"/>
                  </a:lnTo>
                  <a:lnTo>
                    <a:pt x="5638800" y="691895"/>
                  </a:lnTo>
                  <a:lnTo>
                    <a:pt x="5631742" y="735637"/>
                  </a:lnTo>
                  <a:lnTo>
                    <a:pt x="5612091" y="773606"/>
                  </a:lnTo>
                  <a:lnTo>
                    <a:pt x="5582125" y="803535"/>
                  </a:lnTo>
                  <a:lnTo>
                    <a:pt x="5544125" y="823155"/>
                  </a:lnTo>
                  <a:lnTo>
                    <a:pt x="5500370" y="830199"/>
                  </a:lnTo>
                  <a:lnTo>
                    <a:pt x="138429" y="830199"/>
                  </a:lnTo>
                  <a:lnTo>
                    <a:pt x="94674" y="823155"/>
                  </a:lnTo>
                  <a:lnTo>
                    <a:pt x="56674" y="803535"/>
                  </a:lnTo>
                  <a:lnTo>
                    <a:pt x="26708" y="773606"/>
                  </a:lnTo>
                  <a:lnTo>
                    <a:pt x="7057" y="735637"/>
                  </a:lnTo>
                  <a:lnTo>
                    <a:pt x="0" y="691895"/>
                  </a:lnTo>
                  <a:lnTo>
                    <a:pt x="0" y="1384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6">
            <a:extLst>
              <a:ext uri="{FF2B5EF4-FFF2-40B4-BE49-F238E27FC236}">
                <a16:creationId xmlns:a16="http://schemas.microsoft.com/office/drawing/2014/main" id="{C1663EC3-1AFC-7242-850B-27E93B5153A7}"/>
              </a:ext>
            </a:extLst>
          </p:cNvPr>
          <p:cNvSpPr txBox="1"/>
          <p:nvPr/>
        </p:nvSpPr>
        <p:spPr>
          <a:xfrm>
            <a:off x="5468494" y="3773361"/>
            <a:ext cx="51327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mbria"/>
                <a:cs typeface="Cambria"/>
              </a:rPr>
              <a:t>Prefetched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evicted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demand </a:t>
            </a:r>
            <a:r>
              <a:rPr sz="2700" spc="-58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that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will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be</a:t>
            </a:r>
            <a:r>
              <a:rPr sz="2700" spc="-10" dirty="0">
                <a:latin typeface="Cambria"/>
                <a:cs typeface="Cambria"/>
              </a:rPr>
              <a:t> reused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E7EF018E-D7D8-F8AD-2B1A-F66A71A1FC93}"/>
              </a:ext>
            </a:extLst>
          </p:cNvPr>
          <p:cNvSpPr/>
          <p:nvPr/>
        </p:nvSpPr>
        <p:spPr>
          <a:xfrm>
            <a:off x="2056810" y="5779231"/>
            <a:ext cx="4272915" cy="0"/>
          </a:xfrm>
          <a:custGeom>
            <a:avLst/>
            <a:gdLst/>
            <a:ahLst/>
            <a:cxnLst/>
            <a:rect l="l" t="t" r="r" b="b"/>
            <a:pathLst>
              <a:path w="4272915">
                <a:moveTo>
                  <a:pt x="0" y="0"/>
                </a:moveTo>
                <a:lnTo>
                  <a:pt x="4272309" y="0"/>
                </a:lnTo>
              </a:path>
            </a:pathLst>
          </a:custGeom>
          <a:ln w="308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D81E42E5-E725-8967-BD6F-C4E4A2E29344}"/>
              </a:ext>
            </a:extLst>
          </p:cNvPr>
          <p:cNvSpPr txBox="1"/>
          <p:nvPr/>
        </p:nvSpPr>
        <p:spPr>
          <a:xfrm>
            <a:off x="108268" y="5233670"/>
            <a:ext cx="6388100" cy="11226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2007235" marR="208279" indent="-1886585">
              <a:lnSpc>
                <a:spcPct val="126699"/>
              </a:lnSpc>
              <a:spcBef>
                <a:spcPts val="90"/>
              </a:spcBef>
              <a:tabLst>
                <a:tab pos="3116580" algn="l"/>
              </a:tabLst>
            </a:pPr>
            <a:r>
              <a:rPr sz="3600" spc="30" baseline="-38194" dirty="0">
                <a:latin typeface="Times New Roman"/>
                <a:cs typeface="Times New Roman"/>
              </a:rPr>
              <a:t>Coverage(i)</a:t>
            </a:r>
            <a:r>
              <a:rPr sz="3600" spc="44" baseline="-38194" dirty="0">
                <a:latin typeface="Times New Roman"/>
                <a:cs typeface="Times New Roman"/>
              </a:rPr>
              <a:t> </a:t>
            </a:r>
            <a:r>
              <a:rPr sz="3600" spc="67" baseline="-38194" dirty="0">
                <a:latin typeface="Symbol"/>
                <a:cs typeface="Symbol"/>
              </a:rPr>
              <a:t></a:t>
            </a:r>
            <a:r>
              <a:rPr sz="3600" spc="67" baseline="-38194" dirty="0">
                <a:latin typeface="Times New Roman"/>
                <a:cs typeface="Times New Roman"/>
              </a:rPr>
              <a:t>		</a:t>
            </a:r>
            <a:r>
              <a:rPr sz="2400" spc="30" dirty="0">
                <a:latin typeface="Times New Roman"/>
                <a:cs typeface="Times New Roman"/>
              </a:rPr>
              <a:t>Prefetch  Hits(i) 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Times New Roman"/>
                <a:cs typeface="Times New Roman"/>
              </a:rPr>
              <a:t>Prefetch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Hits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(i)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Symbol"/>
                <a:cs typeface="Symbol"/>
              </a:rPr>
              <a:t>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Demand</a:t>
            </a:r>
            <a:r>
              <a:rPr sz="1450" spc="20" dirty="0">
                <a:latin typeface="Times New Roman"/>
                <a:cs typeface="Times New Roman"/>
              </a:rPr>
              <a:t>misses</a:t>
            </a:r>
            <a:r>
              <a:rPr sz="2400" spc="20" dirty="0">
                <a:latin typeface="Times New Roman"/>
                <a:cs typeface="Times New Roman"/>
              </a:rPr>
              <a:t>(i)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29">
            <a:extLst>
              <a:ext uri="{FF2B5EF4-FFF2-40B4-BE49-F238E27FC236}">
                <a16:creationId xmlns:a16="http://schemas.microsoft.com/office/drawing/2014/main" id="{5594176D-2FF2-4E2F-2758-BA468CBBEB53}"/>
              </a:ext>
            </a:extLst>
          </p:cNvPr>
          <p:cNvGrpSpPr/>
          <p:nvPr/>
        </p:nvGrpSpPr>
        <p:grpSpPr>
          <a:xfrm>
            <a:off x="6756782" y="5147007"/>
            <a:ext cx="5031105" cy="906780"/>
            <a:chOff x="6665976" y="4785374"/>
            <a:chExt cx="5031105" cy="906780"/>
          </a:xfrm>
        </p:grpSpPr>
        <p:pic>
          <p:nvPicPr>
            <p:cNvPr id="33" name="object 30">
              <a:extLst>
                <a:ext uri="{FF2B5EF4-FFF2-40B4-BE49-F238E27FC236}">
                  <a16:creationId xmlns:a16="http://schemas.microsoft.com/office/drawing/2014/main" id="{758BBED9-B74A-ADD5-B2E3-DC644588E78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3702" y="4785374"/>
              <a:ext cx="4952994" cy="906749"/>
            </a:xfrm>
            <a:prstGeom prst="rect">
              <a:avLst/>
            </a:prstGeom>
          </p:spPr>
        </p:pic>
        <p:pic>
          <p:nvPicPr>
            <p:cNvPr id="34" name="object 31">
              <a:extLst>
                <a:ext uri="{FF2B5EF4-FFF2-40B4-BE49-F238E27FC236}">
                  <a16:creationId xmlns:a16="http://schemas.microsoft.com/office/drawing/2014/main" id="{58D76589-BD4E-E265-17C5-D7BB56B5931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65976" y="4887467"/>
              <a:ext cx="4448556" cy="804672"/>
            </a:xfrm>
            <a:prstGeom prst="rect">
              <a:avLst/>
            </a:prstGeom>
          </p:spPr>
        </p:pic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9C9A2754-6531-E3A4-AC79-804C2CF093EE}"/>
                </a:ext>
              </a:extLst>
            </p:cNvPr>
            <p:cNvSpPr/>
            <p:nvPr/>
          </p:nvSpPr>
          <p:spPr>
            <a:xfrm>
              <a:off x="6781800" y="4800599"/>
              <a:ext cx="4876800" cy="830580"/>
            </a:xfrm>
            <a:custGeom>
              <a:avLst/>
              <a:gdLst/>
              <a:ahLst/>
              <a:cxnLst/>
              <a:rect l="l" t="t" r="r" b="b"/>
              <a:pathLst>
                <a:path w="4876800" h="830579">
                  <a:moveTo>
                    <a:pt x="47383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30"/>
                  </a:lnTo>
                  <a:lnTo>
                    <a:pt x="0" y="691896"/>
                  </a:lnTo>
                  <a:lnTo>
                    <a:pt x="7057" y="735644"/>
                  </a:lnTo>
                  <a:lnTo>
                    <a:pt x="26708" y="773629"/>
                  </a:lnTo>
                  <a:lnTo>
                    <a:pt x="56674" y="803576"/>
                  </a:lnTo>
                  <a:lnTo>
                    <a:pt x="94674" y="823211"/>
                  </a:lnTo>
                  <a:lnTo>
                    <a:pt x="138429" y="830262"/>
                  </a:lnTo>
                  <a:lnTo>
                    <a:pt x="4738370" y="830262"/>
                  </a:lnTo>
                  <a:lnTo>
                    <a:pt x="4782125" y="823211"/>
                  </a:lnTo>
                  <a:lnTo>
                    <a:pt x="4820125" y="803576"/>
                  </a:lnTo>
                  <a:lnTo>
                    <a:pt x="4850091" y="773629"/>
                  </a:lnTo>
                  <a:lnTo>
                    <a:pt x="4869742" y="735644"/>
                  </a:lnTo>
                  <a:lnTo>
                    <a:pt x="4876800" y="691896"/>
                  </a:lnTo>
                  <a:lnTo>
                    <a:pt x="4876800" y="138430"/>
                  </a:lnTo>
                  <a:lnTo>
                    <a:pt x="4869742" y="94674"/>
                  </a:lnTo>
                  <a:lnTo>
                    <a:pt x="4850091" y="56674"/>
                  </a:lnTo>
                  <a:lnTo>
                    <a:pt x="4820125" y="26708"/>
                  </a:lnTo>
                  <a:lnTo>
                    <a:pt x="4782125" y="7057"/>
                  </a:lnTo>
                  <a:lnTo>
                    <a:pt x="47383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3">
              <a:extLst>
                <a:ext uri="{FF2B5EF4-FFF2-40B4-BE49-F238E27FC236}">
                  <a16:creationId xmlns:a16="http://schemas.microsoft.com/office/drawing/2014/main" id="{72B347E4-AEF6-FBEB-22DB-A726775D3EBF}"/>
                </a:ext>
              </a:extLst>
            </p:cNvPr>
            <p:cNvSpPr/>
            <p:nvPr/>
          </p:nvSpPr>
          <p:spPr>
            <a:xfrm>
              <a:off x="6781800" y="4800599"/>
              <a:ext cx="4876800" cy="830580"/>
            </a:xfrm>
            <a:custGeom>
              <a:avLst/>
              <a:gdLst/>
              <a:ahLst/>
              <a:cxnLst/>
              <a:rect l="l" t="t" r="r" b="b"/>
              <a:pathLst>
                <a:path w="4876800" h="830579">
                  <a:moveTo>
                    <a:pt x="0" y="138430"/>
                  </a:moveTo>
                  <a:lnTo>
                    <a:pt x="7057" y="94674"/>
                  </a:lnTo>
                  <a:lnTo>
                    <a:pt x="26708" y="56674"/>
                  </a:lnTo>
                  <a:lnTo>
                    <a:pt x="56674" y="26708"/>
                  </a:lnTo>
                  <a:lnTo>
                    <a:pt x="94674" y="7057"/>
                  </a:lnTo>
                  <a:lnTo>
                    <a:pt x="138429" y="0"/>
                  </a:lnTo>
                  <a:lnTo>
                    <a:pt x="4738370" y="0"/>
                  </a:lnTo>
                  <a:lnTo>
                    <a:pt x="4782125" y="7057"/>
                  </a:lnTo>
                  <a:lnTo>
                    <a:pt x="4820125" y="26708"/>
                  </a:lnTo>
                  <a:lnTo>
                    <a:pt x="4850091" y="56674"/>
                  </a:lnTo>
                  <a:lnTo>
                    <a:pt x="4869742" y="94674"/>
                  </a:lnTo>
                  <a:lnTo>
                    <a:pt x="4876800" y="138430"/>
                  </a:lnTo>
                  <a:lnTo>
                    <a:pt x="4876800" y="691896"/>
                  </a:lnTo>
                  <a:lnTo>
                    <a:pt x="4869742" y="735644"/>
                  </a:lnTo>
                  <a:lnTo>
                    <a:pt x="4850091" y="773629"/>
                  </a:lnTo>
                  <a:lnTo>
                    <a:pt x="4820125" y="803576"/>
                  </a:lnTo>
                  <a:lnTo>
                    <a:pt x="4782125" y="823211"/>
                  </a:lnTo>
                  <a:lnTo>
                    <a:pt x="4738370" y="830262"/>
                  </a:lnTo>
                  <a:lnTo>
                    <a:pt x="138429" y="830262"/>
                  </a:lnTo>
                  <a:lnTo>
                    <a:pt x="94674" y="823211"/>
                  </a:lnTo>
                  <a:lnTo>
                    <a:pt x="56674" y="803576"/>
                  </a:lnTo>
                  <a:lnTo>
                    <a:pt x="26708" y="773629"/>
                  </a:lnTo>
                  <a:lnTo>
                    <a:pt x="7057" y="735644"/>
                  </a:lnTo>
                  <a:lnTo>
                    <a:pt x="0" y="691896"/>
                  </a:lnTo>
                  <a:lnTo>
                    <a:pt x="0" y="13843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4">
            <a:extLst>
              <a:ext uri="{FF2B5EF4-FFF2-40B4-BE49-F238E27FC236}">
                <a16:creationId xmlns:a16="http://schemas.microsoft.com/office/drawing/2014/main" id="{FCB80F19-7CEC-077A-CB58-9D69C320743E}"/>
              </a:ext>
            </a:extLst>
          </p:cNvPr>
          <p:cNvSpPr txBox="1"/>
          <p:nvPr/>
        </p:nvSpPr>
        <p:spPr>
          <a:xfrm>
            <a:off x="6992748" y="5350954"/>
            <a:ext cx="3899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latin typeface="Cambria"/>
                <a:cs typeface="Cambria"/>
              </a:rPr>
              <a:t>Fraction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of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misses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avoided</a:t>
            </a:r>
            <a:endParaRPr sz="27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74383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6EFD-CC14-42AF-1A0F-4E9C1558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Prefetching heuristics help cache management too?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B7137-8D95-AD01-831D-B458CDBCD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 </a:t>
            </a:r>
          </a:p>
          <a:p>
            <a:r>
              <a:rPr lang="en-US" dirty="0"/>
              <a:t>How? Coarse-grained decisions</a:t>
            </a:r>
          </a:p>
          <a:p>
            <a:r>
              <a:rPr lang="en-US" dirty="0"/>
              <a:t>Think about cache replacement and prefetch interactions too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r>
              <a:rPr lang="en-US" dirty="0">
                <a:sym typeface="Wingdings" panose="05000000000000000000" pitchFamily="2" charset="2"/>
              </a:rPr>
              <a:t>Prefetched blocks get filled through the same route of L3, L2, and then L1D</a:t>
            </a:r>
          </a:p>
          <a:p>
            <a:r>
              <a:rPr lang="en-US" dirty="0">
                <a:sym typeface="Wingdings" panose="05000000000000000000" pitchFamily="2" charset="2"/>
              </a:rPr>
              <a:t>Low accuracy will pollute cache, eat bandwidth too.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4C09B-2B41-A3F3-4BC1-A7D0592B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D5974-A7C4-C799-6309-B5C6DDC3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5299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14BD-5671-DBE3-C497-E4A1EF57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03" y="-119319"/>
            <a:ext cx="11144794" cy="1325563"/>
          </a:xfrm>
        </p:spPr>
        <p:txBody>
          <a:bodyPr/>
          <a:lstStyle/>
          <a:p>
            <a:r>
              <a:rPr lang="en-US" dirty="0"/>
              <a:t>Cache Hierarchy with prefetcher and prefetch Q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4BCCD-5534-B84D-B8A7-DB591989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344BE-768E-7F68-9914-B028216D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4E6BA770-3DFB-D4D7-8791-F067A5BF7350}"/>
              </a:ext>
            </a:extLst>
          </p:cNvPr>
          <p:cNvGrpSpPr/>
          <p:nvPr/>
        </p:nvGrpSpPr>
        <p:grpSpPr>
          <a:xfrm>
            <a:off x="3691128" y="815339"/>
            <a:ext cx="5291455" cy="4737100"/>
            <a:chOff x="3691128" y="815339"/>
            <a:chExt cx="5291455" cy="4737100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8C83E324-706A-58EB-4D26-6A2809D731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2120" y="1351805"/>
              <a:ext cx="1685560" cy="760440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C0A614B4-5AEF-FE7C-4CA3-967C1E05633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1208" y="1231391"/>
              <a:ext cx="1281684" cy="1152143"/>
            </a:xfrm>
            <a:prstGeom prst="rect">
              <a:avLst/>
            </a:prstGeom>
          </p:spPr>
        </p:pic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6F5E56FB-50B5-B419-FF87-4D7ACD773E04}"/>
                </a:ext>
              </a:extLst>
            </p:cNvPr>
            <p:cNvSpPr/>
            <p:nvPr/>
          </p:nvSpPr>
          <p:spPr>
            <a:xfrm>
              <a:off x="4114800" y="1371599"/>
              <a:ext cx="1600200" cy="674370"/>
            </a:xfrm>
            <a:custGeom>
              <a:avLst/>
              <a:gdLst/>
              <a:ahLst/>
              <a:cxnLst/>
              <a:rect l="l" t="t" r="r" b="b"/>
              <a:pathLst>
                <a:path w="1600200" h="674369">
                  <a:moveTo>
                    <a:pt x="1487804" y="0"/>
                  </a:moveTo>
                  <a:lnTo>
                    <a:pt x="112395" y="0"/>
                  </a:lnTo>
                  <a:lnTo>
                    <a:pt x="68633" y="8828"/>
                  </a:lnTo>
                  <a:lnTo>
                    <a:pt x="32908" y="32908"/>
                  </a:lnTo>
                  <a:lnTo>
                    <a:pt x="8828" y="68633"/>
                  </a:lnTo>
                  <a:lnTo>
                    <a:pt x="0" y="112395"/>
                  </a:lnTo>
                  <a:lnTo>
                    <a:pt x="0" y="561975"/>
                  </a:lnTo>
                  <a:lnTo>
                    <a:pt x="8828" y="605736"/>
                  </a:lnTo>
                  <a:lnTo>
                    <a:pt x="32908" y="641461"/>
                  </a:lnTo>
                  <a:lnTo>
                    <a:pt x="68633" y="665541"/>
                  </a:lnTo>
                  <a:lnTo>
                    <a:pt x="112395" y="674370"/>
                  </a:lnTo>
                  <a:lnTo>
                    <a:pt x="1487804" y="674370"/>
                  </a:lnTo>
                  <a:lnTo>
                    <a:pt x="1531566" y="665541"/>
                  </a:lnTo>
                  <a:lnTo>
                    <a:pt x="1567291" y="641461"/>
                  </a:lnTo>
                  <a:lnTo>
                    <a:pt x="1591371" y="605736"/>
                  </a:lnTo>
                  <a:lnTo>
                    <a:pt x="1600200" y="561975"/>
                  </a:lnTo>
                  <a:lnTo>
                    <a:pt x="1600200" y="112395"/>
                  </a:lnTo>
                  <a:lnTo>
                    <a:pt x="1591371" y="68633"/>
                  </a:lnTo>
                  <a:lnTo>
                    <a:pt x="1567291" y="32908"/>
                  </a:lnTo>
                  <a:lnTo>
                    <a:pt x="1531566" y="8828"/>
                  </a:lnTo>
                  <a:lnTo>
                    <a:pt x="148780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7805CAF4-7666-A202-7C0C-BF5AF2360FC9}"/>
                </a:ext>
              </a:extLst>
            </p:cNvPr>
            <p:cNvSpPr/>
            <p:nvPr/>
          </p:nvSpPr>
          <p:spPr>
            <a:xfrm>
              <a:off x="4114800" y="1371599"/>
              <a:ext cx="1600200" cy="674370"/>
            </a:xfrm>
            <a:custGeom>
              <a:avLst/>
              <a:gdLst/>
              <a:ahLst/>
              <a:cxnLst/>
              <a:rect l="l" t="t" r="r" b="b"/>
              <a:pathLst>
                <a:path w="1600200" h="674369">
                  <a:moveTo>
                    <a:pt x="0" y="112395"/>
                  </a:moveTo>
                  <a:lnTo>
                    <a:pt x="8828" y="68633"/>
                  </a:lnTo>
                  <a:lnTo>
                    <a:pt x="32908" y="32908"/>
                  </a:lnTo>
                  <a:lnTo>
                    <a:pt x="68633" y="8828"/>
                  </a:lnTo>
                  <a:lnTo>
                    <a:pt x="112395" y="0"/>
                  </a:lnTo>
                  <a:lnTo>
                    <a:pt x="1487804" y="0"/>
                  </a:lnTo>
                  <a:lnTo>
                    <a:pt x="1531566" y="8828"/>
                  </a:lnTo>
                  <a:lnTo>
                    <a:pt x="1567291" y="32908"/>
                  </a:lnTo>
                  <a:lnTo>
                    <a:pt x="1591371" y="68633"/>
                  </a:lnTo>
                  <a:lnTo>
                    <a:pt x="1600200" y="112395"/>
                  </a:lnTo>
                  <a:lnTo>
                    <a:pt x="1600200" y="561975"/>
                  </a:lnTo>
                  <a:lnTo>
                    <a:pt x="1591371" y="605736"/>
                  </a:lnTo>
                  <a:lnTo>
                    <a:pt x="1567291" y="641461"/>
                  </a:lnTo>
                  <a:lnTo>
                    <a:pt x="1531566" y="665541"/>
                  </a:lnTo>
                  <a:lnTo>
                    <a:pt x="1487804" y="674370"/>
                  </a:lnTo>
                  <a:lnTo>
                    <a:pt x="112395" y="674370"/>
                  </a:lnTo>
                  <a:lnTo>
                    <a:pt x="68633" y="665541"/>
                  </a:lnTo>
                  <a:lnTo>
                    <a:pt x="32908" y="641461"/>
                  </a:lnTo>
                  <a:lnTo>
                    <a:pt x="8828" y="605736"/>
                  </a:lnTo>
                  <a:lnTo>
                    <a:pt x="0" y="561975"/>
                  </a:lnTo>
                  <a:lnTo>
                    <a:pt x="0" y="11239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E7DD2FC2-68F1-D888-CDDA-4FD77B05EA1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9452" y="815339"/>
              <a:ext cx="310896" cy="731520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6CF4DD86-3CCD-5F97-0050-F3688BDF43F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5703" y="1351805"/>
              <a:ext cx="2759974" cy="760440"/>
            </a:xfrm>
            <a:prstGeom prst="rect">
              <a:avLst/>
            </a:prstGeom>
          </p:spPr>
        </p:pic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A4002363-EB59-64A4-515C-EFF6D705078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83224" y="1231391"/>
              <a:ext cx="2999231" cy="1152143"/>
            </a:xfrm>
            <a:prstGeom prst="rect">
              <a:avLst/>
            </a:prstGeom>
          </p:spPr>
        </p:pic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D1CF91FA-05BA-9AC7-3065-D460A30DD396}"/>
                </a:ext>
              </a:extLst>
            </p:cNvPr>
            <p:cNvSpPr/>
            <p:nvPr/>
          </p:nvSpPr>
          <p:spPr>
            <a:xfrm>
              <a:off x="6088634" y="1371599"/>
              <a:ext cx="2674620" cy="674370"/>
            </a:xfrm>
            <a:custGeom>
              <a:avLst/>
              <a:gdLst/>
              <a:ahLst/>
              <a:cxnLst/>
              <a:rect l="l" t="t" r="r" b="b"/>
              <a:pathLst>
                <a:path w="2674620" h="674369">
                  <a:moveTo>
                    <a:pt x="2561970" y="0"/>
                  </a:moveTo>
                  <a:lnTo>
                    <a:pt x="112394" y="0"/>
                  </a:lnTo>
                  <a:lnTo>
                    <a:pt x="68633" y="8828"/>
                  </a:lnTo>
                  <a:lnTo>
                    <a:pt x="32908" y="32908"/>
                  </a:lnTo>
                  <a:lnTo>
                    <a:pt x="8828" y="68633"/>
                  </a:lnTo>
                  <a:lnTo>
                    <a:pt x="0" y="112395"/>
                  </a:lnTo>
                  <a:lnTo>
                    <a:pt x="0" y="561975"/>
                  </a:lnTo>
                  <a:lnTo>
                    <a:pt x="8828" y="605736"/>
                  </a:lnTo>
                  <a:lnTo>
                    <a:pt x="32908" y="641461"/>
                  </a:lnTo>
                  <a:lnTo>
                    <a:pt x="68633" y="665541"/>
                  </a:lnTo>
                  <a:lnTo>
                    <a:pt x="112394" y="674370"/>
                  </a:lnTo>
                  <a:lnTo>
                    <a:pt x="2561970" y="674370"/>
                  </a:lnTo>
                  <a:lnTo>
                    <a:pt x="2605732" y="665541"/>
                  </a:lnTo>
                  <a:lnTo>
                    <a:pt x="2641457" y="641461"/>
                  </a:lnTo>
                  <a:lnTo>
                    <a:pt x="2665537" y="605736"/>
                  </a:lnTo>
                  <a:lnTo>
                    <a:pt x="2674366" y="561975"/>
                  </a:lnTo>
                  <a:lnTo>
                    <a:pt x="2674366" y="112395"/>
                  </a:lnTo>
                  <a:lnTo>
                    <a:pt x="2665537" y="68633"/>
                  </a:lnTo>
                  <a:lnTo>
                    <a:pt x="2641457" y="32908"/>
                  </a:lnTo>
                  <a:lnTo>
                    <a:pt x="2605732" y="8828"/>
                  </a:lnTo>
                  <a:lnTo>
                    <a:pt x="256197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D16E3805-0EDB-0F1F-5556-BBE6E8857F3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1128" y="2692925"/>
              <a:ext cx="4809744" cy="760440"/>
            </a:xfrm>
            <a:prstGeom prst="rect">
              <a:avLst/>
            </a:prstGeom>
          </p:spPr>
        </p:pic>
        <p:pic>
          <p:nvPicPr>
            <p:cNvPr id="16" name="object 15">
              <a:extLst>
                <a:ext uri="{FF2B5EF4-FFF2-40B4-BE49-F238E27FC236}">
                  <a16:creationId xmlns:a16="http://schemas.microsoft.com/office/drawing/2014/main" id="{C1F823CB-1200-0438-7F71-975084C42D8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12308" y="2574035"/>
              <a:ext cx="1281684" cy="1152144"/>
            </a:xfrm>
            <a:prstGeom prst="rect">
              <a:avLst/>
            </a:prstGeom>
          </p:spPr>
        </p:pic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1CCFF686-104A-31EB-CD19-72437A979872}"/>
                </a:ext>
              </a:extLst>
            </p:cNvPr>
            <p:cNvSpPr/>
            <p:nvPr/>
          </p:nvSpPr>
          <p:spPr>
            <a:xfrm>
              <a:off x="3733800" y="2713100"/>
              <a:ext cx="4724400" cy="674370"/>
            </a:xfrm>
            <a:custGeom>
              <a:avLst/>
              <a:gdLst/>
              <a:ahLst/>
              <a:cxnLst/>
              <a:rect l="l" t="t" r="r" b="b"/>
              <a:pathLst>
                <a:path w="4724400" h="674370">
                  <a:moveTo>
                    <a:pt x="4612005" y="0"/>
                  </a:moveTo>
                  <a:lnTo>
                    <a:pt x="112395" y="0"/>
                  </a:lnTo>
                  <a:lnTo>
                    <a:pt x="68633" y="8828"/>
                  </a:lnTo>
                  <a:lnTo>
                    <a:pt x="32908" y="32908"/>
                  </a:lnTo>
                  <a:lnTo>
                    <a:pt x="8828" y="68633"/>
                  </a:lnTo>
                  <a:lnTo>
                    <a:pt x="0" y="112395"/>
                  </a:lnTo>
                  <a:lnTo>
                    <a:pt x="0" y="561975"/>
                  </a:lnTo>
                  <a:lnTo>
                    <a:pt x="8828" y="605682"/>
                  </a:lnTo>
                  <a:lnTo>
                    <a:pt x="32908" y="641413"/>
                  </a:lnTo>
                  <a:lnTo>
                    <a:pt x="68633" y="665523"/>
                  </a:lnTo>
                  <a:lnTo>
                    <a:pt x="112395" y="674370"/>
                  </a:lnTo>
                  <a:lnTo>
                    <a:pt x="4612005" y="674370"/>
                  </a:lnTo>
                  <a:lnTo>
                    <a:pt x="4655766" y="665523"/>
                  </a:lnTo>
                  <a:lnTo>
                    <a:pt x="4691491" y="641413"/>
                  </a:lnTo>
                  <a:lnTo>
                    <a:pt x="4715571" y="605682"/>
                  </a:lnTo>
                  <a:lnTo>
                    <a:pt x="4724400" y="561975"/>
                  </a:lnTo>
                  <a:lnTo>
                    <a:pt x="4724400" y="112395"/>
                  </a:lnTo>
                  <a:lnTo>
                    <a:pt x="4715571" y="68633"/>
                  </a:lnTo>
                  <a:lnTo>
                    <a:pt x="4691491" y="32908"/>
                  </a:lnTo>
                  <a:lnTo>
                    <a:pt x="4655766" y="8828"/>
                  </a:lnTo>
                  <a:lnTo>
                    <a:pt x="461200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5D9921D6-4B2E-0427-D788-C3BEC7478203}"/>
                </a:ext>
              </a:extLst>
            </p:cNvPr>
            <p:cNvSpPr/>
            <p:nvPr/>
          </p:nvSpPr>
          <p:spPr>
            <a:xfrm>
              <a:off x="3733800" y="2713100"/>
              <a:ext cx="4724400" cy="674370"/>
            </a:xfrm>
            <a:custGeom>
              <a:avLst/>
              <a:gdLst/>
              <a:ahLst/>
              <a:cxnLst/>
              <a:rect l="l" t="t" r="r" b="b"/>
              <a:pathLst>
                <a:path w="4724400" h="674370">
                  <a:moveTo>
                    <a:pt x="0" y="112395"/>
                  </a:moveTo>
                  <a:lnTo>
                    <a:pt x="8828" y="68633"/>
                  </a:lnTo>
                  <a:lnTo>
                    <a:pt x="32908" y="32908"/>
                  </a:lnTo>
                  <a:lnTo>
                    <a:pt x="68633" y="8828"/>
                  </a:lnTo>
                  <a:lnTo>
                    <a:pt x="112395" y="0"/>
                  </a:lnTo>
                  <a:lnTo>
                    <a:pt x="4612005" y="0"/>
                  </a:lnTo>
                  <a:lnTo>
                    <a:pt x="4655766" y="8828"/>
                  </a:lnTo>
                  <a:lnTo>
                    <a:pt x="4691491" y="32908"/>
                  </a:lnTo>
                  <a:lnTo>
                    <a:pt x="4715571" y="68633"/>
                  </a:lnTo>
                  <a:lnTo>
                    <a:pt x="4724400" y="112395"/>
                  </a:lnTo>
                  <a:lnTo>
                    <a:pt x="4724400" y="561975"/>
                  </a:lnTo>
                  <a:lnTo>
                    <a:pt x="4715571" y="605682"/>
                  </a:lnTo>
                  <a:lnTo>
                    <a:pt x="4691491" y="641413"/>
                  </a:lnTo>
                  <a:lnTo>
                    <a:pt x="4655766" y="665523"/>
                  </a:lnTo>
                  <a:lnTo>
                    <a:pt x="4612005" y="674370"/>
                  </a:lnTo>
                  <a:lnTo>
                    <a:pt x="112395" y="674370"/>
                  </a:lnTo>
                  <a:lnTo>
                    <a:pt x="68633" y="665523"/>
                  </a:lnTo>
                  <a:lnTo>
                    <a:pt x="32908" y="641413"/>
                  </a:lnTo>
                  <a:lnTo>
                    <a:pt x="8828" y="605682"/>
                  </a:lnTo>
                  <a:lnTo>
                    <a:pt x="0" y="561975"/>
                  </a:lnTo>
                  <a:lnTo>
                    <a:pt x="0" y="11239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953BA96B-4A94-6A33-4A35-A0B01A65D4B9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24728" y="4029455"/>
              <a:ext cx="694943" cy="1522476"/>
            </a:xfrm>
            <a:prstGeom prst="rect">
              <a:avLst/>
            </a:prstGeom>
          </p:spPr>
        </p:pic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2BA2FCD4-0C79-3996-EDF9-631E7C1E48A8}"/>
                </a:ext>
              </a:extLst>
            </p:cNvPr>
            <p:cNvSpPr/>
            <p:nvPr/>
          </p:nvSpPr>
          <p:spPr>
            <a:xfrm>
              <a:off x="5867400" y="4050029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5080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334770"/>
                  </a:lnTo>
                  <a:lnTo>
                    <a:pt x="7981" y="1374326"/>
                  </a:lnTo>
                  <a:lnTo>
                    <a:pt x="29749" y="1406620"/>
                  </a:lnTo>
                  <a:lnTo>
                    <a:pt x="62043" y="1428388"/>
                  </a:lnTo>
                  <a:lnTo>
                    <a:pt x="101600" y="1436370"/>
                  </a:lnTo>
                  <a:lnTo>
                    <a:pt x="508000" y="1436370"/>
                  </a:lnTo>
                  <a:lnTo>
                    <a:pt x="547556" y="1428388"/>
                  </a:lnTo>
                  <a:lnTo>
                    <a:pt x="579850" y="1406620"/>
                  </a:lnTo>
                  <a:lnTo>
                    <a:pt x="601618" y="1374326"/>
                  </a:lnTo>
                  <a:lnTo>
                    <a:pt x="609600" y="1334770"/>
                  </a:lnTo>
                  <a:lnTo>
                    <a:pt x="609600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9DA9D027-CF82-6798-01E7-2C24FBAE92D9}"/>
                </a:ext>
              </a:extLst>
            </p:cNvPr>
            <p:cNvSpPr/>
            <p:nvPr/>
          </p:nvSpPr>
          <p:spPr>
            <a:xfrm>
              <a:off x="5867400" y="4050029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8000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600" y="101600"/>
                  </a:lnTo>
                  <a:lnTo>
                    <a:pt x="609600" y="1334770"/>
                  </a:lnTo>
                  <a:lnTo>
                    <a:pt x="601618" y="1374326"/>
                  </a:lnTo>
                  <a:lnTo>
                    <a:pt x="579850" y="1406620"/>
                  </a:lnTo>
                  <a:lnTo>
                    <a:pt x="547556" y="1428388"/>
                  </a:lnTo>
                  <a:lnTo>
                    <a:pt x="508000" y="1436370"/>
                  </a:lnTo>
                  <a:lnTo>
                    <a:pt x="101600" y="1436370"/>
                  </a:lnTo>
                  <a:lnTo>
                    <a:pt x="62043" y="1428388"/>
                  </a:lnTo>
                  <a:lnTo>
                    <a:pt x="29749" y="1406620"/>
                  </a:lnTo>
                  <a:lnTo>
                    <a:pt x="7981" y="1374326"/>
                  </a:lnTo>
                  <a:lnTo>
                    <a:pt x="0" y="133477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1">
              <a:extLst>
                <a:ext uri="{FF2B5EF4-FFF2-40B4-BE49-F238E27FC236}">
                  <a16:creationId xmlns:a16="http://schemas.microsoft.com/office/drawing/2014/main" id="{6C9ACA6B-E804-33C0-A170-8D1C22C4F5F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24728" y="4733543"/>
              <a:ext cx="694944" cy="109727"/>
            </a:xfrm>
            <a:prstGeom prst="rect">
              <a:avLst/>
            </a:prstGeom>
          </p:spPr>
        </p:pic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0B3D8AE6-6C1F-F34E-F461-0CEBD7E42241}"/>
                </a:ext>
              </a:extLst>
            </p:cNvPr>
            <p:cNvSpPr/>
            <p:nvPr/>
          </p:nvSpPr>
          <p:spPr>
            <a:xfrm>
              <a:off x="5867400" y="4768214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3">
              <a:extLst>
                <a:ext uri="{FF2B5EF4-FFF2-40B4-BE49-F238E27FC236}">
                  <a16:creationId xmlns:a16="http://schemas.microsoft.com/office/drawing/2014/main" id="{9A4769E6-5A0F-F6F5-77D3-E16800E3F99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24728" y="5070348"/>
              <a:ext cx="694944" cy="109727"/>
            </a:xfrm>
            <a:prstGeom prst="rect">
              <a:avLst/>
            </a:prstGeom>
          </p:spPr>
        </p:pic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AC614DAE-9C58-A16E-3257-861D4D501677}"/>
                </a:ext>
              </a:extLst>
            </p:cNvPr>
            <p:cNvSpPr/>
            <p:nvPr/>
          </p:nvSpPr>
          <p:spPr>
            <a:xfrm>
              <a:off x="5867400" y="510539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5">
              <a:extLst>
                <a:ext uri="{FF2B5EF4-FFF2-40B4-BE49-F238E27FC236}">
                  <a16:creationId xmlns:a16="http://schemas.microsoft.com/office/drawing/2014/main" id="{12BB97B6-F7A1-32A9-12A3-8FBCD07F3632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24728" y="4384548"/>
              <a:ext cx="694944" cy="109727"/>
            </a:xfrm>
            <a:prstGeom prst="rect">
              <a:avLst/>
            </a:prstGeom>
          </p:spPr>
        </p:pic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B37BF322-C80B-D9C0-04BF-C11A969E929C}"/>
                </a:ext>
              </a:extLst>
            </p:cNvPr>
            <p:cNvSpPr/>
            <p:nvPr/>
          </p:nvSpPr>
          <p:spPr>
            <a:xfrm>
              <a:off x="5867400" y="441959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7">
              <a:extLst>
                <a:ext uri="{FF2B5EF4-FFF2-40B4-BE49-F238E27FC236}">
                  <a16:creationId xmlns:a16="http://schemas.microsoft.com/office/drawing/2014/main" id="{366DA958-D81E-77A9-0D69-420A6DB379CB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15328" y="4018788"/>
              <a:ext cx="694943" cy="1522475"/>
            </a:xfrm>
            <a:prstGeom prst="rect">
              <a:avLst/>
            </a:prstGeom>
          </p:spPr>
        </p:pic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3476FC5F-8439-3BC6-0F32-A1208867BAC9}"/>
                </a:ext>
              </a:extLst>
            </p:cNvPr>
            <p:cNvSpPr/>
            <p:nvPr/>
          </p:nvSpPr>
          <p:spPr>
            <a:xfrm>
              <a:off x="6858000" y="4038600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5080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334770"/>
                  </a:lnTo>
                  <a:lnTo>
                    <a:pt x="7981" y="1374326"/>
                  </a:lnTo>
                  <a:lnTo>
                    <a:pt x="29749" y="1406620"/>
                  </a:lnTo>
                  <a:lnTo>
                    <a:pt x="62043" y="1428388"/>
                  </a:lnTo>
                  <a:lnTo>
                    <a:pt x="101600" y="1436370"/>
                  </a:lnTo>
                  <a:lnTo>
                    <a:pt x="508000" y="1436370"/>
                  </a:lnTo>
                  <a:lnTo>
                    <a:pt x="547556" y="1428388"/>
                  </a:lnTo>
                  <a:lnTo>
                    <a:pt x="579850" y="1406620"/>
                  </a:lnTo>
                  <a:lnTo>
                    <a:pt x="601618" y="1374326"/>
                  </a:lnTo>
                  <a:lnTo>
                    <a:pt x="609600" y="1334770"/>
                  </a:lnTo>
                  <a:lnTo>
                    <a:pt x="609600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1E3A81F1-DE56-0354-1F62-E8EA0C817353}"/>
                </a:ext>
              </a:extLst>
            </p:cNvPr>
            <p:cNvSpPr/>
            <p:nvPr/>
          </p:nvSpPr>
          <p:spPr>
            <a:xfrm>
              <a:off x="6858000" y="4038600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8000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600" y="101600"/>
                  </a:lnTo>
                  <a:lnTo>
                    <a:pt x="609600" y="1334770"/>
                  </a:lnTo>
                  <a:lnTo>
                    <a:pt x="601618" y="1374326"/>
                  </a:lnTo>
                  <a:lnTo>
                    <a:pt x="579850" y="1406620"/>
                  </a:lnTo>
                  <a:lnTo>
                    <a:pt x="547556" y="1428388"/>
                  </a:lnTo>
                  <a:lnTo>
                    <a:pt x="508000" y="1436370"/>
                  </a:lnTo>
                  <a:lnTo>
                    <a:pt x="101600" y="1436370"/>
                  </a:lnTo>
                  <a:lnTo>
                    <a:pt x="62043" y="1428388"/>
                  </a:lnTo>
                  <a:lnTo>
                    <a:pt x="29749" y="1406620"/>
                  </a:lnTo>
                  <a:lnTo>
                    <a:pt x="7981" y="1374326"/>
                  </a:lnTo>
                  <a:lnTo>
                    <a:pt x="0" y="133477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0">
              <a:extLst>
                <a:ext uri="{FF2B5EF4-FFF2-40B4-BE49-F238E27FC236}">
                  <a16:creationId xmlns:a16="http://schemas.microsoft.com/office/drawing/2014/main" id="{B84AE086-7620-915A-B340-7FB46BB81CC5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15328" y="4721351"/>
              <a:ext cx="694944" cy="111251"/>
            </a:xfrm>
            <a:prstGeom prst="rect">
              <a:avLst/>
            </a:prstGeom>
          </p:spPr>
        </p:pic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28CDF534-17A4-EA03-6B6E-1AD304DF97BF}"/>
                </a:ext>
              </a:extLst>
            </p:cNvPr>
            <p:cNvSpPr/>
            <p:nvPr/>
          </p:nvSpPr>
          <p:spPr>
            <a:xfrm>
              <a:off x="6858000" y="4756785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2">
              <a:extLst>
                <a:ext uri="{FF2B5EF4-FFF2-40B4-BE49-F238E27FC236}">
                  <a16:creationId xmlns:a16="http://schemas.microsoft.com/office/drawing/2014/main" id="{33C8AE22-D704-0799-18C7-C3609ED4FD66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15328" y="5058155"/>
              <a:ext cx="694944" cy="111251"/>
            </a:xfrm>
            <a:prstGeom prst="rect">
              <a:avLst/>
            </a:prstGeom>
          </p:spPr>
        </p:pic>
        <p:sp>
          <p:nvSpPr>
            <p:cNvPr id="34" name="object 33">
              <a:extLst>
                <a:ext uri="{FF2B5EF4-FFF2-40B4-BE49-F238E27FC236}">
                  <a16:creationId xmlns:a16="http://schemas.microsoft.com/office/drawing/2014/main" id="{C57ACA9D-5A21-5405-EBCA-B2A85062F7B5}"/>
                </a:ext>
              </a:extLst>
            </p:cNvPr>
            <p:cNvSpPr/>
            <p:nvPr/>
          </p:nvSpPr>
          <p:spPr>
            <a:xfrm>
              <a:off x="6858000" y="509396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4">
              <a:extLst>
                <a:ext uri="{FF2B5EF4-FFF2-40B4-BE49-F238E27FC236}">
                  <a16:creationId xmlns:a16="http://schemas.microsoft.com/office/drawing/2014/main" id="{34A0C203-04F2-7F42-A0BD-9CC17F2ECD89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15328" y="4372355"/>
              <a:ext cx="694944" cy="111251"/>
            </a:xfrm>
            <a:prstGeom prst="rect">
              <a:avLst/>
            </a:prstGeom>
          </p:spPr>
        </p:pic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8DB5810A-269D-44E9-E194-E84F2C091010}"/>
                </a:ext>
              </a:extLst>
            </p:cNvPr>
            <p:cNvSpPr/>
            <p:nvPr/>
          </p:nvSpPr>
          <p:spPr>
            <a:xfrm>
              <a:off x="6858000" y="440816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6">
            <a:extLst>
              <a:ext uri="{FF2B5EF4-FFF2-40B4-BE49-F238E27FC236}">
                <a16:creationId xmlns:a16="http://schemas.microsoft.com/office/drawing/2014/main" id="{BF51258D-60B4-ACA1-8364-F9FC1F020F14}"/>
              </a:ext>
            </a:extLst>
          </p:cNvPr>
          <p:cNvSpPr txBox="1"/>
          <p:nvPr/>
        </p:nvSpPr>
        <p:spPr>
          <a:xfrm>
            <a:off x="4423883" y="1382237"/>
            <a:ext cx="4171695" cy="19665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90980" algn="l"/>
                <a:tab pos="4027804" algn="l"/>
              </a:tabLst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lang="en-US" sz="4000" b="1" spc="-5" dirty="0">
                <a:solidFill>
                  <a:srgbClr val="FFFFFF"/>
                </a:solidFill>
                <a:latin typeface="Calibri"/>
                <a:cs typeface="Calibri"/>
              </a:rPr>
              <a:t>1/L2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4000" b="1" spc="-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4000" b="1" u="heavy" spc="-3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Prefetcher</a:t>
            </a:r>
            <a:r>
              <a:rPr lang="en-US" sz="4000" b="1" u="heavy" spc="-3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4000" b="1" u="heavy" spc="-3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4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700" dirty="0">
              <a:latin typeface="Calibri"/>
              <a:cs typeface="Calibri"/>
            </a:endParaRPr>
          </a:p>
          <a:p>
            <a:pPr marL="1193800">
              <a:lnSpc>
                <a:spcPct val="100000"/>
              </a:lnSpc>
            </a:pPr>
            <a:r>
              <a:rPr lang="en-US" sz="4000" b="1" spc="-5" dirty="0">
                <a:solidFill>
                  <a:srgbClr val="FFFFFF"/>
                </a:solidFill>
                <a:latin typeface="Calibri"/>
                <a:cs typeface="Calibri"/>
              </a:rPr>
              <a:t>L2/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L3</a:t>
            </a:r>
            <a:endParaRPr sz="4000" dirty="0">
              <a:latin typeface="Calibri"/>
              <a:cs typeface="Calibri"/>
            </a:endParaRPr>
          </a:p>
        </p:txBody>
      </p:sp>
      <p:grpSp>
        <p:nvGrpSpPr>
          <p:cNvPr id="38" name="object 37">
            <a:extLst>
              <a:ext uri="{FF2B5EF4-FFF2-40B4-BE49-F238E27FC236}">
                <a16:creationId xmlns:a16="http://schemas.microsoft.com/office/drawing/2014/main" id="{9CD8094B-7224-CBA5-FEAB-EED72323401B}"/>
              </a:ext>
            </a:extLst>
          </p:cNvPr>
          <p:cNvGrpSpPr/>
          <p:nvPr/>
        </p:nvGrpSpPr>
        <p:grpSpPr>
          <a:xfrm>
            <a:off x="3614928" y="838200"/>
            <a:ext cx="8425180" cy="5824855"/>
            <a:chOff x="3614928" y="838200"/>
            <a:chExt cx="8425180" cy="5824855"/>
          </a:xfrm>
        </p:grpSpPr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CDDA868A-ABFD-5A75-7EC2-21FFCE9A9EA3}"/>
                </a:ext>
              </a:extLst>
            </p:cNvPr>
            <p:cNvSpPr/>
            <p:nvPr/>
          </p:nvSpPr>
          <p:spPr>
            <a:xfrm>
              <a:off x="4855972" y="838200"/>
              <a:ext cx="118110" cy="533400"/>
            </a:xfrm>
            <a:custGeom>
              <a:avLst/>
              <a:gdLst/>
              <a:ahLst/>
              <a:cxnLst/>
              <a:rect l="l" t="t" r="r" b="b"/>
              <a:pathLst>
                <a:path w="118110" h="533400">
                  <a:moveTo>
                    <a:pt x="14097" y="417575"/>
                  </a:moveTo>
                  <a:lnTo>
                    <a:pt x="8127" y="421132"/>
                  </a:lnTo>
                  <a:lnTo>
                    <a:pt x="2031" y="424561"/>
                  </a:lnTo>
                  <a:lnTo>
                    <a:pt x="0" y="432435"/>
                  </a:lnTo>
                  <a:lnTo>
                    <a:pt x="3555" y="438403"/>
                  </a:lnTo>
                  <a:lnTo>
                    <a:pt x="58927" y="533400"/>
                  </a:lnTo>
                  <a:lnTo>
                    <a:pt x="73585" y="508253"/>
                  </a:lnTo>
                  <a:lnTo>
                    <a:pt x="46227" y="508253"/>
                  </a:lnTo>
                  <a:lnTo>
                    <a:pt x="46227" y="461409"/>
                  </a:lnTo>
                  <a:lnTo>
                    <a:pt x="25400" y="425703"/>
                  </a:lnTo>
                  <a:lnTo>
                    <a:pt x="21970" y="419608"/>
                  </a:lnTo>
                  <a:lnTo>
                    <a:pt x="14097" y="417575"/>
                  </a:lnTo>
                  <a:close/>
                </a:path>
                <a:path w="118110" h="533400">
                  <a:moveTo>
                    <a:pt x="46227" y="461409"/>
                  </a:moveTo>
                  <a:lnTo>
                    <a:pt x="46227" y="508253"/>
                  </a:lnTo>
                  <a:lnTo>
                    <a:pt x="71627" y="508253"/>
                  </a:lnTo>
                  <a:lnTo>
                    <a:pt x="71627" y="501903"/>
                  </a:lnTo>
                  <a:lnTo>
                    <a:pt x="48005" y="501903"/>
                  </a:lnTo>
                  <a:lnTo>
                    <a:pt x="58927" y="483180"/>
                  </a:lnTo>
                  <a:lnTo>
                    <a:pt x="46227" y="461409"/>
                  </a:lnTo>
                  <a:close/>
                </a:path>
                <a:path w="118110" h="533400">
                  <a:moveTo>
                    <a:pt x="103758" y="417575"/>
                  </a:moveTo>
                  <a:lnTo>
                    <a:pt x="95885" y="419608"/>
                  </a:lnTo>
                  <a:lnTo>
                    <a:pt x="92455" y="425703"/>
                  </a:lnTo>
                  <a:lnTo>
                    <a:pt x="71627" y="461409"/>
                  </a:lnTo>
                  <a:lnTo>
                    <a:pt x="71627" y="508253"/>
                  </a:lnTo>
                  <a:lnTo>
                    <a:pt x="73585" y="508253"/>
                  </a:lnTo>
                  <a:lnTo>
                    <a:pt x="114300" y="438403"/>
                  </a:lnTo>
                  <a:lnTo>
                    <a:pt x="117855" y="432435"/>
                  </a:lnTo>
                  <a:lnTo>
                    <a:pt x="115824" y="424561"/>
                  </a:lnTo>
                  <a:lnTo>
                    <a:pt x="109727" y="421132"/>
                  </a:lnTo>
                  <a:lnTo>
                    <a:pt x="103758" y="417575"/>
                  </a:lnTo>
                  <a:close/>
                </a:path>
                <a:path w="118110" h="533400">
                  <a:moveTo>
                    <a:pt x="58927" y="483180"/>
                  </a:moveTo>
                  <a:lnTo>
                    <a:pt x="48005" y="501903"/>
                  </a:lnTo>
                  <a:lnTo>
                    <a:pt x="69850" y="501903"/>
                  </a:lnTo>
                  <a:lnTo>
                    <a:pt x="58927" y="483180"/>
                  </a:lnTo>
                  <a:close/>
                </a:path>
                <a:path w="118110" h="533400">
                  <a:moveTo>
                    <a:pt x="71627" y="461409"/>
                  </a:moveTo>
                  <a:lnTo>
                    <a:pt x="58927" y="483180"/>
                  </a:lnTo>
                  <a:lnTo>
                    <a:pt x="69850" y="501903"/>
                  </a:lnTo>
                  <a:lnTo>
                    <a:pt x="71627" y="501903"/>
                  </a:lnTo>
                  <a:lnTo>
                    <a:pt x="71627" y="461409"/>
                  </a:lnTo>
                  <a:close/>
                </a:path>
                <a:path w="118110" h="533400">
                  <a:moveTo>
                    <a:pt x="71627" y="0"/>
                  </a:moveTo>
                  <a:lnTo>
                    <a:pt x="46227" y="0"/>
                  </a:lnTo>
                  <a:lnTo>
                    <a:pt x="46227" y="461409"/>
                  </a:lnTo>
                  <a:lnTo>
                    <a:pt x="58927" y="483180"/>
                  </a:lnTo>
                  <a:lnTo>
                    <a:pt x="71627" y="46140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39">
              <a:extLst>
                <a:ext uri="{FF2B5EF4-FFF2-40B4-BE49-F238E27FC236}">
                  <a16:creationId xmlns:a16="http://schemas.microsoft.com/office/drawing/2014/main" id="{24BAC6EE-DEA9-4552-441F-163C3F56D1FE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72228" y="1069847"/>
              <a:ext cx="2709672" cy="477012"/>
            </a:xfrm>
            <a:prstGeom prst="rect">
              <a:avLst/>
            </a:prstGeom>
          </p:spPr>
        </p:pic>
        <p:sp>
          <p:nvSpPr>
            <p:cNvPr id="41" name="object 40">
              <a:extLst>
                <a:ext uri="{FF2B5EF4-FFF2-40B4-BE49-F238E27FC236}">
                  <a16:creationId xmlns:a16="http://schemas.microsoft.com/office/drawing/2014/main" id="{66161B12-A056-A155-EF6F-F31FF9578235}"/>
                </a:ext>
              </a:extLst>
            </p:cNvPr>
            <p:cNvSpPr/>
            <p:nvPr/>
          </p:nvSpPr>
          <p:spPr>
            <a:xfrm>
              <a:off x="4914900" y="1092200"/>
              <a:ext cx="2569845" cy="279400"/>
            </a:xfrm>
            <a:custGeom>
              <a:avLst/>
              <a:gdLst/>
              <a:ahLst/>
              <a:cxnLst/>
              <a:rect l="l" t="t" r="r" b="b"/>
              <a:pathLst>
                <a:path w="2569845" h="279400">
                  <a:moveTo>
                    <a:pt x="2466085" y="163575"/>
                  </a:moveTo>
                  <a:lnTo>
                    <a:pt x="2460117" y="167132"/>
                  </a:lnTo>
                  <a:lnTo>
                    <a:pt x="2454021" y="170561"/>
                  </a:lnTo>
                  <a:lnTo>
                    <a:pt x="2451989" y="178435"/>
                  </a:lnTo>
                  <a:lnTo>
                    <a:pt x="2455545" y="184403"/>
                  </a:lnTo>
                  <a:lnTo>
                    <a:pt x="2510917" y="279400"/>
                  </a:lnTo>
                  <a:lnTo>
                    <a:pt x="2525574" y="254253"/>
                  </a:lnTo>
                  <a:lnTo>
                    <a:pt x="2498217" y="254253"/>
                  </a:lnTo>
                  <a:lnTo>
                    <a:pt x="2498217" y="207409"/>
                  </a:lnTo>
                  <a:lnTo>
                    <a:pt x="2473832" y="165608"/>
                  </a:lnTo>
                  <a:lnTo>
                    <a:pt x="2466085" y="163575"/>
                  </a:lnTo>
                  <a:close/>
                </a:path>
                <a:path w="2569845" h="279400">
                  <a:moveTo>
                    <a:pt x="2498217" y="207409"/>
                  </a:moveTo>
                  <a:lnTo>
                    <a:pt x="2498217" y="254253"/>
                  </a:lnTo>
                  <a:lnTo>
                    <a:pt x="2523617" y="254253"/>
                  </a:lnTo>
                  <a:lnTo>
                    <a:pt x="2523617" y="247903"/>
                  </a:lnTo>
                  <a:lnTo>
                    <a:pt x="2499995" y="247903"/>
                  </a:lnTo>
                  <a:lnTo>
                    <a:pt x="2510917" y="229180"/>
                  </a:lnTo>
                  <a:lnTo>
                    <a:pt x="2498217" y="207409"/>
                  </a:lnTo>
                  <a:close/>
                </a:path>
                <a:path w="2569845" h="279400">
                  <a:moveTo>
                    <a:pt x="2555748" y="163575"/>
                  </a:moveTo>
                  <a:lnTo>
                    <a:pt x="2547874" y="165608"/>
                  </a:lnTo>
                  <a:lnTo>
                    <a:pt x="2544445" y="171703"/>
                  </a:lnTo>
                  <a:lnTo>
                    <a:pt x="2523617" y="207409"/>
                  </a:lnTo>
                  <a:lnTo>
                    <a:pt x="2523617" y="254253"/>
                  </a:lnTo>
                  <a:lnTo>
                    <a:pt x="2525574" y="254253"/>
                  </a:lnTo>
                  <a:lnTo>
                    <a:pt x="2566289" y="184403"/>
                  </a:lnTo>
                  <a:lnTo>
                    <a:pt x="2569845" y="178435"/>
                  </a:lnTo>
                  <a:lnTo>
                    <a:pt x="2567813" y="170561"/>
                  </a:lnTo>
                  <a:lnTo>
                    <a:pt x="2561717" y="167132"/>
                  </a:lnTo>
                  <a:lnTo>
                    <a:pt x="2555748" y="163575"/>
                  </a:lnTo>
                  <a:close/>
                </a:path>
                <a:path w="2569845" h="279400">
                  <a:moveTo>
                    <a:pt x="2510917" y="229180"/>
                  </a:moveTo>
                  <a:lnTo>
                    <a:pt x="2499995" y="247903"/>
                  </a:lnTo>
                  <a:lnTo>
                    <a:pt x="2521839" y="247903"/>
                  </a:lnTo>
                  <a:lnTo>
                    <a:pt x="2510917" y="229180"/>
                  </a:lnTo>
                  <a:close/>
                </a:path>
                <a:path w="2569845" h="279400">
                  <a:moveTo>
                    <a:pt x="2523617" y="207409"/>
                  </a:moveTo>
                  <a:lnTo>
                    <a:pt x="2510917" y="229180"/>
                  </a:lnTo>
                  <a:lnTo>
                    <a:pt x="2521839" y="247903"/>
                  </a:lnTo>
                  <a:lnTo>
                    <a:pt x="2523617" y="247903"/>
                  </a:lnTo>
                  <a:lnTo>
                    <a:pt x="2523617" y="207409"/>
                  </a:lnTo>
                  <a:close/>
                </a:path>
                <a:path w="2569845" h="279400">
                  <a:moveTo>
                    <a:pt x="2498217" y="12700"/>
                  </a:moveTo>
                  <a:lnTo>
                    <a:pt x="2498217" y="207409"/>
                  </a:lnTo>
                  <a:lnTo>
                    <a:pt x="2510917" y="229180"/>
                  </a:lnTo>
                  <a:lnTo>
                    <a:pt x="2523617" y="207409"/>
                  </a:lnTo>
                  <a:lnTo>
                    <a:pt x="2523617" y="25400"/>
                  </a:lnTo>
                  <a:lnTo>
                    <a:pt x="2510917" y="25400"/>
                  </a:lnTo>
                  <a:lnTo>
                    <a:pt x="2498217" y="12700"/>
                  </a:lnTo>
                  <a:close/>
                </a:path>
                <a:path w="2569845" h="279400">
                  <a:moveTo>
                    <a:pt x="2517902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2498217" y="25400"/>
                  </a:lnTo>
                  <a:lnTo>
                    <a:pt x="2498217" y="12700"/>
                  </a:lnTo>
                  <a:lnTo>
                    <a:pt x="2523617" y="12700"/>
                  </a:lnTo>
                  <a:lnTo>
                    <a:pt x="2523617" y="5714"/>
                  </a:lnTo>
                  <a:lnTo>
                    <a:pt x="2517902" y="0"/>
                  </a:lnTo>
                  <a:close/>
                </a:path>
                <a:path w="2569845" h="279400">
                  <a:moveTo>
                    <a:pt x="2523617" y="12700"/>
                  </a:moveTo>
                  <a:lnTo>
                    <a:pt x="2498217" y="12700"/>
                  </a:lnTo>
                  <a:lnTo>
                    <a:pt x="2510917" y="25400"/>
                  </a:lnTo>
                  <a:lnTo>
                    <a:pt x="2523617" y="25400"/>
                  </a:lnTo>
                  <a:lnTo>
                    <a:pt x="2523617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1">
              <a:extLst>
                <a:ext uri="{FF2B5EF4-FFF2-40B4-BE49-F238E27FC236}">
                  <a16:creationId xmlns:a16="http://schemas.microsoft.com/office/drawing/2014/main" id="{4A91BBDB-5C11-D510-4A42-26CD153CB56E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59452" y="2023872"/>
              <a:ext cx="310896" cy="894588"/>
            </a:xfrm>
            <a:prstGeom prst="rect">
              <a:avLst/>
            </a:prstGeom>
          </p:spPr>
        </p:pic>
        <p:sp>
          <p:nvSpPr>
            <p:cNvPr id="43" name="object 42">
              <a:extLst>
                <a:ext uri="{FF2B5EF4-FFF2-40B4-BE49-F238E27FC236}">
                  <a16:creationId xmlns:a16="http://schemas.microsoft.com/office/drawing/2014/main" id="{9DF685FC-C426-84FE-8C8E-9530305010AF}"/>
                </a:ext>
              </a:extLst>
            </p:cNvPr>
            <p:cNvSpPr/>
            <p:nvPr/>
          </p:nvSpPr>
          <p:spPr>
            <a:xfrm>
              <a:off x="4855972" y="2045969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10" h="697230">
                  <a:moveTo>
                    <a:pt x="14097" y="581405"/>
                  </a:moveTo>
                  <a:lnTo>
                    <a:pt x="8127" y="584962"/>
                  </a:lnTo>
                  <a:lnTo>
                    <a:pt x="2031" y="588390"/>
                  </a:lnTo>
                  <a:lnTo>
                    <a:pt x="0" y="596264"/>
                  </a:lnTo>
                  <a:lnTo>
                    <a:pt x="3555" y="602233"/>
                  </a:lnTo>
                  <a:lnTo>
                    <a:pt x="58927" y="697229"/>
                  </a:lnTo>
                  <a:lnTo>
                    <a:pt x="73585" y="672083"/>
                  </a:lnTo>
                  <a:lnTo>
                    <a:pt x="46227" y="672083"/>
                  </a:lnTo>
                  <a:lnTo>
                    <a:pt x="46227" y="625239"/>
                  </a:lnTo>
                  <a:lnTo>
                    <a:pt x="25400" y="589533"/>
                  </a:lnTo>
                  <a:lnTo>
                    <a:pt x="21970" y="583438"/>
                  </a:lnTo>
                  <a:lnTo>
                    <a:pt x="14097" y="581405"/>
                  </a:lnTo>
                  <a:close/>
                </a:path>
                <a:path w="118110" h="697230">
                  <a:moveTo>
                    <a:pt x="46227" y="625239"/>
                  </a:moveTo>
                  <a:lnTo>
                    <a:pt x="46227" y="672083"/>
                  </a:lnTo>
                  <a:lnTo>
                    <a:pt x="71627" y="672083"/>
                  </a:lnTo>
                  <a:lnTo>
                    <a:pt x="71627" y="665733"/>
                  </a:lnTo>
                  <a:lnTo>
                    <a:pt x="48005" y="665733"/>
                  </a:lnTo>
                  <a:lnTo>
                    <a:pt x="58927" y="647010"/>
                  </a:lnTo>
                  <a:lnTo>
                    <a:pt x="46227" y="625239"/>
                  </a:lnTo>
                  <a:close/>
                </a:path>
                <a:path w="118110" h="697230">
                  <a:moveTo>
                    <a:pt x="103758" y="581405"/>
                  </a:moveTo>
                  <a:lnTo>
                    <a:pt x="95885" y="583438"/>
                  </a:lnTo>
                  <a:lnTo>
                    <a:pt x="92455" y="589533"/>
                  </a:lnTo>
                  <a:lnTo>
                    <a:pt x="71627" y="625239"/>
                  </a:lnTo>
                  <a:lnTo>
                    <a:pt x="71627" y="672083"/>
                  </a:lnTo>
                  <a:lnTo>
                    <a:pt x="73585" y="672083"/>
                  </a:lnTo>
                  <a:lnTo>
                    <a:pt x="114300" y="602233"/>
                  </a:lnTo>
                  <a:lnTo>
                    <a:pt x="117855" y="596264"/>
                  </a:lnTo>
                  <a:lnTo>
                    <a:pt x="115824" y="588390"/>
                  </a:lnTo>
                  <a:lnTo>
                    <a:pt x="109727" y="584962"/>
                  </a:lnTo>
                  <a:lnTo>
                    <a:pt x="103758" y="581405"/>
                  </a:lnTo>
                  <a:close/>
                </a:path>
                <a:path w="118110" h="697230">
                  <a:moveTo>
                    <a:pt x="58927" y="647010"/>
                  </a:moveTo>
                  <a:lnTo>
                    <a:pt x="48005" y="665733"/>
                  </a:lnTo>
                  <a:lnTo>
                    <a:pt x="69850" y="665733"/>
                  </a:lnTo>
                  <a:lnTo>
                    <a:pt x="58927" y="647010"/>
                  </a:lnTo>
                  <a:close/>
                </a:path>
                <a:path w="118110" h="697230">
                  <a:moveTo>
                    <a:pt x="71627" y="625239"/>
                  </a:moveTo>
                  <a:lnTo>
                    <a:pt x="58927" y="647010"/>
                  </a:lnTo>
                  <a:lnTo>
                    <a:pt x="69850" y="665733"/>
                  </a:lnTo>
                  <a:lnTo>
                    <a:pt x="71627" y="665733"/>
                  </a:lnTo>
                  <a:lnTo>
                    <a:pt x="71627" y="625239"/>
                  </a:lnTo>
                  <a:close/>
                </a:path>
                <a:path w="118110" h="697230">
                  <a:moveTo>
                    <a:pt x="71627" y="0"/>
                  </a:moveTo>
                  <a:lnTo>
                    <a:pt x="46227" y="0"/>
                  </a:lnTo>
                  <a:lnTo>
                    <a:pt x="46227" y="625239"/>
                  </a:lnTo>
                  <a:lnTo>
                    <a:pt x="58927" y="647010"/>
                  </a:lnTo>
                  <a:lnTo>
                    <a:pt x="71627" y="62523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3">
              <a:extLst>
                <a:ext uri="{FF2B5EF4-FFF2-40B4-BE49-F238E27FC236}">
                  <a16:creationId xmlns:a16="http://schemas.microsoft.com/office/drawing/2014/main" id="{FCA762FB-4FFC-A195-E38D-912049CEFEE9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12152" y="2023872"/>
              <a:ext cx="310896" cy="894588"/>
            </a:xfrm>
            <a:prstGeom prst="rect">
              <a:avLst/>
            </a:prstGeom>
          </p:spPr>
        </p:pic>
        <p:sp>
          <p:nvSpPr>
            <p:cNvPr id="45" name="object 44">
              <a:extLst>
                <a:ext uri="{FF2B5EF4-FFF2-40B4-BE49-F238E27FC236}">
                  <a16:creationId xmlns:a16="http://schemas.microsoft.com/office/drawing/2014/main" id="{97D4A23C-7E7A-3495-62C3-CB93D6168D70}"/>
                </a:ext>
              </a:extLst>
            </p:cNvPr>
            <p:cNvSpPr/>
            <p:nvPr/>
          </p:nvSpPr>
          <p:spPr>
            <a:xfrm>
              <a:off x="7408672" y="2045969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09" h="697230">
                  <a:moveTo>
                    <a:pt x="14097" y="581405"/>
                  </a:moveTo>
                  <a:lnTo>
                    <a:pt x="8127" y="584962"/>
                  </a:lnTo>
                  <a:lnTo>
                    <a:pt x="2031" y="588390"/>
                  </a:lnTo>
                  <a:lnTo>
                    <a:pt x="0" y="596264"/>
                  </a:lnTo>
                  <a:lnTo>
                    <a:pt x="3555" y="602233"/>
                  </a:lnTo>
                  <a:lnTo>
                    <a:pt x="58927" y="697229"/>
                  </a:lnTo>
                  <a:lnTo>
                    <a:pt x="73585" y="672083"/>
                  </a:lnTo>
                  <a:lnTo>
                    <a:pt x="46227" y="672083"/>
                  </a:lnTo>
                  <a:lnTo>
                    <a:pt x="46227" y="625239"/>
                  </a:lnTo>
                  <a:lnTo>
                    <a:pt x="25400" y="589533"/>
                  </a:lnTo>
                  <a:lnTo>
                    <a:pt x="21971" y="583438"/>
                  </a:lnTo>
                  <a:lnTo>
                    <a:pt x="14097" y="581405"/>
                  </a:lnTo>
                  <a:close/>
                </a:path>
                <a:path w="118109" h="697230">
                  <a:moveTo>
                    <a:pt x="46227" y="625239"/>
                  </a:moveTo>
                  <a:lnTo>
                    <a:pt x="46227" y="672083"/>
                  </a:lnTo>
                  <a:lnTo>
                    <a:pt x="71627" y="672083"/>
                  </a:lnTo>
                  <a:lnTo>
                    <a:pt x="71627" y="665733"/>
                  </a:lnTo>
                  <a:lnTo>
                    <a:pt x="48005" y="665733"/>
                  </a:lnTo>
                  <a:lnTo>
                    <a:pt x="58927" y="647010"/>
                  </a:lnTo>
                  <a:lnTo>
                    <a:pt x="46227" y="625239"/>
                  </a:lnTo>
                  <a:close/>
                </a:path>
                <a:path w="118109" h="697230">
                  <a:moveTo>
                    <a:pt x="103758" y="581405"/>
                  </a:moveTo>
                  <a:lnTo>
                    <a:pt x="95884" y="583438"/>
                  </a:lnTo>
                  <a:lnTo>
                    <a:pt x="92455" y="589533"/>
                  </a:lnTo>
                  <a:lnTo>
                    <a:pt x="71627" y="625239"/>
                  </a:lnTo>
                  <a:lnTo>
                    <a:pt x="71627" y="672083"/>
                  </a:lnTo>
                  <a:lnTo>
                    <a:pt x="73585" y="672083"/>
                  </a:lnTo>
                  <a:lnTo>
                    <a:pt x="114300" y="602233"/>
                  </a:lnTo>
                  <a:lnTo>
                    <a:pt x="117855" y="596264"/>
                  </a:lnTo>
                  <a:lnTo>
                    <a:pt x="115824" y="588390"/>
                  </a:lnTo>
                  <a:lnTo>
                    <a:pt x="109727" y="584962"/>
                  </a:lnTo>
                  <a:lnTo>
                    <a:pt x="103758" y="581405"/>
                  </a:lnTo>
                  <a:close/>
                </a:path>
                <a:path w="118109" h="697230">
                  <a:moveTo>
                    <a:pt x="58927" y="647010"/>
                  </a:moveTo>
                  <a:lnTo>
                    <a:pt x="48005" y="665733"/>
                  </a:lnTo>
                  <a:lnTo>
                    <a:pt x="69850" y="665733"/>
                  </a:lnTo>
                  <a:lnTo>
                    <a:pt x="58927" y="647010"/>
                  </a:lnTo>
                  <a:close/>
                </a:path>
                <a:path w="118109" h="697230">
                  <a:moveTo>
                    <a:pt x="71627" y="625239"/>
                  </a:moveTo>
                  <a:lnTo>
                    <a:pt x="58927" y="647010"/>
                  </a:lnTo>
                  <a:lnTo>
                    <a:pt x="69850" y="665733"/>
                  </a:lnTo>
                  <a:lnTo>
                    <a:pt x="71627" y="665733"/>
                  </a:lnTo>
                  <a:lnTo>
                    <a:pt x="71627" y="625239"/>
                  </a:lnTo>
                  <a:close/>
                </a:path>
                <a:path w="118109" h="697230">
                  <a:moveTo>
                    <a:pt x="71627" y="0"/>
                  </a:moveTo>
                  <a:lnTo>
                    <a:pt x="46227" y="0"/>
                  </a:lnTo>
                  <a:lnTo>
                    <a:pt x="46227" y="625239"/>
                  </a:lnTo>
                  <a:lnTo>
                    <a:pt x="58927" y="647010"/>
                  </a:lnTo>
                  <a:lnTo>
                    <a:pt x="71627" y="62523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5">
              <a:extLst>
                <a:ext uri="{FF2B5EF4-FFF2-40B4-BE49-F238E27FC236}">
                  <a16:creationId xmlns:a16="http://schemas.microsoft.com/office/drawing/2014/main" id="{CF071B70-B02C-5FBF-8D60-EF826B9D6DB4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16752" y="3329939"/>
              <a:ext cx="310896" cy="896112"/>
            </a:xfrm>
            <a:prstGeom prst="rect">
              <a:avLst/>
            </a:prstGeom>
          </p:spPr>
        </p:pic>
        <p:sp>
          <p:nvSpPr>
            <p:cNvPr id="47" name="object 46">
              <a:extLst>
                <a:ext uri="{FF2B5EF4-FFF2-40B4-BE49-F238E27FC236}">
                  <a16:creationId xmlns:a16="http://schemas.microsoft.com/office/drawing/2014/main" id="{56CF42E4-04B6-A23E-5937-79905387DE67}"/>
                </a:ext>
              </a:extLst>
            </p:cNvPr>
            <p:cNvSpPr/>
            <p:nvPr/>
          </p:nvSpPr>
          <p:spPr>
            <a:xfrm>
              <a:off x="6113272" y="3352800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10" h="697229">
                  <a:moveTo>
                    <a:pt x="14097" y="581406"/>
                  </a:moveTo>
                  <a:lnTo>
                    <a:pt x="8127" y="584962"/>
                  </a:lnTo>
                  <a:lnTo>
                    <a:pt x="2031" y="588391"/>
                  </a:lnTo>
                  <a:lnTo>
                    <a:pt x="0" y="596264"/>
                  </a:lnTo>
                  <a:lnTo>
                    <a:pt x="3555" y="602233"/>
                  </a:lnTo>
                  <a:lnTo>
                    <a:pt x="58927" y="697230"/>
                  </a:lnTo>
                  <a:lnTo>
                    <a:pt x="73585" y="672083"/>
                  </a:lnTo>
                  <a:lnTo>
                    <a:pt x="46227" y="672083"/>
                  </a:lnTo>
                  <a:lnTo>
                    <a:pt x="46227" y="625239"/>
                  </a:lnTo>
                  <a:lnTo>
                    <a:pt x="25400" y="589533"/>
                  </a:lnTo>
                  <a:lnTo>
                    <a:pt x="21970" y="583438"/>
                  </a:lnTo>
                  <a:lnTo>
                    <a:pt x="14097" y="581406"/>
                  </a:lnTo>
                  <a:close/>
                </a:path>
                <a:path w="118110" h="697229">
                  <a:moveTo>
                    <a:pt x="46227" y="625239"/>
                  </a:moveTo>
                  <a:lnTo>
                    <a:pt x="46227" y="672083"/>
                  </a:lnTo>
                  <a:lnTo>
                    <a:pt x="71627" y="672083"/>
                  </a:lnTo>
                  <a:lnTo>
                    <a:pt x="71627" y="665733"/>
                  </a:lnTo>
                  <a:lnTo>
                    <a:pt x="48005" y="665733"/>
                  </a:lnTo>
                  <a:lnTo>
                    <a:pt x="58927" y="647010"/>
                  </a:lnTo>
                  <a:lnTo>
                    <a:pt x="46227" y="625239"/>
                  </a:lnTo>
                  <a:close/>
                </a:path>
                <a:path w="118110" h="697229">
                  <a:moveTo>
                    <a:pt x="103758" y="581406"/>
                  </a:moveTo>
                  <a:lnTo>
                    <a:pt x="95885" y="583438"/>
                  </a:lnTo>
                  <a:lnTo>
                    <a:pt x="92455" y="589533"/>
                  </a:lnTo>
                  <a:lnTo>
                    <a:pt x="71627" y="625239"/>
                  </a:lnTo>
                  <a:lnTo>
                    <a:pt x="71627" y="672083"/>
                  </a:lnTo>
                  <a:lnTo>
                    <a:pt x="73585" y="672083"/>
                  </a:lnTo>
                  <a:lnTo>
                    <a:pt x="114300" y="602233"/>
                  </a:lnTo>
                  <a:lnTo>
                    <a:pt x="117855" y="596264"/>
                  </a:lnTo>
                  <a:lnTo>
                    <a:pt x="115824" y="588391"/>
                  </a:lnTo>
                  <a:lnTo>
                    <a:pt x="109727" y="584962"/>
                  </a:lnTo>
                  <a:lnTo>
                    <a:pt x="103758" y="581406"/>
                  </a:lnTo>
                  <a:close/>
                </a:path>
                <a:path w="118110" h="697229">
                  <a:moveTo>
                    <a:pt x="58927" y="647010"/>
                  </a:moveTo>
                  <a:lnTo>
                    <a:pt x="48005" y="665733"/>
                  </a:lnTo>
                  <a:lnTo>
                    <a:pt x="69850" y="665733"/>
                  </a:lnTo>
                  <a:lnTo>
                    <a:pt x="58927" y="647010"/>
                  </a:lnTo>
                  <a:close/>
                </a:path>
                <a:path w="118110" h="697229">
                  <a:moveTo>
                    <a:pt x="71627" y="625239"/>
                  </a:moveTo>
                  <a:lnTo>
                    <a:pt x="58927" y="647010"/>
                  </a:lnTo>
                  <a:lnTo>
                    <a:pt x="69850" y="665733"/>
                  </a:lnTo>
                  <a:lnTo>
                    <a:pt x="71627" y="665733"/>
                  </a:lnTo>
                  <a:lnTo>
                    <a:pt x="71627" y="625239"/>
                  </a:lnTo>
                  <a:close/>
                </a:path>
                <a:path w="118110" h="697229">
                  <a:moveTo>
                    <a:pt x="71627" y="0"/>
                  </a:moveTo>
                  <a:lnTo>
                    <a:pt x="46227" y="0"/>
                  </a:lnTo>
                  <a:lnTo>
                    <a:pt x="46227" y="625239"/>
                  </a:lnTo>
                  <a:lnTo>
                    <a:pt x="58927" y="647010"/>
                  </a:lnTo>
                  <a:lnTo>
                    <a:pt x="71627" y="62523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7">
              <a:extLst>
                <a:ext uri="{FF2B5EF4-FFF2-40B4-BE49-F238E27FC236}">
                  <a16:creationId xmlns:a16="http://schemas.microsoft.com/office/drawing/2014/main" id="{AC09EFE9-72D2-62B0-95F2-F11EFF037570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31152" y="3217164"/>
              <a:ext cx="310896" cy="896112"/>
            </a:xfrm>
            <a:prstGeom prst="rect">
              <a:avLst/>
            </a:prstGeom>
          </p:spPr>
        </p:pic>
        <p:sp>
          <p:nvSpPr>
            <p:cNvPr id="49" name="object 48">
              <a:extLst>
                <a:ext uri="{FF2B5EF4-FFF2-40B4-BE49-F238E27FC236}">
                  <a16:creationId xmlns:a16="http://schemas.microsoft.com/office/drawing/2014/main" id="{565FC879-5AE3-F4F5-704E-F6B2D76AD9EA}"/>
                </a:ext>
              </a:extLst>
            </p:cNvPr>
            <p:cNvSpPr/>
            <p:nvPr/>
          </p:nvSpPr>
          <p:spPr>
            <a:xfrm>
              <a:off x="7027672" y="3352800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09" h="697229">
                  <a:moveTo>
                    <a:pt x="58927" y="50219"/>
                  </a:moveTo>
                  <a:lnTo>
                    <a:pt x="46227" y="71990"/>
                  </a:lnTo>
                  <a:lnTo>
                    <a:pt x="46227" y="697230"/>
                  </a:lnTo>
                  <a:lnTo>
                    <a:pt x="71627" y="697230"/>
                  </a:lnTo>
                  <a:lnTo>
                    <a:pt x="71627" y="71990"/>
                  </a:lnTo>
                  <a:lnTo>
                    <a:pt x="58927" y="50219"/>
                  </a:lnTo>
                  <a:close/>
                </a:path>
                <a:path w="118109" h="697229">
                  <a:moveTo>
                    <a:pt x="58927" y="0"/>
                  </a:moveTo>
                  <a:lnTo>
                    <a:pt x="3555" y="94996"/>
                  </a:lnTo>
                  <a:lnTo>
                    <a:pt x="0" y="100964"/>
                  </a:lnTo>
                  <a:lnTo>
                    <a:pt x="2031" y="108838"/>
                  </a:lnTo>
                  <a:lnTo>
                    <a:pt x="8127" y="112267"/>
                  </a:lnTo>
                  <a:lnTo>
                    <a:pt x="14097" y="115824"/>
                  </a:lnTo>
                  <a:lnTo>
                    <a:pt x="21971" y="113791"/>
                  </a:lnTo>
                  <a:lnTo>
                    <a:pt x="25400" y="107696"/>
                  </a:lnTo>
                  <a:lnTo>
                    <a:pt x="46227" y="71990"/>
                  </a:lnTo>
                  <a:lnTo>
                    <a:pt x="46227" y="25146"/>
                  </a:lnTo>
                  <a:lnTo>
                    <a:pt x="73585" y="25146"/>
                  </a:lnTo>
                  <a:lnTo>
                    <a:pt x="58927" y="0"/>
                  </a:lnTo>
                  <a:close/>
                </a:path>
                <a:path w="118109" h="697229">
                  <a:moveTo>
                    <a:pt x="73585" y="25146"/>
                  </a:moveTo>
                  <a:lnTo>
                    <a:pt x="71627" y="25146"/>
                  </a:lnTo>
                  <a:lnTo>
                    <a:pt x="71627" y="71990"/>
                  </a:lnTo>
                  <a:lnTo>
                    <a:pt x="92455" y="107696"/>
                  </a:lnTo>
                  <a:lnTo>
                    <a:pt x="95884" y="113791"/>
                  </a:lnTo>
                  <a:lnTo>
                    <a:pt x="103758" y="115824"/>
                  </a:lnTo>
                  <a:lnTo>
                    <a:pt x="109727" y="112267"/>
                  </a:lnTo>
                  <a:lnTo>
                    <a:pt x="115824" y="108838"/>
                  </a:lnTo>
                  <a:lnTo>
                    <a:pt x="117855" y="100964"/>
                  </a:lnTo>
                  <a:lnTo>
                    <a:pt x="114300" y="94996"/>
                  </a:lnTo>
                  <a:lnTo>
                    <a:pt x="73585" y="25146"/>
                  </a:lnTo>
                  <a:close/>
                </a:path>
                <a:path w="118109" h="697229">
                  <a:moveTo>
                    <a:pt x="71627" y="25146"/>
                  </a:moveTo>
                  <a:lnTo>
                    <a:pt x="46227" y="25146"/>
                  </a:lnTo>
                  <a:lnTo>
                    <a:pt x="46227" y="71990"/>
                  </a:lnTo>
                  <a:lnTo>
                    <a:pt x="58927" y="50219"/>
                  </a:lnTo>
                  <a:lnTo>
                    <a:pt x="48005" y="31496"/>
                  </a:lnTo>
                  <a:lnTo>
                    <a:pt x="71627" y="31496"/>
                  </a:lnTo>
                  <a:lnTo>
                    <a:pt x="71627" y="25146"/>
                  </a:lnTo>
                  <a:close/>
                </a:path>
                <a:path w="118109" h="697229">
                  <a:moveTo>
                    <a:pt x="71627" y="31496"/>
                  </a:moveTo>
                  <a:lnTo>
                    <a:pt x="69850" y="31496"/>
                  </a:lnTo>
                  <a:lnTo>
                    <a:pt x="58927" y="50219"/>
                  </a:lnTo>
                  <a:lnTo>
                    <a:pt x="71627" y="71990"/>
                  </a:lnTo>
                  <a:lnTo>
                    <a:pt x="71627" y="31496"/>
                  </a:lnTo>
                  <a:close/>
                </a:path>
                <a:path w="118109" h="697229">
                  <a:moveTo>
                    <a:pt x="69850" y="31496"/>
                  </a:moveTo>
                  <a:lnTo>
                    <a:pt x="48005" y="31496"/>
                  </a:lnTo>
                  <a:lnTo>
                    <a:pt x="58927" y="50219"/>
                  </a:lnTo>
                  <a:lnTo>
                    <a:pt x="69850" y="31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9">
              <a:extLst>
                <a:ext uri="{FF2B5EF4-FFF2-40B4-BE49-F238E27FC236}">
                  <a16:creationId xmlns:a16="http://schemas.microsoft.com/office/drawing/2014/main" id="{B75C38A8-03BA-8BC9-0EE3-A2EA0D4CB6ED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95928" y="3965448"/>
              <a:ext cx="694943" cy="1522476"/>
            </a:xfrm>
            <a:prstGeom prst="rect">
              <a:avLst/>
            </a:prstGeom>
          </p:spPr>
        </p:pic>
        <p:sp>
          <p:nvSpPr>
            <p:cNvPr id="51" name="object 50">
              <a:extLst>
                <a:ext uri="{FF2B5EF4-FFF2-40B4-BE49-F238E27FC236}">
                  <a16:creationId xmlns:a16="http://schemas.microsoft.com/office/drawing/2014/main" id="{EA6B24D9-D0AC-36C8-FE8C-CC7303B6311A}"/>
                </a:ext>
              </a:extLst>
            </p:cNvPr>
            <p:cNvSpPr/>
            <p:nvPr/>
          </p:nvSpPr>
          <p:spPr>
            <a:xfrm>
              <a:off x="4038981" y="3985260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508000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1334770"/>
                  </a:lnTo>
                  <a:lnTo>
                    <a:pt x="7981" y="1374326"/>
                  </a:lnTo>
                  <a:lnTo>
                    <a:pt x="29749" y="1406620"/>
                  </a:lnTo>
                  <a:lnTo>
                    <a:pt x="62043" y="1428388"/>
                  </a:lnTo>
                  <a:lnTo>
                    <a:pt x="101600" y="1436370"/>
                  </a:lnTo>
                  <a:lnTo>
                    <a:pt x="508000" y="1436370"/>
                  </a:lnTo>
                  <a:lnTo>
                    <a:pt x="547556" y="1428388"/>
                  </a:lnTo>
                  <a:lnTo>
                    <a:pt x="579850" y="1406620"/>
                  </a:lnTo>
                  <a:lnTo>
                    <a:pt x="601618" y="1374326"/>
                  </a:lnTo>
                  <a:lnTo>
                    <a:pt x="609600" y="1334770"/>
                  </a:lnTo>
                  <a:lnTo>
                    <a:pt x="609600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1">
              <a:extLst>
                <a:ext uri="{FF2B5EF4-FFF2-40B4-BE49-F238E27FC236}">
                  <a16:creationId xmlns:a16="http://schemas.microsoft.com/office/drawing/2014/main" id="{66CA1153-85B9-8B15-6990-68E185CF1610}"/>
                </a:ext>
              </a:extLst>
            </p:cNvPr>
            <p:cNvSpPr/>
            <p:nvPr/>
          </p:nvSpPr>
          <p:spPr>
            <a:xfrm>
              <a:off x="4038981" y="3985260"/>
              <a:ext cx="609600" cy="1436370"/>
            </a:xfrm>
            <a:custGeom>
              <a:avLst/>
              <a:gdLst/>
              <a:ahLst/>
              <a:cxnLst/>
              <a:rect l="l" t="t" r="r" b="b"/>
              <a:pathLst>
                <a:path w="609600" h="143637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8000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600" y="101600"/>
                  </a:lnTo>
                  <a:lnTo>
                    <a:pt x="609600" y="1334770"/>
                  </a:lnTo>
                  <a:lnTo>
                    <a:pt x="601618" y="1374326"/>
                  </a:lnTo>
                  <a:lnTo>
                    <a:pt x="579850" y="1406620"/>
                  </a:lnTo>
                  <a:lnTo>
                    <a:pt x="547556" y="1428388"/>
                  </a:lnTo>
                  <a:lnTo>
                    <a:pt x="508000" y="1436370"/>
                  </a:lnTo>
                  <a:lnTo>
                    <a:pt x="101600" y="1436370"/>
                  </a:lnTo>
                  <a:lnTo>
                    <a:pt x="62043" y="1428388"/>
                  </a:lnTo>
                  <a:lnTo>
                    <a:pt x="29749" y="1406620"/>
                  </a:lnTo>
                  <a:lnTo>
                    <a:pt x="7981" y="1374326"/>
                  </a:lnTo>
                  <a:lnTo>
                    <a:pt x="0" y="133477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2">
              <a:extLst>
                <a:ext uri="{FF2B5EF4-FFF2-40B4-BE49-F238E27FC236}">
                  <a16:creationId xmlns:a16="http://schemas.microsoft.com/office/drawing/2014/main" id="{92A9CEDD-9B93-9A20-D6FF-BDB546A091FF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95928" y="4668011"/>
              <a:ext cx="694944" cy="111251"/>
            </a:xfrm>
            <a:prstGeom prst="rect">
              <a:avLst/>
            </a:prstGeom>
          </p:spPr>
        </p:pic>
        <p:sp>
          <p:nvSpPr>
            <p:cNvPr id="54" name="object 53">
              <a:extLst>
                <a:ext uri="{FF2B5EF4-FFF2-40B4-BE49-F238E27FC236}">
                  <a16:creationId xmlns:a16="http://schemas.microsoft.com/office/drawing/2014/main" id="{72B04D92-389C-8654-A6B1-B2E1D2BD65A3}"/>
                </a:ext>
              </a:extLst>
            </p:cNvPr>
            <p:cNvSpPr/>
            <p:nvPr/>
          </p:nvSpPr>
          <p:spPr>
            <a:xfrm>
              <a:off x="4038981" y="4703445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4">
              <a:extLst>
                <a:ext uri="{FF2B5EF4-FFF2-40B4-BE49-F238E27FC236}">
                  <a16:creationId xmlns:a16="http://schemas.microsoft.com/office/drawing/2014/main" id="{DCD1F373-92ED-9F83-7019-2368A5F22FBD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995928" y="5004815"/>
              <a:ext cx="694944" cy="111251"/>
            </a:xfrm>
            <a:prstGeom prst="rect">
              <a:avLst/>
            </a:prstGeom>
          </p:spPr>
        </p:pic>
        <p:sp>
          <p:nvSpPr>
            <p:cNvPr id="56" name="object 55">
              <a:extLst>
                <a:ext uri="{FF2B5EF4-FFF2-40B4-BE49-F238E27FC236}">
                  <a16:creationId xmlns:a16="http://schemas.microsoft.com/office/drawing/2014/main" id="{81DD6009-1B8A-4D1A-4760-130873D0A926}"/>
                </a:ext>
              </a:extLst>
            </p:cNvPr>
            <p:cNvSpPr/>
            <p:nvPr/>
          </p:nvSpPr>
          <p:spPr>
            <a:xfrm>
              <a:off x="4038981" y="504062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6">
              <a:extLst>
                <a:ext uri="{FF2B5EF4-FFF2-40B4-BE49-F238E27FC236}">
                  <a16:creationId xmlns:a16="http://schemas.microsoft.com/office/drawing/2014/main" id="{231C5E42-3D7E-7BE3-4E26-953C03EDA390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995928" y="4319015"/>
              <a:ext cx="694944" cy="111251"/>
            </a:xfrm>
            <a:prstGeom prst="rect">
              <a:avLst/>
            </a:prstGeom>
          </p:spPr>
        </p:pic>
        <p:sp>
          <p:nvSpPr>
            <p:cNvPr id="58" name="object 57">
              <a:extLst>
                <a:ext uri="{FF2B5EF4-FFF2-40B4-BE49-F238E27FC236}">
                  <a16:creationId xmlns:a16="http://schemas.microsoft.com/office/drawing/2014/main" id="{654042A3-973C-1C46-9C15-9D0D3CC0AC5D}"/>
                </a:ext>
              </a:extLst>
            </p:cNvPr>
            <p:cNvSpPr/>
            <p:nvPr/>
          </p:nvSpPr>
          <p:spPr>
            <a:xfrm>
              <a:off x="4038981" y="4354829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8">
              <a:extLst>
                <a:ext uri="{FF2B5EF4-FFF2-40B4-BE49-F238E27FC236}">
                  <a16:creationId xmlns:a16="http://schemas.microsoft.com/office/drawing/2014/main" id="{8EB5ADCC-95E1-C6F7-E57E-725B1B2E99D9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87952" y="3329939"/>
              <a:ext cx="312420" cy="896112"/>
            </a:xfrm>
            <a:prstGeom prst="rect">
              <a:avLst/>
            </a:prstGeom>
          </p:spPr>
        </p:pic>
        <p:sp>
          <p:nvSpPr>
            <p:cNvPr id="60" name="object 59">
              <a:extLst>
                <a:ext uri="{FF2B5EF4-FFF2-40B4-BE49-F238E27FC236}">
                  <a16:creationId xmlns:a16="http://schemas.microsoft.com/office/drawing/2014/main" id="{E5085F93-E9E8-842E-BE7D-79A7EA24FD17}"/>
                </a:ext>
              </a:extLst>
            </p:cNvPr>
            <p:cNvSpPr/>
            <p:nvPr/>
          </p:nvSpPr>
          <p:spPr>
            <a:xfrm>
              <a:off x="4284853" y="3352800"/>
              <a:ext cx="118110" cy="697230"/>
            </a:xfrm>
            <a:custGeom>
              <a:avLst/>
              <a:gdLst/>
              <a:ahLst/>
              <a:cxnLst/>
              <a:rect l="l" t="t" r="r" b="b"/>
              <a:pathLst>
                <a:path w="118110" h="697229">
                  <a:moveTo>
                    <a:pt x="14097" y="581406"/>
                  </a:moveTo>
                  <a:lnTo>
                    <a:pt x="8127" y="584962"/>
                  </a:lnTo>
                  <a:lnTo>
                    <a:pt x="2032" y="588391"/>
                  </a:lnTo>
                  <a:lnTo>
                    <a:pt x="0" y="596264"/>
                  </a:lnTo>
                  <a:lnTo>
                    <a:pt x="3556" y="602233"/>
                  </a:lnTo>
                  <a:lnTo>
                    <a:pt x="58927" y="697230"/>
                  </a:lnTo>
                  <a:lnTo>
                    <a:pt x="73585" y="672083"/>
                  </a:lnTo>
                  <a:lnTo>
                    <a:pt x="46227" y="672083"/>
                  </a:lnTo>
                  <a:lnTo>
                    <a:pt x="46227" y="625239"/>
                  </a:lnTo>
                  <a:lnTo>
                    <a:pt x="25400" y="589533"/>
                  </a:lnTo>
                  <a:lnTo>
                    <a:pt x="21971" y="583438"/>
                  </a:lnTo>
                  <a:lnTo>
                    <a:pt x="14097" y="581406"/>
                  </a:lnTo>
                  <a:close/>
                </a:path>
                <a:path w="118110" h="697229">
                  <a:moveTo>
                    <a:pt x="46228" y="625239"/>
                  </a:moveTo>
                  <a:lnTo>
                    <a:pt x="46227" y="672083"/>
                  </a:lnTo>
                  <a:lnTo>
                    <a:pt x="71627" y="672083"/>
                  </a:lnTo>
                  <a:lnTo>
                    <a:pt x="71627" y="665733"/>
                  </a:lnTo>
                  <a:lnTo>
                    <a:pt x="48006" y="665733"/>
                  </a:lnTo>
                  <a:lnTo>
                    <a:pt x="58927" y="647010"/>
                  </a:lnTo>
                  <a:lnTo>
                    <a:pt x="46228" y="625239"/>
                  </a:lnTo>
                  <a:close/>
                </a:path>
                <a:path w="118110" h="697229">
                  <a:moveTo>
                    <a:pt x="103759" y="581406"/>
                  </a:moveTo>
                  <a:lnTo>
                    <a:pt x="95885" y="583438"/>
                  </a:lnTo>
                  <a:lnTo>
                    <a:pt x="92456" y="589533"/>
                  </a:lnTo>
                  <a:lnTo>
                    <a:pt x="71627" y="625239"/>
                  </a:lnTo>
                  <a:lnTo>
                    <a:pt x="71627" y="672083"/>
                  </a:lnTo>
                  <a:lnTo>
                    <a:pt x="73585" y="672083"/>
                  </a:lnTo>
                  <a:lnTo>
                    <a:pt x="114300" y="602233"/>
                  </a:lnTo>
                  <a:lnTo>
                    <a:pt x="117856" y="596264"/>
                  </a:lnTo>
                  <a:lnTo>
                    <a:pt x="115824" y="588391"/>
                  </a:lnTo>
                  <a:lnTo>
                    <a:pt x="109727" y="584962"/>
                  </a:lnTo>
                  <a:lnTo>
                    <a:pt x="103759" y="581406"/>
                  </a:lnTo>
                  <a:close/>
                </a:path>
                <a:path w="118110" h="697229">
                  <a:moveTo>
                    <a:pt x="58927" y="647010"/>
                  </a:moveTo>
                  <a:lnTo>
                    <a:pt x="48006" y="665733"/>
                  </a:lnTo>
                  <a:lnTo>
                    <a:pt x="69850" y="665733"/>
                  </a:lnTo>
                  <a:lnTo>
                    <a:pt x="58927" y="647010"/>
                  </a:lnTo>
                  <a:close/>
                </a:path>
                <a:path w="118110" h="697229">
                  <a:moveTo>
                    <a:pt x="71627" y="625239"/>
                  </a:moveTo>
                  <a:lnTo>
                    <a:pt x="58927" y="647010"/>
                  </a:lnTo>
                  <a:lnTo>
                    <a:pt x="69850" y="665733"/>
                  </a:lnTo>
                  <a:lnTo>
                    <a:pt x="71627" y="665733"/>
                  </a:lnTo>
                  <a:lnTo>
                    <a:pt x="71627" y="625239"/>
                  </a:lnTo>
                  <a:close/>
                </a:path>
                <a:path w="118110" h="697229">
                  <a:moveTo>
                    <a:pt x="71627" y="0"/>
                  </a:moveTo>
                  <a:lnTo>
                    <a:pt x="46227" y="0"/>
                  </a:lnTo>
                  <a:lnTo>
                    <a:pt x="46228" y="625239"/>
                  </a:lnTo>
                  <a:lnTo>
                    <a:pt x="58927" y="647010"/>
                  </a:lnTo>
                  <a:lnTo>
                    <a:pt x="71627" y="625239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0">
              <a:extLst>
                <a:ext uri="{FF2B5EF4-FFF2-40B4-BE49-F238E27FC236}">
                  <a16:creationId xmlns:a16="http://schemas.microsoft.com/office/drawing/2014/main" id="{EA64351B-416F-0509-6F19-1C8AF04D6F06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325015" y="5486400"/>
              <a:ext cx="2714584" cy="862990"/>
            </a:xfrm>
            <a:prstGeom prst="rect">
              <a:avLst/>
            </a:prstGeom>
          </p:spPr>
        </p:pic>
        <p:pic>
          <p:nvPicPr>
            <p:cNvPr id="62" name="object 61">
              <a:extLst>
                <a:ext uri="{FF2B5EF4-FFF2-40B4-BE49-F238E27FC236}">
                  <a16:creationId xmlns:a16="http://schemas.microsoft.com/office/drawing/2014/main" id="{19AF7CF9-493F-152F-CC2A-5D5011EA54B3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14928" y="5629673"/>
              <a:ext cx="4809744" cy="760440"/>
            </a:xfrm>
            <a:prstGeom prst="rect">
              <a:avLst/>
            </a:prstGeom>
          </p:spPr>
        </p:pic>
        <p:pic>
          <p:nvPicPr>
            <p:cNvPr id="63" name="object 62">
              <a:extLst>
                <a:ext uri="{FF2B5EF4-FFF2-40B4-BE49-F238E27FC236}">
                  <a16:creationId xmlns:a16="http://schemas.microsoft.com/office/drawing/2014/main" id="{3C53269F-DDA0-C966-935E-D0F44FF5EB90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80916" y="5510784"/>
              <a:ext cx="3592067" cy="1152144"/>
            </a:xfrm>
            <a:prstGeom prst="rect">
              <a:avLst/>
            </a:prstGeom>
          </p:spPr>
        </p:pic>
        <p:sp>
          <p:nvSpPr>
            <p:cNvPr id="64" name="object 63">
              <a:extLst>
                <a:ext uri="{FF2B5EF4-FFF2-40B4-BE49-F238E27FC236}">
                  <a16:creationId xmlns:a16="http://schemas.microsoft.com/office/drawing/2014/main" id="{E241B3FF-BADF-1201-FB64-1804ED13D0F8}"/>
                </a:ext>
              </a:extLst>
            </p:cNvPr>
            <p:cNvSpPr/>
            <p:nvPr/>
          </p:nvSpPr>
          <p:spPr>
            <a:xfrm>
              <a:off x="3657600" y="5650229"/>
              <a:ext cx="4724400" cy="674370"/>
            </a:xfrm>
            <a:custGeom>
              <a:avLst/>
              <a:gdLst/>
              <a:ahLst/>
              <a:cxnLst/>
              <a:rect l="l" t="t" r="r" b="b"/>
              <a:pathLst>
                <a:path w="4724400" h="674370">
                  <a:moveTo>
                    <a:pt x="4612005" y="0"/>
                  </a:moveTo>
                  <a:lnTo>
                    <a:pt x="112395" y="0"/>
                  </a:lnTo>
                  <a:lnTo>
                    <a:pt x="68633" y="8832"/>
                  </a:lnTo>
                  <a:lnTo>
                    <a:pt x="32908" y="32918"/>
                  </a:lnTo>
                  <a:lnTo>
                    <a:pt x="8828" y="68644"/>
                  </a:lnTo>
                  <a:lnTo>
                    <a:pt x="0" y="112395"/>
                  </a:lnTo>
                  <a:lnTo>
                    <a:pt x="0" y="561975"/>
                  </a:lnTo>
                  <a:lnTo>
                    <a:pt x="8828" y="605725"/>
                  </a:lnTo>
                  <a:lnTo>
                    <a:pt x="32908" y="641451"/>
                  </a:lnTo>
                  <a:lnTo>
                    <a:pt x="68633" y="665537"/>
                  </a:lnTo>
                  <a:lnTo>
                    <a:pt x="112395" y="674370"/>
                  </a:lnTo>
                  <a:lnTo>
                    <a:pt x="4612005" y="674370"/>
                  </a:lnTo>
                  <a:lnTo>
                    <a:pt x="4655766" y="665537"/>
                  </a:lnTo>
                  <a:lnTo>
                    <a:pt x="4691491" y="641451"/>
                  </a:lnTo>
                  <a:lnTo>
                    <a:pt x="4715571" y="605725"/>
                  </a:lnTo>
                  <a:lnTo>
                    <a:pt x="4724400" y="561975"/>
                  </a:lnTo>
                  <a:lnTo>
                    <a:pt x="4724400" y="112395"/>
                  </a:lnTo>
                  <a:lnTo>
                    <a:pt x="4715571" y="68644"/>
                  </a:lnTo>
                  <a:lnTo>
                    <a:pt x="4691491" y="32918"/>
                  </a:lnTo>
                  <a:lnTo>
                    <a:pt x="4655766" y="8832"/>
                  </a:lnTo>
                  <a:lnTo>
                    <a:pt x="4612005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4">
              <a:extLst>
                <a:ext uri="{FF2B5EF4-FFF2-40B4-BE49-F238E27FC236}">
                  <a16:creationId xmlns:a16="http://schemas.microsoft.com/office/drawing/2014/main" id="{232E732C-5155-7F6D-F3BE-6DF24C3CB857}"/>
                </a:ext>
              </a:extLst>
            </p:cNvPr>
            <p:cNvSpPr/>
            <p:nvPr/>
          </p:nvSpPr>
          <p:spPr>
            <a:xfrm>
              <a:off x="3657600" y="5650229"/>
              <a:ext cx="4724400" cy="674370"/>
            </a:xfrm>
            <a:custGeom>
              <a:avLst/>
              <a:gdLst/>
              <a:ahLst/>
              <a:cxnLst/>
              <a:rect l="l" t="t" r="r" b="b"/>
              <a:pathLst>
                <a:path w="4724400" h="674370">
                  <a:moveTo>
                    <a:pt x="0" y="112395"/>
                  </a:moveTo>
                  <a:lnTo>
                    <a:pt x="8828" y="68644"/>
                  </a:lnTo>
                  <a:lnTo>
                    <a:pt x="32908" y="32918"/>
                  </a:lnTo>
                  <a:lnTo>
                    <a:pt x="68633" y="8832"/>
                  </a:lnTo>
                  <a:lnTo>
                    <a:pt x="112395" y="0"/>
                  </a:lnTo>
                  <a:lnTo>
                    <a:pt x="4612005" y="0"/>
                  </a:lnTo>
                  <a:lnTo>
                    <a:pt x="4655766" y="8832"/>
                  </a:lnTo>
                  <a:lnTo>
                    <a:pt x="4691491" y="32918"/>
                  </a:lnTo>
                  <a:lnTo>
                    <a:pt x="4715571" y="68644"/>
                  </a:lnTo>
                  <a:lnTo>
                    <a:pt x="4724400" y="112395"/>
                  </a:lnTo>
                  <a:lnTo>
                    <a:pt x="4724400" y="561975"/>
                  </a:lnTo>
                  <a:lnTo>
                    <a:pt x="4715571" y="605725"/>
                  </a:lnTo>
                  <a:lnTo>
                    <a:pt x="4691491" y="641451"/>
                  </a:lnTo>
                  <a:lnTo>
                    <a:pt x="4655766" y="665537"/>
                  </a:lnTo>
                  <a:lnTo>
                    <a:pt x="4612005" y="674370"/>
                  </a:lnTo>
                  <a:lnTo>
                    <a:pt x="112395" y="674370"/>
                  </a:lnTo>
                  <a:lnTo>
                    <a:pt x="68633" y="665537"/>
                  </a:lnTo>
                  <a:lnTo>
                    <a:pt x="32908" y="641451"/>
                  </a:lnTo>
                  <a:lnTo>
                    <a:pt x="8828" y="605725"/>
                  </a:lnTo>
                  <a:lnTo>
                    <a:pt x="0" y="561975"/>
                  </a:lnTo>
                  <a:lnTo>
                    <a:pt x="0" y="11239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5">
            <a:extLst>
              <a:ext uri="{FF2B5EF4-FFF2-40B4-BE49-F238E27FC236}">
                <a16:creationId xmlns:a16="http://schemas.microsoft.com/office/drawing/2014/main" id="{9C8C38CB-2B5D-E441-75E1-F71DDFC8C008}"/>
              </a:ext>
            </a:extLst>
          </p:cNvPr>
          <p:cNvSpPr txBox="1"/>
          <p:nvPr/>
        </p:nvSpPr>
        <p:spPr>
          <a:xfrm>
            <a:off x="4955794" y="4522470"/>
            <a:ext cx="8235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MSHR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7" name="object 66">
            <a:extLst>
              <a:ext uri="{FF2B5EF4-FFF2-40B4-BE49-F238E27FC236}">
                <a16:creationId xmlns:a16="http://schemas.microsoft.com/office/drawing/2014/main" id="{7ABA81A5-164B-DD2F-4690-831F8E516736}"/>
              </a:ext>
            </a:extLst>
          </p:cNvPr>
          <p:cNvSpPr txBox="1"/>
          <p:nvPr/>
        </p:nvSpPr>
        <p:spPr>
          <a:xfrm>
            <a:off x="7623175" y="4522470"/>
            <a:ext cx="706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Fill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8" name="object 67">
            <a:extLst>
              <a:ext uri="{FF2B5EF4-FFF2-40B4-BE49-F238E27FC236}">
                <a16:creationId xmlns:a16="http://schemas.microsoft.com/office/drawing/2014/main" id="{BA45F067-4264-8A0E-6017-414E56424F42}"/>
              </a:ext>
            </a:extLst>
          </p:cNvPr>
          <p:cNvSpPr txBox="1"/>
          <p:nvPr/>
        </p:nvSpPr>
        <p:spPr>
          <a:xfrm>
            <a:off x="3126994" y="4457445"/>
            <a:ext cx="758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WB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9" name="object 68">
            <a:extLst>
              <a:ext uri="{FF2B5EF4-FFF2-40B4-BE49-F238E27FC236}">
                <a16:creationId xmlns:a16="http://schemas.microsoft.com/office/drawing/2014/main" id="{9229A93A-DD5A-4F7C-A4D4-D58F91F7A824}"/>
              </a:ext>
            </a:extLst>
          </p:cNvPr>
          <p:cNvSpPr txBox="1"/>
          <p:nvPr/>
        </p:nvSpPr>
        <p:spPr>
          <a:xfrm>
            <a:off x="4615688" y="5639206"/>
            <a:ext cx="2808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DRAM</a:t>
            </a:r>
            <a:r>
              <a:rPr sz="40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lang="en-IN" sz="4000" b="1" spc="-5" dirty="0" err="1">
                <a:solidFill>
                  <a:srgbClr val="FFFFFF"/>
                </a:solidFill>
                <a:latin typeface="Calibri"/>
                <a:cs typeface="Calibri"/>
              </a:rPr>
              <a:t>trl</a:t>
            </a:r>
            <a:r>
              <a:rPr sz="4000" b="1" spc="-5" dirty="0" err="1">
                <a:solidFill>
                  <a:srgbClr val="FFFFFF"/>
                </a:solidFill>
                <a:latin typeface="Calibri"/>
                <a:cs typeface="Calibri"/>
              </a:rPr>
              <a:t>ler</a:t>
            </a:r>
            <a:endParaRPr sz="4000" dirty="0">
              <a:latin typeface="Calibri"/>
              <a:cs typeface="Calibri"/>
            </a:endParaRPr>
          </a:p>
        </p:txBody>
      </p:sp>
      <p:grpSp>
        <p:nvGrpSpPr>
          <p:cNvPr id="70" name="object 69">
            <a:extLst>
              <a:ext uri="{FF2B5EF4-FFF2-40B4-BE49-F238E27FC236}">
                <a16:creationId xmlns:a16="http://schemas.microsoft.com/office/drawing/2014/main" id="{D8305565-C43A-0826-0887-0868050C736C}"/>
              </a:ext>
            </a:extLst>
          </p:cNvPr>
          <p:cNvGrpSpPr/>
          <p:nvPr/>
        </p:nvGrpSpPr>
        <p:grpSpPr>
          <a:xfrm>
            <a:off x="5940552" y="5158740"/>
            <a:ext cx="311150" cy="896619"/>
            <a:chOff x="5940552" y="5158740"/>
            <a:chExt cx="311150" cy="896619"/>
          </a:xfrm>
        </p:grpSpPr>
        <p:pic>
          <p:nvPicPr>
            <p:cNvPr id="71" name="object 70">
              <a:extLst>
                <a:ext uri="{FF2B5EF4-FFF2-40B4-BE49-F238E27FC236}">
                  <a16:creationId xmlns:a16="http://schemas.microsoft.com/office/drawing/2014/main" id="{9FC112E2-CDB0-8373-E18C-62F9D5095455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40552" y="5158740"/>
              <a:ext cx="310896" cy="896112"/>
            </a:xfrm>
            <a:prstGeom prst="rect">
              <a:avLst/>
            </a:prstGeom>
          </p:spPr>
        </p:pic>
        <p:sp>
          <p:nvSpPr>
            <p:cNvPr id="72" name="object 71">
              <a:extLst>
                <a:ext uri="{FF2B5EF4-FFF2-40B4-BE49-F238E27FC236}">
                  <a16:creationId xmlns:a16="http://schemas.microsoft.com/office/drawing/2014/main" id="{7CE0A07E-8290-1A4C-DE02-607BE5C5C229}"/>
                </a:ext>
              </a:extLst>
            </p:cNvPr>
            <p:cNvSpPr/>
            <p:nvPr/>
          </p:nvSpPr>
          <p:spPr>
            <a:xfrm>
              <a:off x="6037072" y="5181600"/>
              <a:ext cx="118110" cy="697865"/>
            </a:xfrm>
            <a:custGeom>
              <a:avLst/>
              <a:gdLst/>
              <a:ahLst/>
              <a:cxnLst/>
              <a:rect l="l" t="t" r="r" b="b"/>
              <a:pathLst>
                <a:path w="118110" h="697864">
                  <a:moveTo>
                    <a:pt x="14097" y="581380"/>
                  </a:moveTo>
                  <a:lnTo>
                    <a:pt x="8127" y="584911"/>
                  </a:lnTo>
                  <a:lnTo>
                    <a:pt x="2031" y="588441"/>
                  </a:lnTo>
                  <a:lnTo>
                    <a:pt x="0" y="596226"/>
                  </a:lnTo>
                  <a:lnTo>
                    <a:pt x="3555" y="602284"/>
                  </a:lnTo>
                  <a:lnTo>
                    <a:pt x="58927" y="697280"/>
                  </a:lnTo>
                  <a:lnTo>
                    <a:pt x="73614" y="672084"/>
                  </a:lnTo>
                  <a:lnTo>
                    <a:pt x="46227" y="672084"/>
                  </a:lnTo>
                  <a:lnTo>
                    <a:pt x="46227" y="625188"/>
                  </a:lnTo>
                  <a:lnTo>
                    <a:pt x="25400" y="589483"/>
                  </a:lnTo>
                  <a:lnTo>
                    <a:pt x="21970" y="583425"/>
                  </a:lnTo>
                  <a:lnTo>
                    <a:pt x="14097" y="581380"/>
                  </a:lnTo>
                  <a:close/>
                </a:path>
                <a:path w="118110" h="697864">
                  <a:moveTo>
                    <a:pt x="46227" y="625188"/>
                  </a:moveTo>
                  <a:lnTo>
                    <a:pt x="46227" y="672084"/>
                  </a:lnTo>
                  <a:lnTo>
                    <a:pt x="71627" y="672084"/>
                  </a:lnTo>
                  <a:lnTo>
                    <a:pt x="71627" y="665683"/>
                  </a:lnTo>
                  <a:lnTo>
                    <a:pt x="48005" y="665683"/>
                  </a:lnTo>
                  <a:lnTo>
                    <a:pt x="58927" y="646959"/>
                  </a:lnTo>
                  <a:lnTo>
                    <a:pt x="46227" y="625188"/>
                  </a:lnTo>
                  <a:close/>
                </a:path>
                <a:path w="118110" h="697864">
                  <a:moveTo>
                    <a:pt x="103758" y="581380"/>
                  </a:moveTo>
                  <a:lnTo>
                    <a:pt x="95885" y="583425"/>
                  </a:lnTo>
                  <a:lnTo>
                    <a:pt x="92455" y="589483"/>
                  </a:lnTo>
                  <a:lnTo>
                    <a:pt x="71627" y="625188"/>
                  </a:lnTo>
                  <a:lnTo>
                    <a:pt x="71627" y="672084"/>
                  </a:lnTo>
                  <a:lnTo>
                    <a:pt x="73614" y="672084"/>
                  </a:lnTo>
                  <a:lnTo>
                    <a:pt x="114300" y="602284"/>
                  </a:lnTo>
                  <a:lnTo>
                    <a:pt x="117855" y="596226"/>
                  </a:lnTo>
                  <a:lnTo>
                    <a:pt x="115824" y="588441"/>
                  </a:lnTo>
                  <a:lnTo>
                    <a:pt x="109727" y="584911"/>
                  </a:lnTo>
                  <a:lnTo>
                    <a:pt x="103758" y="581380"/>
                  </a:lnTo>
                  <a:close/>
                </a:path>
                <a:path w="118110" h="697864">
                  <a:moveTo>
                    <a:pt x="58927" y="646959"/>
                  </a:moveTo>
                  <a:lnTo>
                    <a:pt x="48005" y="665683"/>
                  </a:lnTo>
                  <a:lnTo>
                    <a:pt x="69850" y="665683"/>
                  </a:lnTo>
                  <a:lnTo>
                    <a:pt x="58927" y="646959"/>
                  </a:lnTo>
                  <a:close/>
                </a:path>
                <a:path w="118110" h="697864">
                  <a:moveTo>
                    <a:pt x="71627" y="625188"/>
                  </a:moveTo>
                  <a:lnTo>
                    <a:pt x="58927" y="646959"/>
                  </a:lnTo>
                  <a:lnTo>
                    <a:pt x="69850" y="665683"/>
                  </a:lnTo>
                  <a:lnTo>
                    <a:pt x="71627" y="665683"/>
                  </a:lnTo>
                  <a:lnTo>
                    <a:pt x="71627" y="625188"/>
                  </a:lnTo>
                  <a:close/>
                </a:path>
                <a:path w="118110" h="697864">
                  <a:moveTo>
                    <a:pt x="71627" y="0"/>
                  </a:moveTo>
                  <a:lnTo>
                    <a:pt x="46227" y="0"/>
                  </a:lnTo>
                  <a:lnTo>
                    <a:pt x="46227" y="625188"/>
                  </a:lnTo>
                  <a:lnTo>
                    <a:pt x="58927" y="646959"/>
                  </a:lnTo>
                  <a:lnTo>
                    <a:pt x="71627" y="6251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2">
            <a:extLst>
              <a:ext uri="{FF2B5EF4-FFF2-40B4-BE49-F238E27FC236}">
                <a16:creationId xmlns:a16="http://schemas.microsoft.com/office/drawing/2014/main" id="{15D343C4-EC52-1828-D6BF-69D322C7E1B3}"/>
              </a:ext>
            </a:extLst>
          </p:cNvPr>
          <p:cNvGrpSpPr/>
          <p:nvPr/>
        </p:nvGrpSpPr>
        <p:grpSpPr>
          <a:xfrm>
            <a:off x="4187952" y="5158740"/>
            <a:ext cx="5260975" cy="1004569"/>
            <a:chOff x="4187952" y="5158740"/>
            <a:chExt cx="5260975" cy="1004569"/>
          </a:xfrm>
        </p:grpSpPr>
        <p:pic>
          <p:nvPicPr>
            <p:cNvPr id="74" name="object 73">
              <a:extLst>
                <a:ext uri="{FF2B5EF4-FFF2-40B4-BE49-F238E27FC236}">
                  <a16:creationId xmlns:a16="http://schemas.microsoft.com/office/drawing/2014/main" id="{9BFD8BBE-3504-9290-651D-EB6BE7D954E3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87952" y="5158740"/>
              <a:ext cx="310896" cy="896112"/>
            </a:xfrm>
            <a:prstGeom prst="rect">
              <a:avLst/>
            </a:prstGeom>
          </p:spPr>
        </p:pic>
        <p:sp>
          <p:nvSpPr>
            <p:cNvPr id="75" name="object 74">
              <a:extLst>
                <a:ext uri="{FF2B5EF4-FFF2-40B4-BE49-F238E27FC236}">
                  <a16:creationId xmlns:a16="http://schemas.microsoft.com/office/drawing/2014/main" id="{E97FF283-80F5-BD90-9BEE-4C289CCD1DE2}"/>
                </a:ext>
              </a:extLst>
            </p:cNvPr>
            <p:cNvSpPr/>
            <p:nvPr/>
          </p:nvSpPr>
          <p:spPr>
            <a:xfrm>
              <a:off x="4284472" y="5181600"/>
              <a:ext cx="118110" cy="697865"/>
            </a:xfrm>
            <a:custGeom>
              <a:avLst/>
              <a:gdLst/>
              <a:ahLst/>
              <a:cxnLst/>
              <a:rect l="l" t="t" r="r" b="b"/>
              <a:pathLst>
                <a:path w="118110" h="697864">
                  <a:moveTo>
                    <a:pt x="14097" y="581380"/>
                  </a:moveTo>
                  <a:lnTo>
                    <a:pt x="8127" y="584911"/>
                  </a:lnTo>
                  <a:lnTo>
                    <a:pt x="2031" y="588441"/>
                  </a:lnTo>
                  <a:lnTo>
                    <a:pt x="0" y="596226"/>
                  </a:lnTo>
                  <a:lnTo>
                    <a:pt x="3555" y="602284"/>
                  </a:lnTo>
                  <a:lnTo>
                    <a:pt x="58927" y="697280"/>
                  </a:lnTo>
                  <a:lnTo>
                    <a:pt x="73614" y="672084"/>
                  </a:lnTo>
                  <a:lnTo>
                    <a:pt x="46227" y="672084"/>
                  </a:lnTo>
                  <a:lnTo>
                    <a:pt x="46227" y="625188"/>
                  </a:lnTo>
                  <a:lnTo>
                    <a:pt x="25400" y="589483"/>
                  </a:lnTo>
                  <a:lnTo>
                    <a:pt x="21970" y="583425"/>
                  </a:lnTo>
                  <a:lnTo>
                    <a:pt x="14097" y="581380"/>
                  </a:lnTo>
                  <a:close/>
                </a:path>
                <a:path w="118110" h="697864">
                  <a:moveTo>
                    <a:pt x="46227" y="625188"/>
                  </a:moveTo>
                  <a:lnTo>
                    <a:pt x="46227" y="672084"/>
                  </a:lnTo>
                  <a:lnTo>
                    <a:pt x="71627" y="672084"/>
                  </a:lnTo>
                  <a:lnTo>
                    <a:pt x="71627" y="665683"/>
                  </a:lnTo>
                  <a:lnTo>
                    <a:pt x="48005" y="665683"/>
                  </a:lnTo>
                  <a:lnTo>
                    <a:pt x="58927" y="646959"/>
                  </a:lnTo>
                  <a:lnTo>
                    <a:pt x="46227" y="625188"/>
                  </a:lnTo>
                  <a:close/>
                </a:path>
                <a:path w="118110" h="697864">
                  <a:moveTo>
                    <a:pt x="103758" y="581380"/>
                  </a:moveTo>
                  <a:lnTo>
                    <a:pt x="95885" y="583425"/>
                  </a:lnTo>
                  <a:lnTo>
                    <a:pt x="92455" y="589483"/>
                  </a:lnTo>
                  <a:lnTo>
                    <a:pt x="71627" y="625188"/>
                  </a:lnTo>
                  <a:lnTo>
                    <a:pt x="71627" y="672084"/>
                  </a:lnTo>
                  <a:lnTo>
                    <a:pt x="73614" y="672084"/>
                  </a:lnTo>
                  <a:lnTo>
                    <a:pt x="114300" y="602284"/>
                  </a:lnTo>
                  <a:lnTo>
                    <a:pt x="117855" y="596226"/>
                  </a:lnTo>
                  <a:lnTo>
                    <a:pt x="115824" y="588441"/>
                  </a:lnTo>
                  <a:lnTo>
                    <a:pt x="109727" y="584911"/>
                  </a:lnTo>
                  <a:lnTo>
                    <a:pt x="103758" y="581380"/>
                  </a:lnTo>
                  <a:close/>
                </a:path>
                <a:path w="118110" h="697864">
                  <a:moveTo>
                    <a:pt x="58927" y="646959"/>
                  </a:moveTo>
                  <a:lnTo>
                    <a:pt x="48005" y="665683"/>
                  </a:lnTo>
                  <a:lnTo>
                    <a:pt x="69850" y="665683"/>
                  </a:lnTo>
                  <a:lnTo>
                    <a:pt x="58927" y="646959"/>
                  </a:lnTo>
                  <a:close/>
                </a:path>
                <a:path w="118110" h="697864">
                  <a:moveTo>
                    <a:pt x="71627" y="625188"/>
                  </a:moveTo>
                  <a:lnTo>
                    <a:pt x="58927" y="646959"/>
                  </a:lnTo>
                  <a:lnTo>
                    <a:pt x="69850" y="665683"/>
                  </a:lnTo>
                  <a:lnTo>
                    <a:pt x="71627" y="665683"/>
                  </a:lnTo>
                  <a:lnTo>
                    <a:pt x="71627" y="625188"/>
                  </a:lnTo>
                  <a:close/>
                </a:path>
                <a:path w="118110" h="697864">
                  <a:moveTo>
                    <a:pt x="71627" y="0"/>
                  </a:moveTo>
                  <a:lnTo>
                    <a:pt x="46227" y="0"/>
                  </a:lnTo>
                  <a:lnTo>
                    <a:pt x="46227" y="625188"/>
                  </a:lnTo>
                  <a:lnTo>
                    <a:pt x="58927" y="646959"/>
                  </a:lnTo>
                  <a:lnTo>
                    <a:pt x="71627" y="6251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5">
              <a:extLst>
                <a:ext uri="{FF2B5EF4-FFF2-40B4-BE49-F238E27FC236}">
                  <a16:creationId xmlns:a16="http://schemas.microsoft.com/office/drawing/2014/main" id="{9A264FEB-136E-184E-3545-56C5A797CECD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26552" y="5852160"/>
              <a:ext cx="1222248" cy="310896"/>
            </a:xfrm>
            <a:prstGeom prst="rect">
              <a:avLst/>
            </a:prstGeom>
          </p:spPr>
        </p:pic>
        <p:sp>
          <p:nvSpPr>
            <p:cNvPr id="77" name="object 76">
              <a:extLst>
                <a:ext uri="{FF2B5EF4-FFF2-40B4-BE49-F238E27FC236}">
                  <a16:creationId xmlns:a16="http://schemas.microsoft.com/office/drawing/2014/main" id="{2C9E0886-C4F7-DD36-EB97-E23221CDBEA7}"/>
                </a:ext>
              </a:extLst>
            </p:cNvPr>
            <p:cNvSpPr/>
            <p:nvPr/>
          </p:nvSpPr>
          <p:spPr>
            <a:xfrm>
              <a:off x="8382000" y="5928461"/>
              <a:ext cx="911225" cy="118110"/>
            </a:xfrm>
            <a:custGeom>
              <a:avLst/>
              <a:gdLst/>
              <a:ahLst/>
              <a:cxnLst/>
              <a:rect l="l" t="t" r="r" b="b"/>
              <a:pathLst>
                <a:path w="911225" h="118110">
                  <a:moveTo>
                    <a:pt x="100965" y="0"/>
                  </a:moveTo>
                  <a:lnTo>
                    <a:pt x="0" y="58953"/>
                  </a:lnTo>
                  <a:lnTo>
                    <a:pt x="100965" y="117906"/>
                  </a:lnTo>
                  <a:lnTo>
                    <a:pt x="108839" y="115862"/>
                  </a:lnTo>
                  <a:lnTo>
                    <a:pt x="112268" y="109804"/>
                  </a:lnTo>
                  <a:lnTo>
                    <a:pt x="115824" y="103746"/>
                  </a:lnTo>
                  <a:lnTo>
                    <a:pt x="113792" y="95961"/>
                  </a:lnTo>
                  <a:lnTo>
                    <a:pt x="72077" y="71653"/>
                  </a:lnTo>
                  <a:lnTo>
                    <a:pt x="25146" y="71653"/>
                  </a:lnTo>
                  <a:lnTo>
                    <a:pt x="25146" y="46253"/>
                  </a:lnTo>
                  <a:lnTo>
                    <a:pt x="72088" y="46253"/>
                  </a:lnTo>
                  <a:lnTo>
                    <a:pt x="113792" y="21932"/>
                  </a:lnTo>
                  <a:lnTo>
                    <a:pt x="115824" y="14160"/>
                  </a:lnTo>
                  <a:lnTo>
                    <a:pt x="112268" y="8102"/>
                  </a:lnTo>
                  <a:lnTo>
                    <a:pt x="108839" y="2044"/>
                  </a:lnTo>
                  <a:lnTo>
                    <a:pt x="100965" y="0"/>
                  </a:lnTo>
                  <a:close/>
                </a:path>
                <a:path w="911225" h="118110">
                  <a:moveTo>
                    <a:pt x="860537" y="58953"/>
                  </a:moveTo>
                  <a:lnTo>
                    <a:pt x="797178" y="95961"/>
                  </a:lnTo>
                  <a:lnTo>
                    <a:pt x="795147" y="103746"/>
                  </a:lnTo>
                  <a:lnTo>
                    <a:pt x="798576" y="109804"/>
                  </a:lnTo>
                  <a:lnTo>
                    <a:pt x="802131" y="115862"/>
                  </a:lnTo>
                  <a:lnTo>
                    <a:pt x="810005" y="117906"/>
                  </a:lnTo>
                  <a:lnTo>
                    <a:pt x="889202" y="71653"/>
                  </a:lnTo>
                  <a:lnTo>
                    <a:pt x="885825" y="71653"/>
                  </a:lnTo>
                  <a:lnTo>
                    <a:pt x="885825" y="69926"/>
                  </a:lnTo>
                  <a:lnTo>
                    <a:pt x="879348" y="69926"/>
                  </a:lnTo>
                  <a:lnTo>
                    <a:pt x="860537" y="58953"/>
                  </a:lnTo>
                  <a:close/>
                </a:path>
                <a:path w="911225" h="118110">
                  <a:moveTo>
                    <a:pt x="72088" y="46253"/>
                  </a:moveTo>
                  <a:lnTo>
                    <a:pt x="25146" y="46253"/>
                  </a:lnTo>
                  <a:lnTo>
                    <a:pt x="25146" y="71653"/>
                  </a:lnTo>
                  <a:lnTo>
                    <a:pt x="72077" y="71653"/>
                  </a:lnTo>
                  <a:lnTo>
                    <a:pt x="69117" y="69926"/>
                  </a:lnTo>
                  <a:lnTo>
                    <a:pt x="31496" y="69926"/>
                  </a:lnTo>
                  <a:lnTo>
                    <a:pt x="31496" y="47980"/>
                  </a:lnTo>
                  <a:lnTo>
                    <a:pt x="69126" y="47980"/>
                  </a:lnTo>
                  <a:lnTo>
                    <a:pt x="72088" y="46253"/>
                  </a:lnTo>
                  <a:close/>
                </a:path>
                <a:path w="911225" h="118110">
                  <a:moveTo>
                    <a:pt x="838766" y="46253"/>
                  </a:moveTo>
                  <a:lnTo>
                    <a:pt x="72088" y="46253"/>
                  </a:lnTo>
                  <a:lnTo>
                    <a:pt x="50309" y="58954"/>
                  </a:lnTo>
                  <a:lnTo>
                    <a:pt x="72077" y="71653"/>
                  </a:lnTo>
                  <a:lnTo>
                    <a:pt x="838766" y="71653"/>
                  </a:lnTo>
                  <a:lnTo>
                    <a:pt x="860537" y="58953"/>
                  </a:lnTo>
                  <a:lnTo>
                    <a:pt x="838766" y="46253"/>
                  </a:lnTo>
                  <a:close/>
                </a:path>
                <a:path w="911225" h="118110">
                  <a:moveTo>
                    <a:pt x="889202" y="46253"/>
                  </a:moveTo>
                  <a:lnTo>
                    <a:pt x="885825" y="46253"/>
                  </a:lnTo>
                  <a:lnTo>
                    <a:pt x="885825" y="71653"/>
                  </a:lnTo>
                  <a:lnTo>
                    <a:pt x="889202" y="71653"/>
                  </a:lnTo>
                  <a:lnTo>
                    <a:pt x="910971" y="58953"/>
                  </a:lnTo>
                  <a:lnTo>
                    <a:pt x="889202" y="46253"/>
                  </a:lnTo>
                  <a:close/>
                </a:path>
                <a:path w="911225" h="118110">
                  <a:moveTo>
                    <a:pt x="31496" y="47980"/>
                  </a:moveTo>
                  <a:lnTo>
                    <a:pt x="31496" y="69926"/>
                  </a:lnTo>
                  <a:lnTo>
                    <a:pt x="50309" y="58954"/>
                  </a:lnTo>
                  <a:lnTo>
                    <a:pt x="31496" y="47980"/>
                  </a:lnTo>
                  <a:close/>
                </a:path>
                <a:path w="911225" h="118110">
                  <a:moveTo>
                    <a:pt x="50309" y="58954"/>
                  </a:moveTo>
                  <a:lnTo>
                    <a:pt x="31496" y="69926"/>
                  </a:lnTo>
                  <a:lnTo>
                    <a:pt x="69117" y="69926"/>
                  </a:lnTo>
                  <a:lnTo>
                    <a:pt x="50309" y="58954"/>
                  </a:lnTo>
                  <a:close/>
                </a:path>
                <a:path w="911225" h="118110">
                  <a:moveTo>
                    <a:pt x="879348" y="47980"/>
                  </a:moveTo>
                  <a:lnTo>
                    <a:pt x="860537" y="58953"/>
                  </a:lnTo>
                  <a:lnTo>
                    <a:pt x="879348" y="69926"/>
                  </a:lnTo>
                  <a:lnTo>
                    <a:pt x="879348" y="47980"/>
                  </a:lnTo>
                  <a:close/>
                </a:path>
                <a:path w="911225" h="118110">
                  <a:moveTo>
                    <a:pt x="885825" y="47980"/>
                  </a:moveTo>
                  <a:lnTo>
                    <a:pt x="879348" y="47980"/>
                  </a:lnTo>
                  <a:lnTo>
                    <a:pt x="879348" y="69926"/>
                  </a:lnTo>
                  <a:lnTo>
                    <a:pt x="885825" y="69926"/>
                  </a:lnTo>
                  <a:lnTo>
                    <a:pt x="885825" y="47980"/>
                  </a:lnTo>
                  <a:close/>
                </a:path>
                <a:path w="911225" h="118110">
                  <a:moveTo>
                    <a:pt x="69126" y="47980"/>
                  </a:moveTo>
                  <a:lnTo>
                    <a:pt x="31496" y="47980"/>
                  </a:lnTo>
                  <a:lnTo>
                    <a:pt x="50311" y="58953"/>
                  </a:lnTo>
                  <a:lnTo>
                    <a:pt x="69126" y="47980"/>
                  </a:lnTo>
                  <a:close/>
                </a:path>
                <a:path w="911225" h="118110">
                  <a:moveTo>
                    <a:pt x="810005" y="0"/>
                  </a:moveTo>
                  <a:lnTo>
                    <a:pt x="802131" y="2044"/>
                  </a:lnTo>
                  <a:lnTo>
                    <a:pt x="798576" y="8102"/>
                  </a:lnTo>
                  <a:lnTo>
                    <a:pt x="795147" y="14160"/>
                  </a:lnTo>
                  <a:lnTo>
                    <a:pt x="797178" y="21932"/>
                  </a:lnTo>
                  <a:lnTo>
                    <a:pt x="803148" y="25476"/>
                  </a:lnTo>
                  <a:lnTo>
                    <a:pt x="860537" y="58953"/>
                  </a:lnTo>
                  <a:lnTo>
                    <a:pt x="879348" y="47980"/>
                  </a:lnTo>
                  <a:lnTo>
                    <a:pt x="885825" y="47980"/>
                  </a:lnTo>
                  <a:lnTo>
                    <a:pt x="885825" y="46253"/>
                  </a:lnTo>
                  <a:lnTo>
                    <a:pt x="889202" y="46253"/>
                  </a:lnTo>
                  <a:lnTo>
                    <a:pt x="810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5632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4EA0-0F1C-6DA7-D0AF-410C3618C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all real?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FE879-6FD6-BD1D-7755-7E5641F46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linkClick r:id="rId2"/>
              </a:rPr>
              <a:t>https://chipsandcheese.com/p/hot-chips-2023-arms-neoverse-v2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C999E-0992-0206-A536-562D689F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CAC9E-9097-EBBD-B5F8-0C83077B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568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9DCC-6DDB-BAD9-8509-941734A5A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it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28A1D-F3F9-4A38-D52A-945BE217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4D4E0-4D8D-FB21-43E1-00C55996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F70CC7-D4A7-5119-3E27-9DD7933BA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89" y="1316410"/>
            <a:ext cx="9241110" cy="517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068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4E3B5B9-EAD6-4EBC-A4EB-FAF1FD57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6ADCC-8D31-3789-A204-2741BA55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" y="1183759"/>
            <a:ext cx="4932117" cy="2347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/>
              <a:t>State-of-the-art  prefetchers </a:t>
            </a:r>
            <a:br>
              <a:rPr lang="en-US" sz="3200" dirty="0"/>
            </a:br>
            <a:r>
              <a:rPr lang="en-US" sz="3200" dirty="0"/>
              <a:t>[ISCA 20, MICRO 22, </a:t>
            </a:r>
            <a:br>
              <a:rPr lang="en-US" sz="3200" dirty="0"/>
            </a:br>
            <a:r>
              <a:rPr lang="en-US" sz="3200" dirty="0"/>
              <a:t>MICRO 23, MICRO 24]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and IITB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76E0C7-D588-440B-8F4A-876392DB7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43658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D859EF-0C2A-487B-A0C6-A8276E48D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5" y="0"/>
            <a:ext cx="5040655" cy="6043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8DAEEC-DF4E-4F27-9670-DC11E882C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8698" y="0"/>
            <a:ext cx="7083302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9214A3-E6C4-4D87-594A-B6EC29D8A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620" y="290104"/>
            <a:ext cx="4513379" cy="14442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10D298-895D-AF53-8877-EBDF511C3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524" y="1837843"/>
            <a:ext cx="5672476" cy="1375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7DE4D9-0BFA-251B-4F6F-E38101B5A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524" y="3478859"/>
            <a:ext cx="5672476" cy="11203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E38930-2905-D461-5D81-4FD7750B0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524" y="4999333"/>
            <a:ext cx="5672476" cy="110613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07E0B-7D42-4CD9-2673-039F4C76C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7A816-99C4-FFF9-BB5F-B09B4181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B19A81-C621-40A1-87E0-015F982C4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797570"/>
            <a:ext cx="5040655" cy="6043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8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85C1-BDA5-0943-E5E9-3613BF1B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Topic-2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1F928-D7BF-299E-E4B0-E530FB788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Pushing the limits of hardware prefetchers </a:t>
            </a:r>
          </a:p>
          <a:p>
            <a:endParaRPr lang="en-US" dirty="0"/>
          </a:p>
          <a:p>
            <a:r>
              <a:rPr lang="en-US" dirty="0"/>
              <a:t>Application specific hardware prefetchers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5AE40-8EE9-A961-3110-5431A6DE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D5074-869C-AACF-A7A8-4D3ADF76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069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E38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ADF8C-3F18-29F7-4B17-EF4DEF424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Single-thread performance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A7D31FF-7D8D-A569-C54E-AD4B62410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227" y="961812"/>
            <a:ext cx="7094944" cy="49309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5D81-C203-4363-818A-D50FCD78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6613" y="6356350"/>
            <a:ext cx="703217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28776-E9C4-F687-0A5A-75AFD947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z="1200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978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19EC-7C81-C19F-C74E-351E481C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Micro ideas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52DD9-1C33-010B-0B66-5496EA57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Pipelined cache: Tag, indexing, data transfer (3 stage pipeline) </a:t>
            </a:r>
          </a:p>
          <a:p>
            <a:endParaRPr lang="en-US" dirty="0"/>
          </a:p>
          <a:p>
            <a:r>
              <a:rPr lang="en-US" dirty="0"/>
              <a:t>Banked cache: Discussed before, improves bandwidth without compromising latency. Yes indexing will now have bank bits. </a:t>
            </a:r>
          </a:p>
          <a:p>
            <a:endParaRPr lang="en-US" dirty="0"/>
          </a:p>
          <a:p>
            <a:r>
              <a:rPr lang="en-US" dirty="0"/>
              <a:t>Skewed Cache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B4488-9137-02C6-2321-1490FA3FE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88DDF-39FC-7B6A-D538-CFBE5076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464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67B-322A-3487-415E-ABEC5FCD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Skewed Cache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8380D-EBD3-39AE-4B65-85EC00AE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200F4-0229-BA4B-7002-09BECE4A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BC610C-EA83-2F51-DC43-737BCB7B2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124200"/>
            <a:ext cx="1066800" cy="129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DEEA67-F9A6-C150-0055-21AE3951B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124200"/>
            <a:ext cx="1066800" cy="1295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A0E9E2-CAA9-12B8-1E86-09057FA34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657600"/>
            <a:ext cx="1066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95FC15-D325-6FF2-FC3F-D9FEB0C1D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1066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2470AA-2807-9A5C-8C12-8CD8D8195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657600"/>
            <a:ext cx="3810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AEB43E-93CF-C247-E6CE-624400248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962400"/>
            <a:ext cx="3810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BFCCCA-A479-31F4-277C-08782CE2C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438400"/>
            <a:ext cx="2209800" cy="304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400" i="0">
                <a:latin typeface="Arial" charset="0"/>
              </a:rPr>
              <a:t>Address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FCD24A9-8172-B6FD-0F01-FAF13E5DC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505200"/>
            <a:ext cx="5334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200" i="0">
                <a:latin typeface="Arial" charset="0"/>
              </a:rPr>
              <a:t>Hash0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377A20B-096C-84DC-52E3-73F00936C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810000"/>
            <a:ext cx="5334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i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200" i="0">
                <a:latin typeface="Arial" charset="0"/>
              </a:rPr>
              <a:t>Hash1</a:t>
            </a:r>
          </a:p>
        </p:txBody>
      </p: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E7246966-D283-FFA4-533F-266278964E7F}"/>
              </a:ext>
            </a:extLst>
          </p:cNvPr>
          <p:cNvCxnSpPr>
            <a:cxnSpLocks noChangeShapeType="1"/>
            <a:stCxn id="25" idx="2"/>
            <a:endCxn id="26" idx="0"/>
          </p:cNvCxnSpPr>
          <p:nvPr/>
        </p:nvCxnSpPr>
        <p:spPr bwMode="auto">
          <a:xfrm rot="5400000">
            <a:off x="5295900" y="3124200"/>
            <a:ext cx="7620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8">
            <a:extLst>
              <a:ext uri="{FF2B5EF4-FFF2-40B4-BE49-F238E27FC236}">
                <a16:creationId xmlns:a16="http://schemas.microsoft.com/office/drawing/2014/main" id="{F6ABBDF3-9164-8D6A-CCBB-AD186F06EFDD}"/>
              </a:ext>
            </a:extLst>
          </p:cNvPr>
          <p:cNvCxnSpPr>
            <a:cxnSpLocks noChangeShapeType="1"/>
            <a:stCxn id="26" idx="2"/>
            <a:endCxn id="21" idx="3"/>
          </p:cNvCxnSpPr>
          <p:nvPr/>
        </p:nvCxnSpPr>
        <p:spPr bwMode="auto">
          <a:xfrm rot="10800000">
            <a:off x="5181600" y="3733800"/>
            <a:ext cx="228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19">
            <a:extLst>
              <a:ext uri="{FF2B5EF4-FFF2-40B4-BE49-F238E27FC236}">
                <a16:creationId xmlns:a16="http://schemas.microsoft.com/office/drawing/2014/main" id="{EA619AAD-4F1F-669A-D946-AF3FAEE24CBA}"/>
              </a:ext>
            </a:extLst>
          </p:cNvPr>
          <p:cNvCxnSpPr>
            <a:cxnSpLocks noChangeShapeType="1"/>
            <a:stCxn id="25" idx="2"/>
            <a:endCxn id="27" idx="0"/>
          </p:cNvCxnSpPr>
          <p:nvPr/>
        </p:nvCxnSpPr>
        <p:spPr bwMode="auto">
          <a:xfrm rot="16200000" flipH="1">
            <a:off x="5600700" y="2819400"/>
            <a:ext cx="1066800" cy="9144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0">
            <a:extLst>
              <a:ext uri="{FF2B5EF4-FFF2-40B4-BE49-F238E27FC236}">
                <a16:creationId xmlns:a16="http://schemas.microsoft.com/office/drawing/2014/main" id="{1F2D328F-9568-33B5-175A-2755282B0555}"/>
              </a:ext>
            </a:extLst>
          </p:cNvPr>
          <p:cNvCxnSpPr>
            <a:cxnSpLocks noChangeShapeType="1"/>
            <a:stCxn id="27" idx="6"/>
            <a:endCxn id="24" idx="1"/>
          </p:cNvCxnSpPr>
          <p:nvPr/>
        </p:nvCxnSpPr>
        <p:spPr bwMode="auto">
          <a:xfrm>
            <a:off x="6858000" y="4038600"/>
            <a:ext cx="1524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50CB2E5-54AB-DBC1-C187-0FAFEC4CA218}"/>
              </a:ext>
            </a:extLst>
          </p:cNvPr>
          <p:cNvSpPr txBox="1"/>
          <p:nvPr/>
        </p:nvSpPr>
        <p:spPr>
          <a:xfrm>
            <a:off x="1789611" y="5251269"/>
            <a:ext cx="6716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Different hash functions for different banks. 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11678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44A0-9457-453D-021F-2B8ECCE1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and Death in Cache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02E8B-1270-DCA9-A3D7-43336185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41C63-B727-791A-2B97-A9CFAF21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129B6A-9B75-1DD6-2975-3DE00991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9242"/>
            <a:ext cx="9827081" cy="19197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1CB271-DB16-429E-A1BF-E6B337ACEF53}"/>
              </a:ext>
            </a:extLst>
          </p:cNvPr>
          <p:cNvSpPr txBox="1"/>
          <p:nvPr/>
        </p:nvSpPr>
        <p:spPr>
          <a:xfrm>
            <a:off x="1766751" y="3824292"/>
            <a:ext cx="82785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ArialMT"/>
              </a:rPr>
              <a:t>Live blocks: referenced again before eviction</a:t>
            </a:r>
          </a:p>
          <a:p>
            <a:pPr algn="l"/>
            <a:endParaRPr lang="en-US" sz="2400" b="0" i="0" u="none" strike="noStrike" baseline="0" dirty="0">
              <a:latin typeface="ArialMT"/>
            </a:endParaRPr>
          </a:p>
          <a:p>
            <a:pPr algn="l"/>
            <a:r>
              <a:rPr lang="en-US" sz="2400" b="0" i="0" u="none" strike="noStrike" baseline="0" dirty="0">
                <a:latin typeface="ArialMT"/>
              </a:rPr>
              <a:t>Dead blocks: not referenced before eviction</a:t>
            </a:r>
          </a:p>
          <a:p>
            <a:pPr algn="l"/>
            <a:endParaRPr lang="en-US" sz="2400" dirty="0">
              <a:latin typeface="ArialMT"/>
            </a:endParaRPr>
          </a:p>
          <a:p>
            <a:pPr algn="l"/>
            <a:r>
              <a:rPr lang="en-US" sz="2400" dirty="0">
                <a:latin typeface="ArialMT"/>
              </a:rPr>
              <a:t>On average, 80% of the cache blocks are dead.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37900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C0D9-5BE1-A5BC-B37A-E0408529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Dead-block predictors in town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A3584-8C6E-4F1E-4202-082627026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 decisions again </a:t>
            </a:r>
          </a:p>
          <a:p>
            <a:pPr marL="0" indent="0">
              <a:buNone/>
            </a:pPr>
            <a:r>
              <a:rPr lang="en-US" dirty="0"/>
              <a:t>PC-based </a:t>
            </a:r>
          </a:p>
          <a:p>
            <a:pPr marL="0" indent="0">
              <a:buNone/>
            </a:pPr>
            <a:r>
              <a:rPr lang="en-US" dirty="0"/>
              <a:t>Region-based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a PC always brings deadlines, then can we bypass the cache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Why not?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37546-C252-7ECB-5942-B8A5BCC7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66207-960B-2174-A74A-7CB8E756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660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6A2C-155A-E8E3-5E49-5150BF31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else? Every Cycle Matters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0329E-85CC-2E45-88C1-E0F67AD4B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Off-chip predictors [Extremely new idea in town]</a:t>
            </a:r>
          </a:p>
          <a:p>
            <a:endParaRPr lang="en-US" dirty="0"/>
          </a:p>
          <a:p>
            <a:r>
              <a:rPr lang="en-US" dirty="0"/>
              <a:t>Still in a baby academic research stage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Predict which loads will go to DRAM always, and directly go to DRAM </a:t>
            </a:r>
            <a:r>
              <a:rPr lang="en-US" dirty="0">
                <a:sym typeface="Wingdings" panose="05000000000000000000" pitchFamily="2" charset="2"/>
              </a:rPr>
              <a:t> hides cache access latency 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34C6B-6901-4BD3-298F-5D455606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FE6B8-AC98-5E80-0860-33F2876C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557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50185</TotalTime>
  <Words>479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ArialMT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CS683: Advanced Computer Architecture-2025</vt:lpstr>
      <vt:lpstr>Phones (smart/non-smart) on silence plz, Thanks </vt:lpstr>
      <vt:lpstr>Quantifying prefetchers</vt:lpstr>
      <vt:lpstr>Can Prefetching heuristics help cache management too? </vt:lpstr>
      <vt:lpstr>Cache Hierarchy with prefetcher and prefetch Q</vt:lpstr>
      <vt:lpstr>Is this all real? </vt:lpstr>
      <vt:lpstr>This is it </vt:lpstr>
      <vt:lpstr>State-of-the-art  prefetchers  [ISCA 20, MICRO 22,  MICRO 23, MICRO 24]  and IITB</vt:lpstr>
      <vt:lpstr>Project Topic-2</vt:lpstr>
      <vt:lpstr>Single-thread performance</vt:lpstr>
      <vt:lpstr>Some more Micro ideas</vt:lpstr>
      <vt:lpstr>Skewed Cache</vt:lpstr>
      <vt:lpstr>Life and Death in Cache  </vt:lpstr>
      <vt:lpstr>Dead-block predictors in town</vt:lpstr>
      <vt:lpstr>What else? Every Cycle Matters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985</cp:revision>
  <dcterms:created xsi:type="dcterms:W3CDTF">2021-05-31T06:57:48Z</dcterms:created>
  <dcterms:modified xsi:type="dcterms:W3CDTF">2025-09-02T10:15:54Z</dcterms:modified>
</cp:coreProperties>
</file>