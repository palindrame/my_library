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media/image14.jpg" ContentType="image/jpeg"/>
  <Override PartName="/ppt/media/image20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1276" r:id="rId3"/>
    <p:sldId id="1277" r:id="rId4"/>
    <p:sldId id="1278" r:id="rId5"/>
    <p:sldId id="1279" r:id="rId6"/>
    <p:sldId id="1280" r:id="rId7"/>
    <p:sldId id="1281" r:id="rId8"/>
    <p:sldId id="1282" r:id="rId9"/>
    <p:sldId id="1284" r:id="rId10"/>
    <p:sldId id="1285" r:id="rId11"/>
    <p:sldId id="1286" r:id="rId12"/>
    <p:sldId id="1288" r:id="rId13"/>
    <p:sldId id="1094" r:id="rId14"/>
    <p:sldId id="1091" r:id="rId15"/>
    <p:sldId id="1354" r:id="rId16"/>
    <p:sldId id="1294" r:id="rId17"/>
    <p:sldId id="1295" r:id="rId18"/>
    <p:sldId id="996" r:id="rId19"/>
    <p:sldId id="997" r:id="rId20"/>
    <p:sldId id="998" r:id="rId21"/>
    <p:sldId id="1002" r:id="rId22"/>
    <p:sldId id="1003" r:id="rId23"/>
    <p:sldId id="1001" r:id="rId24"/>
    <p:sldId id="999" r:id="rId25"/>
    <p:sldId id="1004" r:id="rId26"/>
    <p:sldId id="1343" r:id="rId27"/>
    <p:sldId id="1346" r:id="rId28"/>
    <p:sldId id="1005" r:id="rId29"/>
    <p:sldId id="1356" r:id="rId30"/>
    <p:sldId id="1357" r:id="rId31"/>
    <p:sldId id="1358" r:id="rId32"/>
    <p:sldId id="1359" r:id="rId33"/>
    <p:sldId id="1360" r:id="rId34"/>
    <p:sldId id="129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CS305: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15600" y="58282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rgbClr val="B22222"/>
                </a:solidFill>
              </a:defRPr>
            </a:lvl1pPr>
            <a:lvl2pPr lvl="1" algn="r">
              <a:buNone/>
              <a:defRPr sz="2400">
                <a:solidFill>
                  <a:srgbClr val="B22222"/>
                </a:solidFill>
              </a:defRPr>
            </a:lvl2pPr>
            <a:lvl3pPr lvl="2" algn="r">
              <a:buNone/>
              <a:defRPr sz="2400">
                <a:solidFill>
                  <a:srgbClr val="B22222"/>
                </a:solidFill>
              </a:defRPr>
            </a:lvl3pPr>
            <a:lvl4pPr lvl="3" algn="r">
              <a:buNone/>
              <a:defRPr sz="2400">
                <a:solidFill>
                  <a:srgbClr val="B22222"/>
                </a:solidFill>
              </a:defRPr>
            </a:lvl4pPr>
            <a:lvl5pPr lvl="4" algn="r">
              <a:buNone/>
              <a:defRPr sz="2400">
                <a:solidFill>
                  <a:srgbClr val="B22222"/>
                </a:solidFill>
              </a:defRPr>
            </a:lvl5pPr>
            <a:lvl6pPr lvl="5" algn="r">
              <a:buNone/>
              <a:defRPr sz="2400">
                <a:solidFill>
                  <a:srgbClr val="B22222"/>
                </a:solidFill>
              </a:defRPr>
            </a:lvl6pPr>
            <a:lvl7pPr lvl="6" algn="r">
              <a:buNone/>
              <a:defRPr sz="2400">
                <a:solidFill>
                  <a:srgbClr val="B22222"/>
                </a:solidFill>
              </a:defRPr>
            </a:lvl7pPr>
            <a:lvl8pPr lvl="7" algn="r">
              <a:buNone/>
              <a:defRPr sz="2400">
                <a:solidFill>
                  <a:srgbClr val="B22222"/>
                </a:solidFill>
              </a:defRPr>
            </a:lvl8pPr>
            <a:lvl9pPr lvl="8" algn="r">
              <a:buNone/>
              <a:defRPr sz="2400">
                <a:solidFill>
                  <a:srgbClr val="B2222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511048" y="1464833"/>
            <a:ext cx="11459600" cy="1600"/>
          </a:xfrm>
          <a:prstGeom prst="straightConnector1">
            <a:avLst/>
          </a:prstGeom>
          <a:noFill/>
          <a:ln w="19050" cap="flat" cmpd="sng">
            <a:solidFill>
              <a:srgbClr val="B2222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5679767" y="6306767"/>
            <a:ext cx="48368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0925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CS683: Advanced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The last lecture: 10K feet view on architecture security</a:t>
            </a: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leakage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</a:t>
            </a:fld>
            <a:endParaRPr lang="en-IN" dirty="0"/>
          </a:p>
        </p:txBody>
      </p:sp>
      <p:grpSp>
        <p:nvGrpSpPr>
          <p:cNvPr id="20" name="object 2">
            <a:extLst>
              <a:ext uri="{FF2B5EF4-FFF2-40B4-BE49-F238E27FC236}">
                <a16:creationId xmlns:a16="http://schemas.microsoft.com/office/drawing/2014/main" id="{A40F71DE-0FB9-3821-14B6-C43E5EA02350}"/>
              </a:ext>
            </a:extLst>
          </p:cNvPr>
          <p:cNvGrpSpPr/>
          <p:nvPr/>
        </p:nvGrpSpPr>
        <p:grpSpPr>
          <a:xfrm>
            <a:off x="359663" y="1489455"/>
            <a:ext cx="10920307" cy="5110480"/>
            <a:chOff x="269747" y="1117091"/>
            <a:chExt cx="8190230" cy="3832860"/>
          </a:xfrm>
        </p:grpSpPr>
        <p:sp>
          <p:nvSpPr>
            <p:cNvPr id="21" name="object 3">
              <a:extLst>
                <a:ext uri="{FF2B5EF4-FFF2-40B4-BE49-F238E27FC236}">
                  <a16:creationId xmlns:a16="http://schemas.microsoft.com/office/drawing/2014/main" id="{26B6DC7C-A557-F641-A452-9D80A68DDAE9}"/>
                </a:ext>
              </a:extLst>
            </p:cNvPr>
            <p:cNvSpPr/>
            <p:nvPr/>
          </p:nvSpPr>
          <p:spPr>
            <a:xfrm>
              <a:off x="274319" y="1121663"/>
              <a:ext cx="8181340" cy="3823970"/>
            </a:xfrm>
            <a:custGeom>
              <a:avLst/>
              <a:gdLst/>
              <a:ahLst/>
              <a:cxnLst/>
              <a:rect l="l" t="t" r="r" b="b"/>
              <a:pathLst>
                <a:path w="8181340" h="3823970">
                  <a:moveTo>
                    <a:pt x="4090416" y="0"/>
                  </a:moveTo>
                  <a:lnTo>
                    <a:pt x="4025988" y="232"/>
                  </a:lnTo>
                  <a:lnTo>
                    <a:pt x="3961801" y="927"/>
                  </a:lnTo>
                  <a:lnTo>
                    <a:pt x="3897861" y="2080"/>
                  </a:lnTo>
                  <a:lnTo>
                    <a:pt x="3834175" y="3690"/>
                  </a:lnTo>
                  <a:lnTo>
                    <a:pt x="3770752" y="5752"/>
                  </a:lnTo>
                  <a:lnTo>
                    <a:pt x="3707597" y="8262"/>
                  </a:lnTo>
                  <a:lnTo>
                    <a:pt x="3644719" y="11218"/>
                  </a:lnTo>
                  <a:lnTo>
                    <a:pt x="3582125" y="14616"/>
                  </a:lnTo>
                  <a:lnTo>
                    <a:pt x="3519822" y="18453"/>
                  </a:lnTo>
                  <a:lnTo>
                    <a:pt x="3457817" y="22725"/>
                  </a:lnTo>
                  <a:lnTo>
                    <a:pt x="3396117" y="27428"/>
                  </a:lnTo>
                  <a:lnTo>
                    <a:pt x="3334731" y="32561"/>
                  </a:lnTo>
                  <a:lnTo>
                    <a:pt x="3273664" y="38118"/>
                  </a:lnTo>
                  <a:lnTo>
                    <a:pt x="3212925" y="44097"/>
                  </a:lnTo>
                  <a:lnTo>
                    <a:pt x="3152520" y="50494"/>
                  </a:lnTo>
                  <a:lnTo>
                    <a:pt x="3092457" y="57306"/>
                  </a:lnTo>
                  <a:lnTo>
                    <a:pt x="3032744" y="64529"/>
                  </a:lnTo>
                  <a:lnTo>
                    <a:pt x="2973387" y="72160"/>
                  </a:lnTo>
                  <a:lnTo>
                    <a:pt x="2914393" y="80196"/>
                  </a:lnTo>
                  <a:lnTo>
                    <a:pt x="2855771" y="88633"/>
                  </a:lnTo>
                  <a:lnTo>
                    <a:pt x="2797527" y="97468"/>
                  </a:lnTo>
                  <a:lnTo>
                    <a:pt x="2739669" y="106698"/>
                  </a:lnTo>
                  <a:lnTo>
                    <a:pt x="2682203" y="116318"/>
                  </a:lnTo>
                  <a:lnTo>
                    <a:pt x="2625137" y="126327"/>
                  </a:lnTo>
                  <a:lnTo>
                    <a:pt x="2568479" y="136719"/>
                  </a:lnTo>
                  <a:lnTo>
                    <a:pt x="2512236" y="147492"/>
                  </a:lnTo>
                  <a:lnTo>
                    <a:pt x="2456414" y="158643"/>
                  </a:lnTo>
                  <a:lnTo>
                    <a:pt x="2401022" y="170167"/>
                  </a:lnTo>
                  <a:lnTo>
                    <a:pt x="2346066" y="182063"/>
                  </a:lnTo>
                  <a:lnTo>
                    <a:pt x="2291553" y="194325"/>
                  </a:lnTo>
                  <a:lnTo>
                    <a:pt x="2237492" y="206951"/>
                  </a:lnTo>
                  <a:lnTo>
                    <a:pt x="2183889" y="219938"/>
                  </a:lnTo>
                  <a:lnTo>
                    <a:pt x="2130752" y="233282"/>
                  </a:lnTo>
                  <a:lnTo>
                    <a:pt x="2078088" y="246979"/>
                  </a:lnTo>
                  <a:lnTo>
                    <a:pt x="2025904" y="261027"/>
                  </a:lnTo>
                  <a:lnTo>
                    <a:pt x="1974207" y="275421"/>
                  </a:lnTo>
                  <a:lnTo>
                    <a:pt x="1923004" y="290159"/>
                  </a:lnTo>
                  <a:lnTo>
                    <a:pt x="1872304" y="305237"/>
                  </a:lnTo>
                  <a:lnTo>
                    <a:pt x="1822113" y="320651"/>
                  </a:lnTo>
                  <a:lnTo>
                    <a:pt x="1772439" y="336399"/>
                  </a:lnTo>
                  <a:lnTo>
                    <a:pt x="1723288" y="352477"/>
                  </a:lnTo>
                  <a:lnTo>
                    <a:pt x="1674668" y="368881"/>
                  </a:lnTo>
                  <a:lnTo>
                    <a:pt x="1626587" y="385608"/>
                  </a:lnTo>
                  <a:lnTo>
                    <a:pt x="1579051" y="402654"/>
                  </a:lnTo>
                  <a:lnTo>
                    <a:pt x="1532068" y="420017"/>
                  </a:lnTo>
                  <a:lnTo>
                    <a:pt x="1485646" y="437693"/>
                  </a:lnTo>
                  <a:lnTo>
                    <a:pt x="1439790" y="455678"/>
                  </a:lnTo>
                  <a:lnTo>
                    <a:pt x="1394510" y="473969"/>
                  </a:lnTo>
                  <a:lnTo>
                    <a:pt x="1349811" y="492562"/>
                  </a:lnTo>
                  <a:lnTo>
                    <a:pt x="1305702" y="511455"/>
                  </a:lnTo>
                  <a:lnTo>
                    <a:pt x="1262189" y="530644"/>
                  </a:lnTo>
                  <a:lnTo>
                    <a:pt x="1219280" y="550125"/>
                  </a:lnTo>
                  <a:lnTo>
                    <a:pt x="1176982" y="569895"/>
                  </a:lnTo>
                  <a:lnTo>
                    <a:pt x="1135302" y="589951"/>
                  </a:lnTo>
                  <a:lnTo>
                    <a:pt x="1094248" y="610289"/>
                  </a:lnTo>
                  <a:lnTo>
                    <a:pt x="1053827" y="630906"/>
                  </a:lnTo>
                  <a:lnTo>
                    <a:pt x="1014046" y="651798"/>
                  </a:lnTo>
                  <a:lnTo>
                    <a:pt x="974913" y="672962"/>
                  </a:lnTo>
                  <a:lnTo>
                    <a:pt x="936434" y="694395"/>
                  </a:lnTo>
                  <a:lnTo>
                    <a:pt x="898617" y="716093"/>
                  </a:lnTo>
                  <a:lnTo>
                    <a:pt x="861470" y="738053"/>
                  </a:lnTo>
                  <a:lnTo>
                    <a:pt x="824999" y="760271"/>
                  </a:lnTo>
                  <a:lnTo>
                    <a:pt x="789212" y="782744"/>
                  </a:lnTo>
                  <a:lnTo>
                    <a:pt x="754116" y="805469"/>
                  </a:lnTo>
                  <a:lnTo>
                    <a:pt x="719718" y="828442"/>
                  </a:lnTo>
                  <a:lnTo>
                    <a:pt x="686027" y="851660"/>
                  </a:lnTo>
                  <a:lnTo>
                    <a:pt x="653048" y="875119"/>
                  </a:lnTo>
                  <a:lnTo>
                    <a:pt x="620789" y="898817"/>
                  </a:lnTo>
                  <a:lnTo>
                    <a:pt x="589257" y="922748"/>
                  </a:lnTo>
                  <a:lnTo>
                    <a:pt x="558461" y="946911"/>
                  </a:lnTo>
                  <a:lnTo>
                    <a:pt x="528406" y="971302"/>
                  </a:lnTo>
                  <a:lnTo>
                    <a:pt x="499101" y="995918"/>
                  </a:lnTo>
                  <a:lnTo>
                    <a:pt x="442768" y="1045808"/>
                  </a:lnTo>
                  <a:lnTo>
                    <a:pt x="389519" y="1096555"/>
                  </a:lnTo>
                  <a:lnTo>
                    <a:pt x="339412" y="1148132"/>
                  </a:lnTo>
                  <a:lnTo>
                    <a:pt x="292507" y="1200511"/>
                  </a:lnTo>
                  <a:lnTo>
                    <a:pt x="248860" y="1253665"/>
                  </a:lnTo>
                  <a:lnTo>
                    <a:pt x="208531" y="1307567"/>
                  </a:lnTo>
                  <a:lnTo>
                    <a:pt x="171578" y="1362190"/>
                  </a:lnTo>
                  <a:lnTo>
                    <a:pt x="138058" y="1417507"/>
                  </a:lnTo>
                  <a:lnTo>
                    <a:pt x="108030" y="1473490"/>
                  </a:lnTo>
                  <a:lnTo>
                    <a:pt x="81552" y="1530112"/>
                  </a:lnTo>
                  <a:lnTo>
                    <a:pt x="58683" y="1587346"/>
                  </a:lnTo>
                  <a:lnTo>
                    <a:pt x="39480" y="1645165"/>
                  </a:lnTo>
                  <a:lnTo>
                    <a:pt x="24001" y="1703542"/>
                  </a:lnTo>
                  <a:lnTo>
                    <a:pt x="12306" y="1762448"/>
                  </a:lnTo>
                  <a:lnTo>
                    <a:pt x="4452" y="1821859"/>
                  </a:lnTo>
                  <a:lnTo>
                    <a:pt x="497" y="1881745"/>
                  </a:lnTo>
                  <a:lnTo>
                    <a:pt x="0" y="1911858"/>
                  </a:lnTo>
                  <a:lnTo>
                    <a:pt x="497" y="1941971"/>
                  </a:lnTo>
                  <a:lnTo>
                    <a:pt x="4452" y="2001858"/>
                  </a:lnTo>
                  <a:lnTo>
                    <a:pt x="12306" y="2061268"/>
                  </a:lnTo>
                  <a:lnTo>
                    <a:pt x="24001" y="2120176"/>
                  </a:lnTo>
                  <a:lnTo>
                    <a:pt x="39480" y="2178553"/>
                  </a:lnTo>
                  <a:lnTo>
                    <a:pt x="58683" y="2236372"/>
                  </a:lnTo>
                  <a:lnTo>
                    <a:pt x="81552" y="2293607"/>
                  </a:lnTo>
                  <a:lnTo>
                    <a:pt x="108030" y="2350229"/>
                  </a:lnTo>
                  <a:lnTo>
                    <a:pt x="138058" y="2406213"/>
                  </a:lnTo>
                  <a:lnTo>
                    <a:pt x="171578" y="2461529"/>
                  </a:lnTo>
                  <a:lnTo>
                    <a:pt x="208531" y="2516153"/>
                  </a:lnTo>
                  <a:lnTo>
                    <a:pt x="248860" y="2570055"/>
                  </a:lnTo>
                  <a:lnTo>
                    <a:pt x="292507" y="2623210"/>
                  </a:lnTo>
                  <a:lnTo>
                    <a:pt x="339412" y="2675589"/>
                  </a:lnTo>
                  <a:lnTo>
                    <a:pt x="389519" y="2727166"/>
                  </a:lnTo>
                  <a:lnTo>
                    <a:pt x="442768" y="2777913"/>
                  </a:lnTo>
                  <a:lnTo>
                    <a:pt x="499101" y="2827803"/>
                  </a:lnTo>
                  <a:lnTo>
                    <a:pt x="528406" y="2852418"/>
                  </a:lnTo>
                  <a:lnTo>
                    <a:pt x="558461" y="2876809"/>
                  </a:lnTo>
                  <a:lnTo>
                    <a:pt x="589257" y="2900972"/>
                  </a:lnTo>
                  <a:lnTo>
                    <a:pt x="620789" y="2924904"/>
                  </a:lnTo>
                  <a:lnTo>
                    <a:pt x="653048" y="2948601"/>
                  </a:lnTo>
                  <a:lnTo>
                    <a:pt x="686027" y="2972061"/>
                  </a:lnTo>
                  <a:lnTo>
                    <a:pt x="719718" y="2995278"/>
                  </a:lnTo>
                  <a:lnTo>
                    <a:pt x="754116" y="3018251"/>
                  </a:lnTo>
                  <a:lnTo>
                    <a:pt x="789212" y="3040976"/>
                  </a:lnTo>
                  <a:lnTo>
                    <a:pt x="824999" y="3063449"/>
                  </a:lnTo>
                  <a:lnTo>
                    <a:pt x="861470" y="3085668"/>
                  </a:lnTo>
                  <a:lnTo>
                    <a:pt x="898617" y="3107627"/>
                  </a:lnTo>
                  <a:lnTo>
                    <a:pt x="936434" y="3129325"/>
                  </a:lnTo>
                  <a:lnTo>
                    <a:pt x="974913" y="3150758"/>
                  </a:lnTo>
                  <a:lnTo>
                    <a:pt x="1014046" y="3171922"/>
                  </a:lnTo>
                  <a:lnTo>
                    <a:pt x="1053827" y="3192814"/>
                  </a:lnTo>
                  <a:lnTo>
                    <a:pt x="1094248" y="3213431"/>
                  </a:lnTo>
                  <a:lnTo>
                    <a:pt x="1135302" y="3233769"/>
                  </a:lnTo>
                  <a:lnTo>
                    <a:pt x="1176982" y="3253825"/>
                  </a:lnTo>
                  <a:lnTo>
                    <a:pt x="1219280" y="3273595"/>
                  </a:lnTo>
                  <a:lnTo>
                    <a:pt x="1262189" y="3293076"/>
                  </a:lnTo>
                  <a:lnTo>
                    <a:pt x="1305702" y="3312264"/>
                  </a:lnTo>
                  <a:lnTo>
                    <a:pt x="1349811" y="3331157"/>
                  </a:lnTo>
                  <a:lnTo>
                    <a:pt x="1394510" y="3349751"/>
                  </a:lnTo>
                  <a:lnTo>
                    <a:pt x="1439790" y="3368042"/>
                  </a:lnTo>
                  <a:lnTo>
                    <a:pt x="1485646" y="3386026"/>
                  </a:lnTo>
                  <a:lnTo>
                    <a:pt x="1532068" y="3403702"/>
                  </a:lnTo>
                  <a:lnTo>
                    <a:pt x="1579051" y="3421065"/>
                  </a:lnTo>
                  <a:lnTo>
                    <a:pt x="1626587" y="3438111"/>
                  </a:lnTo>
                  <a:lnTo>
                    <a:pt x="1674668" y="3454838"/>
                  </a:lnTo>
                  <a:lnTo>
                    <a:pt x="1723288" y="3471242"/>
                  </a:lnTo>
                  <a:lnTo>
                    <a:pt x="1772439" y="3487319"/>
                  </a:lnTo>
                  <a:lnTo>
                    <a:pt x="1822113" y="3503067"/>
                  </a:lnTo>
                  <a:lnTo>
                    <a:pt x="1872304" y="3518481"/>
                  </a:lnTo>
                  <a:lnTo>
                    <a:pt x="1923004" y="3533559"/>
                  </a:lnTo>
                  <a:lnTo>
                    <a:pt x="1974207" y="3548297"/>
                  </a:lnTo>
                  <a:lnTo>
                    <a:pt x="2025903" y="3562691"/>
                  </a:lnTo>
                  <a:lnTo>
                    <a:pt x="2078088" y="3576738"/>
                  </a:lnTo>
                  <a:lnTo>
                    <a:pt x="2130752" y="3590436"/>
                  </a:lnTo>
                  <a:lnTo>
                    <a:pt x="2183889" y="3603779"/>
                  </a:lnTo>
                  <a:lnTo>
                    <a:pt x="2237492" y="3616766"/>
                  </a:lnTo>
                  <a:lnTo>
                    <a:pt x="2291553" y="3629392"/>
                  </a:lnTo>
                  <a:lnTo>
                    <a:pt x="2346066" y="3641655"/>
                  </a:lnTo>
                  <a:lnTo>
                    <a:pt x="2401022" y="3653550"/>
                  </a:lnTo>
                  <a:lnTo>
                    <a:pt x="2456414" y="3665074"/>
                  </a:lnTo>
                  <a:lnTo>
                    <a:pt x="2512236" y="3676225"/>
                  </a:lnTo>
                  <a:lnTo>
                    <a:pt x="2568479" y="3686998"/>
                  </a:lnTo>
                  <a:lnTo>
                    <a:pt x="2625137" y="3697390"/>
                  </a:lnTo>
                  <a:lnTo>
                    <a:pt x="2682203" y="3707398"/>
                  </a:lnTo>
                  <a:lnTo>
                    <a:pt x="2739669" y="3717018"/>
                  </a:lnTo>
                  <a:lnTo>
                    <a:pt x="2797527" y="3726248"/>
                  </a:lnTo>
                  <a:lnTo>
                    <a:pt x="2855771" y="3735083"/>
                  </a:lnTo>
                  <a:lnTo>
                    <a:pt x="2914393" y="3743520"/>
                  </a:lnTo>
                  <a:lnTo>
                    <a:pt x="2973387" y="3751556"/>
                  </a:lnTo>
                  <a:lnTo>
                    <a:pt x="3032744" y="3759187"/>
                  </a:lnTo>
                  <a:lnTo>
                    <a:pt x="3092457" y="3766410"/>
                  </a:lnTo>
                  <a:lnTo>
                    <a:pt x="3152520" y="3773222"/>
                  </a:lnTo>
                  <a:lnTo>
                    <a:pt x="3212925" y="3779619"/>
                  </a:lnTo>
                  <a:lnTo>
                    <a:pt x="3273664" y="3785598"/>
                  </a:lnTo>
                  <a:lnTo>
                    <a:pt x="3334731" y="3791155"/>
                  </a:lnTo>
                  <a:lnTo>
                    <a:pt x="3396117" y="3796287"/>
                  </a:lnTo>
                  <a:lnTo>
                    <a:pt x="3457817" y="3800991"/>
                  </a:lnTo>
                  <a:lnTo>
                    <a:pt x="3519822" y="3805262"/>
                  </a:lnTo>
                  <a:lnTo>
                    <a:pt x="3582125" y="3809099"/>
                  </a:lnTo>
                  <a:lnTo>
                    <a:pt x="3644719" y="3812497"/>
                  </a:lnTo>
                  <a:lnTo>
                    <a:pt x="3707597" y="3815453"/>
                  </a:lnTo>
                  <a:lnTo>
                    <a:pt x="3770752" y="3817963"/>
                  </a:lnTo>
                  <a:lnTo>
                    <a:pt x="3834175" y="3820025"/>
                  </a:lnTo>
                  <a:lnTo>
                    <a:pt x="3897861" y="3821635"/>
                  </a:lnTo>
                  <a:lnTo>
                    <a:pt x="3961801" y="3822788"/>
                  </a:lnTo>
                  <a:lnTo>
                    <a:pt x="4025988" y="3823483"/>
                  </a:lnTo>
                  <a:lnTo>
                    <a:pt x="4090416" y="3823716"/>
                  </a:lnTo>
                  <a:lnTo>
                    <a:pt x="4154843" y="3823483"/>
                  </a:lnTo>
                  <a:lnTo>
                    <a:pt x="4219030" y="3822788"/>
                  </a:lnTo>
                  <a:lnTo>
                    <a:pt x="4282970" y="3821635"/>
                  </a:lnTo>
                  <a:lnTo>
                    <a:pt x="4346656" y="3820025"/>
                  </a:lnTo>
                  <a:lnTo>
                    <a:pt x="4410079" y="3817963"/>
                  </a:lnTo>
                  <a:lnTo>
                    <a:pt x="4473234" y="3815453"/>
                  </a:lnTo>
                  <a:lnTo>
                    <a:pt x="4536112" y="3812497"/>
                  </a:lnTo>
                  <a:lnTo>
                    <a:pt x="4598706" y="3809099"/>
                  </a:lnTo>
                  <a:lnTo>
                    <a:pt x="4661009" y="3805262"/>
                  </a:lnTo>
                  <a:lnTo>
                    <a:pt x="4723014" y="3800991"/>
                  </a:lnTo>
                  <a:lnTo>
                    <a:pt x="4784714" y="3796287"/>
                  </a:lnTo>
                  <a:lnTo>
                    <a:pt x="4846100" y="3791155"/>
                  </a:lnTo>
                  <a:lnTo>
                    <a:pt x="4907167" y="3785598"/>
                  </a:lnTo>
                  <a:lnTo>
                    <a:pt x="4967906" y="3779619"/>
                  </a:lnTo>
                  <a:lnTo>
                    <a:pt x="5028311" y="3773222"/>
                  </a:lnTo>
                  <a:lnTo>
                    <a:pt x="5088374" y="3766410"/>
                  </a:lnTo>
                  <a:lnTo>
                    <a:pt x="5148087" y="3759187"/>
                  </a:lnTo>
                  <a:lnTo>
                    <a:pt x="5207444" y="3751556"/>
                  </a:lnTo>
                  <a:lnTo>
                    <a:pt x="5266438" y="3743520"/>
                  </a:lnTo>
                  <a:lnTo>
                    <a:pt x="5325060" y="3735083"/>
                  </a:lnTo>
                  <a:lnTo>
                    <a:pt x="5383304" y="3726248"/>
                  </a:lnTo>
                  <a:lnTo>
                    <a:pt x="5441162" y="3717018"/>
                  </a:lnTo>
                  <a:lnTo>
                    <a:pt x="5498628" y="3707398"/>
                  </a:lnTo>
                  <a:lnTo>
                    <a:pt x="5555694" y="3697390"/>
                  </a:lnTo>
                  <a:lnTo>
                    <a:pt x="5612352" y="3686998"/>
                  </a:lnTo>
                  <a:lnTo>
                    <a:pt x="5668595" y="3676225"/>
                  </a:lnTo>
                  <a:lnTo>
                    <a:pt x="5724417" y="3665074"/>
                  </a:lnTo>
                  <a:lnTo>
                    <a:pt x="5779809" y="3653550"/>
                  </a:lnTo>
                  <a:lnTo>
                    <a:pt x="5834765" y="3641655"/>
                  </a:lnTo>
                  <a:lnTo>
                    <a:pt x="5889278" y="3629392"/>
                  </a:lnTo>
                  <a:lnTo>
                    <a:pt x="5943339" y="3616766"/>
                  </a:lnTo>
                  <a:lnTo>
                    <a:pt x="5996942" y="3603779"/>
                  </a:lnTo>
                  <a:lnTo>
                    <a:pt x="6050079" y="3590436"/>
                  </a:lnTo>
                  <a:lnTo>
                    <a:pt x="6102743" y="3576738"/>
                  </a:lnTo>
                  <a:lnTo>
                    <a:pt x="6154927" y="3562691"/>
                  </a:lnTo>
                  <a:lnTo>
                    <a:pt x="6206624" y="3548297"/>
                  </a:lnTo>
                  <a:lnTo>
                    <a:pt x="6257827" y="3533559"/>
                  </a:lnTo>
                  <a:lnTo>
                    <a:pt x="6308527" y="3518481"/>
                  </a:lnTo>
                  <a:lnTo>
                    <a:pt x="6358718" y="3503067"/>
                  </a:lnTo>
                  <a:lnTo>
                    <a:pt x="6408392" y="3487319"/>
                  </a:lnTo>
                  <a:lnTo>
                    <a:pt x="6457543" y="3471242"/>
                  </a:lnTo>
                  <a:lnTo>
                    <a:pt x="6506163" y="3454838"/>
                  </a:lnTo>
                  <a:lnTo>
                    <a:pt x="6554244" y="3438111"/>
                  </a:lnTo>
                  <a:lnTo>
                    <a:pt x="6601780" y="3421065"/>
                  </a:lnTo>
                  <a:lnTo>
                    <a:pt x="6648763" y="3403702"/>
                  </a:lnTo>
                  <a:lnTo>
                    <a:pt x="6695185" y="3386026"/>
                  </a:lnTo>
                  <a:lnTo>
                    <a:pt x="6741041" y="3368042"/>
                  </a:lnTo>
                  <a:lnTo>
                    <a:pt x="6786321" y="3349751"/>
                  </a:lnTo>
                  <a:lnTo>
                    <a:pt x="6831020" y="3331157"/>
                  </a:lnTo>
                  <a:lnTo>
                    <a:pt x="6875129" y="3312264"/>
                  </a:lnTo>
                  <a:lnTo>
                    <a:pt x="6918642" y="3293076"/>
                  </a:lnTo>
                  <a:lnTo>
                    <a:pt x="6961551" y="3273595"/>
                  </a:lnTo>
                  <a:lnTo>
                    <a:pt x="7003849" y="3253825"/>
                  </a:lnTo>
                  <a:lnTo>
                    <a:pt x="7045529" y="3233769"/>
                  </a:lnTo>
                  <a:lnTo>
                    <a:pt x="7086583" y="3213431"/>
                  </a:lnTo>
                  <a:lnTo>
                    <a:pt x="7127004" y="3192814"/>
                  </a:lnTo>
                  <a:lnTo>
                    <a:pt x="7166785" y="3171922"/>
                  </a:lnTo>
                  <a:lnTo>
                    <a:pt x="7205918" y="3150758"/>
                  </a:lnTo>
                  <a:lnTo>
                    <a:pt x="7244397" y="3129325"/>
                  </a:lnTo>
                  <a:lnTo>
                    <a:pt x="7282214" y="3107627"/>
                  </a:lnTo>
                  <a:lnTo>
                    <a:pt x="7319361" y="3085668"/>
                  </a:lnTo>
                  <a:lnTo>
                    <a:pt x="7355832" y="3063449"/>
                  </a:lnTo>
                  <a:lnTo>
                    <a:pt x="7391619" y="3040976"/>
                  </a:lnTo>
                  <a:lnTo>
                    <a:pt x="7426715" y="3018251"/>
                  </a:lnTo>
                  <a:lnTo>
                    <a:pt x="7461113" y="2995278"/>
                  </a:lnTo>
                  <a:lnTo>
                    <a:pt x="7494804" y="2972061"/>
                  </a:lnTo>
                  <a:lnTo>
                    <a:pt x="7527783" y="2948601"/>
                  </a:lnTo>
                  <a:lnTo>
                    <a:pt x="7560042" y="2924904"/>
                  </a:lnTo>
                  <a:lnTo>
                    <a:pt x="7591574" y="2900972"/>
                  </a:lnTo>
                  <a:lnTo>
                    <a:pt x="7622370" y="2876809"/>
                  </a:lnTo>
                  <a:lnTo>
                    <a:pt x="7652425" y="2852418"/>
                  </a:lnTo>
                  <a:lnTo>
                    <a:pt x="7681730" y="2827803"/>
                  </a:lnTo>
                  <a:lnTo>
                    <a:pt x="7738063" y="2777913"/>
                  </a:lnTo>
                  <a:lnTo>
                    <a:pt x="7791312" y="2727166"/>
                  </a:lnTo>
                  <a:lnTo>
                    <a:pt x="7841419" y="2675589"/>
                  </a:lnTo>
                  <a:lnTo>
                    <a:pt x="7888324" y="2623210"/>
                  </a:lnTo>
                  <a:lnTo>
                    <a:pt x="7931971" y="2570055"/>
                  </a:lnTo>
                  <a:lnTo>
                    <a:pt x="7972300" y="2516153"/>
                  </a:lnTo>
                  <a:lnTo>
                    <a:pt x="8009253" y="2461529"/>
                  </a:lnTo>
                  <a:lnTo>
                    <a:pt x="8042773" y="2406213"/>
                  </a:lnTo>
                  <a:lnTo>
                    <a:pt x="8072801" y="2350229"/>
                  </a:lnTo>
                  <a:lnTo>
                    <a:pt x="8099279" y="2293607"/>
                  </a:lnTo>
                  <a:lnTo>
                    <a:pt x="8122148" y="2236372"/>
                  </a:lnTo>
                  <a:lnTo>
                    <a:pt x="8141351" y="2178553"/>
                  </a:lnTo>
                  <a:lnTo>
                    <a:pt x="8156830" y="2120176"/>
                  </a:lnTo>
                  <a:lnTo>
                    <a:pt x="8168525" y="2061268"/>
                  </a:lnTo>
                  <a:lnTo>
                    <a:pt x="8176379" y="2001858"/>
                  </a:lnTo>
                  <a:lnTo>
                    <a:pt x="8180334" y="1941971"/>
                  </a:lnTo>
                  <a:lnTo>
                    <a:pt x="8180832" y="1911858"/>
                  </a:lnTo>
                  <a:lnTo>
                    <a:pt x="8180334" y="1881745"/>
                  </a:lnTo>
                  <a:lnTo>
                    <a:pt x="8176379" y="1821859"/>
                  </a:lnTo>
                  <a:lnTo>
                    <a:pt x="8168525" y="1762448"/>
                  </a:lnTo>
                  <a:lnTo>
                    <a:pt x="8156830" y="1703542"/>
                  </a:lnTo>
                  <a:lnTo>
                    <a:pt x="8141351" y="1645165"/>
                  </a:lnTo>
                  <a:lnTo>
                    <a:pt x="8122148" y="1587346"/>
                  </a:lnTo>
                  <a:lnTo>
                    <a:pt x="8099279" y="1530112"/>
                  </a:lnTo>
                  <a:lnTo>
                    <a:pt x="8072801" y="1473490"/>
                  </a:lnTo>
                  <a:lnTo>
                    <a:pt x="8042773" y="1417507"/>
                  </a:lnTo>
                  <a:lnTo>
                    <a:pt x="8009253" y="1362190"/>
                  </a:lnTo>
                  <a:lnTo>
                    <a:pt x="7972300" y="1307567"/>
                  </a:lnTo>
                  <a:lnTo>
                    <a:pt x="7931971" y="1253665"/>
                  </a:lnTo>
                  <a:lnTo>
                    <a:pt x="7888324" y="1200511"/>
                  </a:lnTo>
                  <a:lnTo>
                    <a:pt x="7841419" y="1148132"/>
                  </a:lnTo>
                  <a:lnTo>
                    <a:pt x="7791312" y="1096555"/>
                  </a:lnTo>
                  <a:lnTo>
                    <a:pt x="7738063" y="1045808"/>
                  </a:lnTo>
                  <a:lnTo>
                    <a:pt x="7681730" y="995918"/>
                  </a:lnTo>
                  <a:lnTo>
                    <a:pt x="7652425" y="971302"/>
                  </a:lnTo>
                  <a:lnTo>
                    <a:pt x="7622370" y="946912"/>
                  </a:lnTo>
                  <a:lnTo>
                    <a:pt x="7591574" y="922748"/>
                  </a:lnTo>
                  <a:lnTo>
                    <a:pt x="7560042" y="898817"/>
                  </a:lnTo>
                  <a:lnTo>
                    <a:pt x="7527783" y="875119"/>
                  </a:lnTo>
                  <a:lnTo>
                    <a:pt x="7494804" y="851660"/>
                  </a:lnTo>
                  <a:lnTo>
                    <a:pt x="7461113" y="828442"/>
                  </a:lnTo>
                  <a:lnTo>
                    <a:pt x="7426715" y="805469"/>
                  </a:lnTo>
                  <a:lnTo>
                    <a:pt x="7391619" y="782744"/>
                  </a:lnTo>
                  <a:lnTo>
                    <a:pt x="7355832" y="760271"/>
                  </a:lnTo>
                  <a:lnTo>
                    <a:pt x="7319361" y="738053"/>
                  </a:lnTo>
                  <a:lnTo>
                    <a:pt x="7282214" y="716093"/>
                  </a:lnTo>
                  <a:lnTo>
                    <a:pt x="7244397" y="694395"/>
                  </a:lnTo>
                  <a:lnTo>
                    <a:pt x="7205918" y="672962"/>
                  </a:lnTo>
                  <a:lnTo>
                    <a:pt x="7166785" y="651798"/>
                  </a:lnTo>
                  <a:lnTo>
                    <a:pt x="7127004" y="630906"/>
                  </a:lnTo>
                  <a:lnTo>
                    <a:pt x="7086583" y="610289"/>
                  </a:lnTo>
                  <a:lnTo>
                    <a:pt x="7045529" y="589951"/>
                  </a:lnTo>
                  <a:lnTo>
                    <a:pt x="7003849" y="569895"/>
                  </a:lnTo>
                  <a:lnTo>
                    <a:pt x="6961551" y="550125"/>
                  </a:lnTo>
                  <a:lnTo>
                    <a:pt x="6918642" y="530644"/>
                  </a:lnTo>
                  <a:lnTo>
                    <a:pt x="6875129" y="511455"/>
                  </a:lnTo>
                  <a:lnTo>
                    <a:pt x="6831020" y="492562"/>
                  </a:lnTo>
                  <a:lnTo>
                    <a:pt x="6786321" y="473969"/>
                  </a:lnTo>
                  <a:lnTo>
                    <a:pt x="6741041" y="455678"/>
                  </a:lnTo>
                  <a:lnTo>
                    <a:pt x="6695185" y="437693"/>
                  </a:lnTo>
                  <a:lnTo>
                    <a:pt x="6648763" y="420017"/>
                  </a:lnTo>
                  <a:lnTo>
                    <a:pt x="6601780" y="402654"/>
                  </a:lnTo>
                  <a:lnTo>
                    <a:pt x="6554244" y="385608"/>
                  </a:lnTo>
                  <a:lnTo>
                    <a:pt x="6506163" y="368881"/>
                  </a:lnTo>
                  <a:lnTo>
                    <a:pt x="6457543" y="352477"/>
                  </a:lnTo>
                  <a:lnTo>
                    <a:pt x="6408392" y="336399"/>
                  </a:lnTo>
                  <a:lnTo>
                    <a:pt x="6358718" y="320651"/>
                  </a:lnTo>
                  <a:lnTo>
                    <a:pt x="6308527" y="305237"/>
                  </a:lnTo>
                  <a:lnTo>
                    <a:pt x="6257827" y="290159"/>
                  </a:lnTo>
                  <a:lnTo>
                    <a:pt x="6206624" y="275421"/>
                  </a:lnTo>
                  <a:lnTo>
                    <a:pt x="6154928" y="261027"/>
                  </a:lnTo>
                  <a:lnTo>
                    <a:pt x="6102743" y="246979"/>
                  </a:lnTo>
                  <a:lnTo>
                    <a:pt x="6050079" y="233282"/>
                  </a:lnTo>
                  <a:lnTo>
                    <a:pt x="5996942" y="219938"/>
                  </a:lnTo>
                  <a:lnTo>
                    <a:pt x="5943339" y="206951"/>
                  </a:lnTo>
                  <a:lnTo>
                    <a:pt x="5889278" y="194325"/>
                  </a:lnTo>
                  <a:lnTo>
                    <a:pt x="5834765" y="182063"/>
                  </a:lnTo>
                  <a:lnTo>
                    <a:pt x="5779809" y="170167"/>
                  </a:lnTo>
                  <a:lnTo>
                    <a:pt x="5724417" y="158643"/>
                  </a:lnTo>
                  <a:lnTo>
                    <a:pt x="5668595" y="147492"/>
                  </a:lnTo>
                  <a:lnTo>
                    <a:pt x="5612352" y="136719"/>
                  </a:lnTo>
                  <a:lnTo>
                    <a:pt x="5555694" y="126327"/>
                  </a:lnTo>
                  <a:lnTo>
                    <a:pt x="5498628" y="116318"/>
                  </a:lnTo>
                  <a:lnTo>
                    <a:pt x="5441162" y="106698"/>
                  </a:lnTo>
                  <a:lnTo>
                    <a:pt x="5383304" y="97468"/>
                  </a:lnTo>
                  <a:lnTo>
                    <a:pt x="5325060" y="88633"/>
                  </a:lnTo>
                  <a:lnTo>
                    <a:pt x="5266438" y="80196"/>
                  </a:lnTo>
                  <a:lnTo>
                    <a:pt x="5207444" y="72160"/>
                  </a:lnTo>
                  <a:lnTo>
                    <a:pt x="5148087" y="64529"/>
                  </a:lnTo>
                  <a:lnTo>
                    <a:pt x="5088374" y="57306"/>
                  </a:lnTo>
                  <a:lnTo>
                    <a:pt x="5028311" y="50494"/>
                  </a:lnTo>
                  <a:lnTo>
                    <a:pt x="4967906" y="44097"/>
                  </a:lnTo>
                  <a:lnTo>
                    <a:pt x="4907167" y="38118"/>
                  </a:lnTo>
                  <a:lnTo>
                    <a:pt x="4846100" y="32561"/>
                  </a:lnTo>
                  <a:lnTo>
                    <a:pt x="4784714" y="27428"/>
                  </a:lnTo>
                  <a:lnTo>
                    <a:pt x="4723014" y="22725"/>
                  </a:lnTo>
                  <a:lnTo>
                    <a:pt x="4661009" y="18453"/>
                  </a:lnTo>
                  <a:lnTo>
                    <a:pt x="4598706" y="14616"/>
                  </a:lnTo>
                  <a:lnTo>
                    <a:pt x="4536112" y="11218"/>
                  </a:lnTo>
                  <a:lnTo>
                    <a:pt x="4473234" y="8262"/>
                  </a:lnTo>
                  <a:lnTo>
                    <a:pt x="4410079" y="5752"/>
                  </a:lnTo>
                  <a:lnTo>
                    <a:pt x="4346656" y="3690"/>
                  </a:lnTo>
                  <a:lnTo>
                    <a:pt x="4282970" y="2080"/>
                  </a:lnTo>
                  <a:lnTo>
                    <a:pt x="4219030" y="927"/>
                  </a:lnTo>
                  <a:lnTo>
                    <a:pt x="4154843" y="232"/>
                  </a:lnTo>
                  <a:lnTo>
                    <a:pt x="4090416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4">
              <a:extLst>
                <a:ext uri="{FF2B5EF4-FFF2-40B4-BE49-F238E27FC236}">
                  <a16:creationId xmlns:a16="http://schemas.microsoft.com/office/drawing/2014/main" id="{BEE5635C-7683-F5C5-5D8F-843ACFBA37C1}"/>
                </a:ext>
              </a:extLst>
            </p:cNvPr>
            <p:cNvSpPr/>
            <p:nvPr/>
          </p:nvSpPr>
          <p:spPr>
            <a:xfrm>
              <a:off x="274319" y="1121663"/>
              <a:ext cx="8181340" cy="3823970"/>
            </a:xfrm>
            <a:custGeom>
              <a:avLst/>
              <a:gdLst/>
              <a:ahLst/>
              <a:cxnLst/>
              <a:rect l="l" t="t" r="r" b="b"/>
              <a:pathLst>
                <a:path w="8181340" h="3823970">
                  <a:moveTo>
                    <a:pt x="0" y="1911858"/>
                  </a:moveTo>
                  <a:lnTo>
                    <a:pt x="1983" y="1851744"/>
                  </a:lnTo>
                  <a:lnTo>
                    <a:pt x="7895" y="1792092"/>
                  </a:lnTo>
                  <a:lnTo>
                    <a:pt x="17677" y="1732930"/>
                  </a:lnTo>
                  <a:lnTo>
                    <a:pt x="31271" y="1674285"/>
                  </a:lnTo>
                  <a:lnTo>
                    <a:pt x="48619" y="1616184"/>
                  </a:lnTo>
                  <a:lnTo>
                    <a:pt x="69663" y="1558654"/>
                  </a:lnTo>
                  <a:lnTo>
                    <a:pt x="94344" y="1501723"/>
                  </a:lnTo>
                  <a:lnTo>
                    <a:pt x="122604" y="1445417"/>
                  </a:lnTo>
                  <a:lnTo>
                    <a:pt x="154385" y="1389763"/>
                  </a:lnTo>
                  <a:lnTo>
                    <a:pt x="189629" y="1334790"/>
                  </a:lnTo>
                  <a:lnTo>
                    <a:pt x="228278" y="1280524"/>
                  </a:lnTo>
                  <a:lnTo>
                    <a:pt x="270273" y="1226993"/>
                  </a:lnTo>
                  <a:lnTo>
                    <a:pt x="315556" y="1174223"/>
                  </a:lnTo>
                  <a:lnTo>
                    <a:pt x="364069" y="1122241"/>
                  </a:lnTo>
                  <a:lnTo>
                    <a:pt x="415754" y="1071076"/>
                  </a:lnTo>
                  <a:lnTo>
                    <a:pt x="470552" y="1020754"/>
                  </a:lnTo>
                  <a:lnTo>
                    <a:pt x="528406" y="971302"/>
                  </a:lnTo>
                  <a:lnTo>
                    <a:pt x="558461" y="946911"/>
                  </a:lnTo>
                  <a:lnTo>
                    <a:pt x="589257" y="922748"/>
                  </a:lnTo>
                  <a:lnTo>
                    <a:pt x="620789" y="898817"/>
                  </a:lnTo>
                  <a:lnTo>
                    <a:pt x="653048" y="875119"/>
                  </a:lnTo>
                  <a:lnTo>
                    <a:pt x="686027" y="851660"/>
                  </a:lnTo>
                  <a:lnTo>
                    <a:pt x="719718" y="828442"/>
                  </a:lnTo>
                  <a:lnTo>
                    <a:pt x="754116" y="805469"/>
                  </a:lnTo>
                  <a:lnTo>
                    <a:pt x="789212" y="782744"/>
                  </a:lnTo>
                  <a:lnTo>
                    <a:pt x="824999" y="760271"/>
                  </a:lnTo>
                  <a:lnTo>
                    <a:pt x="861470" y="738053"/>
                  </a:lnTo>
                  <a:lnTo>
                    <a:pt x="898617" y="716093"/>
                  </a:lnTo>
                  <a:lnTo>
                    <a:pt x="936434" y="694395"/>
                  </a:lnTo>
                  <a:lnTo>
                    <a:pt x="974913" y="672962"/>
                  </a:lnTo>
                  <a:lnTo>
                    <a:pt x="1014046" y="651798"/>
                  </a:lnTo>
                  <a:lnTo>
                    <a:pt x="1053827" y="630906"/>
                  </a:lnTo>
                  <a:lnTo>
                    <a:pt x="1094248" y="610289"/>
                  </a:lnTo>
                  <a:lnTo>
                    <a:pt x="1135302" y="589951"/>
                  </a:lnTo>
                  <a:lnTo>
                    <a:pt x="1176982" y="569895"/>
                  </a:lnTo>
                  <a:lnTo>
                    <a:pt x="1219280" y="550125"/>
                  </a:lnTo>
                  <a:lnTo>
                    <a:pt x="1262189" y="530644"/>
                  </a:lnTo>
                  <a:lnTo>
                    <a:pt x="1305702" y="511455"/>
                  </a:lnTo>
                  <a:lnTo>
                    <a:pt x="1349811" y="492562"/>
                  </a:lnTo>
                  <a:lnTo>
                    <a:pt x="1394510" y="473969"/>
                  </a:lnTo>
                  <a:lnTo>
                    <a:pt x="1439790" y="455678"/>
                  </a:lnTo>
                  <a:lnTo>
                    <a:pt x="1485646" y="437693"/>
                  </a:lnTo>
                  <a:lnTo>
                    <a:pt x="1532068" y="420017"/>
                  </a:lnTo>
                  <a:lnTo>
                    <a:pt x="1579051" y="402654"/>
                  </a:lnTo>
                  <a:lnTo>
                    <a:pt x="1626587" y="385608"/>
                  </a:lnTo>
                  <a:lnTo>
                    <a:pt x="1674668" y="368881"/>
                  </a:lnTo>
                  <a:lnTo>
                    <a:pt x="1723288" y="352477"/>
                  </a:lnTo>
                  <a:lnTo>
                    <a:pt x="1772439" y="336399"/>
                  </a:lnTo>
                  <a:lnTo>
                    <a:pt x="1822113" y="320651"/>
                  </a:lnTo>
                  <a:lnTo>
                    <a:pt x="1872304" y="305237"/>
                  </a:lnTo>
                  <a:lnTo>
                    <a:pt x="1923004" y="290159"/>
                  </a:lnTo>
                  <a:lnTo>
                    <a:pt x="1974207" y="275421"/>
                  </a:lnTo>
                  <a:lnTo>
                    <a:pt x="2025904" y="261027"/>
                  </a:lnTo>
                  <a:lnTo>
                    <a:pt x="2078088" y="246979"/>
                  </a:lnTo>
                  <a:lnTo>
                    <a:pt x="2130752" y="233282"/>
                  </a:lnTo>
                  <a:lnTo>
                    <a:pt x="2183889" y="219938"/>
                  </a:lnTo>
                  <a:lnTo>
                    <a:pt x="2237492" y="206951"/>
                  </a:lnTo>
                  <a:lnTo>
                    <a:pt x="2291553" y="194325"/>
                  </a:lnTo>
                  <a:lnTo>
                    <a:pt x="2346066" y="182063"/>
                  </a:lnTo>
                  <a:lnTo>
                    <a:pt x="2401022" y="170167"/>
                  </a:lnTo>
                  <a:lnTo>
                    <a:pt x="2456414" y="158643"/>
                  </a:lnTo>
                  <a:lnTo>
                    <a:pt x="2512236" y="147492"/>
                  </a:lnTo>
                  <a:lnTo>
                    <a:pt x="2568479" y="136719"/>
                  </a:lnTo>
                  <a:lnTo>
                    <a:pt x="2625137" y="126327"/>
                  </a:lnTo>
                  <a:lnTo>
                    <a:pt x="2682203" y="116318"/>
                  </a:lnTo>
                  <a:lnTo>
                    <a:pt x="2739669" y="106698"/>
                  </a:lnTo>
                  <a:lnTo>
                    <a:pt x="2797527" y="97468"/>
                  </a:lnTo>
                  <a:lnTo>
                    <a:pt x="2855771" y="88633"/>
                  </a:lnTo>
                  <a:lnTo>
                    <a:pt x="2914393" y="80196"/>
                  </a:lnTo>
                  <a:lnTo>
                    <a:pt x="2973387" y="72160"/>
                  </a:lnTo>
                  <a:lnTo>
                    <a:pt x="3032744" y="64529"/>
                  </a:lnTo>
                  <a:lnTo>
                    <a:pt x="3092457" y="57306"/>
                  </a:lnTo>
                  <a:lnTo>
                    <a:pt x="3152520" y="50494"/>
                  </a:lnTo>
                  <a:lnTo>
                    <a:pt x="3212925" y="44097"/>
                  </a:lnTo>
                  <a:lnTo>
                    <a:pt x="3273664" y="38118"/>
                  </a:lnTo>
                  <a:lnTo>
                    <a:pt x="3334731" y="32561"/>
                  </a:lnTo>
                  <a:lnTo>
                    <a:pt x="3396117" y="27428"/>
                  </a:lnTo>
                  <a:lnTo>
                    <a:pt x="3457817" y="22725"/>
                  </a:lnTo>
                  <a:lnTo>
                    <a:pt x="3519822" y="18453"/>
                  </a:lnTo>
                  <a:lnTo>
                    <a:pt x="3582125" y="14616"/>
                  </a:lnTo>
                  <a:lnTo>
                    <a:pt x="3644719" y="11218"/>
                  </a:lnTo>
                  <a:lnTo>
                    <a:pt x="3707597" y="8262"/>
                  </a:lnTo>
                  <a:lnTo>
                    <a:pt x="3770752" y="5752"/>
                  </a:lnTo>
                  <a:lnTo>
                    <a:pt x="3834175" y="3690"/>
                  </a:lnTo>
                  <a:lnTo>
                    <a:pt x="3897861" y="2080"/>
                  </a:lnTo>
                  <a:lnTo>
                    <a:pt x="3961801" y="927"/>
                  </a:lnTo>
                  <a:lnTo>
                    <a:pt x="4025988" y="232"/>
                  </a:lnTo>
                  <a:lnTo>
                    <a:pt x="4090416" y="0"/>
                  </a:lnTo>
                  <a:lnTo>
                    <a:pt x="4154843" y="232"/>
                  </a:lnTo>
                  <a:lnTo>
                    <a:pt x="4219030" y="927"/>
                  </a:lnTo>
                  <a:lnTo>
                    <a:pt x="4282970" y="2080"/>
                  </a:lnTo>
                  <a:lnTo>
                    <a:pt x="4346656" y="3690"/>
                  </a:lnTo>
                  <a:lnTo>
                    <a:pt x="4410079" y="5752"/>
                  </a:lnTo>
                  <a:lnTo>
                    <a:pt x="4473234" y="8262"/>
                  </a:lnTo>
                  <a:lnTo>
                    <a:pt x="4536112" y="11218"/>
                  </a:lnTo>
                  <a:lnTo>
                    <a:pt x="4598706" y="14616"/>
                  </a:lnTo>
                  <a:lnTo>
                    <a:pt x="4661009" y="18453"/>
                  </a:lnTo>
                  <a:lnTo>
                    <a:pt x="4723014" y="22725"/>
                  </a:lnTo>
                  <a:lnTo>
                    <a:pt x="4784714" y="27428"/>
                  </a:lnTo>
                  <a:lnTo>
                    <a:pt x="4846100" y="32561"/>
                  </a:lnTo>
                  <a:lnTo>
                    <a:pt x="4907167" y="38118"/>
                  </a:lnTo>
                  <a:lnTo>
                    <a:pt x="4967906" y="44097"/>
                  </a:lnTo>
                  <a:lnTo>
                    <a:pt x="5028311" y="50494"/>
                  </a:lnTo>
                  <a:lnTo>
                    <a:pt x="5088374" y="57306"/>
                  </a:lnTo>
                  <a:lnTo>
                    <a:pt x="5148087" y="64529"/>
                  </a:lnTo>
                  <a:lnTo>
                    <a:pt x="5207444" y="72160"/>
                  </a:lnTo>
                  <a:lnTo>
                    <a:pt x="5266438" y="80196"/>
                  </a:lnTo>
                  <a:lnTo>
                    <a:pt x="5325060" y="88633"/>
                  </a:lnTo>
                  <a:lnTo>
                    <a:pt x="5383304" y="97468"/>
                  </a:lnTo>
                  <a:lnTo>
                    <a:pt x="5441162" y="106698"/>
                  </a:lnTo>
                  <a:lnTo>
                    <a:pt x="5498628" y="116318"/>
                  </a:lnTo>
                  <a:lnTo>
                    <a:pt x="5555694" y="126327"/>
                  </a:lnTo>
                  <a:lnTo>
                    <a:pt x="5612352" y="136719"/>
                  </a:lnTo>
                  <a:lnTo>
                    <a:pt x="5668595" y="147492"/>
                  </a:lnTo>
                  <a:lnTo>
                    <a:pt x="5724417" y="158643"/>
                  </a:lnTo>
                  <a:lnTo>
                    <a:pt x="5779809" y="170167"/>
                  </a:lnTo>
                  <a:lnTo>
                    <a:pt x="5834765" y="182063"/>
                  </a:lnTo>
                  <a:lnTo>
                    <a:pt x="5889278" y="194325"/>
                  </a:lnTo>
                  <a:lnTo>
                    <a:pt x="5943339" y="206951"/>
                  </a:lnTo>
                  <a:lnTo>
                    <a:pt x="5996942" y="219938"/>
                  </a:lnTo>
                  <a:lnTo>
                    <a:pt x="6050079" y="233282"/>
                  </a:lnTo>
                  <a:lnTo>
                    <a:pt x="6102743" y="246979"/>
                  </a:lnTo>
                  <a:lnTo>
                    <a:pt x="6154928" y="261027"/>
                  </a:lnTo>
                  <a:lnTo>
                    <a:pt x="6206624" y="275421"/>
                  </a:lnTo>
                  <a:lnTo>
                    <a:pt x="6257827" y="290159"/>
                  </a:lnTo>
                  <a:lnTo>
                    <a:pt x="6308527" y="305237"/>
                  </a:lnTo>
                  <a:lnTo>
                    <a:pt x="6358718" y="320651"/>
                  </a:lnTo>
                  <a:lnTo>
                    <a:pt x="6408392" y="336399"/>
                  </a:lnTo>
                  <a:lnTo>
                    <a:pt x="6457543" y="352477"/>
                  </a:lnTo>
                  <a:lnTo>
                    <a:pt x="6506163" y="368881"/>
                  </a:lnTo>
                  <a:lnTo>
                    <a:pt x="6554244" y="385608"/>
                  </a:lnTo>
                  <a:lnTo>
                    <a:pt x="6601780" y="402654"/>
                  </a:lnTo>
                  <a:lnTo>
                    <a:pt x="6648763" y="420017"/>
                  </a:lnTo>
                  <a:lnTo>
                    <a:pt x="6695185" y="437693"/>
                  </a:lnTo>
                  <a:lnTo>
                    <a:pt x="6741041" y="455678"/>
                  </a:lnTo>
                  <a:lnTo>
                    <a:pt x="6786321" y="473969"/>
                  </a:lnTo>
                  <a:lnTo>
                    <a:pt x="6831020" y="492562"/>
                  </a:lnTo>
                  <a:lnTo>
                    <a:pt x="6875129" y="511455"/>
                  </a:lnTo>
                  <a:lnTo>
                    <a:pt x="6918642" y="530644"/>
                  </a:lnTo>
                  <a:lnTo>
                    <a:pt x="6961551" y="550125"/>
                  </a:lnTo>
                  <a:lnTo>
                    <a:pt x="7003849" y="569895"/>
                  </a:lnTo>
                  <a:lnTo>
                    <a:pt x="7045529" y="589951"/>
                  </a:lnTo>
                  <a:lnTo>
                    <a:pt x="7086583" y="610289"/>
                  </a:lnTo>
                  <a:lnTo>
                    <a:pt x="7127004" y="630906"/>
                  </a:lnTo>
                  <a:lnTo>
                    <a:pt x="7166785" y="651798"/>
                  </a:lnTo>
                  <a:lnTo>
                    <a:pt x="7205918" y="672962"/>
                  </a:lnTo>
                  <a:lnTo>
                    <a:pt x="7244397" y="694395"/>
                  </a:lnTo>
                  <a:lnTo>
                    <a:pt x="7282214" y="716093"/>
                  </a:lnTo>
                  <a:lnTo>
                    <a:pt x="7319361" y="738053"/>
                  </a:lnTo>
                  <a:lnTo>
                    <a:pt x="7355832" y="760271"/>
                  </a:lnTo>
                  <a:lnTo>
                    <a:pt x="7391619" y="782744"/>
                  </a:lnTo>
                  <a:lnTo>
                    <a:pt x="7426715" y="805469"/>
                  </a:lnTo>
                  <a:lnTo>
                    <a:pt x="7461113" y="828442"/>
                  </a:lnTo>
                  <a:lnTo>
                    <a:pt x="7494804" y="851660"/>
                  </a:lnTo>
                  <a:lnTo>
                    <a:pt x="7527783" y="875119"/>
                  </a:lnTo>
                  <a:lnTo>
                    <a:pt x="7560042" y="898817"/>
                  </a:lnTo>
                  <a:lnTo>
                    <a:pt x="7591574" y="922748"/>
                  </a:lnTo>
                  <a:lnTo>
                    <a:pt x="7622370" y="946912"/>
                  </a:lnTo>
                  <a:lnTo>
                    <a:pt x="7652425" y="971302"/>
                  </a:lnTo>
                  <a:lnTo>
                    <a:pt x="7681730" y="995918"/>
                  </a:lnTo>
                  <a:lnTo>
                    <a:pt x="7738063" y="1045808"/>
                  </a:lnTo>
                  <a:lnTo>
                    <a:pt x="7791312" y="1096555"/>
                  </a:lnTo>
                  <a:lnTo>
                    <a:pt x="7841419" y="1148132"/>
                  </a:lnTo>
                  <a:lnTo>
                    <a:pt x="7888324" y="1200511"/>
                  </a:lnTo>
                  <a:lnTo>
                    <a:pt x="7931971" y="1253665"/>
                  </a:lnTo>
                  <a:lnTo>
                    <a:pt x="7972300" y="1307567"/>
                  </a:lnTo>
                  <a:lnTo>
                    <a:pt x="8009253" y="1362190"/>
                  </a:lnTo>
                  <a:lnTo>
                    <a:pt x="8042773" y="1417507"/>
                  </a:lnTo>
                  <a:lnTo>
                    <a:pt x="8072801" y="1473490"/>
                  </a:lnTo>
                  <a:lnTo>
                    <a:pt x="8099279" y="1530112"/>
                  </a:lnTo>
                  <a:lnTo>
                    <a:pt x="8122148" y="1587346"/>
                  </a:lnTo>
                  <a:lnTo>
                    <a:pt x="8141351" y="1645165"/>
                  </a:lnTo>
                  <a:lnTo>
                    <a:pt x="8156830" y="1703542"/>
                  </a:lnTo>
                  <a:lnTo>
                    <a:pt x="8168525" y="1762448"/>
                  </a:lnTo>
                  <a:lnTo>
                    <a:pt x="8176379" y="1821859"/>
                  </a:lnTo>
                  <a:lnTo>
                    <a:pt x="8180334" y="1881745"/>
                  </a:lnTo>
                  <a:lnTo>
                    <a:pt x="8180832" y="1911858"/>
                  </a:lnTo>
                  <a:lnTo>
                    <a:pt x="8180334" y="1941971"/>
                  </a:lnTo>
                  <a:lnTo>
                    <a:pt x="8176379" y="2001858"/>
                  </a:lnTo>
                  <a:lnTo>
                    <a:pt x="8168525" y="2061268"/>
                  </a:lnTo>
                  <a:lnTo>
                    <a:pt x="8156830" y="2120176"/>
                  </a:lnTo>
                  <a:lnTo>
                    <a:pt x="8141351" y="2178553"/>
                  </a:lnTo>
                  <a:lnTo>
                    <a:pt x="8122148" y="2236372"/>
                  </a:lnTo>
                  <a:lnTo>
                    <a:pt x="8099279" y="2293607"/>
                  </a:lnTo>
                  <a:lnTo>
                    <a:pt x="8072801" y="2350229"/>
                  </a:lnTo>
                  <a:lnTo>
                    <a:pt x="8042773" y="2406213"/>
                  </a:lnTo>
                  <a:lnTo>
                    <a:pt x="8009253" y="2461529"/>
                  </a:lnTo>
                  <a:lnTo>
                    <a:pt x="7972300" y="2516153"/>
                  </a:lnTo>
                  <a:lnTo>
                    <a:pt x="7931971" y="2570055"/>
                  </a:lnTo>
                  <a:lnTo>
                    <a:pt x="7888324" y="2623210"/>
                  </a:lnTo>
                  <a:lnTo>
                    <a:pt x="7841419" y="2675589"/>
                  </a:lnTo>
                  <a:lnTo>
                    <a:pt x="7791312" y="2727166"/>
                  </a:lnTo>
                  <a:lnTo>
                    <a:pt x="7738063" y="2777913"/>
                  </a:lnTo>
                  <a:lnTo>
                    <a:pt x="7681730" y="2827803"/>
                  </a:lnTo>
                  <a:lnTo>
                    <a:pt x="7652425" y="2852418"/>
                  </a:lnTo>
                  <a:lnTo>
                    <a:pt x="7622370" y="2876809"/>
                  </a:lnTo>
                  <a:lnTo>
                    <a:pt x="7591574" y="2900972"/>
                  </a:lnTo>
                  <a:lnTo>
                    <a:pt x="7560042" y="2924904"/>
                  </a:lnTo>
                  <a:lnTo>
                    <a:pt x="7527783" y="2948601"/>
                  </a:lnTo>
                  <a:lnTo>
                    <a:pt x="7494804" y="2972061"/>
                  </a:lnTo>
                  <a:lnTo>
                    <a:pt x="7461113" y="2995278"/>
                  </a:lnTo>
                  <a:lnTo>
                    <a:pt x="7426715" y="3018251"/>
                  </a:lnTo>
                  <a:lnTo>
                    <a:pt x="7391619" y="3040976"/>
                  </a:lnTo>
                  <a:lnTo>
                    <a:pt x="7355832" y="3063449"/>
                  </a:lnTo>
                  <a:lnTo>
                    <a:pt x="7319361" y="3085668"/>
                  </a:lnTo>
                  <a:lnTo>
                    <a:pt x="7282214" y="3107627"/>
                  </a:lnTo>
                  <a:lnTo>
                    <a:pt x="7244397" y="3129325"/>
                  </a:lnTo>
                  <a:lnTo>
                    <a:pt x="7205918" y="3150758"/>
                  </a:lnTo>
                  <a:lnTo>
                    <a:pt x="7166785" y="3171922"/>
                  </a:lnTo>
                  <a:lnTo>
                    <a:pt x="7127004" y="3192814"/>
                  </a:lnTo>
                  <a:lnTo>
                    <a:pt x="7086583" y="3213431"/>
                  </a:lnTo>
                  <a:lnTo>
                    <a:pt x="7045529" y="3233769"/>
                  </a:lnTo>
                  <a:lnTo>
                    <a:pt x="7003849" y="3253825"/>
                  </a:lnTo>
                  <a:lnTo>
                    <a:pt x="6961551" y="3273595"/>
                  </a:lnTo>
                  <a:lnTo>
                    <a:pt x="6918642" y="3293076"/>
                  </a:lnTo>
                  <a:lnTo>
                    <a:pt x="6875129" y="3312264"/>
                  </a:lnTo>
                  <a:lnTo>
                    <a:pt x="6831020" y="3331157"/>
                  </a:lnTo>
                  <a:lnTo>
                    <a:pt x="6786321" y="3349751"/>
                  </a:lnTo>
                  <a:lnTo>
                    <a:pt x="6741041" y="3368042"/>
                  </a:lnTo>
                  <a:lnTo>
                    <a:pt x="6695185" y="3386026"/>
                  </a:lnTo>
                  <a:lnTo>
                    <a:pt x="6648763" y="3403702"/>
                  </a:lnTo>
                  <a:lnTo>
                    <a:pt x="6601780" y="3421065"/>
                  </a:lnTo>
                  <a:lnTo>
                    <a:pt x="6554244" y="3438111"/>
                  </a:lnTo>
                  <a:lnTo>
                    <a:pt x="6506163" y="3454838"/>
                  </a:lnTo>
                  <a:lnTo>
                    <a:pt x="6457543" y="3471242"/>
                  </a:lnTo>
                  <a:lnTo>
                    <a:pt x="6408392" y="3487319"/>
                  </a:lnTo>
                  <a:lnTo>
                    <a:pt x="6358718" y="3503067"/>
                  </a:lnTo>
                  <a:lnTo>
                    <a:pt x="6308527" y="3518481"/>
                  </a:lnTo>
                  <a:lnTo>
                    <a:pt x="6257827" y="3533559"/>
                  </a:lnTo>
                  <a:lnTo>
                    <a:pt x="6206624" y="3548297"/>
                  </a:lnTo>
                  <a:lnTo>
                    <a:pt x="6154927" y="3562691"/>
                  </a:lnTo>
                  <a:lnTo>
                    <a:pt x="6102743" y="3576738"/>
                  </a:lnTo>
                  <a:lnTo>
                    <a:pt x="6050079" y="3590436"/>
                  </a:lnTo>
                  <a:lnTo>
                    <a:pt x="5996942" y="3603779"/>
                  </a:lnTo>
                  <a:lnTo>
                    <a:pt x="5943339" y="3616766"/>
                  </a:lnTo>
                  <a:lnTo>
                    <a:pt x="5889278" y="3629392"/>
                  </a:lnTo>
                  <a:lnTo>
                    <a:pt x="5834765" y="3641655"/>
                  </a:lnTo>
                  <a:lnTo>
                    <a:pt x="5779809" y="3653550"/>
                  </a:lnTo>
                  <a:lnTo>
                    <a:pt x="5724417" y="3665074"/>
                  </a:lnTo>
                  <a:lnTo>
                    <a:pt x="5668595" y="3676225"/>
                  </a:lnTo>
                  <a:lnTo>
                    <a:pt x="5612352" y="3686998"/>
                  </a:lnTo>
                  <a:lnTo>
                    <a:pt x="5555694" y="3697390"/>
                  </a:lnTo>
                  <a:lnTo>
                    <a:pt x="5498628" y="3707398"/>
                  </a:lnTo>
                  <a:lnTo>
                    <a:pt x="5441162" y="3717018"/>
                  </a:lnTo>
                  <a:lnTo>
                    <a:pt x="5383304" y="3726248"/>
                  </a:lnTo>
                  <a:lnTo>
                    <a:pt x="5325060" y="3735083"/>
                  </a:lnTo>
                  <a:lnTo>
                    <a:pt x="5266438" y="3743520"/>
                  </a:lnTo>
                  <a:lnTo>
                    <a:pt x="5207444" y="3751556"/>
                  </a:lnTo>
                  <a:lnTo>
                    <a:pt x="5148087" y="3759187"/>
                  </a:lnTo>
                  <a:lnTo>
                    <a:pt x="5088374" y="3766410"/>
                  </a:lnTo>
                  <a:lnTo>
                    <a:pt x="5028311" y="3773222"/>
                  </a:lnTo>
                  <a:lnTo>
                    <a:pt x="4967906" y="3779619"/>
                  </a:lnTo>
                  <a:lnTo>
                    <a:pt x="4907167" y="3785598"/>
                  </a:lnTo>
                  <a:lnTo>
                    <a:pt x="4846100" y="3791155"/>
                  </a:lnTo>
                  <a:lnTo>
                    <a:pt x="4784714" y="3796287"/>
                  </a:lnTo>
                  <a:lnTo>
                    <a:pt x="4723014" y="3800991"/>
                  </a:lnTo>
                  <a:lnTo>
                    <a:pt x="4661009" y="3805262"/>
                  </a:lnTo>
                  <a:lnTo>
                    <a:pt x="4598706" y="3809099"/>
                  </a:lnTo>
                  <a:lnTo>
                    <a:pt x="4536112" y="3812497"/>
                  </a:lnTo>
                  <a:lnTo>
                    <a:pt x="4473234" y="3815453"/>
                  </a:lnTo>
                  <a:lnTo>
                    <a:pt x="4410079" y="3817963"/>
                  </a:lnTo>
                  <a:lnTo>
                    <a:pt x="4346656" y="3820025"/>
                  </a:lnTo>
                  <a:lnTo>
                    <a:pt x="4282970" y="3821635"/>
                  </a:lnTo>
                  <a:lnTo>
                    <a:pt x="4219030" y="3822788"/>
                  </a:lnTo>
                  <a:lnTo>
                    <a:pt x="4154843" y="3823483"/>
                  </a:lnTo>
                  <a:lnTo>
                    <a:pt x="4090416" y="3823716"/>
                  </a:lnTo>
                  <a:lnTo>
                    <a:pt x="4025988" y="3823483"/>
                  </a:lnTo>
                  <a:lnTo>
                    <a:pt x="3961801" y="3822788"/>
                  </a:lnTo>
                  <a:lnTo>
                    <a:pt x="3897861" y="3821635"/>
                  </a:lnTo>
                  <a:lnTo>
                    <a:pt x="3834175" y="3820025"/>
                  </a:lnTo>
                  <a:lnTo>
                    <a:pt x="3770752" y="3817963"/>
                  </a:lnTo>
                  <a:lnTo>
                    <a:pt x="3707597" y="3815453"/>
                  </a:lnTo>
                  <a:lnTo>
                    <a:pt x="3644719" y="3812497"/>
                  </a:lnTo>
                  <a:lnTo>
                    <a:pt x="3582125" y="3809099"/>
                  </a:lnTo>
                  <a:lnTo>
                    <a:pt x="3519822" y="3805262"/>
                  </a:lnTo>
                  <a:lnTo>
                    <a:pt x="3457817" y="3800991"/>
                  </a:lnTo>
                  <a:lnTo>
                    <a:pt x="3396117" y="3796287"/>
                  </a:lnTo>
                  <a:lnTo>
                    <a:pt x="3334731" y="3791155"/>
                  </a:lnTo>
                  <a:lnTo>
                    <a:pt x="3273664" y="3785598"/>
                  </a:lnTo>
                  <a:lnTo>
                    <a:pt x="3212925" y="3779619"/>
                  </a:lnTo>
                  <a:lnTo>
                    <a:pt x="3152520" y="3773222"/>
                  </a:lnTo>
                  <a:lnTo>
                    <a:pt x="3092457" y="3766410"/>
                  </a:lnTo>
                  <a:lnTo>
                    <a:pt x="3032744" y="3759187"/>
                  </a:lnTo>
                  <a:lnTo>
                    <a:pt x="2973387" y="3751556"/>
                  </a:lnTo>
                  <a:lnTo>
                    <a:pt x="2914393" y="3743520"/>
                  </a:lnTo>
                  <a:lnTo>
                    <a:pt x="2855771" y="3735083"/>
                  </a:lnTo>
                  <a:lnTo>
                    <a:pt x="2797527" y="3726248"/>
                  </a:lnTo>
                  <a:lnTo>
                    <a:pt x="2739669" y="3717018"/>
                  </a:lnTo>
                  <a:lnTo>
                    <a:pt x="2682203" y="3707398"/>
                  </a:lnTo>
                  <a:lnTo>
                    <a:pt x="2625137" y="3697390"/>
                  </a:lnTo>
                  <a:lnTo>
                    <a:pt x="2568479" y="3686998"/>
                  </a:lnTo>
                  <a:lnTo>
                    <a:pt x="2512236" y="3676225"/>
                  </a:lnTo>
                  <a:lnTo>
                    <a:pt x="2456414" y="3665074"/>
                  </a:lnTo>
                  <a:lnTo>
                    <a:pt x="2401022" y="3653550"/>
                  </a:lnTo>
                  <a:lnTo>
                    <a:pt x="2346066" y="3641655"/>
                  </a:lnTo>
                  <a:lnTo>
                    <a:pt x="2291553" y="3629392"/>
                  </a:lnTo>
                  <a:lnTo>
                    <a:pt x="2237492" y="3616766"/>
                  </a:lnTo>
                  <a:lnTo>
                    <a:pt x="2183889" y="3603779"/>
                  </a:lnTo>
                  <a:lnTo>
                    <a:pt x="2130752" y="3590436"/>
                  </a:lnTo>
                  <a:lnTo>
                    <a:pt x="2078088" y="3576738"/>
                  </a:lnTo>
                  <a:lnTo>
                    <a:pt x="2025903" y="3562691"/>
                  </a:lnTo>
                  <a:lnTo>
                    <a:pt x="1974207" y="3548297"/>
                  </a:lnTo>
                  <a:lnTo>
                    <a:pt x="1923004" y="3533559"/>
                  </a:lnTo>
                  <a:lnTo>
                    <a:pt x="1872304" y="3518481"/>
                  </a:lnTo>
                  <a:lnTo>
                    <a:pt x="1822113" y="3503067"/>
                  </a:lnTo>
                  <a:lnTo>
                    <a:pt x="1772439" y="3487319"/>
                  </a:lnTo>
                  <a:lnTo>
                    <a:pt x="1723288" y="3471242"/>
                  </a:lnTo>
                  <a:lnTo>
                    <a:pt x="1674668" y="3454838"/>
                  </a:lnTo>
                  <a:lnTo>
                    <a:pt x="1626587" y="3438111"/>
                  </a:lnTo>
                  <a:lnTo>
                    <a:pt x="1579051" y="3421065"/>
                  </a:lnTo>
                  <a:lnTo>
                    <a:pt x="1532068" y="3403702"/>
                  </a:lnTo>
                  <a:lnTo>
                    <a:pt x="1485646" y="3386026"/>
                  </a:lnTo>
                  <a:lnTo>
                    <a:pt x="1439790" y="3368042"/>
                  </a:lnTo>
                  <a:lnTo>
                    <a:pt x="1394510" y="3349751"/>
                  </a:lnTo>
                  <a:lnTo>
                    <a:pt x="1349811" y="3331157"/>
                  </a:lnTo>
                  <a:lnTo>
                    <a:pt x="1305702" y="3312264"/>
                  </a:lnTo>
                  <a:lnTo>
                    <a:pt x="1262189" y="3293076"/>
                  </a:lnTo>
                  <a:lnTo>
                    <a:pt x="1219280" y="3273595"/>
                  </a:lnTo>
                  <a:lnTo>
                    <a:pt x="1176982" y="3253825"/>
                  </a:lnTo>
                  <a:lnTo>
                    <a:pt x="1135302" y="3233769"/>
                  </a:lnTo>
                  <a:lnTo>
                    <a:pt x="1094248" y="3213431"/>
                  </a:lnTo>
                  <a:lnTo>
                    <a:pt x="1053827" y="3192814"/>
                  </a:lnTo>
                  <a:lnTo>
                    <a:pt x="1014046" y="3171922"/>
                  </a:lnTo>
                  <a:lnTo>
                    <a:pt x="974913" y="3150758"/>
                  </a:lnTo>
                  <a:lnTo>
                    <a:pt x="936434" y="3129325"/>
                  </a:lnTo>
                  <a:lnTo>
                    <a:pt x="898617" y="3107627"/>
                  </a:lnTo>
                  <a:lnTo>
                    <a:pt x="861470" y="3085668"/>
                  </a:lnTo>
                  <a:lnTo>
                    <a:pt x="824999" y="3063449"/>
                  </a:lnTo>
                  <a:lnTo>
                    <a:pt x="789212" y="3040976"/>
                  </a:lnTo>
                  <a:lnTo>
                    <a:pt x="754116" y="3018251"/>
                  </a:lnTo>
                  <a:lnTo>
                    <a:pt x="719718" y="2995278"/>
                  </a:lnTo>
                  <a:lnTo>
                    <a:pt x="686027" y="2972061"/>
                  </a:lnTo>
                  <a:lnTo>
                    <a:pt x="653048" y="2948601"/>
                  </a:lnTo>
                  <a:lnTo>
                    <a:pt x="620789" y="2924904"/>
                  </a:lnTo>
                  <a:lnTo>
                    <a:pt x="589257" y="2900972"/>
                  </a:lnTo>
                  <a:lnTo>
                    <a:pt x="558461" y="2876809"/>
                  </a:lnTo>
                  <a:lnTo>
                    <a:pt x="528406" y="2852418"/>
                  </a:lnTo>
                  <a:lnTo>
                    <a:pt x="499101" y="2827803"/>
                  </a:lnTo>
                  <a:lnTo>
                    <a:pt x="442768" y="2777913"/>
                  </a:lnTo>
                  <a:lnTo>
                    <a:pt x="389519" y="2727166"/>
                  </a:lnTo>
                  <a:lnTo>
                    <a:pt x="339412" y="2675589"/>
                  </a:lnTo>
                  <a:lnTo>
                    <a:pt x="292507" y="2623210"/>
                  </a:lnTo>
                  <a:lnTo>
                    <a:pt x="248860" y="2570055"/>
                  </a:lnTo>
                  <a:lnTo>
                    <a:pt x="208531" y="2516153"/>
                  </a:lnTo>
                  <a:lnTo>
                    <a:pt x="171578" y="2461529"/>
                  </a:lnTo>
                  <a:lnTo>
                    <a:pt x="138058" y="2406213"/>
                  </a:lnTo>
                  <a:lnTo>
                    <a:pt x="108030" y="2350229"/>
                  </a:lnTo>
                  <a:lnTo>
                    <a:pt x="81552" y="2293607"/>
                  </a:lnTo>
                  <a:lnTo>
                    <a:pt x="58683" y="2236372"/>
                  </a:lnTo>
                  <a:lnTo>
                    <a:pt x="39480" y="2178553"/>
                  </a:lnTo>
                  <a:lnTo>
                    <a:pt x="24001" y="2120176"/>
                  </a:lnTo>
                  <a:lnTo>
                    <a:pt x="12306" y="2061268"/>
                  </a:lnTo>
                  <a:lnTo>
                    <a:pt x="4452" y="2001858"/>
                  </a:lnTo>
                  <a:lnTo>
                    <a:pt x="497" y="1941971"/>
                  </a:lnTo>
                  <a:lnTo>
                    <a:pt x="0" y="1911858"/>
                  </a:lnTo>
                  <a:close/>
                </a:path>
              </a:pathLst>
            </a:custGeom>
            <a:ln w="914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6">
            <a:extLst>
              <a:ext uri="{FF2B5EF4-FFF2-40B4-BE49-F238E27FC236}">
                <a16:creationId xmlns:a16="http://schemas.microsoft.com/office/drawing/2014/main" id="{AE1FC933-31AB-C76A-A72C-E9AC5856386A}"/>
              </a:ext>
            </a:extLst>
          </p:cNvPr>
          <p:cNvSpPr txBox="1"/>
          <p:nvPr/>
        </p:nvSpPr>
        <p:spPr>
          <a:xfrm>
            <a:off x="4097527" y="1662344"/>
            <a:ext cx="3349413" cy="59259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054920" marR="6773" indent="-1038834">
              <a:spcBef>
                <a:spcPts val="140"/>
              </a:spcBef>
            </a:pPr>
            <a:r>
              <a:rPr sz="1867" b="1" spc="-20" dirty="0">
                <a:latin typeface="Arial"/>
                <a:cs typeface="Arial"/>
              </a:rPr>
              <a:t>CIA:</a:t>
            </a:r>
            <a:r>
              <a:rPr sz="1867" b="1" spc="40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Confidentiality,</a:t>
            </a:r>
            <a:r>
              <a:rPr sz="1867" b="1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Integrity, </a:t>
            </a:r>
            <a:r>
              <a:rPr sz="1867" b="1" spc="-493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Availability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383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leakage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grpSp>
        <p:nvGrpSpPr>
          <p:cNvPr id="6" name="object 2">
            <a:extLst>
              <a:ext uri="{FF2B5EF4-FFF2-40B4-BE49-F238E27FC236}">
                <a16:creationId xmlns:a16="http://schemas.microsoft.com/office/drawing/2014/main" id="{098286A9-BCF8-CF77-FDC9-7771F0BA784D}"/>
              </a:ext>
            </a:extLst>
          </p:cNvPr>
          <p:cNvGrpSpPr/>
          <p:nvPr/>
        </p:nvGrpSpPr>
        <p:grpSpPr>
          <a:xfrm>
            <a:off x="359663" y="1489455"/>
            <a:ext cx="10920307" cy="5110480"/>
            <a:chOff x="269747" y="1117091"/>
            <a:chExt cx="8190230" cy="3832860"/>
          </a:xfrm>
        </p:grpSpPr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8388E09C-679F-955B-8EEE-D24C78ECE69C}"/>
                </a:ext>
              </a:extLst>
            </p:cNvPr>
            <p:cNvSpPr/>
            <p:nvPr/>
          </p:nvSpPr>
          <p:spPr>
            <a:xfrm>
              <a:off x="274319" y="1121663"/>
              <a:ext cx="8181340" cy="3823970"/>
            </a:xfrm>
            <a:custGeom>
              <a:avLst/>
              <a:gdLst/>
              <a:ahLst/>
              <a:cxnLst/>
              <a:rect l="l" t="t" r="r" b="b"/>
              <a:pathLst>
                <a:path w="8181340" h="3823970">
                  <a:moveTo>
                    <a:pt x="4090416" y="0"/>
                  </a:moveTo>
                  <a:lnTo>
                    <a:pt x="4025988" y="232"/>
                  </a:lnTo>
                  <a:lnTo>
                    <a:pt x="3961801" y="927"/>
                  </a:lnTo>
                  <a:lnTo>
                    <a:pt x="3897861" y="2080"/>
                  </a:lnTo>
                  <a:lnTo>
                    <a:pt x="3834175" y="3690"/>
                  </a:lnTo>
                  <a:lnTo>
                    <a:pt x="3770752" y="5752"/>
                  </a:lnTo>
                  <a:lnTo>
                    <a:pt x="3707597" y="8262"/>
                  </a:lnTo>
                  <a:lnTo>
                    <a:pt x="3644719" y="11218"/>
                  </a:lnTo>
                  <a:lnTo>
                    <a:pt x="3582125" y="14616"/>
                  </a:lnTo>
                  <a:lnTo>
                    <a:pt x="3519822" y="18453"/>
                  </a:lnTo>
                  <a:lnTo>
                    <a:pt x="3457817" y="22725"/>
                  </a:lnTo>
                  <a:lnTo>
                    <a:pt x="3396117" y="27428"/>
                  </a:lnTo>
                  <a:lnTo>
                    <a:pt x="3334731" y="32561"/>
                  </a:lnTo>
                  <a:lnTo>
                    <a:pt x="3273664" y="38118"/>
                  </a:lnTo>
                  <a:lnTo>
                    <a:pt x="3212925" y="44097"/>
                  </a:lnTo>
                  <a:lnTo>
                    <a:pt x="3152520" y="50494"/>
                  </a:lnTo>
                  <a:lnTo>
                    <a:pt x="3092457" y="57306"/>
                  </a:lnTo>
                  <a:lnTo>
                    <a:pt x="3032744" y="64529"/>
                  </a:lnTo>
                  <a:lnTo>
                    <a:pt x="2973387" y="72160"/>
                  </a:lnTo>
                  <a:lnTo>
                    <a:pt x="2914393" y="80196"/>
                  </a:lnTo>
                  <a:lnTo>
                    <a:pt x="2855771" y="88633"/>
                  </a:lnTo>
                  <a:lnTo>
                    <a:pt x="2797527" y="97468"/>
                  </a:lnTo>
                  <a:lnTo>
                    <a:pt x="2739669" y="106698"/>
                  </a:lnTo>
                  <a:lnTo>
                    <a:pt x="2682203" y="116318"/>
                  </a:lnTo>
                  <a:lnTo>
                    <a:pt x="2625137" y="126327"/>
                  </a:lnTo>
                  <a:lnTo>
                    <a:pt x="2568479" y="136719"/>
                  </a:lnTo>
                  <a:lnTo>
                    <a:pt x="2512236" y="147492"/>
                  </a:lnTo>
                  <a:lnTo>
                    <a:pt x="2456414" y="158643"/>
                  </a:lnTo>
                  <a:lnTo>
                    <a:pt x="2401022" y="170167"/>
                  </a:lnTo>
                  <a:lnTo>
                    <a:pt x="2346066" y="182063"/>
                  </a:lnTo>
                  <a:lnTo>
                    <a:pt x="2291553" y="194325"/>
                  </a:lnTo>
                  <a:lnTo>
                    <a:pt x="2237492" y="206951"/>
                  </a:lnTo>
                  <a:lnTo>
                    <a:pt x="2183889" y="219938"/>
                  </a:lnTo>
                  <a:lnTo>
                    <a:pt x="2130752" y="233282"/>
                  </a:lnTo>
                  <a:lnTo>
                    <a:pt x="2078088" y="246979"/>
                  </a:lnTo>
                  <a:lnTo>
                    <a:pt x="2025904" y="261027"/>
                  </a:lnTo>
                  <a:lnTo>
                    <a:pt x="1974207" y="275421"/>
                  </a:lnTo>
                  <a:lnTo>
                    <a:pt x="1923004" y="290159"/>
                  </a:lnTo>
                  <a:lnTo>
                    <a:pt x="1872304" y="305237"/>
                  </a:lnTo>
                  <a:lnTo>
                    <a:pt x="1822113" y="320651"/>
                  </a:lnTo>
                  <a:lnTo>
                    <a:pt x="1772439" y="336399"/>
                  </a:lnTo>
                  <a:lnTo>
                    <a:pt x="1723288" y="352477"/>
                  </a:lnTo>
                  <a:lnTo>
                    <a:pt x="1674668" y="368881"/>
                  </a:lnTo>
                  <a:lnTo>
                    <a:pt x="1626587" y="385608"/>
                  </a:lnTo>
                  <a:lnTo>
                    <a:pt x="1579051" y="402654"/>
                  </a:lnTo>
                  <a:lnTo>
                    <a:pt x="1532068" y="420017"/>
                  </a:lnTo>
                  <a:lnTo>
                    <a:pt x="1485646" y="437693"/>
                  </a:lnTo>
                  <a:lnTo>
                    <a:pt x="1439790" y="455678"/>
                  </a:lnTo>
                  <a:lnTo>
                    <a:pt x="1394510" y="473969"/>
                  </a:lnTo>
                  <a:lnTo>
                    <a:pt x="1349811" y="492562"/>
                  </a:lnTo>
                  <a:lnTo>
                    <a:pt x="1305702" y="511455"/>
                  </a:lnTo>
                  <a:lnTo>
                    <a:pt x="1262189" y="530644"/>
                  </a:lnTo>
                  <a:lnTo>
                    <a:pt x="1219280" y="550125"/>
                  </a:lnTo>
                  <a:lnTo>
                    <a:pt x="1176982" y="569895"/>
                  </a:lnTo>
                  <a:lnTo>
                    <a:pt x="1135302" y="589951"/>
                  </a:lnTo>
                  <a:lnTo>
                    <a:pt x="1094248" y="610289"/>
                  </a:lnTo>
                  <a:lnTo>
                    <a:pt x="1053827" y="630906"/>
                  </a:lnTo>
                  <a:lnTo>
                    <a:pt x="1014046" y="651798"/>
                  </a:lnTo>
                  <a:lnTo>
                    <a:pt x="974913" y="672962"/>
                  </a:lnTo>
                  <a:lnTo>
                    <a:pt x="936434" y="694395"/>
                  </a:lnTo>
                  <a:lnTo>
                    <a:pt x="898617" y="716093"/>
                  </a:lnTo>
                  <a:lnTo>
                    <a:pt x="861470" y="738053"/>
                  </a:lnTo>
                  <a:lnTo>
                    <a:pt x="824999" y="760271"/>
                  </a:lnTo>
                  <a:lnTo>
                    <a:pt x="789212" y="782744"/>
                  </a:lnTo>
                  <a:lnTo>
                    <a:pt x="754116" y="805469"/>
                  </a:lnTo>
                  <a:lnTo>
                    <a:pt x="719718" y="828442"/>
                  </a:lnTo>
                  <a:lnTo>
                    <a:pt x="686027" y="851660"/>
                  </a:lnTo>
                  <a:lnTo>
                    <a:pt x="653048" y="875119"/>
                  </a:lnTo>
                  <a:lnTo>
                    <a:pt x="620789" y="898817"/>
                  </a:lnTo>
                  <a:lnTo>
                    <a:pt x="589257" y="922748"/>
                  </a:lnTo>
                  <a:lnTo>
                    <a:pt x="558461" y="946911"/>
                  </a:lnTo>
                  <a:lnTo>
                    <a:pt x="528406" y="971302"/>
                  </a:lnTo>
                  <a:lnTo>
                    <a:pt x="499101" y="995918"/>
                  </a:lnTo>
                  <a:lnTo>
                    <a:pt x="442768" y="1045808"/>
                  </a:lnTo>
                  <a:lnTo>
                    <a:pt x="389519" y="1096555"/>
                  </a:lnTo>
                  <a:lnTo>
                    <a:pt x="339412" y="1148132"/>
                  </a:lnTo>
                  <a:lnTo>
                    <a:pt x="292507" y="1200511"/>
                  </a:lnTo>
                  <a:lnTo>
                    <a:pt x="248860" y="1253665"/>
                  </a:lnTo>
                  <a:lnTo>
                    <a:pt x="208531" y="1307567"/>
                  </a:lnTo>
                  <a:lnTo>
                    <a:pt x="171578" y="1362190"/>
                  </a:lnTo>
                  <a:lnTo>
                    <a:pt x="138058" y="1417507"/>
                  </a:lnTo>
                  <a:lnTo>
                    <a:pt x="108030" y="1473490"/>
                  </a:lnTo>
                  <a:lnTo>
                    <a:pt x="81552" y="1530112"/>
                  </a:lnTo>
                  <a:lnTo>
                    <a:pt x="58683" y="1587346"/>
                  </a:lnTo>
                  <a:lnTo>
                    <a:pt x="39480" y="1645165"/>
                  </a:lnTo>
                  <a:lnTo>
                    <a:pt x="24001" y="1703542"/>
                  </a:lnTo>
                  <a:lnTo>
                    <a:pt x="12306" y="1762448"/>
                  </a:lnTo>
                  <a:lnTo>
                    <a:pt x="4452" y="1821859"/>
                  </a:lnTo>
                  <a:lnTo>
                    <a:pt x="497" y="1881745"/>
                  </a:lnTo>
                  <a:lnTo>
                    <a:pt x="0" y="1911858"/>
                  </a:lnTo>
                  <a:lnTo>
                    <a:pt x="497" y="1941971"/>
                  </a:lnTo>
                  <a:lnTo>
                    <a:pt x="4452" y="2001858"/>
                  </a:lnTo>
                  <a:lnTo>
                    <a:pt x="12306" y="2061268"/>
                  </a:lnTo>
                  <a:lnTo>
                    <a:pt x="24001" y="2120176"/>
                  </a:lnTo>
                  <a:lnTo>
                    <a:pt x="39480" y="2178553"/>
                  </a:lnTo>
                  <a:lnTo>
                    <a:pt x="58683" y="2236372"/>
                  </a:lnTo>
                  <a:lnTo>
                    <a:pt x="81552" y="2293607"/>
                  </a:lnTo>
                  <a:lnTo>
                    <a:pt x="108030" y="2350229"/>
                  </a:lnTo>
                  <a:lnTo>
                    <a:pt x="138058" y="2406213"/>
                  </a:lnTo>
                  <a:lnTo>
                    <a:pt x="171578" y="2461529"/>
                  </a:lnTo>
                  <a:lnTo>
                    <a:pt x="208531" y="2516153"/>
                  </a:lnTo>
                  <a:lnTo>
                    <a:pt x="248860" y="2570055"/>
                  </a:lnTo>
                  <a:lnTo>
                    <a:pt x="292507" y="2623210"/>
                  </a:lnTo>
                  <a:lnTo>
                    <a:pt x="339412" y="2675589"/>
                  </a:lnTo>
                  <a:lnTo>
                    <a:pt x="389519" y="2727166"/>
                  </a:lnTo>
                  <a:lnTo>
                    <a:pt x="442768" y="2777913"/>
                  </a:lnTo>
                  <a:lnTo>
                    <a:pt x="499101" y="2827803"/>
                  </a:lnTo>
                  <a:lnTo>
                    <a:pt x="528406" y="2852418"/>
                  </a:lnTo>
                  <a:lnTo>
                    <a:pt x="558461" y="2876809"/>
                  </a:lnTo>
                  <a:lnTo>
                    <a:pt x="589257" y="2900972"/>
                  </a:lnTo>
                  <a:lnTo>
                    <a:pt x="620789" y="2924904"/>
                  </a:lnTo>
                  <a:lnTo>
                    <a:pt x="653048" y="2948601"/>
                  </a:lnTo>
                  <a:lnTo>
                    <a:pt x="686027" y="2972061"/>
                  </a:lnTo>
                  <a:lnTo>
                    <a:pt x="719718" y="2995278"/>
                  </a:lnTo>
                  <a:lnTo>
                    <a:pt x="754116" y="3018251"/>
                  </a:lnTo>
                  <a:lnTo>
                    <a:pt x="789212" y="3040976"/>
                  </a:lnTo>
                  <a:lnTo>
                    <a:pt x="824999" y="3063449"/>
                  </a:lnTo>
                  <a:lnTo>
                    <a:pt x="861470" y="3085668"/>
                  </a:lnTo>
                  <a:lnTo>
                    <a:pt x="898617" y="3107627"/>
                  </a:lnTo>
                  <a:lnTo>
                    <a:pt x="936434" y="3129325"/>
                  </a:lnTo>
                  <a:lnTo>
                    <a:pt x="974913" y="3150758"/>
                  </a:lnTo>
                  <a:lnTo>
                    <a:pt x="1014046" y="3171922"/>
                  </a:lnTo>
                  <a:lnTo>
                    <a:pt x="1053827" y="3192814"/>
                  </a:lnTo>
                  <a:lnTo>
                    <a:pt x="1094248" y="3213431"/>
                  </a:lnTo>
                  <a:lnTo>
                    <a:pt x="1135302" y="3233769"/>
                  </a:lnTo>
                  <a:lnTo>
                    <a:pt x="1176982" y="3253825"/>
                  </a:lnTo>
                  <a:lnTo>
                    <a:pt x="1219280" y="3273595"/>
                  </a:lnTo>
                  <a:lnTo>
                    <a:pt x="1262189" y="3293076"/>
                  </a:lnTo>
                  <a:lnTo>
                    <a:pt x="1305702" y="3312264"/>
                  </a:lnTo>
                  <a:lnTo>
                    <a:pt x="1349811" y="3331157"/>
                  </a:lnTo>
                  <a:lnTo>
                    <a:pt x="1394510" y="3349751"/>
                  </a:lnTo>
                  <a:lnTo>
                    <a:pt x="1439790" y="3368042"/>
                  </a:lnTo>
                  <a:lnTo>
                    <a:pt x="1485646" y="3386026"/>
                  </a:lnTo>
                  <a:lnTo>
                    <a:pt x="1532068" y="3403702"/>
                  </a:lnTo>
                  <a:lnTo>
                    <a:pt x="1579051" y="3421065"/>
                  </a:lnTo>
                  <a:lnTo>
                    <a:pt x="1626587" y="3438111"/>
                  </a:lnTo>
                  <a:lnTo>
                    <a:pt x="1674668" y="3454838"/>
                  </a:lnTo>
                  <a:lnTo>
                    <a:pt x="1723288" y="3471242"/>
                  </a:lnTo>
                  <a:lnTo>
                    <a:pt x="1772439" y="3487319"/>
                  </a:lnTo>
                  <a:lnTo>
                    <a:pt x="1822113" y="3503067"/>
                  </a:lnTo>
                  <a:lnTo>
                    <a:pt x="1872304" y="3518481"/>
                  </a:lnTo>
                  <a:lnTo>
                    <a:pt x="1923004" y="3533559"/>
                  </a:lnTo>
                  <a:lnTo>
                    <a:pt x="1974207" y="3548297"/>
                  </a:lnTo>
                  <a:lnTo>
                    <a:pt x="2025903" y="3562691"/>
                  </a:lnTo>
                  <a:lnTo>
                    <a:pt x="2078088" y="3576738"/>
                  </a:lnTo>
                  <a:lnTo>
                    <a:pt x="2130752" y="3590436"/>
                  </a:lnTo>
                  <a:lnTo>
                    <a:pt x="2183889" y="3603779"/>
                  </a:lnTo>
                  <a:lnTo>
                    <a:pt x="2237492" y="3616766"/>
                  </a:lnTo>
                  <a:lnTo>
                    <a:pt x="2291553" y="3629392"/>
                  </a:lnTo>
                  <a:lnTo>
                    <a:pt x="2346066" y="3641655"/>
                  </a:lnTo>
                  <a:lnTo>
                    <a:pt x="2401022" y="3653550"/>
                  </a:lnTo>
                  <a:lnTo>
                    <a:pt x="2456414" y="3665074"/>
                  </a:lnTo>
                  <a:lnTo>
                    <a:pt x="2512236" y="3676225"/>
                  </a:lnTo>
                  <a:lnTo>
                    <a:pt x="2568479" y="3686998"/>
                  </a:lnTo>
                  <a:lnTo>
                    <a:pt x="2625137" y="3697390"/>
                  </a:lnTo>
                  <a:lnTo>
                    <a:pt x="2682203" y="3707398"/>
                  </a:lnTo>
                  <a:lnTo>
                    <a:pt x="2739669" y="3717018"/>
                  </a:lnTo>
                  <a:lnTo>
                    <a:pt x="2797527" y="3726248"/>
                  </a:lnTo>
                  <a:lnTo>
                    <a:pt x="2855771" y="3735083"/>
                  </a:lnTo>
                  <a:lnTo>
                    <a:pt x="2914393" y="3743520"/>
                  </a:lnTo>
                  <a:lnTo>
                    <a:pt x="2973387" y="3751556"/>
                  </a:lnTo>
                  <a:lnTo>
                    <a:pt x="3032744" y="3759187"/>
                  </a:lnTo>
                  <a:lnTo>
                    <a:pt x="3092457" y="3766410"/>
                  </a:lnTo>
                  <a:lnTo>
                    <a:pt x="3152520" y="3773222"/>
                  </a:lnTo>
                  <a:lnTo>
                    <a:pt x="3212925" y="3779619"/>
                  </a:lnTo>
                  <a:lnTo>
                    <a:pt x="3273664" y="3785598"/>
                  </a:lnTo>
                  <a:lnTo>
                    <a:pt x="3334731" y="3791155"/>
                  </a:lnTo>
                  <a:lnTo>
                    <a:pt x="3396117" y="3796287"/>
                  </a:lnTo>
                  <a:lnTo>
                    <a:pt x="3457817" y="3800991"/>
                  </a:lnTo>
                  <a:lnTo>
                    <a:pt x="3519822" y="3805262"/>
                  </a:lnTo>
                  <a:lnTo>
                    <a:pt x="3582125" y="3809099"/>
                  </a:lnTo>
                  <a:lnTo>
                    <a:pt x="3644719" y="3812497"/>
                  </a:lnTo>
                  <a:lnTo>
                    <a:pt x="3707597" y="3815453"/>
                  </a:lnTo>
                  <a:lnTo>
                    <a:pt x="3770752" y="3817963"/>
                  </a:lnTo>
                  <a:lnTo>
                    <a:pt x="3834175" y="3820025"/>
                  </a:lnTo>
                  <a:lnTo>
                    <a:pt x="3897861" y="3821635"/>
                  </a:lnTo>
                  <a:lnTo>
                    <a:pt x="3961801" y="3822788"/>
                  </a:lnTo>
                  <a:lnTo>
                    <a:pt x="4025988" y="3823483"/>
                  </a:lnTo>
                  <a:lnTo>
                    <a:pt x="4090416" y="3823716"/>
                  </a:lnTo>
                  <a:lnTo>
                    <a:pt x="4154843" y="3823483"/>
                  </a:lnTo>
                  <a:lnTo>
                    <a:pt x="4219030" y="3822788"/>
                  </a:lnTo>
                  <a:lnTo>
                    <a:pt x="4282970" y="3821635"/>
                  </a:lnTo>
                  <a:lnTo>
                    <a:pt x="4346656" y="3820025"/>
                  </a:lnTo>
                  <a:lnTo>
                    <a:pt x="4410079" y="3817963"/>
                  </a:lnTo>
                  <a:lnTo>
                    <a:pt x="4473234" y="3815453"/>
                  </a:lnTo>
                  <a:lnTo>
                    <a:pt x="4536112" y="3812497"/>
                  </a:lnTo>
                  <a:lnTo>
                    <a:pt x="4598706" y="3809099"/>
                  </a:lnTo>
                  <a:lnTo>
                    <a:pt x="4661009" y="3805262"/>
                  </a:lnTo>
                  <a:lnTo>
                    <a:pt x="4723014" y="3800991"/>
                  </a:lnTo>
                  <a:lnTo>
                    <a:pt x="4784714" y="3796287"/>
                  </a:lnTo>
                  <a:lnTo>
                    <a:pt x="4846100" y="3791155"/>
                  </a:lnTo>
                  <a:lnTo>
                    <a:pt x="4907167" y="3785598"/>
                  </a:lnTo>
                  <a:lnTo>
                    <a:pt x="4967906" y="3779619"/>
                  </a:lnTo>
                  <a:lnTo>
                    <a:pt x="5028311" y="3773222"/>
                  </a:lnTo>
                  <a:lnTo>
                    <a:pt x="5088374" y="3766410"/>
                  </a:lnTo>
                  <a:lnTo>
                    <a:pt x="5148087" y="3759187"/>
                  </a:lnTo>
                  <a:lnTo>
                    <a:pt x="5207444" y="3751556"/>
                  </a:lnTo>
                  <a:lnTo>
                    <a:pt x="5266438" y="3743520"/>
                  </a:lnTo>
                  <a:lnTo>
                    <a:pt x="5325060" y="3735083"/>
                  </a:lnTo>
                  <a:lnTo>
                    <a:pt x="5383304" y="3726248"/>
                  </a:lnTo>
                  <a:lnTo>
                    <a:pt x="5441162" y="3717018"/>
                  </a:lnTo>
                  <a:lnTo>
                    <a:pt x="5498628" y="3707398"/>
                  </a:lnTo>
                  <a:lnTo>
                    <a:pt x="5555694" y="3697390"/>
                  </a:lnTo>
                  <a:lnTo>
                    <a:pt x="5612352" y="3686998"/>
                  </a:lnTo>
                  <a:lnTo>
                    <a:pt x="5668595" y="3676225"/>
                  </a:lnTo>
                  <a:lnTo>
                    <a:pt x="5724417" y="3665074"/>
                  </a:lnTo>
                  <a:lnTo>
                    <a:pt x="5779809" y="3653550"/>
                  </a:lnTo>
                  <a:lnTo>
                    <a:pt x="5834765" y="3641655"/>
                  </a:lnTo>
                  <a:lnTo>
                    <a:pt x="5889278" y="3629392"/>
                  </a:lnTo>
                  <a:lnTo>
                    <a:pt x="5943339" y="3616766"/>
                  </a:lnTo>
                  <a:lnTo>
                    <a:pt x="5996942" y="3603779"/>
                  </a:lnTo>
                  <a:lnTo>
                    <a:pt x="6050079" y="3590436"/>
                  </a:lnTo>
                  <a:lnTo>
                    <a:pt x="6102743" y="3576738"/>
                  </a:lnTo>
                  <a:lnTo>
                    <a:pt x="6154927" y="3562691"/>
                  </a:lnTo>
                  <a:lnTo>
                    <a:pt x="6206624" y="3548297"/>
                  </a:lnTo>
                  <a:lnTo>
                    <a:pt x="6257827" y="3533559"/>
                  </a:lnTo>
                  <a:lnTo>
                    <a:pt x="6308527" y="3518481"/>
                  </a:lnTo>
                  <a:lnTo>
                    <a:pt x="6358718" y="3503067"/>
                  </a:lnTo>
                  <a:lnTo>
                    <a:pt x="6408392" y="3487319"/>
                  </a:lnTo>
                  <a:lnTo>
                    <a:pt x="6457543" y="3471242"/>
                  </a:lnTo>
                  <a:lnTo>
                    <a:pt x="6506163" y="3454838"/>
                  </a:lnTo>
                  <a:lnTo>
                    <a:pt x="6554244" y="3438111"/>
                  </a:lnTo>
                  <a:lnTo>
                    <a:pt x="6601780" y="3421065"/>
                  </a:lnTo>
                  <a:lnTo>
                    <a:pt x="6648763" y="3403702"/>
                  </a:lnTo>
                  <a:lnTo>
                    <a:pt x="6695185" y="3386026"/>
                  </a:lnTo>
                  <a:lnTo>
                    <a:pt x="6741041" y="3368042"/>
                  </a:lnTo>
                  <a:lnTo>
                    <a:pt x="6786321" y="3349751"/>
                  </a:lnTo>
                  <a:lnTo>
                    <a:pt x="6831020" y="3331157"/>
                  </a:lnTo>
                  <a:lnTo>
                    <a:pt x="6875129" y="3312264"/>
                  </a:lnTo>
                  <a:lnTo>
                    <a:pt x="6918642" y="3293076"/>
                  </a:lnTo>
                  <a:lnTo>
                    <a:pt x="6961551" y="3273595"/>
                  </a:lnTo>
                  <a:lnTo>
                    <a:pt x="7003849" y="3253825"/>
                  </a:lnTo>
                  <a:lnTo>
                    <a:pt x="7045529" y="3233769"/>
                  </a:lnTo>
                  <a:lnTo>
                    <a:pt x="7086583" y="3213431"/>
                  </a:lnTo>
                  <a:lnTo>
                    <a:pt x="7127004" y="3192814"/>
                  </a:lnTo>
                  <a:lnTo>
                    <a:pt x="7166785" y="3171922"/>
                  </a:lnTo>
                  <a:lnTo>
                    <a:pt x="7205918" y="3150758"/>
                  </a:lnTo>
                  <a:lnTo>
                    <a:pt x="7244397" y="3129325"/>
                  </a:lnTo>
                  <a:lnTo>
                    <a:pt x="7282214" y="3107627"/>
                  </a:lnTo>
                  <a:lnTo>
                    <a:pt x="7319361" y="3085668"/>
                  </a:lnTo>
                  <a:lnTo>
                    <a:pt x="7355832" y="3063449"/>
                  </a:lnTo>
                  <a:lnTo>
                    <a:pt x="7391619" y="3040976"/>
                  </a:lnTo>
                  <a:lnTo>
                    <a:pt x="7426715" y="3018251"/>
                  </a:lnTo>
                  <a:lnTo>
                    <a:pt x="7461113" y="2995278"/>
                  </a:lnTo>
                  <a:lnTo>
                    <a:pt x="7494804" y="2972061"/>
                  </a:lnTo>
                  <a:lnTo>
                    <a:pt x="7527783" y="2948601"/>
                  </a:lnTo>
                  <a:lnTo>
                    <a:pt x="7560042" y="2924904"/>
                  </a:lnTo>
                  <a:lnTo>
                    <a:pt x="7591574" y="2900972"/>
                  </a:lnTo>
                  <a:lnTo>
                    <a:pt x="7622370" y="2876809"/>
                  </a:lnTo>
                  <a:lnTo>
                    <a:pt x="7652425" y="2852418"/>
                  </a:lnTo>
                  <a:lnTo>
                    <a:pt x="7681730" y="2827803"/>
                  </a:lnTo>
                  <a:lnTo>
                    <a:pt x="7738063" y="2777913"/>
                  </a:lnTo>
                  <a:lnTo>
                    <a:pt x="7791312" y="2727166"/>
                  </a:lnTo>
                  <a:lnTo>
                    <a:pt x="7841419" y="2675589"/>
                  </a:lnTo>
                  <a:lnTo>
                    <a:pt x="7888324" y="2623210"/>
                  </a:lnTo>
                  <a:lnTo>
                    <a:pt x="7931971" y="2570055"/>
                  </a:lnTo>
                  <a:lnTo>
                    <a:pt x="7972300" y="2516153"/>
                  </a:lnTo>
                  <a:lnTo>
                    <a:pt x="8009253" y="2461529"/>
                  </a:lnTo>
                  <a:lnTo>
                    <a:pt x="8042773" y="2406213"/>
                  </a:lnTo>
                  <a:lnTo>
                    <a:pt x="8072801" y="2350229"/>
                  </a:lnTo>
                  <a:lnTo>
                    <a:pt x="8099279" y="2293607"/>
                  </a:lnTo>
                  <a:lnTo>
                    <a:pt x="8122148" y="2236372"/>
                  </a:lnTo>
                  <a:lnTo>
                    <a:pt x="8141351" y="2178553"/>
                  </a:lnTo>
                  <a:lnTo>
                    <a:pt x="8156830" y="2120176"/>
                  </a:lnTo>
                  <a:lnTo>
                    <a:pt x="8168525" y="2061268"/>
                  </a:lnTo>
                  <a:lnTo>
                    <a:pt x="8176379" y="2001858"/>
                  </a:lnTo>
                  <a:lnTo>
                    <a:pt x="8180334" y="1941971"/>
                  </a:lnTo>
                  <a:lnTo>
                    <a:pt x="8180832" y="1911858"/>
                  </a:lnTo>
                  <a:lnTo>
                    <a:pt x="8180334" y="1881745"/>
                  </a:lnTo>
                  <a:lnTo>
                    <a:pt x="8176379" y="1821859"/>
                  </a:lnTo>
                  <a:lnTo>
                    <a:pt x="8168525" y="1762448"/>
                  </a:lnTo>
                  <a:lnTo>
                    <a:pt x="8156830" y="1703542"/>
                  </a:lnTo>
                  <a:lnTo>
                    <a:pt x="8141351" y="1645165"/>
                  </a:lnTo>
                  <a:lnTo>
                    <a:pt x="8122148" y="1587346"/>
                  </a:lnTo>
                  <a:lnTo>
                    <a:pt x="8099279" y="1530112"/>
                  </a:lnTo>
                  <a:lnTo>
                    <a:pt x="8072801" y="1473490"/>
                  </a:lnTo>
                  <a:lnTo>
                    <a:pt x="8042773" y="1417507"/>
                  </a:lnTo>
                  <a:lnTo>
                    <a:pt x="8009253" y="1362190"/>
                  </a:lnTo>
                  <a:lnTo>
                    <a:pt x="7972300" y="1307567"/>
                  </a:lnTo>
                  <a:lnTo>
                    <a:pt x="7931971" y="1253665"/>
                  </a:lnTo>
                  <a:lnTo>
                    <a:pt x="7888324" y="1200511"/>
                  </a:lnTo>
                  <a:lnTo>
                    <a:pt x="7841419" y="1148132"/>
                  </a:lnTo>
                  <a:lnTo>
                    <a:pt x="7791312" y="1096555"/>
                  </a:lnTo>
                  <a:lnTo>
                    <a:pt x="7738063" y="1045808"/>
                  </a:lnTo>
                  <a:lnTo>
                    <a:pt x="7681730" y="995918"/>
                  </a:lnTo>
                  <a:lnTo>
                    <a:pt x="7652425" y="971302"/>
                  </a:lnTo>
                  <a:lnTo>
                    <a:pt x="7622370" y="946912"/>
                  </a:lnTo>
                  <a:lnTo>
                    <a:pt x="7591574" y="922748"/>
                  </a:lnTo>
                  <a:lnTo>
                    <a:pt x="7560042" y="898817"/>
                  </a:lnTo>
                  <a:lnTo>
                    <a:pt x="7527783" y="875119"/>
                  </a:lnTo>
                  <a:lnTo>
                    <a:pt x="7494804" y="851660"/>
                  </a:lnTo>
                  <a:lnTo>
                    <a:pt x="7461113" y="828442"/>
                  </a:lnTo>
                  <a:lnTo>
                    <a:pt x="7426715" y="805469"/>
                  </a:lnTo>
                  <a:lnTo>
                    <a:pt x="7391619" y="782744"/>
                  </a:lnTo>
                  <a:lnTo>
                    <a:pt x="7355832" y="760271"/>
                  </a:lnTo>
                  <a:lnTo>
                    <a:pt x="7319361" y="738053"/>
                  </a:lnTo>
                  <a:lnTo>
                    <a:pt x="7282214" y="716093"/>
                  </a:lnTo>
                  <a:lnTo>
                    <a:pt x="7244397" y="694395"/>
                  </a:lnTo>
                  <a:lnTo>
                    <a:pt x="7205918" y="672962"/>
                  </a:lnTo>
                  <a:lnTo>
                    <a:pt x="7166785" y="651798"/>
                  </a:lnTo>
                  <a:lnTo>
                    <a:pt x="7127004" y="630906"/>
                  </a:lnTo>
                  <a:lnTo>
                    <a:pt x="7086583" y="610289"/>
                  </a:lnTo>
                  <a:lnTo>
                    <a:pt x="7045529" y="589951"/>
                  </a:lnTo>
                  <a:lnTo>
                    <a:pt x="7003849" y="569895"/>
                  </a:lnTo>
                  <a:lnTo>
                    <a:pt x="6961551" y="550125"/>
                  </a:lnTo>
                  <a:lnTo>
                    <a:pt x="6918642" y="530644"/>
                  </a:lnTo>
                  <a:lnTo>
                    <a:pt x="6875129" y="511455"/>
                  </a:lnTo>
                  <a:lnTo>
                    <a:pt x="6831020" y="492562"/>
                  </a:lnTo>
                  <a:lnTo>
                    <a:pt x="6786321" y="473969"/>
                  </a:lnTo>
                  <a:lnTo>
                    <a:pt x="6741041" y="455678"/>
                  </a:lnTo>
                  <a:lnTo>
                    <a:pt x="6695185" y="437693"/>
                  </a:lnTo>
                  <a:lnTo>
                    <a:pt x="6648763" y="420017"/>
                  </a:lnTo>
                  <a:lnTo>
                    <a:pt x="6601780" y="402654"/>
                  </a:lnTo>
                  <a:lnTo>
                    <a:pt x="6554244" y="385608"/>
                  </a:lnTo>
                  <a:lnTo>
                    <a:pt x="6506163" y="368881"/>
                  </a:lnTo>
                  <a:lnTo>
                    <a:pt x="6457543" y="352477"/>
                  </a:lnTo>
                  <a:lnTo>
                    <a:pt x="6408392" y="336399"/>
                  </a:lnTo>
                  <a:lnTo>
                    <a:pt x="6358718" y="320651"/>
                  </a:lnTo>
                  <a:lnTo>
                    <a:pt x="6308527" y="305237"/>
                  </a:lnTo>
                  <a:lnTo>
                    <a:pt x="6257827" y="290159"/>
                  </a:lnTo>
                  <a:lnTo>
                    <a:pt x="6206624" y="275421"/>
                  </a:lnTo>
                  <a:lnTo>
                    <a:pt x="6154928" y="261027"/>
                  </a:lnTo>
                  <a:lnTo>
                    <a:pt x="6102743" y="246979"/>
                  </a:lnTo>
                  <a:lnTo>
                    <a:pt x="6050079" y="233282"/>
                  </a:lnTo>
                  <a:lnTo>
                    <a:pt x="5996942" y="219938"/>
                  </a:lnTo>
                  <a:lnTo>
                    <a:pt x="5943339" y="206951"/>
                  </a:lnTo>
                  <a:lnTo>
                    <a:pt x="5889278" y="194325"/>
                  </a:lnTo>
                  <a:lnTo>
                    <a:pt x="5834765" y="182063"/>
                  </a:lnTo>
                  <a:lnTo>
                    <a:pt x="5779809" y="170167"/>
                  </a:lnTo>
                  <a:lnTo>
                    <a:pt x="5724417" y="158643"/>
                  </a:lnTo>
                  <a:lnTo>
                    <a:pt x="5668595" y="147492"/>
                  </a:lnTo>
                  <a:lnTo>
                    <a:pt x="5612352" y="136719"/>
                  </a:lnTo>
                  <a:lnTo>
                    <a:pt x="5555694" y="126327"/>
                  </a:lnTo>
                  <a:lnTo>
                    <a:pt x="5498628" y="116318"/>
                  </a:lnTo>
                  <a:lnTo>
                    <a:pt x="5441162" y="106698"/>
                  </a:lnTo>
                  <a:lnTo>
                    <a:pt x="5383304" y="97468"/>
                  </a:lnTo>
                  <a:lnTo>
                    <a:pt x="5325060" y="88633"/>
                  </a:lnTo>
                  <a:lnTo>
                    <a:pt x="5266438" y="80196"/>
                  </a:lnTo>
                  <a:lnTo>
                    <a:pt x="5207444" y="72160"/>
                  </a:lnTo>
                  <a:lnTo>
                    <a:pt x="5148087" y="64529"/>
                  </a:lnTo>
                  <a:lnTo>
                    <a:pt x="5088374" y="57306"/>
                  </a:lnTo>
                  <a:lnTo>
                    <a:pt x="5028311" y="50494"/>
                  </a:lnTo>
                  <a:lnTo>
                    <a:pt x="4967906" y="44097"/>
                  </a:lnTo>
                  <a:lnTo>
                    <a:pt x="4907167" y="38118"/>
                  </a:lnTo>
                  <a:lnTo>
                    <a:pt x="4846100" y="32561"/>
                  </a:lnTo>
                  <a:lnTo>
                    <a:pt x="4784714" y="27428"/>
                  </a:lnTo>
                  <a:lnTo>
                    <a:pt x="4723014" y="22725"/>
                  </a:lnTo>
                  <a:lnTo>
                    <a:pt x="4661009" y="18453"/>
                  </a:lnTo>
                  <a:lnTo>
                    <a:pt x="4598706" y="14616"/>
                  </a:lnTo>
                  <a:lnTo>
                    <a:pt x="4536112" y="11218"/>
                  </a:lnTo>
                  <a:lnTo>
                    <a:pt x="4473234" y="8262"/>
                  </a:lnTo>
                  <a:lnTo>
                    <a:pt x="4410079" y="5752"/>
                  </a:lnTo>
                  <a:lnTo>
                    <a:pt x="4346656" y="3690"/>
                  </a:lnTo>
                  <a:lnTo>
                    <a:pt x="4282970" y="2080"/>
                  </a:lnTo>
                  <a:lnTo>
                    <a:pt x="4219030" y="927"/>
                  </a:lnTo>
                  <a:lnTo>
                    <a:pt x="4154843" y="232"/>
                  </a:lnTo>
                  <a:lnTo>
                    <a:pt x="4090416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2DB13E24-7D1D-C804-693D-7D0F9559DEE0}"/>
                </a:ext>
              </a:extLst>
            </p:cNvPr>
            <p:cNvSpPr/>
            <p:nvPr/>
          </p:nvSpPr>
          <p:spPr>
            <a:xfrm>
              <a:off x="274319" y="1121663"/>
              <a:ext cx="8181340" cy="3823970"/>
            </a:xfrm>
            <a:custGeom>
              <a:avLst/>
              <a:gdLst/>
              <a:ahLst/>
              <a:cxnLst/>
              <a:rect l="l" t="t" r="r" b="b"/>
              <a:pathLst>
                <a:path w="8181340" h="3823970">
                  <a:moveTo>
                    <a:pt x="0" y="1911858"/>
                  </a:moveTo>
                  <a:lnTo>
                    <a:pt x="1983" y="1851744"/>
                  </a:lnTo>
                  <a:lnTo>
                    <a:pt x="7895" y="1792092"/>
                  </a:lnTo>
                  <a:lnTo>
                    <a:pt x="17677" y="1732930"/>
                  </a:lnTo>
                  <a:lnTo>
                    <a:pt x="31271" y="1674285"/>
                  </a:lnTo>
                  <a:lnTo>
                    <a:pt x="48619" y="1616184"/>
                  </a:lnTo>
                  <a:lnTo>
                    <a:pt x="69663" y="1558654"/>
                  </a:lnTo>
                  <a:lnTo>
                    <a:pt x="94344" y="1501723"/>
                  </a:lnTo>
                  <a:lnTo>
                    <a:pt x="122604" y="1445417"/>
                  </a:lnTo>
                  <a:lnTo>
                    <a:pt x="154385" y="1389763"/>
                  </a:lnTo>
                  <a:lnTo>
                    <a:pt x="189629" y="1334790"/>
                  </a:lnTo>
                  <a:lnTo>
                    <a:pt x="228278" y="1280524"/>
                  </a:lnTo>
                  <a:lnTo>
                    <a:pt x="270273" y="1226993"/>
                  </a:lnTo>
                  <a:lnTo>
                    <a:pt x="315556" y="1174223"/>
                  </a:lnTo>
                  <a:lnTo>
                    <a:pt x="364069" y="1122241"/>
                  </a:lnTo>
                  <a:lnTo>
                    <a:pt x="415754" y="1071076"/>
                  </a:lnTo>
                  <a:lnTo>
                    <a:pt x="470552" y="1020754"/>
                  </a:lnTo>
                  <a:lnTo>
                    <a:pt x="528406" y="971302"/>
                  </a:lnTo>
                  <a:lnTo>
                    <a:pt x="558461" y="946911"/>
                  </a:lnTo>
                  <a:lnTo>
                    <a:pt x="589257" y="922748"/>
                  </a:lnTo>
                  <a:lnTo>
                    <a:pt x="620789" y="898817"/>
                  </a:lnTo>
                  <a:lnTo>
                    <a:pt x="653048" y="875119"/>
                  </a:lnTo>
                  <a:lnTo>
                    <a:pt x="686027" y="851660"/>
                  </a:lnTo>
                  <a:lnTo>
                    <a:pt x="719718" y="828442"/>
                  </a:lnTo>
                  <a:lnTo>
                    <a:pt x="754116" y="805469"/>
                  </a:lnTo>
                  <a:lnTo>
                    <a:pt x="789212" y="782744"/>
                  </a:lnTo>
                  <a:lnTo>
                    <a:pt x="824999" y="760271"/>
                  </a:lnTo>
                  <a:lnTo>
                    <a:pt x="861470" y="738053"/>
                  </a:lnTo>
                  <a:lnTo>
                    <a:pt x="898617" y="716093"/>
                  </a:lnTo>
                  <a:lnTo>
                    <a:pt x="936434" y="694395"/>
                  </a:lnTo>
                  <a:lnTo>
                    <a:pt x="974913" y="672962"/>
                  </a:lnTo>
                  <a:lnTo>
                    <a:pt x="1014046" y="651798"/>
                  </a:lnTo>
                  <a:lnTo>
                    <a:pt x="1053827" y="630906"/>
                  </a:lnTo>
                  <a:lnTo>
                    <a:pt x="1094248" y="610289"/>
                  </a:lnTo>
                  <a:lnTo>
                    <a:pt x="1135302" y="589951"/>
                  </a:lnTo>
                  <a:lnTo>
                    <a:pt x="1176982" y="569895"/>
                  </a:lnTo>
                  <a:lnTo>
                    <a:pt x="1219280" y="550125"/>
                  </a:lnTo>
                  <a:lnTo>
                    <a:pt x="1262189" y="530644"/>
                  </a:lnTo>
                  <a:lnTo>
                    <a:pt x="1305702" y="511455"/>
                  </a:lnTo>
                  <a:lnTo>
                    <a:pt x="1349811" y="492562"/>
                  </a:lnTo>
                  <a:lnTo>
                    <a:pt x="1394510" y="473969"/>
                  </a:lnTo>
                  <a:lnTo>
                    <a:pt x="1439790" y="455678"/>
                  </a:lnTo>
                  <a:lnTo>
                    <a:pt x="1485646" y="437693"/>
                  </a:lnTo>
                  <a:lnTo>
                    <a:pt x="1532068" y="420017"/>
                  </a:lnTo>
                  <a:lnTo>
                    <a:pt x="1579051" y="402654"/>
                  </a:lnTo>
                  <a:lnTo>
                    <a:pt x="1626587" y="385608"/>
                  </a:lnTo>
                  <a:lnTo>
                    <a:pt x="1674668" y="368881"/>
                  </a:lnTo>
                  <a:lnTo>
                    <a:pt x="1723288" y="352477"/>
                  </a:lnTo>
                  <a:lnTo>
                    <a:pt x="1772439" y="336399"/>
                  </a:lnTo>
                  <a:lnTo>
                    <a:pt x="1822113" y="320651"/>
                  </a:lnTo>
                  <a:lnTo>
                    <a:pt x="1872304" y="305237"/>
                  </a:lnTo>
                  <a:lnTo>
                    <a:pt x="1923004" y="290159"/>
                  </a:lnTo>
                  <a:lnTo>
                    <a:pt x="1974207" y="275421"/>
                  </a:lnTo>
                  <a:lnTo>
                    <a:pt x="2025904" y="261027"/>
                  </a:lnTo>
                  <a:lnTo>
                    <a:pt x="2078088" y="246979"/>
                  </a:lnTo>
                  <a:lnTo>
                    <a:pt x="2130752" y="233282"/>
                  </a:lnTo>
                  <a:lnTo>
                    <a:pt x="2183889" y="219938"/>
                  </a:lnTo>
                  <a:lnTo>
                    <a:pt x="2237492" y="206951"/>
                  </a:lnTo>
                  <a:lnTo>
                    <a:pt x="2291553" y="194325"/>
                  </a:lnTo>
                  <a:lnTo>
                    <a:pt x="2346066" y="182063"/>
                  </a:lnTo>
                  <a:lnTo>
                    <a:pt x="2401022" y="170167"/>
                  </a:lnTo>
                  <a:lnTo>
                    <a:pt x="2456414" y="158643"/>
                  </a:lnTo>
                  <a:lnTo>
                    <a:pt x="2512236" y="147492"/>
                  </a:lnTo>
                  <a:lnTo>
                    <a:pt x="2568479" y="136719"/>
                  </a:lnTo>
                  <a:lnTo>
                    <a:pt x="2625137" y="126327"/>
                  </a:lnTo>
                  <a:lnTo>
                    <a:pt x="2682203" y="116318"/>
                  </a:lnTo>
                  <a:lnTo>
                    <a:pt x="2739669" y="106698"/>
                  </a:lnTo>
                  <a:lnTo>
                    <a:pt x="2797527" y="97468"/>
                  </a:lnTo>
                  <a:lnTo>
                    <a:pt x="2855771" y="88633"/>
                  </a:lnTo>
                  <a:lnTo>
                    <a:pt x="2914393" y="80196"/>
                  </a:lnTo>
                  <a:lnTo>
                    <a:pt x="2973387" y="72160"/>
                  </a:lnTo>
                  <a:lnTo>
                    <a:pt x="3032744" y="64529"/>
                  </a:lnTo>
                  <a:lnTo>
                    <a:pt x="3092457" y="57306"/>
                  </a:lnTo>
                  <a:lnTo>
                    <a:pt x="3152520" y="50494"/>
                  </a:lnTo>
                  <a:lnTo>
                    <a:pt x="3212925" y="44097"/>
                  </a:lnTo>
                  <a:lnTo>
                    <a:pt x="3273664" y="38118"/>
                  </a:lnTo>
                  <a:lnTo>
                    <a:pt x="3334731" y="32561"/>
                  </a:lnTo>
                  <a:lnTo>
                    <a:pt x="3396117" y="27428"/>
                  </a:lnTo>
                  <a:lnTo>
                    <a:pt x="3457817" y="22725"/>
                  </a:lnTo>
                  <a:lnTo>
                    <a:pt x="3519822" y="18453"/>
                  </a:lnTo>
                  <a:lnTo>
                    <a:pt x="3582125" y="14616"/>
                  </a:lnTo>
                  <a:lnTo>
                    <a:pt x="3644719" y="11218"/>
                  </a:lnTo>
                  <a:lnTo>
                    <a:pt x="3707597" y="8262"/>
                  </a:lnTo>
                  <a:lnTo>
                    <a:pt x="3770752" y="5752"/>
                  </a:lnTo>
                  <a:lnTo>
                    <a:pt x="3834175" y="3690"/>
                  </a:lnTo>
                  <a:lnTo>
                    <a:pt x="3897861" y="2080"/>
                  </a:lnTo>
                  <a:lnTo>
                    <a:pt x="3961801" y="927"/>
                  </a:lnTo>
                  <a:lnTo>
                    <a:pt x="4025988" y="232"/>
                  </a:lnTo>
                  <a:lnTo>
                    <a:pt x="4090416" y="0"/>
                  </a:lnTo>
                  <a:lnTo>
                    <a:pt x="4154843" y="232"/>
                  </a:lnTo>
                  <a:lnTo>
                    <a:pt x="4219030" y="927"/>
                  </a:lnTo>
                  <a:lnTo>
                    <a:pt x="4282970" y="2080"/>
                  </a:lnTo>
                  <a:lnTo>
                    <a:pt x="4346656" y="3690"/>
                  </a:lnTo>
                  <a:lnTo>
                    <a:pt x="4410079" y="5752"/>
                  </a:lnTo>
                  <a:lnTo>
                    <a:pt x="4473234" y="8262"/>
                  </a:lnTo>
                  <a:lnTo>
                    <a:pt x="4536112" y="11218"/>
                  </a:lnTo>
                  <a:lnTo>
                    <a:pt x="4598706" y="14616"/>
                  </a:lnTo>
                  <a:lnTo>
                    <a:pt x="4661009" y="18453"/>
                  </a:lnTo>
                  <a:lnTo>
                    <a:pt x="4723014" y="22725"/>
                  </a:lnTo>
                  <a:lnTo>
                    <a:pt x="4784714" y="27428"/>
                  </a:lnTo>
                  <a:lnTo>
                    <a:pt x="4846100" y="32561"/>
                  </a:lnTo>
                  <a:lnTo>
                    <a:pt x="4907167" y="38118"/>
                  </a:lnTo>
                  <a:lnTo>
                    <a:pt x="4967906" y="44097"/>
                  </a:lnTo>
                  <a:lnTo>
                    <a:pt x="5028311" y="50494"/>
                  </a:lnTo>
                  <a:lnTo>
                    <a:pt x="5088374" y="57306"/>
                  </a:lnTo>
                  <a:lnTo>
                    <a:pt x="5148087" y="64529"/>
                  </a:lnTo>
                  <a:lnTo>
                    <a:pt x="5207444" y="72160"/>
                  </a:lnTo>
                  <a:lnTo>
                    <a:pt x="5266438" y="80196"/>
                  </a:lnTo>
                  <a:lnTo>
                    <a:pt x="5325060" y="88633"/>
                  </a:lnTo>
                  <a:lnTo>
                    <a:pt x="5383304" y="97468"/>
                  </a:lnTo>
                  <a:lnTo>
                    <a:pt x="5441162" y="106698"/>
                  </a:lnTo>
                  <a:lnTo>
                    <a:pt x="5498628" y="116318"/>
                  </a:lnTo>
                  <a:lnTo>
                    <a:pt x="5555694" y="126327"/>
                  </a:lnTo>
                  <a:lnTo>
                    <a:pt x="5612352" y="136719"/>
                  </a:lnTo>
                  <a:lnTo>
                    <a:pt x="5668595" y="147492"/>
                  </a:lnTo>
                  <a:lnTo>
                    <a:pt x="5724417" y="158643"/>
                  </a:lnTo>
                  <a:lnTo>
                    <a:pt x="5779809" y="170167"/>
                  </a:lnTo>
                  <a:lnTo>
                    <a:pt x="5834765" y="182063"/>
                  </a:lnTo>
                  <a:lnTo>
                    <a:pt x="5889278" y="194325"/>
                  </a:lnTo>
                  <a:lnTo>
                    <a:pt x="5943339" y="206951"/>
                  </a:lnTo>
                  <a:lnTo>
                    <a:pt x="5996942" y="219938"/>
                  </a:lnTo>
                  <a:lnTo>
                    <a:pt x="6050079" y="233282"/>
                  </a:lnTo>
                  <a:lnTo>
                    <a:pt x="6102743" y="246979"/>
                  </a:lnTo>
                  <a:lnTo>
                    <a:pt x="6154928" y="261027"/>
                  </a:lnTo>
                  <a:lnTo>
                    <a:pt x="6206624" y="275421"/>
                  </a:lnTo>
                  <a:lnTo>
                    <a:pt x="6257827" y="290159"/>
                  </a:lnTo>
                  <a:lnTo>
                    <a:pt x="6308527" y="305237"/>
                  </a:lnTo>
                  <a:lnTo>
                    <a:pt x="6358718" y="320651"/>
                  </a:lnTo>
                  <a:lnTo>
                    <a:pt x="6408392" y="336399"/>
                  </a:lnTo>
                  <a:lnTo>
                    <a:pt x="6457543" y="352477"/>
                  </a:lnTo>
                  <a:lnTo>
                    <a:pt x="6506163" y="368881"/>
                  </a:lnTo>
                  <a:lnTo>
                    <a:pt x="6554244" y="385608"/>
                  </a:lnTo>
                  <a:lnTo>
                    <a:pt x="6601780" y="402654"/>
                  </a:lnTo>
                  <a:lnTo>
                    <a:pt x="6648763" y="420017"/>
                  </a:lnTo>
                  <a:lnTo>
                    <a:pt x="6695185" y="437693"/>
                  </a:lnTo>
                  <a:lnTo>
                    <a:pt x="6741041" y="455678"/>
                  </a:lnTo>
                  <a:lnTo>
                    <a:pt x="6786321" y="473969"/>
                  </a:lnTo>
                  <a:lnTo>
                    <a:pt x="6831020" y="492562"/>
                  </a:lnTo>
                  <a:lnTo>
                    <a:pt x="6875129" y="511455"/>
                  </a:lnTo>
                  <a:lnTo>
                    <a:pt x="6918642" y="530644"/>
                  </a:lnTo>
                  <a:lnTo>
                    <a:pt x="6961551" y="550125"/>
                  </a:lnTo>
                  <a:lnTo>
                    <a:pt x="7003849" y="569895"/>
                  </a:lnTo>
                  <a:lnTo>
                    <a:pt x="7045529" y="589951"/>
                  </a:lnTo>
                  <a:lnTo>
                    <a:pt x="7086583" y="610289"/>
                  </a:lnTo>
                  <a:lnTo>
                    <a:pt x="7127004" y="630906"/>
                  </a:lnTo>
                  <a:lnTo>
                    <a:pt x="7166785" y="651798"/>
                  </a:lnTo>
                  <a:lnTo>
                    <a:pt x="7205918" y="672962"/>
                  </a:lnTo>
                  <a:lnTo>
                    <a:pt x="7244397" y="694395"/>
                  </a:lnTo>
                  <a:lnTo>
                    <a:pt x="7282214" y="716093"/>
                  </a:lnTo>
                  <a:lnTo>
                    <a:pt x="7319361" y="738053"/>
                  </a:lnTo>
                  <a:lnTo>
                    <a:pt x="7355832" y="760271"/>
                  </a:lnTo>
                  <a:lnTo>
                    <a:pt x="7391619" y="782744"/>
                  </a:lnTo>
                  <a:lnTo>
                    <a:pt x="7426715" y="805469"/>
                  </a:lnTo>
                  <a:lnTo>
                    <a:pt x="7461113" y="828442"/>
                  </a:lnTo>
                  <a:lnTo>
                    <a:pt x="7494804" y="851660"/>
                  </a:lnTo>
                  <a:lnTo>
                    <a:pt x="7527783" y="875119"/>
                  </a:lnTo>
                  <a:lnTo>
                    <a:pt x="7560042" y="898817"/>
                  </a:lnTo>
                  <a:lnTo>
                    <a:pt x="7591574" y="922748"/>
                  </a:lnTo>
                  <a:lnTo>
                    <a:pt x="7622370" y="946912"/>
                  </a:lnTo>
                  <a:lnTo>
                    <a:pt x="7652425" y="971302"/>
                  </a:lnTo>
                  <a:lnTo>
                    <a:pt x="7681730" y="995918"/>
                  </a:lnTo>
                  <a:lnTo>
                    <a:pt x="7738063" y="1045808"/>
                  </a:lnTo>
                  <a:lnTo>
                    <a:pt x="7791312" y="1096555"/>
                  </a:lnTo>
                  <a:lnTo>
                    <a:pt x="7841419" y="1148132"/>
                  </a:lnTo>
                  <a:lnTo>
                    <a:pt x="7888324" y="1200511"/>
                  </a:lnTo>
                  <a:lnTo>
                    <a:pt x="7931971" y="1253665"/>
                  </a:lnTo>
                  <a:lnTo>
                    <a:pt x="7972300" y="1307567"/>
                  </a:lnTo>
                  <a:lnTo>
                    <a:pt x="8009253" y="1362190"/>
                  </a:lnTo>
                  <a:lnTo>
                    <a:pt x="8042773" y="1417507"/>
                  </a:lnTo>
                  <a:lnTo>
                    <a:pt x="8072801" y="1473490"/>
                  </a:lnTo>
                  <a:lnTo>
                    <a:pt x="8099279" y="1530112"/>
                  </a:lnTo>
                  <a:lnTo>
                    <a:pt x="8122148" y="1587346"/>
                  </a:lnTo>
                  <a:lnTo>
                    <a:pt x="8141351" y="1645165"/>
                  </a:lnTo>
                  <a:lnTo>
                    <a:pt x="8156830" y="1703542"/>
                  </a:lnTo>
                  <a:lnTo>
                    <a:pt x="8168525" y="1762448"/>
                  </a:lnTo>
                  <a:lnTo>
                    <a:pt x="8176379" y="1821859"/>
                  </a:lnTo>
                  <a:lnTo>
                    <a:pt x="8180334" y="1881745"/>
                  </a:lnTo>
                  <a:lnTo>
                    <a:pt x="8180832" y="1911858"/>
                  </a:lnTo>
                  <a:lnTo>
                    <a:pt x="8180334" y="1941971"/>
                  </a:lnTo>
                  <a:lnTo>
                    <a:pt x="8176379" y="2001858"/>
                  </a:lnTo>
                  <a:lnTo>
                    <a:pt x="8168525" y="2061268"/>
                  </a:lnTo>
                  <a:lnTo>
                    <a:pt x="8156830" y="2120176"/>
                  </a:lnTo>
                  <a:lnTo>
                    <a:pt x="8141351" y="2178553"/>
                  </a:lnTo>
                  <a:lnTo>
                    <a:pt x="8122148" y="2236372"/>
                  </a:lnTo>
                  <a:lnTo>
                    <a:pt x="8099279" y="2293607"/>
                  </a:lnTo>
                  <a:lnTo>
                    <a:pt x="8072801" y="2350229"/>
                  </a:lnTo>
                  <a:lnTo>
                    <a:pt x="8042773" y="2406213"/>
                  </a:lnTo>
                  <a:lnTo>
                    <a:pt x="8009253" y="2461529"/>
                  </a:lnTo>
                  <a:lnTo>
                    <a:pt x="7972300" y="2516153"/>
                  </a:lnTo>
                  <a:lnTo>
                    <a:pt x="7931971" y="2570055"/>
                  </a:lnTo>
                  <a:lnTo>
                    <a:pt x="7888324" y="2623210"/>
                  </a:lnTo>
                  <a:lnTo>
                    <a:pt x="7841419" y="2675589"/>
                  </a:lnTo>
                  <a:lnTo>
                    <a:pt x="7791312" y="2727166"/>
                  </a:lnTo>
                  <a:lnTo>
                    <a:pt x="7738063" y="2777913"/>
                  </a:lnTo>
                  <a:lnTo>
                    <a:pt x="7681730" y="2827803"/>
                  </a:lnTo>
                  <a:lnTo>
                    <a:pt x="7652425" y="2852418"/>
                  </a:lnTo>
                  <a:lnTo>
                    <a:pt x="7622370" y="2876809"/>
                  </a:lnTo>
                  <a:lnTo>
                    <a:pt x="7591574" y="2900972"/>
                  </a:lnTo>
                  <a:lnTo>
                    <a:pt x="7560042" y="2924904"/>
                  </a:lnTo>
                  <a:lnTo>
                    <a:pt x="7527783" y="2948601"/>
                  </a:lnTo>
                  <a:lnTo>
                    <a:pt x="7494804" y="2972061"/>
                  </a:lnTo>
                  <a:lnTo>
                    <a:pt x="7461113" y="2995278"/>
                  </a:lnTo>
                  <a:lnTo>
                    <a:pt x="7426715" y="3018251"/>
                  </a:lnTo>
                  <a:lnTo>
                    <a:pt x="7391619" y="3040976"/>
                  </a:lnTo>
                  <a:lnTo>
                    <a:pt x="7355832" y="3063449"/>
                  </a:lnTo>
                  <a:lnTo>
                    <a:pt x="7319361" y="3085668"/>
                  </a:lnTo>
                  <a:lnTo>
                    <a:pt x="7282214" y="3107627"/>
                  </a:lnTo>
                  <a:lnTo>
                    <a:pt x="7244397" y="3129325"/>
                  </a:lnTo>
                  <a:lnTo>
                    <a:pt x="7205918" y="3150758"/>
                  </a:lnTo>
                  <a:lnTo>
                    <a:pt x="7166785" y="3171922"/>
                  </a:lnTo>
                  <a:lnTo>
                    <a:pt x="7127004" y="3192814"/>
                  </a:lnTo>
                  <a:lnTo>
                    <a:pt x="7086583" y="3213431"/>
                  </a:lnTo>
                  <a:lnTo>
                    <a:pt x="7045529" y="3233769"/>
                  </a:lnTo>
                  <a:lnTo>
                    <a:pt x="7003849" y="3253825"/>
                  </a:lnTo>
                  <a:lnTo>
                    <a:pt x="6961551" y="3273595"/>
                  </a:lnTo>
                  <a:lnTo>
                    <a:pt x="6918642" y="3293076"/>
                  </a:lnTo>
                  <a:lnTo>
                    <a:pt x="6875129" y="3312264"/>
                  </a:lnTo>
                  <a:lnTo>
                    <a:pt x="6831020" y="3331157"/>
                  </a:lnTo>
                  <a:lnTo>
                    <a:pt x="6786321" y="3349751"/>
                  </a:lnTo>
                  <a:lnTo>
                    <a:pt x="6741041" y="3368042"/>
                  </a:lnTo>
                  <a:lnTo>
                    <a:pt x="6695185" y="3386026"/>
                  </a:lnTo>
                  <a:lnTo>
                    <a:pt x="6648763" y="3403702"/>
                  </a:lnTo>
                  <a:lnTo>
                    <a:pt x="6601780" y="3421065"/>
                  </a:lnTo>
                  <a:lnTo>
                    <a:pt x="6554244" y="3438111"/>
                  </a:lnTo>
                  <a:lnTo>
                    <a:pt x="6506163" y="3454838"/>
                  </a:lnTo>
                  <a:lnTo>
                    <a:pt x="6457543" y="3471242"/>
                  </a:lnTo>
                  <a:lnTo>
                    <a:pt x="6408392" y="3487319"/>
                  </a:lnTo>
                  <a:lnTo>
                    <a:pt x="6358718" y="3503067"/>
                  </a:lnTo>
                  <a:lnTo>
                    <a:pt x="6308527" y="3518481"/>
                  </a:lnTo>
                  <a:lnTo>
                    <a:pt x="6257827" y="3533559"/>
                  </a:lnTo>
                  <a:lnTo>
                    <a:pt x="6206624" y="3548297"/>
                  </a:lnTo>
                  <a:lnTo>
                    <a:pt x="6154927" y="3562691"/>
                  </a:lnTo>
                  <a:lnTo>
                    <a:pt x="6102743" y="3576738"/>
                  </a:lnTo>
                  <a:lnTo>
                    <a:pt x="6050079" y="3590436"/>
                  </a:lnTo>
                  <a:lnTo>
                    <a:pt x="5996942" y="3603779"/>
                  </a:lnTo>
                  <a:lnTo>
                    <a:pt x="5943339" y="3616766"/>
                  </a:lnTo>
                  <a:lnTo>
                    <a:pt x="5889278" y="3629392"/>
                  </a:lnTo>
                  <a:lnTo>
                    <a:pt x="5834765" y="3641655"/>
                  </a:lnTo>
                  <a:lnTo>
                    <a:pt x="5779809" y="3653550"/>
                  </a:lnTo>
                  <a:lnTo>
                    <a:pt x="5724417" y="3665074"/>
                  </a:lnTo>
                  <a:lnTo>
                    <a:pt x="5668595" y="3676225"/>
                  </a:lnTo>
                  <a:lnTo>
                    <a:pt x="5612352" y="3686998"/>
                  </a:lnTo>
                  <a:lnTo>
                    <a:pt x="5555694" y="3697390"/>
                  </a:lnTo>
                  <a:lnTo>
                    <a:pt x="5498628" y="3707398"/>
                  </a:lnTo>
                  <a:lnTo>
                    <a:pt x="5441162" y="3717018"/>
                  </a:lnTo>
                  <a:lnTo>
                    <a:pt x="5383304" y="3726248"/>
                  </a:lnTo>
                  <a:lnTo>
                    <a:pt x="5325060" y="3735083"/>
                  </a:lnTo>
                  <a:lnTo>
                    <a:pt x="5266438" y="3743520"/>
                  </a:lnTo>
                  <a:lnTo>
                    <a:pt x="5207444" y="3751556"/>
                  </a:lnTo>
                  <a:lnTo>
                    <a:pt x="5148087" y="3759187"/>
                  </a:lnTo>
                  <a:lnTo>
                    <a:pt x="5088374" y="3766410"/>
                  </a:lnTo>
                  <a:lnTo>
                    <a:pt x="5028311" y="3773222"/>
                  </a:lnTo>
                  <a:lnTo>
                    <a:pt x="4967906" y="3779619"/>
                  </a:lnTo>
                  <a:lnTo>
                    <a:pt x="4907167" y="3785598"/>
                  </a:lnTo>
                  <a:lnTo>
                    <a:pt x="4846100" y="3791155"/>
                  </a:lnTo>
                  <a:lnTo>
                    <a:pt x="4784714" y="3796287"/>
                  </a:lnTo>
                  <a:lnTo>
                    <a:pt x="4723014" y="3800991"/>
                  </a:lnTo>
                  <a:lnTo>
                    <a:pt x="4661009" y="3805262"/>
                  </a:lnTo>
                  <a:lnTo>
                    <a:pt x="4598706" y="3809099"/>
                  </a:lnTo>
                  <a:lnTo>
                    <a:pt x="4536112" y="3812497"/>
                  </a:lnTo>
                  <a:lnTo>
                    <a:pt x="4473234" y="3815453"/>
                  </a:lnTo>
                  <a:lnTo>
                    <a:pt x="4410079" y="3817963"/>
                  </a:lnTo>
                  <a:lnTo>
                    <a:pt x="4346656" y="3820025"/>
                  </a:lnTo>
                  <a:lnTo>
                    <a:pt x="4282970" y="3821635"/>
                  </a:lnTo>
                  <a:lnTo>
                    <a:pt x="4219030" y="3822788"/>
                  </a:lnTo>
                  <a:lnTo>
                    <a:pt x="4154843" y="3823483"/>
                  </a:lnTo>
                  <a:lnTo>
                    <a:pt x="4090416" y="3823716"/>
                  </a:lnTo>
                  <a:lnTo>
                    <a:pt x="4025988" y="3823483"/>
                  </a:lnTo>
                  <a:lnTo>
                    <a:pt x="3961801" y="3822788"/>
                  </a:lnTo>
                  <a:lnTo>
                    <a:pt x="3897861" y="3821635"/>
                  </a:lnTo>
                  <a:lnTo>
                    <a:pt x="3834175" y="3820025"/>
                  </a:lnTo>
                  <a:lnTo>
                    <a:pt x="3770752" y="3817963"/>
                  </a:lnTo>
                  <a:lnTo>
                    <a:pt x="3707597" y="3815453"/>
                  </a:lnTo>
                  <a:lnTo>
                    <a:pt x="3644719" y="3812497"/>
                  </a:lnTo>
                  <a:lnTo>
                    <a:pt x="3582125" y="3809099"/>
                  </a:lnTo>
                  <a:lnTo>
                    <a:pt x="3519822" y="3805262"/>
                  </a:lnTo>
                  <a:lnTo>
                    <a:pt x="3457817" y="3800991"/>
                  </a:lnTo>
                  <a:lnTo>
                    <a:pt x="3396117" y="3796287"/>
                  </a:lnTo>
                  <a:lnTo>
                    <a:pt x="3334731" y="3791155"/>
                  </a:lnTo>
                  <a:lnTo>
                    <a:pt x="3273664" y="3785598"/>
                  </a:lnTo>
                  <a:lnTo>
                    <a:pt x="3212925" y="3779619"/>
                  </a:lnTo>
                  <a:lnTo>
                    <a:pt x="3152520" y="3773222"/>
                  </a:lnTo>
                  <a:lnTo>
                    <a:pt x="3092457" y="3766410"/>
                  </a:lnTo>
                  <a:lnTo>
                    <a:pt x="3032744" y="3759187"/>
                  </a:lnTo>
                  <a:lnTo>
                    <a:pt x="2973387" y="3751556"/>
                  </a:lnTo>
                  <a:lnTo>
                    <a:pt x="2914393" y="3743520"/>
                  </a:lnTo>
                  <a:lnTo>
                    <a:pt x="2855771" y="3735083"/>
                  </a:lnTo>
                  <a:lnTo>
                    <a:pt x="2797527" y="3726248"/>
                  </a:lnTo>
                  <a:lnTo>
                    <a:pt x="2739669" y="3717018"/>
                  </a:lnTo>
                  <a:lnTo>
                    <a:pt x="2682203" y="3707398"/>
                  </a:lnTo>
                  <a:lnTo>
                    <a:pt x="2625137" y="3697390"/>
                  </a:lnTo>
                  <a:lnTo>
                    <a:pt x="2568479" y="3686998"/>
                  </a:lnTo>
                  <a:lnTo>
                    <a:pt x="2512236" y="3676225"/>
                  </a:lnTo>
                  <a:lnTo>
                    <a:pt x="2456414" y="3665074"/>
                  </a:lnTo>
                  <a:lnTo>
                    <a:pt x="2401022" y="3653550"/>
                  </a:lnTo>
                  <a:lnTo>
                    <a:pt x="2346066" y="3641655"/>
                  </a:lnTo>
                  <a:lnTo>
                    <a:pt x="2291553" y="3629392"/>
                  </a:lnTo>
                  <a:lnTo>
                    <a:pt x="2237492" y="3616766"/>
                  </a:lnTo>
                  <a:lnTo>
                    <a:pt x="2183889" y="3603779"/>
                  </a:lnTo>
                  <a:lnTo>
                    <a:pt x="2130752" y="3590436"/>
                  </a:lnTo>
                  <a:lnTo>
                    <a:pt x="2078088" y="3576738"/>
                  </a:lnTo>
                  <a:lnTo>
                    <a:pt x="2025903" y="3562691"/>
                  </a:lnTo>
                  <a:lnTo>
                    <a:pt x="1974207" y="3548297"/>
                  </a:lnTo>
                  <a:lnTo>
                    <a:pt x="1923004" y="3533559"/>
                  </a:lnTo>
                  <a:lnTo>
                    <a:pt x="1872304" y="3518481"/>
                  </a:lnTo>
                  <a:lnTo>
                    <a:pt x="1822113" y="3503067"/>
                  </a:lnTo>
                  <a:lnTo>
                    <a:pt x="1772439" y="3487319"/>
                  </a:lnTo>
                  <a:lnTo>
                    <a:pt x="1723288" y="3471242"/>
                  </a:lnTo>
                  <a:lnTo>
                    <a:pt x="1674668" y="3454838"/>
                  </a:lnTo>
                  <a:lnTo>
                    <a:pt x="1626587" y="3438111"/>
                  </a:lnTo>
                  <a:lnTo>
                    <a:pt x="1579051" y="3421065"/>
                  </a:lnTo>
                  <a:lnTo>
                    <a:pt x="1532068" y="3403702"/>
                  </a:lnTo>
                  <a:lnTo>
                    <a:pt x="1485646" y="3386026"/>
                  </a:lnTo>
                  <a:lnTo>
                    <a:pt x="1439790" y="3368042"/>
                  </a:lnTo>
                  <a:lnTo>
                    <a:pt x="1394510" y="3349751"/>
                  </a:lnTo>
                  <a:lnTo>
                    <a:pt x="1349811" y="3331157"/>
                  </a:lnTo>
                  <a:lnTo>
                    <a:pt x="1305702" y="3312264"/>
                  </a:lnTo>
                  <a:lnTo>
                    <a:pt x="1262189" y="3293076"/>
                  </a:lnTo>
                  <a:lnTo>
                    <a:pt x="1219280" y="3273595"/>
                  </a:lnTo>
                  <a:lnTo>
                    <a:pt x="1176982" y="3253825"/>
                  </a:lnTo>
                  <a:lnTo>
                    <a:pt x="1135302" y="3233769"/>
                  </a:lnTo>
                  <a:lnTo>
                    <a:pt x="1094248" y="3213431"/>
                  </a:lnTo>
                  <a:lnTo>
                    <a:pt x="1053827" y="3192814"/>
                  </a:lnTo>
                  <a:lnTo>
                    <a:pt x="1014046" y="3171922"/>
                  </a:lnTo>
                  <a:lnTo>
                    <a:pt x="974913" y="3150758"/>
                  </a:lnTo>
                  <a:lnTo>
                    <a:pt x="936434" y="3129325"/>
                  </a:lnTo>
                  <a:lnTo>
                    <a:pt x="898617" y="3107627"/>
                  </a:lnTo>
                  <a:lnTo>
                    <a:pt x="861470" y="3085668"/>
                  </a:lnTo>
                  <a:lnTo>
                    <a:pt x="824999" y="3063449"/>
                  </a:lnTo>
                  <a:lnTo>
                    <a:pt x="789212" y="3040976"/>
                  </a:lnTo>
                  <a:lnTo>
                    <a:pt x="754116" y="3018251"/>
                  </a:lnTo>
                  <a:lnTo>
                    <a:pt x="719718" y="2995278"/>
                  </a:lnTo>
                  <a:lnTo>
                    <a:pt x="686027" y="2972061"/>
                  </a:lnTo>
                  <a:lnTo>
                    <a:pt x="653048" y="2948601"/>
                  </a:lnTo>
                  <a:lnTo>
                    <a:pt x="620789" y="2924904"/>
                  </a:lnTo>
                  <a:lnTo>
                    <a:pt x="589257" y="2900972"/>
                  </a:lnTo>
                  <a:lnTo>
                    <a:pt x="558461" y="2876809"/>
                  </a:lnTo>
                  <a:lnTo>
                    <a:pt x="528406" y="2852418"/>
                  </a:lnTo>
                  <a:lnTo>
                    <a:pt x="499101" y="2827803"/>
                  </a:lnTo>
                  <a:lnTo>
                    <a:pt x="442768" y="2777913"/>
                  </a:lnTo>
                  <a:lnTo>
                    <a:pt x="389519" y="2727166"/>
                  </a:lnTo>
                  <a:lnTo>
                    <a:pt x="339412" y="2675589"/>
                  </a:lnTo>
                  <a:lnTo>
                    <a:pt x="292507" y="2623210"/>
                  </a:lnTo>
                  <a:lnTo>
                    <a:pt x="248860" y="2570055"/>
                  </a:lnTo>
                  <a:lnTo>
                    <a:pt x="208531" y="2516153"/>
                  </a:lnTo>
                  <a:lnTo>
                    <a:pt x="171578" y="2461529"/>
                  </a:lnTo>
                  <a:lnTo>
                    <a:pt x="138058" y="2406213"/>
                  </a:lnTo>
                  <a:lnTo>
                    <a:pt x="108030" y="2350229"/>
                  </a:lnTo>
                  <a:lnTo>
                    <a:pt x="81552" y="2293607"/>
                  </a:lnTo>
                  <a:lnTo>
                    <a:pt x="58683" y="2236372"/>
                  </a:lnTo>
                  <a:lnTo>
                    <a:pt x="39480" y="2178553"/>
                  </a:lnTo>
                  <a:lnTo>
                    <a:pt x="24001" y="2120176"/>
                  </a:lnTo>
                  <a:lnTo>
                    <a:pt x="12306" y="2061268"/>
                  </a:lnTo>
                  <a:lnTo>
                    <a:pt x="4452" y="2001858"/>
                  </a:lnTo>
                  <a:lnTo>
                    <a:pt x="497" y="1941971"/>
                  </a:lnTo>
                  <a:lnTo>
                    <a:pt x="0" y="1911858"/>
                  </a:lnTo>
                  <a:close/>
                </a:path>
              </a:pathLst>
            </a:custGeom>
            <a:ln w="914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2F8F4CD-71BE-249F-8CD2-D30573E71232}"/>
              </a:ext>
            </a:extLst>
          </p:cNvPr>
          <p:cNvSpPr txBox="1"/>
          <p:nvPr/>
        </p:nvSpPr>
        <p:spPr>
          <a:xfrm>
            <a:off x="2499022" y="5303245"/>
            <a:ext cx="6467687" cy="646609"/>
          </a:xfrm>
          <a:prstGeom prst="rect">
            <a:avLst/>
          </a:prstGeom>
        </p:spPr>
        <p:txBody>
          <a:bodyPr vert="horz" wrap="square" lIns="0" tIns="847" rIns="0" bIns="0" rtlCol="0">
            <a:spAutoFit/>
          </a:bodyPr>
          <a:lstStyle/>
          <a:p>
            <a:pPr marL="2398547" marR="6773" indent="-2382459">
              <a:lnSpc>
                <a:spcPts val="2560"/>
              </a:lnSpc>
              <a:spcBef>
                <a:spcPts val="7"/>
              </a:spcBef>
            </a:pPr>
            <a:r>
              <a:rPr sz="2133" b="1" spc="-7" dirty="0">
                <a:latin typeface="Arial"/>
                <a:cs typeface="Arial"/>
              </a:rPr>
              <a:t>Availability:</a:t>
            </a:r>
            <a:r>
              <a:rPr sz="2133" b="1" spc="80" dirty="0">
                <a:latin typeface="Arial"/>
                <a:cs typeface="Arial"/>
              </a:rPr>
              <a:t> </a:t>
            </a:r>
            <a:r>
              <a:rPr sz="2133" spc="-7" dirty="0">
                <a:latin typeface="Arial MT"/>
                <a:cs typeface="Arial MT"/>
              </a:rPr>
              <a:t>did the</a:t>
            </a:r>
            <a:r>
              <a:rPr sz="2133" spc="20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computational</a:t>
            </a:r>
            <a:r>
              <a:rPr sz="2133" spc="7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resource</a:t>
            </a:r>
            <a:r>
              <a:rPr sz="2133" spc="20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carry</a:t>
            </a:r>
            <a:r>
              <a:rPr sz="2133" spc="20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out </a:t>
            </a:r>
            <a:r>
              <a:rPr sz="2133" spc="-573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the</a:t>
            </a:r>
            <a:r>
              <a:rPr sz="2133" spc="7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task</a:t>
            </a:r>
            <a:r>
              <a:rPr sz="2133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at</a:t>
            </a:r>
            <a:r>
              <a:rPr sz="2133" spc="7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all?</a:t>
            </a:r>
            <a:endParaRPr sz="2133">
              <a:latin typeface="Arial MT"/>
              <a:cs typeface="Arial MT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B3B8145-FBC9-014F-92DA-F2E1A11E6008}"/>
              </a:ext>
            </a:extLst>
          </p:cNvPr>
          <p:cNvSpPr txBox="1"/>
          <p:nvPr/>
        </p:nvSpPr>
        <p:spPr>
          <a:xfrm>
            <a:off x="4097527" y="1662344"/>
            <a:ext cx="3349413" cy="59259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054920" marR="6773" indent="-1038834">
              <a:spcBef>
                <a:spcPts val="140"/>
              </a:spcBef>
            </a:pPr>
            <a:r>
              <a:rPr sz="1867" b="1" spc="-20" dirty="0">
                <a:latin typeface="Arial"/>
                <a:cs typeface="Arial"/>
              </a:rPr>
              <a:t>CIA:</a:t>
            </a:r>
            <a:r>
              <a:rPr sz="1867" b="1" spc="40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Confidentiality,</a:t>
            </a:r>
            <a:r>
              <a:rPr sz="1867" b="1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Integrity, </a:t>
            </a:r>
            <a:r>
              <a:rPr sz="1867" b="1" spc="-493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Availability</a:t>
            </a:r>
            <a:endParaRPr sz="1867">
              <a:latin typeface="Arial"/>
              <a:cs typeface="Arial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BB4775C3-1487-2ED3-5C32-386475D98590}"/>
              </a:ext>
            </a:extLst>
          </p:cNvPr>
          <p:cNvSpPr txBox="1"/>
          <p:nvPr/>
        </p:nvSpPr>
        <p:spPr>
          <a:xfrm>
            <a:off x="2027597" y="3326553"/>
            <a:ext cx="7414260" cy="1667722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6773" algn="ctr">
              <a:spcBef>
                <a:spcPts val="127"/>
              </a:spcBef>
            </a:pPr>
            <a:r>
              <a:rPr sz="2133" b="1" spc="-7" dirty="0">
                <a:latin typeface="Arial"/>
                <a:cs typeface="Arial"/>
              </a:rPr>
              <a:t>Confidentiality:</a:t>
            </a:r>
            <a:r>
              <a:rPr sz="2133" b="1" spc="87" dirty="0">
                <a:latin typeface="Arial"/>
                <a:cs typeface="Arial"/>
              </a:rPr>
              <a:t> </a:t>
            </a:r>
            <a:r>
              <a:rPr sz="2133" spc="-13" dirty="0">
                <a:latin typeface="Arial MT"/>
                <a:cs typeface="Arial MT"/>
              </a:rPr>
              <a:t>was</a:t>
            </a:r>
            <a:r>
              <a:rPr sz="2133" spc="27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data</a:t>
            </a:r>
            <a:r>
              <a:rPr sz="2133" spc="13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being</a:t>
            </a:r>
            <a:r>
              <a:rPr sz="2133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computed</a:t>
            </a:r>
            <a:r>
              <a:rPr sz="2133" spc="20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upon</a:t>
            </a:r>
            <a:r>
              <a:rPr sz="2133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not</a:t>
            </a:r>
            <a:r>
              <a:rPr sz="2133" spc="20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revealed </a:t>
            </a:r>
            <a:r>
              <a:rPr sz="2133" spc="-573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to</a:t>
            </a:r>
            <a:r>
              <a:rPr sz="2133" spc="7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an un-permitted</a:t>
            </a:r>
            <a:r>
              <a:rPr sz="2133" spc="47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party?</a:t>
            </a:r>
            <a:endParaRPr sz="2133">
              <a:latin typeface="Arial MT"/>
              <a:cs typeface="Arial MT"/>
            </a:endParaRPr>
          </a:p>
          <a:p>
            <a:pPr>
              <a:spcBef>
                <a:spcPts val="27"/>
              </a:spcBef>
            </a:pPr>
            <a:endParaRPr sz="2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133" b="1" spc="-7" dirty="0">
                <a:latin typeface="Arial"/>
                <a:cs typeface="Arial"/>
              </a:rPr>
              <a:t>Integrity:</a:t>
            </a:r>
            <a:r>
              <a:rPr sz="2133" b="1" spc="67" dirty="0">
                <a:latin typeface="Arial"/>
                <a:cs typeface="Arial"/>
              </a:rPr>
              <a:t> </a:t>
            </a:r>
            <a:r>
              <a:rPr sz="2133" spc="-13" dirty="0">
                <a:latin typeface="Arial MT"/>
                <a:cs typeface="Arial MT"/>
              </a:rPr>
              <a:t>was</a:t>
            </a:r>
            <a:r>
              <a:rPr sz="2133" spc="13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the</a:t>
            </a:r>
            <a:r>
              <a:rPr sz="2133" spc="7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computation</a:t>
            </a:r>
            <a:r>
              <a:rPr sz="2133" spc="7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performed</a:t>
            </a:r>
            <a:endParaRPr sz="2133">
              <a:latin typeface="Arial MT"/>
              <a:cs typeface="Arial MT"/>
            </a:endParaRPr>
          </a:p>
          <a:p>
            <a:pPr marL="73657" algn="ctr"/>
            <a:r>
              <a:rPr sz="2133" spc="-7" dirty="0">
                <a:latin typeface="Arial MT"/>
                <a:cs typeface="Arial MT"/>
              </a:rPr>
              <a:t>correctly,</a:t>
            </a:r>
            <a:r>
              <a:rPr sz="2133" spc="33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returning</a:t>
            </a:r>
            <a:r>
              <a:rPr sz="2133" spc="33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the</a:t>
            </a:r>
            <a:r>
              <a:rPr sz="2133" spc="7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correct</a:t>
            </a:r>
            <a:r>
              <a:rPr sz="2133" spc="7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result?</a:t>
            </a:r>
            <a:endParaRPr sz="2133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5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Channels of Interest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  <p:grpSp>
        <p:nvGrpSpPr>
          <p:cNvPr id="6" name="object 2">
            <a:extLst>
              <a:ext uri="{FF2B5EF4-FFF2-40B4-BE49-F238E27FC236}">
                <a16:creationId xmlns:a16="http://schemas.microsoft.com/office/drawing/2014/main" id="{FECA76EB-15D4-A96F-8C0E-343FA3E538E6}"/>
              </a:ext>
            </a:extLst>
          </p:cNvPr>
          <p:cNvGrpSpPr/>
          <p:nvPr/>
        </p:nvGrpSpPr>
        <p:grpSpPr>
          <a:xfrm>
            <a:off x="381240" y="1650951"/>
            <a:ext cx="3253740" cy="3686387"/>
            <a:chOff x="312420" y="1644395"/>
            <a:chExt cx="2440305" cy="2764790"/>
          </a:xfrm>
        </p:grpSpPr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2DA9B165-DE4A-0D6E-CFA4-BA92F7C03DC4}"/>
                </a:ext>
              </a:extLst>
            </p:cNvPr>
            <p:cNvSpPr/>
            <p:nvPr/>
          </p:nvSpPr>
          <p:spPr>
            <a:xfrm>
              <a:off x="312420" y="1644395"/>
              <a:ext cx="2440305" cy="2764790"/>
            </a:xfrm>
            <a:custGeom>
              <a:avLst/>
              <a:gdLst/>
              <a:ahLst/>
              <a:cxnLst/>
              <a:rect l="l" t="t" r="r" b="b"/>
              <a:pathLst>
                <a:path w="2440305" h="2764790">
                  <a:moveTo>
                    <a:pt x="2439924" y="0"/>
                  </a:moveTo>
                  <a:lnTo>
                    <a:pt x="0" y="0"/>
                  </a:lnTo>
                  <a:lnTo>
                    <a:pt x="0" y="2764535"/>
                  </a:lnTo>
                  <a:lnTo>
                    <a:pt x="2439924" y="2764535"/>
                  </a:lnTo>
                  <a:lnTo>
                    <a:pt x="2439924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28EAF14D-8CC2-A305-8174-FC7D9E58A82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304" y="2238755"/>
              <a:ext cx="867156" cy="867156"/>
            </a:xfrm>
            <a:prstGeom prst="rect">
              <a:avLst/>
            </a:prstGeom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2B5E2097-F6F4-242E-8791-B3942880C066}"/>
                </a:ext>
              </a:extLst>
            </p:cNvPr>
            <p:cNvSpPr/>
            <p:nvPr/>
          </p:nvSpPr>
          <p:spPr>
            <a:xfrm>
              <a:off x="894588" y="3212591"/>
              <a:ext cx="1183005" cy="867410"/>
            </a:xfrm>
            <a:custGeom>
              <a:avLst/>
              <a:gdLst/>
              <a:ahLst/>
              <a:cxnLst/>
              <a:rect l="l" t="t" r="r" b="b"/>
              <a:pathLst>
                <a:path w="1183005" h="867410">
                  <a:moveTo>
                    <a:pt x="1182624" y="0"/>
                  </a:moveTo>
                  <a:lnTo>
                    <a:pt x="0" y="0"/>
                  </a:lnTo>
                  <a:lnTo>
                    <a:pt x="0" y="867156"/>
                  </a:lnTo>
                  <a:lnTo>
                    <a:pt x="1182624" y="867156"/>
                  </a:lnTo>
                  <a:lnTo>
                    <a:pt x="1182624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936A765C-D02D-37DF-FCBC-DB7B37463268}"/>
                </a:ext>
              </a:extLst>
            </p:cNvPr>
            <p:cNvSpPr/>
            <p:nvPr/>
          </p:nvSpPr>
          <p:spPr>
            <a:xfrm>
              <a:off x="1411223" y="2863595"/>
              <a:ext cx="76200" cy="349250"/>
            </a:xfrm>
            <a:custGeom>
              <a:avLst/>
              <a:gdLst/>
              <a:ahLst/>
              <a:cxnLst/>
              <a:rect l="l" t="t" r="r" b="b"/>
              <a:pathLst>
                <a:path w="76200" h="3492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49250"/>
                  </a:lnTo>
                  <a:lnTo>
                    <a:pt x="44450" y="349250"/>
                  </a:lnTo>
                  <a:lnTo>
                    <a:pt x="44450" y="63500"/>
                  </a:lnTo>
                  <a:close/>
                </a:path>
                <a:path w="76200" h="3492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492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87E7C7D0-FCDE-2C7B-6D78-94EB4E5FE38A}"/>
              </a:ext>
            </a:extLst>
          </p:cNvPr>
          <p:cNvSpPr txBox="1"/>
          <p:nvPr/>
        </p:nvSpPr>
        <p:spPr>
          <a:xfrm>
            <a:off x="381240" y="1650951"/>
            <a:ext cx="3253740" cy="2081105"/>
          </a:xfrm>
          <a:prstGeom prst="rect">
            <a:avLst/>
          </a:prstGeom>
          <a:ln w="9144">
            <a:solidFill>
              <a:srgbClr val="585858"/>
            </a:solidFill>
          </a:ln>
        </p:spPr>
        <p:txBody>
          <a:bodyPr vert="horz" wrap="square" lIns="0" tIns="64347" rIns="0" bIns="0" rtlCol="0">
            <a:spAutoFit/>
          </a:bodyPr>
          <a:lstStyle/>
          <a:p>
            <a:pPr marL="596885">
              <a:spcBef>
                <a:spcPts val="507"/>
              </a:spcBef>
            </a:pPr>
            <a:r>
              <a:rPr sz="1867" b="1" spc="-13" dirty="0">
                <a:latin typeface="Arial"/>
                <a:cs typeface="Arial"/>
              </a:rPr>
              <a:t>Physical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channels</a:t>
            </a:r>
            <a:endParaRPr sz="1867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1731390">
              <a:spcBef>
                <a:spcPts val="1753"/>
              </a:spcBef>
            </a:pPr>
            <a:r>
              <a:rPr sz="1867" spc="-7" dirty="0">
                <a:latin typeface="Arial MT"/>
                <a:cs typeface="Arial MT"/>
              </a:rPr>
              <a:t>Power,</a:t>
            </a:r>
            <a:r>
              <a:rPr sz="1867" spc="-5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EM,</a:t>
            </a:r>
            <a:endParaRPr sz="1867">
              <a:latin typeface="Arial MT"/>
              <a:cs typeface="Arial MT"/>
            </a:endParaRPr>
          </a:p>
          <a:p>
            <a:pPr marL="1764409"/>
            <a:r>
              <a:rPr sz="1867" dirty="0">
                <a:latin typeface="Arial MT"/>
                <a:cs typeface="Arial MT"/>
              </a:rPr>
              <a:t>sound,</a:t>
            </a:r>
            <a:r>
              <a:rPr sz="1867" spc="-10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etc.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2" name="object 10">
            <a:extLst>
              <a:ext uri="{FF2B5EF4-FFF2-40B4-BE49-F238E27FC236}">
                <a16:creationId xmlns:a16="http://schemas.microsoft.com/office/drawing/2014/main" id="{F9CD6344-57FE-90C2-736E-44090712CEED}"/>
              </a:ext>
            </a:extLst>
          </p:cNvPr>
          <p:cNvGrpSpPr/>
          <p:nvPr/>
        </p:nvGrpSpPr>
        <p:grpSpPr>
          <a:xfrm>
            <a:off x="4146535" y="1650951"/>
            <a:ext cx="3362960" cy="3686387"/>
            <a:chOff x="3136392" y="1644395"/>
            <a:chExt cx="2522220" cy="2764790"/>
          </a:xfrm>
        </p:grpSpPr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EEF1DEA3-01A6-82E5-C089-D1AE76ABA44F}"/>
                </a:ext>
              </a:extLst>
            </p:cNvPr>
            <p:cNvSpPr/>
            <p:nvPr/>
          </p:nvSpPr>
          <p:spPr>
            <a:xfrm>
              <a:off x="3136392" y="1644395"/>
              <a:ext cx="2522220" cy="2764790"/>
            </a:xfrm>
            <a:custGeom>
              <a:avLst/>
              <a:gdLst/>
              <a:ahLst/>
              <a:cxnLst/>
              <a:rect l="l" t="t" r="r" b="b"/>
              <a:pathLst>
                <a:path w="2522220" h="2764790">
                  <a:moveTo>
                    <a:pt x="2522220" y="0"/>
                  </a:moveTo>
                  <a:lnTo>
                    <a:pt x="0" y="0"/>
                  </a:lnTo>
                  <a:lnTo>
                    <a:pt x="0" y="2764535"/>
                  </a:lnTo>
                  <a:lnTo>
                    <a:pt x="2522220" y="2764535"/>
                  </a:lnTo>
                  <a:lnTo>
                    <a:pt x="252222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4" name="object 12">
              <a:extLst>
                <a:ext uri="{FF2B5EF4-FFF2-40B4-BE49-F238E27FC236}">
                  <a16:creationId xmlns:a16="http://schemas.microsoft.com/office/drawing/2014/main" id="{4C0BD46E-6F47-DF98-F707-661C6781140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4004" y="2250947"/>
              <a:ext cx="867155" cy="867156"/>
            </a:xfrm>
            <a:prstGeom prst="rect">
              <a:avLst/>
            </a:prstGeom>
          </p:spPr>
        </p:pic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FB4773FF-F8F3-2825-C851-3AF0441C1025}"/>
                </a:ext>
              </a:extLst>
            </p:cNvPr>
            <p:cNvSpPr/>
            <p:nvPr/>
          </p:nvSpPr>
          <p:spPr>
            <a:xfrm>
              <a:off x="3476244" y="3212591"/>
              <a:ext cx="1183005" cy="867410"/>
            </a:xfrm>
            <a:custGeom>
              <a:avLst/>
              <a:gdLst/>
              <a:ahLst/>
              <a:cxnLst/>
              <a:rect l="l" t="t" r="r" b="b"/>
              <a:pathLst>
                <a:path w="1183004" h="867410">
                  <a:moveTo>
                    <a:pt x="1182624" y="0"/>
                  </a:moveTo>
                  <a:lnTo>
                    <a:pt x="0" y="0"/>
                  </a:lnTo>
                  <a:lnTo>
                    <a:pt x="0" y="867156"/>
                  </a:lnTo>
                  <a:lnTo>
                    <a:pt x="1182624" y="867156"/>
                  </a:lnTo>
                  <a:lnTo>
                    <a:pt x="1182624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900D4BB7-1E00-E05E-CD0D-993B73C765E0}"/>
                </a:ext>
              </a:extLst>
            </p:cNvPr>
            <p:cNvSpPr/>
            <p:nvPr/>
          </p:nvSpPr>
          <p:spPr>
            <a:xfrm>
              <a:off x="4658868" y="3607307"/>
              <a:ext cx="378460" cy="76200"/>
            </a:xfrm>
            <a:custGeom>
              <a:avLst/>
              <a:gdLst/>
              <a:ahLst/>
              <a:cxnLst/>
              <a:rect l="l" t="t" r="r" b="b"/>
              <a:pathLst>
                <a:path w="378460" h="76200">
                  <a:moveTo>
                    <a:pt x="302006" y="0"/>
                  </a:moveTo>
                  <a:lnTo>
                    <a:pt x="302006" y="76199"/>
                  </a:lnTo>
                  <a:lnTo>
                    <a:pt x="365506" y="44449"/>
                  </a:lnTo>
                  <a:lnTo>
                    <a:pt x="314706" y="44449"/>
                  </a:lnTo>
                  <a:lnTo>
                    <a:pt x="314706" y="31749"/>
                  </a:lnTo>
                  <a:lnTo>
                    <a:pt x="365506" y="31749"/>
                  </a:lnTo>
                  <a:lnTo>
                    <a:pt x="302006" y="0"/>
                  </a:lnTo>
                  <a:close/>
                </a:path>
                <a:path w="378460" h="76200">
                  <a:moveTo>
                    <a:pt x="302006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302006" y="44449"/>
                  </a:lnTo>
                  <a:lnTo>
                    <a:pt x="302006" y="31749"/>
                  </a:lnTo>
                  <a:close/>
                </a:path>
                <a:path w="378460" h="76200">
                  <a:moveTo>
                    <a:pt x="365506" y="31749"/>
                  </a:moveTo>
                  <a:lnTo>
                    <a:pt x="314706" y="31749"/>
                  </a:lnTo>
                  <a:lnTo>
                    <a:pt x="314706" y="44449"/>
                  </a:lnTo>
                  <a:lnTo>
                    <a:pt x="365506" y="44449"/>
                  </a:lnTo>
                  <a:lnTo>
                    <a:pt x="378206" y="38099"/>
                  </a:lnTo>
                  <a:lnTo>
                    <a:pt x="365506" y="31749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5">
            <a:extLst>
              <a:ext uri="{FF2B5EF4-FFF2-40B4-BE49-F238E27FC236}">
                <a16:creationId xmlns:a16="http://schemas.microsoft.com/office/drawing/2014/main" id="{8000FE2B-E9C8-C6AD-14F4-54D6B1B99276}"/>
              </a:ext>
            </a:extLst>
          </p:cNvPr>
          <p:cNvSpPr txBox="1"/>
          <p:nvPr/>
        </p:nvSpPr>
        <p:spPr>
          <a:xfrm>
            <a:off x="4146535" y="1650952"/>
            <a:ext cx="3362960" cy="2695803"/>
          </a:xfrm>
          <a:prstGeom prst="rect">
            <a:avLst/>
          </a:prstGeom>
          <a:ln w="9144">
            <a:solidFill>
              <a:srgbClr val="585858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745895">
              <a:spcBef>
                <a:spcPts val="500"/>
              </a:spcBef>
            </a:pPr>
            <a:r>
              <a:rPr sz="1867" b="1" spc="-7" dirty="0">
                <a:latin typeface="Arial"/>
                <a:cs typeface="Arial"/>
              </a:rPr>
              <a:t>Timing</a:t>
            </a:r>
            <a:r>
              <a:rPr sz="1867" b="1" spc="-6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channels</a:t>
            </a:r>
            <a:endParaRPr sz="1867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2440032" marR="152396" indent="-311564">
              <a:spcBef>
                <a:spcPts val="1793"/>
              </a:spcBef>
            </a:pPr>
            <a:r>
              <a:rPr sz="1867" spc="-13" dirty="0">
                <a:latin typeface="Arial MT"/>
                <a:cs typeface="Arial MT"/>
              </a:rPr>
              <a:t>R</a:t>
            </a:r>
            <a:r>
              <a:rPr sz="1867" dirty="0">
                <a:latin typeface="Arial MT"/>
                <a:cs typeface="Arial MT"/>
              </a:rPr>
              <a:t>esponse  </a:t>
            </a:r>
            <a:r>
              <a:rPr sz="1867" spc="-7" dirty="0">
                <a:latin typeface="Arial MT"/>
                <a:cs typeface="Arial MT"/>
              </a:rPr>
              <a:t>time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8" name="object 16">
            <a:extLst>
              <a:ext uri="{FF2B5EF4-FFF2-40B4-BE49-F238E27FC236}">
                <a16:creationId xmlns:a16="http://schemas.microsoft.com/office/drawing/2014/main" id="{BF4D6202-2C0B-B860-2C08-3A7D2A3CCA5F}"/>
              </a:ext>
            </a:extLst>
          </p:cNvPr>
          <p:cNvGrpSpPr/>
          <p:nvPr/>
        </p:nvGrpSpPr>
        <p:grpSpPr>
          <a:xfrm>
            <a:off x="8086583" y="1650951"/>
            <a:ext cx="3603413" cy="3686387"/>
            <a:chOff x="6091428" y="1644395"/>
            <a:chExt cx="2702560" cy="2764790"/>
          </a:xfrm>
        </p:grpSpPr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A5BB2B9F-1ED4-8E50-0652-91C3CFB8ED8B}"/>
                </a:ext>
              </a:extLst>
            </p:cNvPr>
            <p:cNvSpPr/>
            <p:nvPr/>
          </p:nvSpPr>
          <p:spPr>
            <a:xfrm>
              <a:off x="6091428" y="1644395"/>
              <a:ext cx="2702560" cy="2764790"/>
            </a:xfrm>
            <a:custGeom>
              <a:avLst/>
              <a:gdLst/>
              <a:ahLst/>
              <a:cxnLst/>
              <a:rect l="l" t="t" r="r" b="b"/>
              <a:pathLst>
                <a:path w="2702559" h="2764790">
                  <a:moveTo>
                    <a:pt x="2702052" y="0"/>
                  </a:moveTo>
                  <a:lnTo>
                    <a:pt x="0" y="0"/>
                  </a:lnTo>
                  <a:lnTo>
                    <a:pt x="0" y="2764535"/>
                  </a:lnTo>
                  <a:lnTo>
                    <a:pt x="2702052" y="2764535"/>
                  </a:lnTo>
                  <a:lnTo>
                    <a:pt x="2702052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10E92E03-6546-4E97-5B6F-DEA93CE9D4F9}"/>
                </a:ext>
              </a:extLst>
            </p:cNvPr>
            <p:cNvSpPr/>
            <p:nvPr/>
          </p:nvSpPr>
          <p:spPr>
            <a:xfrm>
              <a:off x="6702552" y="3212591"/>
              <a:ext cx="1183005" cy="1059180"/>
            </a:xfrm>
            <a:custGeom>
              <a:avLst/>
              <a:gdLst/>
              <a:ahLst/>
              <a:cxnLst/>
              <a:rect l="l" t="t" r="r" b="b"/>
              <a:pathLst>
                <a:path w="1183004" h="1059179">
                  <a:moveTo>
                    <a:pt x="1182624" y="0"/>
                  </a:moveTo>
                  <a:lnTo>
                    <a:pt x="0" y="0"/>
                  </a:lnTo>
                  <a:lnTo>
                    <a:pt x="0" y="1059180"/>
                  </a:lnTo>
                  <a:lnTo>
                    <a:pt x="1182624" y="1059180"/>
                  </a:lnTo>
                  <a:lnTo>
                    <a:pt x="1182624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1" name="object 19">
              <a:extLst>
                <a:ext uri="{FF2B5EF4-FFF2-40B4-BE49-F238E27FC236}">
                  <a16:creationId xmlns:a16="http://schemas.microsoft.com/office/drawing/2014/main" id="{9AB33EC4-B96C-8AC8-CA90-96249AABAEF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7544" y="2235707"/>
              <a:ext cx="867155" cy="867156"/>
            </a:xfrm>
            <a:prstGeom prst="rect">
              <a:avLst/>
            </a:prstGeom>
          </p:spPr>
        </p:pic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D3849024-CC5E-4498-C6B9-B049B9D58BAF}"/>
                </a:ext>
              </a:extLst>
            </p:cNvPr>
            <p:cNvSpPr/>
            <p:nvPr/>
          </p:nvSpPr>
          <p:spPr>
            <a:xfrm>
              <a:off x="7243572" y="2860547"/>
              <a:ext cx="76200" cy="349250"/>
            </a:xfrm>
            <a:custGeom>
              <a:avLst/>
              <a:gdLst/>
              <a:ahLst/>
              <a:cxnLst/>
              <a:rect l="l" t="t" r="r" b="b"/>
              <a:pathLst>
                <a:path w="76200" h="34925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49250"/>
                  </a:lnTo>
                  <a:lnTo>
                    <a:pt x="44450" y="349250"/>
                  </a:lnTo>
                  <a:lnTo>
                    <a:pt x="44450" y="63500"/>
                  </a:lnTo>
                  <a:close/>
                </a:path>
                <a:path w="76200" h="34925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4925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21">
            <a:extLst>
              <a:ext uri="{FF2B5EF4-FFF2-40B4-BE49-F238E27FC236}">
                <a16:creationId xmlns:a16="http://schemas.microsoft.com/office/drawing/2014/main" id="{4B8BAC3B-FD9F-DC05-D78A-0DA6C77AB647}"/>
              </a:ext>
            </a:extLst>
          </p:cNvPr>
          <p:cNvSpPr txBox="1"/>
          <p:nvPr/>
        </p:nvSpPr>
        <p:spPr>
          <a:xfrm>
            <a:off x="8086583" y="1650951"/>
            <a:ext cx="3603413" cy="2044406"/>
          </a:xfrm>
          <a:prstGeom prst="rect">
            <a:avLst/>
          </a:prstGeom>
          <a:ln w="9144">
            <a:solidFill>
              <a:srgbClr val="585858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226901">
              <a:spcBef>
                <a:spcPts val="500"/>
              </a:spcBef>
            </a:pPr>
            <a:r>
              <a:rPr sz="1867" b="1" spc="-7" dirty="0">
                <a:latin typeface="Arial"/>
                <a:cs typeface="Arial"/>
              </a:rPr>
              <a:t>Microarchitectural</a:t>
            </a:r>
            <a:r>
              <a:rPr sz="1867" b="1" spc="-73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channels</a:t>
            </a:r>
            <a:endParaRPr sz="1867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533">
              <a:latin typeface="Arial"/>
              <a:cs typeface="Arial"/>
            </a:endParaRPr>
          </a:p>
          <a:p>
            <a:pPr marL="1670432" marR="81278" indent="847" algn="ctr"/>
            <a:r>
              <a:rPr sz="1867" dirty="0">
                <a:latin typeface="Arial MT"/>
                <a:cs typeface="Arial MT"/>
              </a:rPr>
              <a:t>Microarch </a:t>
            </a:r>
            <a:r>
              <a:rPr sz="1867" spc="-7" dirty="0">
                <a:latin typeface="Arial MT"/>
                <a:cs typeface="Arial MT"/>
              </a:rPr>
              <a:t>events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(e.g.,</a:t>
            </a:r>
            <a:r>
              <a:rPr sz="1867" spc="-10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timing,</a:t>
            </a:r>
            <a:r>
              <a:rPr sz="1867" spc="-9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perf.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counters, </a:t>
            </a:r>
            <a:r>
              <a:rPr sz="1867" spc="-7" dirty="0">
                <a:latin typeface="Arial MT"/>
                <a:cs typeface="Arial MT"/>
              </a:rPr>
              <a:t>mem </a:t>
            </a:r>
            <a:r>
              <a:rPr sz="1867" dirty="0">
                <a:latin typeface="Arial MT"/>
                <a:cs typeface="Arial MT"/>
              </a:rPr>
              <a:t> interleavings)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4" name="object 22">
            <a:extLst>
              <a:ext uri="{FF2B5EF4-FFF2-40B4-BE49-F238E27FC236}">
                <a16:creationId xmlns:a16="http://schemas.microsoft.com/office/drawing/2014/main" id="{73FB2100-C44C-84A7-E4D3-229AD83F2751}"/>
              </a:ext>
            </a:extLst>
          </p:cNvPr>
          <p:cNvGrpSpPr/>
          <p:nvPr/>
        </p:nvGrpSpPr>
        <p:grpSpPr>
          <a:xfrm>
            <a:off x="1301735" y="4300680"/>
            <a:ext cx="1253913" cy="400473"/>
            <a:chOff x="1002791" y="3631691"/>
            <a:chExt cx="940435" cy="300355"/>
          </a:xfrm>
        </p:grpSpPr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4A1BF97E-5B96-FAE0-A723-E7FEA7186975}"/>
                </a:ext>
              </a:extLst>
            </p:cNvPr>
            <p:cNvSpPr/>
            <p:nvPr/>
          </p:nvSpPr>
          <p:spPr>
            <a:xfrm>
              <a:off x="1015745" y="3644645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868679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228599"/>
                  </a:lnTo>
                  <a:lnTo>
                    <a:pt x="3593" y="246395"/>
                  </a:lnTo>
                  <a:lnTo>
                    <a:pt x="13392" y="260927"/>
                  </a:lnTo>
                  <a:lnTo>
                    <a:pt x="27924" y="270726"/>
                  </a:lnTo>
                  <a:lnTo>
                    <a:pt x="45719" y="274319"/>
                  </a:lnTo>
                  <a:lnTo>
                    <a:pt x="868679" y="274319"/>
                  </a:lnTo>
                  <a:lnTo>
                    <a:pt x="886485" y="270726"/>
                  </a:lnTo>
                  <a:lnTo>
                    <a:pt x="901017" y="260927"/>
                  </a:lnTo>
                  <a:lnTo>
                    <a:pt x="910810" y="246395"/>
                  </a:lnTo>
                  <a:lnTo>
                    <a:pt x="914399" y="228599"/>
                  </a:lnTo>
                  <a:lnTo>
                    <a:pt x="914399" y="45719"/>
                  </a:lnTo>
                  <a:lnTo>
                    <a:pt x="910810" y="27914"/>
                  </a:lnTo>
                  <a:lnTo>
                    <a:pt x="901017" y="13382"/>
                  </a:lnTo>
                  <a:lnTo>
                    <a:pt x="886485" y="3589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78909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63FCE62A-40C0-FAB1-363F-89F470273848}"/>
                </a:ext>
              </a:extLst>
            </p:cNvPr>
            <p:cNvSpPr/>
            <p:nvPr/>
          </p:nvSpPr>
          <p:spPr>
            <a:xfrm>
              <a:off x="1015745" y="3644645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0" y="45719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868679" y="0"/>
                  </a:lnTo>
                  <a:lnTo>
                    <a:pt x="886485" y="3589"/>
                  </a:lnTo>
                  <a:lnTo>
                    <a:pt x="901017" y="13382"/>
                  </a:lnTo>
                  <a:lnTo>
                    <a:pt x="910810" y="27914"/>
                  </a:lnTo>
                  <a:lnTo>
                    <a:pt x="914399" y="45719"/>
                  </a:lnTo>
                  <a:lnTo>
                    <a:pt x="914399" y="228599"/>
                  </a:lnTo>
                  <a:lnTo>
                    <a:pt x="910810" y="246395"/>
                  </a:lnTo>
                  <a:lnTo>
                    <a:pt x="901017" y="260927"/>
                  </a:lnTo>
                  <a:lnTo>
                    <a:pt x="886485" y="270726"/>
                  </a:lnTo>
                  <a:lnTo>
                    <a:pt x="868679" y="274319"/>
                  </a:lnTo>
                  <a:lnTo>
                    <a:pt x="45719" y="274319"/>
                  </a:lnTo>
                  <a:lnTo>
                    <a:pt x="27924" y="270726"/>
                  </a:lnTo>
                  <a:lnTo>
                    <a:pt x="13392" y="260927"/>
                  </a:lnTo>
                  <a:lnTo>
                    <a:pt x="3593" y="246395"/>
                  </a:lnTo>
                  <a:lnTo>
                    <a:pt x="0" y="228599"/>
                  </a:lnTo>
                  <a:lnTo>
                    <a:pt x="0" y="45719"/>
                  </a:lnTo>
                  <a:close/>
                </a:path>
              </a:pathLst>
            </a:custGeom>
            <a:ln w="25908">
              <a:solidFill>
                <a:srgbClr val="55687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5">
            <a:extLst>
              <a:ext uri="{FF2B5EF4-FFF2-40B4-BE49-F238E27FC236}">
                <a16:creationId xmlns:a16="http://schemas.microsoft.com/office/drawing/2014/main" id="{E9AFD527-C107-747F-9090-DB3FC76B7AAF}"/>
              </a:ext>
            </a:extLst>
          </p:cNvPr>
          <p:cNvSpPr txBox="1"/>
          <p:nvPr/>
        </p:nvSpPr>
        <p:spPr>
          <a:xfrm>
            <a:off x="1157464" y="3741881"/>
            <a:ext cx="1577340" cy="908069"/>
          </a:xfrm>
          <a:prstGeom prst="rect">
            <a:avLst/>
          </a:prstGeom>
          <a:ln w="9144">
            <a:solidFill>
              <a:srgbClr val="585858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algn="ctr">
              <a:spcBef>
                <a:spcPts val="900"/>
              </a:spcBef>
            </a:pPr>
            <a:r>
              <a:rPr sz="1867" dirty="0">
                <a:latin typeface="Arial MT"/>
                <a:cs typeface="Arial MT"/>
              </a:rPr>
              <a:t>Processor</a:t>
            </a:r>
            <a:endParaRPr sz="1867">
              <a:latin typeface="Arial MT"/>
              <a:cs typeface="Arial MT"/>
            </a:endParaRPr>
          </a:p>
          <a:p>
            <a:pPr marR="25399" algn="ctr">
              <a:spcBef>
                <a:spcPts val="16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Victim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8" name="object 26">
            <a:extLst>
              <a:ext uri="{FF2B5EF4-FFF2-40B4-BE49-F238E27FC236}">
                <a16:creationId xmlns:a16="http://schemas.microsoft.com/office/drawing/2014/main" id="{08F32C22-CE7B-3F0B-F591-22A92D8E8A32}"/>
              </a:ext>
            </a:extLst>
          </p:cNvPr>
          <p:cNvGrpSpPr/>
          <p:nvPr/>
        </p:nvGrpSpPr>
        <p:grpSpPr>
          <a:xfrm>
            <a:off x="4741827" y="4306692"/>
            <a:ext cx="1253913" cy="400473"/>
            <a:chOff x="3582860" y="3636200"/>
            <a:chExt cx="940435" cy="300355"/>
          </a:xfrm>
        </p:grpSpPr>
        <p:sp>
          <p:nvSpPr>
            <p:cNvPr id="29" name="object 27">
              <a:extLst>
                <a:ext uri="{FF2B5EF4-FFF2-40B4-BE49-F238E27FC236}">
                  <a16:creationId xmlns:a16="http://schemas.microsoft.com/office/drawing/2014/main" id="{FFB2C9BF-F35C-4892-D858-C5653A787473}"/>
                </a:ext>
              </a:extLst>
            </p:cNvPr>
            <p:cNvSpPr/>
            <p:nvPr/>
          </p:nvSpPr>
          <p:spPr>
            <a:xfrm>
              <a:off x="3595877" y="3649218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868680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228599"/>
                  </a:lnTo>
                  <a:lnTo>
                    <a:pt x="3589" y="246395"/>
                  </a:lnTo>
                  <a:lnTo>
                    <a:pt x="13382" y="260927"/>
                  </a:lnTo>
                  <a:lnTo>
                    <a:pt x="27914" y="270726"/>
                  </a:lnTo>
                  <a:lnTo>
                    <a:pt x="45720" y="274319"/>
                  </a:lnTo>
                  <a:lnTo>
                    <a:pt x="868680" y="274319"/>
                  </a:lnTo>
                  <a:lnTo>
                    <a:pt x="886485" y="270726"/>
                  </a:lnTo>
                  <a:lnTo>
                    <a:pt x="901017" y="260927"/>
                  </a:lnTo>
                  <a:lnTo>
                    <a:pt x="910810" y="246395"/>
                  </a:lnTo>
                  <a:lnTo>
                    <a:pt x="914400" y="228599"/>
                  </a:lnTo>
                  <a:lnTo>
                    <a:pt x="914400" y="45719"/>
                  </a:lnTo>
                  <a:lnTo>
                    <a:pt x="910810" y="27914"/>
                  </a:lnTo>
                  <a:lnTo>
                    <a:pt x="901017" y="13382"/>
                  </a:lnTo>
                  <a:lnTo>
                    <a:pt x="886485" y="3589"/>
                  </a:lnTo>
                  <a:lnTo>
                    <a:pt x="868680" y="0"/>
                  </a:lnTo>
                  <a:close/>
                </a:path>
              </a:pathLst>
            </a:custGeom>
            <a:solidFill>
              <a:srgbClr val="78909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1C555157-26D4-7AC7-90D4-509BA454BD26}"/>
                </a:ext>
              </a:extLst>
            </p:cNvPr>
            <p:cNvSpPr/>
            <p:nvPr/>
          </p:nvSpPr>
          <p:spPr>
            <a:xfrm>
              <a:off x="3595877" y="3649218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868680" y="0"/>
                  </a:lnTo>
                  <a:lnTo>
                    <a:pt x="886485" y="3589"/>
                  </a:lnTo>
                  <a:lnTo>
                    <a:pt x="901017" y="13382"/>
                  </a:lnTo>
                  <a:lnTo>
                    <a:pt x="910810" y="27914"/>
                  </a:lnTo>
                  <a:lnTo>
                    <a:pt x="914400" y="45719"/>
                  </a:lnTo>
                  <a:lnTo>
                    <a:pt x="914400" y="228599"/>
                  </a:lnTo>
                  <a:lnTo>
                    <a:pt x="910810" y="246395"/>
                  </a:lnTo>
                  <a:lnTo>
                    <a:pt x="901017" y="260927"/>
                  </a:lnTo>
                  <a:lnTo>
                    <a:pt x="886485" y="270726"/>
                  </a:lnTo>
                  <a:lnTo>
                    <a:pt x="868680" y="274319"/>
                  </a:lnTo>
                  <a:lnTo>
                    <a:pt x="45720" y="274319"/>
                  </a:lnTo>
                  <a:lnTo>
                    <a:pt x="27914" y="270726"/>
                  </a:lnTo>
                  <a:lnTo>
                    <a:pt x="13382" y="260927"/>
                  </a:lnTo>
                  <a:lnTo>
                    <a:pt x="3589" y="246395"/>
                  </a:lnTo>
                  <a:lnTo>
                    <a:pt x="0" y="228599"/>
                  </a:lnTo>
                  <a:lnTo>
                    <a:pt x="0" y="45719"/>
                  </a:lnTo>
                  <a:close/>
                </a:path>
              </a:pathLst>
            </a:custGeom>
            <a:ln w="25908">
              <a:solidFill>
                <a:srgbClr val="55687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1" name="object 29">
            <a:extLst>
              <a:ext uri="{FF2B5EF4-FFF2-40B4-BE49-F238E27FC236}">
                <a16:creationId xmlns:a16="http://schemas.microsoft.com/office/drawing/2014/main" id="{D1614CD5-650A-46C3-17ED-833F46EA9D60}"/>
              </a:ext>
            </a:extLst>
          </p:cNvPr>
          <p:cNvSpPr txBox="1"/>
          <p:nvPr/>
        </p:nvSpPr>
        <p:spPr>
          <a:xfrm>
            <a:off x="4599672" y="3741881"/>
            <a:ext cx="1577340" cy="908069"/>
          </a:xfrm>
          <a:prstGeom prst="rect">
            <a:avLst/>
          </a:prstGeom>
          <a:ln w="9144">
            <a:solidFill>
              <a:srgbClr val="585858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1693" algn="ctr">
              <a:spcBef>
                <a:spcPts val="900"/>
              </a:spcBef>
            </a:pPr>
            <a:r>
              <a:rPr sz="1867" dirty="0">
                <a:latin typeface="Arial MT"/>
                <a:cs typeface="Arial MT"/>
              </a:rPr>
              <a:t>Processor</a:t>
            </a:r>
            <a:endParaRPr sz="1867">
              <a:latin typeface="Arial MT"/>
              <a:cs typeface="Arial MT"/>
            </a:endParaRPr>
          </a:p>
          <a:p>
            <a:pPr marR="29633" algn="ctr">
              <a:spcBef>
                <a:spcPts val="1700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Victim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2" name="object 30">
            <a:extLst>
              <a:ext uri="{FF2B5EF4-FFF2-40B4-BE49-F238E27FC236}">
                <a16:creationId xmlns:a16="http://schemas.microsoft.com/office/drawing/2014/main" id="{16589186-D463-E153-0380-D285E5631FD3}"/>
              </a:ext>
            </a:extLst>
          </p:cNvPr>
          <p:cNvGrpSpPr/>
          <p:nvPr/>
        </p:nvGrpSpPr>
        <p:grpSpPr>
          <a:xfrm>
            <a:off x="9057795" y="4192899"/>
            <a:ext cx="1253913" cy="866140"/>
            <a:chOff x="6819836" y="3550856"/>
            <a:chExt cx="940435" cy="649605"/>
          </a:xfrm>
        </p:grpSpPr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E049F005-E348-5A46-C3C1-4CE21DCBE19E}"/>
                </a:ext>
              </a:extLst>
            </p:cNvPr>
            <p:cNvSpPr/>
            <p:nvPr/>
          </p:nvSpPr>
          <p:spPr>
            <a:xfrm>
              <a:off x="6832853" y="3563874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868679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228600"/>
                  </a:lnTo>
                  <a:lnTo>
                    <a:pt x="3589" y="246405"/>
                  </a:lnTo>
                  <a:lnTo>
                    <a:pt x="13382" y="260937"/>
                  </a:lnTo>
                  <a:lnTo>
                    <a:pt x="27914" y="270730"/>
                  </a:lnTo>
                  <a:lnTo>
                    <a:pt x="45720" y="274319"/>
                  </a:lnTo>
                  <a:lnTo>
                    <a:pt x="868679" y="274319"/>
                  </a:lnTo>
                  <a:lnTo>
                    <a:pt x="886485" y="270730"/>
                  </a:lnTo>
                  <a:lnTo>
                    <a:pt x="901017" y="260937"/>
                  </a:lnTo>
                  <a:lnTo>
                    <a:pt x="910810" y="246405"/>
                  </a:lnTo>
                  <a:lnTo>
                    <a:pt x="914400" y="228600"/>
                  </a:lnTo>
                  <a:lnTo>
                    <a:pt x="914400" y="45719"/>
                  </a:lnTo>
                  <a:lnTo>
                    <a:pt x="910810" y="27914"/>
                  </a:lnTo>
                  <a:lnTo>
                    <a:pt x="901017" y="13382"/>
                  </a:lnTo>
                  <a:lnTo>
                    <a:pt x="886485" y="3589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78909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AB427B47-E99F-4437-94AC-842D0F971ECF}"/>
                </a:ext>
              </a:extLst>
            </p:cNvPr>
            <p:cNvSpPr/>
            <p:nvPr/>
          </p:nvSpPr>
          <p:spPr>
            <a:xfrm>
              <a:off x="6832853" y="3563874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868679" y="0"/>
                  </a:lnTo>
                  <a:lnTo>
                    <a:pt x="886485" y="3589"/>
                  </a:lnTo>
                  <a:lnTo>
                    <a:pt x="901017" y="13382"/>
                  </a:lnTo>
                  <a:lnTo>
                    <a:pt x="910810" y="27914"/>
                  </a:lnTo>
                  <a:lnTo>
                    <a:pt x="914400" y="45719"/>
                  </a:lnTo>
                  <a:lnTo>
                    <a:pt x="914400" y="228600"/>
                  </a:lnTo>
                  <a:lnTo>
                    <a:pt x="910810" y="246405"/>
                  </a:lnTo>
                  <a:lnTo>
                    <a:pt x="901017" y="260937"/>
                  </a:lnTo>
                  <a:lnTo>
                    <a:pt x="886485" y="270730"/>
                  </a:lnTo>
                  <a:lnTo>
                    <a:pt x="868679" y="274319"/>
                  </a:lnTo>
                  <a:lnTo>
                    <a:pt x="45720" y="274319"/>
                  </a:lnTo>
                  <a:lnTo>
                    <a:pt x="27914" y="270730"/>
                  </a:lnTo>
                  <a:lnTo>
                    <a:pt x="13382" y="260937"/>
                  </a:lnTo>
                  <a:lnTo>
                    <a:pt x="3589" y="246405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25908">
              <a:solidFill>
                <a:srgbClr val="55687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6AF2A41A-F2D8-C50E-89A8-AABBF68A182E}"/>
                </a:ext>
              </a:extLst>
            </p:cNvPr>
            <p:cNvSpPr/>
            <p:nvPr/>
          </p:nvSpPr>
          <p:spPr>
            <a:xfrm>
              <a:off x="6832853" y="3912870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868679" y="0"/>
                  </a:moveTo>
                  <a:lnTo>
                    <a:pt x="45720" y="0"/>
                  </a:lnTo>
                  <a:lnTo>
                    <a:pt x="27914" y="3593"/>
                  </a:lnTo>
                  <a:lnTo>
                    <a:pt x="13382" y="13392"/>
                  </a:lnTo>
                  <a:lnTo>
                    <a:pt x="3589" y="27924"/>
                  </a:lnTo>
                  <a:lnTo>
                    <a:pt x="0" y="45719"/>
                  </a:lnTo>
                  <a:lnTo>
                    <a:pt x="0" y="228599"/>
                  </a:lnTo>
                  <a:lnTo>
                    <a:pt x="3589" y="246395"/>
                  </a:lnTo>
                  <a:lnTo>
                    <a:pt x="13382" y="260927"/>
                  </a:lnTo>
                  <a:lnTo>
                    <a:pt x="27914" y="270726"/>
                  </a:lnTo>
                  <a:lnTo>
                    <a:pt x="45720" y="274319"/>
                  </a:lnTo>
                  <a:lnTo>
                    <a:pt x="868679" y="274319"/>
                  </a:lnTo>
                  <a:lnTo>
                    <a:pt x="886485" y="270726"/>
                  </a:lnTo>
                  <a:lnTo>
                    <a:pt x="901017" y="260927"/>
                  </a:lnTo>
                  <a:lnTo>
                    <a:pt x="910810" y="246395"/>
                  </a:lnTo>
                  <a:lnTo>
                    <a:pt x="914400" y="228599"/>
                  </a:lnTo>
                  <a:lnTo>
                    <a:pt x="914400" y="45719"/>
                  </a:lnTo>
                  <a:lnTo>
                    <a:pt x="910810" y="27924"/>
                  </a:lnTo>
                  <a:lnTo>
                    <a:pt x="901017" y="13392"/>
                  </a:lnTo>
                  <a:lnTo>
                    <a:pt x="886485" y="3593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68464323-B0D6-968D-970F-066163249499}"/>
                </a:ext>
              </a:extLst>
            </p:cNvPr>
            <p:cNvSpPr/>
            <p:nvPr/>
          </p:nvSpPr>
          <p:spPr>
            <a:xfrm>
              <a:off x="6832853" y="3912870"/>
              <a:ext cx="914400" cy="274320"/>
            </a:xfrm>
            <a:custGeom>
              <a:avLst/>
              <a:gdLst/>
              <a:ahLst/>
              <a:cxnLst/>
              <a:rect l="l" t="t" r="r" b="b"/>
              <a:pathLst>
                <a:path w="914400" h="274320">
                  <a:moveTo>
                    <a:pt x="0" y="45719"/>
                  </a:moveTo>
                  <a:lnTo>
                    <a:pt x="3589" y="27924"/>
                  </a:lnTo>
                  <a:lnTo>
                    <a:pt x="13382" y="13392"/>
                  </a:lnTo>
                  <a:lnTo>
                    <a:pt x="27914" y="3593"/>
                  </a:lnTo>
                  <a:lnTo>
                    <a:pt x="45720" y="0"/>
                  </a:lnTo>
                  <a:lnTo>
                    <a:pt x="868679" y="0"/>
                  </a:lnTo>
                  <a:lnTo>
                    <a:pt x="886485" y="3593"/>
                  </a:lnTo>
                  <a:lnTo>
                    <a:pt x="901017" y="13392"/>
                  </a:lnTo>
                  <a:lnTo>
                    <a:pt x="910810" y="27924"/>
                  </a:lnTo>
                  <a:lnTo>
                    <a:pt x="914400" y="45719"/>
                  </a:lnTo>
                  <a:lnTo>
                    <a:pt x="914400" y="228599"/>
                  </a:lnTo>
                  <a:lnTo>
                    <a:pt x="910810" y="246395"/>
                  </a:lnTo>
                  <a:lnTo>
                    <a:pt x="901017" y="260927"/>
                  </a:lnTo>
                  <a:lnTo>
                    <a:pt x="886485" y="270726"/>
                  </a:lnTo>
                  <a:lnTo>
                    <a:pt x="868679" y="274319"/>
                  </a:lnTo>
                  <a:lnTo>
                    <a:pt x="45720" y="274319"/>
                  </a:lnTo>
                  <a:lnTo>
                    <a:pt x="27914" y="270726"/>
                  </a:lnTo>
                  <a:lnTo>
                    <a:pt x="13382" y="260927"/>
                  </a:lnTo>
                  <a:lnTo>
                    <a:pt x="3589" y="246395"/>
                  </a:lnTo>
                  <a:lnTo>
                    <a:pt x="0" y="228599"/>
                  </a:lnTo>
                  <a:lnTo>
                    <a:pt x="0" y="45719"/>
                  </a:lnTo>
                  <a:close/>
                </a:path>
              </a:pathLst>
            </a:custGeom>
            <a:ln w="25908">
              <a:solidFill>
                <a:srgbClr val="55687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7" name="object 35">
            <a:extLst>
              <a:ext uri="{FF2B5EF4-FFF2-40B4-BE49-F238E27FC236}">
                <a16:creationId xmlns:a16="http://schemas.microsoft.com/office/drawing/2014/main" id="{6567576D-7FD5-ECE5-F17C-87CFB747EF14}"/>
              </a:ext>
            </a:extLst>
          </p:cNvPr>
          <p:cNvSpPr txBox="1"/>
          <p:nvPr/>
        </p:nvSpPr>
        <p:spPr>
          <a:xfrm>
            <a:off x="8901416" y="3741880"/>
            <a:ext cx="1577340" cy="1259512"/>
          </a:xfrm>
          <a:prstGeom prst="rect">
            <a:avLst/>
          </a:prstGeom>
          <a:ln w="9144">
            <a:solidFill>
              <a:srgbClr val="585858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algn="ctr">
              <a:spcBef>
                <a:spcPts val="900"/>
              </a:spcBef>
            </a:pPr>
            <a:r>
              <a:rPr sz="1867" dirty="0">
                <a:latin typeface="Arial MT"/>
                <a:cs typeface="Arial MT"/>
              </a:rPr>
              <a:t>Processor</a:t>
            </a:r>
            <a:endParaRPr sz="1867">
              <a:latin typeface="Arial MT"/>
              <a:cs typeface="Arial MT"/>
            </a:endParaRPr>
          </a:p>
          <a:p>
            <a:pPr algn="ctr">
              <a:spcBef>
                <a:spcPts val="81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Victim</a:t>
            </a:r>
            <a:endParaRPr sz="1867">
              <a:latin typeface="Arial MT"/>
              <a:cs typeface="Arial MT"/>
            </a:endParaRPr>
          </a:p>
          <a:p>
            <a:pPr marR="847" algn="ctr">
              <a:spcBef>
                <a:spcPts val="141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Attacker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AC99AE36-6F82-5AB1-B996-26247EA4430A}"/>
              </a:ext>
            </a:extLst>
          </p:cNvPr>
          <p:cNvSpPr/>
          <p:nvPr/>
        </p:nvSpPr>
        <p:spPr>
          <a:xfrm>
            <a:off x="3909806" y="1442673"/>
            <a:ext cx="8006080" cy="4748953"/>
          </a:xfrm>
          <a:custGeom>
            <a:avLst/>
            <a:gdLst/>
            <a:ahLst/>
            <a:cxnLst/>
            <a:rect l="l" t="t" r="r" b="b"/>
            <a:pathLst>
              <a:path w="6004559" h="3561715">
                <a:moveTo>
                  <a:pt x="0" y="3561588"/>
                </a:moveTo>
                <a:lnTo>
                  <a:pt x="6004559" y="3561588"/>
                </a:lnTo>
                <a:lnTo>
                  <a:pt x="6004559" y="0"/>
                </a:lnTo>
                <a:lnTo>
                  <a:pt x="0" y="0"/>
                </a:lnTo>
                <a:lnTo>
                  <a:pt x="0" y="3561588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85300987-39D7-E2A7-F910-3BCB0DDCDECC}"/>
              </a:ext>
            </a:extLst>
          </p:cNvPr>
          <p:cNvSpPr txBox="1"/>
          <p:nvPr/>
        </p:nvSpPr>
        <p:spPr>
          <a:xfrm>
            <a:off x="326103" y="5475479"/>
            <a:ext cx="3335867" cy="568531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101597" marR="6773" indent="-85511">
              <a:lnSpc>
                <a:spcPts val="2240"/>
              </a:lnSpc>
              <a:spcBef>
                <a:spcPts val="33"/>
              </a:spcBef>
            </a:pPr>
            <a:r>
              <a:rPr sz="1867" dirty="0">
                <a:latin typeface="Arial MT"/>
                <a:cs typeface="Arial MT"/>
              </a:rPr>
              <a:t>Attacker</a:t>
            </a:r>
            <a:r>
              <a:rPr sz="1867" spc="-1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requires</a:t>
            </a:r>
            <a:r>
              <a:rPr sz="1867" spc="-9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measurement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equipment</a:t>
            </a:r>
            <a:r>
              <a:rPr sz="1867" spc="-67" dirty="0">
                <a:latin typeface="Arial MT"/>
                <a:cs typeface="Arial MT"/>
              </a:rPr>
              <a:t> </a:t>
            </a:r>
            <a:r>
              <a:rPr sz="1867" dirty="0">
                <a:latin typeface="Wingdings"/>
                <a:cs typeface="Wingdings"/>
              </a:rPr>
              <a:t></a:t>
            </a:r>
            <a:r>
              <a:rPr sz="1867" spc="33" dirty="0">
                <a:latin typeface="Times New Roman"/>
                <a:cs typeface="Times New Roman"/>
              </a:rPr>
              <a:t> </a:t>
            </a:r>
            <a:r>
              <a:rPr sz="1867" spc="-7" dirty="0">
                <a:latin typeface="Arial MT"/>
                <a:cs typeface="Arial MT"/>
              </a:rPr>
              <a:t>physical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access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647C2AAB-CDC2-AC99-B95B-875839DE3C3B}"/>
              </a:ext>
            </a:extLst>
          </p:cNvPr>
          <p:cNvSpPr txBox="1"/>
          <p:nvPr/>
        </p:nvSpPr>
        <p:spPr>
          <a:xfrm>
            <a:off x="4251522" y="5475479"/>
            <a:ext cx="3150447" cy="568531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108371" marR="6773" indent="-91438">
              <a:lnSpc>
                <a:spcPts val="2240"/>
              </a:lnSpc>
              <a:spcBef>
                <a:spcPts val="33"/>
              </a:spcBef>
            </a:pPr>
            <a:r>
              <a:rPr sz="1867" dirty="0">
                <a:latin typeface="Arial MT"/>
                <a:cs typeface="Arial MT"/>
              </a:rPr>
              <a:t>Attacker</a:t>
            </a:r>
            <a:r>
              <a:rPr sz="1867" spc="-9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may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be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remote</a:t>
            </a:r>
            <a:r>
              <a:rPr sz="1867" spc="-6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(e.g., </a:t>
            </a:r>
            <a:r>
              <a:rPr sz="1867" spc="-49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over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an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internet</a:t>
            </a:r>
            <a:r>
              <a:rPr sz="1867" spc="-6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connection)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91D2863F-017E-CA23-FD2E-393A8CC67AA4}"/>
              </a:ext>
            </a:extLst>
          </p:cNvPr>
          <p:cNvSpPr txBox="1"/>
          <p:nvPr/>
        </p:nvSpPr>
        <p:spPr>
          <a:xfrm>
            <a:off x="8280640" y="5475479"/>
            <a:ext cx="3211407" cy="568531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1056614" marR="6773" indent="-1040527">
              <a:lnSpc>
                <a:spcPts val="2240"/>
              </a:lnSpc>
              <a:spcBef>
                <a:spcPts val="33"/>
              </a:spcBef>
            </a:pPr>
            <a:r>
              <a:rPr sz="1867" dirty="0">
                <a:latin typeface="Arial MT"/>
                <a:cs typeface="Arial MT"/>
              </a:rPr>
              <a:t>Attacker</a:t>
            </a:r>
            <a:r>
              <a:rPr sz="1867" spc="-9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may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be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remote,</a:t>
            </a:r>
            <a:r>
              <a:rPr sz="1867" spc="-6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or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be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co-located</a:t>
            </a:r>
            <a:endParaRPr sz="18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824511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Side/Covert Channel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44" name="object 3">
            <a:extLst>
              <a:ext uri="{FF2B5EF4-FFF2-40B4-BE49-F238E27FC236}">
                <a16:creationId xmlns:a16="http://schemas.microsoft.com/office/drawing/2014/main" id="{92D3237F-F3C7-615C-ECE9-B3F2E190413D}"/>
              </a:ext>
            </a:extLst>
          </p:cNvPr>
          <p:cNvSpPr txBox="1"/>
          <p:nvPr/>
        </p:nvSpPr>
        <p:spPr>
          <a:xfrm>
            <a:off x="520733" y="1561083"/>
            <a:ext cx="11159912" cy="4896149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26518" indent="-457189">
              <a:spcBef>
                <a:spcPts val="560"/>
              </a:spcBef>
              <a:buChar char="●"/>
              <a:tabLst>
                <a:tab pos="625671" algn="l"/>
                <a:tab pos="626518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A </a:t>
            </a:r>
            <a:r>
              <a:rPr sz="2400" b="1" dirty="0">
                <a:solidFill>
                  <a:srgbClr val="585858"/>
                </a:solidFill>
                <a:latin typeface="Arial"/>
                <a:cs typeface="Arial"/>
              </a:rPr>
              <a:t>side</a:t>
            </a:r>
            <a:r>
              <a:rPr sz="2400" b="1" spc="-13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b="1" spc="-7" dirty="0">
                <a:solidFill>
                  <a:srgbClr val="585858"/>
                </a:solidFill>
                <a:latin typeface="Arial"/>
                <a:cs typeface="Arial"/>
              </a:rPr>
              <a:t>channel</a:t>
            </a:r>
            <a:r>
              <a:rPr sz="2400" b="1" spc="13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is</a:t>
            </a:r>
            <a:r>
              <a:rPr sz="2400" spc="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an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i="1" spc="-7" dirty="0">
                <a:solidFill>
                  <a:srgbClr val="C00000"/>
                </a:solidFill>
                <a:latin typeface="Arial"/>
                <a:cs typeface="Arial"/>
              </a:rPr>
              <a:t>unintended</a:t>
            </a:r>
            <a:r>
              <a:rPr sz="2400" i="1" spc="33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i="1" spc="-7" dirty="0">
                <a:solidFill>
                  <a:srgbClr val="585858"/>
                </a:solidFill>
                <a:latin typeface="Arial"/>
                <a:cs typeface="Arial"/>
              </a:rPr>
              <a:t>communication</a:t>
            </a:r>
            <a:r>
              <a:rPr sz="2400" i="1" spc="6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between</a:t>
            </a:r>
            <a:r>
              <a:rPr sz="2400" spc="8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585858"/>
                </a:solidFill>
                <a:latin typeface="Arial MT"/>
                <a:cs typeface="Arial MT"/>
              </a:rPr>
              <a:t>two</a:t>
            </a:r>
            <a:r>
              <a:rPr sz="2400" spc="4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or</a:t>
            </a: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more parties</a:t>
            </a:r>
            <a:endParaRPr sz="2400" dirty="0">
              <a:latin typeface="Arial MT"/>
              <a:cs typeface="Arial MT"/>
            </a:endParaRPr>
          </a:p>
          <a:p>
            <a:pPr marL="626518" indent="-457189">
              <a:spcBef>
                <a:spcPts val="433"/>
              </a:spcBef>
              <a:buChar char="●"/>
              <a:tabLst>
                <a:tab pos="625671" algn="l"/>
                <a:tab pos="626518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A </a:t>
            </a:r>
            <a:r>
              <a:rPr sz="2400" b="1" spc="-13" dirty="0">
                <a:solidFill>
                  <a:srgbClr val="585858"/>
                </a:solidFill>
                <a:latin typeface="Arial"/>
                <a:cs typeface="Arial"/>
              </a:rPr>
              <a:t>covert</a:t>
            </a:r>
            <a:r>
              <a:rPr sz="2400" b="1" spc="53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b="1" spc="-7" dirty="0">
                <a:solidFill>
                  <a:srgbClr val="585858"/>
                </a:solidFill>
                <a:latin typeface="Arial"/>
                <a:cs typeface="Arial"/>
              </a:rPr>
              <a:t>channel</a:t>
            </a:r>
            <a:r>
              <a:rPr sz="2400" b="1" spc="13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is</a:t>
            </a:r>
            <a:r>
              <a:rPr sz="2400" spc="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an </a:t>
            </a:r>
            <a:r>
              <a:rPr sz="2400" i="1" spc="-7" dirty="0">
                <a:solidFill>
                  <a:srgbClr val="C00000"/>
                </a:solidFill>
                <a:latin typeface="Arial"/>
                <a:cs typeface="Arial"/>
              </a:rPr>
              <a:t>intended</a:t>
            </a:r>
            <a:r>
              <a:rPr sz="2400" i="1" spc="33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i="1" spc="-7" dirty="0">
                <a:solidFill>
                  <a:srgbClr val="585858"/>
                </a:solidFill>
                <a:latin typeface="Arial"/>
                <a:cs typeface="Arial"/>
              </a:rPr>
              <a:t>communication</a:t>
            </a:r>
            <a:r>
              <a:rPr sz="2400" i="1" spc="6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between</a:t>
            </a:r>
            <a:r>
              <a:rPr sz="2400" spc="6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585858"/>
                </a:solidFill>
                <a:latin typeface="Arial MT"/>
                <a:cs typeface="Arial MT"/>
              </a:rPr>
              <a:t>two</a:t>
            </a:r>
            <a:r>
              <a:rPr sz="2400" spc="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or</a:t>
            </a:r>
            <a:r>
              <a:rPr sz="2400" spc="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more parties</a:t>
            </a:r>
            <a:endParaRPr lang="en-US" sz="2400" spc="-7" dirty="0">
              <a:solidFill>
                <a:srgbClr val="585858"/>
              </a:solidFill>
              <a:latin typeface="Arial MT"/>
              <a:cs typeface="Arial MT"/>
            </a:endParaRPr>
          </a:p>
          <a:p>
            <a:pPr marL="169329">
              <a:spcBef>
                <a:spcPts val="433"/>
              </a:spcBef>
              <a:tabLst>
                <a:tab pos="625671" algn="l"/>
                <a:tab pos="626518" algn="l"/>
              </a:tabLst>
            </a:pPr>
            <a:r>
              <a:rPr lang="en-IN" sz="2400" spc="-7" dirty="0">
                <a:solidFill>
                  <a:srgbClr val="585858"/>
                </a:solidFill>
                <a:latin typeface="Arial MT"/>
                <a:cs typeface="Arial MT"/>
              </a:rPr>
              <a:t>(you upload a video on YouTube to communicate some information to your friends, if Gmail, </a:t>
            </a:r>
            <a:r>
              <a:rPr lang="en-IN" sz="2400" spc="-7" dirty="0" err="1">
                <a:solidFill>
                  <a:srgbClr val="585858"/>
                </a:solidFill>
                <a:latin typeface="Arial MT"/>
                <a:cs typeface="Arial MT"/>
              </a:rPr>
              <a:t>whatsapp</a:t>
            </a:r>
            <a:r>
              <a:rPr lang="en-IN" sz="2400" spc="-7" dirty="0">
                <a:solidFill>
                  <a:srgbClr val="585858"/>
                </a:solidFill>
                <a:latin typeface="Arial MT"/>
                <a:cs typeface="Arial MT"/>
              </a:rPr>
              <a:t>, call is not allowed)</a:t>
            </a:r>
            <a:endParaRPr sz="2400" dirty="0">
              <a:latin typeface="Arial MT"/>
              <a:cs typeface="Arial MT"/>
            </a:endParaRPr>
          </a:p>
          <a:p>
            <a:pPr>
              <a:spcBef>
                <a:spcPts val="67"/>
              </a:spcBef>
              <a:buClr>
                <a:srgbClr val="585858"/>
              </a:buClr>
              <a:buFont typeface="Arial MT"/>
              <a:buChar char="●"/>
            </a:pPr>
            <a:endParaRPr sz="3200" dirty="0">
              <a:latin typeface="Arial MT"/>
              <a:cs typeface="Arial MT"/>
            </a:endParaRPr>
          </a:p>
          <a:p>
            <a:pPr marL="169329">
              <a:spcBef>
                <a:spcPts val="7"/>
              </a:spcBef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In</a:t>
            </a:r>
            <a:r>
              <a:rPr sz="2400" spc="-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both</a:t>
            </a:r>
            <a:r>
              <a:rPr sz="2400" spc="-2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cases:</a:t>
            </a:r>
            <a:endParaRPr sz="2400" dirty="0">
              <a:latin typeface="Arial MT"/>
              <a:cs typeface="Arial MT"/>
            </a:endParaRPr>
          </a:p>
          <a:p>
            <a:pPr marL="626518" indent="-457189">
              <a:spcBef>
                <a:spcPts val="427"/>
              </a:spcBef>
              <a:buChar char="●"/>
              <a:tabLst>
                <a:tab pos="625671" algn="l"/>
                <a:tab pos="626518" algn="l"/>
              </a:tabLst>
            </a:pP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Communication</a:t>
            </a:r>
            <a:r>
              <a:rPr sz="2400" spc="2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C00000"/>
                </a:solidFill>
                <a:latin typeface="Arial MT"/>
                <a:cs typeface="Arial MT"/>
              </a:rPr>
              <a:t>should</a:t>
            </a:r>
            <a:r>
              <a:rPr sz="2400" spc="33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C00000"/>
                </a:solidFill>
                <a:latin typeface="Arial MT"/>
                <a:cs typeface="Arial MT"/>
              </a:rPr>
              <a:t>not</a:t>
            </a:r>
            <a:r>
              <a:rPr sz="2400" spc="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C00000"/>
                </a:solidFill>
                <a:latin typeface="Arial MT"/>
                <a:cs typeface="Arial MT"/>
              </a:rPr>
              <a:t>be possible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,</a:t>
            </a:r>
            <a:r>
              <a:rPr sz="2400" spc="2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following</a:t>
            </a:r>
            <a:r>
              <a:rPr sz="2400" spc="6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lang="en-US" sz="2400" spc="67" dirty="0">
                <a:solidFill>
                  <a:srgbClr val="585858"/>
                </a:solidFill>
                <a:latin typeface="Arial MT"/>
                <a:cs typeface="Arial MT"/>
              </a:rPr>
              <a:t>computing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system</a:t>
            </a:r>
            <a:r>
              <a:rPr lang="en-US" sz="2400" spc="-7" dirty="0">
                <a:solidFill>
                  <a:srgbClr val="585858"/>
                </a:solidFill>
                <a:latin typeface="Arial MT"/>
                <a:cs typeface="Arial MT"/>
              </a:rPr>
              <a:t>s</a:t>
            </a:r>
            <a:r>
              <a:rPr sz="2400" spc="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semantics</a:t>
            </a:r>
            <a:endParaRPr sz="2400" dirty="0">
              <a:latin typeface="Arial MT"/>
              <a:cs typeface="Arial MT"/>
            </a:endParaRPr>
          </a:p>
          <a:p>
            <a:pPr marL="626518" indent="-457189">
              <a:spcBef>
                <a:spcPts val="433"/>
              </a:spcBef>
              <a:buChar char="●"/>
              <a:tabLst>
                <a:tab pos="625671" algn="l"/>
                <a:tab pos="626518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physical</a:t>
            </a:r>
            <a:r>
              <a:rPr sz="2400" spc="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channel</a:t>
            </a:r>
            <a:r>
              <a:rPr sz="2400" spc="2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used</a:t>
            </a:r>
            <a:r>
              <a:rPr sz="2400" spc="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for</a:t>
            </a:r>
            <a:r>
              <a:rPr sz="2400" spc="-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the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communication</a:t>
            </a:r>
            <a:r>
              <a:rPr sz="2400" spc="3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can</a:t>
            </a:r>
            <a:r>
              <a:rPr sz="2400" spc="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be the same</a:t>
            </a:r>
            <a:endParaRPr sz="2400" dirty="0">
              <a:latin typeface="Arial MT"/>
              <a:cs typeface="Arial MT"/>
            </a:endParaRPr>
          </a:p>
          <a:p>
            <a:pPr>
              <a:spcBef>
                <a:spcPts val="13"/>
              </a:spcBef>
            </a:pPr>
            <a:endParaRPr sz="2733" dirty="0">
              <a:latin typeface="Arial MT"/>
              <a:cs typeface="Arial MT"/>
            </a:endParaRPr>
          </a:p>
          <a:p>
            <a:pPr marL="16933" marR="4609985"/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Side channels</a:t>
            </a:r>
            <a:r>
              <a:rPr sz="2400" spc="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85858"/>
                </a:solidFill>
                <a:latin typeface="Wingdings"/>
                <a:cs typeface="Wingdings"/>
              </a:rPr>
              <a:t></a:t>
            </a:r>
            <a:r>
              <a:rPr sz="2400" spc="6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unintended</a:t>
            </a:r>
            <a:r>
              <a:rPr sz="2400" spc="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85858"/>
                </a:solidFill>
                <a:latin typeface="Wingdings"/>
                <a:cs typeface="Wingdings"/>
              </a:rPr>
              <a:t></a:t>
            </a:r>
            <a:r>
              <a:rPr sz="2400" spc="6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need de-noising </a:t>
            </a:r>
            <a:r>
              <a:rPr sz="2400" spc="-64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Covert channels</a:t>
            </a:r>
            <a:r>
              <a:rPr sz="2400" spc="2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can</a:t>
            </a:r>
            <a:r>
              <a:rPr sz="2400" spc="-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show</a:t>
            </a:r>
            <a:r>
              <a:rPr sz="2400" spc="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“best</a:t>
            </a: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case” leakage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49098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these channels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F31C452-51DE-78AC-DB0B-1EA6DCD06964}"/>
              </a:ext>
            </a:extLst>
          </p:cNvPr>
          <p:cNvSpPr txBox="1"/>
          <p:nvPr/>
        </p:nvSpPr>
        <p:spPr>
          <a:xfrm>
            <a:off x="520734" y="1651779"/>
            <a:ext cx="11598009" cy="46282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8770" indent="-382684">
              <a:spcBef>
                <a:spcPts val="133"/>
              </a:spcBef>
              <a:buChar char="●"/>
              <a:tabLst>
                <a:tab pos="398770" algn="l"/>
                <a:tab pos="399617" algn="l"/>
              </a:tabLst>
            </a:pP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Inter-process</a:t>
            </a:r>
            <a:r>
              <a:rPr lang="en-US" sz="2400" spc="-7" dirty="0">
                <a:solidFill>
                  <a:srgbClr val="585858"/>
                </a:solidFill>
                <a:latin typeface="Arial MT"/>
                <a:cs typeface="Arial MT"/>
              </a:rPr>
              <a:t>(application)</a:t>
            </a:r>
            <a:r>
              <a:rPr sz="2400" spc="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communication</a:t>
            </a:r>
            <a:r>
              <a:rPr sz="2400" spc="3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that</a:t>
            </a: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can</a:t>
            </a:r>
            <a:r>
              <a:rPr sz="2400" spc="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violate</a:t>
            </a:r>
            <a:r>
              <a:rPr sz="2400" spc="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privilege</a:t>
            </a:r>
            <a:r>
              <a:rPr sz="2400" spc="3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boundaries</a:t>
            </a:r>
            <a:endParaRPr sz="2400" dirty="0">
              <a:latin typeface="Arial MT"/>
              <a:cs typeface="Arial MT"/>
            </a:endParaRPr>
          </a:p>
          <a:p>
            <a:pPr>
              <a:spcBef>
                <a:spcPts val="67"/>
              </a:spcBef>
              <a:buClr>
                <a:srgbClr val="585858"/>
              </a:buClr>
              <a:buFont typeface="Arial MT"/>
              <a:buChar char="●"/>
            </a:pPr>
            <a:endParaRPr sz="3200" dirty="0">
              <a:latin typeface="Arial MT"/>
              <a:cs typeface="Arial MT"/>
            </a:endParaRPr>
          </a:p>
          <a:p>
            <a:pPr marL="398770" indent="-382684">
              <a:buChar char="●"/>
              <a:tabLst>
                <a:tab pos="398770" algn="l"/>
                <a:tab pos="399617" algn="l"/>
              </a:tabLst>
            </a:pP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Infer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 information</a:t>
            </a: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 from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application’s</a:t>
            </a:r>
            <a:r>
              <a:rPr sz="2400" spc="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data-dependent</a:t>
            </a:r>
            <a:r>
              <a:rPr sz="2400" spc="4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HW</a:t>
            </a:r>
            <a:r>
              <a:rPr sz="2400" spc="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resource</a:t>
            </a:r>
            <a:r>
              <a:rPr sz="2400" spc="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usage</a:t>
            </a:r>
            <a:endParaRPr sz="2400" dirty="0">
              <a:latin typeface="Arial MT"/>
              <a:cs typeface="Arial MT"/>
            </a:endParaRPr>
          </a:p>
          <a:p>
            <a:pPr marL="16086">
              <a:tabLst>
                <a:tab pos="398770" algn="l"/>
                <a:tab pos="399617" algn="l"/>
              </a:tabLst>
            </a:pP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585858"/>
              </a:buClr>
            </a:pPr>
            <a:endParaRPr sz="2667" dirty="0">
              <a:latin typeface="Arial MT"/>
              <a:cs typeface="Arial MT"/>
            </a:endParaRPr>
          </a:p>
          <a:p>
            <a:pPr>
              <a:spcBef>
                <a:spcPts val="33"/>
              </a:spcBef>
              <a:buClr>
                <a:srgbClr val="585858"/>
              </a:buClr>
              <a:buFont typeface="Arial MT"/>
              <a:buChar char="●"/>
            </a:pPr>
            <a:endParaRPr sz="3067" dirty="0">
              <a:latin typeface="Arial MT"/>
              <a:cs typeface="Arial MT"/>
            </a:endParaRPr>
          </a:p>
          <a:p>
            <a:pPr marL="16933" marR="2709266">
              <a:lnSpc>
                <a:spcPct val="114999"/>
              </a:lnSpc>
              <a:spcBef>
                <a:spcPts val="7"/>
              </a:spcBef>
            </a:pP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Side/covert</a:t>
            </a:r>
            <a:r>
              <a:rPr sz="2400" spc="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channels</a:t>
            </a:r>
            <a:r>
              <a:rPr sz="2400" spc="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not</a:t>
            </a:r>
            <a:r>
              <a:rPr sz="2400" spc="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in</a:t>
            </a:r>
            <a:r>
              <a:rPr sz="2400" spc="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any</a:t>
            </a:r>
            <a:r>
              <a:rPr sz="2400" spc="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C00000"/>
                </a:solidFill>
                <a:latin typeface="Arial MT"/>
                <a:cs typeface="Arial MT"/>
              </a:rPr>
              <a:t>interface</a:t>
            </a:r>
            <a:r>
              <a:rPr sz="2400" spc="13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C00000"/>
                </a:solidFill>
                <a:latin typeface="Arial MT"/>
                <a:cs typeface="Arial MT"/>
              </a:rPr>
              <a:t>specification</a:t>
            </a:r>
            <a:r>
              <a:rPr lang="en-US" sz="2400" spc="-7" dirty="0">
                <a:solidFill>
                  <a:srgbClr val="C00000"/>
                </a:solidFill>
                <a:latin typeface="Arial MT"/>
                <a:cs typeface="Arial MT"/>
              </a:rPr>
              <a:t> (e.g. ISA)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.</a:t>
            </a:r>
            <a:endParaRPr lang="en-US" sz="2400" spc="-7" dirty="0">
              <a:solidFill>
                <a:srgbClr val="585858"/>
              </a:solidFill>
              <a:latin typeface="Arial MT"/>
              <a:cs typeface="Arial MT"/>
            </a:endParaRPr>
          </a:p>
          <a:p>
            <a:pPr marL="16933" marR="2709266">
              <a:lnSpc>
                <a:spcPct val="114999"/>
              </a:lnSpc>
              <a:spcBef>
                <a:spcPts val="7"/>
              </a:spcBef>
            </a:pPr>
            <a:endParaRPr lang="en-US" sz="2400" spc="-7" dirty="0">
              <a:solidFill>
                <a:srgbClr val="585858"/>
              </a:solidFill>
              <a:latin typeface="Arial MT"/>
              <a:cs typeface="Arial MT"/>
            </a:endParaRPr>
          </a:p>
          <a:p>
            <a:pPr marL="16933" marR="2709266">
              <a:lnSpc>
                <a:spcPct val="114999"/>
              </a:lnSpc>
              <a:spcBef>
                <a:spcPts val="7"/>
              </a:spcBef>
            </a:pPr>
            <a:r>
              <a:rPr sz="2400" spc="-64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Therefore stealthy</a:t>
            </a:r>
            <a:endParaRPr sz="2400" dirty="0">
              <a:latin typeface="Arial MT"/>
              <a:cs typeface="Arial MT"/>
            </a:endParaRPr>
          </a:p>
          <a:p>
            <a:pPr marL="398770" indent="-382684">
              <a:spcBef>
                <a:spcPts val="427"/>
              </a:spcBef>
              <a:buChar char="●"/>
              <a:tabLst>
                <a:tab pos="398770" algn="l"/>
                <a:tab pos="399617" algn="l"/>
              </a:tabLst>
            </a:pP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Sophisticated</a:t>
            </a:r>
            <a:r>
              <a:rPr sz="2400" spc="2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mechanisms</a:t>
            </a:r>
            <a:r>
              <a:rPr sz="2400" spc="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needed</a:t>
            </a:r>
            <a:r>
              <a:rPr sz="2400" spc="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to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detect</a:t>
            </a:r>
            <a:r>
              <a:rPr sz="240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channel</a:t>
            </a:r>
            <a:endParaRPr sz="2400" dirty="0">
              <a:latin typeface="Arial MT"/>
              <a:cs typeface="Arial MT"/>
            </a:endParaRPr>
          </a:p>
          <a:p>
            <a:pPr marL="398770" indent="-382684">
              <a:spcBef>
                <a:spcPts val="433"/>
              </a:spcBef>
              <a:buChar char="●"/>
              <a:tabLst>
                <a:tab pos="398770" algn="l"/>
                <a:tab pos="399617" algn="l"/>
              </a:tabLst>
            </a:pPr>
            <a:r>
              <a:rPr lang="en-US" sz="2400" spc="-7" dirty="0">
                <a:solidFill>
                  <a:srgbClr val="585858"/>
                </a:solidFill>
                <a:latin typeface="Arial MT"/>
                <a:cs typeface="Arial MT"/>
              </a:rPr>
              <a:t>N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o</a:t>
            </a:r>
            <a:r>
              <a:rPr sz="2400" spc="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permanent</a:t>
            </a:r>
            <a:r>
              <a:rPr sz="2400" spc="2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585858"/>
                </a:solidFill>
                <a:latin typeface="Arial MT"/>
                <a:cs typeface="Arial MT"/>
              </a:rPr>
              <a:t>indication</a:t>
            </a:r>
            <a:r>
              <a:rPr sz="2400" spc="3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one</a:t>
            </a:r>
            <a:r>
              <a:rPr sz="2400" spc="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has</a:t>
            </a:r>
            <a:r>
              <a:rPr sz="2400" spc="7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been</a:t>
            </a:r>
            <a:r>
              <a:rPr sz="2400" spc="13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585858"/>
                </a:solidFill>
                <a:latin typeface="Arial MT"/>
                <a:cs typeface="Arial MT"/>
              </a:rPr>
              <a:t>exploited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21088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to send a bit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80BD303F-F3D7-C92C-A788-17AD0C5EBA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278" y="1614691"/>
            <a:ext cx="2497328" cy="1664207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22C1C938-0C87-35EC-99D1-CA7B4EC285F6}"/>
              </a:ext>
            </a:extLst>
          </p:cNvPr>
          <p:cNvSpPr txBox="1"/>
          <p:nvPr/>
        </p:nvSpPr>
        <p:spPr>
          <a:xfrm>
            <a:off x="3556350" y="1614691"/>
            <a:ext cx="5756487" cy="11790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solidFill>
                  <a:srgbClr val="44536A"/>
                </a:solidFill>
                <a:latin typeface="Arial MT"/>
                <a:cs typeface="Arial MT"/>
              </a:rPr>
              <a:t>Two</a:t>
            </a:r>
            <a:r>
              <a:rPr sz="2400" spc="13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processes</a:t>
            </a:r>
            <a:r>
              <a:rPr sz="2400" spc="7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can</a:t>
            </a:r>
            <a:r>
              <a:rPr sz="2400" spc="-2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agree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on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“dead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44536A"/>
                </a:solidFill>
                <a:latin typeface="Arial MT"/>
                <a:cs typeface="Arial MT"/>
              </a:rPr>
              <a:t>drops”</a:t>
            </a:r>
            <a:endParaRPr sz="2400" dirty="0">
              <a:latin typeface="Arial MT"/>
              <a:cs typeface="Arial MT"/>
            </a:endParaRPr>
          </a:p>
          <a:p>
            <a:pPr marL="4872445">
              <a:spcBef>
                <a:spcPts val="1359"/>
              </a:spcBef>
            </a:pPr>
            <a:r>
              <a:rPr sz="1867" spc="-7" dirty="0">
                <a:latin typeface="Calibri"/>
                <a:cs typeface="Calibri"/>
              </a:rPr>
              <a:t>Cache:</a:t>
            </a:r>
            <a:endParaRPr sz="1867" dirty="0">
              <a:latin typeface="Calibri"/>
              <a:cs typeface="Calibri"/>
            </a:endParaRPr>
          </a:p>
          <a:p>
            <a:pPr marL="4803019">
              <a:spcBef>
                <a:spcPts val="333"/>
              </a:spcBef>
            </a:pPr>
            <a:r>
              <a:rPr sz="1867" b="1" dirty="0">
                <a:latin typeface="Arial"/>
                <a:cs typeface="Arial"/>
              </a:rPr>
              <a:t>#</a:t>
            </a:r>
            <a:r>
              <a:rPr sz="1867" b="1" spc="-67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ways</a:t>
            </a:r>
            <a:endParaRPr sz="1867" dirty="0">
              <a:latin typeface="Arial"/>
              <a:cs typeface="Arial"/>
            </a:endParaRP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C641124B-CEA2-8B9E-A845-AE88F56FDB79}"/>
              </a:ext>
            </a:extLst>
          </p:cNvPr>
          <p:cNvGraphicFramePr>
            <a:graphicFrameLocks noGrp="1"/>
          </p:cNvGraphicFramePr>
          <p:nvPr/>
        </p:nvGraphicFramePr>
        <p:xfrm>
          <a:off x="8024175" y="2930070"/>
          <a:ext cx="1423247" cy="2655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0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4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2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object 6">
            <a:extLst>
              <a:ext uri="{FF2B5EF4-FFF2-40B4-BE49-F238E27FC236}">
                <a16:creationId xmlns:a16="http://schemas.microsoft.com/office/drawing/2014/main" id="{4F3048E9-9779-C947-E959-11F53F5674BC}"/>
              </a:ext>
            </a:extLst>
          </p:cNvPr>
          <p:cNvSpPr txBox="1"/>
          <p:nvPr/>
        </p:nvSpPr>
        <p:spPr>
          <a:xfrm>
            <a:off x="7598641" y="3015700"/>
            <a:ext cx="282129" cy="70696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933">
              <a:lnSpc>
                <a:spcPts val="2200"/>
              </a:lnSpc>
            </a:pPr>
            <a:r>
              <a:rPr sz="1867" b="1" dirty="0">
                <a:latin typeface="Arial"/>
                <a:cs typeface="Arial"/>
              </a:rPr>
              <a:t>#</a:t>
            </a:r>
            <a:r>
              <a:rPr sz="1867" b="1" spc="-113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sets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1119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to send a bit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78EC43A2-6BCC-EE02-FDE1-38B47F85DC12}"/>
              </a:ext>
            </a:extLst>
          </p:cNvPr>
          <p:cNvGraphicFramePr>
            <a:graphicFrameLocks noGrp="1"/>
          </p:cNvGraphicFramePr>
          <p:nvPr/>
        </p:nvGraphicFramePr>
        <p:xfrm>
          <a:off x="5618479" y="2987039"/>
          <a:ext cx="1423247" cy="2655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0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4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2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object 3">
            <a:extLst>
              <a:ext uri="{FF2B5EF4-FFF2-40B4-BE49-F238E27FC236}">
                <a16:creationId xmlns:a16="http://schemas.microsoft.com/office/drawing/2014/main" id="{B72E1395-F2BB-1ABE-E328-3375A8A195B1}"/>
              </a:ext>
            </a:extLst>
          </p:cNvPr>
          <p:cNvSpPr txBox="1"/>
          <p:nvPr/>
        </p:nvSpPr>
        <p:spPr>
          <a:xfrm>
            <a:off x="1869440" y="2757423"/>
            <a:ext cx="1798320" cy="1107163"/>
          </a:xfrm>
          <a:prstGeom prst="rect">
            <a:avLst/>
          </a:prstGeom>
          <a:solidFill>
            <a:srgbClr val="4471C4"/>
          </a:solidFill>
          <a:ln w="12191">
            <a:solidFill>
              <a:srgbClr val="30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67">
              <a:latin typeface="Times New Roman"/>
              <a:cs typeface="Times New Roman"/>
            </a:endParaRPr>
          </a:p>
          <a:p>
            <a:pPr>
              <a:spcBef>
                <a:spcPts val="67"/>
              </a:spcBef>
            </a:pPr>
            <a:endParaRPr sz="1533">
              <a:latin typeface="Times New Roman"/>
              <a:cs typeface="Times New Roman"/>
            </a:endParaRPr>
          </a:p>
          <a:p>
            <a:pPr marL="490208" marR="434329" indent="-44872">
              <a:lnSpc>
                <a:spcPct val="100699"/>
              </a:lnSpc>
            </a:pPr>
            <a:r>
              <a:rPr sz="1867" spc="-13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ro</a:t>
            </a:r>
            <a:r>
              <a:rPr sz="1867" spc="-13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ess</a:t>
            </a:r>
            <a:r>
              <a:rPr sz="1867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1  </a:t>
            </a:r>
            <a:r>
              <a:rPr sz="1867" spc="-7" dirty="0">
                <a:solidFill>
                  <a:srgbClr val="FFFFFF"/>
                </a:solidFill>
                <a:latin typeface="Calibri"/>
                <a:cs typeface="Calibri"/>
              </a:rPr>
              <a:t>(Sender)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37D051B7-070B-BC86-2051-D0B6E9CA0C3A}"/>
              </a:ext>
            </a:extLst>
          </p:cNvPr>
          <p:cNvSpPr txBox="1"/>
          <p:nvPr/>
        </p:nvSpPr>
        <p:spPr>
          <a:xfrm>
            <a:off x="1150654" y="1671660"/>
            <a:ext cx="5756487" cy="11790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solidFill>
                  <a:srgbClr val="44536A"/>
                </a:solidFill>
                <a:latin typeface="Arial MT"/>
                <a:cs typeface="Arial MT"/>
              </a:rPr>
              <a:t>Two</a:t>
            </a:r>
            <a:r>
              <a:rPr sz="2400" spc="13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processes</a:t>
            </a:r>
            <a:r>
              <a:rPr sz="2400" spc="7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can</a:t>
            </a:r>
            <a:r>
              <a:rPr sz="2400" spc="-2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agree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on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“dead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44536A"/>
                </a:solidFill>
                <a:latin typeface="Arial MT"/>
                <a:cs typeface="Arial MT"/>
              </a:rPr>
              <a:t>drops”</a:t>
            </a:r>
            <a:endParaRPr sz="2400">
              <a:latin typeface="Arial MT"/>
              <a:cs typeface="Arial MT"/>
            </a:endParaRPr>
          </a:p>
          <a:p>
            <a:pPr marL="4872445">
              <a:spcBef>
                <a:spcPts val="1359"/>
              </a:spcBef>
            </a:pPr>
            <a:r>
              <a:rPr sz="1867" spc="-7" dirty="0">
                <a:latin typeface="Calibri"/>
                <a:cs typeface="Calibri"/>
              </a:rPr>
              <a:t>Cache:</a:t>
            </a:r>
            <a:endParaRPr sz="1867">
              <a:latin typeface="Calibri"/>
              <a:cs typeface="Calibri"/>
            </a:endParaRPr>
          </a:p>
          <a:p>
            <a:pPr marL="4803019">
              <a:spcBef>
                <a:spcPts val="333"/>
              </a:spcBef>
            </a:pPr>
            <a:r>
              <a:rPr sz="1867" b="1" dirty="0">
                <a:latin typeface="Arial"/>
                <a:cs typeface="Arial"/>
              </a:rPr>
              <a:t>#</a:t>
            </a:r>
            <a:r>
              <a:rPr sz="1867" b="1" spc="-67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ways</a:t>
            </a:r>
            <a:endParaRPr sz="1867">
              <a:latin typeface="Arial"/>
              <a:cs typeface="Arial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59E6F2F2-59D0-AE96-F243-098552A69AB4}"/>
              </a:ext>
            </a:extLst>
          </p:cNvPr>
          <p:cNvSpPr txBox="1"/>
          <p:nvPr/>
        </p:nvSpPr>
        <p:spPr>
          <a:xfrm>
            <a:off x="8453120" y="2783839"/>
            <a:ext cx="1798320" cy="1107163"/>
          </a:xfrm>
          <a:prstGeom prst="rect">
            <a:avLst/>
          </a:prstGeom>
          <a:solidFill>
            <a:srgbClr val="4471C4"/>
          </a:solidFill>
          <a:ln w="12192">
            <a:solidFill>
              <a:srgbClr val="30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67">
              <a:latin typeface="Times New Roman"/>
              <a:cs typeface="Times New Roman"/>
            </a:endParaRPr>
          </a:p>
          <a:p>
            <a:pPr>
              <a:spcBef>
                <a:spcPts val="60"/>
              </a:spcBef>
            </a:pPr>
            <a:endParaRPr sz="1533">
              <a:latin typeface="Times New Roman"/>
              <a:cs typeface="Times New Roman"/>
            </a:endParaRPr>
          </a:p>
          <a:p>
            <a:pPr marL="414010" marR="401310" indent="32173">
              <a:lnSpc>
                <a:spcPct val="100899"/>
              </a:lnSpc>
            </a:pPr>
            <a:r>
              <a:rPr sz="1867" spc="-7" dirty="0">
                <a:solidFill>
                  <a:srgbClr val="FFFFFF"/>
                </a:solidFill>
                <a:latin typeface="Calibri"/>
                <a:cs typeface="Calibri"/>
              </a:rPr>
              <a:t>Process 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2 </a:t>
            </a:r>
            <a:r>
              <a:rPr sz="1867" spc="-4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Re</a:t>
            </a:r>
            <a:r>
              <a:rPr sz="1867" spc="-13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eiver)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D7DDE3C9-EC29-EFAF-3783-FB5C34CB1EE2}"/>
              </a:ext>
            </a:extLst>
          </p:cNvPr>
          <p:cNvSpPr txBox="1"/>
          <p:nvPr/>
        </p:nvSpPr>
        <p:spPr>
          <a:xfrm>
            <a:off x="5192945" y="3072669"/>
            <a:ext cx="282129" cy="70696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933">
              <a:lnSpc>
                <a:spcPts val="2200"/>
              </a:lnSpc>
            </a:pPr>
            <a:r>
              <a:rPr sz="1867" b="1" dirty="0">
                <a:latin typeface="Arial"/>
                <a:cs typeface="Arial"/>
              </a:rPr>
              <a:t>#</a:t>
            </a:r>
            <a:r>
              <a:rPr sz="1867" b="1" spc="-113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sets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0370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to send a bit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  <p:grpSp>
        <p:nvGrpSpPr>
          <p:cNvPr id="10" name="object 2">
            <a:extLst>
              <a:ext uri="{FF2B5EF4-FFF2-40B4-BE49-F238E27FC236}">
                <a16:creationId xmlns:a16="http://schemas.microsoft.com/office/drawing/2014/main" id="{6461B34E-3292-AE8E-30C3-5703CF6B1C20}"/>
              </a:ext>
            </a:extLst>
          </p:cNvPr>
          <p:cNvGrpSpPr/>
          <p:nvPr/>
        </p:nvGrpSpPr>
        <p:grpSpPr>
          <a:xfrm>
            <a:off x="5924248" y="2670030"/>
            <a:ext cx="4633805" cy="2876127"/>
            <a:chOff x="4213605" y="2087879"/>
            <a:chExt cx="3475354" cy="2157095"/>
          </a:xfrm>
        </p:grpSpPr>
        <p:sp>
          <p:nvSpPr>
            <p:cNvPr id="11" name="object 3">
              <a:extLst>
                <a:ext uri="{FF2B5EF4-FFF2-40B4-BE49-F238E27FC236}">
                  <a16:creationId xmlns:a16="http://schemas.microsoft.com/office/drawing/2014/main" id="{BC31AFBA-E1FD-BD77-A0B4-E66A98393A13}"/>
                </a:ext>
              </a:extLst>
            </p:cNvPr>
            <p:cNvSpPr/>
            <p:nvPr/>
          </p:nvSpPr>
          <p:spPr>
            <a:xfrm>
              <a:off x="4219955" y="2246375"/>
              <a:ext cx="1066800" cy="1991995"/>
            </a:xfrm>
            <a:custGeom>
              <a:avLst/>
              <a:gdLst/>
              <a:ahLst/>
              <a:cxnLst/>
              <a:rect l="l" t="t" r="r" b="b"/>
              <a:pathLst>
                <a:path w="1066800" h="1991995">
                  <a:moveTo>
                    <a:pt x="0" y="1991868"/>
                  </a:moveTo>
                  <a:lnTo>
                    <a:pt x="1066800" y="1991868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199186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C4F99BC9-EF28-A6EC-F50C-7729C2CAFAD8}"/>
                </a:ext>
              </a:extLst>
            </p:cNvPr>
            <p:cNvSpPr/>
            <p:nvPr/>
          </p:nvSpPr>
          <p:spPr>
            <a:xfrm>
              <a:off x="4753355" y="2246375"/>
              <a:ext cx="0" cy="1991360"/>
            </a:xfrm>
            <a:custGeom>
              <a:avLst/>
              <a:gdLst/>
              <a:ahLst/>
              <a:cxnLst/>
              <a:rect l="l" t="t" r="r" b="b"/>
              <a:pathLst>
                <a:path h="1991360">
                  <a:moveTo>
                    <a:pt x="0" y="958596"/>
                  </a:moveTo>
                  <a:lnTo>
                    <a:pt x="0" y="1990801"/>
                  </a:lnTo>
                </a:path>
                <a:path h="1991360">
                  <a:moveTo>
                    <a:pt x="0" y="0"/>
                  </a:moveTo>
                  <a:lnTo>
                    <a:pt x="0" y="70104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321AEFFE-02E4-2D24-7D42-21BD1585DDAB}"/>
                </a:ext>
              </a:extLst>
            </p:cNvPr>
            <p:cNvSpPr/>
            <p:nvPr/>
          </p:nvSpPr>
          <p:spPr>
            <a:xfrm>
              <a:off x="4219955" y="2461259"/>
              <a:ext cx="1066800" cy="242570"/>
            </a:xfrm>
            <a:custGeom>
              <a:avLst/>
              <a:gdLst/>
              <a:ahLst/>
              <a:cxnLst/>
              <a:rect l="l" t="t" r="r" b="b"/>
              <a:pathLst>
                <a:path w="1066800" h="242569">
                  <a:moveTo>
                    <a:pt x="1066800" y="0"/>
                  </a:moveTo>
                  <a:lnTo>
                    <a:pt x="0" y="0"/>
                  </a:lnTo>
                </a:path>
                <a:path w="1066800" h="242569">
                  <a:moveTo>
                    <a:pt x="1066800" y="242315"/>
                  </a:moveTo>
                  <a:lnTo>
                    <a:pt x="0" y="242315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F245E81E-7FFC-4555-0D42-36606ACD9EBD}"/>
                </a:ext>
              </a:extLst>
            </p:cNvPr>
            <p:cNvSpPr/>
            <p:nvPr/>
          </p:nvSpPr>
          <p:spPr>
            <a:xfrm>
              <a:off x="4219955" y="3207257"/>
              <a:ext cx="1066800" cy="0"/>
            </a:xfrm>
            <a:custGeom>
              <a:avLst/>
              <a:gdLst/>
              <a:ahLst/>
              <a:cxnLst/>
              <a:rect l="l" t="t" r="r" b="b"/>
              <a:pathLst>
                <a:path w="1066800">
                  <a:moveTo>
                    <a:pt x="0" y="0"/>
                  </a:moveTo>
                  <a:lnTo>
                    <a:pt x="1066800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3D73BDD8-FE08-B491-7A86-023A1FD41847}"/>
                </a:ext>
              </a:extLst>
            </p:cNvPr>
            <p:cNvSpPr/>
            <p:nvPr/>
          </p:nvSpPr>
          <p:spPr>
            <a:xfrm>
              <a:off x="4219955" y="3471671"/>
              <a:ext cx="1066800" cy="518159"/>
            </a:xfrm>
            <a:custGeom>
              <a:avLst/>
              <a:gdLst/>
              <a:ahLst/>
              <a:cxnLst/>
              <a:rect l="l" t="t" r="r" b="b"/>
              <a:pathLst>
                <a:path w="1066800" h="518160">
                  <a:moveTo>
                    <a:pt x="1066800" y="0"/>
                  </a:moveTo>
                  <a:lnTo>
                    <a:pt x="0" y="0"/>
                  </a:lnTo>
                </a:path>
                <a:path w="1066800" h="518160">
                  <a:moveTo>
                    <a:pt x="1066800" y="260603"/>
                  </a:moveTo>
                  <a:lnTo>
                    <a:pt x="0" y="260603"/>
                  </a:lnTo>
                </a:path>
                <a:path w="1066800" h="518160">
                  <a:moveTo>
                    <a:pt x="1066800" y="518159"/>
                  </a:moveTo>
                  <a:lnTo>
                    <a:pt x="0" y="51815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8">
              <a:extLst>
                <a:ext uri="{FF2B5EF4-FFF2-40B4-BE49-F238E27FC236}">
                  <a16:creationId xmlns:a16="http://schemas.microsoft.com/office/drawing/2014/main" id="{571AB165-9BB3-945D-BC0D-1C0977A3AC7C}"/>
                </a:ext>
              </a:extLst>
            </p:cNvPr>
            <p:cNvSpPr/>
            <p:nvPr/>
          </p:nvSpPr>
          <p:spPr>
            <a:xfrm>
              <a:off x="4483607" y="2246375"/>
              <a:ext cx="535305" cy="1991360"/>
            </a:xfrm>
            <a:custGeom>
              <a:avLst/>
              <a:gdLst/>
              <a:ahLst/>
              <a:cxnLst/>
              <a:rect l="l" t="t" r="r" b="b"/>
              <a:pathLst>
                <a:path w="535304" h="1991360">
                  <a:moveTo>
                    <a:pt x="534924" y="958596"/>
                  </a:moveTo>
                  <a:lnTo>
                    <a:pt x="534924" y="1990801"/>
                  </a:lnTo>
                </a:path>
                <a:path w="535304" h="1991360">
                  <a:moveTo>
                    <a:pt x="534924" y="0"/>
                  </a:moveTo>
                  <a:lnTo>
                    <a:pt x="534924" y="701040"/>
                  </a:lnTo>
                </a:path>
                <a:path w="535304" h="1991360">
                  <a:moveTo>
                    <a:pt x="0" y="958596"/>
                  </a:moveTo>
                  <a:lnTo>
                    <a:pt x="0" y="1990801"/>
                  </a:lnTo>
                </a:path>
                <a:path w="535304" h="1991360">
                  <a:moveTo>
                    <a:pt x="0" y="0"/>
                  </a:moveTo>
                  <a:lnTo>
                    <a:pt x="0" y="70104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9AB9FB0F-5588-55EB-2803-4A139CF332C1}"/>
                </a:ext>
              </a:extLst>
            </p:cNvPr>
            <p:cNvSpPr/>
            <p:nvPr/>
          </p:nvSpPr>
          <p:spPr>
            <a:xfrm>
              <a:off x="4219955" y="2947415"/>
              <a:ext cx="1066800" cy="257810"/>
            </a:xfrm>
            <a:custGeom>
              <a:avLst/>
              <a:gdLst/>
              <a:ahLst/>
              <a:cxnLst/>
              <a:rect l="l" t="t" r="r" b="b"/>
              <a:pathLst>
                <a:path w="1066800" h="257810">
                  <a:moveTo>
                    <a:pt x="1066800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1066800" y="257556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0">
              <a:extLst>
                <a:ext uri="{FF2B5EF4-FFF2-40B4-BE49-F238E27FC236}">
                  <a16:creationId xmlns:a16="http://schemas.microsoft.com/office/drawing/2014/main" id="{901AD935-6E8F-6FDF-C01B-04CE1FAA8C32}"/>
                </a:ext>
              </a:extLst>
            </p:cNvPr>
            <p:cNvSpPr/>
            <p:nvPr/>
          </p:nvSpPr>
          <p:spPr>
            <a:xfrm>
              <a:off x="6339839" y="2087879"/>
              <a:ext cx="1348740" cy="1210310"/>
            </a:xfrm>
            <a:custGeom>
              <a:avLst/>
              <a:gdLst/>
              <a:ahLst/>
              <a:cxnLst/>
              <a:rect l="l" t="t" r="r" b="b"/>
              <a:pathLst>
                <a:path w="1348740" h="1210310">
                  <a:moveTo>
                    <a:pt x="1348739" y="0"/>
                  </a:moveTo>
                  <a:lnTo>
                    <a:pt x="0" y="0"/>
                  </a:lnTo>
                  <a:lnTo>
                    <a:pt x="0" y="1210056"/>
                  </a:lnTo>
                  <a:lnTo>
                    <a:pt x="1348739" y="1210056"/>
                  </a:lnTo>
                  <a:lnTo>
                    <a:pt x="134873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1">
            <a:extLst>
              <a:ext uri="{FF2B5EF4-FFF2-40B4-BE49-F238E27FC236}">
                <a16:creationId xmlns:a16="http://schemas.microsoft.com/office/drawing/2014/main" id="{7149312D-8B56-71E8-2B91-0E97D2CC8BFC}"/>
              </a:ext>
            </a:extLst>
          </p:cNvPr>
          <p:cNvSpPr txBox="1"/>
          <p:nvPr/>
        </p:nvSpPr>
        <p:spPr>
          <a:xfrm>
            <a:off x="2175548" y="2643614"/>
            <a:ext cx="1798320" cy="1107163"/>
          </a:xfrm>
          <a:prstGeom prst="rect">
            <a:avLst/>
          </a:prstGeom>
          <a:solidFill>
            <a:srgbClr val="4471C4"/>
          </a:solidFill>
          <a:ln w="12191">
            <a:solidFill>
              <a:srgbClr val="30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67">
              <a:latin typeface="Times New Roman"/>
              <a:cs typeface="Times New Roman"/>
            </a:endParaRPr>
          </a:p>
          <a:p>
            <a:pPr>
              <a:spcBef>
                <a:spcPts val="67"/>
              </a:spcBef>
            </a:pPr>
            <a:endParaRPr sz="1533">
              <a:latin typeface="Times New Roman"/>
              <a:cs typeface="Times New Roman"/>
            </a:endParaRPr>
          </a:p>
          <a:p>
            <a:pPr marL="490208" marR="434329" indent="-44872">
              <a:lnSpc>
                <a:spcPct val="100699"/>
              </a:lnSpc>
            </a:pPr>
            <a:r>
              <a:rPr sz="1867" spc="-13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ro</a:t>
            </a:r>
            <a:r>
              <a:rPr sz="1867" spc="-13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ess</a:t>
            </a:r>
            <a:r>
              <a:rPr sz="1867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1  </a:t>
            </a:r>
            <a:r>
              <a:rPr sz="1867" spc="-7" dirty="0">
                <a:solidFill>
                  <a:srgbClr val="FFFFFF"/>
                </a:solidFill>
                <a:latin typeface="Calibri"/>
                <a:cs typeface="Calibri"/>
              </a:rPr>
              <a:t>(Sender)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6B44125A-BFA4-3F64-51C6-C54CB3C92D38}"/>
              </a:ext>
            </a:extLst>
          </p:cNvPr>
          <p:cNvSpPr txBox="1"/>
          <p:nvPr/>
        </p:nvSpPr>
        <p:spPr>
          <a:xfrm>
            <a:off x="8759228" y="2670030"/>
            <a:ext cx="1798320" cy="1107163"/>
          </a:xfrm>
          <a:prstGeom prst="rect">
            <a:avLst/>
          </a:prstGeom>
          <a:ln w="12192">
            <a:solidFill>
              <a:srgbClr val="30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67">
              <a:latin typeface="Times New Roman"/>
              <a:cs typeface="Times New Roman"/>
            </a:endParaRPr>
          </a:p>
          <a:p>
            <a:pPr>
              <a:spcBef>
                <a:spcPts val="60"/>
              </a:spcBef>
            </a:pPr>
            <a:endParaRPr sz="1533">
              <a:latin typeface="Times New Roman"/>
              <a:cs typeface="Times New Roman"/>
            </a:endParaRPr>
          </a:p>
          <a:p>
            <a:pPr marL="414010" marR="401310" indent="32173">
              <a:lnSpc>
                <a:spcPct val="100899"/>
              </a:lnSpc>
            </a:pPr>
            <a:r>
              <a:rPr sz="1867" spc="-7" dirty="0">
                <a:solidFill>
                  <a:srgbClr val="FFFFFF"/>
                </a:solidFill>
                <a:latin typeface="Calibri"/>
                <a:cs typeface="Calibri"/>
              </a:rPr>
              <a:t>Process 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2 </a:t>
            </a:r>
            <a:r>
              <a:rPr sz="1867" spc="-40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Re</a:t>
            </a:r>
            <a:r>
              <a:rPr sz="1867" spc="-13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67" dirty="0">
                <a:solidFill>
                  <a:srgbClr val="FFFFFF"/>
                </a:solidFill>
                <a:latin typeface="Calibri"/>
                <a:cs typeface="Calibri"/>
              </a:rPr>
              <a:t>eiver)</a:t>
            </a:r>
            <a:endParaRPr sz="1867">
              <a:latin typeface="Calibri"/>
              <a:cs typeface="Calibri"/>
            </a:endParaRPr>
          </a:p>
        </p:txBody>
      </p:sp>
      <p:grpSp>
        <p:nvGrpSpPr>
          <p:cNvPr id="21" name="object 13">
            <a:extLst>
              <a:ext uri="{FF2B5EF4-FFF2-40B4-BE49-F238E27FC236}">
                <a16:creationId xmlns:a16="http://schemas.microsoft.com/office/drawing/2014/main" id="{A12AFAC7-9FA9-FE2D-E618-7C83BF0685FC}"/>
              </a:ext>
            </a:extLst>
          </p:cNvPr>
          <p:cNvGrpSpPr/>
          <p:nvPr/>
        </p:nvGrpSpPr>
        <p:grpSpPr>
          <a:xfrm>
            <a:off x="598716" y="3613047"/>
            <a:ext cx="8380307" cy="2375747"/>
            <a:chOff x="219456" y="2795142"/>
            <a:chExt cx="6285230" cy="178181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22449BAC-F76A-BED6-5ED6-3709F971D98D}"/>
                </a:ext>
              </a:extLst>
            </p:cNvPr>
            <p:cNvSpPr/>
            <p:nvPr/>
          </p:nvSpPr>
          <p:spPr>
            <a:xfrm>
              <a:off x="2809366" y="2929127"/>
              <a:ext cx="1379220" cy="234315"/>
            </a:xfrm>
            <a:custGeom>
              <a:avLst/>
              <a:gdLst/>
              <a:ahLst/>
              <a:cxnLst/>
              <a:rect l="l" t="t" r="r" b="b"/>
              <a:pathLst>
                <a:path w="1379220" h="234314">
                  <a:moveTo>
                    <a:pt x="1290247" y="196198"/>
                  </a:moveTo>
                  <a:lnTo>
                    <a:pt x="1264411" y="234188"/>
                  </a:lnTo>
                  <a:lnTo>
                    <a:pt x="1341556" y="196469"/>
                  </a:lnTo>
                  <a:lnTo>
                    <a:pt x="1302638" y="196469"/>
                  </a:lnTo>
                  <a:lnTo>
                    <a:pt x="1290247" y="196198"/>
                  </a:lnTo>
                  <a:close/>
                </a:path>
                <a:path w="1379220" h="234314">
                  <a:moveTo>
                    <a:pt x="1303019" y="177419"/>
                  </a:moveTo>
                  <a:lnTo>
                    <a:pt x="1290247" y="196198"/>
                  </a:lnTo>
                  <a:lnTo>
                    <a:pt x="1302638" y="196469"/>
                  </a:lnTo>
                  <a:lnTo>
                    <a:pt x="1303019" y="177419"/>
                  </a:lnTo>
                  <a:close/>
                </a:path>
                <a:path w="1379220" h="234314">
                  <a:moveTo>
                    <a:pt x="1265555" y="119888"/>
                  </a:moveTo>
                  <a:lnTo>
                    <a:pt x="1290429" y="158085"/>
                  </a:lnTo>
                  <a:lnTo>
                    <a:pt x="1303400" y="158369"/>
                  </a:lnTo>
                  <a:lnTo>
                    <a:pt x="1302638" y="196469"/>
                  </a:lnTo>
                  <a:lnTo>
                    <a:pt x="1341556" y="196469"/>
                  </a:lnTo>
                  <a:lnTo>
                    <a:pt x="1379220" y="178054"/>
                  </a:lnTo>
                  <a:lnTo>
                    <a:pt x="1265555" y="119888"/>
                  </a:lnTo>
                  <a:close/>
                </a:path>
                <a:path w="1379220" h="234314">
                  <a:moveTo>
                    <a:pt x="671536" y="104249"/>
                  </a:moveTo>
                  <a:lnTo>
                    <a:pt x="706628" y="134747"/>
                  </a:lnTo>
                  <a:lnTo>
                    <a:pt x="744346" y="146177"/>
                  </a:lnTo>
                  <a:lnTo>
                    <a:pt x="794638" y="156718"/>
                  </a:lnTo>
                  <a:lnTo>
                    <a:pt x="856233" y="166370"/>
                  </a:lnTo>
                  <a:lnTo>
                    <a:pt x="902969" y="172212"/>
                  </a:lnTo>
                  <a:lnTo>
                    <a:pt x="980567" y="180086"/>
                  </a:lnTo>
                  <a:lnTo>
                    <a:pt x="1036319" y="184658"/>
                  </a:lnTo>
                  <a:lnTo>
                    <a:pt x="1094867" y="188595"/>
                  </a:lnTo>
                  <a:lnTo>
                    <a:pt x="1186815" y="193167"/>
                  </a:lnTo>
                  <a:lnTo>
                    <a:pt x="1250187" y="195326"/>
                  </a:lnTo>
                  <a:lnTo>
                    <a:pt x="1290247" y="196198"/>
                  </a:lnTo>
                  <a:lnTo>
                    <a:pt x="1303019" y="177419"/>
                  </a:lnTo>
                  <a:lnTo>
                    <a:pt x="1290429" y="158085"/>
                  </a:lnTo>
                  <a:lnTo>
                    <a:pt x="1251077" y="157226"/>
                  </a:lnTo>
                  <a:lnTo>
                    <a:pt x="1251331" y="157226"/>
                  </a:lnTo>
                  <a:lnTo>
                    <a:pt x="1188211" y="155067"/>
                  </a:lnTo>
                  <a:lnTo>
                    <a:pt x="1188466" y="155067"/>
                  </a:lnTo>
                  <a:lnTo>
                    <a:pt x="1126997" y="152273"/>
                  </a:lnTo>
                  <a:lnTo>
                    <a:pt x="1097153" y="150495"/>
                  </a:lnTo>
                  <a:lnTo>
                    <a:pt x="1039113" y="146685"/>
                  </a:lnTo>
                  <a:lnTo>
                    <a:pt x="1039241" y="146685"/>
                  </a:lnTo>
                  <a:lnTo>
                    <a:pt x="1012613" y="144526"/>
                  </a:lnTo>
                  <a:lnTo>
                    <a:pt x="1011300" y="144526"/>
                  </a:lnTo>
                  <a:lnTo>
                    <a:pt x="983869" y="142113"/>
                  </a:lnTo>
                  <a:lnTo>
                    <a:pt x="957453" y="139573"/>
                  </a:lnTo>
                  <a:lnTo>
                    <a:pt x="931798" y="137033"/>
                  </a:lnTo>
                  <a:lnTo>
                    <a:pt x="932053" y="137033"/>
                  </a:lnTo>
                  <a:lnTo>
                    <a:pt x="907287" y="134366"/>
                  </a:lnTo>
                  <a:lnTo>
                    <a:pt x="907415" y="134366"/>
                  </a:lnTo>
                  <a:lnTo>
                    <a:pt x="884820" y="131572"/>
                  </a:lnTo>
                  <a:lnTo>
                    <a:pt x="883919" y="131572"/>
                  </a:lnTo>
                  <a:lnTo>
                    <a:pt x="861313" y="128524"/>
                  </a:lnTo>
                  <a:lnTo>
                    <a:pt x="861441" y="128524"/>
                  </a:lnTo>
                  <a:lnTo>
                    <a:pt x="840993" y="125603"/>
                  </a:lnTo>
                  <a:lnTo>
                    <a:pt x="840358" y="125603"/>
                  </a:lnTo>
                  <a:lnTo>
                    <a:pt x="820820" y="122428"/>
                  </a:lnTo>
                  <a:lnTo>
                    <a:pt x="820166" y="122428"/>
                  </a:lnTo>
                  <a:lnTo>
                    <a:pt x="801848" y="119253"/>
                  </a:lnTo>
                  <a:lnTo>
                    <a:pt x="801496" y="119253"/>
                  </a:lnTo>
                  <a:lnTo>
                    <a:pt x="784375" y="115951"/>
                  </a:lnTo>
                  <a:lnTo>
                    <a:pt x="783970" y="115951"/>
                  </a:lnTo>
                  <a:lnTo>
                    <a:pt x="767587" y="112649"/>
                  </a:lnTo>
                  <a:lnTo>
                    <a:pt x="753363" y="109220"/>
                  </a:lnTo>
                  <a:lnTo>
                    <a:pt x="744823" y="106934"/>
                  </a:lnTo>
                  <a:lnTo>
                    <a:pt x="674116" y="106934"/>
                  </a:lnTo>
                  <a:lnTo>
                    <a:pt x="672555" y="105048"/>
                  </a:lnTo>
                  <a:lnTo>
                    <a:pt x="671536" y="104249"/>
                  </a:lnTo>
                  <a:close/>
                </a:path>
                <a:path w="1379220" h="234314">
                  <a:moveTo>
                    <a:pt x="1290429" y="158085"/>
                  </a:moveTo>
                  <a:lnTo>
                    <a:pt x="1303020" y="177419"/>
                  </a:lnTo>
                  <a:lnTo>
                    <a:pt x="1303400" y="158369"/>
                  </a:lnTo>
                  <a:lnTo>
                    <a:pt x="1290429" y="158085"/>
                  </a:lnTo>
                  <a:close/>
                </a:path>
                <a:path w="1379220" h="234314">
                  <a:moveTo>
                    <a:pt x="1011046" y="144399"/>
                  </a:moveTo>
                  <a:lnTo>
                    <a:pt x="1011300" y="144526"/>
                  </a:lnTo>
                  <a:lnTo>
                    <a:pt x="1012613" y="144526"/>
                  </a:lnTo>
                  <a:lnTo>
                    <a:pt x="1011046" y="144399"/>
                  </a:lnTo>
                  <a:close/>
                </a:path>
                <a:path w="1379220" h="234314">
                  <a:moveTo>
                    <a:pt x="883793" y="131445"/>
                  </a:moveTo>
                  <a:lnTo>
                    <a:pt x="884820" y="131572"/>
                  </a:lnTo>
                  <a:lnTo>
                    <a:pt x="883793" y="131445"/>
                  </a:lnTo>
                  <a:close/>
                </a:path>
                <a:path w="1379220" h="234314">
                  <a:moveTo>
                    <a:pt x="840105" y="125476"/>
                  </a:moveTo>
                  <a:lnTo>
                    <a:pt x="840358" y="125603"/>
                  </a:lnTo>
                  <a:lnTo>
                    <a:pt x="840993" y="125603"/>
                  </a:lnTo>
                  <a:lnTo>
                    <a:pt x="840105" y="125476"/>
                  </a:lnTo>
                  <a:close/>
                </a:path>
                <a:path w="1379220" h="234314">
                  <a:moveTo>
                    <a:pt x="820038" y="122301"/>
                  </a:moveTo>
                  <a:lnTo>
                    <a:pt x="820166" y="122428"/>
                  </a:lnTo>
                  <a:lnTo>
                    <a:pt x="820820" y="122428"/>
                  </a:lnTo>
                  <a:lnTo>
                    <a:pt x="820038" y="122301"/>
                  </a:lnTo>
                  <a:close/>
                </a:path>
                <a:path w="1379220" h="234314">
                  <a:moveTo>
                    <a:pt x="801116" y="119126"/>
                  </a:moveTo>
                  <a:lnTo>
                    <a:pt x="801496" y="119253"/>
                  </a:lnTo>
                  <a:lnTo>
                    <a:pt x="801848" y="119253"/>
                  </a:lnTo>
                  <a:lnTo>
                    <a:pt x="801116" y="119126"/>
                  </a:lnTo>
                  <a:close/>
                </a:path>
                <a:path w="1379220" h="234314">
                  <a:moveTo>
                    <a:pt x="783717" y="115824"/>
                  </a:moveTo>
                  <a:lnTo>
                    <a:pt x="783970" y="115951"/>
                  </a:lnTo>
                  <a:lnTo>
                    <a:pt x="784375" y="115951"/>
                  </a:lnTo>
                  <a:lnTo>
                    <a:pt x="783717" y="115824"/>
                  </a:lnTo>
                  <a:close/>
                </a:path>
                <a:path w="1379220" h="234314">
                  <a:moveTo>
                    <a:pt x="767692" y="112649"/>
                  </a:moveTo>
                  <a:lnTo>
                    <a:pt x="768222" y="112776"/>
                  </a:lnTo>
                  <a:lnTo>
                    <a:pt x="767692" y="112649"/>
                  </a:lnTo>
                  <a:close/>
                </a:path>
                <a:path w="1379220" h="234314">
                  <a:moveTo>
                    <a:pt x="753673" y="109294"/>
                  </a:moveTo>
                  <a:lnTo>
                    <a:pt x="753871" y="109347"/>
                  </a:lnTo>
                  <a:lnTo>
                    <a:pt x="753673" y="109294"/>
                  </a:lnTo>
                  <a:close/>
                </a:path>
                <a:path w="1379220" h="234314">
                  <a:moveTo>
                    <a:pt x="753395" y="109220"/>
                  </a:moveTo>
                  <a:lnTo>
                    <a:pt x="753673" y="109294"/>
                  </a:lnTo>
                  <a:lnTo>
                    <a:pt x="753395" y="109220"/>
                  </a:lnTo>
                  <a:close/>
                </a:path>
                <a:path w="1379220" h="234314">
                  <a:moveTo>
                    <a:pt x="672555" y="105048"/>
                  </a:moveTo>
                  <a:lnTo>
                    <a:pt x="674116" y="106934"/>
                  </a:lnTo>
                  <a:lnTo>
                    <a:pt x="673590" y="105918"/>
                  </a:lnTo>
                  <a:lnTo>
                    <a:pt x="672555" y="105048"/>
                  </a:lnTo>
                  <a:close/>
                </a:path>
                <a:path w="1379220" h="234314">
                  <a:moveTo>
                    <a:pt x="673539" y="105819"/>
                  </a:moveTo>
                  <a:lnTo>
                    <a:pt x="674116" y="106934"/>
                  </a:lnTo>
                  <a:lnTo>
                    <a:pt x="744823" y="106934"/>
                  </a:lnTo>
                  <a:lnTo>
                    <a:pt x="741965" y="106172"/>
                  </a:lnTo>
                  <a:lnTo>
                    <a:pt x="673988" y="106172"/>
                  </a:lnTo>
                  <a:lnTo>
                    <a:pt x="673539" y="105819"/>
                  </a:lnTo>
                  <a:close/>
                </a:path>
                <a:path w="1379220" h="234314">
                  <a:moveTo>
                    <a:pt x="673435" y="105618"/>
                  </a:moveTo>
                  <a:lnTo>
                    <a:pt x="673539" y="105819"/>
                  </a:lnTo>
                  <a:lnTo>
                    <a:pt x="673988" y="106172"/>
                  </a:lnTo>
                  <a:lnTo>
                    <a:pt x="673435" y="105618"/>
                  </a:lnTo>
                  <a:close/>
                </a:path>
                <a:path w="1379220" h="234314">
                  <a:moveTo>
                    <a:pt x="720427" y="99226"/>
                  </a:moveTo>
                  <a:lnTo>
                    <a:pt x="721232" y="99568"/>
                  </a:lnTo>
                  <a:lnTo>
                    <a:pt x="670306" y="99568"/>
                  </a:lnTo>
                  <a:lnTo>
                    <a:pt x="673435" y="105618"/>
                  </a:lnTo>
                  <a:lnTo>
                    <a:pt x="673988" y="106172"/>
                  </a:lnTo>
                  <a:lnTo>
                    <a:pt x="741965" y="106172"/>
                  </a:lnTo>
                  <a:lnTo>
                    <a:pt x="740645" y="105819"/>
                  </a:lnTo>
                  <a:lnTo>
                    <a:pt x="729233" y="102489"/>
                  </a:lnTo>
                  <a:lnTo>
                    <a:pt x="729540" y="102489"/>
                  </a:lnTo>
                  <a:lnTo>
                    <a:pt x="720427" y="99226"/>
                  </a:lnTo>
                  <a:close/>
                </a:path>
                <a:path w="1379220" h="234314">
                  <a:moveTo>
                    <a:pt x="740607" y="105791"/>
                  </a:moveTo>
                  <a:lnTo>
                    <a:pt x="741044" y="105918"/>
                  </a:lnTo>
                  <a:lnTo>
                    <a:pt x="740607" y="105791"/>
                  </a:lnTo>
                  <a:close/>
                </a:path>
                <a:path w="1379220" h="234314">
                  <a:moveTo>
                    <a:pt x="671957" y="104140"/>
                  </a:moveTo>
                  <a:lnTo>
                    <a:pt x="671803" y="104140"/>
                  </a:lnTo>
                  <a:lnTo>
                    <a:pt x="672555" y="105048"/>
                  </a:lnTo>
                  <a:lnTo>
                    <a:pt x="673539" y="105819"/>
                  </a:lnTo>
                  <a:lnTo>
                    <a:pt x="673435" y="105618"/>
                  </a:lnTo>
                  <a:lnTo>
                    <a:pt x="671957" y="104140"/>
                  </a:lnTo>
                  <a:close/>
                </a:path>
                <a:path w="1379220" h="234314">
                  <a:moveTo>
                    <a:pt x="670306" y="99568"/>
                  </a:moveTo>
                  <a:lnTo>
                    <a:pt x="671363" y="103546"/>
                  </a:lnTo>
                  <a:lnTo>
                    <a:pt x="673435" y="105618"/>
                  </a:lnTo>
                  <a:lnTo>
                    <a:pt x="670306" y="99568"/>
                  </a:lnTo>
                  <a:close/>
                </a:path>
                <a:path w="1379220" h="234314">
                  <a:moveTo>
                    <a:pt x="671459" y="103937"/>
                  </a:moveTo>
                  <a:lnTo>
                    <a:pt x="671536" y="104249"/>
                  </a:lnTo>
                  <a:lnTo>
                    <a:pt x="672555" y="105048"/>
                  </a:lnTo>
                  <a:lnTo>
                    <a:pt x="671762" y="104103"/>
                  </a:lnTo>
                  <a:lnTo>
                    <a:pt x="671459" y="103937"/>
                  </a:lnTo>
                  <a:close/>
                </a:path>
                <a:path w="1379220" h="234314">
                  <a:moveTo>
                    <a:pt x="670393" y="103354"/>
                  </a:moveTo>
                  <a:lnTo>
                    <a:pt x="671536" y="104249"/>
                  </a:lnTo>
                  <a:lnTo>
                    <a:pt x="671459" y="103937"/>
                  </a:lnTo>
                  <a:lnTo>
                    <a:pt x="670393" y="103354"/>
                  </a:lnTo>
                  <a:close/>
                </a:path>
                <a:path w="1379220" h="234314">
                  <a:moveTo>
                    <a:pt x="671781" y="104113"/>
                  </a:moveTo>
                  <a:close/>
                </a:path>
                <a:path w="1379220" h="234314">
                  <a:moveTo>
                    <a:pt x="671363" y="103546"/>
                  </a:moveTo>
                  <a:lnTo>
                    <a:pt x="671773" y="104103"/>
                  </a:lnTo>
                  <a:lnTo>
                    <a:pt x="671957" y="104140"/>
                  </a:lnTo>
                  <a:lnTo>
                    <a:pt x="671363" y="103546"/>
                  </a:lnTo>
                  <a:close/>
                </a:path>
                <a:path w="1379220" h="234314">
                  <a:moveTo>
                    <a:pt x="671448" y="103891"/>
                  </a:moveTo>
                  <a:lnTo>
                    <a:pt x="671781" y="104113"/>
                  </a:lnTo>
                  <a:lnTo>
                    <a:pt x="671448" y="103891"/>
                  </a:lnTo>
                  <a:close/>
                </a:path>
                <a:path w="1379220" h="234314">
                  <a:moveTo>
                    <a:pt x="671384" y="103633"/>
                  </a:moveTo>
                  <a:lnTo>
                    <a:pt x="671448" y="103891"/>
                  </a:lnTo>
                  <a:lnTo>
                    <a:pt x="671773" y="104103"/>
                  </a:lnTo>
                  <a:lnTo>
                    <a:pt x="671384" y="103633"/>
                  </a:lnTo>
                  <a:close/>
                </a:path>
                <a:path w="1379220" h="234314">
                  <a:moveTo>
                    <a:pt x="669290" y="102489"/>
                  </a:moveTo>
                  <a:lnTo>
                    <a:pt x="670437" y="103378"/>
                  </a:lnTo>
                  <a:lnTo>
                    <a:pt x="671459" y="103937"/>
                  </a:lnTo>
                  <a:lnTo>
                    <a:pt x="669290" y="102489"/>
                  </a:lnTo>
                  <a:close/>
                </a:path>
                <a:path w="1379220" h="234314">
                  <a:moveTo>
                    <a:pt x="671084" y="102489"/>
                  </a:moveTo>
                  <a:lnTo>
                    <a:pt x="669290" y="102489"/>
                  </a:lnTo>
                  <a:lnTo>
                    <a:pt x="671448" y="103891"/>
                  </a:lnTo>
                  <a:lnTo>
                    <a:pt x="671384" y="103633"/>
                  </a:lnTo>
                  <a:lnTo>
                    <a:pt x="671068" y="103251"/>
                  </a:lnTo>
                  <a:lnTo>
                    <a:pt x="671288" y="103251"/>
                  </a:lnTo>
                  <a:lnTo>
                    <a:pt x="671084" y="102489"/>
                  </a:lnTo>
                  <a:close/>
                </a:path>
                <a:path w="1379220" h="234314">
                  <a:moveTo>
                    <a:pt x="671068" y="103251"/>
                  </a:moveTo>
                  <a:lnTo>
                    <a:pt x="671384" y="103633"/>
                  </a:lnTo>
                  <a:lnTo>
                    <a:pt x="671068" y="103251"/>
                  </a:lnTo>
                  <a:close/>
                </a:path>
                <a:path w="1379220" h="234314">
                  <a:moveTo>
                    <a:pt x="671288" y="103251"/>
                  </a:moveTo>
                  <a:lnTo>
                    <a:pt x="671068" y="103251"/>
                  </a:lnTo>
                  <a:lnTo>
                    <a:pt x="671363" y="103546"/>
                  </a:lnTo>
                  <a:lnTo>
                    <a:pt x="671288" y="103251"/>
                  </a:lnTo>
                  <a:close/>
                </a:path>
                <a:path w="1379220" h="234314">
                  <a:moveTo>
                    <a:pt x="665955" y="100925"/>
                  </a:moveTo>
                  <a:lnTo>
                    <a:pt x="670393" y="103354"/>
                  </a:lnTo>
                  <a:lnTo>
                    <a:pt x="669290" y="102489"/>
                  </a:lnTo>
                  <a:lnTo>
                    <a:pt x="671084" y="102489"/>
                  </a:lnTo>
                  <a:lnTo>
                    <a:pt x="670746" y="101219"/>
                  </a:lnTo>
                  <a:lnTo>
                    <a:pt x="666622" y="101219"/>
                  </a:lnTo>
                  <a:lnTo>
                    <a:pt x="665955" y="100925"/>
                  </a:lnTo>
                  <a:close/>
                </a:path>
                <a:path w="1379220" h="234314">
                  <a:moveTo>
                    <a:pt x="729540" y="102489"/>
                  </a:moveTo>
                  <a:lnTo>
                    <a:pt x="729233" y="102489"/>
                  </a:lnTo>
                  <a:lnTo>
                    <a:pt x="730249" y="102743"/>
                  </a:lnTo>
                  <a:lnTo>
                    <a:pt x="729540" y="102489"/>
                  </a:lnTo>
                  <a:close/>
                </a:path>
                <a:path w="1379220" h="234314">
                  <a:moveTo>
                    <a:pt x="665098" y="100457"/>
                  </a:moveTo>
                  <a:lnTo>
                    <a:pt x="665955" y="100925"/>
                  </a:lnTo>
                  <a:lnTo>
                    <a:pt x="666622" y="101219"/>
                  </a:lnTo>
                  <a:lnTo>
                    <a:pt x="665098" y="100457"/>
                  </a:lnTo>
                  <a:close/>
                </a:path>
                <a:path w="1379220" h="234314">
                  <a:moveTo>
                    <a:pt x="670543" y="100457"/>
                  </a:moveTo>
                  <a:lnTo>
                    <a:pt x="665098" y="100457"/>
                  </a:lnTo>
                  <a:lnTo>
                    <a:pt x="666622" y="101219"/>
                  </a:lnTo>
                  <a:lnTo>
                    <a:pt x="670746" y="101219"/>
                  </a:lnTo>
                  <a:lnTo>
                    <a:pt x="670543" y="100457"/>
                  </a:lnTo>
                  <a:close/>
                </a:path>
                <a:path w="1379220" h="234314">
                  <a:moveTo>
                    <a:pt x="708106" y="93667"/>
                  </a:moveTo>
                  <a:lnTo>
                    <a:pt x="709168" y="97536"/>
                  </a:lnTo>
                  <a:lnTo>
                    <a:pt x="658241" y="97536"/>
                  </a:lnTo>
                  <a:lnTo>
                    <a:pt x="659510" y="98044"/>
                  </a:lnTo>
                  <a:lnTo>
                    <a:pt x="665955" y="100925"/>
                  </a:lnTo>
                  <a:lnTo>
                    <a:pt x="665098" y="100457"/>
                  </a:lnTo>
                  <a:lnTo>
                    <a:pt x="670543" y="100457"/>
                  </a:lnTo>
                  <a:lnTo>
                    <a:pt x="670306" y="99568"/>
                  </a:lnTo>
                  <a:lnTo>
                    <a:pt x="721232" y="99568"/>
                  </a:lnTo>
                  <a:lnTo>
                    <a:pt x="719962" y="99060"/>
                  </a:lnTo>
                  <a:lnTo>
                    <a:pt x="714647" y="96774"/>
                  </a:lnTo>
                  <a:lnTo>
                    <a:pt x="714374" y="96774"/>
                  </a:lnTo>
                  <a:lnTo>
                    <a:pt x="712850" y="96012"/>
                  </a:lnTo>
                  <a:lnTo>
                    <a:pt x="712982" y="96012"/>
                  </a:lnTo>
                  <a:lnTo>
                    <a:pt x="710661" y="94742"/>
                  </a:lnTo>
                  <a:lnTo>
                    <a:pt x="710183" y="94742"/>
                  </a:lnTo>
                  <a:lnTo>
                    <a:pt x="709011" y="93980"/>
                  </a:lnTo>
                  <a:lnTo>
                    <a:pt x="708406" y="93980"/>
                  </a:lnTo>
                  <a:lnTo>
                    <a:pt x="708106" y="93667"/>
                  </a:lnTo>
                  <a:close/>
                </a:path>
                <a:path w="1379220" h="234314">
                  <a:moveTo>
                    <a:pt x="719962" y="99060"/>
                  </a:moveTo>
                  <a:lnTo>
                    <a:pt x="721232" y="99568"/>
                  </a:lnTo>
                  <a:lnTo>
                    <a:pt x="720427" y="99226"/>
                  </a:lnTo>
                  <a:lnTo>
                    <a:pt x="719962" y="99060"/>
                  </a:lnTo>
                  <a:close/>
                </a:path>
                <a:path w="1379220" h="234314">
                  <a:moveTo>
                    <a:pt x="720035" y="99060"/>
                  </a:moveTo>
                  <a:lnTo>
                    <a:pt x="720427" y="99226"/>
                  </a:lnTo>
                  <a:lnTo>
                    <a:pt x="720035" y="99060"/>
                  </a:lnTo>
                  <a:close/>
                </a:path>
                <a:path w="1379220" h="234314">
                  <a:moveTo>
                    <a:pt x="658977" y="97859"/>
                  </a:moveTo>
                  <a:lnTo>
                    <a:pt x="659397" y="98044"/>
                  </a:lnTo>
                  <a:lnTo>
                    <a:pt x="658977" y="97859"/>
                  </a:lnTo>
                  <a:close/>
                </a:path>
                <a:path w="1379220" h="234314">
                  <a:moveTo>
                    <a:pt x="658241" y="97536"/>
                  </a:moveTo>
                  <a:lnTo>
                    <a:pt x="658977" y="97859"/>
                  </a:lnTo>
                  <a:lnTo>
                    <a:pt x="659510" y="98044"/>
                  </a:lnTo>
                  <a:lnTo>
                    <a:pt x="658241" y="97536"/>
                  </a:lnTo>
                  <a:close/>
                </a:path>
                <a:path w="1379220" h="234314">
                  <a:moveTo>
                    <a:pt x="649223" y="94488"/>
                  </a:moveTo>
                  <a:lnTo>
                    <a:pt x="658977" y="97859"/>
                  </a:lnTo>
                  <a:lnTo>
                    <a:pt x="658241" y="97536"/>
                  </a:lnTo>
                  <a:lnTo>
                    <a:pt x="709168" y="97536"/>
                  </a:lnTo>
                  <a:lnTo>
                    <a:pt x="707722" y="94742"/>
                  </a:lnTo>
                  <a:lnTo>
                    <a:pt x="650240" y="94742"/>
                  </a:lnTo>
                  <a:lnTo>
                    <a:pt x="649223" y="94488"/>
                  </a:lnTo>
                  <a:close/>
                </a:path>
                <a:path w="1379220" h="234314">
                  <a:moveTo>
                    <a:pt x="706065" y="91537"/>
                  </a:moveTo>
                  <a:lnTo>
                    <a:pt x="709168" y="97536"/>
                  </a:lnTo>
                  <a:lnTo>
                    <a:pt x="708106" y="93667"/>
                  </a:lnTo>
                  <a:lnTo>
                    <a:pt x="706065" y="91537"/>
                  </a:lnTo>
                  <a:close/>
                </a:path>
                <a:path w="1379220" h="234314">
                  <a:moveTo>
                    <a:pt x="712850" y="96012"/>
                  </a:moveTo>
                  <a:lnTo>
                    <a:pt x="714374" y="96774"/>
                  </a:lnTo>
                  <a:lnTo>
                    <a:pt x="713435" y="96260"/>
                  </a:lnTo>
                  <a:lnTo>
                    <a:pt x="712850" y="96012"/>
                  </a:lnTo>
                  <a:close/>
                </a:path>
                <a:path w="1379220" h="234314">
                  <a:moveTo>
                    <a:pt x="713435" y="96260"/>
                  </a:moveTo>
                  <a:lnTo>
                    <a:pt x="714374" y="96774"/>
                  </a:lnTo>
                  <a:lnTo>
                    <a:pt x="714647" y="96774"/>
                  </a:lnTo>
                  <a:lnTo>
                    <a:pt x="713435" y="96260"/>
                  </a:lnTo>
                  <a:close/>
                </a:path>
                <a:path w="1379220" h="234314">
                  <a:moveTo>
                    <a:pt x="712982" y="96012"/>
                  </a:moveTo>
                  <a:lnTo>
                    <a:pt x="712850" y="96012"/>
                  </a:lnTo>
                  <a:lnTo>
                    <a:pt x="713435" y="96260"/>
                  </a:lnTo>
                  <a:lnTo>
                    <a:pt x="712982" y="96012"/>
                  </a:lnTo>
                  <a:close/>
                </a:path>
                <a:path w="1379220" h="234314">
                  <a:moveTo>
                    <a:pt x="705728" y="91186"/>
                  </a:moveTo>
                  <a:lnTo>
                    <a:pt x="638429" y="91186"/>
                  </a:lnTo>
                  <a:lnTo>
                    <a:pt x="650240" y="94742"/>
                  </a:lnTo>
                  <a:lnTo>
                    <a:pt x="707722" y="94742"/>
                  </a:lnTo>
                  <a:lnTo>
                    <a:pt x="706065" y="91537"/>
                  </a:lnTo>
                  <a:lnTo>
                    <a:pt x="705728" y="91186"/>
                  </a:lnTo>
                  <a:close/>
                </a:path>
                <a:path w="1379220" h="234314">
                  <a:moveTo>
                    <a:pt x="708014" y="93293"/>
                  </a:moveTo>
                  <a:lnTo>
                    <a:pt x="710183" y="94742"/>
                  </a:lnTo>
                  <a:lnTo>
                    <a:pt x="709193" y="93938"/>
                  </a:lnTo>
                  <a:lnTo>
                    <a:pt x="708014" y="93293"/>
                  </a:lnTo>
                  <a:close/>
                </a:path>
                <a:path w="1379220" h="234314">
                  <a:moveTo>
                    <a:pt x="709193" y="93938"/>
                  </a:moveTo>
                  <a:lnTo>
                    <a:pt x="710183" y="94742"/>
                  </a:lnTo>
                  <a:lnTo>
                    <a:pt x="710661" y="94742"/>
                  </a:lnTo>
                  <a:lnTo>
                    <a:pt x="709193" y="93938"/>
                  </a:lnTo>
                  <a:close/>
                </a:path>
                <a:path w="1379220" h="234314">
                  <a:moveTo>
                    <a:pt x="708084" y="93577"/>
                  </a:moveTo>
                  <a:lnTo>
                    <a:pt x="708406" y="93980"/>
                  </a:lnTo>
                  <a:lnTo>
                    <a:pt x="708084" y="93577"/>
                  </a:lnTo>
                  <a:close/>
                </a:path>
                <a:path w="1379220" h="234314">
                  <a:moveTo>
                    <a:pt x="708025" y="93339"/>
                  </a:moveTo>
                  <a:lnTo>
                    <a:pt x="708084" y="93577"/>
                  </a:lnTo>
                  <a:lnTo>
                    <a:pt x="708406" y="93980"/>
                  </a:lnTo>
                  <a:lnTo>
                    <a:pt x="709011" y="93980"/>
                  </a:lnTo>
                  <a:lnTo>
                    <a:pt x="708025" y="93339"/>
                  </a:lnTo>
                  <a:close/>
                </a:path>
                <a:path w="1379220" h="234314">
                  <a:moveTo>
                    <a:pt x="707919" y="92905"/>
                  </a:moveTo>
                  <a:lnTo>
                    <a:pt x="707976" y="93140"/>
                  </a:lnTo>
                  <a:lnTo>
                    <a:pt x="708097" y="93339"/>
                  </a:lnTo>
                  <a:lnTo>
                    <a:pt x="709193" y="93938"/>
                  </a:lnTo>
                  <a:lnTo>
                    <a:pt x="707919" y="92905"/>
                  </a:lnTo>
                  <a:close/>
                </a:path>
                <a:path w="1379220" h="234314">
                  <a:moveTo>
                    <a:pt x="705945" y="91305"/>
                  </a:moveTo>
                  <a:lnTo>
                    <a:pt x="706065" y="91537"/>
                  </a:lnTo>
                  <a:lnTo>
                    <a:pt x="708106" y="93667"/>
                  </a:lnTo>
                  <a:lnTo>
                    <a:pt x="706858" y="92045"/>
                  </a:lnTo>
                  <a:lnTo>
                    <a:pt x="705945" y="91305"/>
                  </a:lnTo>
                  <a:close/>
                </a:path>
                <a:path w="1379220" h="234314">
                  <a:moveTo>
                    <a:pt x="707749" y="93159"/>
                  </a:moveTo>
                  <a:lnTo>
                    <a:pt x="708084" y="93577"/>
                  </a:lnTo>
                  <a:lnTo>
                    <a:pt x="708025" y="93339"/>
                  </a:lnTo>
                  <a:lnTo>
                    <a:pt x="707749" y="93159"/>
                  </a:lnTo>
                  <a:close/>
                </a:path>
                <a:path w="1379220" h="234314">
                  <a:moveTo>
                    <a:pt x="707734" y="93140"/>
                  </a:moveTo>
                  <a:lnTo>
                    <a:pt x="708025" y="93339"/>
                  </a:lnTo>
                  <a:lnTo>
                    <a:pt x="707734" y="93140"/>
                  </a:lnTo>
                  <a:close/>
                </a:path>
                <a:path w="1379220" h="234314">
                  <a:moveTo>
                    <a:pt x="706858" y="92045"/>
                  </a:moveTo>
                  <a:lnTo>
                    <a:pt x="707694" y="93091"/>
                  </a:lnTo>
                  <a:lnTo>
                    <a:pt x="708014" y="93293"/>
                  </a:lnTo>
                  <a:lnTo>
                    <a:pt x="707919" y="92905"/>
                  </a:lnTo>
                  <a:lnTo>
                    <a:pt x="706858" y="92045"/>
                  </a:lnTo>
                  <a:close/>
                </a:path>
                <a:path w="1379220" h="234314">
                  <a:moveTo>
                    <a:pt x="707694" y="93091"/>
                  </a:moveTo>
                  <a:close/>
                </a:path>
                <a:path w="1379220" h="234314">
                  <a:moveTo>
                    <a:pt x="707246" y="90170"/>
                  </a:moveTo>
                  <a:lnTo>
                    <a:pt x="705357" y="90170"/>
                  </a:lnTo>
                  <a:lnTo>
                    <a:pt x="706858" y="92045"/>
                  </a:lnTo>
                  <a:lnTo>
                    <a:pt x="707919" y="92905"/>
                  </a:lnTo>
                  <a:lnTo>
                    <a:pt x="707246" y="90170"/>
                  </a:lnTo>
                  <a:close/>
                </a:path>
                <a:path w="1379220" h="234314">
                  <a:moveTo>
                    <a:pt x="705357" y="90170"/>
                  </a:moveTo>
                  <a:lnTo>
                    <a:pt x="705945" y="91305"/>
                  </a:lnTo>
                  <a:lnTo>
                    <a:pt x="706858" y="92045"/>
                  </a:lnTo>
                  <a:lnTo>
                    <a:pt x="705357" y="90170"/>
                  </a:lnTo>
                  <a:close/>
                </a:path>
                <a:path w="1379220" h="234314">
                  <a:moveTo>
                    <a:pt x="705484" y="90932"/>
                  </a:moveTo>
                  <a:lnTo>
                    <a:pt x="706065" y="91537"/>
                  </a:lnTo>
                  <a:lnTo>
                    <a:pt x="705945" y="91305"/>
                  </a:lnTo>
                  <a:lnTo>
                    <a:pt x="705484" y="90932"/>
                  </a:lnTo>
                  <a:close/>
                </a:path>
                <a:path w="1379220" h="234314">
                  <a:moveTo>
                    <a:pt x="706684" y="87884"/>
                  </a:moveTo>
                  <a:lnTo>
                    <a:pt x="625602" y="87884"/>
                  </a:lnTo>
                  <a:lnTo>
                    <a:pt x="626109" y="88011"/>
                  </a:lnTo>
                  <a:lnTo>
                    <a:pt x="638936" y="91440"/>
                  </a:lnTo>
                  <a:lnTo>
                    <a:pt x="638429" y="91186"/>
                  </a:lnTo>
                  <a:lnTo>
                    <a:pt x="705728" y="91186"/>
                  </a:lnTo>
                  <a:lnTo>
                    <a:pt x="705484" y="90932"/>
                  </a:lnTo>
                  <a:lnTo>
                    <a:pt x="705752" y="90932"/>
                  </a:lnTo>
                  <a:lnTo>
                    <a:pt x="705357" y="90170"/>
                  </a:lnTo>
                  <a:lnTo>
                    <a:pt x="707246" y="90170"/>
                  </a:lnTo>
                  <a:lnTo>
                    <a:pt x="706684" y="87884"/>
                  </a:lnTo>
                  <a:close/>
                </a:path>
                <a:path w="1379220" h="234314">
                  <a:moveTo>
                    <a:pt x="705752" y="90932"/>
                  </a:moveTo>
                  <a:lnTo>
                    <a:pt x="705484" y="90932"/>
                  </a:lnTo>
                  <a:lnTo>
                    <a:pt x="705945" y="91305"/>
                  </a:lnTo>
                  <a:lnTo>
                    <a:pt x="705752" y="90932"/>
                  </a:lnTo>
                  <a:close/>
                </a:path>
                <a:path w="1379220" h="234314">
                  <a:moveTo>
                    <a:pt x="625821" y="87942"/>
                  </a:moveTo>
                  <a:lnTo>
                    <a:pt x="626078" y="88011"/>
                  </a:lnTo>
                  <a:lnTo>
                    <a:pt x="625821" y="87942"/>
                  </a:lnTo>
                  <a:close/>
                </a:path>
                <a:path w="1379220" h="234314">
                  <a:moveTo>
                    <a:pt x="253" y="0"/>
                  </a:moveTo>
                  <a:lnTo>
                    <a:pt x="0" y="38100"/>
                  </a:lnTo>
                  <a:lnTo>
                    <a:pt x="64515" y="38608"/>
                  </a:lnTo>
                  <a:lnTo>
                    <a:pt x="64262" y="38608"/>
                  </a:lnTo>
                  <a:lnTo>
                    <a:pt x="128269" y="39878"/>
                  </a:lnTo>
                  <a:lnTo>
                    <a:pt x="191134" y="42037"/>
                  </a:lnTo>
                  <a:lnTo>
                    <a:pt x="190881" y="42037"/>
                  </a:lnTo>
                  <a:lnTo>
                    <a:pt x="252349" y="44958"/>
                  </a:lnTo>
                  <a:lnTo>
                    <a:pt x="252221" y="44958"/>
                  </a:lnTo>
                  <a:lnTo>
                    <a:pt x="282320" y="46609"/>
                  </a:lnTo>
                  <a:lnTo>
                    <a:pt x="311657" y="48514"/>
                  </a:lnTo>
                  <a:lnTo>
                    <a:pt x="340359" y="50546"/>
                  </a:lnTo>
                  <a:lnTo>
                    <a:pt x="368426" y="52705"/>
                  </a:lnTo>
                  <a:lnTo>
                    <a:pt x="368172" y="52705"/>
                  </a:lnTo>
                  <a:lnTo>
                    <a:pt x="395605" y="55118"/>
                  </a:lnTo>
                  <a:lnTo>
                    <a:pt x="395477" y="55118"/>
                  </a:lnTo>
                  <a:lnTo>
                    <a:pt x="422020" y="57531"/>
                  </a:lnTo>
                  <a:lnTo>
                    <a:pt x="447674" y="60071"/>
                  </a:lnTo>
                  <a:lnTo>
                    <a:pt x="447420" y="60071"/>
                  </a:lnTo>
                  <a:lnTo>
                    <a:pt x="472185" y="62865"/>
                  </a:lnTo>
                  <a:lnTo>
                    <a:pt x="495681" y="65659"/>
                  </a:lnTo>
                  <a:lnTo>
                    <a:pt x="518159" y="68580"/>
                  </a:lnTo>
                  <a:lnTo>
                    <a:pt x="517906" y="68580"/>
                  </a:lnTo>
                  <a:lnTo>
                    <a:pt x="539369" y="71628"/>
                  </a:lnTo>
                  <a:lnTo>
                    <a:pt x="539115" y="71628"/>
                  </a:lnTo>
                  <a:lnTo>
                    <a:pt x="559434" y="74803"/>
                  </a:lnTo>
                  <a:lnTo>
                    <a:pt x="578357" y="77978"/>
                  </a:lnTo>
                  <a:lnTo>
                    <a:pt x="577977" y="77978"/>
                  </a:lnTo>
                  <a:lnTo>
                    <a:pt x="595757" y="81280"/>
                  </a:lnTo>
                  <a:lnTo>
                    <a:pt x="595375" y="81280"/>
                  </a:lnTo>
                  <a:lnTo>
                    <a:pt x="611758" y="84582"/>
                  </a:lnTo>
                  <a:lnTo>
                    <a:pt x="625821" y="87942"/>
                  </a:lnTo>
                  <a:lnTo>
                    <a:pt x="625602" y="87884"/>
                  </a:lnTo>
                  <a:lnTo>
                    <a:pt x="706684" y="87884"/>
                  </a:lnTo>
                  <a:lnTo>
                    <a:pt x="672845" y="62357"/>
                  </a:lnTo>
                  <a:lnTo>
                    <a:pt x="635127" y="50927"/>
                  </a:lnTo>
                  <a:lnTo>
                    <a:pt x="584834" y="40513"/>
                  </a:lnTo>
                  <a:lnTo>
                    <a:pt x="544957" y="33909"/>
                  </a:lnTo>
                  <a:lnTo>
                    <a:pt x="500380" y="27813"/>
                  </a:lnTo>
                  <a:lnTo>
                    <a:pt x="451484" y="22225"/>
                  </a:lnTo>
                  <a:lnTo>
                    <a:pt x="371475" y="14732"/>
                  </a:lnTo>
                  <a:lnTo>
                    <a:pt x="284606" y="8636"/>
                  </a:lnTo>
                  <a:lnTo>
                    <a:pt x="192531" y="3937"/>
                  </a:lnTo>
                  <a:lnTo>
                    <a:pt x="129285" y="1778"/>
                  </a:lnTo>
                  <a:lnTo>
                    <a:pt x="65024" y="508"/>
                  </a:lnTo>
                  <a:lnTo>
                    <a:pt x="253" y="0"/>
                  </a:lnTo>
                  <a:close/>
                </a:path>
                <a:path w="1379220" h="234314">
                  <a:moveTo>
                    <a:pt x="611123" y="84455"/>
                  </a:moveTo>
                  <a:lnTo>
                    <a:pt x="611659" y="84582"/>
                  </a:lnTo>
                  <a:lnTo>
                    <a:pt x="611123" y="844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04EE451D-A65E-4983-728D-9FCB58904D3D}"/>
                </a:ext>
              </a:extLst>
            </p:cNvPr>
            <p:cNvSpPr/>
            <p:nvPr/>
          </p:nvSpPr>
          <p:spPr>
            <a:xfrm>
              <a:off x="5108713" y="2814192"/>
              <a:ext cx="1376680" cy="608330"/>
            </a:xfrm>
            <a:custGeom>
              <a:avLst/>
              <a:gdLst/>
              <a:ahLst/>
              <a:cxnLst/>
              <a:rect l="l" t="t" r="r" b="b"/>
              <a:pathLst>
                <a:path w="1376679" h="608329">
                  <a:moveTo>
                    <a:pt x="1323328" y="258571"/>
                  </a:moveTo>
                  <a:lnTo>
                    <a:pt x="1274666" y="234906"/>
                  </a:lnTo>
                  <a:lnTo>
                    <a:pt x="1226065" y="211415"/>
                  </a:lnTo>
                  <a:lnTo>
                    <a:pt x="1177580" y="188275"/>
                  </a:lnTo>
                  <a:lnTo>
                    <a:pt x="1129268" y="165663"/>
                  </a:lnTo>
                  <a:lnTo>
                    <a:pt x="1081188" y="143757"/>
                  </a:lnTo>
                  <a:lnTo>
                    <a:pt x="1033395" y="122733"/>
                  </a:lnTo>
                  <a:lnTo>
                    <a:pt x="985946" y="102769"/>
                  </a:lnTo>
                  <a:lnTo>
                    <a:pt x="938899" y="84042"/>
                  </a:lnTo>
                  <a:lnTo>
                    <a:pt x="892311" y="66728"/>
                  </a:lnTo>
                  <a:lnTo>
                    <a:pt x="846237" y="51006"/>
                  </a:lnTo>
                  <a:lnTo>
                    <a:pt x="800736" y="37052"/>
                  </a:lnTo>
                  <a:lnTo>
                    <a:pt x="755864" y="25042"/>
                  </a:lnTo>
                  <a:lnTo>
                    <a:pt x="711679" y="15155"/>
                  </a:lnTo>
                  <a:lnTo>
                    <a:pt x="668236" y="7568"/>
                  </a:lnTo>
                  <a:lnTo>
                    <a:pt x="625593" y="2457"/>
                  </a:lnTo>
                  <a:lnTo>
                    <a:pt x="583807" y="0"/>
                  </a:lnTo>
                  <a:lnTo>
                    <a:pt x="537587" y="630"/>
                  </a:lnTo>
                  <a:lnTo>
                    <a:pt x="487820" y="4564"/>
                  </a:lnTo>
                  <a:lnTo>
                    <a:pt x="435569" y="11511"/>
                  </a:lnTo>
                  <a:lnTo>
                    <a:pt x="381892" y="21180"/>
                  </a:lnTo>
                  <a:lnTo>
                    <a:pt x="327851" y="33283"/>
                  </a:lnTo>
                  <a:lnTo>
                    <a:pt x="274504" y="47528"/>
                  </a:lnTo>
                  <a:lnTo>
                    <a:pt x="222914" y="63626"/>
                  </a:lnTo>
                  <a:lnTo>
                    <a:pt x="174139" y="81286"/>
                  </a:lnTo>
                  <a:lnTo>
                    <a:pt x="129241" y="100218"/>
                  </a:lnTo>
                  <a:lnTo>
                    <a:pt x="89279" y="120132"/>
                  </a:lnTo>
                  <a:lnTo>
                    <a:pt x="55313" y="140738"/>
                  </a:lnTo>
                  <a:lnTo>
                    <a:pt x="9613" y="182867"/>
                  </a:lnTo>
                  <a:lnTo>
                    <a:pt x="0" y="203808"/>
                  </a:lnTo>
                  <a:lnTo>
                    <a:pt x="623" y="224281"/>
                  </a:lnTo>
                  <a:lnTo>
                    <a:pt x="27375" y="263022"/>
                  </a:lnTo>
                  <a:lnTo>
                    <a:pt x="83181" y="309935"/>
                  </a:lnTo>
                  <a:lnTo>
                    <a:pt x="120042" y="335479"/>
                  </a:lnTo>
                  <a:lnTo>
                    <a:pt x="161843" y="361893"/>
                  </a:lnTo>
                  <a:lnTo>
                    <a:pt x="207809" y="388787"/>
                  </a:lnTo>
                  <a:lnTo>
                    <a:pt x="257165" y="415770"/>
                  </a:lnTo>
                  <a:lnTo>
                    <a:pt x="309138" y="442452"/>
                  </a:lnTo>
                  <a:lnTo>
                    <a:pt x="362952" y="468440"/>
                  </a:lnTo>
                  <a:lnTo>
                    <a:pt x="417833" y="493346"/>
                  </a:lnTo>
                  <a:lnTo>
                    <a:pt x="473007" y="516777"/>
                  </a:lnTo>
                  <a:lnTo>
                    <a:pt x="527698" y="538343"/>
                  </a:lnTo>
                  <a:lnTo>
                    <a:pt x="581133" y="557653"/>
                  </a:lnTo>
                  <a:lnTo>
                    <a:pt x="632536" y="574316"/>
                  </a:lnTo>
                  <a:lnTo>
                    <a:pt x="681134" y="587943"/>
                  </a:lnTo>
                  <a:lnTo>
                    <a:pt x="726152" y="598141"/>
                  </a:lnTo>
                  <a:lnTo>
                    <a:pt x="766814" y="604519"/>
                  </a:lnTo>
                  <a:lnTo>
                    <a:pt x="815379" y="607815"/>
                  </a:lnTo>
                  <a:lnTo>
                    <a:pt x="862831" y="606818"/>
                  </a:lnTo>
                  <a:lnTo>
                    <a:pt x="909258" y="601859"/>
                  </a:lnTo>
                  <a:lnTo>
                    <a:pt x="954743" y="593268"/>
                  </a:lnTo>
                  <a:lnTo>
                    <a:pt x="999373" y="581375"/>
                  </a:lnTo>
                  <a:lnTo>
                    <a:pt x="1043234" y="566511"/>
                  </a:lnTo>
                  <a:lnTo>
                    <a:pt x="1086410" y="549005"/>
                  </a:lnTo>
                  <a:lnTo>
                    <a:pt x="1128987" y="529187"/>
                  </a:lnTo>
                  <a:lnTo>
                    <a:pt x="1171051" y="507389"/>
                  </a:lnTo>
                  <a:lnTo>
                    <a:pt x="1212688" y="483940"/>
                  </a:lnTo>
                  <a:lnTo>
                    <a:pt x="1253982" y="459170"/>
                  </a:lnTo>
                  <a:lnTo>
                    <a:pt x="1295020" y="433409"/>
                  </a:lnTo>
                  <a:lnTo>
                    <a:pt x="1335887" y="406989"/>
                  </a:lnTo>
                  <a:lnTo>
                    <a:pt x="1376668" y="38023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4" name="object 16">
              <a:extLst>
                <a:ext uri="{FF2B5EF4-FFF2-40B4-BE49-F238E27FC236}">
                  <a16:creationId xmlns:a16="http://schemas.microsoft.com/office/drawing/2014/main" id="{E42F135B-0683-E1BC-08D3-541984FEEF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456" y="3395471"/>
              <a:ext cx="2770632" cy="1181099"/>
            </a:xfrm>
            <a:prstGeom prst="rect">
              <a:avLst/>
            </a:prstGeom>
          </p:spPr>
        </p:pic>
      </p:grpSp>
      <p:sp>
        <p:nvSpPr>
          <p:cNvPr id="25" name="object 17">
            <a:extLst>
              <a:ext uri="{FF2B5EF4-FFF2-40B4-BE49-F238E27FC236}">
                <a16:creationId xmlns:a16="http://schemas.microsoft.com/office/drawing/2014/main" id="{A0C19458-6DDA-7053-B718-6AE27B5A08AB}"/>
              </a:ext>
            </a:extLst>
          </p:cNvPr>
          <p:cNvSpPr txBox="1"/>
          <p:nvPr/>
        </p:nvSpPr>
        <p:spPr>
          <a:xfrm>
            <a:off x="7558486" y="4526534"/>
            <a:ext cx="2800773" cy="145456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1123497">
              <a:lnSpc>
                <a:spcPct val="100099"/>
              </a:lnSpc>
              <a:spcBef>
                <a:spcPts val="140"/>
              </a:spcBef>
            </a:pPr>
            <a:r>
              <a:rPr sz="1867" b="1" dirty="0">
                <a:latin typeface="Calibri"/>
                <a:cs typeface="Calibri"/>
              </a:rPr>
              <a:t>t1 = rdtsc() </a:t>
            </a:r>
            <a:r>
              <a:rPr sz="1867" b="1" spc="7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repeat</a:t>
            </a:r>
            <a:r>
              <a:rPr sz="1867" spc="-13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N:</a:t>
            </a:r>
            <a:r>
              <a:rPr sz="1867" spc="-47" dirty="0">
                <a:latin typeface="Calibri"/>
                <a:cs typeface="Calibri"/>
              </a:rPr>
              <a:t> </a:t>
            </a:r>
            <a:r>
              <a:rPr sz="1867" spc="-7" dirty="0">
                <a:latin typeface="Calibri"/>
                <a:cs typeface="Calibri"/>
              </a:rPr>
              <a:t>fill</a:t>
            </a:r>
            <a:r>
              <a:rPr sz="1867" spc="-20" dirty="0">
                <a:latin typeface="Calibri"/>
                <a:cs typeface="Calibri"/>
              </a:rPr>
              <a:t> </a:t>
            </a:r>
            <a:r>
              <a:rPr sz="1867" spc="-7" dirty="0">
                <a:latin typeface="Calibri"/>
                <a:cs typeface="Calibri"/>
              </a:rPr>
              <a:t>set</a:t>
            </a:r>
            <a:r>
              <a:rPr sz="1867" spc="-40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i </a:t>
            </a:r>
            <a:r>
              <a:rPr sz="1867" spc="-400" dirty="0">
                <a:latin typeface="Calibri"/>
                <a:cs typeface="Calibri"/>
              </a:rPr>
              <a:t> </a:t>
            </a:r>
            <a:r>
              <a:rPr sz="1867" b="1" dirty="0">
                <a:latin typeface="Calibri"/>
                <a:cs typeface="Calibri"/>
              </a:rPr>
              <a:t>t2</a:t>
            </a:r>
            <a:r>
              <a:rPr sz="1867" b="1" spc="-27" dirty="0">
                <a:latin typeface="Calibri"/>
                <a:cs typeface="Calibri"/>
              </a:rPr>
              <a:t> </a:t>
            </a:r>
            <a:r>
              <a:rPr sz="1867" b="1" dirty="0">
                <a:latin typeface="Calibri"/>
                <a:cs typeface="Calibri"/>
              </a:rPr>
              <a:t>=</a:t>
            </a:r>
            <a:r>
              <a:rPr sz="1867" b="1" spc="-20" dirty="0">
                <a:latin typeface="Calibri"/>
                <a:cs typeface="Calibri"/>
              </a:rPr>
              <a:t> </a:t>
            </a:r>
            <a:r>
              <a:rPr sz="1867" b="1" dirty="0">
                <a:latin typeface="Calibri"/>
                <a:cs typeface="Calibri"/>
              </a:rPr>
              <a:t>rdtsc()</a:t>
            </a:r>
            <a:endParaRPr sz="1867">
              <a:latin typeface="Calibri"/>
              <a:cs typeface="Calibri"/>
            </a:endParaRPr>
          </a:p>
          <a:p>
            <a:pPr marL="16933" marR="6773"/>
            <a:r>
              <a:rPr sz="1867" b="1" dirty="0">
                <a:latin typeface="Calibri"/>
                <a:cs typeface="Calibri"/>
              </a:rPr>
              <a:t>If</a:t>
            </a:r>
            <a:r>
              <a:rPr sz="1867" b="1" spc="-20" dirty="0">
                <a:latin typeface="Calibri"/>
                <a:cs typeface="Calibri"/>
              </a:rPr>
              <a:t> </a:t>
            </a:r>
            <a:r>
              <a:rPr sz="1867" b="1" spc="-7" dirty="0">
                <a:latin typeface="Calibri"/>
                <a:cs typeface="Calibri"/>
              </a:rPr>
              <a:t>(t2</a:t>
            </a:r>
            <a:r>
              <a:rPr sz="1867" b="1" spc="-20" dirty="0">
                <a:latin typeface="Calibri"/>
                <a:cs typeface="Calibri"/>
              </a:rPr>
              <a:t> </a:t>
            </a:r>
            <a:r>
              <a:rPr sz="1867" b="1" dirty="0">
                <a:latin typeface="Calibri"/>
                <a:cs typeface="Calibri"/>
              </a:rPr>
              <a:t>–</a:t>
            </a:r>
            <a:r>
              <a:rPr sz="1867" b="1" spc="-7" dirty="0">
                <a:latin typeface="Calibri"/>
                <a:cs typeface="Calibri"/>
              </a:rPr>
              <a:t> </a:t>
            </a:r>
            <a:r>
              <a:rPr sz="1867" b="1" dirty="0">
                <a:latin typeface="Calibri"/>
                <a:cs typeface="Calibri"/>
              </a:rPr>
              <a:t>t1</a:t>
            </a:r>
            <a:r>
              <a:rPr sz="1867" b="1" spc="-20" dirty="0">
                <a:latin typeface="Calibri"/>
                <a:cs typeface="Calibri"/>
              </a:rPr>
              <a:t> </a:t>
            </a:r>
            <a:r>
              <a:rPr sz="1867" b="1" dirty="0">
                <a:latin typeface="Calibri"/>
                <a:cs typeface="Calibri"/>
              </a:rPr>
              <a:t>&gt;</a:t>
            </a:r>
            <a:r>
              <a:rPr sz="1867" b="1" spc="-20" dirty="0">
                <a:latin typeface="Calibri"/>
                <a:cs typeface="Calibri"/>
              </a:rPr>
              <a:t> </a:t>
            </a:r>
            <a:r>
              <a:rPr sz="1867" b="1" spc="-7" dirty="0">
                <a:latin typeface="Calibri"/>
                <a:cs typeface="Calibri"/>
              </a:rPr>
              <a:t>THRESH)</a:t>
            </a:r>
            <a:r>
              <a:rPr sz="1867" b="1" spc="-20" dirty="0">
                <a:latin typeface="Calibri"/>
                <a:cs typeface="Calibri"/>
              </a:rPr>
              <a:t> </a:t>
            </a:r>
            <a:r>
              <a:rPr sz="1867" b="1" dirty="0">
                <a:latin typeface="Calibri"/>
                <a:cs typeface="Calibri"/>
              </a:rPr>
              <a:t>read</a:t>
            </a:r>
            <a:r>
              <a:rPr sz="1867" b="1" spc="-40" dirty="0">
                <a:latin typeface="Calibri"/>
                <a:cs typeface="Calibri"/>
              </a:rPr>
              <a:t> </a:t>
            </a:r>
            <a:r>
              <a:rPr sz="1867" b="1" spc="-7" dirty="0">
                <a:latin typeface="Calibri"/>
                <a:cs typeface="Calibri"/>
              </a:rPr>
              <a:t>‘1’ </a:t>
            </a:r>
            <a:r>
              <a:rPr sz="1867" b="1" spc="-400" dirty="0">
                <a:latin typeface="Calibri"/>
                <a:cs typeface="Calibri"/>
              </a:rPr>
              <a:t> </a:t>
            </a:r>
            <a:r>
              <a:rPr sz="1867" b="1" dirty="0">
                <a:latin typeface="Calibri"/>
                <a:cs typeface="Calibri"/>
              </a:rPr>
              <a:t>Else</a:t>
            </a:r>
            <a:r>
              <a:rPr sz="1867" b="1" spc="-13" dirty="0">
                <a:latin typeface="Calibri"/>
                <a:cs typeface="Calibri"/>
              </a:rPr>
              <a:t> </a:t>
            </a:r>
            <a:r>
              <a:rPr sz="1867" b="1" spc="-7" dirty="0">
                <a:latin typeface="Calibri"/>
                <a:cs typeface="Calibri"/>
              </a:rPr>
              <a:t>read</a:t>
            </a:r>
            <a:r>
              <a:rPr sz="1867" b="1" spc="-33" dirty="0">
                <a:latin typeface="Calibri"/>
                <a:cs typeface="Calibri"/>
              </a:rPr>
              <a:t> </a:t>
            </a:r>
            <a:r>
              <a:rPr sz="1867" b="1" spc="-7" dirty="0">
                <a:latin typeface="Calibri"/>
                <a:cs typeface="Calibri"/>
              </a:rPr>
              <a:t>‘0’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0AEC5F3F-2EA4-F11A-7560-1B5E3B5CC6F4}"/>
              </a:ext>
            </a:extLst>
          </p:cNvPr>
          <p:cNvSpPr txBox="1"/>
          <p:nvPr/>
        </p:nvSpPr>
        <p:spPr>
          <a:xfrm>
            <a:off x="1456762" y="1557851"/>
            <a:ext cx="5756487" cy="11790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solidFill>
                  <a:srgbClr val="44536A"/>
                </a:solidFill>
                <a:latin typeface="Arial MT"/>
                <a:cs typeface="Arial MT"/>
              </a:rPr>
              <a:t>Two</a:t>
            </a:r>
            <a:r>
              <a:rPr sz="2400" spc="13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processes</a:t>
            </a:r>
            <a:r>
              <a:rPr sz="2400" spc="7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can</a:t>
            </a:r>
            <a:r>
              <a:rPr sz="2400" spc="-2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agree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on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7" dirty="0">
                <a:solidFill>
                  <a:srgbClr val="44536A"/>
                </a:solidFill>
                <a:latin typeface="Arial MT"/>
                <a:cs typeface="Arial MT"/>
              </a:rPr>
              <a:t>“dead</a:t>
            </a:r>
            <a:r>
              <a:rPr sz="2400" dirty="0">
                <a:solidFill>
                  <a:srgbClr val="44536A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44536A"/>
                </a:solidFill>
                <a:latin typeface="Arial MT"/>
                <a:cs typeface="Arial MT"/>
              </a:rPr>
              <a:t>drops”</a:t>
            </a:r>
            <a:endParaRPr sz="2400">
              <a:latin typeface="Arial MT"/>
              <a:cs typeface="Arial MT"/>
            </a:endParaRPr>
          </a:p>
          <a:p>
            <a:pPr marL="4872445">
              <a:spcBef>
                <a:spcPts val="1359"/>
              </a:spcBef>
            </a:pPr>
            <a:r>
              <a:rPr sz="1867" spc="-7" dirty="0">
                <a:latin typeface="Calibri"/>
                <a:cs typeface="Calibri"/>
              </a:rPr>
              <a:t>Cache:</a:t>
            </a:r>
            <a:endParaRPr sz="1867">
              <a:latin typeface="Calibri"/>
              <a:cs typeface="Calibri"/>
            </a:endParaRPr>
          </a:p>
          <a:p>
            <a:pPr marL="4803019">
              <a:spcBef>
                <a:spcPts val="333"/>
              </a:spcBef>
            </a:pPr>
            <a:r>
              <a:rPr sz="1867" b="1" dirty="0">
                <a:latin typeface="Arial"/>
                <a:cs typeface="Arial"/>
              </a:rPr>
              <a:t>#</a:t>
            </a:r>
            <a:r>
              <a:rPr sz="1867" b="1" spc="-67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ways</a:t>
            </a:r>
            <a:endParaRPr sz="1867">
              <a:latin typeface="Arial"/>
              <a:cs typeface="Arial"/>
            </a:endParaRPr>
          </a:p>
        </p:txBody>
      </p:sp>
      <p:sp>
        <p:nvSpPr>
          <p:cNvPr id="27" name="object 21">
            <a:extLst>
              <a:ext uri="{FF2B5EF4-FFF2-40B4-BE49-F238E27FC236}">
                <a16:creationId xmlns:a16="http://schemas.microsoft.com/office/drawing/2014/main" id="{2A8EEB79-C192-5963-AA37-E0AEB65BC007}"/>
              </a:ext>
            </a:extLst>
          </p:cNvPr>
          <p:cNvSpPr txBox="1"/>
          <p:nvPr/>
        </p:nvSpPr>
        <p:spPr>
          <a:xfrm>
            <a:off x="5499053" y="2958860"/>
            <a:ext cx="282129" cy="70696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933">
              <a:lnSpc>
                <a:spcPts val="2200"/>
              </a:lnSpc>
            </a:pPr>
            <a:r>
              <a:rPr sz="1867" b="1" dirty="0">
                <a:latin typeface="Arial"/>
                <a:cs typeface="Arial"/>
              </a:rPr>
              <a:t>#</a:t>
            </a:r>
            <a:r>
              <a:rPr sz="1867" b="1" spc="-113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sets</a:t>
            </a:r>
            <a:endParaRPr sz="1867">
              <a:latin typeface="Arial"/>
              <a:cs typeface="Arial"/>
            </a:endParaRPr>
          </a:p>
        </p:txBody>
      </p:sp>
      <p:sp>
        <p:nvSpPr>
          <p:cNvPr id="28" name="object 22">
            <a:extLst>
              <a:ext uri="{FF2B5EF4-FFF2-40B4-BE49-F238E27FC236}">
                <a16:creationId xmlns:a16="http://schemas.microsoft.com/office/drawing/2014/main" id="{86A0A26E-B344-5D3C-3C6D-397FA1E3367E}"/>
              </a:ext>
            </a:extLst>
          </p:cNvPr>
          <p:cNvSpPr txBox="1"/>
          <p:nvPr/>
        </p:nvSpPr>
        <p:spPr>
          <a:xfrm>
            <a:off x="4011460" y="4041801"/>
            <a:ext cx="1789853" cy="11663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dirty="0">
                <a:latin typeface="Calibri"/>
                <a:cs typeface="Calibri"/>
              </a:rPr>
              <a:t>if</a:t>
            </a:r>
            <a:r>
              <a:rPr sz="1867" spc="420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(</a:t>
            </a:r>
            <a:r>
              <a:rPr sz="1867" b="1" dirty="0">
                <a:latin typeface="Calibri"/>
                <a:cs typeface="Calibri"/>
              </a:rPr>
              <a:t>send </a:t>
            </a:r>
            <a:r>
              <a:rPr sz="1867" b="1" spc="-7" dirty="0">
                <a:latin typeface="Calibri"/>
                <a:cs typeface="Calibri"/>
              </a:rPr>
              <a:t>‘1’</a:t>
            </a:r>
            <a:r>
              <a:rPr sz="1867" spc="-7" dirty="0">
                <a:latin typeface="Calibri"/>
                <a:cs typeface="Calibri"/>
              </a:rPr>
              <a:t>) </a:t>
            </a:r>
            <a:r>
              <a:rPr sz="1867" dirty="0">
                <a:latin typeface="Calibri"/>
                <a:cs typeface="Calibri"/>
              </a:rPr>
              <a:t> repeat N: </a:t>
            </a:r>
            <a:r>
              <a:rPr sz="1867" spc="-7" dirty="0">
                <a:latin typeface="Calibri"/>
                <a:cs typeface="Calibri"/>
              </a:rPr>
              <a:t>fill set </a:t>
            </a:r>
            <a:r>
              <a:rPr sz="1867" dirty="0">
                <a:latin typeface="Calibri"/>
                <a:cs typeface="Calibri"/>
              </a:rPr>
              <a:t>i </a:t>
            </a:r>
            <a:r>
              <a:rPr sz="1867" spc="7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else</a:t>
            </a:r>
            <a:endParaRPr sz="1867">
              <a:latin typeface="Calibri"/>
              <a:cs typeface="Calibri"/>
            </a:endParaRPr>
          </a:p>
          <a:p>
            <a:pPr marL="121917"/>
            <a:r>
              <a:rPr sz="1867" dirty="0">
                <a:latin typeface="Calibri"/>
                <a:cs typeface="Calibri"/>
              </a:rPr>
              <a:t>idle</a:t>
            </a:r>
            <a:endParaRPr sz="18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3240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it different from legitimate communication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29" name="object 2">
            <a:extLst>
              <a:ext uri="{FF2B5EF4-FFF2-40B4-BE49-F238E27FC236}">
                <a16:creationId xmlns:a16="http://schemas.microsoft.com/office/drawing/2014/main" id="{E0DC8B6E-833F-F0E8-3F49-603855D1083D}"/>
              </a:ext>
            </a:extLst>
          </p:cNvPr>
          <p:cNvSpPr txBox="1"/>
          <p:nvPr/>
        </p:nvSpPr>
        <p:spPr>
          <a:xfrm>
            <a:off x="564896" y="2444872"/>
            <a:ext cx="4893733" cy="379283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284">
              <a:lnSpc>
                <a:spcPts val="2540"/>
              </a:lnSpc>
            </a:pPr>
            <a:r>
              <a:rPr sz="2133" spc="-13" dirty="0">
                <a:solidFill>
                  <a:srgbClr val="C00000"/>
                </a:solidFill>
                <a:latin typeface="Consolas"/>
                <a:cs typeface="Consolas"/>
              </a:rPr>
              <a:t>include</a:t>
            </a:r>
            <a:r>
              <a:rPr sz="2133" spc="-60" dirty="0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sz="2133" spc="-13" dirty="0">
                <a:solidFill>
                  <a:srgbClr val="C00000"/>
                </a:solidFill>
                <a:latin typeface="Consolas"/>
                <a:cs typeface="Consolas"/>
              </a:rPr>
              <a:t>&lt;socket.h&gt;</a:t>
            </a:r>
            <a:endParaRPr sz="2133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133">
              <a:latin typeface="Consolas"/>
              <a:cs typeface="Consolas"/>
            </a:endParaRPr>
          </a:p>
          <a:p>
            <a:pPr marL="92284">
              <a:spcBef>
                <a:spcPts val="1673"/>
              </a:spcBef>
            </a:pPr>
            <a:r>
              <a:rPr sz="2133" spc="-7" dirty="0">
                <a:latin typeface="Consolas"/>
                <a:cs typeface="Consolas"/>
              </a:rPr>
              <a:t>void</a:t>
            </a:r>
            <a:r>
              <a:rPr sz="2133" spc="-40" dirty="0">
                <a:latin typeface="Consolas"/>
                <a:cs typeface="Consolas"/>
              </a:rPr>
              <a:t> </a:t>
            </a:r>
            <a:r>
              <a:rPr sz="2133" spc="-13" dirty="0">
                <a:latin typeface="Consolas"/>
                <a:cs typeface="Consolas"/>
              </a:rPr>
              <a:t>send(bit</a:t>
            </a:r>
            <a:r>
              <a:rPr sz="2133" spc="-47" dirty="0">
                <a:latin typeface="Consolas"/>
                <a:cs typeface="Consolas"/>
              </a:rPr>
              <a:t> </a:t>
            </a:r>
            <a:r>
              <a:rPr sz="2133" spc="-7" dirty="0">
                <a:latin typeface="Consolas"/>
                <a:cs typeface="Consolas"/>
              </a:rPr>
              <a:t>msg)</a:t>
            </a:r>
            <a:r>
              <a:rPr sz="2133" spc="-33" dirty="0">
                <a:latin typeface="Consolas"/>
                <a:cs typeface="Consolas"/>
              </a:rPr>
              <a:t> </a:t>
            </a:r>
            <a:r>
              <a:rPr sz="2133" spc="-7" dirty="0">
                <a:latin typeface="Consolas"/>
                <a:cs typeface="Consolas"/>
              </a:rPr>
              <a:t>{</a:t>
            </a:r>
            <a:endParaRPr sz="2133">
              <a:latin typeface="Consolas"/>
              <a:cs typeface="Consolas"/>
            </a:endParaRPr>
          </a:p>
          <a:p>
            <a:pPr marL="388610">
              <a:spcBef>
                <a:spcPts val="820"/>
              </a:spcBef>
            </a:pPr>
            <a:r>
              <a:rPr sz="2133" spc="-13" dirty="0">
                <a:latin typeface="Consolas"/>
                <a:cs typeface="Consolas"/>
              </a:rPr>
              <a:t>socket.send(msg);</a:t>
            </a:r>
            <a:endParaRPr sz="2133">
              <a:latin typeface="Consolas"/>
              <a:cs typeface="Consolas"/>
            </a:endParaRPr>
          </a:p>
          <a:p>
            <a:pPr marL="92284">
              <a:spcBef>
                <a:spcPts val="820"/>
              </a:spcBef>
            </a:pPr>
            <a:r>
              <a:rPr sz="2133" spc="-7" dirty="0">
                <a:latin typeface="Consolas"/>
                <a:cs typeface="Consolas"/>
              </a:rPr>
              <a:t>}</a:t>
            </a:r>
            <a:endParaRPr sz="2133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133">
              <a:latin typeface="Consolas"/>
              <a:cs typeface="Consolas"/>
            </a:endParaRPr>
          </a:p>
          <a:p>
            <a:pPr marL="92284">
              <a:spcBef>
                <a:spcPts val="1680"/>
              </a:spcBef>
            </a:pPr>
            <a:r>
              <a:rPr sz="2133" spc="-13" dirty="0">
                <a:latin typeface="Consolas"/>
                <a:cs typeface="Consolas"/>
              </a:rPr>
              <a:t>bit</a:t>
            </a:r>
            <a:r>
              <a:rPr sz="2133" spc="-40" dirty="0">
                <a:latin typeface="Consolas"/>
                <a:cs typeface="Consolas"/>
              </a:rPr>
              <a:t> </a:t>
            </a:r>
            <a:r>
              <a:rPr sz="2133" spc="-13" dirty="0">
                <a:latin typeface="Consolas"/>
                <a:cs typeface="Consolas"/>
              </a:rPr>
              <a:t>recv()</a:t>
            </a:r>
            <a:r>
              <a:rPr sz="2133" spc="-40" dirty="0">
                <a:latin typeface="Consolas"/>
                <a:cs typeface="Consolas"/>
              </a:rPr>
              <a:t> </a:t>
            </a:r>
            <a:r>
              <a:rPr sz="2133" spc="-7" dirty="0">
                <a:latin typeface="Consolas"/>
                <a:cs typeface="Consolas"/>
              </a:rPr>
              <a:t>{</a:t>
            </a:r>
            <a:endParaRPr sz="2133">
              <a:latin typeface="Consolas"/>
              <a:cs typeface="Consolas"/>
            </a:endParaRPr>
          </a:p>
          <a:p>
            <a:pPr marL="388610">
              <a:spcBef>
                <a:spcPts val="813"/>
              </a:spcBef>
            </a:pPr>
            <a:r>
              <a:rPr sz="2133" spc="-13" dirty="0">
                <a:latin typeface="Consolas"/>
                <a:cs typeface="Consolas"/>
              </a:rPr>
              <a:t>return</a:t>
            </a:r>
            <a:r>
              <a:rPr sz="2133" spc="-47" dirty="0">
                <a:latin typeface="Consolas"/>
                <a:cs typeface="Consolas"/>
              </a:rPr>
              <a:t> </a:t>
            </a:r>
            <a:r>
              <a:rPr sz="2133" spc="-13" dirty="0">
                <a:latin typeface="Consolas"/>
                <a:cs typeface="Consolas"/>
              </a:rPr>
              <a:t>socket.recv(msg);</a:t>
            </a:r>
            <a:endParaRPr sz="2133">
              <a:latin typeface="Consolas"/>
              <a:cs typeface="Consolas"/>
            </a:endParaRPr>
          </a:p>
          <a:p>
            <a:pPr marL="92284">
              <a:spcBef>
                <a:spcPts val="800"/>
              </a:spcBef>
            </a:pPr>
            <a:r>
              <a:rPr sz="2133" spc="-7" dirty="0">
                <a:latin typeface="Consolas"/>
                <a:cs typeface="Consolas"/>
              </a:rPr>
              <a:t>}</a:t>
            </a:r>
            <a:endParaRPr sz="2133">
              <a:latin typeface="Consolas"/>
              <a:cs typeface="Consolas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12CB8BB2-C28A-84E5-984C-154984D877DA}"/>
              </a:ext>
            </a:extLst>
          </p:cNvPr>
          <p:cNvSpPr txBox="1"/>
          <p:nvPr/>
        </p:nvSpPr>
        <p:spPr>
          <a:xfrm>
            <a:off x="5898895" y="2444871"/>
            <a:ext cx="5669280" cy="4087828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6773" rIns="0" bIns="0" rtlCol="0">
            <a:spAutoFit/>
          </a:bodyPr>
          <a:lstStyle/>
          <a:p>
            <a:pPr>
              <a:spcBef>
                <a:spcPts val="53"/>
              </a:spcBef>
            </a:pPr>
            <a:endParaRPr sz="1933">
              <a:latin typeface="Times New Roman"/>
              <a:cs typeface="Times New Roman"/>
            </a:endParaRPr>
          </a:p>
          <a:p>
            <a:pPr marL="93131">
              <a:spcBef>
                <a:spcPts val="7"/>
              </a:spcBef>
            </a:pPr>
            <a:r>
              <a:rPr sz="2133" spc="-13" dirty="0">
                <a:latin typeface="Consolas"/>
                <a:cs typeface="Consolas"/>
              </a:rPr>
              <a:t>void</a:t>
            </a:r>
            <a:r>
              <a:rPr sz="2133" spc="-27" dirty="0">
                <a:latin typeface="Consolas"/>
                <a:cs typeface="Consolas"/>
              </a:rPr>
              <a:t> </a:t>
            </a:r>
            <a:r>
              <a:rPr sz="2133" spc="-13" dirty="0">
                <a:latin typeface="Consolas"/>
                <a:cs typeface="Consolas"/>
              </a:rPr>
              <a:t>send(bit</a:t>
            </a:r>
            <a:r>
              <a:rPr sz="2133" spc="-40" dirty="0">
                <a:latin typeface="Consolas"/>
                <a:cs typeface="Consolas"/>
              </a:rPr>
              <a:t> </a:t>
            </a:r>
            <a:r>
              <a:rPr sz="2133" spc="-13" dirty="0">
                <a:latin typeface="Consolas"/>
                <a:cs typeface="Consolas"/>
              </a:rPr>
              <a:t>msg)</a:t>
            </a:r>
            <a:r>
              <a:rPr sz="2133" spc="-20" dirty="0">
                <a:latin typeface="Consolas"/>
                <a:cs typeface="Consolas"/>
              </a:rPr>
              <a:t> </a:t>
            </a:r>
            <a:r>
              <a:rPr sz="2133" spc="-7" dirty="0">
                <a:latin typeface="Consolas"/>
                <a:cs typeface="Consolas"/>
              </a:rPr>
              <a:t>{</a:t>
            </a:r>
            <a:endParaRPr sz="2133">
              <a:latin typeface="Consolas"/>
              <a:cs typeface="Consolas"/>
            </a:endParaRPr>
          </a:p>
          <a:p>
            <a:pPr marL="389457">
              <a:spcBef>
                <a:spcPts val="813"/>
              </a:spcBef>
            </a:pPr>
            <a:r>
              <a:rPr sz="2133" spc="-7" dirty="0">
                <a:solidFill>
                  <a:srgbClr val="538135"/>
                </a:solidFill>
                <a:latin typeface="Consolas"/>
                <a:cs typeface="Consolas"/>
              </a:rPr>
              <a:t>//</a:t>
            </a:r>
            <a:r>
              <a:rPr sz="2133" spc="-27" dirty="0">
                <a:solidFill>
                  <a:srgbClr val="538135"/>
                </a:solidFill>
                <a:latin typeface="Consolas"/>
                <a:cs typeface="Consolas"/>
              </a:rPr>
              <a:t> </a:t>
            </a:r>
            <a:r>
              <a:rPr sz="2133" spc="-13" dirty="0">
                <a:solidFill>
                  <a:srgbClr val="538135"/>
                </a:solidFill>
                <a:latin typeface="Consolas"/>
                <a:cs typeface="Consolas"/>
              </a:rPr>
              <a:t>pressure</a:t>
            </a:r>
            <a:r>
              <a:rPr sz="2133" spc="-40" dirty="0">
                <a:solidFill>
                  <a:srgbClr val="538135"/>
                </a:solidFill>
                <a:latin typeface="Consolas"/>
                <a:cs typeface="Consolas"/>
              </a:rPr>
              <a:t> </a:t>
            </a:r>
            <a:r>
              <a:rPr sz="2133" spc="-7" dirty="0">
                <a:solidFill>
                  <a:srgbClr val="538135"/>
                </a:solidFill>
                <a:latin typeface="Consolas"/>
                <a:cs typeface="Consolas"/>
              </a:rPr>
              <a:t>on</a:t>
            </a:r>
            <a:r>
              <a:rPr sz="2133" spc="-27" dirty="0">
                <a:solidFill>
                  <a:srgbClr val="538135"/>
                </a:solidFill>
                <a:latin typeface="Consolas"/>
                <a:cs typeface="Consolas"/>
              </a:rPr>
              <a:t> </a:t>
            </a:r>
            <a:r>
              <a:rPr sz="2133" spc="-13" dirty="0">
                <a:solidFill>
                  <a:srgbClr val="538135"/>
                </a:solidFill>
                <a:latin typeface="Consolas"/>
                <a:cs typeface="Consolas"/>
              </a:rPr>
              <a:t>cache</a:t>
            </a:r>
            <a:endParaRPr sz="2133">
              <a:latin typeface="Consolas"/>
              <a:cs typeface="Consolas"/>
            </a:endParaRPr>
          </a:p>
          <a:p>
            <a:pPr marL="93131">
              <a:spcBef>
                <a:spcPts val="800"/>
              </a:spcBef>
            </a:pPr>
            <a:r>
              <a:rPr sz="2133" spc="-7" dirty="0">
                <a:latin typeface="Consolas"/>
                <a:cs typeface="Consolas"/>
              </a:rPr>
              <a:t>}</a:t>
            </a:r>
            <a:endParaRPr sz="2133">
              <a:latin typeface="Consolas"/>
              <a:cs typeface="Consolas"/>
            </a:endParaRPr>
          </a:p>
          <a:p>
            <a:pPr>
              <a:spcBef>
                <a:spcPts val="33"/>
              </a:spcBef>
            </a:pPr>
            <a:endParaRPr sz="2867">
              <a:latin typeface="Consolas"/>
              <a:cs typeface="Consolas"/>
            </a:endParaRPr>
          </a:p>
          <a:p>
            <a:pPr marL="389457" marR="3488179" indent="-297173">
              <a:lnSpc>
                <a:spcPct val="131400"/>
              </a:lnSpc>
            </a:pPr>
            <a:r>
              <a:rPr sz="2133" spc="-13" dirty="0">
                <a:latin typeface="Consolas"/>
                <a:cs typeface="Consolas"/>
              </a:rPr>
              <a:t>bit</a:t>
            </a:r>
            <a:r>
              <a:rPr sz="2133" spc="47" dirty="0">
                <a:latin typeface="Consolas"/>
                <a:cs typeface="Consolas"/>
              </a:rPr>
              <a:t> </a:t>
            </a:r>
            <a:r>
              <a:rPr sz="2133" spc="-13" dirty="0">
                <a:latin typeface="Consolas"/>
                <a:cs typeface="Consolas"/>
              </a:rPr>
              <a:t>recv()</a:t>
            </a:r>
            <a:r>
              <a:rPr sz="2133" spc="53" dirty="0">
                <a:latin typeface="Consolas"/>
                <a:cs typeface="Consolas"/>
              </a:rPr>
              <a:t> </a:t>
            </a:r>
            <a:r>
              <a:rPr sz="2133" spc="-7" dirty="0">
                <a:latin typeface="Consolas"/>
                <a:cs typeface="Consolas"/>
              </a:rPr>
              <a:t>{ </a:t>
            </a:r>
            <a:r>
              <a:rPr sz="2133" dirty="0">
                <a:latin typeface="Consolas"/>
                <a:cs typeface="Consolas"/>
              </a:rPr>
              <a:t> </a:t>
            </a:r>
            <a:r>
              <a:rPr sz="2133" spc="-7" dirty="0">
                <a:latin typeface="Consolas"/>
                <a:cs typeface="Consolas"/>
              </a:rPr>
              <a:t>st</a:t>
            </a:r>
            <a:r>
              <a:rPr sz="2133" spc="-60" dirty="0">
                <a:latin typeface="Consolas"/>
                <a:cs typeface="Consolas"/>
              </a:rPr>
              <a:t> </a:t>
            </a:r>
            <a:r>
              <a:rPr sz="2133" spc="-7" dirty="0">
                <a:latin typeface="Consolas"/>
                <a:cs typeface="Consolas"/>
              </a:rPr>
              <a:t>=</a:t>
            </a:r>
            <a:r>
              <a:rPr sz="2133" spc="-53" dirty="0">
                <a:latin typeface="Consolas"/>
                <a:cs typeface="Consolas"/>
              </a:rPr>
              <a:t> </a:t>
            </a:r>
            <a:r>
              <a:rPr sz="2133" spc="-13" dirty="0">
                <a:latin typeface="Consolas"/>
                <a:cs typeface="Consolas"/>
              </a:rPr>
              <a:t>time();</a:t>
            </a:r>
            <a:endParaRPr sz="2133">
              <a:latin typeface="Consolas"/>
              <a:cs typeface="Consolas"/>
            </a:endParaRPr>
          </a:p>
          <a:p>
            <a:pPr marL="389457">
              <a:spcBef>
                <a:spcPts val="820"/>
              </a:spcBef>
            </a:pPr>
            <a:r>
              <a:rPr sz="2133" spc="-7" dirty="0">
                <a:solidFill>
                  <a:srgbClr val="538135"/>
                </a:solidFill>
                <a:latin typeface="Consolas"/>
                <a:cs typeface="Consolas"/>
              </a:rPr>
              <a:t>//</a:t>
            </a:r>
            <a:r>
              <a:rPr sz="2133" spc="-33" dirty="0">
                <a:solidFill>
                  <a:srgbClr val="538135"/>
                </a:solidFill>
                <a:latin typeface="Consolas"/>
                <a:cs typeface="Consolas"/>
              </a:rPr>
              <a:t> </a:t>
            </a:r>
            <a:r>
              <a:rPr sz="2133" spc="-13" dirty="0">
                <a:solidFill>
                  <a:srgbClr val="538135"/>
                </a:solidFill>
                <a:latin typeface="Consolas"/>
                <a:cs typeface="Consolas"/>
              </a:rPr>
              <a:t>pressure</a:t>
            </a:r>
            <a:r>
              <a:rPr sz="2133" spc="-47" dirty="0">
                <a:solidFill>
                  <a:srgbClr val="538135"/>
                </a:solidFill>
                <a:latin typeface="Consolas"/>
                <a:cs typeface="Consolas"/>
              </a:rPr>
              <a:t> </a:t>
            </a:r>
            <a:r>
              <a:rPr sz="2133" spc="-7" dirty="0">
                <a:solidFill>
                  <a:srgbClr val="538135"/>
                </a:solidFill>
                <a:latin typeface="Consolas"/>
                <a:cs typeface="Consolas"/>
              </a:rPr>
              <a:t>on</a:t>
            </a:r>
            <a:r>
              <a:rPr sz="2133" spc="-27" dirty="0">
                <a:solidFill>
                  <a:srgbClr val="538135"/>
                </a:solidFill>
                <a:latin typeface="Consolas"/>
                <a:cs typeface="Consolas"/>
              </a:rPr>
              <a:t> </a:t>
            </a:r>
            <a:r>
              <a:rPr sz="2133" spc="-13" dirty="0">
                <a:solidFill>
                  <a:srgbClr val="538135"/>
                </a:solidFill>
                <a:latin typeface="Consolas"/>
                <a:cs typeface="Consolas"/>
              </a:rPr>
              <a:t>cache</a:t>
            </a:r>
            <a:endParaRPr sz="2133">
              <a:latin typeface="Consolas"/>
              <a:cs typeface="Consolas"/>
            </a:endParaRPr>
          </a:p>
          <a:p>
            <a:pPr marL="389457">
              <a:spcBef>
                <a:spcPts val="813"/>
              </a:spcBef>
            </a:pPr>
            <a:r>
              <a:rPr sz="2133" spc="-13" dirty="0">
                <a:latin typeface="Consolas"/>
                <a:cs typeface="Consolas"/>
              </a:rPr>
              <a:t>return</a:t>
            </a:r>
            <a:r>
              <a:rPr sz="2133" spc="-20" dirty="0">
                <a:latin typeface="Consolas"/>
                <a:cs typeface="Consolas"/>
              </a:rPr>
              <a:t> </a:t>
            </a:r>
            <a:r>
              <a:rPr sz="2133" spc="-13" dirty="0">
                <a:latin typeface="Consolas"/>
                <a:cs typeface="Consolas"/>
              </a:rPr>
              <a:t>time()</a:t>
            </a:r>
            <a:r>
              <a:rPr sz="2133" spc="-27" dirty="0">
                <a:latin typeface="Consolas"/>
                <a:cs typeface="Consolas"/>
              </a:rPr>
              <a:t> </a:t>
            </a:r>
            <a:r>
              <a:rPr sz="2133" spc="-7" dirty="0">
                <a:latin typeface="Consolas"/>
                <a:cs typeface="Consolas"/>
              </a:rPr>
              <a:t>–</a:t>
            </a:r>
            <a:r>
              <a:rPr sz="2133" spc="-27" dirty="0">
                <a:latin typeface="Consolas"/>
                <a:cs typeface="Consolas"/>
              </a:rPr>
              <a:t> </a:t>
            </a:r>
            <a:r>
              <a:rPr sz="2133" spc="-7" dirty="0">
                <a:latin typeface="Consolas"/>
                <a:cs typeface="Consolas"/>
              </a:rPr>
              <a:t>st</a:t>
            </a:r>
            <a:r>
              <a:rPr sz="2133" spc="-20" dirty="0">
                <a:latin typeface="Consolas"/>
                <a:cs typeface="Consolas"/>
              </a:rPr>
              <a:t> </a:t>
            </a:r>
            <a:r>
              <a:rPr sz="2133" spc="-7" dirty="0">
                <a:latin typeface="Consolas"/>
                <a:cs typeface="Consolas"/>
              </a:rPr>
              <a:t>&gt;</a:t>
            </a:r>
            <a:r>
              <a:rPr sz="2133" spc="-20" dirty="0">
                <a:latin typeface="Consolas"/>
                <a:cs typeface="Consolas"/>
              </a:rPr>
              <a:t> </a:t>
            </a:r>
            <a:r>
              <a:rPr sz="2133" spc="-13" dirty="0">
                <a:latin typeface="Consolas"/>
                <a:cs typeface="Consolas"/>
              </a:rPr>
              <a:t>THRESH;</a:t>
            </a:r>
            <a:endParaRPr sz="2133">
              <a:latin typeface="Consolas"/>
              <a:cs typeface="Consolas"/>
            </a:endParaRPr>
          </a:p>
          <a:p>
            <a:pPr marL="93131">
              <a:spcBef>
                <a:spcPts val="800"/>
              </a:spcBef>
            </a:pPr>
            <a:r>
              <a:rPr sz="2133" spc="-7" dirty="0">
                <a:latin typeface="Consolas"/>
                <a:cs typeface="Consolas"/>
              </a:rPr>
              <a:t>}</a:t>
            </a:r>
            <a:endParaRPr sz="2133">
              <a:latin typeface="Consolas"/>
              <a:cs typeface="Consolas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1042C951-0200-8926-25B2-8BE6F9320510}"/>
              </a:ext>
            </a:extLst>
          </p:cNvPr>
          <p:cNvSpPr txBox="1"/>
          <p:nvPr/>
        </p:nvSpPr>
        <p:spPr>
          <a:xfrm>
            <a:off x="1251034" y="1862703"/>
            <a:ext cx="3519593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>
                <a:latin typeface="Calibri"/>
                <a:cs typeface="Calibri"/>
              </a:rPr>
              <a:t>Normal</a:t>
            </a:r>
            <a:r>
              <a:rPr sz="2800" b="1" spc="-73" dirty="0">
                <a:latin typeface="Calibri"/>
                <a:cs typeface="Calibri"/>
              </a:rPr>
              <a:t> </a:t>
            </a:r>
            <a:r>
              <a:rPr sz="2800" b="1" spc="-7" dirty="0">
                <a:latin typeface="Calibri"/>
                <a:cs typeface="Calibri"/>
              </a:rPr>
              <a:t>communication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2" name="object 5">
            <a:extLst>
              <a:ext uri="{FF2B5EF4-FFF2-40B4-BE49-F238E27FC236}">
                <a16:creationId xmlns:a16="http://schemas.microsoft.com/office/drawing/2014/main" id="{091DAF61-F4AD-F08C-0C88-5386F07D2DC4}"/>
              </a:ext>
            </a:extLst>
          </p:cNvPr>
          <p:cNvSpPr txBox="1"/>
          <p:nvPr/>
        </p:nvSpPr>
        <p:spPr>
          <a:xfrm>
            <a:off x="6396059" y="1862703"/>
            <a:ext cx="4671060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>
                <a:latin typeface="Calibri"/>
                <a:cs typeface="Calibri"/>
              </a:rPr>
              <a:t>Covert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7" dirty="0">
                <a:latin typeface="Calibri"/>
                <a:cs typeface="Calibri"/>
              </a:rPr>
              <a:t>Channel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7" dirty="0">
                <a:latin typeface="Calibri"/>
                <a:cs typeface="Calibri"/>
              </a:rPr>
              <a:t>communication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3" name="object 6">
            <a:extLst>
              <a:ext uri="{FF2B5EF4-FFF2-40B4-BE49-F238E27FC236}">
                <a16:creationId xmlns:a16="http://schemas.microsoft.com/office/drawing/2014/main" id="{6FD4B45B-1C48-8D2F-A5C3-1082FFF01373}"/>
              </a:ext>
            </a:extLst>
          </p:cNvPr>
          <p:cNvGrpSpPr/>
          <p:nvPr/>
        </p:nvGrpSpPr>
        <p:grpSpPr>
          <a:xfrm>
            <a:off x="7073611" y="1233126"/>
            <a:ext cx="4747260" cy="833120"/>
            <a:chOff x="2523744" y="431291"/>
            <a:chExt cx="3560445" cy="624840"/>
          </a:xfrm>
        </p:grpSpPr>
        <p:sp>
          <p:nvSpPr>
            <p:cNvPr id="34" name="object 7">
              <a:extLst>
                <a:ext uri="{FF2B5EF4-FFF2-40B4-BE49-F238E27FC236}">
                  <a16:creationId xmlns:a16="http://schemas.microsoft.com/office/drawing/2014/main" id="{B73335D2-BE2E-69E2-B9A4-A7ABC0FED509}"/>
                </a:ext>
              </a:extLst>
            </p:cNvPr>
            <p:cNvSpPr/>
            <p:nvPr/>
          </p:nvSpPr>
          <p:spPr>
            <a:xfrm>
              <a:off x="2736342" y="790955"/>
              <a:ext cx="3136265" cy="114300"/>
            </a:xfrm>
            <a:custGeom>
              <a:avLst/>
              <a:gdLst/>
              <a:ahLst/>
              <a:cxnLst/>
              <a:rect l="l" t="t" r="r" b="b"/>
              <a:pathLst>
                <a:path w="3136265" h="114300">
                  <a:moveTo>
                    <a:pt x="3021710" y="0"/>
                  </a:moveTo>
                  <a:lnTo>
                    <a:pt x="3021710" y="114300"/>
                  </a:lnTo>
                  <a:lnTo>
                    <a:pt x="3097910" y="76200"/>
                  </a:lnTo>
                  <a:lnTo>
                    <a:pt x="3040760" y="76200"/>
                  </a:lnTo>
                  <a:lnTo>
                    <a:pt x="3040760" y="38100"/>
                  </a:lnTo>
                  <a:lnTo>
                    <a:pt x="3097910" y="38100"/>
                  </a:lnTo>
                  <a:lnTo>
                    <a:pt x="3021710" y="0"/>
                  </a:lnTo>
                  <a:close/>
                </a:path>
                <a:path w="3136265" h="114300">
                  <a:moveTo>
                    <a:pt x="302171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021710" y="76200"/>
                  </a:lnTo>
                  <a:lnTo>
                    <a:pt x="3021710" y="38100"/>
                  </a:lnTo>
                  <a:close/>
                </a:path>
                <a:path w="3136265" h="114300">
                  <a:moveTo>
                    <a:pt x="3097910" y="38100"/>
                  </a:moveTo>
                  <a:lnTo>
                    <a:pt x="3040760" y="38100"/>
                  </a:lnTo>
                  <a:lnTo>
                    <a:pt x="3040760" y="76200"/>
                  </a:lnTo>
                  <a:lnTo>
                    <a:pt x="3097910" y="76200"/>
                  </a:lnTo>
                  <a:lnTo>
                    <a:pt x="3136010" y="57150"/>
                  </a:lnTo>
                  <a:lnTo>
                    <a:pt x="3097910" y="3810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5" name="object 8">
              <a:extLst>
                <a:ext uri="{FF2B5EF4-FFF2-40B4-BE49-F238E27FC236}">
                  <a16:creationId xmlns:a16="http://schemas.microsoft.com/office/drawing/2014/main" id="{A90FE1B4-2CDB-6A26-3CF7-59A89B08B0C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3744" y="743711"/>
              <a:ext cx="216408" cy="207263"/>
            </a:xfrm>
            <a:prstGeom prst="rect">
              <a:avLst/>
            </a:prstGeom>
          </p:spPr>
        </p:pic>
        <p:pic>
          <p:nvPicPr>
            <p:cNvPr id="36" name="object 9">
              <a:extLst>
                <a:ext uri="{FF2B5EF4-FFF2-40B4-BE49-F238E27FC236}">
                  <a16:creationId xmlns:a16="http://schemas.microsoft.com/office/drawing/2014/main" id="{0081F560-05F0-0D3B-A165-7938EA05750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7400" y="743711"/>
              <a:ext cx="216408" cy="207263"/>
            </a:xfrm>
            <a:prstGeom prst="rect">
              <a:avLst/>
            </a:prstGeom>
          </p:spPr>
        </p:pic>
        <p:sp>
          <p:nvSpPr>
            <p:cNvPr id="37" name="object 10">
              <a:extLst>
                <a:ext uri="{FF2B5EF4-FFF2-40B4-BE49-F238E27FC236}">
                  <a16:creationId xmlns:a16="http://schemas.microsoft.com/office/drawing/2014/main" id="{7F7C51AE-5CFE-C494-94A4-F26291012F9B}"/>
                </a:ext>
              </a:extLst>
            </p:cNvPr>
            <p:cNvSpPr/>
            <p:nvPr/>
          </p:nvSpPr>
          <p:spPr>
            <a:xfrm>
              <a:off x="2587752" y="431291"/>
              <a:ext cx="3420110" cy="318135"/>
            </a:xfrm>
            <a:custGeom>
              <a:avLst/>
              <a:gdLst/>
              <a:ahLst/>
              <a:cxnLst/>
              <a:rect l="l" t="t" r="r" b="b"/>
              <a:pathLst>
                <a:path w="3420110" h="318134">
                  <a:moveTo>
                    <a:pt x="76200" y="241808"/>
                  </a:moveTo>
                  <a:lnTo>
                    <a:pt x="44450" y="241808"/>
                  </a:lnTo>
                  <a:lnTo>
                    <a:pt x="44450" y="1524"/>
                  </a:lnTo>
                  <a:lnTo>
                    <a:pt x="31750" y="1524"/>
                  </a:lnTo>
                  <a:lnTo>
                    <a:pt x="31750" y="241808"/>
                  </a:lnTo>
                  <a:lnTo>
                    <a:pt x="0" y="241808"/>
                  </a:lnTo>
                  <a:lnTo>
                    <a:pt x="38100" y="318008"/>
                  </a:lnTo>
                  <a:lnTo>
                    <a:pt x="69850" y="254508"/>
                  </a:lnTo>
                  <a:lnTo>
                    <a:pt x="76200" y="241808"/>
                  </a:lnTo>
                  <a:close/>
                </a:path>
                <a:path w="3420110" h="318134">
                  <a:moveTo>
                    <a:pt x="3419856" y="240284"/>
                  </a:moveTo>
                  <a:lnTo>
                    <a:pt x="3388106" y="240284"/>
                  </a:lnTo>
                  <a:lnTo>
                    <a:pt x="3388106" y="0"/>
                  </a:lnTo>
                  <a:lnTo>
                    <a:pt x="3375406" y="0"/>
                  </a:lnTo>
                  <a:lnTo>
                    <a:pt x="3375406" y="240284"/>
                  </a:lnTo>
                  <a:lnTo>
                    <a:pt x="3343656" y="240284"/>
                  </a:lnTo>
                  <a:lnTo>
                    <a:pt x="3381756" y="316484"/>
                  </a:lnTo>
                  <a:lnTo>
                    <a:pt x="3413506" y="252984"/>
                  </a:lnTo>
                  <a:lnTo>
                    <a:pt x="3419856" y="2402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11">
              <a:extLst>
                <a:ext uri="{FF2B5EF4-FFF2-40B4-BE49-F238E27FC236}">
                  <a16:creationId xmlns:a16="http://schemas.microsoft.com/office/drawing/2014/main" id="{92058131-115C-8EA7-3977-2F2D083D31FE}"/>
                </a:ext>
              </a:extLst>
            </p:cNvPr>
            <p:cNvSpPr/>
            <p:nvPr/>
          </p:nvSpPr>
          <p:spPr>
            <a:xfrm>
              <a:off x="3362705" y="653033"/>
              <a:ext cx="1716405" cy="390525"/>
            </a:xfrm>
            <a:custGeom>
              <a:avLst/>
              <a:gdLst/>
              <a:ahLst/>
              <a:cxnLst/>
              <a:rect l="l" t="t" r="r" b="b"/>
              <a:pathLst>
                <a:path w="1716404" h="390525">
                  <a:moveTo>
                    <a:pt x="1716024" y="0"/>
                  </a:moveTo>
                  <a:lnTo>
                    <a:pt x="48768" y="0"/>
                  </a:lnTo>
                  <a:lnTo>
                    <a:pt x="29789" y="15335"/>
                  </a:lnTo>
                  <a:lnTo>
                    <a:pt x="14287" y="57150"/>
                  </a:lnTo>
                  <a:lnTo>
                    <a:pt x="3833" y="119157"/>
                  </a:lnTo>
                  <a:lnTo>
                    <a:pt x="0" y="195071"/>
                  </a:lnTo>
                  <a:lnTo>
                    <a:pt x="3833" y="270986"/>
                  </a:lnTo>
                  <a:lnTo>
                    <a:pt x="14287" y="332993"/>
                  </a:lnTo>
                  <a:lnTo>
                    <a:pt x="29789" y="374808"/>
                  </a:lnTo>
                  <a:lnTo>
                    <a:pt x="48768" y="390143"/>
                  </a:lnTo>
                  <a:lnTo>
                    <a:pt x="1716024" y="390143"/>
                  </a:lnTo>
                  <a:lnTo>
                    <a:pt x="1697045" y="374808"/>
                  </a:lnTo>
                  <a:lnTo>
                    <a:pt x="1681543" y="332993"/>
                  </a:lnTo>
                  <a:lnTo>
                    <a:pt x="1671089" y="270986"/>
                  </a:lnTo>
                  <a:lnTo>
                    <a:pt x="1667256" y="195071"/>
                  </a:lnTo>
                  <a:lnTo>
                    <a:pt x="1671089" y="119157"/>
                  </a:lnTo>
                  <a:lnTo>
                    <a:pt x="1681543" y="57150"/>
                  </a:lnTo>
                  <a:lnTo>
                    <a:pt x="1697045" y="15335"/>
                  </a:lnTo>
                  <a:lnTo>
                    <a:pt x="1716024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12">
              <a:extLst>
                <a:ext uri="{FF2B5EF4-FFF2-40B4-BE49-F238E27FC236}">
                  <a16:creationId xmlns:a16="http://schemas.microsoft.com/office/drawing/2014/main" id="{E29BF147-83E8-C535-2BE1-E39495CD5AB9}"/>
                </a:ext>
              </a:extLst>
            </p:cNvPr>
            <p:cNvSpPr/>
            <p:nvPr/>
          </p:nvSpPr>
          <p:spPr>
            <a:xfrm>
              <a:off x="5029961" y="653033"/>
              <a:ext cx="97790" cy="390525"/>
            </a:xfrm>
            <a:custGeom>
              <a:avLst/>
              <a:gdLst/>
              <a:ahLst/>
              <a:cxnLst/>
              <a:rect l="l" t="t" r="r" b="b"/>
              <a:pathLst>
                <a:path w="97789" h="390525">
                  <a:moveTo>
                    <a:pt x="48767" y="0"/>
                  </a:moveTo>
                  <a:lnTo>
                    <a:pt x="29789" y="15335"/>
                  </a:lnTo>
                  <a:lnTo>
                    <a:pt x="14287" y="57150"/>
                  </a:lnTo>
                  <a:lnTo>
                    <a:pt x="3833" y="119157"/>
                  </a:lnTo>
                  <a:lnTo>
                    <a:pt x="0" y="195071"/>
                  </a:lnTo>
                  <a:lnTo>
                    <a:pt x="3833" y="270986"/>
                  </a:lnTo>
                  <a:lnTo>
                    <a:pt x="14287" y="332993"/>
                  </a:lnTo>
                  <a:lnTo>
                    <a:pt x="29789" y="374808"/>
                  </a:lnTo>
                  <a:lnTo>
                    <a:pt x="48767" y="390143"/>
                  </a:lnTo>
                  <a:lnTo>
                    <a:pt x="67746" y="374808"/>
                  </a:lnTo>
                  <a:lnTo>
                    <a:pt x="83248" y="332993"/>
                  </a:lnTo>
                  <a:lnTo>
                    <a:pt x="93702" y="270986"/>
                  </a:lnTo>
                  <a:lnTo>
                    <a:pt x="97536" y="195071"/>
                  </a:lnTo>
                  <a:lnTo>
                    <a:pt x="93702" y="119157"/>
                  </a:lnTo>
                  <a:lnTo>
                    <a:pt x="83248" y="57150"/>
                  </a:lnTo>
                  <a:lnTo>
                    <a:pt x="67746" y="15335"/>
                  </a:lnTo>
                  <a:lnTo>
                    <a:pt x="48767" y="0"/>
                  </a:lnTo>
                  <a:close/>
                </a:path>
              </a:pathLst>
            </a:custGeom>
            <a:solidFill>
              <a:srgbClr val="8F97A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13">
              <a:extLst>
                <a:ext uri="{FF2B5EF4-FFF2-40B4-BE49-F238E27FC236}">
                  <a16:creationId xmlns:a16="http://schemas.microsoft.com/office/drawing/2014/main" id="{2BD90904-EF46-801B-3300-1D54F10D7164}"/>
                </a:ext>
              </a:extLst>
            </p:cNvPr>
            <p:cNvSpPr/>
            <p:nvPr/>
          </p:nvSpPr>
          <p:spPr>
            <a:xfrm>
              <a:off x="3362705" y="653033"/>
              <a:ext cx="1765300" cy="390525"/>
            </a:xfrm>
            <a:custGeom>
              <a:avLst/>
              <a:gdLst/>
              <a:ahLst/>
              <a:cxnLst/>
              <a:rect l="l" t="t" r="r" b="b"/>
              <a:pathLst>
                <a:path w="1765300" h="390525">
                  <a:moveTo>
                    <a:pt x="1716024" y="390143"/>
                  </a:moveTo>
                  <a:lnTo>
                    <a:pt x="1697045" y="374808"/>
                  </a:lnTo>
                  <a:lnTo>
                    <a:pt x="1681543" y="332993"/>
                  </a:lnTo>
                  <a:lnTo>
                    <a:pt x="1671089" y="270986"/>
                  </a:lnTo>
                  <a:lnTo>
                    <a:pt x="1667256" y="195071"/>
                  </a:lnTo>
                  <a:lnTo>
                    <a:pt x="1671089" y="119157"/>
                  </a:lnTo>
                  <a:lnTo>
                    <a:pt x="1681543" y="57150"/>
                  </a:lnTo>
                  <a:lnTo>
                    <a:pt x="1697045" y="15335"/>
                  </a:lnTo>
                  <a:lnTo>
                    <a:pt x="1716024" y="0"/>
                  </a:lnTo>
                  <a:lnTo>
                    <a:pt x="1735002" y="15335"/>
                  </a:lnTo>
                  <a:lnTo>
                    <a:pt x="1750504" y="57150"/>
                  </a:lnTo>
                  <a:lnTo>
                    <a:pt x="1760958" y="119157"/>
                  </a:lnTo>
                  <a:lnTo>
                    <a:pt x="1764792" y="195071"/>
                  </a:lnTo>
                  <a:lnTo>
                    <a:pt x="1760958" y="270986"/>
                  </a:lnTo>
                  <a:lnTo>
                    <a:pt x="1750504" y="332993"/>
                  </a:lnTo>
                  <a:lnTo>
                    <a:pt x="1735002" y="374808"/>
                  </a:lnTo>
                  <a:lnTo>
                    <a:pt x="1716024" y="390143"/>
                  </a:lnTo>
                  <a:close/>
                </a:path>
                <a:path w="1765300" h="390525">
                  <a:moveTo>
                    <a:pt x="1716024" y="390143"/>
                  </a:moveTo>
                  <a:lnTo>
                    <a:pt x="48768" y="390143"/>
                  </a:lnTo>
                  <a:lnTo>
                    <a:pt x="29789" y="374808"/>
                  </a:lnTo>
                  <a:lnTo>
                    <a:pt x="14287" y="332993"/>
                  </a:lnTo>
                  <a:lnTo>
                    <a:pt x="3833" y="270986"/>
                  </a:lnTo>
                  <a:lnTo>
                    <a:pt x="0" y="195071"/>
                  </a:lnTo>
                  <a:lnTo>
                    <a:pt x="3833" y="119157"/>
                  </a:lnTo>
                  <a:lnTo>
                    <a:pt x="14287" y="57150"/>
                  </a:lnTo>
                  <a:lnTo>
                    <a:pt x="29789" y="15335"/>
                  </a:lnTo>
                  <a:lnTo>
                    <a:pt x="48768" y="0"/>
                  </a:lnTo>
                  <a:lnTo>
                    <a:pt x="1716024" y="0"/>
                  </a:lnTo>
                </a:path>
              </a:pathLst>
            </a:custGeom>
            <a:ln w="25908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1" name="object 14">
            <a:extLst>
              <a:ext uri="{FF2B5EF4-FFF2-40B4-BE49-F238E27FC236}">
                <a16:creationId xmlns:a16="http://schemas.microsoft.com/office/drawing/2014/main" id="{ECD1AD0C-BA28-41B4-F2BF-61613D92CEC2}"/>
              </a:ext>
            </a:extLst>
          </p:cNvPr>
          <p:cNvSpPr txBox="1">
            <a:spLocks/>
          </p:cNvSpPr>
          <p:nvPr/>
        </p:nvSpPr>
        <p:spPr>
          <a:xfrm>
            <a:off x="6142050" y="841963"/>
            <a:ext cx="1742440" cy="453970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933">
              <a:lnSpc>
                <a:spcPct val="100000"/>
              </a:lnSpc>
              <a:spcBef>
                <a:spcPts val="180"/>
              </a:spcBef>
            </a:pPr>
            <a:r>
              <a:rPr lang="en-IN" sz="2800" spc="20" dirty="0">
                <a:latin typeface="Arial MT"/>
                <a:cs typeface="Arial MT"/>
              </a:rPr>
              <a:t>send(</a:t>
            </a:r>
            <a:r>
              <a:rPr lang="en-IN" sz="2800" spc="20" dirty="0" err="1">
                <a:latin typeface="Arial MT"/>
                <a:cs typeface="Arial MT"/>
              </a:rPr>
              <a:t>msg</a:t>
            </a:r>
            <a:r>
              <a:rPr lang="en-IN" sz="2800" spc="20" dirty="0">
                <a:latin typeface="Arial MT"/>
                <a:cs typeface="Arial MT"/>
              </a:rPr>
              <a:t>)</a:t>
            </a:r>
            <a:endParaRPr lang="en-IN" sz="2800" dirty="0">
              <a:latin typeface="Arial MT"/>
              <a:cs typeface="Arial MT"/>
            </a:endParaRPr>
          </a:p>
        </p:txBody>
      </p:sp>
      <p:sp>
        <p:nvSpPr>
          <p:cNvPr id="42" name="object 15">
            <a:extLst>
              <a:ext uri="{FF2B5EF4-FFF2-40B4-BE49-F238E27FC236}">
                <a16:creationId xmlns:a16="http://schemas.microsoft.com/office/drawing/2014/main" id="{CF2ED2F2-AFCC-55B9-1DC4-A31330D580C1}"/>
              </a:ext>
            </a:extLst>
          </p:cNvPr>
          <p:cNvSpPr txBox="1"/>
          <p:nvPr/>
        </p:nvSpPr>
        <p:spPr>
          <a:xfrm>
            <a:off x="11158210" y="847817"/>
            <a:ext cx="956733" cy="4539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2800" spc="20" dirty="0">
                <a:latin typeface="Arial MT"/>
                <a:cs typeface="Arial MT"/>
              </a:rPr>
              <a:t>rec</a:t>
            </a:r>
            <a:r>
              <a:rPr sz="2800" spc="7" dirty="0">
                <a:latin typeface="Arial MT"/>
                <a:cs typeface="Arial MT"/>
              </a:rPr>
              <a:t>v()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3" name="object 16">
            <a:extLst>
              <a:ext uri="{FF2B5EF4-FFF2-40B4-BE49-F238E27FC236}">
                <a16:creationId xmlns:a16="http://schemas.microsoft.com/office/drawing/2014/main" id="{062562FA-31C2-B277-B0A5-C0DDA20683ED}"/>
              </a:ext>
            </a:extLst>
          </p:cNvPr>
          <p:cNvSpPr txBox="1"/>
          <p:nvPr/>
        </p:nvSpPr>
        <p:spPr>
          <a:xfrm>
            <a:off x="8830894" y="1235996"/>
            <a:ext cx="918633" cy="30527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867" spc="-13" dirty="0">
                <a:latin typeface="Arial MT"/>
                <a:cs typeface="Arial MT"/>
              </a:rPr>
              <a:t>C</a:t>
            </a:r>
            <a:r>
              <a:rPr sz="1867" dirty="0">
                <a:latin typeface="Arial MT"/>
                <a:cs typeface="Arial MT"/>
              </a:rPr>
              <a:t>hannel</a:t>
            </a:r>
          </a:p>
        </p:txBody>
      </p:sp>
    </p:spTree>
    <p:extLst>
      <p:ext uri="{BB962C8B-B14F-4D97-AF65-F5344CB8AC3E}">
        <p14:creationId xmlns:p14="http://schemas.microsoft.com/office/powerpoint/2010/main" val="2439635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Covert to Side Channel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6E997DEE-9096-542E-7217-BD5894FE4ADB}"/>
              </a:ext>
            </a:extLst>
          </p:cNvPr>
          <p:cNvSpPr/>
          <p:nvPr/>
        </p:nvSpPr>
        <p:spPr>
          <a:xfrm>
            <a:off x="4859387" y="1636627"/>
            <a:ext cx="2396067" cy="2152227"/>
          </a:xfrm>
          <a:custGeom>
            <a:avLst/>
            <a:gdLst/>
            <a:ahLst/>
            <a:cxnLst/>
            <a:rect l="l" t="t" r="r" b="b"/>
            <a:pathLst>
              <a:path w="1797050" h="1614170">
                <a:moveTo>
                  <a:pt x="0" y="1613915"/>
                </a:moveTo>
                <a:lnTo>
                  <a:pt x="1796796" y="1613915"/>
                </a:lnTo>
                <a:lnTo>
                  <a:pt x="1796796" y="0"/>
                </a:lnTo>
                <a:lnTo>
                  <a:pt x="0" y="0"/>
                </a:lnTo>
                <a:lnTo>
                  <a:pt x="0" y="1613915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B4D43229-0739-5684-D4C8-54CDEFEEF1D5}"/>
              </a:ext>
            </a:extLst>
          </p:cNvPr>
          <p:cNvSpPr txBox="1"/>
          <p:nvPr/>
        </p:nvSpPr>
        <p:spPr>
          <a:xfrm>
            <a:off x="5158770" y="2197459"/>
            <a:ext cx="179408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05831" marR="6773" indent="-89744">
              <a:spcBef>
                <a:spcPts val="133"/>
              </a:spcBef>
            </a:pPr>
            <a:r>
              <a:rPr sz="3200" spc="-7" dirty="0">
                <a:latin typeface="Arial MT"/>
                <a:cs typeface="Arial MT"/>
              </a:rPr>
              <a:t>H</a:t>
            </a:r>
            <a:r>
              <a:rPr sz="3200" spc="-20" dirty="0">
                <a:latin typeface="Arial MT"/>
                <a:cs typeface="Arial MT"/>
              </a:rPr>
              <a:t>a</a:t>
            </a:r>
            <a:r>
              <a:rPr sz="3200" spc="-7" dirty="0">
                <a:latin typeface="Arial MT"/>
                <a:cs typeface="Arial MT"/>
              </a:rPr>
              <a:t>rdware  resource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D9D2CE83-B847-9309-8B1E-D8606EACA2EA}"/>
              </a:ext>
            </a:extLst>
          </p:cNvPr>
          <p:cNvSpPr/>
          <p:nvPr/>
        </p:nvSpPr>
        <p:spPr>
          <a:xfrm>
            <a:off x="630796" y="1636627"/>
            <a:ext cx="2397760" cy="2152227"/>
          </a:xfrm>
          <a:custGeom>
            <a:avLst/>
            <a:gdLst/>
            <a:ahLst/>
            <a:cxnLst/>
            <a:rect l="l" t="t" r="r" b="b"/>
            <a:pathLst>
              <a:path w="1798320" h="1614170">
                <a:moveTo>
                  <a:pt x="1798320" y="0"/>
                </a:moveTo>
                <a:lnTo>
                  <a:pt x="0" y="0"/>
                </a:lnTo>
                <a:lnTo>
                  <a:pt x="0" y="1613915"/>
                </a:lnTo>
                <a:lnTo>
                  <a:pt x="1798320" y="1613915"/>
                </a:lnTo>
                <a:lnTo>
                  <a:pt x="179832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171E142-3F20-01C2-B30A-898BD960CDB7}"/>
              </a:ext>
            </a:extLst>
          </p:cNvPr>
          <p:cNvSpPr txBox="1"/>
          <p:nvPr/>
        </p:nvSpPr>
        <p:spPr>
          <a:xfrm>
            <a:off x="630796" y="1636628"/>
            <a:ext cx="2397760" cy="1341393"/>
          </a:xfrm>
          <a:prstGeom prst="rect">
            <a:avLst/>
          </a:prstGeom>
          <a:ln w="25908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 marL="586725">
              <a:spcBef>
                <a:spcPts val="2327"/>
              </a:spcBef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Victim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460B2A26-EC5E-F8D5-3863-53D052EE21B2}"/>
              </a:ext>
            </a:extLst>
          </p:cNvPr>
          <p:cNvSpPr/>
          <p:nvPr/>
        </p:nvSpPr>
        <p:spPr>
          <a:xfrm>
            <a:off x="8996539" y="1644756"/>
            <a:ext cx="2397760" cy="2153920"/>
          </a:xfrm>
          <a:custGeom>
            <a:avLst/>
            <a:gdLst/>
            <a:ahLst/>
            <a:cxnLst/>
            <a:rect l="l" t="t" r="r" b="b"/>
            <a:pathLst>
              <a:path w="1798320" h="1615439">
                <a:moveTo>
                  <a:pt x="1798320" y="0"/>
                </a:moveTo>
                <a:lnTo>
                  <a:pt x="0" y="0"/>
                </a:lnTo>
                <a:lnTo>
                  <a:pt x="0" y="1615440"/>
                </a:lnTo>
                <a:lnTo>
                  <a:pt x="1798320" y="1615440"/>
                </a:lnTo>
                <a:lnTo>
                  <a:pt x="179832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8">
            <a:extLst>
              <a:ext uri="{FF2B5EF4-FFF2-40B4-BE49-F238E27FC236}">
                <a16:creationId xmlns:a16="http://schemas.microsoft.com/office/drawing/2014/main" id="{416F3E6E-CF7E-D549-B953-E108C2442A73}"/>
              </a:ext>
            </a:extLst>
          </p:cNvPr>
          <p:cNvSpPr txBox="1"/>
          <p:nvPr/>
        </p:nvSpPr>
        <p:spPr>
          <a:xfrm>
            <a:off x="8996539" y="1644757"/>
            <a:ext cx="2397760" cy="1341393"/>
          </a:xfrm>
          <a:prstGeom prst="rect">
            <a:avLst/>
          </a:prstGeom>
          <a:ln w="25907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 marL="384377">
              <a:spcBef>
                <a:spcPts val="2340"/>
              </a:spcBef>
            </a:pPr>
            <a:r>
              <a:rPr sz="3200" b="1" spc="-7" dirty="0">
                <a:solidFill>
                  <a:srgbClr val="FFFFFF"/>
                </a:solidFill>
                <a:latin typeface="Arial"/>
                <a:cs typeface="Arial"/>
              </a:rPr>
              <a:t>Attacker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7C1B7948-552C-8E35-5414-B8B1145DB487}"/>
              </a:ext>
            </a:extLst>
          </p:cNvPr>
          <p:cNvSpPr/>
          <p:nvPr/>
        </p:nvSpPr>
        <p:spPr>
          <a:xfrm>
            <a:off x="2717491" y="2937107"/>
            <a:ext cx="6537960" cy="1132840"/>
          </a:xfrm>
          <a:custGeom>
            <a:avLst/>
            <a:gdLst/>
            <a:ahLst/>
            <a:cxnLst/>
            <a:rect l="l" t="t" r="r" b="b"/>
            <a:pathLst>
              <a:path w="4903470" h="849629">
                <a:moveTo>
                  <a:pt x="1838960" y="410083"/>
                </a:moveTo>
                <a:lnTo>
                  <a:pt x="1697101" y="326009"/>
                </a:lnTo>
                <a:lnTo>
                  <a:pt x="1689900" y="323532"/>
                </a:lnTo>
                <a:lnTo>
                  <a:pt x="1682584" y="323938"/>
                </a:lnTo>
                <a:lnTo>
                  <a:pt x="1675980" y="327037"/>
                </a:lnTo>
                <a:lnTo>
                  <a:pt x="1670939" y="332613"/>
                </a:lnTo>
                <a:lnTo>
                  <a:pt x="1668462" y="339813"/>
                </a:lnTo>
                <a:lnTo>
                  <a:pt x="1668919" y="347129"/>
                </a:lnTo>
                <a:lnTo>
                  <a:pt x="1672056" y="353733"/>
                </a:lnTo>
                <a:lnTo>
                  <a:pt x="1677670" y="358775"/>
                </a:lnTo>
                <a:lnTo>
                  <a:pt x="1730273" y="389953"/>
                </a:lnTo>
                <a:lnTo>
                  <a:pt x="1668145" y="388747"/>
                </a:lnTo>
                <a:lnTo>
                  <a:pt x="1543050" y="384048"/>
                </a:lnTo>
                <a:lnTo>
                  <a:pt x="1462532" y="379730"/>
                </a:lnTo>
                <a:lnTo>
                  <a:pt x="1385189" y="374523"/>
                </a:lnTo>
                <a:lnTo>
                  <a:pt x="1311402" y="368554"/>
                </a:lnTo>
                <a:lnTo>
                  <a:pt x="1241933" y="361823"/>
                </a:lnTo>
                <a:lnTo>
                  <a:pt x="1177798" y="354457"/>
                </a:lnTo>
                <a:lnTo>
                  <a:pt x="1119378" y="346456"/>
                </a:lnTo>
                <a:lnTo>
                  <a:pt x="1067562" y="337947"/>
                </a:lnTo>
                <a:lnTo>
                  <a:pt x="1022858" y="329184"/>
                </a:lnTo>
                <a:lnTo>
                  <a:pt x="971423" y="315722"/>
                </a:lnTo>
                <a:lnTo>
                  <a:pt x="938695" y="301028"/>
                </a:lnTo>
                <a:lnTo>
                  <a:pt x="938695" y="302387"/>
                </a:lnTo>
                <a:lnTo>
                  <a:pt x="938606" y="302056"/>
                </a:lnTo>
                <a:lnTo>
                  <a:pt x="938085" y="300672"/>
                </a:lnTo>
                <a:lnTo>
                  <a:pt x="937920" y="300228"/>
                </a:lnTo>
                <a:lnTo>
                  <a:pt x="937831" y="300101"/>
                </a:lnTo>
                <a:lnTo>
                  <a:pt x="937945" y="300469"/>
                </a:lnTo>
                <a:lnTo>
                  <a:pt x="937818" y="300075"/>
                </a:lnTo>
                <a:lnTo>
                  <a:pt x="937768" y="299847"/>
                </a:lnTo>
                <a:lnTo>
                  <a:pt x="937856" y="300075"/>
                </a:lnTo>
                <a:lnTo>
                  <a:pt x="937920" y="300228"/>
                </a:lnTo>
                <a:lnTo>
                  <a:pt x="938136" y="300723"/>
                </a:lnTo>
                <a:lnTo>
                  <a:pt x="938453" y="301167"/>
                </a:lnTo>
                <a:lnTo>
                  <a:pt x="938085" y="300672"/>
                </a:lnTo>
                <a:lnTo>
                  <a:pt x="938631" y="302031"/>
                </a:lnTo>
                <a:lnTo>
                  <a:pt x="938504" y="301231"/>
                </a:lnTo>
                <a:lnTo>
                  <a:pt x="938593" y="301752"/>
                </a:lnTo>
                <a:lnTo>
                  <a:pt x="938669" y="302120"/>
                </a:lnTo>
                <a:lnTo>
                  <a:pt x="938695" y="302387"/>
                </a:lnTo>
                <a:lnTo>
                  <a:pt x="938695" y="301028"/>
                </a:lnTo>
                <a:lnTo>
                  <a:pt x="938428" y="300723"/>
                </a:lnTo>
                <a:lnTo>
                  <a:pt x="938301" y="299847"/>
                </a:lnTo>
                <a:lnTo>
                  <a:pt x="938123" y="298704"/>
                </a:lnTo>
                <a:lnTo>
                  <a:pt x="937856" y="297434"/>
                </a:lnTo>
                <a:lnTo>
                  <a:pt x="937729" y="296964"/>
                </a:lnTo>
                <a:lnTo>
                  <a:pt x="937729" y="300228"/>
                </a:lnTo>
                <a:lnTo>
                  <a:pt x="936625" y="298704"/>
                </a:lnTo>
                <a:lnTo>
                  <a:pt x="937691" y="300139"/>
                </a:lnTo>
                <a:lnTo>
                  <a:pt x="937412" y="299593"/>
                </a:lnTo>
                <a:lnTo>
                  <a:pt x="937641" y="300037"/>
                </a:lnTo>
                <a:lnTo>
                  <a:pt x="937729" y="300228"/>
                </a:lnTo>
                <a:lnTo>
                  <a:pt x="937729" y="296964"/>
                </a:lnTo>
                <a:lnTo>
                  <a:pt x="937514" y="296164"/>
                </a:lnTo>
                <a:lnTo>
                  <a:pt x="937006" y="294894"/>
                </a:lnTo>
                <a:lnTo>
                  <a:pt x="936117" y="292481"/>
                </a:lnTo>
                <a:lnTo>
                  <a:pt x="935609" y="291211"/>
                </a:lnTo>
                <a:lnTo>
                  <a:pt x="934974" y="289941"/>
                </a:lnTo>
                <a:lnTo>
                  <a:pt x="934339" y="288798"/>
                </a:lnTo>
                <a:lnTo>
                  <a:pt x="932688" y="286385"/>
                </a:lnTo>
                <a:lnTo>
                  <a:pt x="932053" y="285369"/>
                </a:lnTo>
                <a:lnTo>
                  <a:pt x="931291" y="284480"/>
                </a:lnTo>
                <a:lnTo>
                  <a:pt x="930402" y="283591"/>
                </a:lnTo>
                <a:lnTo>
                  <a:pt x="926846" y="279908"/>
                </a:lnTo>
                <a:lnTo>
                  <a:pt x="901852" y="264756"/>
                </a:lnTo>
                <a:lnTo>
                  <a:pt x="901852" y="308787"/>
                </a:lnTo>
                <a:lnTo>
                  <a:pt x="901585" y="308229"/>
                </a:lnTo>
                <a:lnTo>
                  <a:pt x="901446" y="307936"/>
                </a:lnTo>
                <a:lnTo>
                  <a:pt x="901446" y="308610"/>
                </a:lnTo>
                <a:lnTo>
                  <a:pt x="901319" y="308241"/>
                </a:lnTo>
                <a:lnTo>
                  <a:pt x="901230" y="308038"/>
                </a:lnTo>
                <a:lnTo>
                  <a:pt x="901319" y="308241"/>
                </a:lnTo>
                <a:lnTo>
                  <a:pt x="901446" y="308610"/>
                </a:lnTo>
                <a:lnTo>
                  <a:pt x="901446" y="307936"/>
                </a:lnTo>
                <a:lnTo>
                  <a:pt x="901217" y="307467"/>
                </a:lnTo>
                <a:lnTo>
                  <a:pt x="901217" y="307987"/>
                </a:lnTo>
                <a:lnTo>
                  <a:pt x="901128" y="307771"/>
                </a:lnTo>
                <a:lnTo>
                  <a:pt x="901217" y="307987"/>
                </a:lnTo>
                <a:lnTo>
                  <a:pt x="901217" y="307467"/>
                </a:lnTo>
                <a:lnTo>
                  <a:pt x="901052" y="307111"/>
                </a:lnTo>
                <a:lnTo>
                  <a:pt x="900823" y="306222"/>
                </a:lnTo>
                <a:lnTo>
                  <a:pt x="900823" y="307238"/>
                </a:lnTo>
                <a:lnTo>
                  <a:pt x="900823" y="306222"/>
                </a:lnTo>
                <a:lnTo>
                  <a:pt x="900430" y="304673"/>
                </a:lnTo>
                <a:lnTo>
                  <a:pt x="901014" y="306959"/>
                </a:lnTo>
                <a:lnTo>
                  <a:pt x="901052" y="307111"/>
                </a:lnTo>
                <a:lnTo>
                  <a:pt x="901585" y="308229"/>
                </a:lnTo>
                <a:lnTo>
                  <a:pt x="901852" y="308787"/>
                </a:lnTo>
                <a:lnTo>
                  <a:pt x="901852" y="264756"/>
                </a:lnTo>
                <a:lnTo>
                  <a:pt x="900811" y="264287"/>
                </a:lnTo>
                <a:lnTo>
                  <a:pt x="863346" y="251460"/>
                </a:lnTo>
                <a:lnTo>
                  <a:pt x="824611" y="241935"/>
                </a:lnTo>
                <a:lnTo>
                  <a:pt x="778510" y="232918"/>
                </a:lnTo>
                <a:lnTo>
                  <a:pt x="725551" y="224155"/>
                </a:lnTo>
                <a:lnTo>
                  <a:pt x="666242" y="216154"/>
                </a:lnTo>
                <a:lnTo>
                  <a:pt x="601345" y="208661"/>
                </a:lnTo>
                <a:lnTo>
                  <a:pt x="494665" y="198755"/>
                </a:lnTo>
                <a:lnTo>
                  <a:pt x="418338" y="193040"/>
                </a:lnTo>
                <a:lnTo>
                  <a:pt x="338709" y="188214"/>
                </a:lnTo>
                <a:lnTo>
                  <a:pt x="256286" y="184277"/>
                </a:lnTo>
                <a:lnTo>
                  <a:pt x="172085" y="181483"/>
                </a:lnTo>
                <a:lnTo>
                  <a:pt x="86360" y="179705"/>
                </a:lnTo>
                <a:lnTo>
                  <a:pt x="254" y="179070"/>
                </a:lnTo>
                <a:lnTo>
                  <a:pt x="0" y="217170"/>
                </a:lnTo>
                <a:lnTo>
                  <a:pt x="86106" y="217678"/>
                </a:lnTo>
                <a:lnTo>
                  <a:pt x="171323" y="219583"/>
                </a:lnTo>
                <a:lnTo>
                  <a:pt x="296164" y="224155"/>
                </a:lnTo>
                <a:lnTo>
                  <a:pt x="415925" y="231013"/>
                </a:lnTo>
                <a:lnTo>
                  <a:pt x="528066" y="239776"/>
                </a:lnTo>
                <a:lnTo>
                  <a:pt x="630174" y="250190"/>
                </a:lnTo>
                <a:lnTo>
                  <a:pt x="691642" y="257937"/>
                </a:lnTo>
                <a:lnTo>
                  <a:pt x="747014" y="266192"/>
                </a:lnTo>
                <a:lnTo>
                  <a:pt x="795401" y="274828"/>
                </a:lnTo>
                <a:lnTo>
                  <a:pt x="836295" y="283845"/>
                </a:lnTo>
                <a:lnTo>
                  <a:pt x="881380" y="297434"/>
                </a:lnTo>
                <a:lnTo>
                  <a:pt x="901192" y="309626"/>
                </a:lnTo>
                <a:lnTo>
                  <a:pt x="901446" y="310896"/>
                </a:lnTo>
                <a:lnTo>
                  <a:pt x="901827" y="312293"/>
                </a:lnTo>
                <a:lnTo>
                  <a:pt x="902208" y="313563"/>
                </a:lnTo>
                <a:lnTo>
                  <a:pt x="903224" y="315976"/>
                </a:lnTo>
                <a:lnTo>
                  <a:pt x="903732" y="317246"/>
                </a:lnTo>
                <a:lnTo>
                  <a:pt x="908685" y="324612"/>
                </a:lnTo>
                <a:lnTo>
                  <a:pt x="910971" y="327037"/>
                </a:lnTo>
                <a:lnTo>
                  <a:pt x="944245" y="346456"/>
                </a:lnTo>
                <a:lnTo>
                  <a:pt x="993775" y="361569"/>
                </a:lnTo>
                <a:lnTo>
                  <a:pt x="1036574" y="370840"/>
                </a:lnTo>
                <a:lnTo>
                  <a:pt x="1086104" y="379730"/>
                </a:lnTo>
                <a:lnTo>
                  <a:pt x="1172845" y="392176"/>
                </a:lnTo>
                <a:lnTo>
                  <a:pt x="1272286" y="403225"/>
                </a:lnTo>
                <a:lnTo>
                  <a:pt x="1382141" y="412623"/>
                </a:lnTo>
                <a:lnTo>
                  <a:pt x="1420749" y="415290"/>
                </a:lnTo>
                <a:lnTo>
                  <a:pt x="1541145" y="422148"/>
                </a:lnTo>
                <a:lnTo>
                  <a:pt x="1666875" y="426847"/>
                </a:lnTo>
                <a:lnTo>
                  <a:pt x="1731213" y="428091"/>
                </a:lnTo>
                <a:lnTo>
                  <a:pt x="1677035" y="459232"/>
                </a:lnTo>
                <a:lnTo>
                  <a:pt x="1671332" y="464210"/>
                </a:lnTo>
                <a:lnTo>
                  <a:pt x="1668094" y="470763"/>
                </a:lnTo>
                <a:lnTo>
                  <a:pt x="1667548" y="478028"/>
                </a:lnTo>
                <a:lnTo>
                  <a:pt x="1669923" y="485140"/>
                </a:lnTo>
                <a:lnTo>
                  <a:pt x="1674901" y="490842"/>
                </a:lnTo>
                <a:lnTo>
                  <a:pt x="1681454" y="494080"/>
                </a:lnTo>
                <a:lnTo>
                  <a:pt x="1688757" y="494626"/>
                </a:lnTo>
                <a:lnTo>
                  <a:pt x="1695958" y="492252"/>
                </a:lnTo>
                <a:lnTo>
                  <a:pt x="1806244" y="428879"/>
                </a:lnTo>
                <a:lnTo>
                  <a:pt x="1838960" y="410083"/>
                </a:lnTo>
                <a:close/>
              </a:path>
              <a:path w="4903470" h="849629">
                <a:moveTo>
                  <a:pt x="4902962" y="527050"/>
                </a:moveTo>
                <a:lnTo>
                  <a:pt x="4738116" y="535940"/>
                </a:lnTo>
                <a:lnTo>
                  <a:pt x="4720082" y="556260"/>
                </a:lnTo>
                <a:lnTo>
                  <a:pt x="4721999" y="562610"/>
                </a:lnTo>
                <a:lnTo>
                  <a:pt x="4726394" y="568960"/>
                </a:lnTo>
                <a:lnTo>
                  <a:pt x="4732655" y="572770"/>
                </a:lnTo>
                <a:lnTo>
                  <a:pt x="4740148" y="574040"/>
                </a:lnTo>
                <a:lnTo>
                  <a:pt x="4800752" y="570547"/>
                </a:lnTo>
                <a:lnTo>
                  <a:pt x="4749927" y="603250"/>
                </a:lnTo>
                <a:lnTo>
                  <a:pt x="4702175" y="632460"/>
                </a:lnTo>
                <a:lnTo>
                  <a:pt x="4654296" y="660400"/>
                </a:lnTo>
                <a:lnTo>
                  <a:pt x="4606163" y="687070"/>
                </a:lnTo>
                <a:lnTo>
                  <a:pt x="4557395" y="712470"/>
                </a:lnTo>
                <a:lnTo>
                  <a:pt x="4508500" y="735330"/>
                </a:lnTo>
                <a:lnTo>
                  <a:pt x="4458970" y="755650"/>
                </a:lnTo>
                <a:lnTo>
                  <a:pt x="4409059" y="773430"/>
                </a:lnTo>
                <a:lnTo>
                  <a:pt x="4332732" y="793750"/>
                </a:lnTo>
                <a:lnTo>
                  <a:pt x="4281043" y="803910"/>
                </a:lnTo>
                <a:lnTo>
                  <a:pt x="4228465" y="810260"/>
                </a:lnTo>
                <a:lnTo>
                  <a:pt x="4201795" y="811530"/>
                </a:lnTo>
                <a:lnTo>
                  <a:pt x="4147693" y="811530"/>
                </a:lnTo>
                <a:lnTo>
                  <a:pt x="4092575" y="807720"/>
                </a:lnTo>
                <a:lnTo>
                  <a:pt x="4032631" y="797560"/>
                </a:lnTo>
                <a:lnTo>
                  <a:pt x="3999738" y="789940"/>
                </a:lnTo>
                <a:lnTo>
                  <a:pt x="3965067" y="782320"/>
                </a:lnTo>
                <a:lnTo>
                  <a:pt x="3891661" y="760730"/>
                </a:lnTo>
                <a:lnTo>
                  <a:pt x="3853180" y="748030"/>
                </a:lnTo>
                <a:lnTo>
                  <a:pt x="3813683" y="734060"/>
                </a:lnTo>
                <a:lnTo>
                  <a:pt x="3773678" y="718820"/>
                </a:lnTo>
                <a:lnTo>
                  <a:pt x="3650869" y="669290"/>
                </a:lnTo>
                <a:lnTo>
                  <a:pt x="3609721" y="650240"/>
                </a:lnTo>
                <a:lnTo>
                  <a:pt x="3568954" y="632460"/>
                </a:lnTo>
                <a:lnTo>
                  <a:pt x="3528314" y="612140"/>
                </a:lnTo>
                <a:lnTo>
                  <a:pt x="3488563" y="593090"/>
                </a:lnTo>
                <a:lnTo>
                  <a:pt x="3449447" y="572770"/>
                </a:lnTo>
                <a:lnTo>
                  <a:pt x="3411347" y="553720"/>
                </a:lnTo>
                <a:lnTo>
                  <a:pt x="3374390" y="533400"/>
                </a:lnTo>
                <a:lnTo>
                  <a:pt x="3338703" y="513080"/>
                </a:lnTo>
                <a:lnTo>
                  <a:pt x="3272282" y="473710"/>
                </a:lnTo>
                <a:lnTo>
                  <a:pt x="3200146" y="425450"/>
                </a:lnTo>
                <a:lnTo>
                  <a:pt x="3187319" y="415290"/>
                </a:lnTo>
                <a:lnTo>
                  <a:pt x="3175254" y="406400"/>
                </a:lnTo>
                <a:lnTo>
                  <a:pt x="3163824" y="397510"/>
                </a:lnTo>
                <a:lnTo>
                  <a:pt x="3153156" y="389890"/>
                </a:lnTo>
                <a:lnTo>
                  <a:pt x="3142996" y="381000"/>
                </a:lnTo>
                <a:lnTo>
                  <a:pt x="3133725" y="372110"/>
                </a:lnTo>
                <a:lnTo>
                  <a:pt x="3125216" y="364490"/>
                </a:lnTo>
                <a:lnTo>
                  <a:pt x="3117469" y="356870"/>
                </a:lnTo>
                <a:lnTo>
                  <a:pt x="3091434" y="323850"/>
                </a:lnTo>
                <a:lnTo>
                  <a:pt x="3085465" y="302260"/>
                </a:lnTo>
                <a:lnTo>
                  <a:pt x="3085846" y="298450"/>
                </a:lnTo>
                <a:lnTo>
                  <a:pt x="3087116" y="293370"/>
                </a:lnTo>
                <a:lnTo>
                  <a:pt x="3088640" y="288290"/>
                </a:lnTo>
                <a:lnTo>
                  <a:pt x="3091053" y="283210"/>
                </a:lnTo>
                <a:lnTo>
                  <a:pt x="3094355" y="278130"/>
                </a:lnTo>
                <a:lnTo>
                  <a:pt x="3097784" y="271780"/>
                </a:lnTo>
                <a:lnTo>
                  <a:pt x="3102356" y="266700"/>
                </a:lnTo>
                <a:lnTo>
                  <a:pt x="3107436" y="260350"/>
                </a:lnTo>
                <a:lnTo>
                  <a:pt x="3113278" y="254000"/>
                </a:lnTo>
                <a:lnTo>
                  <a:pt x="3119628" y="248920"/>
                </a:lnTo>
                <a:lnTo>
                  <a:pt x="3126740" y="242570"/>
                </a:lnTo>
                <a:lnTo>
                  <a:pt x="3134487" y="236220"/>
                </a:lnTo>
                <a:lnTo>
                  <a:pt x="3142488" y="229870"/>
                </a:lnTo>
                <a:lnTo>
                  <a:pt x="3160649" y="217170"/>
                </a:lnTo>
                <a:lnTo>
                  <a:pt x="3180969" y="204470"/>
                </a:lnTo>
                <a:lnTo>
                  <a:pt x="3203448" y="193040"/>
                </a:lnTo>
                <a:lnTo>
                  <a:pt x="3227324" y="180340"/>
                </a:lnTo>
                <a:lnTo>
                  <a:pt x="3280283" y="156210"/>
                </a:lnTo>
                <a:lnTo>
                  <a:pt x="3338322" y="133350"/>
                </a:lnTo>
                <a:lnTo>
                  <a:pt x="3432429" y="102870"/>
                </a:lnTo>
                <a:lnTo>
                  <a:pt x="3498215" y="85090"/>
                </a:lnTo>
                <a:lnTo>
                  <a:pt x="3598291" y="62230"/>
                </a:lnTo>
                <a:lnTo>
                  <a:pt x="3696589" y="46990"/>
                </a:lnTo>
                <a:lnTo>
                  <a:pt x="3759073" y="40640"/>
                </a:lnTo>
                <a:lnTo>
                  <a:pt x="3817747" y="38100"/>
                </a:lnTo>
                <a:lnTo>
                  <a:pt x="3845306" y="38100"/>
                </a:lnTo>
                <a:lnTo>
                  <a:pt x="3927475" y="44450"/>
                </a:lnTo>
                <a:lnTo>
                  <a:pt x="4012438" y="58420"/>
                </a:lnTo>
                <a:lnTo>
                  <a:pt x="4070604" y="71120"/>
                </a:lnTo>
                <a:lnTo>
                  <a:pt x="4129786" y="86360"/>
                </a:lnTo>
                <a:lnTo>
                  <a:pt x="4159631" y="96520"/>
                </a:lnTo>
                <a:lnTo>
                  <a:pt x="4189857" y="105410"/>
                </a:lnTo>
                <a:lnTo>
                  <a:pt x="4250563" y="125730"/>
                </a:lnTo>
                <a:lnTo>
                  <a:pt x="4312285" y="148590"/>
                </a:lnTo>
                <a:lnTo>
                  <a:pt x="4374769" y="173990"/>
                </a:lnTo>
                <a:lnTo>
                  <a:pt x="4437634" y="200660"/>
                </a:lnTo>
                <a:lnTo>
                  <a:pt x="4501121" y="228600"/>
                </a:lnTo>
                <a:lnTo>
                  <a:pt x="4565142" y="257810"/>
                </a:lnTo>
                <a:lnTo>
                  <a:pt x="4693793" y="318770"/>
                </a:lnTo>
                <a:lnTo>
                  <a:pt x="4823460" y="382270"/>
                </a:lnTo>
                <a:lnTo>
                  <a:pt x="4840097" y="347980"/>
                </a:lnTo>
                <a:lnTo>
                  <a:pt x="4645787" y="252730"/>
                </a:lnTo>
                <a:lnTo>
                  <a:pt x="4453001" y="165100"/>
                </a:lnTo>
                <a:lnTo>
                  <a:pt x="4389501" y="138430"/>
                </a:lnTo>
                <a:lnTo>
                  <a:pt x="4326382" y="113030"/>
                </a:lnTo>
                <a:lnTo>
                  <a:pt x="4263898" y="90170"/>
                </a:lnTo>
                <a:lnTo>
                  <a:pt x="4232783" y="80010"/>
                </a:lnTo>
                <a:lnTo>
                  <a:pt x="4201922" y="68580"/>
                </a:lnTo>
                <a:lnTo>
                  <a:pt x="4110228" y="41910"/>
                </a:lnTo>
                <a:lnTo>
                  <a:pt x="4095178" y="38100"/>
                </a:lnTo>
                <a:lnTo>
                  <a:pt x="4050157" y="26670"/>
                </a:lnTo>
                <a:lnTo>
                  <a:pt x="3961511" y="10160"/>
                </a:lnTo>
                <a:lnTo>
                  <a:pt x="3875151" y="1270"/>
                </a:lnTo>
                <a:lnTo>
                  <a:pt x="3846830" y="0"/>
                </a:lnTo>
                <a:lnTo>
                  <a:pt x="3818001" y="0"/>
                </a:lnTo>
                <a:lnTo>
                  <a:pt x="3756787" y="2540"/>
                </a:lnTo>
                <a:lnTo>
                  <a:pt x="3692398" y="8890"/>
                </a:lnTo>
                <a:lnTo>
                  <a:pt x="3625469" y="19050"/>
                </a:lnTo>
                <a:lnTo>
                  <a:pt x="3557397" y="31750"/>
                </a:lnTo>
                <a:lnTo>
                  <a:pt x="3422015" y="66040"/>
                </a:lnTo>
                <a:lnTo>
                  <a:pt x="3356991" y="86360"/>
                </a:lnTo>
                <a:lnTo>
                  <a:pt x="3295269" y="109220"/>
                </a:lnTo>
                <a:lnTo>
                  <a:pt x="3237865" y="133350"/>
                </a:lnTo>
                <a:lnTo>
                  <a:pt x="3186049" y="158750"/>
                </a:lnTo>
                <a:lnTo>
                  <a:pt x="3120898" y="198120"/>
                </a:lnTo>
                <a:lnTo>
                  <a:pt x="3111500" y="205740"/>
                </a:lnTo>
                <a:lnTo>
                  <a:pt x="3102864" y="212090"/>
                </a:lnTo>
                <a:lnTo>
                  <a:pt x="3094736" y="219710"/>
                </a:lnTo>
                <a:lnTo>
                  <a:pt x="3086989" y="227330"/>
                </a:lnTo>
                <a:lnTo>
                  <a:pt x="3080131" y="233680"/>
                </a:lnTo>
                <a:lnTo>
                  <a:pt x="3054223" y="271780"/>
                </a:lnTo>
                <a:lnTo>
                  <a:pt x="3047492" y="306070"/>
                </a:lnTo>
                <a:lnTo>
                  <a:pt x="3048254" y="314960"/>
                </a:lnTo>
                <a:lnTo>
                  <a:pt x="3067812" y="356870"/>
                </a:lnTo>
                <a:lnTo>
                  <a:pt x="3074289" y="365760"/>
                </a:lnTo>
                <a:lnTo>
                  <a:pt x="3081655" y="374650"/>
                </a:lnTo>
                <a:lnTo>
                  <a:pt x="3089529" y="382270"/>
                </a:lnTo>
                <a:lnTo>
                  <a:pt x="3098292" y="391160"/>
                </a:lnTo>
                <a:lnTo>
                  <a:pt x="3107690" y="400050"/>
                </a:lnTo>
                <a:lnTo>
                  <a:pt x="3117850" y="408940"/>
                </a:lnTo>
                <a:lnTo>
                  <a:pt x="3128391" y="417830"/>
                </a:lnTo>
                <a:lnTo>
                  <a:pt x="3139821" y="427990"/>
                </a:lnTo>
                <a:lnTo>
                  <a:pt x="3191510" y="466090"/>
                </a:lnTo>
                <a:lnTo>
                  <a:pt x="3251708" y="505460"/>
                </a:lnTo>
                <a:lnTo>
                  <a:pt x="3284855" y="525780"/>
                </a:lnTo>
                <a:lnTo>
                  <a:pt x="3319526" y="546100"/>
                </a:lnTo>
                <a:lnTo>
                  <a:pt x="3355594" y="566420"/>
                </a:lnTo>
                <a:lnTo>
                  <a:pt x="3393186" y="586740"/>
                </a:lnTo>
                <a:lnTo>
                  <a:pt x="3431667" y="607060"/>
                </a:lnTo>
                <a:lnTo>
                  <a:pt x="3471291" y="627380"/>
                </a:lnTo>
                <a:lnTo>
                  <a:pt x="3511677" y="646430"/>
                </a:lnTo>
                <a:lnTo>
                  <a:pt x="3552571" y="666750"/>
                </a:lnTo>
                <a:lnTo>
                  <a:pt x="3593846" y="684530"/>
                </a:lnTo>
                <a:lnTo>
                  <a:pt x="3635502" y="703580"/>
                </a:lnTo>
                <a:lnTo>
                  <a:pt x="3677158" y="721360"/>
                </a:lnTo>
                <a:lnTo>
                  <a:pt x="3759708" y="754380"/>
                </a:lnTo>
                <a:lnTo>
                  <a:pt x="3800475" y="769620"/>
                </a:lnTo>
                <a:lnTo>
                  <a:pt x="3840480" y="783590"/>
                </a:lnTo>
                <a:lnTo>
                  <a:pt x="3879723" y="796290"/>
                </a:lnTo>
                <a:lnTo>
                  <a:pt x="3917823" y="807720"/>
                </a:lnTo>
                <a:lnTo>
                  <a:pt x="3954780" y="817880"/>
                </a:lnTo>
                <a:lnTo>
                  <a:pt x="3990340" y="828040"/>
                </a:lnTo>
                <a:lnTo>
                  <a:pt x="4056888" y="840740"/>
                </a:lnTo>
                <a:lnTo>
                  <a:pt x="4116324" y="848360"/>
                </a:lnTo>
                <a:lnTo>
                  <a:pt x="4145661" y="849630"/>
                </a:lnTo>
                <a:lnTo>
                  <a:pt x="4202684" y="849630"/>
                </a:lnTo>
                <a:lnTo>
                  <a:pt x="4230751" y="848360"/>
                </a:lnTo>
                <a:lnTo>
                  <a:pt x="4258691" y="844550"/>
                </a:lnTo>
                <a:lnTo>
                  <a:pt x="4286123" y="842010"/>
                </a:lnTo>
                <a:lnTo>
                  <a:pt x="4393946" y="817880"/>
                </a:lnTo>
                <a:lnTo>
                  <a:pt x="4472305" y="791210"/>
                </a:lnTo>
                <a:lnTo>
                  <a:pt x="4573905" y="746760"/>
                </a:lnTo>
                <a:lnTo>
                  <a:pt x="4623435" y="721360"/>
                </a:lnTo>
                <a:lnTo>
                  <a:pt x="4672711" y="694690"/>
                </a:lnTo>
                <a:lnTo>
                  <a:pt x="4769866" y="636270"/>
                </a:lnTo>
                <a:lnTo>
                  <a:pt x="4817872" y="605790"/>
                </a:lnTo>
                <a:lnTo>
                  <a:pt x="4822876" y="602500"/>
                </a:lnTo>
                <a:lnTo>
                  <a:pt x="4795266" y="657860"/>
                </a:lnTo>
                <a:lnTo>
                  <a:pt x="4793285" y="665480"/>
                </a:lnTo>
                <a:lnTo>
                  <a:pt x="4794224" y="671830"/>
                </a:lnTo>
                <a:lnTo>
                  <a:pt x="4797818" y="678180"/>
                </a:lnTo>
                <a:lnTo>
                  <a:pt x="4803775" y="683260"/>
                </a:lnTo>
                <a:lnTo>
                  <a:pt x="4811065" y="684530"/>
                </a:lnTo>
                <a:lnTo>
                  <a:pt x="4818291" y="684530"/>
                </a:lnTo>
                <a:lnTo>
                  <a:pt x="4824641" y="680720"/>
                </a:lnTo>
                <a:lnTo>
                  <a:pt x="4829302" y="674370"/>
                </a:lnTo>
                <a:lnTo>
                  <a:pt x="4900409" y="532130"/>
                </a:lnTo>
                <a:lnTo>
                  <a:pt x="4902962" y="527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10">
            <a:extLst>
              <a:ext uri="{FF2B5EF4-FFF2-40B4-BE49-F238E27FC236}">
                <a16:creationId xmlns:a16="http://schemas.microsoft.com/office/drawing/2014/main" id="{195E9EC6-73F4-F993-7FFE-1B8AA575D7E4}"/>
              </a:ext>
            </a:extLst>
          </p:cNvPr>
          <p:cNvSpPr txBox="1"/>
          <p:nvPr/>
        </p:nvSpPr>
        <p:spPr>
          <a:xfrm>
            <a:off x="3192300" y="3810360"/>
            <a:ext cx="1377525" cy="11663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dirty="0">
                <a:latin typeface="Calibri"/>
                <a:cs typeface="Calibri"/>
              </a:rPr>
              <a:t>if (</a:t>
            </a:r>
            <a:r>
              <a:rPr sz="1867" b="1" dirty="0">
                <a:latin typeface="Calibri"/>
                <a:cs typeface="Calibri"/>
              </a:rPr>
              <a:t>send </a:t>
            </a:r>
            <a:r>
              <a:rPr sz="1867" b="1" spc="-7" dirty="0">
                <a:latin typeface="Calibri"/>
                <a:cs typeface="Calibri"/>
              </a:rPr>
              <a:t>‘1’</a:t>
            </a:r>
            <a:r>
              <a:rPr sz="1867" spc="-7" dirty="0">
                <a:latin typeface="Calibri"/>
                <a:cs typeface="Calibri"/>
              </a:rPr>
              <a:t>) </a:t>
            </a:r>
            <a:r>
              <a:rPr sz="1867" dirty="0">
                <a:latin typeface="Calibri"/>
                <a:cs typeface="Calibri"/>
              </a:rPr>
              <a:t> </a:t>
            </a:r>
            <a:r>
              <a:rPr sz="1867" i="1" dirty="0">
                <a:latin typeface="Calibri"/>
                <a:cs typeface="Calibri"/>
              </a:rPr>
              <a:t>Use resource </a:t>
            </a:r>
            <a:r>
              <a:rPr sz="1867" i="1" spc="7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else</a:t>
            </a:r>
            <a:endParaRPr sz="1867">
              <a:latin typeface="Calibri"/>
              <a:cs typeface="Calibri"/>
            </a:endParaRPr>
          </a:p>
          <a:p>
            <a:pPr marL="121917">
              <a:spcBef>
                <a:spcPts val="7"/>
              </a:spcBef>
            </a:pPr>
            <a:r>
              <a:rPr sz="1867" i="1" dirty="0">
                <a:latin typeface="Calibri"/>
                <a:cs typeface="Calibri"/>
              </a:rPr>
              <a:t>idle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902C3043-9ABA-E472-A942-8ADD357B597E}"/>
              </a:ext>
            </a:extLst>
          </p:cNvPr>
          <p:cNvSpPr txBox="1"/>
          <p:nvPr/>
        </p:nvSpPr>
        <p:spPr>
          <a:xfrm>
            <a:off x="1351275" y="4205415"/>
            <a:ext cx="15815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latin typeface="Calibri"/>
                <a:cs typeface="Calibri"/>
              </a:rPr>
              <a:t>Cove</a:t>
            </a:r>
            <a:r>
              <a:rPr sz="1867" b="1" dirty="0">
                <a:latin typeface="Calibri"/>
                <a:cs typeface="Calibri"/>
              </a:rPr>
              <a:t>rt</a:t>
            </a:r>
            <a:r>
              <a:rPr sz="1867" b="1" spc="-40" dirty="0">
                <a:latin typeface="Calibri"/>
                <a:cs typeface="Calibri"/>
              </a:rPr>
              <a:t> </a:t>
            </a:r>
            <a:r>
              <a:rPr sz="1867" b="1" spc="-7" dirty="0">
                <a:latin typeface="Calibri"/>
                <a:cs typeface="Calibri"/>
              </a:rPr>
              <a:t>ch</a:t>
            </a:r>
            <a:r>
              <a:rPr sz="1867" b="1" dirty="0">
                <a:latin typeface="Calibri"/>
                <a:cs typeface="Calibri"/>
              </a:rPr>
              <a:t>annel: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44" name="object 12">
            <a:extLst>
              <a:ext uri="{FF2B5EF4-FFF2-40B4-BE49-F238E27FC236}">
                <a16:creationId xmlns:a16="http://schemas.microsoft.com/office/drawing/2014/main" id="{28CB1574-93FB-4A08-ACA9-8DB67F36A7EA}"/>
              </a:ext>
            </a:extLst>
          </p:cNvPr>
          <p:cNvSpPr txBox="1"/>
          <p:nvPr/>
        </p:nvSpPr>
        <p:spPr>
          <a:xfrm>
            <a:off x="3192300" y="5121034"/>
            <a:ext cx="1376680" cy="11663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Calibri"/>
                <a:cs typeface="Calibri"/>
              </a:rPr>
              <a:t>if</a:t>
            </a:r>
            <a:r>
              <a:rPr sz="1867" spc="-53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(</a:t>
            </a:r>
            <a:r>
              <a:rPr sz="1867" b="1" dirty="0">
                <a:solidFill>
                  <a:srgbClr val="FF0000"/>
                </a:solidFill>
                <a:latin typeface="Calibri"/>
                <a:cs typeface="Calibri"/>
              </a:rPr>
              <a:t>secret</a:t>
            </a:r>
            <a:r>
              <a:rPr sz="1867" dirty="0">
                <a:latin typeface="Calibri"/>
                <a:cs typeface="Calibri"/>
              </a:rPr>
              <a:t>)</a:t>
            </a:r>
            <a:endParaRPr sz="1867">
              <a:latin typeface="Calibri"/>
              <a:cs typeface="Calibri"/>
            </a:endParaRPr>
          </a:p>
          <a:p>
            <a:pPr marL="121917"/>
            <a:r>
              <a:rPr sz="1867" i="1" dirty="0">
                <a:latin typeface="Calibri"/>
                <a:cs typeface="Calibri"/>
              </a:rPr>
              <a:t>Use</a:t>
            </a:r>
            <a:r>
              <a:rPr sz="1867" i="1" spc="-80" dirty="0">
                <a:latin typeface="Calibri"/>
                <a:cs typeface="Calibri"/>
              </a:rPr>
              <a:t> </a:t>
            </a:r>
            <a:r>
              <a:rPr sz="1867" i="1" spc="-7" dirty="0">
                <a:latin typeface="Calibri"/>
                <a:cs typeface="Calibri"/>
              </a:rPr>
              <a:t>resource</a:t>
            </a:r>
            <a:endParaRPr sz="1867">
              <a:latin typeface="Calibri"/>
              <a:cs typeface="Calibri"/>
            </a:endParaRPr>
          </a:p>
          <a:p>
            <a:pPr marL="16933">
              <a:spcBef>
                <a:spcPts val="7"/>
              </a:spcBef>
            </a:pPr>
            <a:r>
              <a:rPr sz="1867" dirty="0">
                <a:latin typeface="Calibri"/>
                <a:cs typeface="Calibri"/>
              </a:rPr>
              <a:t>else</a:t>
            </a:r>
            <a:endParaRPr sz="1867">
              <a:latin typeface="Calibri"/>
              <a:cs typeface="Calibri"/>
            </a:endParaRPr>
          </a:p>
          <a:p>
            <a:pPr marL="121917"/>
            <a:r>
              <a:rPr sz="1867" i="1" dirty="0">
                <a:latin typeface="Calibri"/>
                <a:cs typeface="Calibri"/>
              </a:rPr>
              <a:t>idle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45" name="object 13">
            <a:extLst>
              <a:ext uri="{FF2B5EF4-FFF2-40B4-BE49-F238E27FC236}">
                <a16:creationId xmlns:a16="http://schemas.microsoft.com/office/drawing/2014/main" id="{3D759348-A769-B433-A2BD-1A2F0A6E9787}"/>
              </a:ext>
            </a:extLst>
          </p:cNvPr>
          <p:cNvSpPr txBox="1"/>
          <p:nvPr/>
        </p:nvSpPr>
        <p:spPr>
          <a:xfrm>
            <a:off x="1588613" y="5529873"/>
            <a:ext cx="134874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dirty="0">
                <a:latin typeface="Calibri"/>
                <a:cs typeface="Calibri"/>
              </a:rPr>
              <a:t>Side</a:t>
            </a:r>
            <a:r>
              <a:rPr sz="1867" b="1" spc="-107" dirty="0">
                <a:latin typeface="Calibri"/>
                <a:cs typeface="Calibri"/>
              </a:rPr>
              <a:t> </a:t>
            </a:r>
            <a:r>
              <a:rPr sz="1867" b="1" dirty="0">
                <a:latin typeface="Calibri"/>
                <a:cs typeface="Calibri"/>
              </a:rPr>
              <a:t>channel: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46" name="object 14">
            <a:extLst>
              <a:ext uri="{FF2B5EF4-FFF2-40B4-BE49-F238E27FC236}">
                <a16:creationId xmlns:a16="http://schemas.microsoft.com/office/drawing/2014/main" id="{F8A8A027-F798-4EB6-3D2B-E5566674478D}"/>
              </a:ext>
            </a:extLst>
          </p:cNvPr>
          <p:cNvSpPr txBox="1"/>
          <p:nvPr/>
        </p:nvSpPr>
        <p:spPr>
          <a:xfrm>
            <a:off x="7515888" y="4123289"/>
            <a:ext cx="1446107" cy="8790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t1 = rdtsc() </a:t>
            </a:r>
            <a:r>
              <a:rPr sz="1867" spc="7" dirty="0">
                <a:latin typeface="Arial MT"/>
                <a:cs typeface="Arial MT"/>
              </a:rPr>
              <a:t> </a:t>
            </a:r>
            <a:r>
              <a:rPr sz="1867" i="1" spc="-7" dirty="0">
                <a:latin typeface="Arial"/>
                <a:cs typeface="Arial"/>
              </a:rPr>
              <a:t>Use</a:t>
            </a:r>
            <a:r>
              <a:rPr sz="1867" i="1" spc="-120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resource </a:t>
            </a:r>
            <a:r>
              <a:rPr sz="1867" i="1" spc="-500" dirty="0">
                <a:latin typeface="Arial"/>
                <a:cs typeface="Arial"/>
              </a:rPr>
              <a:t> </a:t>
            </a:r>
            <a:r>
              <a:rPr sz="1867" dirty="0">
                <a:latin typeface="Arial MT"/>
                <a:cs typeface="Arial MT"/>
              </a:rPr>
              <a:t>t2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=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rdtsc()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47" name="object 15">
            <a:extLst>
              <a:ext uri="{FF2B5EF4-FFF2-40B4-BE49-F238E27FC236}">
                <a16:creationId xmlns:a16="http://schemas.microsoft.com/office/drawing/2014/main" id="{94F2167A-E11E-B9B9-8022-876B8AC7AE58}"/>
              </a:ext>
            </a:extLst>
          </p:cNvPr>
          <p:cNvSpPr txBox="1"/>
          <p:nvPr/>
        </p:nvSpPr>
        <p:spPr>
          <a:xfrm>
            <a:off x="7515888" y="5261649"/>
            <a:ext cx="3117427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if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(t2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–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t1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&gt;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THRESH) </a:t>
            </a:r>
            <a:r>
              <a:rPr sz="1867" dirty="0">
                <a:latin typeface="Arial MT"/>
                <a:cs typeface="Arial MT"/>
              </a:rPr>
              <a:t>read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‘1’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else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read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‘0’</a:t>
            </a:r>
            <a:endParaRPr sz="18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73861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Covert to Side Channel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6E997DEE-9096-542E-7217-BD5894FE4ADB}"/>
              </a:ext>
            </a:extLst>
          </p:cNvPr>
          <p:cNvSpPr/>
          <p:nvPr/>
        </p:nvSpPr>
        <p:spPr>
          <a:xfrm>
            <a:off x="4859387" y="1636627"/>
            <a:ext cx="2396067" cy="2152227"/>
          </a:xfrm>
          <a:custGeom>
            <a:avLst/>
            <a:gdLst/>
            <a:ahLst/>
            <a:cxnLst/>
            <a:rect l="l" t="t" r="r" b="b"/>
            <a:pathLst>
              <a:path w="1797050" h="1614170">
                <a:moveTo>
                  <a:pt x="0" y="1613915"/>
                </a:moveTo>
                <a:lnTo>
                  <a:pt x="1796796" y="1613915"/>
                </a:lnTo>
                <a:lnTo>
                  <a:pt x="1796796" y="0"/>
                </a:lnTo>
                <a:lnTo>
                  <a:pt x="0" y="0"/>
                </a:lnTo>
                <a:lnTo>
                  <a:pt x="0" y="1613915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B4D43229-0739-5684-D4C8-54CDEFEEF1D5}"/>
              </a:ext>
            </a:extLst>
          </p:cNvPr>
          <p:cNvSpPr txBox="1"/>
          <p:nvPr/>
        </p:nvSpPr>
        <p:spPr>
          <a:xfrm>
            <a:off x="5158770" y="2197459"/>
            <a:ext cx="179408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05831" marR="6773" indent="-89744">
              <a:spcBef>
                <a:spcPts val="133"/>
              </a:spcBef>
            </a:pPr>
            <a:r>
              <a:rPr sz="3200" spc="-7" dirty="0">
                <a:latin typeface="Arial MT"/>
                <a:cs typeface="Arial MT"/>
              </a:rPr>
              <a:t>H</a:t>
            </a:r>
            <a:r>
              <a:rPr sz="3200" spc="-20" dirty="0">
                <a:latin typeface="Arial MT"/>
                <a:cs typeface="Arial MT"/>
              </a:rPr>
              <a:t>a</a:t>
            </a:r>
            <a:r>
              <a:rPr sz="3200" spc="-7" dirty="0">
                <a:latin typeface="Arial MT"/>
                <a:cs typeface="Arial MT"/>
              </a:rPr>
              <a:t>rdware  resource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D9D2CE83-B847-9309-8B1E-D8606EACA2EA}"/>
              </a:ext>
            </a:extLst>
          </p:cNvPr>
          <p:cNvSpPr/>
          <p:nvPr/>
        </p:nvSpPr>
        <p:spPr>
          <a:xfrm>
            <a:off x="630796" y="1636627"/>
            <a:ext cx="2397760" cy="2152227"/>
          </a:xfrm>
          <a:custGeom>
            <a:avLst/>
            <a:gdLst/>
            <a:ahLst/>
            <a:cxnLst/>
            <a:rect l="l" t="t" r="r" b="b"/>
            <a:pathLst>
              <a:path w="1798320" h="1614170">
                <a:moveTo>
                  <a:pt x="1798320" y="0"/>
                </a:moveTo>
                <a:lnTo>
                  <a:pt x="0" y="0"/>
                </a:lnTo>
                <a:lnTo>
                  <a:pt x="0" y="1613915"/>
                </a:lnTo>
                <a:lnTo>
                  <a:pt x="1798320" y="1613915"/>
                </a:lnTo>
                <a:lnTo>
                  <a:pt x="179832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171E142-3F20-01C2-B30A-898BD960CDB7}"/>
              </a:ext>
            </a:extLst>
          </p:cNvPr>
          <p:cNvSpPr txBox="1"/>
          <p:nvPr/>
        </p:nvSpPr>
        <p:spPr>
          <a:xfrm>
            <a:off x="630796" y="1636628"/>
            <a:ext cx="2397760" cy="1341393"/>
          </a:xfrm>
          <a:prstGeom prst="rect">
            <a:avLst/>
          </a:prstGeom>
          <a:ln w="25908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 marL="586725">
              <a:spcBef>
                <a:spcPts val="2327"/>
              </a:spcBef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Victim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460B2A26-EC5E-F8D5-3863-53D052EE21B2}"/>
              </a:ext>
            </a:extLst>
          </p:cNvPr>
          <p:cNvSpPr/>
          <p:nvPr/>
        </p:nvSpPr>
        <p:spPr>
          <a:xfrm>
            <a:off x="8996539" y="1644756"/>
            <a:ext cx="2397760" cy="2153920"/>
          </a:xfrm>
          <a:custGeom>
            <a:avLst/>
            <a:gdLst/>
            <a:ahLst/>
            <a:cxnLst/>
            <a:rect l="l" t="t" r="r" b="b"/>
            <a:pathLst>
              <a:path w="1798320" h="1615439">
                <a:moveTo>
                  <a:pt x="1798320" y="0"/>
                </a:moveTo>
                <a:lnTo>
                  <a:pt x="0" y="0"/>
                </a:lnTo>
                <a:lnTo>
                  <a:pt x="0" y="1615440"/>
                </a:lnTo>
                <a:lnTo>
                  <a:pt x="1798320" y="1615440"/>
                </a:lnTo>
                <a:lnTo>
                  <a:pt x="179832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8">
            <a:extLst>
              <a:ext uri="{FF2B5EF4-FFF2-40B4-BE49-F238E27FC236}">
                <a16:creationId xmlns:a16="http://schemas.microsoft.com/office/drawing/2014/main" id="{416F3E6E-CF7E-D549-B953-E108C2442A73}"/>
              </a:ext>
            </a:extLst>
          </p:cNvPr>
          <p:cNvSpPr txBox="1"/>
          <p:nvPr/>
        </p:nvSpPr>
        <p:spPr>
          <a:xfrm>
            <a:off x="8996539" y="1644757"/>
            <a:ext cx="2397760" cy="1341393"/>
          </a:xfrm>
          <a:prstGeom prst="rect">
            <a:avLst/>
          </a:prstGeom>
          <a:ln w="25907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 marL="384377">
              <a:spcBef>
                <a:spcPts val="2340"/>
              </a:spcBef>
            </a:pPr>
            <a:r>
              <a:rPr sz="3200" b="1" spc="-7" dirty="0">
                <a:solidFill>
                  <a:srgbClr val="FFFFFF"/>
                </a:solidFill>
                <a:latin typeface="Arial"/>
                <a:cs typeface="Arial"/>
              </a:rPr>
              <a:t>Attacker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7C1B7948-552C-8E35-5414-B8B1145DB487}"/>
              </a:ext>
            </a:extLst>
          </p:cNvPr>
          <p:cNvSpPr/>
          <p:nvPr/>
        </p:nvSpPr>
        <p:spPr>
          <a:xfrm>
            <a:off x="2717491" y="2937107"/>
            <a:ext cx="6537960" cy="1132840"/>
          </a:xfrm>
          <a:custGeom>
            <a:avLst/>
            <a:gdLst/>
            <a:ahLst/>
            <a:cxnLst/>
            <a:rect l="l" t="t" r="r" b="b"/>
            <a:pathLst>
              <a:path w="4903470" h="849629">
                <a:moveTo>
                  <a:pt x="1838960" y="410083"/>
                </a:moveTo>
                <a:lnTo>
                  <a:pt x="1697101" y="326009"/>
                </a:lnTo>
                <a:lnTo>
                  <a:pt x="1689900" y="323532"/>
                </a:lnTo>
                <a:lnTo>
                  <a:pt x="1682584" y="323938"/>
                </a:lnTo>
                <a:lnTo>
                  <a:pt x="1675980" y="327037"/>
                </a:lnTo>
                <a:lnTo>
                  <a:pt x="1670939" y="332613"/>
                </a:lnTo>
                <a:lnTo>
                  <a:pt x="1668462" y="339813"/>
                </a:lnTo>
                <a:lnTo>
                  <a:pt x="1668919" y="347129"/>
                </a:lnTo>
                <a:lnTo>
                  <a:pt x="1672056" y="353733"/>
                </a:lnTo>
                <a:lnTo>
                  <a:pt x="1677670" y="358775"/>
                </a:lnTo>
                <a:lnTo>
                  <a:pt x="1730273" y="389953"/>
                </a:lnTo>
                <a:lnTo>
                  <a:pt x="1668145" y="388747"/>
                </a:lnTo>
                <a:lnTo>
                  <a:pt x="1543050" y="384048"/>
                </a:lnTo>
                <a:lnTo>
                  <a:pt x="1462532" y="379730"/>
                </a:lnTo>
                <a:lnTo>
                  <a:pt x="1385189" y="374523"/>
                </a:lnTo>
                <a:lnTo>
                  <a:pt x="1311402" y="368554"/>
                </a:lnTo>
                <a:lnTo>
                  <a:pt x="1241933" y="361823"/>
                </a:lnTo>
                <a:lnTo>
                  <a:pt x="1177798" y="354457"/>
                </a:lnTo>
                <a:lnTo>
                  <a:pt x="1119378" y="346456"/>
                </a:lnTo>
                <a:lnTo>
                  <a:pt x="1067562" y="337947"/>
                </a:lnTo>
                <a:lnTo>
                  <a:pt x="1022858" y="329184"/>
                </a:lnTo>
                <a:lnTo>
                  <a:pt x="971423" y="315722"/>
                </a:lnTo>
                <a:lnTo>
                  <a:pt x="938695" y="301028"/>
                </a:lnTo>
                <a:lnTo>
                  <a:pt x="938695" y="302387"/>
                </a:lnTo>
                <a:lnTo>
                  <a:pt x="938606" y="302056"/>
                </a:lnTo>
                <a:lnTo>
                  <a:pt x="938085" y="300672"/>
                </a:lnTo>
                <a:lnTo>
                  <a:pt x="937920" y="300228"/>
                </a:lnTo>
                <a:lnTo>
                  <a:pt x="937831" y="300101"/>
                </a:lnTo>
                <a:lnTo>
                  <a:pt x="937945" y="300469"/>
                </a:lnTo>
                <a:lnTo>
                  <a:pt x="937818" y="300075"/>
                </a:lnTo>
                <a:lnTo>
                  <a:pt x="937768" y="299847"/>
                </a:lnTo>
                <a:lnTo>
                  <a:pt x="937856" y="300075"/>
                </a:lnTo>
                <a:lnTo>
                  <a:pt x="937920" y="300228"/>
                </a:lnTo>
                <a:lnTo>
                  <a:pt x="938136" y="300723"/>
                </a:lnTo>
                <a:lnTo>
                  <a:pt x="938453" y="301167"/>
                </a:lnTo>
                <a:lnTo>
                  <a:pt x="938085" y="300672"/>
                </a:lnTo>
                <a:lnTo>
                  <a:pt x="938631" y="302031"/>
                </a:lnTo>
                <a:lnTo>
                  <a:pt x="938504" y="301231"/>
                </a:lnTo>
                <a:lnTo>
                  <a:pt x="938593" y="301752"/>
                </a:lnTo>
                <a:lnTo>
                  <a:pt x="938669" y="302120"/>
                </a:lnTo>
                <a:lnTo>
                  <a:pt x="938695" y="302387"/>
                </a:lnTo>
                <a:lnTo>
                  <a:pt x="938695" y="301028"/>
                </a:lnTo>
                <a:lnTo>
                  <a:pt x="938428" y="300723"/>
                </a:lnTo>
                <a:lnTo>
                  <a:pt x="938301" y="299847"/>
                </a:lnTo>
                <a:lnTo>
                  <a:pt x="938123" y="298704"/>
                </a:lnTo>
                <a:lnTo>
                  <a:pt x="937856" y="297434"/>
                </a:lnTo>
                <a:lnTo>
                  <a:pt x="937729" y="296964"/>
                </a:lnTo>
                <a:lnTo>
                  <a:pt x="937729" y="300228"/>
                </a:lnTo>
                <a:lnTo>
                  <a:pt x="936625" y="298704"/>
                </a:lnTo>
                <a:lnTo>
                  <a:pt x="937691" y="300139"/>
                </a:lnTo>
                <a:lnTo>
                  <a:pt x="937412" y="299593"/>
                </a:lnTo>
                <a:lnTo>
                  <a:pt x="937641" y="300037"/>
                </a:lnTo>
                <a:lnTo>
                  <a:pt x="937729" y="300228"/>
                </a:lnTo>
                <a:lnTo>
                  <a:pt x="937729" y="296964"/>
                </a:lnTo>
                <a:lnTo>
                  <a:pt x="937514" y="296164"/>
                </a:lnTo>
                <a:lnTo>
                  <a:pt x="937006" y="294894"/>
                </a:lnTo>
                <a:lnTo>
                  <a:pt x="936117" y="292481"/>
                </a:lnTo>
                <a:lnTo>
                  <a:pt x="935609" y="291211"/>
                </a:lnTo>
                <a:lnTo>
                  <a:pt x="934974" y="289941"/>
                </a:lnTo>
                <a:lnTo>
                  <a:pt x="934339" y="288798"/>
                </a:lnTo>
                <a:lnTo>
                  <a:pt x="932688" y="286385"/>
                </a:lnTo>
                <a:lnTo>
                  <a:pt x="932053" y="285369"/>
                </a:lnTo>
                <a:lnTo>
                  <a:pt x="931291" y="284480"/>
                </a:lnTo>
                <a:lnTo>
                  <a:pt x="930402" y="283591"/>
                </a:lnTo>
                <a:lnTo>
                  <a:pt x="926846" y="279908"/>
                </a:lnTo>
                <a:lnTo>
                  <a:pt x="901852" y="264756"/>
                </a:lnTo>
                <a:lnTo>
                  <a:pt x="901852" y="308787"/>
                </a:lnTo>
                <a:lnTo>
                  <a:pt x="901585" y="308229"/>
                </a:lnTo>
                <a:lnTo>
                  <a:pt x="901446" y="307936"/>
                </a:lnTo>
                <a:lnTo>
                  <a:pt x="901446" y="308610"/>
                </a:lnTo>
                <a:lnTo>
                  <a:pt x="901319" y="308241"/>
                </a:lnTo>
                <a:lnTo>
                  <a:pt x="901230" y="308038"/>
                </a:lnTo>
                <a:lnTo>
                  <a:pt x="901319" y="308241"/>
                </a:lnTo>
                <a:lnTo>
                  <a:pt x="901446" y="308610"/>
                </a:lnTo>
                <a:lnTo>
                  <a:pt x="901446" y="307936"/>
                </a:lnTo>
                <a:lnTo>
                  <a:pt x="901217" y="307467"/>
                </a:lnTo>
                <a:lnTo>
                  <a:pt x="901217" y="307987"/>
                </a:lnTo>
                <a:lnTo>
                  <a:pt x="901128" y="307771"/>
                </a:lnTo>
                <a:lnTo>
                  <a:pt x="901217" y="307987"/>
                </a:lnTo>
                <a:lnTo>
                  <a:pt x="901217" y="307467"/>
                </a:lnTo>
                <a:lnTo>
                  <a:pt x="901052" y="307111"/>
                </a:lnTo>
                <a:lnTo>
                  <a:pt x="900823" y="306222"/>
                </a:lnTo>
                <a:lnTo>
                  <a:pt x="900823" y="307238"/>
                </a:lnTo>
                <a:lnTo>
                  <a:pt x="900823" y="306222"/>
                </a:lnTo>
                <a:lnTo>
                  <a:pt x="900430" y="304673"/>
                </a:lnTo>
                <a:lnTo>
                  <a:pt x="901014" y="306959"/>
                </a:lnTo>
                <a:lnTo>
                  <a:pt x="901052" y="307111"/>
                </a:lnTo>
                <a:lnTo>
                  <a:pt x="901585" y="308229"/>
                </a:lnTo>
                <a:lnTo>
                  <a:pt x="901852" y="308787"/>
                </a:lnTo>
                <a:lnTo>
                  <a:pt x="901852" y="264756"/>
                </a:lnTo>
                <a:lnTo>
                  <a:pt x="900811" y="264287"/>
                </a:lnTo>
                <a:lnTo>
                  <a:pt x="863346" y="251460"/>
                </a:lnTo>
                <a:lnTo>
                  <a:pt x="824611" y="241935"/>
                </a:lnTo>
                <a:lnTo>
                  <a:pt x="778510" y="232918"/>
                </a:lnTo>
                <a:lnTo>
                  <a:pt x="725551" y="224155"/>
                </a:lnTo>
                <a:lnTo>
                  <a:pt x="666242" y="216154"/>
                </a:lnTo>
                <a:lnTo>
                  <a:pt x="601345" y="208661"/>
                </a:lnTo>
                <a:lnTo>
                  <a:pt x="494665" y="198755"/>
                </a:lnTo>
                <a:lnTo>
                  <a:pt x="418338" y="193040"/>
                </a:lnTo>
                <a:lnTo>
                  <a:pt x="338709" y="188214"/>
                </a:lnTo>
                <a:lnTo>
                  <a:pt x="256286" y="184277"/>
                </a:lnTo>
                <a:lnTo>
                  <a:pt x="172085" y="181483"/>
                </a:lnTo>
                <a:lnTo>
                  <a:pt x="86360" y="179705"/>
                </a:lnTo>
                <a:lnTo>
                  <a:pt x="254" y="179070"/>
                </a:lnTo>
                <a:lnTo>
                  <a:pt x="0" y="217170"/>
                </a:lnTo>
                <a:lnTo>
                  <a:pt x="86106" y="217678"/>
                </a:lnTo>
                <a:lnTo>
                  <a:pt x="171323" y="219583"/>
                </a:lnTo>
                <a:lnTo>
                  <a:pt x="296164" y="224155"/>
                </a:lnTo>
                <a:lnTo>
                  <a:pt x="415925" y="231013"/>
                </a:lnTo>
                <a:lnTo>
                  <a:pt x="528066" y="239776"/>
                </a:lnTo>
                <a:lnTo>
                  <a:pt x="630174" y="250190"/>
                </a:lnTo>
                <a:lnTo>
                  <a:pt x="691642" y="257937"/>
                </a:lnTo>
                <a:lnTo>
                  <a:pt x="747014" y="266192"/>
                </a:lnTo>
                <a:lnTo>
                  <a:pt x="795401" y="274828"/>
                </a:lnTo>
                <a:lnTo>
                  <a:pt x="836295" y="283845"/>
                </a:lnTo>
                <a:lnTo>
                  <a:pt x="881380" y="297434"/>
                </a:lnTo>
                <a:lnTo>
                  <a:pt x="901192" y="309626"/>
                </a:lnTo>
                <a:lnTo>
                  <a:pt x="901446" y="310896"/>
                </a:lnTo>
                <a:lnTo>
                  <a:pt x="901827" y="312293"/>
                </a:lnTo>
                <a:lnTo>
                  <a:pt x="902208" y="313563"/>
                </a:lnTo>
                <a:lnTo>
                  <a:pt x="903224" y="315976"/>
                </a:lnTo>
                <a:lnTo>
                  <a:pt x="903732" y="317246"/>
                </a:lnTo>
                <a:lnTo>
                  <a:pt x="908685" y="324612"/>
                </a:lnTo>
                <a:lnTo>
                  <a:pt x="910971" y="327037"/>
                </a:lnTo>
                <a:lnTo>
                  <a:pt x="944245" y="346456"/>
                </a:lnTo>
                <a:lnTo>
                  <a:pt x="993775" y="361569"/>
                </a:lnTo>
                <a:lnTo>
                  <a:pt x="1036574" y="370840"/>
                </a:lnTo>
                <a:lnTo>
                  <a:pt x="1086104" y="379730"/>
                </a:lnTo>
                <a:lnTo>
                  <a:pt x="1172845" y="392176"/>
                </a:lnTo>
                <a:lnTo>
                  <a:pt x="1272286" y="403225"/>
                </a:lnTo>
                <a:lnTo>
                  <a:pt x="1382141" y="412623"/>
                </a:lnTo>
                <a:lnTo>
                  <a:pt x="1420749" y="415290"/>
                </a:lnTo>
                <a:lnTo>
                  <a:pt x="1541145" y="422148"/>
                </a:lnTo>
                <a:lnTo>
                  <a:pt x="1666875" y="426847"/>
                </a:lnTo>
                <a:lnTo>
                  <a:pt x="1731213" y="428091"/>
                </a:lnTo>
                <a:lnTo>
                  <a:pt x="1677035" y="459232"/>
                </a:lnTo>
                <a:lnTo>
                  <a:pt x="1671332" y="464210"/>
                </a:lnTo>
                <a:lnTo>
                  <a:pt x="1668094" y="470763"/>
                </a:lnTo>
                <a:lnTo>
                  <a:pt x="1667548" y="478028"/>
                </a:lnTo>
                <a:lnTo>
                  <a:pt x="1669923" y="485140"/>
                </a:lnTo>
                <a:lnTo>
                  <a:pt x="1674901" y="490842"/>
                </a:lnTo>
                <a:lnTo>
                  <a:pt x="1681454" y="494080"/>
                </a:lnTo>
                <a:lnTo>
                  <a:pt x="1688757" y="494626"/>
                </a:lnTo>
                <a:lnTo>
                  <a:pt x="1695958" y="492252"/>
                </a:lnTo>
                <a:lnTo>
                  <a:pt x="1806244" y="428879"/>
                </a:lnTo>
                <a:lnTo>
                  <a:pt x="1838960" y="410083"/>
                </a:lnTo>
                <a:close/>
              </a:path>
              <a:path w="4903470" h="849629">
                <a:moveTo>
                  <a:pt x="4902962" y="527050"/>
                </a:moveTo>
                <a:lnTo>
                  <a:pt x="4738116" y="535940"/>
                </a:lnTo>
                <a:lnTo>
                  <a:pt x="4720082" y="556260"/>
                </a:lnTo>
                <a:lnTo>
                  <a:pt x="4721999" y="562610"/>
                </a:lnTo>
                <a:lnTo>
                  <a:pt x="4726394" y="568960"/>
                </a:lnTo>
                <a:lnTo>
                  <a:pt x="4732655" y="572770"/>
                </a:lnTo>
                <a:lnTo>
                  <a:pt x="4740148" y="574040"/>
                </a:lnTo>
                <a:lnTo>
                  <a:pt x="4800752" y="570547"/>
                </a:lnTo>
                <a:lnTo>
                  <a:pt x="4749927" y="603250"/>
                </a:lnTo>
                <a:lnTo>
                  <a:pt x="4702175" y="632460"/>
                </a:lnTo>
                <a:lnTo>
                  <a:pt x="4654296" y="660400"/>
                </a:lnTo>
                <a:lnTo>
                  <a:pt x="4606163" y="687070"/>
                </a:lnTo>
                <a:lnTo>
                  <a:pt x="4557395" y="712470"/>
                </a:lnTo>
                <a:lnTo>
                  <a:pt x="4508500" y="735330"/>
                </a:lnTo>
                <a:lnTo>
                  <a:pt x="4458970" y="755650"/>
                </a:lnTo>
                <a:lnTo>
                  <a:pt x="4409059" y="773430"/>
                </a:lnTo>
                <a:lnTo>
                  <a:pt x="4332732" y="793750"/>
                </a:lnTo>
                <a:lnTo>
                  <a:pt x="4281043" y="803910"/>
                </a:lnTo>
                <a:lnTo>
                  <a:pt x="4228465" y="810260"/>
                </a:lnTo>
                <a:lnTo>
                  <a:pt x="4201795" y="811530"/>
                </a:lnTo>
                <a:lnTo>
                  <a:pt x="4147693" y="811530"/>
                </a:lnTo>
                <a:lnTo>
                  <a:pt x="4092575" y="807720"/>
                </a:lnTo>
                <a:lnTo>
                  <a:pt x="4032631" y="797560"/>
                </a:lnTo>
                <a:lnTo>
                  <a:pt x="3999738" y="789940"/>
                </a:lnTo>
                <a:lnTo>
                  <a:pt x="3965067" y="782320"/>
                </a:lnTo>
                <a:lnTo>
                  <a:pt x="3891661" y="760730"/>
                </a:lnTo>
                <a:lnTo>
                  <a:pt x="3853180" y="748030"/>
                </a:lnTo>
                <a:lnTo>
                  <a:pt x="3813683" y="734060"/>
                </a:lnTo>
                <a:lnTo>
                  <a:pt x="3773678" y="718820"/>
                </a:lnTo>
                <a:lnTo>
                  <a:pt x="3650869" y="669290"/>
                </a:lnTo>
                <a:lnTo>
                  <a:pt x="3609721" y="650240"/>
                </a:lnTo>
                <a:lnTo>
                  <a:pt x="3568954" y="632460"/>
                </a:lnTo>
                <a:lnTo>
                  <a:pt x="3528314" y="612140"/>
                </a:lnTo>
                <a:lnTo>
                  <a:pt x="3488563" y="593090"/>
                </a:lnTo>
                <a:lnTo>
                  <a:pt x="3449447" y="572770"/>
                </a:lnTo>
                <a:lnTo>
                  <a:pt x="3411347" y="553720"/>
                </a:lnTo>
                <a:lnTo>
                  <a:pt x="3374390" y="533400"/>
                </a:lnTo>
                <a:lnTo>
                  <a:pt x="3338703" y="513080"/>
                </a:lnTo>
                <a:lnTo>
                  <a:pt x="3272282" y="473710"/>
                </a:lnTo>
                <a:lnTo>
                  <a:pt x="3200146" y="425450"/>
                </a:lnTo>
                <a:lnTo>
                  <a:pt x="3187319" y="415290"/>
                </a:lnTo>
                <a:lnTo>
                  <a:pt x="3175254" y="406400"/>
                </a:lnTo>
                <a:lnTo>
                  <a:pt x="3163824" y="397510"/>
                </a:lnTo>
                <a:lnTo>
                  <a:pt x="3153156" y="389890"/>
                </a:lnTo>
                <a:lnTo>
                  <a:pt x="3142996" y="381000"/>
                </a:lnTo>
                <a:lnTo>
                  <a:pt x="3133725" y="372110"/>
                </a:lnTo>
                <a:lnTo>
                  <a:pt x="3125216" y="364490"/>
                </a:lnTo>
                <a:lnTo>
                  <a:pt x="3117469" y="356870"/>
                </a:lnTo>
                <a:lnTo>
                  <a:pt x="3091434" y="323850"/>
                </a:lnTo>
                <a:lnTo>
                  <a:pt x="3085465" y="302260"/>
                </a:lnTo>
                <a:lnTo>
                  <a:pt x="3085846" y="298450"/>
                </a:lnTo>
                <a:lnTo>
                  <a:pt x="3087116" y="293370"/>
                </a:lnTo>
                <a:lnTo>
                  <a:pt x="3088640" y="288290"/>
                </a:lnTo>
                <a:lnTo>
                  <a:pt x="3091053" y="283210"/>
                </a:lnTo>
                <a:lnTo>
                  <a:pt x="3094355" y="278130"/>
                </a:lnTo>
                <a:lnTo>
                  <a:pt x="3097784" y="271780"/>
                </a:lnTo>
                <a:lnTo>
                  <a:pt x="3102356" y="266700"/>
                </a:lnTo>
                <a:lnTo>
                  <a:pt x="3107436" y="260350"/>
                </a:lnTo>
                <a:lnTo>
                  <a:pt x="3113278" y="254000"/>
                </a:lnTo>
                <a:lnTo>
                  <a:pt x="3119628" y="248920"/>
                </a:lnTo>
                <a:lnTo>
                  <a:pt x="3126740" y="242570"/>
                </a:lnTo>
                <a:lnTo>
                  <a:pt x="3134487" y="236220"/>
                </a:lnTo>
                <a:lnTo>
                  <a:pt x="3142488" y="229870"/>
                </a:lnTo>
                <a:lnTo>
                  <a:pt x="3160649" y="217170"/>
                </a:lnTo>
                <a:lnTo>
                  <a:pt x="3180969" y="204470"/>
                </a:lnTo>
                <a:lnTo>
                  <a:pt x="3203448" y="193040"/>
                </a:lnTo>
                <a:lnTo>
                  <a:pt x="3227324" y="180340"/>
                </a:lnTo>
                <a:lnTo>
                  <a:pt x="3280283" y="156210"/>
                </a:lnTo>
                <a:lnTo>
                  <a:pt x="3338322" y="133350"/>
                </a:lnTo>
                <a:lnTo>
                  <a:pt x="3432429" y="102870"/>
                </a:lnTo>
                <a:lnTo>
                  <a:pt x="3498215" y="85090"/>
                </a:lnTo>
                <a:lnTo>
                  <a:pt x="3598291" y="62230"/>
                </a:lnTo>
                <a:lnTo>
                  <a:pt x="3696589" y="46990"/>
                </a:lnTo>
                <a:lnTo>
                  <a:pt x="3759073" y="40640"/>
                </a:lnTo>
                <a:lnTo>
                  <a:pt x="3817747" y="38100"/>
                </a:lnTo>
                <a:lnTo>
                  <a:pt x="3845306" y="38100"/>
                </a:lnTo>
                <a:lnTo>
                  <a:pt x="3927475" y="44450"/>
                </a:lnTo>
                <a:lnTo>
                  <a:pt x="4012438" y="58420"/>
                </a:lnTo>
                <a:lnTo>
                  <a:pt x="4070604" y="71120"/>
                </a:lnTo>
                <a:lnTo>
                  <a:pt x="4129786" y="86360"/>
                </a:lnTo>
                <a:lnTo>
                  <a:pt x="4159631" y="96520"/>
                </a:lnTo>
                <a:lnTo>
                  <a:pt x="4189857" y="105410"/>
                </a:lnTo>
                <a:lnTo>
                  <a:pt x="4250563" y="125730"/>
                </a:lnTo>
                <a:lnTo>
                  <a:pt x="4312285" y="148590"/>
                </a:lnTo>
                <a:lnTo>
                  <a:pt x="4374769" y="173990"/>
                </a:lnTo>
                <a:lnTo>
                  <a:pt x="4437634" y="200660"/>
                </a:lnTo>
                <a:lnTo>
                  <a:pt x="4501121" y="228600"/>
                </a:lnTo>
                <a:lnTo>
                  <a:pt x="4565142" y="257810"/>
                </a:lnTo>
                <a:lnTo>
                  <a:pt x="4693793" y="318770"/>
                </a:lnTo>
                <a:lnTo>
                  <a:pt x="4823460" y="382270"/>
                </a:lnTo>
                <a:lnTo>
                  <a:pt x="4840097" y="347980"/>
                </a:lnTo>
                <a:lnTo>
                  <a:pt x="4645787" y="252730"/>
                </a:lnTo>
                <a:lnTo>
                  <a:pt x="4453001" y="165100"/>
                </a:lnTo>
                <a:lnTo>
                  <a:pt x="4389501" y="138430"/>
                </a:lnTo>
                <a:lnTo>
                  <a:pt x="4326382" y="113030"/>
                </a:lnTo>
                <a:lnTo>
                  <a:pt x="4263898" y="90170"/>
                </a:lnTo>
                <a:lnTo>
                  <a:pt x="4232783" y="80010"/>
                </a:lnTo>
                <a:lnTo>
                  <a:pt x="4201922" y="68580"/>
                </a:lnTo>
                <a:lnTo>
                  <a:pt x="4110228" y="41910"/>
                </a:lnTo>
                <a:lnTo>
                  <a:pt x="4095178" y="38100"/>
                </a:lnTo>
                <a:lnTo>
                  <a:pt x="4050157" y="26670"/>
                </a:lnTo>
                <a:lnTo>
                  <a:pt x="3961511" y="10160"/>
                </a:lnTo>
                <a:lnTo>
                  <a:pt x="3875151" y="1270"/>
                </a:lnTo>
                <a:lnTo>
                  <a:pt x="3846830" y="0"/>
                </a:lnTo>
                <a:lnTo>
                  <a:pt x="3818001" y="0"/>
                </a:lnTo>
                <a:lnTo>
                  <a:pt x="3756787" y="2540"/>
                </a:lnTo>
                <a:lnTo>
                  <a:pt x="3692398" y="8890"/>
                </a:lnTo>
                <a:lnTo>
                  <a:pt x="3625469" y="19050"/>
                </a:lnTo>
                <a:lnTo>
                  <a:pt x="3557397" y="31750"/>
                </a:lnTo>
                <a:lnTo>
                  <a:pt x="3422015" y="66040"/>
                </a:lnTo>
                <a:lnTo>
                  <a:pt x="3356991" y="86360"/>
                </a:lnTo>
                <a:lnTo>
                  <a:pt x="3295269" y="109220"/>
                </a:lnTo>
                <a:lnTo>
                  <a:pt x="3237865" y="133350"/>
                </a:lnTo>
                <a:lnTo>
                  <a:pt x="3186049" y="158750"/>
                </a:lnTo>
                <a:lnTo>
                  <a:pt x="3120898" y="198120"/>
                </a:lnTo>
                <a:lnTo>
                  <a:pt x="3111500" y="205740"/>
                </a:lnTo>
                <a:lnTo>
                  <a:pt x="3102864" y="212090"/>
                </a:lnTo>
                <a:lnTo>
                  <a:pt x="3094736" y="219710"/>
                </a:lnTo>
                <a:lnTo>
                  <a:pt x="3086989" y="227330"/>
                </a:lnTo>
                <a:lnTo>
                  <a:pt x="3080131" y="233680"/>
                </a:lnTo>
                <a:lnTo>
                  <a:pt x="3054223" y="271780"/>
                </a:lnTo>
                <a:lnTo>
                  <a:pt x="3047492" y="306070"/>
                </a:lnTo>
                <a:lnTo>
                  <a:pt x="3048254" y="314960"/>
                </a:lnTo>
                <a:lnTo>
                  <a:pt x="3067812" y="356870"/>
                </a:lnTo>
                <a:lnTo>
                  <a:pt x="3074289" y="365760"/>
                </a:lnTo>
                <a:lnTo>
                  <a:pt x="3081655" y="374650"/>
                </a:lnTo>
                <a:lnTo>
                  <a:pt x="3089529" y="382270"/>
                </a:lnTo>
                <a:lnTo>
                  <a:pt x="3098292" y="391160"/>
                </a:lnTo>
                <a:lnTo>
                  <a:pt x="3107690" y="400050"/>
                </a:lnTo>
                <a:lnTo>
                  <a:pt x="3117850" y="408940"/>
                </a:lnTo>
                <a:lnTo>
                  <a:pt x="3128391" y="417830"/>
                </a:lnTo>
                <a:lnTo>
                  <a:pt x="3139821" y="427990"/>
                </a:lnTo>
                <a:lnTo>
                  <a:pt x="3191510" y="466090"/>
                </a:lnTo>
                <a:lnTo>
                  <a:pt x="3251708" y="505460"/>
                </a:lnTo>
                <a:lnTo>
                  <a:pt x="3284855" y="525780"/>
                </a:lnTo>
                <a:lnTo>
                  <a:pt x="3319526" y="546100"/>
                </a:lnTo>
                <a:lnTo>
                  <a:pt x="3355594" y="566420"/>
                </a:lnTo>
                <a:lnTo>
                  <a:pt x="3393186" y="586740"/>
                </a:lnTo>
                <a:lnTo>
                  <a:pt x="3431667" y="607060"/>
                </a:lnTo>
                <a:lnTo>
                  <a:pt x="3471291" y="627380"/>
                </a:lnTo>
                <a:lnTo>
                  <a:pt x="3511677" y="646430"/>
                </a:lnTo>
                <a:lnTo>
                  <a:pt x="3552571" y="666750"/>
                </a:lnTo>
                <a:lnTo>
                  <a:pt x="3593846" y="684530"/>
                </a:lnTo>
                <a:lnTo>
                  <a:pt x="3635502" y="703580"/>
                </a:lnTo>
                <a:lnTo>
                  <a:pt x="3677158" y="721360"/>
                </a:lnTo>
                <a:lnTo>
                  <a:pt x="3759708" y="754380"/>
                </a:lnTo>
                <a:lnTo>
                  <a:pt x="3800475" y="769620"/>
                </a:lnTo>
                <a:lnTo>
                  <a:pt x="3840480" y="783590"/>
                </a:lnTo>
                <a:lnTo>
                  <a:pt x="3879723" y="796290"/>
                </a:lnTo>
                <a:lnTo>
                  <a:pt x="3917823" y="807720"/>
                </a:lnTo>
                <a:lnTo>
                  <a:pt x="3954780" y="817880"/>
                </a:lnTo>
                <a:lnTo>
                  <a:pt x="3990340" y="828040"/>
                </a:lnTo>
                <a:lnTo>
                  <a:pt x="4056888" y="840740"/>
                </a:lnTo>
                <a:lnTo>
                  <a:pt x="4116324" y="848360"/>
                </a:lnTo>
                <a:lnTo>
                  <a:pt x="4145661" y="849630"/>
                </a:lnTo>
                <a:lnTo>
                  <a:pt x="4202684" y="849630"/>
                </a:lnTo>
                <a:lnTo>
                  <a:pt x="4230751" y="848360"/>
                </a:lnTo>
                <a:lnTo>
                  <a:pt x="4258691" y="844550"/>
                </a:lnTo>
                <a:lnTo>
                  <a:pt x="4286123" y="842010"/>
                </a:lnTo>
                <a:lnTo>
                  <a:pt x="4393946" y="817880"/>
                </a:lnTo>
                <a:lnTo>
                  <a:pt x="4472305" y="791210"/>
                </a:lnTo>
                <a:lnTo>
                  <a:pt x="4573905" y="746760"/>
                </a:lnTo>
                <a:lnTo>
                  <a:pt x="4623435" y="721360"/>
                </a:lnTo>
                <a:lnTo>
                  <a:pt x="4672711" y="694690"/>
                </a:lnTo>
                <a:lnTo>
                  <a:pt x="4769866" y="636270"/>
                </a:lnTo>
                <a:lnTo>
                  <a:pt x="4817872" y="605790"/>
                </a:lnTo>
                <a:lnTo>
                  <a:pt x="4822876" y="602500"/>
                </a:lnTo>
                <a:lnTo>
                  <a:pt x="4795266" y="657860"/>
                </a:lnTo>
                <a:lnTo>
                  <a:pt x="4793285" y="665480"/>
                </a:lnTo>
                <a:lnTo>
                  <a:pt x="4794224" y="671830"/>
                </a:lnTo>
                <a:lnTo>
                  <a:pt x="4797818" y="678180"/>
                </a:lnTo>
                <a:lnTo>
                  <a:pt x="4803775" y="683260"/>
                </a:lnTo>
                <a:lnTo>
                  <a:pt x="4811065" y="684530"/>
                </a:lnTo>
                <a:lnTo>
                  <a:pt x="4818291" y="684530"/>
                </a:lnTo>
                <a:lnTo>
                  <a:pt x="4824641" y="680720"/>
                </a:lnTo>
                <a:lnTo>
                  <a:pt x="4829302" y="674370"/>
                </a:lnTo>
                <a:lnTo>
                  <a:pt x="4900409" y="532130"/>
                </a:lnTo>
                <a:lnTo>
                  <a:pt x="4902962" y="527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10">
            <a:extLst>
              <a:ext uri="{FF2B5EF4-FFF2-40B4-BE49-F238E27FC236}">
                <a16:creationId xmlns:a16="http://schemas.microsoft.com/office/drawing/2014/main" id="{195E9EC6-73F4-F993-7FFE-1B8AA575D7E4}"/>
              </a:ext>
            </a:extLst>
          </p:cNvPr>
          <p:cNvSpPr txBox="1"/>
          <p:nvPr/>
        </p:nvSpPr>
        <p:spPr>
          <a:xfrm>
            <a:off x="3192300" y="3810360"/>
            <a:ext cx="1377525" cy="11663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dirty="0">
                <a:latin typeface="Calibri"/>
                <a:cs typeface="Calibri"/>
              </a:rPr>
              <a:t>if (</a:t>
            </a:r>
            <a:r>
              <a:rPr sz="1867" b="1" dirty="0">
                <a:latin typeface="Calibri"/>
                <a:cs typeface="Calibri"/>
              </a:rPr>
              <a:t>send </a:t>
            </a:r>
            <a:r>
              <a:rPr sz="1867" b="1" spc="-7" dirty="0">
                <a:latin typeface="Calibri"/>
                <a:cs typeface="Calibri"/>
              </a:rPr>
              <a:t>‘1’</a:t>
            </a:r>
            <a:r>
              <a:rPr sz="1867" spc="-7" dirty="0">
                <a:latin typeface="Calibri"/>
                <a:cs typeface="Calibri"/>
              </a:rPr>
              <a:t>) </a:t>
            </a:r>
            <a:r>
              <a:rPr sz="1867" dirty="0">
                <a:latin typeface="Calibri"/>
                <a:cs typeface="Calibri"/>
              </a:rPr>
              <a:t> </a:t>
            </a:r>
            <a:r>
              <a:rPr sz="1867" i="1" dirty="0">
                <a:latin typeface="Calibri"/>
                <a:cs typeface="Calibri"/>
              </a:rPr>
              <a:t>Use resource </a:t>
            </a:r>
            <a:r>
              <a:rPr sz="1867" i="1" spc="7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else</a:t>
            </a:r>
            <a:endParaRPr sz="1867">
              <a:latin typeface="Calibri"/>
              <a:cs typeface="Calibri"/>
            </a:endParaRPr>
          </a:p>
          <a:p>
            <a:pPr marL="121917">
              <a:spcBef>
                <a:spcPts val="7"/>
              </a:spcBef>
            </a:pPr>
            <a:r>
              <a:rPr sz="1867" i="1" dirty="0">
                <a:latin typeface="Calibri"/>
                <a:cs typeface="Calibri"/>
              </a:rPr>
              <a:t>idle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902C3043-9ABA-E472-A942-8ADD357B597E}"/>
              </a:ext>
            </a:extLst>
          </p:cNvPr>
          <p:cNvSpPr txBox="1"/>
          <p:nvPr/>
        </p:nvSpPr>
        <p:spPr>
          <a:xfrm>
            <a:off x="1351275" y="4205415"/>
            <a:ext cx="15815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7" dirty="0">
                <a:latin typeface="Calibri"/>
                <a:cs typeface="Calibri"/>
              </a:rPr>
              <a:t>Cove</a:t>
            </a:r>
            <a:r>
              <a:rPr sz="1867" b="1" dirty="0">
                <a:latin typeface="Calibri"/>
                <a:cs typeface="Calibri"/>
              </a:rPr>
              <a:t>rt</a:t>
            </a:r>
            <a:r>
              <a:rPr sz="1867" b="1" spc="-40" dirty="0">
                <a:latin typeface="Calibri"/>
                <a:cs typeface="Calibri"/>
              </a:rPr>
              <a:t> </a:t>
            </a:r>
            <a:r>
              <a:rPr sz="1867" b="1" spc="-7" dirty="0">
                <a:latin typeface="Calibri"/>
                <a:cs typeface="Calibri"/>
              </a:rPr>
              <a:t>ch</a:t>
            </a:r>
            <a:r>
              <a:rPr sz="1867" b="1" dirty="0">
                <a:latin typeface="Calibri"/>
                <a:cs typeface="Calibri"/>
              </a:rPr>
              <a:t>annel: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44" name="object 12">
            <a:extLst>
              <a:ext uri="{FF2B5EF4-FFF2-40B4-BE49-F238E27FC236}">
                <a16:creationId xmlns:a16="http://schemas.microsoft.com/office/drawing/2014/main" id="{28CB1574-93FB-4A08-ACA9-8DB67F36A7EA}"/>
              </a:ext>
            </a:extLst>
          </p:cNvPr>
          <p:cNvSpPr txBox="1"/>
          <p:nvPr/>
        </p:nvSpPr>
        <p:spPr>
          <a:xfrm>
            <a:off x="3192300" y="5121034"/>
            <a:ext cx="1376680" cy="11663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Calibri"/>
                <a:cs typeface="Calibri"/>
              </a:rPr>
              <a:t>if</a:t>
            </a:r>
            <a:r>
              <a:rPr sz="1867" spc="-53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(</a:t>
            </a:r>
            <a:r>
              <a:rPr sz="1867" b="1" dirty="0">
                <a:solidFill>
                  <a:srgbClr val="FF0000"/>
                </a:solidFill>
                <a:latin typeface="Calibri"/>
                <a:cs typeface="Calibri"/>
              </a:rPr>
              <a:t>secret</a:t>
            </a:r>
            <a:r>
              <a:rPr sz="1867" dirty="0">
                <a:latin typeface="Calibri"/>
                <a:cs typeface="Calibri"/>
              </a:rPr>
              <a:t>)</a:t>
            </a:r>
            <a:endParaRPr sz="1867">
              <a:latin typeface="Calibri"/>
              <a:cs typeface="Calibri"/>
            </a:endParaRPr>
          </a:p>
          <a:p>
            <a:pPr marL="121917"/>
            <a:r>
              <a:rPr sz="1867" i="1" dirty="0">
                <a:latin typeface="Calibri"/>
                <a:cs typeface="Calibri"/>
              </a:rPr>
              <a:t>Use</a:t>
            </a:r>
            <a:r>
              <a:rPr sz="1867" i="1" spc="-80" dirty="0">
                <a:latin typeface="Calibri"/>
                <a:cs typeface="Calibri"/>
              </a:rPr>
              <a:t> </a:t>
            </a:r>
            <a:r>
              <a:rPr sz="1867" i="1" spc="-7" dirty="0">
                <a:latin typeface="Calibri"/>
                <a:cs typeface="Calibri"/>
              </a:rPr>
              <a:t>resource</a:t>
            </a:r>
            <a:endParaRPr sz="1867">
              <a:latin typeface="Calibri"/>
              <a:cs typeface="Calibri"/>
            </a:endParaRPr>
          </a:p>
          <a:p>
            <a:pPr marL="16933">
              <a:spcBef>
                <a:spcPts val="7"/>
              </a:spcBef>
            </a:pPr>
            <a:r>
              <a:rPr sz="1867" dirty="0">
                <a:latin typeface="Calibri"/>
                <a:cs typeface="Calibri"/>
              </a:rPr>
              <a:t>else</a:t>
            </a:r>
            <a:endParaRPr sz="1867">
              <a:latin typeface="Calibri"/>
              <a:cs typeface="Calibri"/>
            </a:endParaRPr>
          </a:p>
          <a:p>
            <a:pPr marL="121917"/>
            <a:r>
              <a:rPr sz="1867" i="1" dirty="0">
                <a:latin typeface="Calibri"/>
                <a:cs typeface="Calibri"/>
              </a:rPr>
              <a:t>idle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45" name="object 13">
            <a:extLst>
              <a:ext uri="{FF2B5EF4-FFF2-40B4-BE49-F238E27FC236}">
                <a16:creationId xmlns:a16="http://schemas.microsoft.com/office/drawing/2014/main" id="{3D759348-A769-B433-A2BD-1A2F0A6E9787}"/>
              </a:ext>
            </a:extLst>
          </p:cNvPr>
          <p:cNvSpPr txBox="1"/>
          <p:nvPr/>
        </p:nvSpPr>
        <p:spPr>
          <a:xfrm>
            <a:off x="1588613" y="5529873"/>
            <a:ext cx="134874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dirty="0">
                <a:latin typeface="Calibri"/>
                <a:cs typeface="Calibri"/>
              </a:rPr>
              <a:t>Side</a:t>
            </a:r>
            <a:r>
              <a:rPr sz="1867" b="1" spc="-107" dirty="0">
                <a:latin typeface="Calibri"/>
                <a:cs typeface="Calibri"/>
              </a:rPr>
              <a:t> </a:t>
            </a:r>
            <a:r>
              <a:rPr sz="1867" b="1" dirty="0">
                <a:latin typeface="Calibri"/>
                <a:cs typeface="Calibri"/>
              </a:rPr>
              <a:t>channel: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46" name="object 14">
            <a:extLst>
              <a:ext uri="{FF2B5EF4-FFF2-40B4-BE49-F238E27FC236}">
                <a16:creationId xmlns:a16="http://schemas.microsoft.com/office/drawing/2014/main" id="{F8A8A027-F798-4EB6-3D2B-E5566674478D}"/>
              </a:ext>
            </a:extLst>
          </p:cNvPr>
          <p:cNvSpPr txBox="1"/>
          <p:nvPr/>
        </p:nvSpPr>
        <p:spPr>
          <a:xfrm>
            <a:off x="7515888" y="4123289"/>
            <a:ext cx="1446107" cy="8790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t1 = rdtsc() </a:t>
            </a:r>
            <a:r>
              <a:rPr sz="1867" spc="7" dirty="0">
                <a:latin typeface="Arial MT"/>
                <a:cs typeface="Arial MT"/>
              </a:rPr>
              <a:t> </a:t>
            </a:r>
            <a:r>
              <a:rPr sz="1867" i="1" spc="-7" dirty="0">
                <a:latin typeface="Arial"/>
                <a:cs typeface="Arial"/>
              </a:rPr>
              <a:t>Use</a:t>
            </a:r>
            <a:r>
              <a:rPr sz="1867" i="1" spc="-120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resource </a:t>
            </a:r>
            <a:r>
              <a:rPr sz="1867" i="1" spc="-500" dirty="0">
                <a:latin typeface="Arial"/>
                <a:cs typeface="Arial"/>
              </a:rPr>
              <a:t> </a:t>
            </a:r>
            <a:r>
              <a:rPr sz="1867" dirty="0">
                <a:latin typeface="Arial MT"/>
                <a:cs typeface="Arial MT"/>
              </a:rPr>
              <a:t>t2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=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rdtsc()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47" name="object 15">
            <a:extLst>
              <a:ext uri="{FF2B5EF4-FFF2-40B4-BE49-F238E27FC236}">
                <a16:creationId xmlns:a16="http://schemas.microsoft.com/office/drawing/2014/main" id="{94F2167A-E11E-B9B9-8022-876B8AC7AE58}"/>
              </a:ext>
            </a:extLst>
          </p:cNvPr>
          <p:cNvSpPr txBox="1"/>
          <p:nvPr/>
        </p:nvSpPr>
        <p:spPr>
          <a:xfrm>
            <a:off x="7515888" y="5261649"/>
            <a:ext cx="3117427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if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(t2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–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t1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&gt;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THRESH) </a:t>
            </a:r>
            <a:r>
              <a:rPr sz="1867" dirty="0">
                <a:latin typeface="Arial MT"/>
                <a:cs typeface="Arial MT"/>
              </a:rPr>
              <a:t>read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‘1’ </a:t>
            </a:r>
            <a:r>
              <a:rPr sz="1867" spc="-500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else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read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spc="-7" dirty="0">
                <a:latin typeface="Arial MT"/>
                <a:cs typeface="Arial MT"/>
              </a:rPr>
              <a:t>‘0’</a:t>
            </a:r>
            <a:endParaRPr sz="18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27834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6DA3-92BE-CED8-9D00-81292070A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Side/Covert Channel: Summary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07103-C300-C1C5-038D-5621AACC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AEA1D-8161-5670-C795-50DE198B2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pic>
        <p:nvPicPr>
          <p:cNvPr id="6" name="Picture 5" descr="Image result for DRAM image DDR">
            <a:extLst>
              <a:ext uri="{FF2B5EF4-FFF2-40B4-BE49-F238E27FC236}">
                <a16:creationId xmlns:a16="http://schemas.microsoft.com/office/drawing/2014/main" id="{750FBCEE-FCCE-AAF3-5E9B-B82D44E06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382" y="1524561"/>
            <a:ext cx="3000805" cy="2326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minion thinking image">
            <a:extLst>
              <a:ext uri="{FF2B5EF4-FFF2-40B4-BE49-F238E27FC236}">
                <a16:creationId xmlns:a16="http://schemas.microsoft.com/office/drawing/2014/main" id="{462B920D-0646-F7B2-CA79-0BD46A41B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849" y="1487456"/>
            <a:ext cx="1561794" cy="258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mage result for laughing minion image">
            <a:extLst>
              <a:ext uri="{FF2B5EF4-FFF2-40B4-BE49-F238E27FC236}">
                <a16:creationId xmlns:a16="http://schemas.microsoft.com/office/drawing/2014/main" id="{F88F91B6-9F5F-D315-5208-68EF3F2C8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44" y="1475165"/>
            <a:ext cx="3000805" cy="2547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AFB1F92E-5B38-4C52-6DAD-32E42FFC92B2}"/>
              </a:ext>
            </a:extLst>
          </p:cNvPr>
          <p:cNvSpPr/>
          <p:nvPr/>
        </p:nvSpPr>
        <p:spPr>
          <a:xfrm>
            <a:off x="3762849" y="3516687"/>
            <a:ext cx="4051069" cy="7016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Side-channel attacks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673D751-965E-5428-FF3B-04F25DFE84FA}"/>
              </a:ext>
            </a:extLst>
          </p:cNvPr>
          <p:cNvSpPr/>
          <p:nvPr/>
        </p:nvSpPr>
        <p:spPr>
          <a:xfrm>
            <a:off x="292062" y="1524561"/>
            <a:ext cx="958735" cy="7016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Spy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C247767B-2D37-CF50-1660-585DE205A219}"/>
              </a:ext>
            </a:extLst>
          </p:cNvPr>
          <p:cNvSpPr/>
          <p:nvPr/>
        </p:nvSpPr>
        <p:spPr>
          <a:xfrm>
            <a:off x="10925649" y="1524561"/>
            <a:ext cx="1384069" cy="7016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Victim</a:t>
            </a:r>
          </a:p>
        </p:txBody>
      </p:sp>
      <p:pic>
        <p:nvPicPr>
          <p:cNvPr id="12" name="Picture 2" descr="Use links below to save image.">
            <a:extLst>
              <a:ext uri="{FF2B5EF4-FFF2-40B4-BE49-F238E27FC236}">
                <a16:creationId xmlns:a16="http://schemas.microsoft.com/office/drawing/2014/main" id="{2615B9DC-50FF-5673-9EC6-1FBBCD1D8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779" y="2061856"/>
            <a:ext cx="21907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Image result for DRAM image DDR">
            <a:extLst>
              <a:ext uri="{FF2B5EF4-FFF2-40B4-BE49-F238E27FC236}">
                <a16:creationId xmlns:a16="http://schemas.microsoft.com/office/drawing/2014/main" id="{96A05F18-C8DA-A7E7-8EC9-4622CE85F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169" y="4267761"/>
            <a:ext cx="3000805" cy="2326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A9881394-D633-EF1A-BF04-FC53B6832F55}"/>
              </a:ext>
            </a:extLst>
          </p:cNvPr>
          <p:cNvSpPr/>
          <p:nvPr/>
        </p:nvSpPr>
        <p:spPr>
          <a:xfrm>
            <a:off x="3807861" y="6037784"/>
            <a:ext cx="4444925" cy="7016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Covert-channel attacks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91F50691-7F05-0ECB-1C2F-352C4D57E680}"/>
              </a:ext>
            </a:extLst>
          </p:cNvPr>
          <p:cNvSpPr/>
          <p:nvPr/>
        </p:nvSpPr>
        <p:spPr>
          <a:xfrm>
            <a:off x="333849" y="4267761"/>
            <a:ext cx="1143000" cy="10484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Let’s play</a:t>
            </a:r>
          </a:p>
        </p:txBody>
      </p:sp>
      <p:pic>
        <p:nvPicPr>
          <p:cNvPr id="16" name="Picture 2" descr="Use links below to save image.">
            <a:extLst>
              <a:ext uri="{FF2B5EF4-FFF2-40B4-BE49-F238E27FC236}">
                <a16:creationId xmlns:a16="http://schemas.microsoft.com/office/drawing/2014/main" id="{7649389D-E2B7-B2AE-E30A-B99F58A74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566" y="4805056"/>
            <a:ext cx="21907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16077B10-24F6-D4BD-24C6-91BEBB321505}"/>
              </a:ext>
            </a:extLst>
          </p:cNvPr>
          <p:cNvSpPr/>
          <p:nvPr/>
        </p:nvSpPr>
        <p:spPr>
          <a:xfrm>
            <a:off x="10475826" y="4267761"/>
            <a:ext cx="1704096" cy="10484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Oh Yes!! </a:t>
            </a:r>
          </a:p>
        </p:txBody>
      </p:sp>
    </p:spTree>
    <p:extLst>
      <p:ext uri="{BB962C8B-B14F-4D97-AF65-F5344CB8AC3E}">
        <p14:creationId xmlns:p14="http://schemas.microsoft.com/office/powerpoint/2010/main" val="1737889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leakage in the real world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14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6EDEE-1EAF-695C-63B2-AEF09AD1D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20" y="1713869"/>
            <a:ext cx="5619750" cy="5024280"/>
          </a:xfrm>
          <a:prstGeom prst="rect">
            <a:avLst/>
          </a:prstGeom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FD0A3BD2-7AD8-B8F2-B002-7C56E3A8DDCA}"/>
              </a:ext>
            </a:extLst>
          </p:cNvPr>
          <p:cNvSpPr/>
          <p:nvPr/>
        </p:nvSpPr>
        <p:spPr>
          <a:xfrm>
            <a:off x="5429318" y="1684940"/>
            <a:ext cx="6388330" cy="5254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Modular exponentiation, </a:t>
            </a:r>
            <a:r>
              <a:rPr lang="en-US" sz="32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en-US" sz="3200" i="1" baseline="30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3200" baseline="30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 n</a:t>
            </a:r>
            <a:endParaRPr lang="en-US" sz="32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1B906135-4DB1-C12C-1547-A19C3EA95D4D}"/>
              </a:ext>
            </a:extLst>
          </p:cNvPr>
          <p:cNvSpPr/>
          <p:nvPr/>
        </p:nvSpPr>
        <p:spPr>
          <a:xfrm>
            <a:off x="6312366" y="2412655"/>
            <a:ext cx="5794684" cy="105294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Exponent </a:t>
            </a:r>
            <a:r>
              <a:rPr lang="en-US" sz="32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 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used for decryption</a:t>
            </a:r>
            <a:endParaRPr lang="en-US" sz="32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024084-E821-D125-33B0-D027D830D3AA}"/>
              </a:ext>
            </a:extLst>
          </p:cNvPr>
          <p:cNvSpPr/>
          <p:nvPr/>
        </p:nvSpPr>
        <p:spPr>
          <a:xfrm>
            <a:off x="1723820" y="4228469"/>
            <a:ext cx="3352800" cy="609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AF0017-562F-96B0-526E-81B29FEEC074}"/>
              </a:ext>
            </a:extLst>
          </p:cNvPr>
          <p:cNvSpPr/>
          <p:nvPr/>
        </p:nvSpPr>
        <p:spPr>
          <a:xfrm>
            <a:off x="1266620" y="2971169"/>
            <a:ext cx="3352800" cy="609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9629A6AD-8C7D-1B43-4CE1-BCC3DCC4CA81}"/>
              </a:ext>
            </a:extLst>
          </p:cNvPr>
          <p:cNvSpPr/>
          <p:nvPr/>
        </p:nvSpPr>
        <p:spPr>
          <a:xfrm>
            <a:off x="4654475" y="5700330"/>
            <a:ext cx="6388330" cy="4968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Attacker tries to get the </a:t>
            </a:r>
            <a:r>
              <a:rPr lang="en-US" sz="32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304A87-CA35-A4C7-D0B3-38B5238D8F9C}"/>
              </a:ext>
            </a:extLst>
          </p:cNvPr>
          <p:cNvCxnSpPr>
            <a:cxnSpLocks/>
          </p:cNvCxnSpPr>
          <p:nvPr/>
        </p:nvCxnSpPr>
        <p:spPr>
          <a:xfrm flipH="1" flipV="1">
            <a:off x="3177282" y="4780552"/>
            <a:ext cx="1625018" cy="6096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E53CB49-B934-8722-7754-0F3387129EB8}"/>
              </a:ext>
            </a:extLst>
          </p:cNvPr>
          <p:cNvSpPr txBox="1"/>
          <p:nvPr/>
        </p:nvSpPr>
        <p:spPr>
          <a:xfrm>
            <a:off x="4769684" y="5159319"/>
            <a:ext cx="1197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i="1" dirty="0"/>
              <a:t>multiply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845EC0-EBF5-838C-146C-5BCEA401A951}"/>
              </a:ext>
            </a:extLst>
          </p:cNvPr>
          <p:cNvSpPr txBox="1"/>
          <p:nvPr/>
        </p:nvSpPr>
        <p:spPr>
          <a:xfrm>
            <a:off x="0" y="3496776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i="1" dirty="0"/>
              <a:t>square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FF50A3-272B-465A-CB83-466374E7279F}"/>
              </a:ext>
            </a:extLst>
          </p:cNvPr>
          <p:cNvCxnSpPr>
            <a:cxnSpLocks/>
          </p:cNvCxnSpPr>
          <p:nvPr/>
        </p:nvCxnSpPr>
        <p:spPr>
          <a:xfrm flipV="1">
            <a:off x="1092449" y="3432555"/>
            <a:ext cx="1311916" cy="37681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2462C2-02DD-FD32-ED0B-EFBB22B78654}"/>
              </a:ext>
            </a:extLst>
          </p:cNvPr>
          <p:cNvSpPr txBox="1"/>
          <p:nvPr/>
        </p:nvSpPr>
        <p:spPr>
          <a:xfrm>
            <a:off x="4792117" y="3415378"/>
            <a:ext cx="102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i="1" dirty="0"/>
              <a:t>reduce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06A6FD-C45A-9E79-1F7A-73CA3EF7A250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3840875" y="3390269"/>
            <a:ext cx="951242" cy="25594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C1DA52-82DA-AACD-5118-435CF5D28DB5}"/>
              </a:ext>
            </a:extLst>
          </p:cNvPr>
          <p:cNvCxnSpPr>
            <a:cxnSpLocks/>
          </p:cNvCxnSpPr>
          <p:nvPr/>
        </p:nvCxnSpPr>
        <p:spPr>
          <a:xfrm flipH="1">
            <a:off x="4389360" y="3798611"/>
            <a:ext cx="555157" cy="63557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682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1FF2-A737-EDF7-A591-BF9DA6CC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leakage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2CDC-1D14-0D03-13EC-0B684882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3310" y="6380591"/>
            <a:ext cx="4114800" cy="365125"/>
          </a:xfrm>
        </p:spPr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9FF8E-2203-8033-7457-885FCF1E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15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6EDEE-1EAF-695C-63B2-AEF09AD1D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20" y="1713869"/>
            <a:ext cx="5619750" cy="5024280"/>
          </a:xfrm>
          <a:prstGeom prst="rect">
            <a:avLst/>
          </a:prstGeom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FD0A3BD2-7AD8-B8F2-B002-7C56E3A8DDCA}"/>
              </a:ext>
            </a:extLst>
          </p:cNvPr>
          <p:cNvSpPr/>
          <p:nvPr/>
        </p:nvSpPr>
        <p:spPr>
          <a:xfrm>
            <a:off x="5429318" y="1684940"/>
            <a:ext cx="6388330" cy="5254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Modular exponentiation, </a:t>
            </a:r>
            <a:r>
              <a:rPr lang="en-US" sz="32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en-US" sz="3200" i="1" baseline="30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3200" baseline="30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 n</a:t>
            </a:r>
            <a:endParaRPr lang="en-US" sz="32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1B906135-4DB1-C12C-1547-A19C3EA95D4D}"/>
              </a:ext>
            </a:extLst>
          </p:cNvPr>
          <p:cNvSpPr/>
          <p:nvPr/>
        </p:nvSpPr>
        <p:spPr>
          <a:xfrm>
            <a:off x="6312366" y="2412655"/>
            <a:ext cx="5794684" cy="105294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Exponent </a:t>
            </a:r>
            <a:r>
              <a:rPr lang="en-US" sz="32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 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used for decryption</a:t>
            </a:r>
            <a:endParaRPr lang="en-US" sz="32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024084-E821-D125-33B0-D027D830D3AA}"/>
              </a:ext>
            </a:extLst>
          </p:cNvPr>
          <p:cNvSpPr/>
          <p:nvPr/>
        </p:nvSpPr>
        <p:spPr>
          <a:xfrm>
            <a:off x="1723820" y="4228469"/>
            <a:ext cx="3352800" cy="609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AF0017-562F-96B0-526E-81B29FEEC074}"/>
              </a:ext>
            </a:extLst>
          </p:cNvPr>
          <p:cNvSpPr/>
          <p:nvPr/>
        </p:nvSpPr>
        <p:spPr>
          <a:xfrm>
            <a:off x="1266620" y="2971169"/>
            <a:ext cx="3352800" cy="609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9629A6AD-8C7D-1B43-4CE1-BCC3DCC4CA81}"/>
              </a:ext>
            </a:extLst>
          </p:cNvPr>
          <p:cNvSpPr/>
          <p:nvPr/>
        </p:nvSpPr>
        <p:spPr>
          <a:xfrm>
            <a:off x="4654475" y="5700330"/>
            <a:ext cx="6388330" cy="4968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Attacker tries to get the </a:t>
            </a:r>
            <a:r>
              <a:rPr lang="en-US" sz="32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2D4D83A8-8AE6-ED54-E852-3AD6377300E6}"/>
              </a:ext>
            </a:extLst>
          </p:cNvPr>
          <p:cNvSpPr/>
          <p:nvPr/>
        </p:nvSpPr>
        <p:spPr>
          <a:xfrm>
            <a:off x="7343569" y="3727609"/>
            <a:ext cx="4706003" cy="105294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3200" i="1" baseline="-25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32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0, Square Reduce (SR) </a:t>
            </a:r>
          </a:p>
          <a:p>
            <a:r>
              <a:rPr lang="en-US" sz="3200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3200" i="1" baseline="-25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32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1, SRMR </a:t>
            </a:r>
            <a:r>
              <a:rPr lang="en-US" sz="3200" i="1" baseline="-25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304A87-CA35-A4C7-D0B3-38B5238D8F9C}"/>
              </a:ext>
            </a:extLst>
          </p:cNvPr>
          <p:cNvCxnSpPr>
            <a:cxnSpLocks/>
          </p:cNvCxnSpPr>
          <p:nvPr/>
        </p:nvCxnSpPr>
        <p:spPr>
          <a:xfrm flipH="1" flipV="1">
            <a:off x="3177282" y="4780552"/>
            <a:ext cx="1625018" cy="6096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E53CB49-B934-8722-7754-0F3387129EB8}"/>
              </a:ext>
            </a:extLst>
          </p:cNvPr>
          <p:cNvSpPr txBox="1"/>
          <p:nvPr/>
        </p:nvSpPr>
        <p:spPr>
          <a:xfrm>
            <a:off x="4769684" y="5159319"/>
            <a:ext cx="1197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i="1" dirty="0"/>
              <a:t>multiply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845EC0-EBF5-838C-146C-5BCEA401A951}"/>
              </a:ext>
            </a:extLst>
          </p:cNvPr>
          <p:cNvSpPr txBox="1"/>
          <p:nvPr/>
        </p:nvSpPr>
        <p:spPr>
          <a:xfrm>
            <a:off x="0" y="3496776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i="1" dirty="0"/>
              <a:t>square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FF50A3-272B-465A-CB83-466374E7279F}"/>
              </a:ext>
            </a:extLst>
          </p:cNvPr>
          <p:cNvCxnSpPr>
            <a:cxnSpLocks/>
          </p:cNvCxnSpPr>
          <p:nvPr/>
        </p:nvCxnSpPr>
        <p:spPr>
          <a:xfrm flipV="1">
            <a:off x="1092449" y="3432555"/>
            <a:ext cx="1311916" cy="37681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2462C2-02DD-FD32-ED0B-EFBB22B78654}"/>
              </a:ext>
            </a:extLst>
          </p:cNvPr>
          <p:cNvSpPr txBox="1"/>
          <p:nvPr/>
        </p:nvSpPr>
        <p:spPr>
          <a:xfrm>
            <a:off x="4792117" y="3415378"/>
            <a:ext cx="102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i="1" dirty="0"/>
              <a:t>reduce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06A6FD-C45A-9E79-1F7A-73CA3EF7A250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3840875" y="3390269"/>
            <a:ext cx="951242" cy="25594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C1DA52-82DA-AACD-5118-435CF5D28DB5}"/>
              </a:ext>
            </a:extLst>
          </p:cNvPr>
          <p:cNvCxnSpPr>
            <a:cxnSpLocks/>
          </p:cNvCxnSpPr>
          <p:nvPr/>
        </p:nvCxnSpPr>
        <p:spPr>
          <a:xfrm flipH="1">
            <a:off x="4389360" y="3798611"/>
            <a:ext cx="555157" cy="63557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716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6DA3-92BE-CED8-9D00-81292070A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Clflush</a:t>
            </a:r>
            <a:r>
              <a:rPr lang="en-US" dirty="0"/>
              <a:t> instruction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07103-C300-C1C5-038D-5621AACC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AEA1D-8161-5670-C795-50DE198B2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EFDF01-A88D-FEA5-CF45-49BDE0AB1ACE}"/>
              </a:ext>
            </a:extLst>
          </p:cNvPr>
          <p:cNvSpPr txBox="1"/>
          <p:nvPr/>
        </p:nvSpPr>
        <p:spPr>
          <a:xfrm>
            <a:off x="624092" y="1690688"/>
            <a:ext cx="114347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Invalidates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from every level of the cache hierarchy in the cache coherence domain the </a:t>
            </a:r>
            <a:r>
              <a:rPr lang="en-US" sz="36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cache line that contains the linear address specified with the memory operand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If that cache line contains modified data at any level of the cache hierarchy, that data is </a:t>
            </a:r>
            <a:r>
              <a:rPr lang="en-US" sz="36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written back to memory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The source operand is a byte memory location.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226398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6DA3-92BE-CED8-9D00-81292070A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Flush attack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07103-C300-C1C5-038D-5621AACC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CASPER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AEA1D-8161-5670-C795-50DE198B2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976A113-8D65-C089-EFE5-A9F0A59574C5}"/>
              </a:ext>
            </a:extLst>
          </p:cNvPr>
          <p:cNvSpPr txBox="1">
            <a:spLocks/>
          </p:cNvSpPr>
          <p:nvPr/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smtClean="0"/>
              <a:pPr/>
              <a:t>17</a:t>
            </a:fld>
            <a:endParaRPr lang="en"/>
          </a:p>
        </p:txBody>
      </p:sp>
      <p:sp>
        <p:nvSpPr>
          <p:cNvPr id="7" name="Rounded Rectangle 19">
            <a:extLst>
              <a:ext uri="{FF2B5EF4-FFF2-40B4-BE49-F238E27FC236}">
                <a16:creationId xmlns:a16="http://schemas.microsoft.com/office/drawing/2014/main" id="{DB84C523-3613-7B4E-98DA-0A132AFC1485}"/>
              </a:ext>
            </a:extLst>
          </p:cNvPr>
          <p:cNvSpPr/>
          <p:nvPr/>
        </p:nvSpPr>
        <p:spPr>
          <a:xfrm>
            <a:off x="1219200" y="4482858"/>
            <a:ext cx="4044021" cy="754427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  </a:t>
            </a:r>
          </a:p>
        </p:txBody>
      </p:sp>
      <p:pic>
        <p:nvPicPr>
          <p:cNvPr id="8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0E584415-8383-AAFC-6F2B-60E9C5C8B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52401" y="5648837"/>
            <a:ext cx="6476999" cy="120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6E5452-5066-3F9A-B2BC-7E4494E64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69" y="1676401"/>
            <a:ext cx="1745531" cy="17804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00AEB7-82F7-7B4A-5E18-875D5DE40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76401"/>
            <a:ext cx="1776214" cy="1776214"/>
          </a:xfrm>
          <a:prstGeom prst="rect">
            <a:avLst/>
          </a:prstGeom>
        </p:spPr>
      </p:pic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157BEB86-B57B-207C-B225-A0DA244CD9B3}"/>
              </a:ext>
            </a:extLst>
          </p:cNvPr>
          <p:cNvSpPr/>
          <p:nvPr/>
        </p:nvSpPr>
        <p:spPr>
          <a:xfrm>
            <a:off x="6529588" y="1600201"/>
            <a:ext cx="5662412" cy="12091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Step 0:Spy </a:t>
            </a:r>
            <a:r>
              <a:rPr lang="en-US" sz="3200" i="1" dirty="0">
                <a:solidFill>
                  <a:srgbClr val="C00000"/>
                </a:solidFill>
                <a:latin typeface="Cambria" panose="02040503050406030204" pitchFamily="18" charset="0"/>
              </a:rPr>
              <a:t>maps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the shared library, shared in the cache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D3EEC05-8CB6-2CF5-5B80-36E0DA312D6B}"/>
              </a:ext>
            </a:extLst>
          </p:cNvPr>
          <p:cNvSpPr/>
          <p:nvPr/>
        </p:nvSpPr>
        <p:spPr>
          <a:xfrm>
            <a:off x="6529588" y="2895601"/>
            <a:ext cx="5662412" cy="12091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Step 1:Spy </a:t>
            </a:r>
            <a:r>
              <a:rPr lang="en-US" sz="3200" i="1" dirty="0">
                <a:solidFill>
                  <a:srgbClr val="C00000"/>
                </a:solidFill>
                <a:latin typeface="Cambria" panose="02040503050406030204" pitchFamily="18" charset="0"/>
              </a:rPr>
              <a:t>flushes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the cache block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86C93-C7AE-9E44-FF16-4421E9DFD972}"/>
              </a:ext>
            </a:extLst>
          </p:cNvPr>
          <p:cNvSpPr txBox="1"/>
          <p:nvPr/>
        </p:nvSpPr>
        <p:spPr>
          <a:xfrm>
            <a:off x="5654698" y="4622822"/>
            <a:ext cx="746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LLC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B56C897F-2354-A8AB-833C-082B989FBE17}"/>
              </a:ext>
            </a:extLst>
          </p:cNvPr>
          <p:cNvSpPr/>
          <p:nvPr/>
        </p:nvSpPr>
        <p:spPr>
          <a:xfrm>
            <a:off x="6555690" y="4191001"/>
            <a:ext cx="5662412" cy="12091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Step 2: Victim </a:t>
            </a:r>
            <a:r>
              <a:rPr lang="en-US" sz="3200" i="1" dirty="0">
                <a:solidFill>
                  <a:srgbClr val="C00000"/>
                </a:solidFill>
                <a:latin typeface="Cambria" panose="02040503050406030204" pitchFamily="18" charset="0"/>
              </a:rPr>
              <a:t>reloads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the cache block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FAD6E3F6-B390-A808-E0EA-F07F411024D6}"/>
              </a:ext>
            </a:extLst>
          </p:cNvPr>
          <p:cNvSpPr/>
          <p:nvPr/>
        </p:nvSpPr>
        <p:spPr>
          <a:xfrm>
            <a:off x="6629400" y="5572636"/>
            <a:ext cx="5562600" cy="12091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Step 3: Spy </a:t>
            </a:r>
            <a:r>
              <a:rPr lang="en-US" sz="3200" i="1" dirty="0">
                <a:solidFill>
                  <a:srgbClr val="C00000"/>
                </a:solidFill>
                <a:latin typeface="Cambria" panose="02040503050406030204" pitchFamily="18" charset="0"/>
              </a:rPr>
              <a:t>reloads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the cache block (hit/miss)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79DA69-67EF-F77C-3D59-E4E7A1C3798B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2010791" y="3369154"/>
            <a:ext cx="447396" cy="130254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xplosion: 8 Points 17">
            <a:extLst>
              <a:ext uri="{FF2B5EF4-FFF2-40B4-BE49-F238E27FC236}">
                <a16:creationId xmlns:a16="http://schemas.microsoft.com/office/drawing/2014/main" id="{098EFC3C-AC57-FC9E-4A8E-65E1D82F8483}"/>
              </a:ext>
            </a:extLst>
          </p:cNvPr>
          <p:cNvSpPr/>
          <p:nvPr/>
        </p:nvSpPr>
        <p:spPr>
          <a:xfrm>
            <a:off x="2240042" y="3181428"/>
            <a:ext cx="2396351" cy="1424853"/>
          </a:xfrm>
          <a:prstGeom prst="irregularSeal1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i="1" dirty="0">
                <a:solidFill>
                  <a:srgbClr val="C00000"/>
                </a:solidFill>
                <a:latin typeface="Cambria" panose="02040503050406030204" pitchFamily="18" charset="0"/>
              </a:rPr>
              <a:t>Hit, Voila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2E6AB0-614E-FAEF-E6F4-B81729894CB2}"/>
              </a:ext>
            </a:extLst>
          </p:cNvPr>
          <p:cNvSpPr/>
          <p:nvPr/>
        </p:nvSpPr>
        <p:spPr>
          <a:xfrm>
            <a:off x="2077187" y="4671696"/>
            <a:ext cx="762000" cy="40637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501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35C8-3C3E-4703-8A11-A7A548C2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Spectre and Meltdown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FE227-B952-4909-98BD-9121CA5232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18</a:t>
            </a:fld>
            <a:endParaRPr lang="en"/>
          </a:p>
        </p:txBody>
      </p:sp>
      <p:sp>
        <p:nvSpPr>
          <p:cNvPr id="5" name="AutoShape 2" descr="Spectre">
            <a:extLst>
              <a:ext uri="{FF2B5EF4-FFF2-40B4-BE49-F238E27FC236}">
                <a16:creationId xmlns:a16="http://schemas.microsoft.com/office/drawing/2014/main" id="{556E48A0-B90E-4312-B1B6-7A19E1D32C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2" descr="Image result for images of spectre">
            <a:extLst>
              <a:ext uri="{FF2B5EF4-FFF2-40B4-BE49-F238E27FC236}">
                <a16:creationId xmlns:a16="http://schemas.microsoft.com/office/drawing/2014/main" id="{9DD49760-0B2A-45F6-B1BF-684D663D7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58" y="2333994"/>
            <a:ext cx="4306334" cy="361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 result for meltdown">
            <a:extLst>
              <a:ext uri="{FF2B5EF4-FFF2-40B4-BE49-F238E27FC236}">
                <a16:creationId xmlns:a16="http://schemas.microsoft.com/office/drawing/2014/main" id="{545855CF-FD26-4570-B840-950EA3D2C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587" y="2333994"/>
            <a:ext cx="3043720" cy="3574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041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DDAD-B6EC-4284-BB24-0B1B8D88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Spectre in Action: Fasten Your Seat Belts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58836-C2FE-4792-8F3A-32833EF166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24AC949-13FB-42ED-BFAB-85FD99568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5639" y="3553584"/>
            <a:ext cx="3858477" cy="3056002"/>
          </a:xfrm>
          <a:prstGeom prst="rect">
            <a:avLst/>
          </a:prstGeom>
        </p:spPr>
      </p:pic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7A5219BC-3891-4D21-8615-770F0C827F5F}"/>
              </a:ext>
            </a:extLst>
          </p:cNvPr>
          <p:cNvSpPr/>
          <p:nvPr/>
        </p:nvSpPr>
        <p:spPr>
          <a:xfrm>
            <a:off x="167571" y="1628531"/>
            <a:ext cx="10906268" cy="32768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00B050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rgbClr val="00B050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rgbClr val="00B050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rgbClr val="00B050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rgbClr val="00B050"/>
                </a:solidFill>
                <a:latin typeface="Cambria" panose="02040503050406030204" pitchFamily="18" charset="0"/>
              </a:rPr>
              <a:t>            x = CS773Array[attacker]</a:t>
            </a:r>
          </a:p>
          <a:p>
            <a:endParaRPr lang="en-US" altLang="en-US" sz="3200" dirty="0">
              <a:solidFill>
                <a:srgbClr val="00B05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y=</a:t>
            </a:r>
            <a:r>
              <a:rPr lang="en-US" altLang="en-US" sz="3200" dirty="0" err="1">
                <a:solidFill>
                  <a:srgbClr val="C00000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EE893B-594F-4A88-95CA-0B9FF5B215E3}"/>
              </a:ext>
            </a:extLst>
          </p:cNvPr>
          <p:cNvSpPr txBox="1"/>
          <p:nvPr/>
        </p:nvSpPr>
        <p:spPr>
          <a:xfrm>
            <a:off x="6327685" y="2560395"/>
            <a:ext cx="37844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DRAM LOAD (make sure you </a:t>
            </a:r>
          </a:p>
          <a:p>
            <a:r>
              <a:rPr lang="en-IN" sz="2400" dirty="0"/>
              <a:t>thrash all from cache)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AB719305-9E4C-4FC5-B91E-E07ED64B4DAA}"/>
              </a:ext>
            </a:extLst>
          </p:cNvPr>
          <p:cNvCxnSpPr>
            <a:cxnSpLocks/>
          </p:cNvCxnSpPr>
          <p:nvPr/>
        </p:nvCxnSpPr>
        <p:spPr>
          <a:xfrm flipV="1">
            <a:off x="5723221" y="2600613"/>
            <a:ext cx="1333672" cy="288896"/>
          </a:xfrm>
          <a:prstGeom prst="curvedConnector4">
            <a:avLst>
              <a:gd name="adj1" fmla="val -12553"/>
              <a:gd name="adj2" fmla="val 17912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F774FD9E-15AC-4FA4-84C3-146C310B1175}"/>
              </a:ext>
            </a:extLst>
          </p:cNvPr>
          <p:cNvCxnSpPr>
            <a:cxnSpLocks/>
          </p:cNvCxnSpPr>
          <p:nvPr/>
        </p:nvCxnSpPr>
        <p:spPr>
          <a:xfrm>
            <a:off x="3950475" y="3717896"/>
            <a:ext cx="1606652" cy="37417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F93CA0-69D8-4FD4-BB08-9B871530CD61}"/>
              </a:ext>
            </a:extLst>
          </p:cNvPr>
          <p:cNvSpPr txBox="1"/>
          <p:nvPr/>
        </p:nvSpPr>
        <p:spPr>
          <a:xfrm>
            <a:off x="5581548" y="3568327"/>
            <a:ext cx="5679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DRAM LOAD (make sure you thrash all from </a:t>
            </a:r>
          </a:p>
          <a:p>
            <a:r>
              <a:rPr lang="en-IN" sz="2400" dirty="0"/>
              <a:t>cache)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FDF5E-9062-FE01-CC1C-67FC49FB1F44}"/>
              </a:ext>
            </a:extLst>
          </p:cNvPr>
          <p:cNvSpPr txBox="1"/>
          <p:nvPr/>
        </p:nvSpPr>
        <p:spPr>
          <a:xfrm>
            <a:off x="2036064" y="5877457"/>
            <a:ext cx="4921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is the secret that is not accessible to the attacker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476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7EAA-E168-4255-8B3F-45A0854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Predictor and Speculative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364C-3F4C-4652-9621-14B173FD4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20</a:t>
            </a:fld>
            <a:endParaRPr lang="en"/>
          </a:p>
        </p:txBody>
      </p:sp>
      <p:pic>
        <p:nvPicPr>
          <p:cNvPr id="3074" name="Picture 2" descr="Tell Prediction Stock Vector Illustration And Royalty Free Tell Prediction  Clipart">
            <a:extLst>
              <a:ext uri="{FF2B5EF4-FFF2-40B4-BE49-F238E27FC236}">
                <a16:creationId xmlns:a16="http://schemas.microsoft.com/office/drawing/2014/main" id="{759A54E9-5B8F-4D08-9639-E636B9602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048" y="187245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D57B8C94-7DCB-4C35-A9AD-D8BBD24D68F8}"/>
              </a:ext>
            </a:extLst>
          </p:cNvPr>
          <p:cNvSpPr/>
          <p:nvPr/>
        </p:nvSpPr>
        <p:spPr>
          <a:xfrm>
            <a:off x="5198440" y="4370525"/>
            <a:ext cx="6127995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Branch predictor returns TRUE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Rounded Rectangle 16">
            <a:extLst>
              <a:ext uri="{FF2B5EF4-FFF2-40B4-BE49-F238E27FC236}">
                <a16:creationId xmlns:a16="http://schemas.microsoft.com/office/drawing/2014/main" id="{1AD4D88E-BC7F-4584-8875-1129FC251344}"/>
              </a:ext>
            </a:extLst>
          </p:cNvPr>
          <p:cNvSpPr/>
          <p:nvPr/>
        </p:nvSpPr>
        <p:spPr>
          <a:xfrm>
            <a:off x="167571" y="1628531"/>
            <a:ext cx="9567505" cy="223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           y =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11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7EAA-E168-4255-8B3F-45A0854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Predictor and Speculative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364C-3F4C-4652-9621-14B173FD4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21</a:t>
            </a:fld>
            <a:endParaRPr lang="en"/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D57B8C94-7DCB-4C35-A9AD-D8BBD24D68F8}"/>
              </a:ext>
            </a:extLst>
          </p:cNvPr>
          <p:cNvSpPr/>
          <p:nvPr/>
        </p:nvSpPr>
        <p:spPr>
          <a:xfrm>
            <a:off x="5198440" y="4370525"/>
            <a:ext cx="6127995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Branch predictor returns TRUE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CD98BB88-1D55-4620-9071-F9EB452C4F42}"/>
              </a:ext>
            </a:extLst>
          </p:cNvPr>
          <p:cNvSpPr/>
          <p:nvPr/>
        </p:nvSpPr>
        <p:spPr>
          <a:xfrm>
            <a:off x="5572283" y="4970301"/>
            <a:ext cx="5754152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Attacker has mis-trained it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B1F4068F-8E45-4516-9584-471E7535654A}"/>
              </a:ext>
            </a:extLst>
          </p:cNvPr>
          <p:cNvSpPr/>
          <p:nvPr/>
        </p:nvSpPr>
        <p:spPr>
          <a:xfrm>
            <a:off x="1010387" y="4970301"/>
            <a:ext cx="4031443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T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12" name="Rounded Rectangle 16">
            <a:extLst>
              <a:ext uri="{FF2B5EF4-FFF2-40B4-BE49-F238E27FC236}">
                <a16:creationId xmlns:a16="http://schemas.microsoft.com/office/drawing/2014/main" id="{A15C36CE-8009-4286-A053-1593C115E5CA}"/>
              </a:ext>
            </a:extLst>
          </p:cNvPr>
          <p:cNvSpPr/>
          <p:nvPr/>
        </p:nvSpPr>
        <p:spPr>
          <a:xfrm>
            <a:off x="1419594" y="5870387"/>
            <a:ext cx="8340742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How? By using values less than 3 always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Rounded Rectangle 16">
            <a:extLst>
              <a:ext uri="{FF2B5EF4-FFF2-40B4-BE49-F238E27FC236}">
                <a16:creationId xmlns:a16="http://schemas.microsoft.com/office/drawing/2014/main" id="{AFD7E522-3F62-43A0-8DAD-E8E1D8918D1D}"/>
              </a:ext>
            </a:extLst>
          </p:cNvPr>
          <p:cNvSpPr/>
          <p:nvPr/>
        </p:nvSpPr>
        <p:spPr>
          <a:xfrm>
            <a:off x="167571" y="1628531"/>
            <a:ext cx="9567505" cy="223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           y =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pic>
        <p:nvPicPr>
          <p:cNvPr id="14" name="Picture 2" descr="Tell Prediction Stock Vector Illustration And Royalty Free Tell Prediction  Clipart">
            <a:extLst>
              <a:ext uri="{FF2B5EF4-FFF2-40B4-BE49-F238E27FC236}">
                <a16:creationId xmlns:a16="http://schemas.microsoft.com/office/drawing/2014/main" id="{9D1BB5AE-F582-470A-BD81-A699326D0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539" y="1644344"/>
            <a:ext cx="1021725" cy="102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52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7EAA-E168-4255-8B3F-45A0854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Predictor and Speculative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364C-3F4C-4652-9621-14B173FD4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22</a:t>
            </a:fld>
            <a:endParaRPr lang="en"/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D57B8C94-7DCB-4C35-A9AD-D8BBD24D68F8}"/>
              </a:ext>
            </a:extLst>
          </p:cNvPr>
          <p:cNvSpPr/>
          <p:nvPr/>
        </p:nvSpPr>
        <p:spPr>
          <a:xfrm>
            <a:off x="5198440" y="4370525"/>
            <a:ext cx="6127995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Branch predictor returns TRUE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CD98BB88-1D55-4620-9071-F9EB452C4F42}"/>
              </a:ext>
            </a:extLst>
          </p:cNvPr>
          <p:cNvSpPr/>
          <p:nvPr/>
        </p:nvSpPr>
        <p:spPr>
          <a:xfrm>
            <a:off x="5572283" y="4970301"/>
            <a:ext cx="5754152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Attacker has mis-trained it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780D3861-4868-417F-A0E0-157B6EA21159}"/>
              </a:ext>
            </a:extLst>
          </p:cNvPr>
          <p:cNvSpPr/>
          <p:nvPr/>
        </p:nvSpPr>
        <p:spPr>
          <a:xfrm>
            <a:off x="4309299" y="5640186"/>
            <a:ext cx="7017136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Processor is on the wrong-path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Rounded Rectangle 16">
            <a:extLst>
              <a:ext uri="{FF2B5EF4-FFF2-40B4-BE49-F238E27FC236}">
                <a16:creationId xmlns:a16="http://schemas.microsoft.com/office/drawing/2014/main" id="{F1DA536D-429B-419E-BEC9-8B1273D69343}"/>
              </a:ext>
            </a:extLst>
          </p:cNvPr>
          <p:cNvSpPr/>
          <p:nvPr/>
        </p:nvSpPr>
        <p:spPr>
          <a:xfrm>
            <a:off x="167571" y="1628531"/>
            <a:ext cx="9567505" cy="223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           y =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06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7EAA-E168-4255-8B3F-45A0854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Predictor and Speculative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364C-3F4C-4652-9621-14B173FD4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23</a:t>
            </a:fld>
            <a:endParaRPr lang="en"/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D57B8C94-7DCB-4C35-A9AD-D8BBD24D68F8}"/>
              </a:ext>
            </a:extLst>
          </p:cNvPr>
          <p:cNvSpPr/>
          <p:nvPr/>
        </p:nvSpPr>
        <p:spPr>
          <a:xfrm>
            <a:off x="5198440" y="4370525"/>
            <a:ext cx="6127995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Branch predictor returns TRUE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CD98BB88-1D55-4620-9071-F9EB452C4F42}"/>
              </a:ext>
            </a:extLst>
          </p:cNvPr>
          <p:cNvSpPr/>
          <p:nvPr/>
        </p:nvSpPr>
        <p:spPr>
          <a:xfrm>
            <a:off x="5572283" y="4970301"/>
            <a:ext cx="5754152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Attacker has mis-trained it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780D3861-4868-417F-A0E0-157B6EA21159}"/>
              </a:ext>
            </a:extLst>
          </p:cNvPr>
          <p:cNvSpPr/>
          <p:nvPr/>
        </p:nvSpPr>
        <p:spPr>
          <a:xfrm>
            <a:off x="4309299" y="5640186"/>
            <a:ext cx="7017136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Processor is on the wrong-path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ounded Rectangle 16">
            <a:extLst>
              <a:ext uri="{FF2B5EF4-FFF2-40B4-BE49-F238E27FC236}">
                <a16:creationId xmlns:a16="http://schemas.microsoft.com/office/drawing/2014/main" id="{41474E1F-6A5A-4E11-90D3-21BA9555340B}"/>
              </a:ext>
            </a:extLst>
          </p:cNvPr>
          <p:cNvSpPr/>
          <p:nvPr/>
        </p:nvSpPr>
        <p:spPr>
          <a:xfrm>
            <a:off x="2950329" y="6271914"/>
            <a:ext cx="8376106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Branch resolution latency 200 cycles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2DBA9930-2851-4D04-995F-315B2ABE329B}"/>
              </a:ext>
            </a:extLst>
          </p:cNvPr>
          <p:cNvSpPr/>
          <p:nvPr/>
        </p:nvSpPr>
        <p:spPr>
          <a:xfrm>
            <a:off x="167571" y="1628531"/>
            <a:ext cx="9567505" cy="223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           y =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25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7EAA-E168-4255-8B3F-45A0854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Within these 200 cycles </a:t>
            </a:r>
            <a:r>
              <a:rPr lang="en-IN" dirty="0">
                <a:sym typeface="Wingdings" panose="05000000000000000000" pitchFamily="2" charset="2"/>
              </a:rPr>
              <a:t>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364C-3F4C-4652-9621-14B173FD4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24</a:t>
            </a:fld>
            <a:endParaRPr lang="en"/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D57B8C94-7DCB-4C35-A9AD-D8BBD24D68F8}"/>
              </a:ext>
            </a:extLst>
          </p:cNvPr>
          <p:cNvSpPr/>
          <p:nvPr/>
        </p:nvSpPr>
        <p:spPr>
          <a:xfrm>
            <a:off x="5435881" y="4370525"/>
            <a:ext cx="5890554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CS773Array[4] is in L1/L2/L3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82CC58B5-60AC-4F0F-B714-3A5904298FF0}"/>
              </a:ext>
            </a:extLst>
          </p:cNvPr>
          <p:cNvSpPr/>
          <p:nvPr/>
        </p:nvSpPr>
        <p:spPr>
          <a:xfrm>
            <a:off x="5566388" y="5066062"/>
            <a:ext cx="5760047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The address is in the cache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ounded Rectangle 16">
            <a:extLst>
              <a:ext uri="{FF2B5EF4-FFF2-40B4-BE49-F238E27FC236}">
                <a16:creationId xmlns:a16="http://schemas.microsoft.com/office/drawing/2014/main" id="{73F7C9A0-981C-46B8-81D0-2F860636B68D}"/>
              </a:ext>
            </a:extLst>
          </p:cNvPr>
          <p:cNvSpPr/>
          <p:nvPr/>
        </p:nvSpPr>
        <p:spPr>
          <a:xfrm>
            <a:off x="1419594" y="5829746"/>
            <a:ext cx="9906842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Yes, you guessed it right: F+R, P+P cache attacks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6732BA79-3756-4FB0-A5DE-A37497455484}"/>
              </a:ext>
            </a:extLst>
          </p:cNvPr>
          <p:cNvSpPr/>
          <p:nvPr/>
        </p:nvSpPr>
        <p:spPr>
          <a:xfrm>
            <a:off x="167571" y="1635774"/>
            <a:ext cx="9567505" cy="223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           y =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95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7DCE-DC3F-48AF-818F-EFAB9D52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ym typeface="Wingdings" panose="05000000000000000000" pitchFamily="2" charset="2"/>
              </a:rPr>
              <a:t>After say 200 cycles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4FEBF-F888-4522-B798-107B7C05F1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25</a:t>
            </a:fld>
            <a:endParaRPr lang="en"/>
          </a:p>
        </p:txBody>
      </p:sp>
      <p:sp>
        <p:nvSpPr>
          <p:cNvPr id="5" name="Rounded Rectangle 16">
            <a:extLst>
              <a:ext uri="{FF2B5EF4-FFF2-40B4-BE49-F238E27FC236}">
                <a16:creationId xmlns:a16="http://schemas.microsoft.com/office/drawing/2014/main" id="{8252FA8C-F2C3-4F57-9CB0-63CA4A258A97}"/>
              </a:ext>
            </a:extLst>
          </p:cNvPr>
          <p:cNvSpPr/>
          <p:nvPr/>
        </p:nvSpPr>
        <p:spPr>
          <a:xfrm>
            <a:off x="167571" y="3849573"/>
            <a:ext cx="11360799" cy="266603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28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 y = </a:t>
            </a:r>
            <a:r>
              <a:rPr lang="en-US" altLang="en-US" sz="2800" dirty="0" err="1">
                <a:solidFill>
                  <a:srgbClr val="C00000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endParaRPr lang="en-US" altLang="en-US" sz="28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2800" dirty="0">
                <a:solidFill>
                  <a:schemeClr val="tx1"/>
                </a:solidFill>
                <a:latin typeface="Cambria" panose="02040503050406030204" pitchFamily="18" charset="0"/>
              </a:rPr>
              <a:t>LOAD </a:t>
            </a:r>
            <a:r>
              <a:rPr lang="en-US" altLang="en-US" sz="28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2800" dirty="0">
                <a:solidFill>
                  <a:schemeClr val="tx1"/>
                </a:solidFill>
                <a:latin typeface="Cambria" panose="02040503050406030204" pitchFamily="18" charset="0"/>
              </a:rPr>
              <a:t>[0]   60 ns</a:t>
            </a:r>
          </a:p>
          <a:p>
            <a:r>
              <a:rPr lang="en-US" altLang="en-US" sz="2800" dirty="0">
                <a:solidFill>
                  <a:schemeClr val="tx1"/>
                </a:solidFill>
                <a:latin typeface="Cambria" panose="02040503050406030204" pitchFamily="18" charset="0"/>
              </a:rPr>
              <a:t>LOAD </a:t>
            </a:r>
            <a:r>
              <a:rPr lang="en-US" altLang="en-US" sz="28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2800" dirty="0">
                <a:solidFill>
                  <a:schemeClr val="tx1"/>
                </a:solidFill>
                <a:latin typeface="Cambria" panose="02040503050406030204" pitchFamily="18" charset="0"/>
              </a:rPr>
              <a:t>[512] 60 ns</a:t>
            </a:r>
          </a:p>
          <a:p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LOAD </a:t>
            </a:r>
            <a:r>
              <a:rPr lang="en-US" altLang="en-US" sz="2800" dirty="0" err="1">
                <a:solidFill>
                  <a:srgbClr val="C00000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[1024] 5 ns Bingo !! </a:t>
            </a:r>
            <a:r>
              <a:rPr lang="en-US" altLang="en-US" sz="2800" i="1" u="sng" dirty="0">
                <a:solidFill>
                  <a:srgbClr val="C00000"/>
                </a:solidFill>
                <a:latin typeface="Cambria" panose="02040503050406030204" pitchFamily="18" charset="0"/>
              </a:rPr>
              <a:t>CS773Array[attacker] = 2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F7376129-F2BD-4889-BB60-6F3F4AE4B616}"/>
              </a:ext>
            </a:extLst>
          </p:cNvPr>
          <p:cNvSpPr/>
          <p:nvPr/>
        </p:nvSpPr>
        <p:spPr>
          <a:xfrm>
            <a:off x="454675" y="1673352"/>
            <a:ext cx="7135136" cy="114618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Processor realized it was a mistake and </a:t>
            </a:r>
          </a:p>
          <a:p>
            <a:r>
              <a:rPr lang="en-US" altLang="en-US" sz="3200" i="1" dirty="0">
                <a:solidFill>
                  <a:srgbClr val="C00000"/>
                </a:solidFill>
                <a:latin typeface="Cambria" panose="02040503050406030204" pitchFamily="18" charset="0"/>
              </a:rPr>
              <a:t>squashed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all wrong path instructions</a:t>
            </a:r>
          </a:p>
          <a:p>
            <a:pPr algn="ctr"/>
            <a:endParaRPr lang="en-US" altLang="en-US" sz="32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5E8A0785-3EF5-4FDD-A587-9BE581DB0544}"/>
              </a:ext>
            </a:extLst>
          </p:cNvPr>
          <p:cNvSpPr/>
          <p:nvPr/>
        </p:nvSpPr>
        <p:spPr>
          <a:xfrm>
            <a:off x="7027239" y="2983002"/>
            <a:ext cx="4807037" cy="61902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But cache has the data 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</a:t>
            </a:r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72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F377-A2E5-0CB8-8A2A-AE1CF449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</a:t>
            </a:r>
            <a:r>
              <a:rPr lang="en-US" dirty="0" err="1"/>
              <a:t>myarray</a:t>
            </a:r>
            <a:r>
              <a:rPr lang="en-US" dirty="0"/>
              <a:t> is not shared with the attacker?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F5EC4-866E-E761-3EEE-A5C0B4E67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it is possible to do </a:t>
            </a:r>
            <a:r>
              <a:rPr lang="en-US" dirty="0" err="1"/>
              <a:t>Spectre</a:t>
            </a:r>
            <a:r>
              <a:rPr lang="en-US" dirty="0"/>
              <a:t> attack </a:t>
            </a:r>
            <a:r>
              <a:rPr lang="en-US" dirty="0">
                <a:sym typeface="Wingdings" panose="05000000000000000000" pitchFamily="2" charset="2"/>
              </a:rPr>
              <a:t> </a:t>
            </a:r>
          </a:p>
          <a:p>
            <a:r>
              <a:rPr lang="en-US" dirty="0">
                <a:sym typeface="Wingdings" panose="05000000000000000000" pitchFamily="2" charset="2"/>
              </a:rPr>
              <a:t>How? </a:t>
            </a:r>
          </a:p>
          <a:p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CS773Array[attacker]</a:t>
            </a:r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 = 0</a:t>
            </a:r>
            <a:r>
              <a:rPr lang="en-US" altLang="en-US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, you access set 0 </a:t>
            </a:r>
          </a:p>
          <a:p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CS773Array[attacker]</a:t>
            </a:r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 = 1, you access set 1 </a:t>
            </a:r>
          </a:p>
          <a:p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CS773Array[attacker]</a:t>
            </a:r>
            <a:r>
              <a:rPr lang="en-US" altLang="en-US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 = k, you access set k </a:t>
            </a:r>
          </a:p>
          <a:p>
            <a:endParaRPr lang="en-US" dirty="0">
              <a:latin typeface="Cambria" panose="02040503050406030204" pitchFamily="18" charset="0"/>
              <a:sym typeface="Wingdings" panose="05000000000000000000" pitchFamily="2" charset="2"/>
            </a:endParaRPr>
          </a:p>
          <a:p>
            <a:pPr marL="50799" indent="0">
              <a:buNone/>
            </a:pP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So, in summary, the attacker can do prime and probe on sets and check which sets show latency difference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1AEB8-0A01-DAD5-A2E1-86664339D7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01745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CA23-2916-7CCF-F5CE-5F7AE205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</a:t>
            </a:r>
            <a:r>
              <a:rPr lang="en-US" dirty="0" err="1"/>
              <a:t>Spectre</a:t>
            </a:r>
            <a:r>
              <a:rPr lang="en-US" dirty="0"/>
              <a:t> Attack: As an attacker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ECCCF-8941-315C-21D5-EED357E75F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27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5FA318-A7E5-D42D-8525-035851097F1A}"/>
              </a:ext>
            </a:extLst>
          </p:cNvPr>
          <p:cNvSpPr txBox="1"/>
          <p:nvPr/>
        </p:nvSpPr>
        <p:spPr>
          <a:xfrm>
            <a:off x="304800" y="1487653"/>
            <a:ext cx="1091737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  <a:t>"Two paths diverged in a branch, and I—</a:t>
            </a:r>
            <a:b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</a:br>
            <a: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  <a:t>I took the 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one </a:t>
            </a:r>
            <a:r>
              <a:rPr lang="en-US" sz="2800" dirty="0">
                <a:solidFill>
                  <a:srgbClr val="C00000"/>
                </a:solidFill>
                <a:latin typeface="Lato" panose="020F0502020204030203" pitchFamily="34" charset="0"/>
              </a:rPr>
              <a:t>less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  <a:t>traveled by,</a:t>
            </a:r>
            <a:b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</a:br>
            <a: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  <a:t>And that has made all the difference.“ </a:t>
            </a:r>
            <a: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  <a:sym typeface="Wingdings" panose="05000000000000000000" pitchFamily="2" charset="2"/>
              </a:rPr>
              <a:t></a:t>
            </a:r>
            <a:b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</a:br>
            <a:endParaRPr lang="en-US" sz="2800" b="0" i="0" dirty="0">
              <a:solidFill>
                <a:srgbClr val="020202"/>
              </a:solidFill>
              <a:effectLst/>
              <a:latin typeface="Lato" panose="020F0502020204030203" pitchFamily="34" charset="0"/>
            </a:endParaRPr>
          </a:p>
          <a:p>
            <a:r>
              <a:rPr lang="en-US" sz="2800" dirty="0"/>
              <a:t>-</a:t>
            </a:r>
            <a:r>
              <a:rPr lang="en-US" sz="2800" dirty="0" err="1"/>
              <a:t>Frobert</a:t>
            </a:r>
            <a:r>
              <a:rPr lang="en-US" sz="2800" dirty="0"/>
              <a:t> Rost, </a:t>
            </a:r>
            <a:r>
              <a:rPr lang="en-US" sz="2800" i="1" dirty="0"/>
              <a:t>The Path/Road </a:t>
            </a:r>
            <a:r>
              <a:rPr lang="en-US" sz="2800" i="1" dirty="0">
                <a:solidFill>
                  <a:srgbClr val="C00000"/>
                </a:solidFill>
              </a:rPr>
              <a:t>Not Taken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569B7-35CF-8BB2-3F14-0E06B69D7050}"/>
              </a:ext>
            </a:extLst>
          </p:cNvPr>
          <p:cNvSpPr txBox="1"/>
          <p:nvPr/>
        </p:nvSpPr>
        <p:spPr>
          <a:xfrm>
            <a:off x="415600" y="4078453"/>
            <a:ext cx="1091737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  <a:t>"Two paths diverged in a branch, and I—</a:t>
            </a:r>
            <a:b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</a:br>
            <a: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  <a:t>I took the one 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more traveled by,</a:t>
            </a:r>
            <a:br>
              <a:rPr lang="en-US" sz="2800" b="0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</a:br>
            <a: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  <a:t>And that has made all the difference.“ </a:t>
            </a:r>
            <a: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  <a:sym typeface="Wingdings" panose="05000000000000000000" pitchFamily="2" charset="2"/>
              </a:rPr>
              <a:t></a:t>
            </a:r>
            <a:br>
              <a:rPr lang="en-US" sz="2800" b="0" i="0" dirty="0">
                <a:solidFill>
                  <a:srgbClr val="020202"/>
                </a:solidFill>
                <a:effectLst/>
                <a:latin typeface="Lato" panose="020F0502020204030203" pitchFamily="34" charset="0"/>
              </a:rPr>
            </a:br>
            <a:endParaRPr lang="en-US" sz="2800" b="0" i="0" dirty="0">
              <a:solidFill>
                <a:srgbClr val="020202"/>
              </a:solidFill>
              <a:effectLst/>
              <a:latin typeface="Lato" panose="020F0502020204030203" pitchFamily="34" charset="0"/>
            </a:endParaRPr>
          </a:p>
          <a:p>
            <a:r>
              <a:rPr lang="en-US" sz="2800" dirty="0"/>
              <a:t>-</a:t>
            </a:r>
            <a:r>
              <a:rPr lang="en-US" sz="2800" dirty="0" err="1"/>
              <a:t>Frobert</a:t>
            </a:r>
            <a:r>
              <a:rPr lang="en-US" sz="2800" dirty="0"/>
              <a:t> Rost, </a:t>
            </a:r>
            <a:r>
              <a:rPr lang="en-US" sz="2800" i="1" dirty="0"/>
              <a:t>The Path </a:t>
            </a:r>
            <a:r>
              <a:rPr lang="en-US" sz="2800" i="1" dirty="0">
                <a:solidFill>
                  <a:srgbClr val="C00000"/>
                </a:solidFill>
              </a:rPr>
              <a:t>Taken</a:t>
            </a:r>
            <a:endParaRPr lang="en-IN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842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E68F-DC8E-49C8-ABB9-D80A2BE1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Meltdown: The O3 Curse!!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9E85C-0C0F-409F-AFD4-A02D8BDCB0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28</a:t>
            </a:fld>
            <a:endParaRPr lang="en"/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B1201F53-9A6D-4197-A8AE-12BEEEFDBBA6}"/>
              </a:ext>
            </a:extLst>
          </p:cNvPr>
          <p:cNvSpPr/>
          <p:nvPr/>
        </p:nvSpPr>
        <p:spPr>
          <a:xfrm>
            <a:off x="454675" y="1944994"/>
            <a:ext cx="6491734" cy="158630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AutoNum type="arabicPeriod"/>
            </a:pPr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pPr marL="514350" indent="-514350">
              <a:buAutoNum type="arabicPeriod"/>
            </a:pP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raise_exception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(); </a:t>
            </a:r>
          </a:p>
          <a:p>
            <a:pPr marL="514350" indent="-514350">
              <a:buAutoNum type="arabicPeriod"/>
            </a:pP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// line below is never reached </a:t>
            </a:r>
          </a:p>
          <a:p>
            <a:pPr marL="514350" indent="-514350">
              <a:buAutoNum type="arabicPeriod"/>
            </a:pP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secret=</a:t>
            </a:r>
            <a:r>
              <a:rPr lang="en-US" altLang="en-US" sz="3200" dirty="0" err="1">
                <a:solidFill>
                  <a:srgbClr val="C00000"/>
                </a:solidFill>
                <a:latin typeface="Cambria" panose="02040503050406030204" pitchFamily="18" charset="0"/>
              </a:rPr>
              <a:t>KernelArray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[data*4096];</a:t>
            </a:r>
          </a:p>
          <a:p>
            <a:endParaRPr lang="en-US" altLang="en-US" sz="32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1217EE85-C8F2-4B9F-8A5D-9B5A55728127}"/>
              </a:ext>
            </a:extLst>
          </p:cNvPr>
          <p:cNvSpPr/>
          <p:nvPr/>
        </p:nvSpPr>
        <p:spPr>
          <a:xfrm>
            <a:off x="454675" y="4380868"/>
            <a:ext cx="6491734" cy="158630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AutoNum type="arabicPeriod"/>
            </a:pPr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pPr marL="514350" indent="-514350">
              <a:buAutoNum type="arabicPeriod"/>
            </a:pP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secret=</a:t>
            </a:r>
            <a:r>
              <a:rPr lang="en-US" altLang="en-US" sz="3200" dirty="0" err="1">
                <a:solidFill>
                  <a:srgbClr val="C00000"/>
                </a:solidFill>
                <a:latin typeface="Cambria" panose="02040503050406030204" pitchFamily="18" charset="0"/>
              </a:rPr>
              <a:t>KernelArray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[data*4096];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2.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raise_exception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(); </a:t>
            </a:r>
          </a:p>
          <a:p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9BFD71CD-20C5-4051-B580-40289B2263B9}"/>
              </a:ext>
            </a:extLst>
          </p:cNvPr>
          <p:cNvCxnSpPr>
            <a:stCxn id="7" idx="3"/>
            <a:endCxn id="8" idx="3"/>
          </p:cNvCxnSpPr>
          <p:nvPr/>
        </p:nvCxnSpPr>
        <p:spPr>
          <a:xfrm>
            <a:off x="6946409" y="2738148"/>
            <a:ext cx="12700" cy="2435874"/>
          </a:xfrm>
          <a:prstGeom prst="curvedConnector3">
            <a:avLst>
              <a:gd name="adj1" fmla="val 896022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087A4A0-FE9A-4E75-AF02-0B85C0B68ECB}"/>
              </a:ext>
            </a:extLst>
          </p:cNvPr>
          <p:cNvSpPr txBox="1"/>
          <p:nvPr/>
        </p:nvSpPr>
        <p:spPr>
          <a:xfrm>
            <a:off x="8376460" y="3617184"/>
            <a:ext cx="33057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Out-of-order (O3) as </a:t>
            </a:r>
          </a:p>
          <a:p>
            <a:r>
              <a:rPr lang="en-IN" sz="2800" dirty="0"/>
              <a:t>it has no dependency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0051E5-75EC-49BA-909C-0EC289E66CCA}"/>
              </a:ext>
            </a:extLst>
          </p:cNvPr>
          <p:cNvCxnSpPr/>
          <p:nvPr/>
        </p:nvCxnSpPr>
        <p:spPr>
          <a:xfrm flipV="1">
            <a:off x="6239138" y="2167280"/>
            <a:ext cx="1854060" cy="5203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14AEA7C-C89A-408C-8D44-32B3381254C0}"/>
              </a:ext>
            </a:extLst>
          </p:cNvPr>
          <p:cNvSpPr txBox="1"/>
          <p:nvPr/>
        </p:nvSpPr>
        <p:spPr>
          <a:xfrm>
            <a:off x="8093198" y="1855151"/>
            <a:ext cx="1828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Kernel Trap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4552D4-98BF-44DC-9285-9AA84C016353}"/>
              </a:ext>
            </a:extLst>
          </p:cNvPr>
          <p:cNvCxnSpPr>
            <a:cxnSpLocks/>
          </p:cNvCxnSpPr>
          <p:nvPr/>
        </p:nvCxnSpPr>
        <p:spPr>
          <a:xfrm>
            <a:off x="6522400" y="4909301"/>
            <a:ext cx="2096199" cy="9610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9D2A021-AE81-42B2-A535-12547CFB5386}"/>
              </a:ext>
            </a:extLst>
          </p:cNvPr>
          <p:cNvSpPr txBox="1"/>
          <p:nvPr/>
        </p:nvSpPr>
        <p:spPr>
          <a:xfrm>
            <a:off x="8542090" y="5751951"/>
            <a:ext cx="3649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What about page-fault?</a:t>
            </a:r>
          </a:p>
        </p:txBody>
      </p:sp>
      <p:pic>
        <p:nvPicPr>
          <p:cNvPr id="13" name="Picture 4" descr="Image result for meltdown">
            <a:extLst>
              <a:ext uri="{FF2B5EF4-FFF2-40B4-BE49-F238E27FC236}">
                <a16:creationId xmlns:a16="http://schemas.microsoft.com/office/drawing/2014/main" id="{77B40546-779F-4319-B090-F619791D1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4035" y="78131"/>
            <a:ext cx="904582" cy="121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8F96F1-0ED6-C753-786B-66D2F506920D}"/>
              </a:ext>
            </a:extLst>
          </p:cNvPr>
          <p:cNvSpPr txBox="1"/>
          <p:nvPr/>
        </p:nvSpPr>
        <p:spPr>
          <a:xfrm>
            <a:off x="628158" y="6364134"/>
            <a:ext cx="6144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https://meltdownattack.com/meltdown.pdf</a:t>
            </a:r>
          </a:p>
        </p:txBody>
      </p:sp>
    </p:spTree>
    <p:extLst>
      <p:ext uri="{BB962C8B-B14F-4D97-AF65-F5344CB8AC3E}">
        <p14:creationId xmlns:p14="http://schemas.microsoft.com/office/powerpoint/2010/main" val="27043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/>
      <p:bldP spid="15" grpId="0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41D8E-FD09-4017-BC27-30F3842A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Rowhammer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B66DD-3B51-452D-99D5-A43900EBC1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29</a:t>
            </a:fld>
            <a:endParaRPr lang="en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40B767D1-2FDD-4CA7-8A89-D6252E94EDEE}"/>
              </a:ext>
            </a:extLst>
          </p:cNvPr>
          <p:cNvSpPr/>
          <p:nvPr/>
        </p:nvSpPr>
        <p:spPr>
          <a:xfrm>
            <a:off x="885825" y="1599111"/>
            <a:ext cx="7315200" cy="3962400"/>
          </a:xfrm>
          <a:prstGeom prst="roundRect">
            <a:avLst>
              <a:gd name="adj" fmla="val 11319"/>
            </a:avLst>
          </a:prstGeom>
          <a:solidFill>
            <a:schemeClr val="bg1">
              <a:lumMod val="85000"/>
            </a:schemeClr>
          </a:solidFill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C94761-7FBA-4CF4-9C87-55D8C3E14B94}"/>
              </a:ext>
            </a:extLst>
          </p:cNvPr>
          <p:cNvCxnSpPr/>
          <p:nvPr/>
        </p:nvCxnSpPr>
        <p:spPr>
          <a:xfrm flipH="1" flipV="1">
            <a:off x="1343025" y="2361111"/>
            <a:ext cx="4572000" cy="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364580-8AE2-4012-87A9-9FF2A582AAED}"/>
              </a:ext>
            </a:extLst>
          </p:cNvPr>
          <p:cNvCxnSpPr/>
          <p:nvPr/>
        </p:nvCxnSpPr>
        <p:spPr>
          <a:xfrm flipH="1">
            <a:off x="1343025" y="2970712"/>
            <a:ext cx="4572000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Wordline">
            <a:extLst>
              <a:ext uri="{FF2B5EF4-FFF2-40B4-BE49-F238E27FC236}">
                <a16:creationId xmlns:a16="http://schemas.microsoft.com/office/drawing/2014/main" id="{17C4F56C-6412-4126-8C19-3348D76C683F}"/>
              </a:ext>
            </a:extLst>
          </p:cNvPr>
          <p:cNvCxnSpPr/>
          <p:nvPr/>
        </p:nvCxnSpPr>
        <p:spPr>
          <a:xfrm flipH="1">
            <a:off x="1343025" y="3580311"/>
            <a:ext cx="4572000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95C9F3-311C-4BFB-BAD3-B6989FCFB071}"/>
              </a:ext>
            </a:extLst>
          </p:cNvPr>
          <p:cNvCxnSpPr/>
          <p:nvPr/>
        </p:nvCxnSpPr>
        <p:spPr>
          <a:xfrm flipH="1">
            <a:off x="1343025" y="4189912"/>
            <a:ext cx="4572000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059605-6752-4747-941F-9F9A8D2E4FB3}"/>
              </a:ext>
            </a:extLst>
          </p:cNvPr>
          <p:cNvCxnSpPr/>
          <p:nvPr/>
        </p:nvCxnSpPr>
        <p:spPr>
          <a:xfrm flipH="1" flipV="1">
            <a:off x="1343025" y="4800599"/>
            <a:ext cx="4572000" cy="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394D792-06F7-4650-A860-CF268D180461}"/>
              </a:ext>
            </a:extLst>
          </p:cNvPr>
          <p:cNvSpPr/>
          <p:nvPr/>
        </p:nvSpPr>
        <p:spPr>
          <a:xfrm>
            <a:off x="1800225" y="2067291"/>
            <a:ext cx="36576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 Row of Cells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2ABB44-4993-4BD6-B5E2-FDFD7DA86077}"/>
              </a:ext>
            </a:extLst>
          </p:cNvPr>
          <p:cNvSpPr/>
          <p:nvPr/>
        </p:nvSpPr>
        <p:spPr>
          <a:xfrm>
            <a:off x="1800225" y="2665911"/>
            <a:ext cx="36576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 Row</a:t>
            </a:r>
          </a:p>
        </p:txBody>
      </p:sp>
      <p:sp>
        <p:nvSpPr>
          <p:cNvPr id="13" name="Row">
            <a:extLst>
              <a:ext uri="{FF2B5EF4-FFF2-40B4-BE49-F238E27FC236}">
                <a16:creationId xmlns:a16="http://schemas.microsoft.com/office/drawing/2014/main" id="{F915E778-29FA-49E9-8D09-21C4596AF74F}"/>
              </a:ext>
            </a:extLst>
          </p:cNvPr>
          <p:cNvSpPr/>
          <p:nvPr/>
        </p:nvSpPr>
        <p:spPr>
          <a:xfrm>
            <a:off x="1800225" y="3275511"/>
            <a:ext cx="36576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 Row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4FFB00-C86D-48A4-92DB-F1C2D11BE038}"/>
              </a:ext>
            </a:extLst>
          </p:cNvPr>
          <p:cNvSpPr/>
          <p:nvPr/>
        </p:nvSpPr>
        <p:spPr>
          <a:xfrm>
            <a:off x="1800225" y="3885111"/>
            <a:ext cx="36576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FE5604-B556-43EC-AFFE-05C65EA42E89}"/>
              </a:ext>
            </a:extLst>
          </p:cNvPr>
          <p:cNvSpPr/>
          <p:nvPr/>
        </p:nvSpPr>
        <p:spPr>
          <a:xfrm>
            <a:off x="1800225" y="4494710"/>
            <a:ext cx="36576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 Row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F13FFD-DA88-45F0-A0FC-1A32A5722B8A}"/>
              </a:ext>
            </a:extLst>
          </p:cNvPr>
          <p:cNvSpPr txBox="1"/>
          <p:nvPr/>
        </p:nvSpPr>
        <p:spPr>
          <a:xfrm>
            <a:off x="5915025" y="2132509"/>
            <a:ext cx="2286000" cy="45720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4000">
                <a:latin typeface="+mj-lt"/>
              </a:rPr>
              <a:t> Wordline</a:t>
            </a:r>
          </a:p>
        </p:txBody>
      </p:sp>
      <p:sp>
        <p:nvSpPr>
          <p:cNvPr id="17" name="Low Volt">
            <a:extLst>
              <a:ext uri="{FF2B5EF4-FFF2-40B4-BE49-F238E27FC236}">
                <a16:creationId xmlns:a16="http://schemas.microsoft.com/office/drawing/2014/main" id="{1B8C0803-29F3-4A68-A9AA-FA6FF67A9F1E}"/>
              </a:ext>
            </a:extLst>
          </p:cNvPr>
          <p:cNvSpPr txBox="1"/>
          <p:nvPr/>
        </p:nvSpPr>
        <p:spPr>
          <a:xfrm>
            <a:off x="5915025" y="3351710"/>
            <a:ext cx="2286000" cy="45720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4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V</a:t>
            </a:r>
            <a:r>
              <a:rPr lang="en-US" sz="4800" b="1" i="1" baseline="-20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LOW</a:t>
            </a:r>
            <a:endParaRPr lang="en-US" sz="4400" b="1" i="1" baseline="-2000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8" name="High Volt">
            <a:extLst>
              <a:ext uri="{FF2B5EF4-FFF2-40B4-BE49-F238E27FC236}">
                <a16:creationId xmlns:a16="http://schemas.microsoft.com/office/drawing/2014/main" id="{D8FB5B7D-ED69-4002-891F-F87759D542B5}"/>
              </a:ext>
            </a:extLst>
          </p:cNvPr>
          <p:cNvSpPr txBox="1"/>
          <p:nvPr/>
        </p:nvSpPr>
        <p:spPr>
          <a:xfrm>
            <a:off x="5915025" y="3352475"/>
            <a:ext cx="2286000" cy="45720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4400" b="1">
                <a:solidFill>
                  <a:srgbClr val="FF0000"/>
                </a:solidFill>
                <a:latin typeface="+mj-lt"/>
              </a:rPr>
              <a:t> </a:t>
            </a:r>
            <a:r>
              <a:rPr lang="en-US" sz="4400" b="1" i="1">
                <a:solidFill>
                  <a:srgbClr val="FF0000"/>
                </a:solidFill>
                <a:latin typeface="+mj-lt"/>
              </a:rPr>
              <a:t>V</a:t>
            </a:r>
            <a:r>
              <a:rPr lang="en-US" sz="4800" b="1" i="1" baseline="-20000">
                <a:solidFill>
                  <a:srgbClr val="FF0000"/>
                </a:solidFill>
                <a:latin typeface="+mj-lt"/>
              </a:rPr>
              <a:t>HIGH</a:t>
            </a:r>
            <a:endParaRPr lang="en-US" sz="4400" b="1" i="1" baseline="-200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Error">
            <a:extLst>
              <a:ext uri="{FF2B5EF4-FFF2-40B4-BE49-F238E27FC236}">
                <a16:creationId xmlns:a16="http://schemas.microsoft.com/office/drawing/2014/main" id="{7D2C775C-81D0-410C-99A8-D7E438B9DEE1}"/>
              </a:ext>
            </a:extLst>
          </p:cNvPr>
          <p:cNvSpPr/>
          <p:nvPr/>
        </p:nvSpPr>
        <p:spPr>
          <a:xfrm>
            <a:off x="4848225" y="2661421"/>
            <a:ext cx="609600" cy="609600"/>
          </a:xfrm>
          <a:prstGeom prst="mathMultiply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rror">
            <a:extLst>
              <a:ext uri="{FF2B5EF4-FFF2-40B4-BE49-F238E27FC236}">
                <a16:creationId xmlns:a16="http://schemas.microsoft.com/office/drawing/2014/main" id="{2C579CF3-8EF4-47EA-ADED-C9F5D189B996}"/>
              </a:ext>
            </a:extLst>
          </p:cNvPr>
          <p:cNvSpPr/>
          <p:nvPr/>
        </p:nvSpPr>
        <p:spPr>
          <a:xfrm>
            <a:off x="4238625" y="3888515"/>
            <a:ext cx="609600" cy="609599"/>
          </a:xfrm>
          <a:prstGeom prst="mathMultiply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rror">
            <a:extLst>
              <a:ext uri="{FF2B5EF4-FFF2-40B4-BE49-F238E27FC236}">
                <a16:creationId xmlns:a16="http://schemas.microsoft.com/office/drawing/2014/main" id="{64EF8FE4-FD4C-4E6F-BA8D-3BA5FAE46A38}"/>
              </a:ext>
            </a:extLst>
          </p:cNvPr>
          <p:cNvSpPr/>
          <p:nvPr/>
        </p:nvSpPr>
        <p:spPr>
          <a:xfrm>
            <a:off x="3629025" y="2661421"/>
            <a:ext cx="609600" cy="609600"/>
          </a:xfrm>
          <a:prstGeom prst="mathMultiply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rror">
            <a:extLst>
              <a:ext uri="{FF2B5EF4-FFF2-40B4-BE49-F238E27FC236}">
                <a16:creationId xmlns:a16="http://schemas.microsoft.com/office/drawing/2014/main" id="{43127398-EF53-4523-BA96-5778958D0270}"/>
              </a:ext>
            </a:extLst>
          </p:cNvPr>
          <p:cNvSpPr/>
          <p:nvPr/>
        </p:nvSpPr>
        <p:spPr>
          <a:xfrm>
            <a:off x="3629025" y="3881708"/>
            <a:ext cx="609600" cy="609600"/>
          </a:xfrm>
          <a:prstGeom prst="mathMultiply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rror">
            <a:extLst>
              <a:ext uri="{FF2B5EF4-FFF2-40B4-BE49-F238E27FC236}">
                <a16:creationId xmlns:a16="http://schemas.microsoft.com/office/drawing/2014/main" id="{A20D60B3-80CD-4B76-96D7-C364E58A3BE6}"/>
              </a:ext>
            </a:extLst>
          </p:cNvPr>
          <p:cNvSpPr/>
          <p:nvPr/>
        </p:nvSpPr>
        <p:spPr>
          <a:xfrm>
            <a:off x="2390775" y="2661421"/>
            <a:ext cx="609600" cy="609600"/>
          </a:xfrm>
          <a:prstGeom prst="mathMultiply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Victim">
            <a:extLst>
              <a:ext uri="{FF2B5EF4-FFF2-40B4-BE49-F238E27FC236}">
                <a16:creationId xmlns:a16="http://schemas.microsoft.com/office/drawing/2014/main" id="{9DE8DE22-AD5C-44D1-B5BF-97861D35CC52}"/>
              </a:ext>
            </a:extLst>
          </p:cNvPr>
          <p:cNvSpPr/>
          <p:nvPr/>
        </p:nvSpPr>
        <p:spPr>
          <a:xfrm>
            <a:off x="1800225" y="3885656"/>
            <a:ext cx="3657600" cy="6096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chemeClr val="bg1"/>
                </a:solidFill>
                <a:latin typeface="+mj-lt"/>
              </a:rPr>
              <a:t> </a:t>
            </a:r>
            <a:r>
              <a:rPr lang="en-US" sz="4000" b="1">
                <a:solidFill>
                  <a:schemeClr val="tx1"/>
                </a:solidFill>
                <a:latin typeface="+mj-lt"/>
              </a:rPr>
              <a:t>Victim Row</a:t>
            </a:r>
          </a:p>
        </p:txBody>
      </p:sp>
      <p:sp>
        <p:nvSpPr>
          <p:cNvPr id="25" name="Victim">
            <a:extLst>
              <a:ext uri="{FF2B5EF4-FFF2-40B4-BE49-F238E27FC236}">
                <a16:creationId xmlns:a16="http://schemas.microsoft.com/office/drawing/2014/main" id="{541CBC55-A256-4D70-892B-B6F279533E8F}"/>
              </a:ext>
            </a:extLst>
          </p:cNvPr>
          <p:cNvSpPr/>
          <p:nvPr/>
        </p:nvSpPr>
        <p:spPr>
          <a:xfrm>
            <a:off x="1800225" y="2667909"/>
            <a:ext cx="3657600" cy="6096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chemeClr val="bg1"/>
                </a:solidFill>
                <a:latin typeface="+mj-lt"/>
              </a:rPr>
              <a:t> </a:t>
            </a:r>
            <a:r>
              <a:rPr lang="en-US" sz="4000" b="1">
                <a:solidFill>
                  <a:schemeClr val="tx1"/>
                </a:solidFill>
                <a:latin typeface="+mj-lt"/>
              </a:rPr>
              <a:t>Victim Row</a:t>
            </a:r>
          </a:p>
        </p:txBody>
      </p:sp>
      <p:sp>
        <p:nvSpPr>
          <p:cNvPr id="26" name="Aggressor">
            <a:extLst>
              <a:ext uri="{FF2B5EF4-FFF2-40B4-BE49-F238E27FC236}">
                <a16:creationId xmlns:a16="http://schemas.microsoft.com/office/drawing/2014/main" id="{FE85C9BD-B771-4A9F-AF48-A33EA7183C35}"/>
              </a:ext>
            </a:extLst>
          </p:cNvPr>
          <p:cNvSpPr/>
          <p:nvPr/>
        </p:nvSpPr>
        <p:spPr>
          <a:xfrm>
            <a:off x="1800225" y="3275512"/>
            <a:ext cx="3657600" cy="609600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chemeClr val="bg1"/>
                </a:solidFill>
                <a:latin typeface="+mj-lt"/>
              </a:rPr>
              <a:t> Aggressor Row</a:t>
            </a:r>
          </a:p>
        </p:txBody>
      </p:sp>
      <p:sp>
        <p:nvSpPr>
          <p:cNvPr id="27" name="Punchline">
            <a:extLst>
              <a:ext uri="{FF2B5EF4-FFF2-40B4-BE49-F238E27FC236}">
                <a16:creationId xmlns:a16="http://schemas.microsoft.com/office/drawing/2014/main" id="{DBE03DD9-8BC6-4D25-A768-E8D37AAFE43B}"/>
              </a:ext>
            </a:extLst>
          </p:cNvPr>
          <p:cNvSpPr txBox="1"/>
          <p:nvPr/>
        </p:nvSpPr>
        <p:spPr>
          <a:xfrm>
            <a:off x="504825" y="5714998"/>
            <a:ext cx="8077200" cy="114300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3600" i="1">
                <a:latin typeface="+mj-lt"/>
              </a:rPr>
              <a:t>Repeatedly opening and closing a row induces </a:t>
            </a:r>
            <a:r>
              <a:rPr lang="en-US" sz="3600" b="1" i="1">
                <a:solidFill>
                  <a:srgbClr val="FF0000"/>
                </a:solidFill>
                <a:latin typeface="+mj-lt"/>
              </a:rPr>
              <a:t>disturbance errors</a:t>
            </a:r>
            <a:r>
              <a:rPr lang="en-US" sz="3600" i="1">
                <a:solidFill>
                  <a:srgbClr val="FF0000"/>
                </a:solidFill>
                <a:latin typeface="+mj-lt"/>
              </a:rPr>
              <a:t> </a:t>
            </a:r>
            <a:r>
              <a:rPr lang="en-US" sz="3600" i="1">
                <a:latin typeface="+mj-lt"/>
              </a:rPr>
              <a:t>in adjacent rows</a:t>
            </a:r>
          </a:p>
        </p:txBody>
      </p:sp>
      <p:sp>
        <p:nvSpPr>
          <p:cNvPr id="28" name="Opened">
            <a:extLst>
              <a:ext uri="{FF2B5EF4-FFF2-40B4-BE49-F238E27FC236}">
                <a16:creationId xmlns:a16="http://schemas.microsoft.com/office/drawing/2014/main" id="{D0829B66-C3A8-46AA-A1DF-E5D5F4791CFE}"/>
              </a:ext>
            </a:extLst>
          </p:cNvPr>
          <p:cNvSpPr txBox="1"/>
          <p:nvPr/>
        </p:nvSpPr>
        <p:spPr>
          <a:xfrm>
            <a:off x="3095625" y="3356201"/>
            <a:ext cx="2209800" cy="45720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4000" b="1" i="1">
                <a:latin typeface="+mj-lt"/>
              </a:rPr>
              <a:t>Opened</a:t>
            </a:r>
          </a:p>
        </p:txBody>
      </p:sp>
      <p:sp>
        <p:nvSpPr>
          <p:cNvPr id="29" name="Closed">
            <a:extLst>
              <a:ext uri="{FF2B5EF4-FFF2-40B4-BE49-F238E27FC236}">
                <a16:creationId xmlns:a16="http://schemas.microsoft.com/office/drawing/2014/main" id="{440AC7A0-4F27-494D-AB66-41CFB86B5801}"/>
              </a:ext>
            </a:extLst>
          </p:cNvPr>
          <p:cNvSpPr txBox="1"/>
          <p:nvPr/>
        </p:nvSpPr>
        <p:spPr>
          <a:xfrm>
            <a:off x="3105150" y="3356200"/>
            <a:ext cx="2200275" cy="45720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4000" b="1" i="1">
                <a:latin typeface="+mj-lt"/>
              </a:rPr>
              <a:t>Closed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2C591B1-C06F-4BEB-AE4D-097B68764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025" y="2438311"/>
            <a:ext cx="3496394" cy="349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6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7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5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6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9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2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4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4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7" presetClass="emph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8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83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5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5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7" presetClass="emph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mph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6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6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7" presetClass="emph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10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mph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0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7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7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3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mph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8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8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7" presetClass="emph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124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2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1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9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5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11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1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7" presetClass="emph" presetSubtype="2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mph" presetSubtype="2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4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12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1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2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mph" presetSubtype="2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7" grpId="2"/>
      <p:bldP spid="17" grpId="3"/>
      <p:bldP spid="17" grpId="4"/>
      <p:bldP spid="17" grpId="5"/>
      <p:bldP spid="17" grpId="6"/>
      <p:bldP spid="17" grpId="7"/>
      <p:bldP spid="17" grpId="8"/>
      <p:bldP spid="17" grpId="9"/>
      <p:bldP spid="17" grpId="10"/>
      <p:bldP spid="17" grpId="11"/>
      <p:bldP spid="18" grpId="0"/>
      <p:bldP spid="18" grpId="1"/>
      <p:bldP spid="18" grpId="2"/>
      <p:bldP spid="18" grpId="3"/>
      <p:bldP spid="18" grpId="4"/>
      <p:bldP spid="18" grpId="5"/>
      <p:bldP spid="18" grpId="6"/>
      <p:bldP spid="18" grpId="7"/>
      <p:bldP spid="18" grpId="8"/>
      <p:bldP spid="18" grpId="9"/>
      <p:bldP spid="18" grpId="10"/>
      <p:bldP spid="18" grpId="11"/>
      <p:bldP spid="18" grpId="12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8" grpId="1"/>
      <p:bldP spid="29" grpId="0"/>
      <p:bldP spid="29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41D8E-FD09-4017-BC27-30F3842A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Rowhammer</a:t>
            </a:r>
            <a:r>
              <a:rPr lang="en-US" dirty="0"/>
              <a:t> (Reliability issue)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B66DD-3B51-452D-99D5-A43900EBC1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30</a:t>
            </a:fld>
            <a:endParaRPr lang="en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40B767D1-2FDD-4CA7-8A89-D6252E94EDEE}"/>
              </a:ext>
            </a:extLst>
          </p:cNvPr>
          <p:cNvSpPr/>
          <p:nvPr/>
        </p:nvSpPr>
        <p:spPr>
          <a:xfrm>
            <a:off x="885825" y="1599111"/>
            <a:ext cx="7315200" cy="3962400"/>
          </a:xfrm>
          <a:prstGeom prst="roundRect">
            <a:avLst>
              <a:gd name="adj" fmla="val 11319"/>
            </a:avLst>
          </a:prstGeom>
          <a:solidFill>
            <a:schemeClr val="bg1">
              <a:lumMod val="85000"/>
            </a:schemeClr>
          </a:solidFill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C94761-7FBA-4CF4-9C87-55D8C3E14B94}"/>
              </a:ext>
            </a:extLst>
          </p:cNvPr>
          <p:cNvCxnSpPr/>
          <p:nvPr/>
        </p:nvCxnSpPr>
        <p:spPr>
          <a:xfrm flipH="1" flipV="1">
            <a:off x="1343025" y="2361111"/>
            <a:ext cx="4572000" cy="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364580-8AE2-4012-87A9-9FF2A582AAED}"/>
              </a:ext>
            </a:extLst>
          </p:cNvPr>
          <p:cNvCxnSpPr/>
          <p:nvPr/>
        </p:nvCxnSpPr>
        <p:spPr>
          <a:xfrm flipH="1">
            <a:off x="1343025" y="2970712"/>
            <a:ext cx="4572000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Wordline">
            <a:extLst>
              <a:ext uri="{FF2B5EF4-FFF2-40B4-BE49-F238E27FC236}">
                <a16:creationId xmlns:a16="http://schemas.microsoft.com/office/drawing/2014/main" id="{17C4F56C-6412-4126-8C19-3348D76C683F}"/>
              </a:ext>
            </a:extLst>
          </p:cNvPr>
          <p:cNvCxnSpPr/>
          <p:nvPr/>
        </p:nvCxnSpPr>
        <p:spPr>
          <a:xfrm flipH="1">
            <a:off x="1343025" y="3580311"/>
            <a:ext cx="4572000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95C9F3-311C-4BFB-BAD3-B6989FCFB071}"/>
              </a:ext>
            </a:extLst>
          </p:cNvPr>
          <p:cNvCxnSpPr/>
          <p:nvPr/>
        </p:nvCxnSpPr>
        <p:spPr>
          <a:xfrm flipH="1">
            <a:off x="1343025" y="4189912"/>
            <a:ext cx="4572000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059605-6752-4747-941F-9F9A8D2E4FB3}"/>
              </a:ext>
            </a:extLst>
          </p:cNvPr>
          <p:cNvCxnSpPr/>
          <p:nvPr/>
        </p:nvCxnSpPr>
        <p:spPr>
          <a:xfrm flipH="1" flipV="1">
            <a:off x="1343025" y="4800599"/>
            <a:ext cx="4572000" cy="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394D792-06F7-4650-A860-CF268D180461}"/>
              </a:ext>
            </a:extLst>
          </p:cNvPr>
          <p:cNvSpPr/>
          <p:nvPr/>
        </p:nvSpPr>
        <p:spPr>
          <a:xfrm>
            <a:off x="1800225" y="2067291"/>
            <a:ext cx="36576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 Row of Cells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2ABB44-4993-4BD6-B5E2-FDFD7DA86077}"/>
              </a:ext>
            </a:extLst>
          </p:cNvPr>
          <p:cNvSpPr/>
          <p:nvPr/>
        </p:nvSpPr>
        <p:spPr>
          <a:xfrm>
            <a:off x="1800225" y="2665911"/>
            <a:ext cx="36576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 Row</a:t>
            </a:r>
          </a:p>
        </p:txBody>
      </p:sp>
      <p:sp>
        <p:nvSpPr>
          <p:cNvPr id="13" name="Row">
            <a:extLst>
              <a:ext uri="{FF2B5EF4-FFF2-40B4-BE49-F238E27FC236}">
                <a16:creationId xmlns:a16="http://schemas.microsoft.com/office/drawing/2014/main" id="{F915E778-29FA-49E9-8D09-21C4596AF74F}"/>
              </a:ext>
            </a:extLst>
          </p:cNvPr>
          <p:cNvSpPr/>
          <p:nvPr/>
        </p:nvSpPr>
        <p:spPr>
          <a:xfrm>
            <a:off x="1800225" y="3275511"/>
            <a:ext cx="36576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 Row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4FFB00-C86D-48A4-92DB-F1C2D11BE038}"/>
              </a:ext>
            </a:extLst>
          </p:cNvPr>
          <p:cNvSpPr/>
          <p:nvPr/>
        </p:nvSpPr>
        <p:spPr>
          <a:xfrm>
            <a:off x="1800225" y="3885111"/>
            <a:ext cx="36576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 Row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FE5604-B556-43EC-AFFE-05C65EA42E89}"/>
              </a:ext>
            </a:extLst>
          </p:cNvPr>
          <p:cNvSpPr/>
          <p:nvPr/>
        </p:nvSpPr>
        <p:spPr>
          <a:xfrm>
            <a:off x="1800225" y="4494710"/>
            <a:ext cx="36576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 Row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F13FFD-DA88-45F0-A0FC-1A32A5722B8A}"/>
              </a:ext>
            </a:extLst>
          </p:cNvPr>
          <p:cNvSpPr txBox="1"/>
          <p:nvPr/>
        </p:nvSpPr>
        <p:spPr>
          <a:xfrm>
            <a:off x="5915025" y="2132509"/>
            <a:ext cx="2286000" cy="45720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4000">
                <a:latin typeface="+mj-lt"/>
              </a:rPr>
              <a:t> Wordline</a:t>
            </a:r>
          </a:p>
        </p:txBody>
      </p:sp>
      <p:sp>
        <p:nvSpPr>
          <p:cNvPr id="17" name="Low Volt">
            <a:extLst>
              <a:ext uri="{FF2B5EF4-FFF2-40B4-BE49-F238E27FC236}">
                <a16:creationId xmlns:a16="http://schemas.microsoft.com/office/drawing/2014/main" id="{1B8C0803-29F3-4A68-A9AA-FA6FF67A9F1E}"/>
              </a:ext>
            </a:extLst>
          </p:cNvPr>
          <p:cNvSpPr txBox="1"/>
          <p:nvPr/>
        </p:nvSpPr>
        <p:spPr>
          <a:xfrm>
            <a:off x="5915025" y="3351710"/>
            <a:ext cx="2286000" cy="45720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4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V</a:t>
            </a:r>
            <a:r>
              <a:rPr lang="en-US" sz="4800" b="1" i="1" baseline="-20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LOW</a:t>
            </a:r>
            <a:endParaRPr lang="en-US" sz="4400" b="1" i="1" baseline="-2000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8" name="High Volt">
            <a:extLst>
              <a:ext uri="{FF2B5EF4-FFF2-40B4-BE49-F238E27FC236}">
                <a16:creationId xmlns:a16="http://schemas.microsoft.com/office/drawing/2014/main" id="{D8FB5B7D-ED69-4002-891F-F87759D542B5}"/>
              </a:ext>
            </a:extLst>
          </p:cNvPr>
          <p:cNvSpPr txBox="1"/>
          <p:nvPr/>
        </p:nvSpPr>
        <p:spPr>
          <a:xfrm>
            <a:off x="5915025" y="3352475"/>
            <a:ext cx="2286000" cy="45720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4400" b="1">
                <a:solidFill>
                  <a:srgbClr val="FF0000"/>
                </a:solidFill>
                <a:latin typeface="+mj-lt"/>
              </a:rPr>
              <a:t> </a:t>
            </a:r>
            <a:r>
              <a:rPr lang="en-US" sz="4400" b="1" i="1">
                <a:solidFill>
                  <a:srgbClr val="FF0000"/>
                </a:solidFill>
                <a:latin typeface="+mj-lt"/>
              </a:rPr>
              <a:t>V</a:t>
            </a:r>
            <a:r>
              <a:rPr lang="en-US" sz="4800" b="1" i="1" baseline="-20000">
                <a:solidFill>
                  <a:srgbClr val="FF0000"/>
                </a:solidFill>
                <a:latin typeface="+mj-lt"/>
              </a:rPr>
              <a:t>HIGH</a:t>
            </a:r>
            <a:endParaRPr lang="en-US" sz="4400" b="1" i="1" baseline="-200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Error">
            <a:extLst>
              <a:ext uri="{FF2B5EF4-FFF2-40B4-BE49-F238E27FC236}">
                <a16:creationId xmlns:a16="http://schemas.microsoft.com/office/drawing/2014/main" id="{7D2C775C-81D0-410C-99A8-D7E438B9DEE1}"/>
              </a:ext>
            </a:extLst>
          </p:cNvPr>
          <p:cNvSpPr/>
          <p:nvPr/>
        </p:nvSpPr>
        <p:spPr>
          <a:xfrm>
            <a:off x="4848225" y="2661421"/>
            <a:ext cx="609600" cy="609600"/>
          </a:xfrm>
          <a:prstGeom prst="mathMultiply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rror">
            <a:extLst>
              <a:ext uri="{FF2B5EF4-FFF2-40B4-BE49-F238E27FC236}">
                <a16:creationId xmlns:a16="http://schemas.microsoft.com/office/drawing/2014/main" id="{2C579CF3-8EF4-47EA-ADED-C9F5D189B996}"/>
              </a:ext>
            </a:extLst>
          </p:cNvPr>
          <p:cNvSpPr/>
          <p:nvPr/>
        </p:nvSpPr>
        <p:spPr>
          <a:xfrm>
            <a:off x="4238625" y="3888515"/>
            <a:ext cx="609600" cy="609599"/>
          </a:xfrm>
          <a:prstGeom prst="mathMultiply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rror">
            <a:extLst>
              <a:ext uri="{FF2B5EF4-FFF2-40B4-BE49-F238E27FC236}">
                <a16:creationId xmlns:a16="http://schemas.microsoft.com/office/drawing/2014/main" id="{64EF8FE4-FD4C-4E6F-BA8D-3BA5FAE46A38}"/>
              </a:ext>
            </a:extLst>
          </p:cNvPr>
          <p:cNvSpPr/>
          <p:nvPr/>
        </p:nvSpPr>
        <p:spPr>
          <a:xfrm>
            <a:off x="3629025" y="2661421"/>
            <a:ext cx="609600" cy="609600"/>
          </a:xfrm>
          <a:prstGeom prst="mathMultiply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rror">
            <a:extLst>
              <a:ext uri="{FF2B5EF4-FFF2-40B4-BE49-F238E27FC236}">
                <a16:creationId xmlns:a16="http://schemas.microsoft.com/office/drawing/2014/main" id="{43127398-EF53-4523-BA96-5778958D0270}"/>
              </a:ext>
            </a:extLst>
          </p:cNvPr>
          <p:cNvSpPr/>
          <p:nvPr/>
        </p:nvSpPr>
        <p:spPr>
          <a:xfrm>
            <a:off x="3629025" y="3881708"/>
            <a:ext cx="609600" cy="609600"/>
          </a:xfrm>
          <a:prstGeom prst="mathMultiply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rror">
            <a:extLst>
              <a:ext uri="{FF2B5EF4-FFF2-40B4-BE49-F238E27FC236}">
                <a16:creationId xmlns:a16="http://schemas.microsoft.com/office/drawing/2014/main" id="{A20D60B3-80CD-4B76-96D7-C364E58A3BE6}"/>
              </a:ext>
            </a:extLst>
          </p:cNvPr>
          <p:cNvSpPr/>
          <p:nvPr/>
        </p:nvSpPr>
        <p:spPr>
          <a:xfrm>
            <a:off x="2390775" y="2661421"/>
            <a:ext cx="609600" cy="609600"/>
          </a:xfrm>
          <a:prstGeom prst="mathMultiply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Victim">
            <a:extLst>
              <a:ext uri="{FF2B5EF4-FFF2-40B4-BE49-F238E27FC236}">
                <a16:creationId xmlns:a16="http://schemas.microsoft.com/office/drawing/2014/main" id="{9DE8DE22-AD5C-44D1-B5BF-97861D35CC52}"/>
              </a:ext>
            </a:extLst>
          </p:cNvPr>
          <p:cNvSpPr/>
          <p:nvPr/>
        </p:nvSpPr>
        <p:spPr>
          <a:xfrm>
            <a:off x="1800225" y="3885656"/>
            <a:ext cx="3657600" cy="6096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chemeClr val="bg1"/>
                </a:solidFill>
                <a:latin typeface="+mj-lt"/>
              </a:rPr>
              <a:t> </a:t>
            </a:r>
            <a:r>
              <a:rPr lang="en-US" sz="4000" b="1">
                <a:solidFill>
                  <a:schemeClr val="tx1"/>
                </a:solidFill>
                <a:latin typeface="+mj-lt"/>
              </a:rPr>
              <a:t>Victim Row</a:t>
            </a:r>
          </a:p>
        </p:txBody>
      </p:sp>
      <p:sp>
        <p:nvSpPr>
          <p:cNvPr id="25" name="Victim">
            <a:extLst>
              <a:ext uri="{FF2B5EF4-FFF2-40B4-BE49-F238E27FC236}">
                <a16:creationId xmlns:a16="http://schemas.microsoft.com/office/drawing/2014/main" id="{541CBC55-A256-4D70-892B-B6F279533E8F}"/>
              </a:ext>
            </a:extLst>
          </p:cNvPr>
          <p:cNvSpPr/>
          <p:nvPr/>
        </p:nvSpPr>
        <p:spPr>
          <a:xfrm>
            <a:off x="1800225" y="2667909"/>
            <a:ext cx="3657600" cy="6096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chemeClr val="bg1"/>
                </a:solidFill>
                <a:latin typeface="+mj-lt"/>
              </a:rPr>
              <a:t> </a:t>
            </a:r>
            <a:r>
              <a:rPr lang="en-US" sz="4000" b="1">
                <a:solidFill>
                  <a:schemeClr val="tx1"/>
                </a:solidFill>
                <a:latin typeface="+mj-lt"/>
              </a:rPr>
              <a:t>Victim Row</a:t>
            </a:r>
          </a:p>
        </p:txBody>
      </p:sp>
      <p:sp>
        <p:nvSpPr>
          <p:cNvPr id="26" name="Aggressor">
            <a:extLst>
              <a:ext uri="{FF2B5EF4-FFF2-40B4-BE49-F238E27FC236}">
                <a16:creationId xmlns:a16="http://schemas.microsoft.com/office/drawing/2014/main" id="{FE85C9BD-B771-4A9F-AF48-A33EA7183C35}"/>
              </a:ext>
            </a:extLst>
          </p:cNvPr>
          <p:cNvSpPr/>
          <p:nvPr/>
        </p:nvSpPr>
        <p:spPr>
          <a:xfrm>
            <a:off x="1800225" y="3275512"/>
            <a:ext cx="3657600" cy="609600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chemeClr val="bg1"/>
                </a:solidFill>
                <a:latin typeface="+mj-lt"/>
              </a:rPr>
              <a:t> Aggressor Row</a:t>
            </a:r>
          </a:p>
        </p:txBody>
      </p:sp>
      <p:sp>
        <p:nvSpPr>
          <p:cNvPr id="28" name="Opened">
            <a:extLst>
              <a:ext uri="{FF2B5EF4-FFF2-40B4-BE49-F238E27FC236}">
                <a16:creationId xmlns:a16="http://schemas.microsoft.com/office/drawing/2014/main" id="{D0829B66-C3A8-46AA-A1DF-E5D5F4791CFE}"/>
              </a:ext>
            </a:extLst>
          </p:cNvPr>
          <p:cNvSpPr txBox="1"/>
          <p:nvPr/>
        </p:nvSpPr>
        <p:spPr>
          <a:xfrm>
            <a:off x="3095625" y="3356201"/>
            <a:ext cx="2209800" cy="45720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4000" b="1" i="1">
                <a:latin typeface="+mj-lt"/>
              </a:rPr>
              <a:t>Opened</a:t>
            </a:r>
          </a:p>
        </p:txBody>
      </p:sp>
      <p:sp>
        <p:nvSpPr>
          <p:cNvPr id="29" name="Closed">
            <a:extLst>
              <a:ext uri="{FF2B5EF4-FFF2-40B4-BE49-F238E27FC236}">
                <a16:creationId xmlns:a16="http://schemas.microsoft.com/office/drawing/2014/main" id="{440AC7A0-4F27-494D-AB66-41CFB86B5801}"/>
              </a:ext>
            </a:extLst>
          </p:cNvPr>
          <p:cNvSpPr txBox="1"/>
          <p:nvPr/>
        </p:nvSpPr>
        <p:spPr>
          <a:xfrm>
            <a:off x="3105150" y="3356200"/>
            <a:ext cx="2200275" cy="45720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4000" b="1" i="1">
                <a:latin typeface="+mj-lt"/>
              </a:rPr>
              <a:t>Closed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2C591B1-C06F-4BEB-AE4D-097B68764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025" y="2438311"/>
            <a:ext cx="3496394" cy="3496394"/>
          </a:xfrm>
          <a:prstGeom prst="rect">
            <a:avLst/>
          </a:prstGeom>
        </p:spPr>
      </p:pic>
      <p:sp>
        <p:nvSpPr>
          <p:cNvPr id="31" name="Punchline">
            <a:extLst>
              <a:ext uri="{FF2B5EF4-FFF2-40B4-BE49-F238E27FC236}">
                <a16:creationId xmlns:a16="http://schemas.microsoft.com/office/drawing/2014/main" id="{20C09F69-5739-483B-A695-9BF5EEADB46F}"/>
              </a:ext>
            </a:extLst>
          </p:cNvPr>
          <p:cNvSpPr txBox="1"/>
          <p:nvPr/>
        </p:nvSpPr>
        <p:spPr>
          <a:xfrm>
            <a:off x="51089" y="5785621"/>
            <a:ext cx="12191999" cy="114300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endParaRPr lang="en-US" sz="2800" i="1" dirty="0">
              <a:solidFill>
                <a:srgbClr val="C00000"/>
              </a:solidFill>
            </a:endParaRPr>
          </a:p>
          <a:p>
            <a:r>
              <a:rPr lang="en-US" sz="2800" i="1" dirty="0">
                <a:solidFill>
                  <a:srgbClr val="C00000"/>
                </a:solidFill>
              </a:rPr>
              <a:t>“It’s like breaking into an apartment by repeatedly slamming a neighbor’s door until the vibrations open the door you were after” – Motherboard Vice</a:t>
            </a:r>
          </a:p>
          <a:p>
            <a:endParaRPr lang="en-US" sz="28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9213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7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5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6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9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2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4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4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7" presetClass="emph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8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83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5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5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7" presetClass="emph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mph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6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6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7" presetClass="emph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10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mph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0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7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7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3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mph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8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8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7" presetClass="emph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124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2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1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9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5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11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1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7" presetClass="emph" presetSubtype="2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mph" presetSubtype="2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4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12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1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2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7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mph" presetSubtype="2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7" grpId="2"/>
      <p:bldP spid="17" grpId="3"/>
      <p:bldP spid="17" grpId="4"/>
      <p:bldP spid="17" grpId="5"/>
      <p:bldP spid="17" grpId="6"/>
      <p:bldP spid="17" grpId="7"/>
      <p:bldP spid="17" grpId="8"/>
      <p:bldP spid="17" grpId="9"/>
      <p:bldP spid="17" grpId="10"/>
      <p:bldP spid="17" grpId="11"/>
      <p:bldP spid="18" grpId="0"/>
      <p:bldP spid="18" grpId="1"/>
      <p:bldP spid="18" grpId="2"/>
      <p:bldP spid="18" grpId="3"/>
      <p:bldP spid="18" grpId="4"/>
      <p:bldP spid="18" grpId="5"/>
      <p:bldP spid="18" grpId="6"/>
      <p:bldP spid="18" grpId="7"/>
      <p:bldP spid="18" grpId="8"/>
      <p:bldP spid="18" grpId="9"/>
      <p:bldP spid="18" grpId="10"/>
      <p:bldP spid="18" grpId="11"/>
      <p:bldP spid="18" grpId="12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/>
      <p:bldP spid="28" grpId="1"/>
      <p:bldP spid="29" grpId="0"/>
      <p:bldP spid="29" grpId="1"/>
      <p:bldP spid="3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B3AB0-5A86-49AE-B263-E1D20D33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Code Please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B4089-B860-4A9D-AC8A-3AE03D9E3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31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D16DC-9363-4357-82B9-1EFFFE7D6A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0" y="1957389"/>
            <a:ext cx="1752600" cy="1752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8290C1-54F9-44F8-A2BF-D675EAF9D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50" y="1814219"/>
            <a:ext cx="3761672" cy="2542032"/>
          </a:xfrm>
          <a:prstGeom prst="rect">
            <a:avLst/>
          </a:prstGeom>
        </p:spPr>
      </p:pic>
      <p:sp>
        <p:nvSpPr>
          <p:cNvPr id="7" name="Left-Right Arrow 2">
            <a:extLst>
              <a:ext uri="{FF2B5EF4-FFF2-40B4-BE49-F238E27FC236}">
                <a16:creationId xmlns:a16="http://schemas.microsoft.com/office/drawing/2014/main" id="{2D04744C-1757-4776-B55E-4B1B07E97DDA}"/>
              </a:ext>
            </a:extLst>
          </p:cNvPr>
          <p:cNvSpPr/>
          <p:nvPr/>
        </p:nvSpPr>
        <p:spPr>
          <a:xfrm>
            <a:off x="3390900" y="2384575"/>
            <a:ext cx="1695450" cy="895352"/>
          </a:xfrm>
          <a:prstGeom prst="left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latin typeface="+mj-lt"/>
              </a:rPr>
              <a:t>DDR3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66C856-B520-4761-8CBC-BCBD9F7BE190}"/>
              </a:ext>
            </a:extLst>
          </p:cNvPr>
          <p:cNvSpPr txBox="1"/>
          <p:nvPr/>
        </p:nvSpPr>
        <p:spPr>
          <a:xfrm>
            <a:off x="5086350" y="1471614"/>
            <a:ext cx="3761672" cy="63817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36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DRAM Module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584007-DAF7-4CBE-AC4A-42FB75211845}"/>
              </a:ext>
            </a:extLst>
          </p:cNvPr>
          <p:cNvSpPr txBox="1"/>
          <p:nvPr/>
        </p:nvSpPr>
        <p:spPr>
          <a:xfrm>
            <a:off x="800100" y="1471613"/>
            <a:ext cx="3238500" cy="63817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36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x86 CPU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B22BA3-A4E6-417C-B9F2-4C24E12C3166}"/>
              </a:ext>
            </a:extLst>
          </p:cNvPr>
          <p:cNvSpPr/>
          <p:nvPr/>
        </p:nvSpPr>
        <p:spPr>
          <a:xfrm>
            <a:off x="5086350" y="3586164"/>
            <a:ext cx="3761672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RAM">
            <a:extLst>
              <a:ext uri="{FF2B5EF4-FFF2-40B4-BE49-F238E27FC236}">
                <a16:creationId xmlns:a16="http://schemas.microsoft.com/office/drawing/2014/main" id="{41D0F083-2CDC-4C06-9E3B-29C1921BC8B4}"/>
              </a:ext>
            </a:extLst>
          </p:cNvPr>
          <p:cNvSpPr/>
          <p:nvPr/>
        </p:nvSpPr>
        <p:spPr>
          <a:xfrm>
            <a:off x="5262562" y="3810000"/>
            <a:ext cx="3505200" cy="3048000"/>
          </a:xfrm>
          <a:prstGeom prst="roundRect">
            <a:avLst>
              <a:gd name="adj" fmla="val 11319"/>
            </a:avLst>
          </a:prstGeom>
          <a:solidFill>
            <a:schemeClr val="bg1">
              <a:lumMod val="75000"/>
            </a:schemeClr>
          </a:solidFill>
          <a:ln w="571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XArrow">
            <a:extLst>
              <a:ext uri="{FF2B5EF4-FFF2-40B4-BE49-F238E27FC236}">
                <a16:creationId xmlns:a16="http://schemas.microsoft.com/office/drawing/2014/main" id="{FE230F09-FC06-4982-8000-629685B937C2}"/>
              </a:ext>
            </a:extLst>
          </p:cNvPr>
          <p:cNvCxnSpPr>
            <a:stCxn id="13" idx="3"/>
          </p:cNvCxnSpPr>
          <p:nvPr/>
        </p:nvCxnSpPr>
        <p:spPr>
          <a:xfrm>
            <a:off x="5829300" y="4862513"/>
            <a:ext cx="381000" cy="0"/>
          </a:xfrm>
          <a:prstGeom prst="straightConnector1">
            <a:avLst/>
          </a:prstGeom>
          <a:ln w="38100" cap="rnd">
            <a:solidFill>
              <a:srgbClr val="FF0000"/>
            </a:solidFill>
            <a:round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X">
            <a:extLst>
              <a:ext uri="{FF2B5EF4-FFF2-40B4-BE49-F238E27FC236}">
                <a16:creationId xmlns:a16="http://schemas.microsoft.com/office/drawing/2014/main" id="{A5A6B8F1-5D98-43D8-A095-38D1CA7D5735}"/>
              </a:ext>
            </a:extLst>
          </p:cNvPr>
          <p:cNvSpPr/>
          <p:nvPr/>
        </p:nvSpPr>
        <p:spPr>
          <a:xfrm>
            <a:off x="5219701" y="4672013"/>
            <a:ext cx="609599" cy="381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Ins="91440" rtlCol="0" anchor="ctr"/>
          <a:lstStyle/>
          <a:p>
            <a:pPr algn="r"/>
            <a:r>
              <a:rPr lang="en-US" sz="3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en-US" sz="2800" b="1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ow">
            <a:extLst>
              <a:ext uri="{FF2B5EF4-FFF2-40B4-BE49-F238E27FC236}">
                <a16:creationId xmlns:a16="http://schemas.microsoft.com/office/drawing/2014/main" id="{CCCC6C1C-E7E5-4C0D-83AB-BB32E3B575FB}"/>
              </a:ext>
            </a:extLst>
          </p:cNvPr>
          <p:cNvSpPr/>
          <p:nvPr/>
        </p:nvSpPr>
        <p:spPr>
          <a:xfrm>
            <a:off x="6210300" y="6196013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  <a:endParaRPr lang="en-US" sz="36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owY">
            <a:extLst>
              <a:ext uri="{FF2B5EF4-FFF2-40B4-BE49-F238E27FC236}">
                <a16:creationId xmlns:a16="http://schemas.microsoft.com/office/drawing/2014/main" id="{4C3FD8C0-65FA-410D-9718-FED340143685}"/>
              </a:ext>
            </a:extLst>
          </p:cNvPr>
          <p:cNvSpPr/>
          <p:nvPr/>
        </p:nvSpPr>
        <p:spPr>
          <a:xfrm>
            <a:off x="6210300" y="5815013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</a:p>
        </p:txBody>
      </p:sp>
      <p:sp>
        <p:nvSpPr>
          <p:cNvPr id="16" name="Row">
            <a:extLst>
              <a:ext uri="{FF2B5EF4-FFF2-40B4-BE49-F238E27FC236}">
                <a16:creationId xmlns:a16="http://schemas.microsoft.com/office/drawing/2014/main" id="{F6DE0AD0-DFAF-48B4-B0AC-81DA49260B28}"/>
              </a:ext>
            </a:extLst>
          </p:cNvPr>
          <p:cNvSpPr/>
          <p:nvPr/>
        </p:nvSpPr>
        <p:spPr>
          <a:xfrm>
            <a:off x="6210300" y="5434013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</a:p>
        </p:txBody>
      </p:sp>
      <p:sp>
        <p:nvSpPr>
          <p:cNvPr id="17" name="Row">
            <a:extLst>
              <a:ext uri="{FF2B5EF4-FFF2-40B4-BE49-F238E27FC236}">
                <a16:creationId xmlns:a16="http://schemas.microsoft.com/office/drawing/2014/main" id="{8AC1C6D6-FFC3-4A3C-906A-786EA79480AF}"/>
              </a:ext>
            </a:extLst>
          </p:cNvPr>
          <p:cNvSpPr/>
          <p:nvPr/>
        </p:nvSpPr>
        <p:spPr>
          <a:xfrm>
            <a:off x="6210300" y="5053013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</a:p>
        </p:txBody>
      </p:sp>
      <p:sp>
        <p:nvSpPr>
          <p:cNvPr id="18" name="RowX">
            <a:extLst>
              <a:ext uri="{FF2B5EF4-FFF2-40B4-BE49-F238E27FC236}">
                <a16:creationId xmlns:a16="http://schemas.microsoft.com/office/drawing/2014/main" id="{D524A6FD-0702-4E9C-B29E-A73FD9955BC9}"/>
              </a:ext>
            </a:extLst>
          </p:cNvPr>
          <p:cNvSpPr/>
          <p:nvPr/>
        </p:nvSpPr>
        <p:spPr>
          <a:xfrm>
            <a:off x="6210300" y="4672013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</a:p>
        </p:txBody>
      </p:sp>
      <p:sp>
        <p:nvSpPr>
          <p:cNvPr id="19" name="Row">
            <a:extLst>
              <a:ext uri="{FF2B5EF4-FFF2-40B4-BE49-F238E27FC236}">
                <a16:creationId xmlns:a16="http://schemas.microsoft.com/office/drawing/2014/main" id="{B46267FD-3AE5-4BB4-A946-F58882AC5B5F}"/>
              </a:ext>
            </a:extLst>
          </p:cNvPr>
          <p:cNvSpPr/>
          <p:nvPr/>
        </p:nvSpPr>
        <p:spPr>
          <a:xfrm>
            <a:off x="6210300" y="4291013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</a:p>
        </p:txBody>
      </p:sp>
      <p:sp>
        <p:nvSpPr>
          <p:cNvPr id="20" name="CPU">
            <a:extLst>
              <a:ext uri="{FF2B5EF4-FFF2-40B4-BE49-F238E27FC236}">
                <a16:creationId xmlns:a16="http://schemas.microsoft.com/office/drawing/2014/main" id="{043C4571-E1B1-4600-9268-251B337071D6}"/>
              </a:ext>
            </a:extLst>
          </p:cNvPr>
          <p:cNvSpPr/>
          <p:nvPr/>
        </p:nvSpPr>
        <p:spPr>
          <a:xfrm>
            <a:off x="533400" y="3910013"/>
            <a:ext cx="4152900" cy="3048001"/>
          </a:xfrm>
          <a:prstGeom prst="rect">
            <a:avLst/>
          </a:prstGeom>
          <a:noFill/>
          <a:ln w="571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0050" indent="-400050">
              <a:lnSpc>
                <a:spcPct val="9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Avoid </a:t>
            </a:r>
            <a:r>
              <a:rPr lang="en-US" sz="3200" b="1" i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cache hits</a:t>
            </a:r>
          </a:p>
          <a:p>
            <a:pPr marL="742950" lvl="1" indent="-285750">
              <a:lnSpc>
                <a:spcPct val="90000"/>
              </a:lnSpc>
              <a:buFont typeface="Calibri Light" panose="020F0302020204030204" pitchFamily="34" charset="0"/>
              <a:buChar char="–"/>
            </a:pPr>
            <a:r>
              <a:rPr lang="en-US" sz="2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Flush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from cache</a:t>
            </a:r>
          </a:p>
          <a:p>
            <a:pPr marL="400050" indent="-400050">
              <a:lnSpc>
                <a:spcPct val="90000"/>
              </a:lnSpc>
              <a:buFont typeface="+mj-lt"/>
              <a:buAutoNum type="arabicPeriod"/>
            </a:pPr>
            <a:endParaRPr lang="en-US" sz="3200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marL="400050" indent="-400050">
              <a:lnSpc>
                <a:spcPct val="9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Avoid </a:t>
            </a:r>
            <a:r>
              <a:rPr lang="en-US" sz="3200" b="1" i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row hits</a:t>
            </a:r>
            <a:r>
              <a:rPr lang="en-US" sz="3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to </a:t>
            </a:r>
            <a:r>
              <a:rPr 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pPr marL="742950" lvl="1" indent="-285750">
              <a:lnSpc>
                <a:spcPct val="90000"/>
              </a:lnSpc>
              <a:buFont typeface="Calibri Light" panose="020F0302020204030204" pitchFamily="34" charset="0"/>
              <a:buChar char="–"/>
            </a:pPr>
            <a:r>
              <a:rPr lang="en-US" sz="2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Read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in another row</a:t>
            </a:r>
          </a:p>
        </p:txBody>
      </p:sp>
      <p:cxnSp>
        <p:nvCxnSpPr>
          <p:cNvPr id="21" name="YArrow">
            <a:extLst>
              <a:ext uri="{FF2B5EF4-FFF2-40B4-BE49-F238E27FC236}">
                <a16:creationId xmlns:a16="http://schemas.microsoft.com/office/drawing/2014/main" id="{B25051E2-8E20-45FA-9A88-2DE01761BA53}"/>
              </a:ext>
            </a:extLst>
          </p:cNvPr>
          <p:cNvCxnSpPr>
            <a:stCxn id="22" idx="3"/>
          </p:cNvCxnSpPr>
          <p:nvPr/>
        </p:nvCxnSpPr>
        <p:spPr>
          <a:xfrm>
            <a:off x="5829300" y="6005513"/>
            <a:ext cx="381000" cy="0"/>
          </a:xfrm>
          <a:prstGeom prst="straightConnector1">
            <a:avLst/>
          </a:prstGeom>
          <a:ln w="38100" cap="rnd">
            <a:solidFill>
              <a:srgbClr val="FF0000"/>
            </a:solidFill>
            <a:round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Y">
            <a:extLst>
              <a:ext uri="{FF2B5EF4-FFF2-40B4-BE49-F238E27FC236}">
                <a16:creationId xmlns:a16="http://schemas.microsoft.com/office/drawing/2014/main" id="{C67882F2-CB41-485C-BA30-52C0AA911900}"/>
              </a:ext>
            </a:extLst>
          </p:cNvPr>
          <p:cNvSpPr/>
          <p:nvPr/>
        </p:nvSpPr>
        <p:spPr>
          <a:xfrm>
            <a:off x="5219701" y="5815013"/>
            <a:ext cx="609599" cy="381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Ins="91440" rtlCol="0" anchor="ctr"/>
          <a:lstStyle/>
          <a:p>
            <a:pPr algn="r"/>
            <a:r>
              <a:rPr 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endParaRPr lang="en-US" sz="2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43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54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"/>
                            </p:stCondLst>
                            <p:childTnLst>
                              <p:par>
                                <p:cTn id="57" presetID="1" presetClass="emph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59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70"/>
                            </p:stCondLst>
                            <p:childTnLst>
                              <p:par>
                                <p:cTn id="62" presetID="1" presetClass="emph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64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30"/>
                            </p:stCondLst>
                            <p:childTnLst>
                              <p:par>
                                <p:cTn id="67" presetID="1" presetClass="emph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69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90"/>
                            </p:stCondLst>
                            <p:childTnLst>
                              <p:par>
                                <p:cTn id="72" presetID="1" presetClass="emph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74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50"/>
                            </p:stCondLst>
                            <p:childTnLst>
                              <p:par>
                                <p:cTn id="77" presetID="1" presetClass="emph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9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310"/>
                            </p:stCondLst>
                            <p:childTnLst>
                              <p:par>
                                <p:cTn id="82" presetID="1" presetClass="emph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84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70"/>
                            </p:stCondLst>
                            <p:childTnLst>
                              <p:par>
                                <p:cTn id="87" presetID="1" presetClass="emph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89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830"/>
                            </p:stCondLst>
                            <p:childTnLst>
                              <p:par>
                                <p:cTn id="92" presetID="1" presetClass="emph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94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90"/>
                            </p:stCondLst>
                            <p:childTnLst>
                              <p:par>
                                <p:cTn id="97" presetID="1" presetClass="emph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9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794EB-AC40-4F3E-BF74-DE8CEF58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code please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1E8C5-2614-4D33-A2A6-4B8506C84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32</a:t>
            </a:fld>
            <a:endParaRPr lang="en"/>
          </a:p>
        </p:txBody>
      </p:sp>
      <p:sp>
        <p:nvSpPr>
          <p:cNvPr id="5" name="DRAM">
            <a:extLst>
              <a:ext uri="{FF2B5EF4-FFF2-40B4-BE49-F238E27FC236}">
                <a16:creationId xmlns:a16="http://schemas.microsoft.com/office/drawing/2014/main" id="{838E43C9-13F1-4961-AD11-AECD7A6A93FA}"/>
              </a:ext>
            </a:extLst>
          </p:cNvPr>
          <p:cNvSpPr/>
          <p:nvPr/>
        </p:nvSpPr>
        <p:spPr>
          <a:xfrm>
            <a:off x="6282818" y="2817456"/>
            <a:ext cx="3505200" cy="3048000"/>
          </a:xfrm>
          <a:prstGeom prst="roundRect">
            <a:avLst>
              <a:gd name="adj" fmla="val 11319"/>
            </a:avLst>
          </a:prstGeom>
          <a:solidFill>
            <a:schemeClr val="bg1">
              <a:lumMod val="75000"/>
            </a:schemeClr>
          </a:solidFill>
          <a:ln w="571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YArrow">
            <a:extLst>
              <a:ext uri="{FF2B5EF4-FFF2-40B4-BE49-F238E27FC236}">
                <a16:creationId xmlns:a16="http://schemas.microsoft.com/office/drawing/2014/main" id="{58B49E95-E565-4253-98ED-10C52D0C2211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6892418" y="4912955"/>
            <a:ext cx="381000" cy="0"/>
          </a:xfrm>
          <a:prstGeom prst="straightConnector1">
            <a:avLst/>
          </a:prstGeom>
          <a:ln w="38100" cap="rnd">
            <a:solidFill>
              <a:srgbClr val="FF0000"/>
            </a:solidFill>
            <a:round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Y">
            <a:extLst>
              <a:ext uri="{FF2B5EF4-FFF2-40B4-BE49-F238E27FC236}">
                <a16:creationId xmlns:a16="http://schemas.microsoft.com/office/drawing/2014/main" id="{38174C49-0B7A-4CFD-AE63-D8FED11FC448}"/>
              </a:ext>
            </a:extLst>
          </p:cNvPr>
          <p:cNvSpPr/>
          <p:nvPr/>
        </p:nvSpPr>
        <p:spPr>
          <a:xfrm>
            <a:off x="6282819" y="4722455"/>
            <a:ext cx="609599" cy="381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Ins="91440" rtlCol="0" anchor="ctr"/>
          <a:lstStyle/>
          <a:p>
            <a:pPr algn="r"/>
            <a:r>
              <a:rPr lang="en-US" sz="3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endParaRPr lang="en-US" sz="2800" b="1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XArrow">
            <a:extLst>
              <a:ext uri="{FF2B5EF4-FFF2-40B4-BE49-F238E27FC236}">
                <a16:creationId xmlns:a16="http://schemas.microsoft.com/office/drawing/2014/main" id="{5F9843AB-7A07-437C-8DE0-6F7B382746B4}"/>
              </a:ext>
            </a:extLst>
          </p:cNvPr>
          <p:cNvCxnSpPr>
            <a:stCxn id="9" idx="3"/>
          </p:cNvCxnSpPr>
          <p:nvPr/>
        </p:nvCxnSpPr>
        <p:spPr>
          <a:xfrm>
            <a:off x="6892418" y="3769955"/>
            <a:ext cx="381000" cy="0"/>
          </a:xfrm>
          <a:prstGeom prst="straightConnector1">
            <a:avLst/>
          </a:prstGeom>
          <a:ln w="38100" cap="rnd">
            <a:solidFill>
              <a:srgbClr val="FF0000"/>
            </a:solidFill>
            <a:round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X">
            <a:extLst>
              <a:ext uri="{FF2B5EF4-FFF2-40B4-BE49-F238E27FC236}">
                <a16:creationId xmlns:a16="http://schemas.microsoft.com/office/drawing/2014/main" id="{50539CB2-C997-4B32-A1A0-C799F1192FED}"/>
              </a:ext>
            </a:extLst>
          </p:cNvPr>
          <p:cNvSpPr/>
          <p:nvPr/>
        </p:nvSpPr>
        <p:spPr>
          <a:xfrm>
            <a:off x="6282819" y="3579455"/>
            <a:ext cx="609599" cy="381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Ins="91440" rtlCol="0" anchor="ctr"/>
          <a:lstStyle/>
          <a:p>
            <a:pPr algn="r"/>
            <a:r>
              <a:rPr lang="en-US" sz="3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en-US" sz="2800" b="1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ow">
            <a:extLst>
              <a:ext uri="{FF2B5EF4-FFF2-40B4-BE49-F238E27FC236}">
                <a16:creationId xmlns:a16="http://schemas.microsoft.com/office/drawing/2014/main" id="{F6DCF9AA-CB43-4371-913B-4D03C466253C}"/>
              </a:ext>
            </a:extLst>
          </p:cNvPr>
          <p:cNvSpPr/>
          <p:nvPr/>
        </p:nvSpPr>
        <p:spPr>
          <a:xfrm>
            <a:off x="7273418" y="5103455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  <a:endParaRPr lang="en-US" sz="36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owY">
            <a:extLst>
              <a:ext uri="{FF2B5EF4-FFF2-40B4-BE49-F238E27FC236}">
                <a16:creationId xmlns:a16="http://schemas.microsoft.com/office/drawing/2014/main" id="{4800C5CC-BB63-4EFC-9FC5-04ECFE0A31E8}"/>
              </a:ext>
            </a:extLst>
          </p:cNvPr>
          <p:cNvSpPr/>
          <p:nvPr/>
        </p:nvSpPr>
        <p:spPr>
          <a:xfrm>
            <a:off x="7273418" y="4722455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</a:p>
        </p:txBody>
      </p:sp>
      <p:sp>
        <p:nvSpPr>
          <p:cNvPr id="12" name="Row">
            <a:extLst>
              <a:ext uri="{FF2B5EF4-FFF2-40B4-BE49-F238E27FC236}">
                <a16:creationId xmlns:a16="http://schemas.microsoft.com/office/drawing/2014/main" id="{A19DC44F-7B21-4D7D-9025-771A2CEF2C79}"/>
              </a:ext>
            </a:extLst>
          </p:cNvPr>
          <p:cNvSpPr/>
          <p:nvPr/>
        </p:nvSpPr>
        <p:spPr>
          <a:xfrm>
            <a:off x="7273418" y="4341455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</a:p>
        </p:txBody>
      </p:sp>
      <p:sp>
        <p:nvSpPr>
          <p:cNvPr id="13" name="Row">
            <a:extLst>
              <a:ext uri="{FF2B5EF4-FFF2-40B4-BE49-F238E27FC236}">
                <a16:creationId xmlns:a16="http://schemas.microsoft.com/office/drawing/2014/main" id="{13E215EE-DB7D-4C95-B4C6-E2F4D56EA614}"/>
              </a:ext>
            </a:extLst>
          </p:cNvPr>
          <p:cNvSpPr/>
          <p:nvPr/>
        </p:nvSpPr>
        <p:spPr>
          <a:xfrm>
            <a:off x="7273418" y="3960455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</a:p>
        </p:txBody>
      </p:sp>
      <p:sp>
        <p:nvSpPr>
          <p:cNvPr id="14" name="RowX">
            <a:extLst>
              <a:ext uri="{FF2B5EF4-FFF2-40B4-BE49-F238E27FC236}">
                <a16:creationId xmlns:a16="http://schemas.microsoft.com/office/drawing/2014/main" id="{B880C9FA-964D-4297-927C-110143D90CE4}"/>
              </a:ext>
            </a:extLst>
          </p:cNvPr>
          <p:cNvSpPr/>
          <p:nvPr/>
        </p:nvSpPr>
        <p:spPr>
          <a:xfrm>
            <a:off x="7273418" y="3579455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</a:p>
        </p:txBody>
      </p:sp>
      <p:sp>
        <p:nvSpPr>
          <p:cNvPr id="15" name="Row">
            <a:extLst>
              <a:ext uri="{FF2B5EF4-FFF2-40B4-BE49-F238E27FC236}">
                <a16:creationId xmlns:a16="http://schemas.microsoft.com/office/drawing/2014/main" id="{3BC2B9DC-3882-4D52-BBF0-5582B1C0FC5F}"/>
              </a:ext>
            </a:extLst>
          </p:cNvPr>
          <p:cNvSpPr/>
          <p:nvPr/>
        </p:nvSpPr>
        <p:spPr>
          <a:xfrm>
            <a:off x="7273418" y="3198455"/>
            <a:ext cx="21336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111111111</a:t>
            </a:r>
          </a:p>
        </p:txBody>
      </p:sp>
      <p:sp>
        <p:nvSpPr>
          <p:cNvPr id="16" name="CPU">
            <a:extLst>
              <a:ext uri="{FF2B5EF4-FFF2-40B4-BE49-F238E27FC236}">
                <a16:creationId xmlns:a16="http://schemas.microsoft.com/office/drawing/2014/main" id="{6FE628AD-EBC9-4E48-A0C1-B6E9081C2A72}"/>
              </a:ext>
            </a:extLst>
          </p:cNvPr>
          <p:cNvSpPr/>
          <p:nvPr/>
        </p:nvSpPr>
        <p:spPr>
          <a:xfrm>
            <a:off x="1120268" y="2817455"/>
            <a:ext cx="3771900" cy="3048001"/>
          </a:xfrm>
          <a:prstGeom prst="roundRect">
            <a:avLst>
              <a:gd name="adj" fmla="val 11319"/>
            </a:avLst>
          </a:prstGeom>
          <a:solidFill>
            <a:srgbClr val="0D3533"/>
          </a:solidFill>
          <a:ln w="571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>
              <a:lnSpc>
                <a:spcPct val="90000"/>
              </a:lnSpc>
            </a:pPr>
            <a:r>
              <a:rPr lang="en-US" sz="2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14300">
              <a:lnSpc>
                <a:spcPct val="90000"/>
              </a:lnSpc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mov (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), %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>
              <a:lnSpc>
                <a:spcPct val="90000"/>
              </a:lnSpc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mov (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), %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ebx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>
              <a:lnSpc>
                <a:spcPct val="90000"/>
              </a:lnSpc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clflush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14300">
              <a:lnSpc>
                <a:spcPct val="90000"/>
              </a:lnSpc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clflush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14300">
              <a:lnSpc>
                <a:spcPct val="90000"/>
              </a:lnSpc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mfence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>
              <a:lnSpc>
                <a:spcPct val="90000"/>
              </a:lnSpc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CachelineY">
            <a:extLst>
              <a:ext uri="{FF2B5EF4-FFF2-40B4-BE49-F238E27FC236}">
                <a16:creationId xmlns:a16="http://schemas.microsoft.com/office/drawing/2014/main" id="{0796281D-253B-4931-9FEB-C06827DBC57A}"/>
              </a:ext>
            </a:extLst>
          </p:cNvPr>
          <p:cNvSpPr/>
          <p:nvPr/>
        </p:nvSpPr>
        <p:spPr>
          <a:xfrm>
            <a:off x="7273418" y="4721017"/>
            <a:ext cx="10668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</a:t>
            </a:r>
          </a:p>
        </p:txBody>
      </p:sp>
      <p:sp>
        <p:nvSpPr>
          <p:cNvPr id="18" name="CachelineX">
            <a:extLst>
              <a:ext uri="{FF2B5EF4-FFF2-40B4-BE49-F238E27FC236}">
                <a16:creationId xmlns:a16="http://schemas.microsoft.com/office/drawing/2014/main" id="{FCA6D73E-DD2E-4DEE-8210-A331D515AB18}"/>
              </a:ext>
            </a:extLst>
          </p:cNvPr>
          <p:cNvSpPr/>
          <p:nvPr/>
        </p:nvSpPr>
        <p:spPr>
          <a:xfrm>
            <a:off x="7273418" y="3579455"/>
            <a:ext cx="106680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</a:t>
            </a:r>
          </a:p>
        </p:txBody>
      </p:sp>
      <p:sp>
        <p:nvSpPr>
          <p:cNvPr id="19" name="Error">
            <a:extLst>
              <a:ext uri="{FF2B5EF4-FFF2-40B4-BE49-F238E27FC236}">
                <a16:creationId xmlns:a16="http://schemas.microsoft.com/office/drawing/2014/main" id="{334A0341-1298-4916-91A7-8F2D2379B4ED}"/>
              </a:ext>
            </a:extLst>
          </p:cNvPr>
          <p:cNvSpPr/>
          <p:nvPr/>
        </p:nvSpPr>
        <p:spPr>
          <a:xfrm>
            <a:off x="7273418" y="5102165"/>
            <a:ext cx="2133600" cy="3810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en-US" sz="2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Error">
            <a:extLst>
              <a:ext uri="{FF2B5EF4-FFF2-40B4-BE49-F238E27FC236}">
                <a16:creationId xmlns:a16="http://schemas.microsoft.com/office/drawing/2014/main" id="{9462B78B-6BAB-463E-9082-656A99FC3D88}"/>
              </a:ext>
            </a:extLst>
          </p:cNvPr>
          <p:cNvSpPr/>
          <p:nvPr/>
        </p:nvSpPr>
        <p:spPr>
          <a:xfrm>
            <a:off x="7273418" y="4338579"/>
            <a:ext cx="2133600" cy="3810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21" name="Error">
            <a:extLst>
              <a:ext uri="{FF2B5EF4-FFF2-40B4-BE49-F238E27FC236}">
                <a16:creationId xmlns:a16="http://schemas.microsoft.com/office/drawing/2014/main" id="{2961D904-5836-441A-875B-BFBE08044F90}"/>
              </a:ext>
            </a:extLst>
          </p:cNvPr>
          <p:cNvSpPr/>
          <p:nvPr/>
        </p:nvSpPr>
        <p:spPr>
          <a:xfrm>
            <a:off x="7273418" y="3960950"/>
            <a:ext cx="2133600" cy="3810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2" name="Error">
            <a:extLst>
              <a:ext uri="{FF2B5EF4-FFF2-40B4-BE49-F238E27FC236}">
                <a16:creationId xmlns:a16="http://schemas.microsoft.com/office/drawing/2014/main" id="{EDD197D1-415C-4F8E-A524-E759A50AC34A}"/>
              </a:ext>
            </a:extLst>
          </p:cNvPr>
          <p:cNvSpPr/>
          <p:nvPr/>
        </p:nvSpPr>
        <p:spPr>
          <a:xfrm>
            <a:off x="7273418" y="3198307"/>
            <a:ext cx="2133600" cy="3810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0"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180730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1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path" presetSubtype="0" accel="75000" decel="25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11022E-16 0.00208 L -0.26667 -0.03218 " pathEditMode="relative" rAng="0" ptsTypes="AA">
                                      <p:cBhvr>
                                        <p:cTn id="21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33" y="-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6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30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42" presetClass="path" presetSubtype="0" accel="75000" decel="25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11022E-16 -2.96296E-6 L -0.26667 -0.14282 " pathEditMode="relative" rAng="0" ptsTypes="AA">
                                      <p:cBhvr>
                                        <p:cTn id="37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33" y="-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accel="75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" presetClass="exit" presetSubtype="4" accel="7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52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56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60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64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68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2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6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mph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80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8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88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2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181"/>
                                      </p:to>
                                    </p:animClr>
                                    <p:set>
                                      <p:cBhvr>
                                        <p:cTn id="96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mph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01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20" grpId="0" animBg="1"/>
      <p:bldP spid="21" grpId="0" animBg="1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6672-5A54-49DD-A66B-D19C63885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 Electromagnetic Coupling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88A5C-C0C3-48FB-AC78-717582E5C4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33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D6D773-7F39-48C7-A7D0-4DAB76BC9E25}"/>
              </a:ext>
            </a:extLst>
          </p:cNvPr>
          <p:cNvSpPr txBox="1"/>
          <p:nvPr/>
        </p:nvSpPr>
        <p:spPr>
          <a:xfrm>
            <a:off x="-71438" y="1855291"/>
            <a:ext cx="116490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3600" dirty="0"/>
              <a:t>Toggling the </a:t>
            </a:r>
            <a:r>
              <a:rPr lang="en-US" sz="3600" dirty="0" err="1"/>
              <a:t>wordline</a:t>
            </a:r>
            <a:r>
              <a:rPr lang="en-US" sz="3600" dirty="0"/>
              <a:t> voltage briefly increases the voltage of adjacent </a:t>
            </a:r>
            <a:r>
              <a:rPr lang="en-US" sz="3600" dirty="0" err="1"/>
              <a:t>wordlines</a:t>
            </a:r>
            <a:endParaRPr lang="en-US" sz="3600" dirty="0"/>
          </a:p>
          <a:p>
            <a:pPr lvl="1">
              <a:lnSpc>
                <a:spcPct val="100000"/>
              </a:lnSpc>
            </a:pPr>
            <a:endParaRPr lang="en-US" sz="3600" dirty="0"/>
          </a:p>
          <a:p>
            <a:pPr lvl="1">
              <a:lnSpc>
                <a:spcPct val="100000"/>
              </a:lnSpc>
            </a:pPr>
            <a:r>
              <a:rPr lang="en-US" sz="3600" dirty="0"/>
              <a:t>Slightly opens adjacent rows </a:t>
            </a:r>
            <a:r>
              <a:rPr lang="en-US" sz="3600" dirty="0">
                <a:sym typeface="Wingdings" panose="05000000000000000000" pitchFamily="2" charset="2"/>
              </a:rPr>
              <a:t> Charge </a:t>
            </a:r>
            <a:r>
              <a:rPr lang="en-US" sz="3600" dirty="0"/>
              <a:t>leakage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FF5852-EDAD-49E4-8288-31D152D15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567" y="4196491"/>
            <a:ext cx="5687471" cy="235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482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12B1-E4B5-0813-AD55-6F62FE37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Nah Actually a Security issue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FB416-6D08-01BE-C607-E4CE441E6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799" indent="0">
              <a:buNone/>
            </a:pPr>
            <a:r>
              <a:rPr lang="en-US" dirty="0" err="1"/>
              <a:t>PTHammer</a:t>
            </a:r>
            <a:r>
              <a:rPr lang="en-US" dirty="0"/>
              <a:t> (hammering into the page table) </a:t>
            </a:r>
          </a:p>
          <a:p>
            <a:endParaRPr lang="en-US" dirty="0"/>
          </a:p>
          <a:p>
            <a:pPr marL="50799" indent="0">
              <a:buNone/>
            </a:pPr>
            <a:r>
              <a:rPr lang="en-IN" dirty="0"/>
              <a:t>Kernel Privilege Escalation </a:t>
            </a:r>
          </a:p>
          <a:p>
            <a:pPr marL="50799" indent="0">
              <a:buNone/>
            </a:pPr>
            <a:endParaRPr lang="en-IN" dirty="0"/>
          </a:p>
          <a:p>
            <a:pPr marL="50799" indent="0">
              <a:buNone/>
            </a:pPr>
            <a:endParaRPr lang="en-IN" dirty="0"/>
          </a:p>
          <a:p>
            <a:pPr marL="50799" indent="0">
              <a:buNone/>
            </a:pPr>
            <a:r>
              <a:rPr lang="en-IN" dirty="0"/>
              <a:t>Think about ML/DL models </a:t>
            </a:r>
          </a:p>
          <a:p>
            <a:pPr marL="50799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98937-D6BF-9FCD-C370-E22B3DF914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34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737B1C-E68A-7CD4-1FE2-39D928C8D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218" y="2047453"/>
            <a:ext cx="6025956" cy="423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1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30925</TotalTime>
  <Words>1784</Words>
  <Application>Microsoft Office PowerPoint</Application>
  <PresentationFormat>Widescreen</PresentationFormat>
  <Paragraphs>426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Arial MT</vt:lpstr>
      <vt:lpstr>Calibri</vt:lpstr>
      <vt:lpstr>Calibri Light</vt:lpstr>
      <vt:lpstr>Cambria</vt:lpstr>
      <vt:lpstr>Consolas</vt:lpstr>
      <vt:lpstr>Courier New</vt:lpstr>
      <vt:lpstr>Lato</vt:lpstr>
      <vt:lpstr>Times New Roman</vt:lpstr>
      <vt:lpstr>Wingdings</vt:lpstr>
      <vt:lpstr>Office Theme</vt:lpstr>
      <vt:lpstr>CS683: Advanced Computer Architecture</vt:lpstr>
      <vt:lpstr>Information leakage</vt:lpstr>
      <vt:lpstr>Information leakage</vt:lpstr>
      <vt:lpstr>Channels of Interest</vt:lpstr>
      <vt:lpstr>Side/Covert Channel</vt:lpstr>
      <vt:lpstr>Scope of these channels</vt:lpstr>
      <vt:lpstr>Let’s try to send a bit</vt:lpstr>
      <vt:lpstr>Let’s try to send a bit</vt:lpstr>
      <vt:lpstr>Let’s try to send a bit</vt:lpstr>
      <vt:lpstr>How is it different from legitimate communication</vt:lpstr>
      <vt:lpstr>From Covert to Side Channel</vt:lpstr>
      <vt:lpstr>From Covert to Side Channel</vt:lpstr>
      <vt:lpstr>Side/Covert Channel: Summary</vt:lpstr>
      <vt:lpstr>Information leakage in the real world </vt:lpstr>
      <vt:lpstr>Information leakage</vt:lpstr>
      <vt:lpstr>Clflush instruction</vt:lpstr>
      <vt:lpstr>Flush attack</vt:lpstr>
      <vt:lpstr>Spectre and Meltdown</vt:lpstr>
      <vt:lpstr>Spectre in Action: Fasten Your Seat Belts</vt:lpstr>
      <vt:lpstr>Branch Predictor and Speculative Execution</vt:lpstr>
      <vt:lpstr>Branch Predictor and Speculative Execution</vt:lpstr>
      <vt:lpstr>Branch Predictor and Speculative Execution</vt:lpstr>
      <vt:lpstr>Branch Predictor and Speculative Execution</vt:lpstr>
      <vt:lpstr>Within these 200 cycles  </vt:lpstr>
      <vt:lpstr>After say 200 cycles </vt:lpstr>
      <vt:lpstr>What if myarray is not shared with the attacker?</vt:lpstr>
      <vt:lpstr>Summary of Spectre Attack: As an attacker </vt:lpstr>
      <vt:lpstr>Meltdown: The O3 Curse!!</vt:lpstr>
      <vt:lpstr>Rowhammer</vt:lpstr>
      <vt:lpstr>Rowhammer (Reliability issue) </vt:lpstr>
      <vt:lpstr>The Code Please</vt:lpstr>
      <vt:lpstr>The code please</vt:lpstr>
      <vt:lpstr>Why? Electromagnetic Coupling</vt:lpstr>
      <vt:lpstr>Nah Actually a Security issue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1135</cp:revision>
  <dcterms:created xsi:type="dcterms:W3CDTF">2021-05-31T06:57:48Z</dcterms:created>
  <dcterms:modified xsi:type="dcterms:W3CDTF">2025-11-06T06:22:09Z</dcterms:modified>
</cp:coreProperties>
</file>