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7938" r:id="rId2"/>
    <p:sldId id="7890" r:id="rId3"/>
    <p:sldId id="7939" r:id="rId4"/>
    <p:sldId id="257" r:id="rId5"/>
    <p:sldId id="7722" r:id="rId6"/>
    <p:sldId id="7723" r:id="rId7"/>
    <p:sldId id="7724" r:id="rId8"/>
    <p:sldId id="7926" r:id="rId9"/>
    <p:sldId id="7924" r:id="rId10"/>
    <p:sldId id="7887" r:id="rId11"/>
    <p:sldId id="263" r:id="rId12"/>
    <p:sldId id="264" r:id="rId13"/>
    <p:sldId id="7869" r:id="rId14"/>
    <p:sldId id="7891" r:id="rId15"/>
    <p:sldId id="7870" r:id="rId16"/>
    <p:sldId id="266" r:id="rId17"/>
    <p:sldId id="7871" r:id="rId18"/>
    <p:sldId id="267" r:id="rId19"/>
    <p:sldId id="268" r:id="rId20"/>
    <p:sldId id="269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em:cpumemgap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8880015299171499"/>
          <c:y val="6.0185185185185203E-2"/>
          <c:w val="0.51180020900165302"/>
          <c:h val="0.80722222222222195"/>
        </c:manualLayout>
      </c:layout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Disk seek time</c:v>
                </c:pt>
              </c:strCache>
            </c:strRef>
          </c:tx>
          <c:spPr>
            <a:ln w="12700" cmpd="sng">
              <a:solidFill>
                <a:schemeClr val="tx1"/>
              </a:solidFill>
            </a:ln>
          </c:spPr>
          <c:marker>
            <c:symbol val="diamond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data!$B$2:$B$9</c:f>
              <c:numCache>
                <c:formatCode>#,##0</c:formatCode>
                <c:ptCount val="8"/>
                <c:pt idx="0">
                  <c:v>75000000</c:v>
                </c:pt>
                <c:pt idx="1">
                  <c:v>28000000</c:v>
                </c:pt>
                <c:pt idx="2">
                  <c:v>10000000</c:v>
                </c:pt>
                <c:pt idx="3">
                  <c:v>8000000</c:v>
                </c:pt>
                <c:pt idx="4">
                  <c:v>6000000</c:v>
                </c:pt>
                <c:pt idx="5">
                  <c:v>5000000</c:v>
                </c:pt>
                <c:pt idx="6">
                  <c:v>3000000</c:v>
                </c:pt>
                <c:pt idx="7">
                  <c:v>3000000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55-4854-A420-53247DE33734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SSD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triang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data!$C$2:$C$9</c:f>
              <c:numCache>
                <c:formatCode>General</c:formatCode>
                <c:ptCount val="8"/>
                <c:pt idx="7" formatCode="#,##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55-4854-A420-53247DE33734}"/>
            </c:ext>
          </c:extLst>
        </c:ser>
        <c:ser>
          <c:idx val="3"/>
          <c:order val="2"/>
          <c:tx>
            <c:strRef>
              <c:f>data!$D$1</c:f>
              <c:strCache>
                <c:ptCount val="1"/>
                <c:pt idx="0">
                  <c:v>DRAM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data!$D$2:$D$9</c:f>
              <c:numCache>
                <c:formatCode>#,##0</c:formatCode>
                <c:ptCount val="8"/>
                <c:pt idx="0" formatCode="General">
                  <c:v>200</c:v>
                </c:pt>
                <c:pt idx="1">
                  <c:v>100</c:v>
                </c:pt>
                <c:pt idx="2" formatCode="General">
                  <c:v>70</c:v>
                </c:pt>
                <c:pt idx="3" formatCode="General">
                  <c:v>60</c:v>
                </c:pt>
                <c:pt idx="4" formatCode="General">
                  <c:v>55</c:v>
                </c:pt>
                <c:pt idx="5" formatCode="General">
                  <c:v>50</c:v>
                </c:pt>
                <c:pt idx="6" formatCode="General">
                  <c:v>40</c:v>
                </c:pt>
                <c:pt idx="7" formatCode="General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55-4854-A420-53247DE33734}"/>
            </c:ext>
          </c:extLst>
        </c:ser>
        <c:ser>
          <c:idx val="4"/>
          <c:order val="3"/>
          <c:tx>
            <c:strRef>
              <c:f>data!$E$1</c:f>
              <c:strCache>
                <c:ptCount val="1"/>
                <c:pt idx="0">
                  <c:v>SRAM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data!$E$2:$E$9</c:f>
              <c:numCache>
                <c:formatCode>General</c:formatCode>
                <c:ptCount val="8"/>
                <c:pt idx="0">
                  <c:v>150</c:v>
                </c:pt>
                <c:pt idx="1">
                  <c:v>35</c:v>
                </c:pt>
                <c:pt idx="2">
                  <c:v>15</c:v>
                </c:pt>
                <c:pt idx="3">
                  <c:v>3</c:v>
                </c:pt>
                <c:pt idx="4">
                  <c:v>2.5</c:v>
                </c:pt>
                <c:pt idx="5">
                  <c:v>2</c:v>
                </c:pt>
                <c:pt idx="6">
                  <c:v>1.5</c:v>
                </c:pt>
                <c:pt idx="7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455-4854-A420-53247DE33734}"/>
            </c:ext>
          </c:extLst>
        </c:ser>
        <c:ser>
          <c:idx val="5"/>
          <c:order val="4"/>
          <c:tx>
            <c:strRef>
              <c:f>data!$F$1</c:f>
              <c:strCache>
                <c:ptCount val="1"/>
                <c:pt idx="0">
                  <c:v>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data!$F$2:$F$9</c:f>
              <c:numCache>
                <c:formatCode>General</c:formatCode>
                <c:ptCount val="8"/>
                <c:pt idx="0">
                  <c:v>166</c:v>
                </c:pt>
                <c:pt idx="1">
                  <c:v>50</c:v>
                </c:pt>
                <c:pt idx="2">
                  <c:v>6</c:v>
                </c:pt>
                <c:pt idx="3">
                  <c:v>1.6</c:v>
                </c:pt>
                <c:pt idx="4">
                  <c:v>0.3</c:v>
                </c:pt>
                <c:pt idx="5">
                  <c:v>0.5</c:v>
                </c:pt>
                <c:pt idx="6">
                  <c:v>0.4</c:v>
                </c:pt>
                <c:pt idx="7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455-4854-A420-53247DE33734}"/>
            </c:ext>
          </c:extLst>
        </c:ser>
        <c:ser>
          <c:idx val="6"/>
          <c:order val="5"/>
          <c:tx>
            <c:strRef>
              <c:f>data!$G$1</c:f>
              <c:strCache>
                <c:ptCount val="1"/>
                <c:pt idx="0">
                  <c:v>Effective 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data!$G$2:$G$9</c:f>
              <c:numCache>
                <c:formatCode>General</c:formatCode>
                <c:ptCount val="8"/>
                <c:pt idx="4">
                  <c:v>0.3</c:v>
                </c:pt>
                <c:pt idx="5">
                  <c:v>0.25</c:v>
                </c:pt>
                <c:pt idx="6">
                  <c:v>0.1</c:v>
                </c:pt>
                <c:pt idx="7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455-4854-A420-53247DE33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477312"/>
        <c:axId val="90479616"/>
      </c:lineChart>
      <c:catAx>
        <c:axId val="904773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txPr>
          <a:bodyPr rot="0" vert="horz" anchor="ctr" anchorCtr="1"/>
          <a:lstStyle/>
          <a:p>
            <a:pPr>
              <a:defRPr/>
            </a:pPr>
            <a:endParaRPr lang="en-US"/>
          </a:p>
        </c:txPr>
        <c:crossAx val="90479616"/>
        <c:crossesAt val="0"/>
        <c:auto val="1"/>
        <c:lblAlgn val="ctr"/>
        <c:lblOffset val="100"/>
        <c:noMultiLvlLbl val="0"/>
      </c:catAx>
      <c:valAx>
        <c:axId val="90479616"/>
        <c:scaling>
          <c:logBase val="10"/>
          <c:orientation val="minMax"/>
          <c:min val="0.0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(ns)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crossAx val="90477312"/>
        <c:crosses val="autoZero"/>
        <c:crossBetween val="between"/>
        <c:minorUnit val="10"/>
      </c:valAx>
      <c:spPr>
        <a:ln>
          <a:noFill/>
        </a:ln>
      </c:spPr>
    </c:plotArea>
    <c:legend>
      <c:legendPos val="r"/>
      <c:overlay val="0"/>
      <c:spPr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A42C2B-CAE5-4810-82E4-3470D2516DF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A69804-947F-4095-8277-E27F43C4FBC0}">
      <dgm:prSet/>
      <dgm:spPr/>
      <dgm:t>
        <a:bodyPr/>
        <a:lstStyle/>
        <a:p>
          <a:r>
            <a:rPr lang="en-US"/>
            <a:t>Over-engineer </a:t>
          </a:r>
        </a:p>
      </dgm:t>
    </dgm:pt>
    <dgm:pt modelId="{FA7BAAB2-7447-4715-9F0F-4886C5E0BFC8}" type="parTrans" cxnId="{5F161AFB-A4E8-4F07-A289-814E5A5C06BF}">
      <dgm:prSet/>
      <dgm:spPr/>
      <dgm:t>
        <a:bodyPr/>
        <a:lstStyle/>
        <a:p>
          <a:endParaRPr lang="en-US"/>
        </a:p>
      </dgm:t>
    </dgm:pt>
    <dgm:pt modelId="{E317A3BB-D1B4-4508-BE3B-E8FD97E345D3}" type="sibTrans" cxnId="{5F161AFB-A4E8-4F07-A289-814E5A5C06BF}">
      <dgm:prSet/>
      <dgm:spPr/>
      <dgm:t>
        <a:bodyPr/>
        <a:lstStyle/>
        <a:p>
          <a:endParaRPr lang="en-US"/>
        </a:p>
      </dgm:t>
    </dgm:pt>
    <dgm:pt modelId="{32CDB4CA-9A02-4E38-AE45-DBF35AF13B97}">
      <dgm:prSet/>
      <dgm:spPr/>
      <dgm:t>
        <a:bodyPr/>
        <a:lstStyle/>
        <a:p>
          <a:r>
            <a:rPr lang="en-US"/>
            <a:t>Over-think</a:t>
          </a:r>
        </a:p>
      </dgm:t>
    </dgm:pt>
    <dgm:pt modelId="{DD3DAAA1-2020-4D9D-BC11-52F6D95AFEC1}" type="parTrans" cxnId="{EAE6E1A4-8B61-40FB-BB2B-4E8F0F980DD2}">
      <dgm:prSet/>
      <dgm:spPr/>
      <dgm:t>
        <a:bodyPr/>
        <a:lstStyle/>
        <a:p>
          <a:endParaRPr lang="en-US"/>
        </a:p>
      </dgm:t>
    </dgm:pt>
    <dgm:pt modelId="{2DC1485D-847B-40F6-BC0D-B93C7539C7A5}" type="sibTrans" cxnId="{EAE6E1A4-8B61-40FB-BB2B-4E8F0F980DD2}">
      <dgm:prSet/>
      <dgm:spPr/>
      <dgm:t>
        <a:bodyPr/>
        <a:lstStyle/>
        <a:p>
          <a:endParaRPr lang="en-US"/>
        </a:p>
      </dgm:t>
    </dgm:pt>
    <dgm:pt modelId="{AC46FF2F-6E1D-434D-BF49-96BAEFA2FC59}">
      <dgm:prSet/>
      <dgm:spPr/>
      <dgm:t>
        <a:bodyPr/>
        <a:lstStyle/>
        <a:p>
          <a:r>
            <a:rPr lang="en-US"/>
            <a:t>Over …………………..</a:t>
          </a:r>
        </a:p>
      </dgm:t>
    </dgm:pt>
    <dgm:pt modelId="{41C1933D-B195-445F-B822-59A47A2BCA7A}" type="parTrans" cxnId="{26FE787F-774A-40D9-92A7-097BE96196B6}">
      <dgm:prSet/>
      <dgm:spPr/>
      <dgm:t>
        <a:bodyPr/>
        <a:lstStyle/>
        <a:p>
          <a:endParaRPr lang="en-US"/>
        </a:p>
      </dgm:t>
    </dgm:pt>
    <dgm:pt modelId="{B3049367-904E-4744-A27A-2E3C40472EEA}" type="sibTrans" cxnId="{26FE787F-774A-40D9-92A7-097BE96196B6}">
      <dgm:prSet/>
      <dgm:spPr/>
      <dgm:t>
        <a:bodyPr/>
        <a:lstStyle/>
        <a:p>
          <a:endParaRPr lang="en-US"/>
        </a:p>
      </dgm:t>
    </dgm:pt>
    <dgm:pt modelId="{64D43E08-BF25-4307-A2D9-3AF54F21F0DB}" type="pres">
      <dgm:prSet presAssocID="{D8A42C2B-CAE5-4810-82E4-3470D2516DF7}" presName="linear" presStyleCnt="0">
        <dgm:presLayoutVars>
          <dgm:animLvl val="lvl"/>
          <dgm:resizeHandles val="exact"/>
        </dgm:presLayoutVars>
      </dgm:prSet>
      <dgm:spPr/>
    </dgm:pt>
    <dgm:pt modelId="{F0EB8455-093F-4727-9709-ACE90F2016F3}" type="pres">
      <dgm:prSet presAssocID="{85A69804-947F-4095-8277-E27F43C4FB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70553C-B5E8-43C8-84B2-65AF9FE53D79}" type="pres">
      <dgm:prSet presAssocID="{E317A3BB-D1B4-4508-BE3B-E8FD97E345D3}" presName="spacer" presStyleCnt="0"/>
      <dgm:spPr/>
    </dgm:pt>
    <dgm:pt modelId="{FF5EF1AA-9523-4929-82B8-FE13DEA1EE1F}" type="pres">
      <dgm:prSet presAssocID="{32CDB4CA-9A02-4E38-AE45-DBF35AF13B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85E344-A422-48B0-A14D-DAEB5834B5A9}" type="pres">
      <dgm:prSet presAssocID="{2DC1485D-847B-40F6-BC0D-B93C7539C7A5}" presName="spacer" presStyleCnt="0"/>
      <dgm:spPr/>
    </dgm:pt>
    <dgm:pt modelId="{D4FE2B5D-B4EC-4F2D-B00F-661BCD3A5433}" type="pres">
      <dgm:prSet presAssocID="{AC46FF2F-6E1D-434D-BF49-96BAEFA2FC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81270A-A726-484A-9ED4-3DA157ECE5CC}" type="presOf" srcId="{AC46FF2F-6E1D-434D-BF49-96BAEFA2FC59}" destId="{D4FE2B5D-B4EC-4F2D-B00F-661BCD3A5433}" srcOrd="0" destOrd="0" presId="urn:microsoft.com/office/officeart/2005/8/layout/vList2"/>
    <dgm:cxn modelId="{F138BE0D-FF62-42FE-9BCC-6564C8DEE792}" type="presOf" srcId="{32CDB4CA-9A02-4E38-AE45-DBF35AF13B97}" destId="{FF5EF1AA-9523-4929-82B8-FE13DEA1EE1F}" srcOrd="0" destOrd="0" presId="urn:microsoft.com/office/officeart/2005/8/layout/vList2"/>
    <dgm:cxn modelId="{26FE787F-774A-40D9-92A7-097BE96196B6}" srcId="{D8A42C2B-CAE5-4810-82E4-3470D2516DF7}" destId="{AC46FF2F-6E1D-434D-BF49-96BAEFA2FC59}" srcOrd="2" destOrd="0" parTransId="{41C1933D-B195-445F-B822-59A47A2BCA7A}" sibTransId="{B3049367-904E-4744-A27A-2E3C40472EEA}"/>
    <dgm:cxn modelId="{18CB6E85-C3BE-4997-A7CE-99499689B96F}" type="presOf" srcId="{85A69804-947F-4095-8277-E27F43C4FBC0}" destId="{F0EB8455-093F-4727-9709-ACE90F2016F3}" srcOrd="0" destOrd="0" presId="urn:microsoft.com/office/officeart/2005/8/layout/vList2"/>
    <dgm:cxn modelId="{B3429A94-7733-4720-9BFE-E860BAD29297}" type="presOf" srcId="{D8A42C2B-CAE5-4810-82E4-3470D2516DF7}" destId="{64D43E08-BF25-4307-A2D9-3AF54F21F0DB}" srcOrd="0" destOrd="0" presId="urn:microsoft.com/office/officeart/2005/8/layout/vList2"/>
    <dgm:cxn modelId="{EAE6E1A4-8B61-40FB-BB2B-4E8F0F980DD2}" srcId="{D8A42C2B-CAE5-4810-82E4-3470D2516DF7}" destId="{32CDB4CA-9A02-4E38-AE45-DBF35AF13B97}" srcOrd="1" destOrd="0" parTransId="{DD3DAAA1-2020-4D9D-BC11-52F6D95AFEC1}" sibTransId="{2DC1485D-847B-40F6-BC0D-B93C7539C7A5}"/>
    <dgm:cxn modelId="{5F161AFB-A4E8-4F07-A289-814E5A5C06BF}" srcId="{D8A42C2B-CAE5-4810-82E4-3470D2516DF7}" destId="{85A69804-947F-4095-8277-E27F43C4FBC0}" srcOrd="0" destOrd="0" parTransId="{FA7BAAB2-7447-4715-9F0F-4886C5E0BFC8}" sibTransId="{E317A3BB-D1B4-4508-BE3B-E8FD97E345D3}"/>
    <dgm:cxn modelId="{68C1A65F-33D8-46E5-9875-2F738F466720}" type="presParOf" srcId="{64D43E08-BF25-4307-A2D9-3AF54F21F0DB}" destId="{F0EB8455-093F-4727-9709-ACE90F2016F3}" srcOrd="0" destOrd="0" presId="urn:microsoft.com/office/officeart/2005/8/layout/vList2"/>
    <dgm:cxn modelId="{8EF99542-12CA-4B3F-8190-38D2A44F572F}" type="presParOf" srcId="{64D43E08-BF25-4307-A2D9-3AF54F21F0DB}" destId="{BC70553C-B5E8-43C8-84B2-65AF9FE53D79}" srcOrd="1" destOrd="0" presId="urn:microsoft.com/office/officeart/2005/8/layout/vList2"/>
    <dgm:cxn modelId="{C17E6F51-C227-471C-A832-B61383CC29A8}" type="presParOf" srcId="{64D43E08-BF25-4307-A2D9-3AF54F21F0DB}" destId="{FF5EF1AA-9523-4929-82B8-FE13DEA1EE1F}" srcOrd="2" destOrd="0" presId="urn:microsoft.com/office/officeart/2005/8/layout/vList2"/>
    <dgm:cxn modelId="{25CB3D16-0129-434B-B829-2A042A6048D5}" type="presParOf" srcId="{64D43E08-BF25-4307-A2D9-3AF54F21F0DB}" destId="{CE85E344-A422-48B0-A14D-DAEB5834B5A9}" srcOrd="3" destOrd="0" presId="urn:microsoft.com/office/officeart/2005/8/layout/vList2"/>
    <dgm:cxn modelId="{3B38C835-7DFC-49DC-BE7F-932A11890D8D}" type="presParOf" srcId="{64D43E08-BF25-4307-A2D9-3AF54F21F0DB}" destId="{D4FE2B5D-B4EC-4F2D-B00F-661BCD3A54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B8455-093F-4727-9709-ACE90F2016F3}">
      <dsp:nvSpPr>
        <dsp:cNvPr id="0" name=""/>
        <dsp:cNvSpPr/>
      </dsp:nvSpPr>
      <dsp:spPr>
        <a:xfrm>
          <a:off x="0" y="1077390"/>
          <a:ext cx="4828172" cy="10793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Over-engineer </a:t>
          </a:r>
        </a:p>
      </dsp:txBody>
      <dsp:txXfrm>
        <a:off x="52688" y="1130078"/>
        <a:ext cx="4722796" cy="973949"/>
      </dsp:txXfrm>
    </dsp:sp>
    <dsp:sp modelId="{FF5EF1AA-9523-4929-82B8-FE13DEA1EE1F}">
      <dsp:nvSpPr>
        <dsp:cNvPr id="0" name=""/>
        <dsp:cNvSpPr/>
      </dsp:nvSpPr>
      <dsp:spPr>
        <a:xfrm>
          <a:off x="0" y="2286315"/>
          <a:ext cx="4828172" cy="107932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Over-think</a:t>
          </a:r>
        </a:p>
      </dsp:txBody>
      <dsp:txXfrm>
        <a:off x="52688" y="2339003"/>
        <a:ext cx="4722796" cy="973949"/>
      </dsp:txXfrm>
    </dsp:sp>
    <dsp:sp modelId="{D4FE2B5D-B4EC-4F2D-B00F-661BCD3A5433}">
      <dsp:nvSpPr>
        <dsp:cNvPr id="0" name=""/>
        <dsp:cNvSpPr/>
      </dsp:nvSpPr>
      <dsp:spPr>
        <a:xfrm>
          <a:off x="0" y="3495240"/>
          <a:ext cx="4828172" cy="107932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 …………………..</a:t>
          </a:r>
        </a:p>
      </dsp:txBody>
      <dsp:txXfrm>
        <a:off x="52688" y="3547928"/>
        <a:ext cx="4722796" cy="973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334B-F41E-4704-85ED-C336FABB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58F9-4838-8F7F-30D3-E064DB30BE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195D3-E851-0B6D-3E4C-B4CA5FDCA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Lecture-1: Every Cycle Matters 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661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Phones (smart/non-smart) on silence plz, Thanks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406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2BFDA-C400-8AE7-DCCA-48FEADF5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LH-102 is the place to be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19B9-8C15-F037-CA0C-B27C907C4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CS683 at LH-102 from next week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033B1-299F-F792-8933-63EF705B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B464A-2432-DD3C-21F0-9AE7B964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70299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potlight on a dark foggy stage">
            <a:extLst>
              <a:ext uri="{FF2B5EF4-FFF2-40B4-BE49-F238E27FC236}">
                <a16:creationId xmlns:a16="http://schemas.microsoft.com/office/drawing/2014/main" id="{B6D08AC2-EF7E-14FA-0EEB-6FC4E24A4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71" b="285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6CDC2-03CE-4A2B-8510-25D79BAD8256}"/>
              </a:ext>
            </a:extLst>
          </p:cNvPr>
          <p:cNvSpPr txBox="1">
            <a:spLocks/>
          </p:cNvSpPr>
          <p:nvPr/>
        </p:nvSpPr>
        <p:spPr>
          <a:xfrm>
            <a:off x="404552" y="3091928"/>
            <a:ext cx="1114127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</a:rPr>
              <a:t>Let’s start with programming for Performance </a:t>
            </a:r>
          </a:p>
          <a:p>
            <a:pPr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</a:rPr>
              <a:t>(know your architecture)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DC9E-2814-42EB-862D-70613CE2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AE1FD92-6B4B-4F7E-ADCD-6EC18FE22C7F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449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D4230-E697-2E6C-26E1-42D7556A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53C67-6CDD-A773-3A9B-574B3D0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704B81-56BE-31D7-CA94-7C6142DC6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46697"/>
            <a:ext cx="5734050" cy="2486025"/>
          </a:xfrm>
        </p:spPr>
      </p:pic>
      <p:sp>
        <p:nvSpPr>
          <p:cNvPr id="7" name="CustomShape 1">
            <a:extLst>
              <a:ext uri="{FF2B5EF4-FFF2-40B4-BE49-F238E27FC236}">
                <a16:creationId xmlns:a16="http://schemas.microsoft.com/office/drawing/2014/main" id="{FDCE7CF0-1AEE-10F3-339B-FB0B11DDA7FE}"/>
              </a:ext>
            </a:extLst>
          </p:cNvPr>
          <p:cNvSpPr/>
          <p:nvPr/>
        </p:nvSpPr>
        <p:spPr>
          <a:xfrm>
            <a:off x="603044" y="910473"/>
            <a:ext cx="9134713" cy="1940677"/>
          </a:xfrm>
          <a:prstGeom prst="rect">
            <a:avLst/>
          </a:prstGeom>
          <a:noFill/>
          <a:ln cap="rnd">
            <a:solidFill>
              <a:schemeClr val="tx1">
                <a:lumMod val="50000"/>
                <a:lumOff val="50000"/>
              </a:schemeClr>
            </a:solidFill>
            <a:cu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void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CS683(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*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size) {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9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for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0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&lt; size-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++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 =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[i+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];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}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C70B1FA2-11A9-D259-2555-7838B37856A7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6360492" y="1661058"/>
            <a:ext cx="1791097" cy="4171279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9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033E-431E-CB46-2184-4DF90CAF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A5C53-1682-3EC1-7DFD-9AA5720A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65492-874A-89D0-3F24-08FEF0DF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pic>
        <p:nvPicPr>
          <p:cNvPr id="6" name="Picture 2" descr="Image result for clockimage">
            <a:extLst>
              <a:ext uri="{FF2B5EF4-FFF2-40B4-BE49-F238E27FC236}">
                <a16:creationId xmlns:a16="http://schemas.microsoft.com/office/drawing/2014/main" id="{1DAF0994-74DC-EF7C-A12C-D42DD8034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893" y="1690688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F80F88-7B71-13FF-3925-457D35E381FB}"/>
              </a:ext>
            </a:extLst>
          </p:cNvPr>
          <p:cNvSpPr/>
          <p:nvPr/>
        </p:nvSpPr>
        <p:spPr>
          <a:xfrm>
            <a:off x="3821181" y="4271933"/>
            <a:ext cx="7354319" cy="112955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FEC25-C8B5-A40D-75B0-16D47BCA9F7A}"/>
              </a:ext>
            </a:extLst>
          </p:cNvPr>
          <p:cNvSpPr txBox="1"/>
          <p:nvPr/>
        </p:nvSpPr>
        <p:spPr>
          <a:xfrm>
            <a:off x="4026554" y="4544321"/>
            <a:ext cx="7789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CPU time: Time spent running a program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938490-A976-6CF8-E8B4-15BF35222957}"/>
              </a:ext>
            </a:extLst>
          </p:cNvPr>
          <p:cNvSpPr/>
          <p:nvPr/>
        </p:nvSpPr>
        <p:spPr>
          <a:xfrm>
            <a:off x="3821181" y="1606371"/>
            <a:ext cx="8224711" cy="187282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1DD13-AD81-D06F-1BE8-B65636DDEFBA}"/>
              </a:ext>
            </a:extLst>
          </p:cNvPr>
          <p:cNvSpPr txBox="1"/>
          <p:nvPr/>
        </p:nvSpPr>
        <p:spPr>
          <a:xfrm>
            <a:off x="3821181" y="1680270"/>
            <a:ext cx="7789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Execution time: CPU time + IO waiting</a:t>
            </a:r>
          </a:p>
          <a:p>
            <a:endParaRPr lang="en-IN" sz="3200" dirty="0"/>
          </a:p>
          <a:p>
            <a:r>
              <a:rPr lang="en-IN" sz="3200" dirty="0"/>
              <a:t>CPU time: User time + System (OS) time</a:t>
            </a:r>
          </a:p>
        </p:txBody>
      </p:sp>
      <p:graphicFrame>
        <p:nvGraphicFramePr>
          <p:cNvPr id="11" name="Object 6">
            <a:hlinkClick r:id="" action="ppaction://ole?verb=0"/>
            <a:extLst>
              <a:ext uri="{FF2B5EF4-FFF2-40B4-BE49-F238E27FC236}">
                <a16:creationId xmlns:a16="http://schemas.microsoft.com/office/drawing/2014/main" id="{59C5CEA1-C1F5-EBB5-F601-D917AA8D2D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349532"/>
              </p:ext>
            </p:extLst>
          </p:nvPr>
        </p:nvGraphicFramePr>
        <p:xfrm>
          <a:off x="716132" y="3969964"/>
          <a:ext cx="3765177" cy="232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3051000" imgH="3278160" progId="MS_ClipArt_Gallery.2">
                  <p:embed/>
                </p:oleObj>
              </mc:Choice>
              <mc:Fallback>
                <p:oleObj name="Clip" r:id="rId3" imgW="3051000" imgH="3278160" progId="MS_ClipArt_Gallery.2">
                  <p:embed/>
                  <p:pic>
                    <p:nvPicPr>
                      <p:cNvPr id="12" name="Object 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8A6B09A5-41C0-47AD-B1F1-AFFD628F06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32" y="3969964"/>
                        <a:ext cx="3765177" cy="232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433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64ED-3E76-A3D3-062E-26579D43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365125"/>
            <a:ext cx="11207496" cy="1325563"/>
          </a:xfrm>
        </p:spPr>
        <p:txBody>
          <a:bodyPr/>
          <a:lstStyle/>
          <a:p>
            <a:r>
              <a:rPr lang="en-US" dirty="0"/>
              <a:t>Spell it out (Programming language matters too)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F01E8-F1DB-1D0A-0395-9254D906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9640-44E2-2463-A4F5-FB02BD1D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3FCB852C-FFC6-E5CE-3306-8FB3412FA4BB}"/>
              </a:ext>
            </a:extLst>
          </p:cNvPr>
          <p:cNvGrpSpPr>
            <a:grpSpLocks/>
          </p:cNvGrpSpPr>
          <p:nvPr/>
        </p:nvGrpSpPr>
        <p:grpSpPr bwMode="auto">
          <a:xfrm>
            <a:off x="680502" y="2087962"/>
            <a:ext cx="10830995" cy="2078183"/>
            <a:chOff x="528" y="1824"/>
            <a:chExt cx="4424" cy="767"/>
          </a:xfrm>
          <a:solidFill>
            <a:schemeClr val="bg1"/>
          </a:solidFill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A4ED3D91-D3AF-F3C3-AE54-9279EE46A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1832"/>
              <a:ext cx="1040" cy="56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62335E68-CAFF-2F52-82F0-2E454DD6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824"/>
              <a:ext cx="1240" cy="5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B4060059-D8B6-AFCB-6D1D-BBD619BC7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1832"/>
              <a:ext cx="1336" cy="5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16">
              <a:extLst>
                <a:ext uri="{FF2B5EF4-FFF2-40B4-BE49-F238E27FC236}">
                  <a16:creationId xmlns:a16="http://schemas.microsoft.com/office/drawing/2014/main" id="{66D65084-F107-DEA4-F1A0-7E3AA6059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840"/>
              <a:ext cx="964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Instructions</a:t>
              </a:r>
            </a:p>
          </p:txBody>
        </p:sp>
        <p:sp>
          <p:nvSpPr>
            <p:cNvPr id="11" name="Rectangle 17">
              <a:extLst>
                <a:ext uri="{FF2B5EF4-FFF2-40B4-BE49-F238E27FC236}">
                  <a16:creationId xmlns:a16="http://schemas.microsoft.com/office/drawing/2014/main" id="{99EB5CDA-3445-704E-63F7-D0C3E155A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840"/>
              <a:ext cx="72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Cycles</a:t>
              </a:r>
            </a:p>
          </p:txBody>
        </p:sp>
        <p:sp>
          <p:nvSpPr>
            <p:cNvPr id="12" name="Rectangle 18">
              <a:extLst>
                <a:ext uri="{FF2B5EF4-FFF2-40B4-BE49-F238E27FC236}">
                  <a16:creationId xmlns:a16="http://schemas.microsoft.com/office/drawing/2014/main" id="{ADCA6FCB-A6CC-B61A-B161-5D67F3C61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2120"/>
              <a:ext cx="775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Program</a:t>
              </a:r>
            </a:p>
          </p:txBody>
        </p:sp>
        <p:sp>
          <p:nvSpPr>
            <p:cNvPr id="13" name="Rectangle 19">
              <a:extLst>
                <a:ext uri="{FF2B5EF4-FFF2-40B4-BE49-F238E27FC236}">
                  <a16:creationId xmlns:a16="http://schemas.microsoft.com/office/drawing/2014/main" id="{C2F329B0-868E-BD07-C56A-4C9F2FF7F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87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AA03513B-2B62-2674-6861-D25327D6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1864"/>
              <a:ext cx="41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15" name="Rectangle 21">
              <a:extLst>
                <a:ext uri="{FF2B5EF4-FFF2-40B4-BE49-F238E27FC236}">
                  <a16:creationId xmlns:a16="http://schemas.microsoft.com/office/drawing/2014/main" id="{DD6BDABE-5C8E-9C86-763D-7EFF8DA14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2128"/>
              <a:ext cx="471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Cycle</a:t>
              </a: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53DCB56A-5A46-B290-44AA-B42C4BC2A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48"/>
              <a:ext cx="974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(code size)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CE7BADFF-07A9-E488-6702-CEE64EA69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18"/>
              <a:ext cx="185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C7E756D8-3EE8-A4C3-8F49-0B46E9F4B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66"/>
              <a:ext cx="201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FCB39CB1-5FE2-5CFF-48CC-F6AE2A17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966"/>
              <a:ext cx="201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CEF04D98-61C8-619C-1803-1099A8C86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12"/>
              <a:ext cx="1056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95453138-D895-F8D2-3D15-74F1FF4BE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12"/>
              <a:ext cx="1056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362F3DDC-5658-436A-63E4-F7B7A0A3E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12"/>
              <a:ext cx="86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7DBDA614-EE65-BB20-500A-311A38BA7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48"/>
              <a:ext cx="49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(CPI)</a:t>
              </a:r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2C5927DB-B5D1-2F01-1C69-96BC9718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48"/>
              <a:ext cx="1016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(cycle time)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701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6CD6-5841-240B-0BD7-65FA9CB6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 mantra-I: ISA vs Microarchitecture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DBC5-75B6-D87A-92C0-874DBE29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program compiled for different ISAs with or without the same/similar microarchitecture may lead to different runtimes. 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2D1DC-6631-6DA9-76C9-083D56B4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387C3-BBF1-BCBA-90B5-F86CA669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ce and pins on a board game">
            <a:extLst>
              <a:ext uri="{FF2B5EF4-FFF2-40B4-BE49-F238E27FC236}">
                <a16:creationId xmlns:a16="http://schemas.microsoft.com/office/drawing/2014/main" id="{CFE555C8-F316-3003-8428-BDBBDFBC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DA7DF-EEAC-BF9A-A581-7B41700B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are almost ready: The game of latency and bandwidth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01BA4-8BF0-8726-7957-DC8F754E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1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CD102-6224-BF21-0DF7-71C275DB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B8651ABE-1138-46C6-9A43-7FCD4EB2550C}" type="slidenum">
              <a:rPr lang="en-US" sz="1200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9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585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1FA10E-71D7-4C85-959A-469B0DC36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7F870-CF5C-45AC-8915-06EF587E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One in a crowd">
            <a:extLst>
              <a:ext uri="{FF2B5EF4-FFF2-40B4-BE49-F238E27FC236}">
                <a16:creationId xmlns:a16="http://schemas.microsoft.com/office/drawing/2014/main" id="{7207C270-33F4-128F-21DF-97AF8239D0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7734" b="17266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479ACF-7068-B2DA-44A7-3769FC64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103120"/>
            <a:ext cx="7151090" cy="2651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Let’s Jump into Memory Hierarchy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78AC9-1E6D-066C-D4CD-8E98468E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4774E-EBCB-89B8-181B-EBCD41D8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7461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24A0-5A71-4B8D-8355-1C429FBA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IN" dirty="0"/>
              <a:t>From where do these latency numbers come from?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E5546-9A3D-48F1-8026-8E99B5D7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2248" y="6359360"/>
            <a:ext cx="2743200" cy="365125"/>
          </a:xfrm>
        </p:spPr>
        <p:txBody>
          <a:bodyPr/>
          <a:lstStyle/>
          <a:p>
            <a:fld id="{AAE1FD92-6B4B-4F7E-ADCD-6EC18FE22C7F}" type="slidenum">
              <a:rPr lang="en-IN" smtClean="0"/>
              <a:t>11</a:t>
            </a:fld>
            <a:endParaRPr lang="en-IN" dirty="0"/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428E808-7BA2-4C3B-84DB-1B7890222441}"/>
              </a:ext>
            </a:extLst>
          </p:cNvPr>
          <p:cNvSpPr/>
          <p:nvPr/>
        </p:nvSpPr>
        <p:spPr>
          <a:xfrm>
            <a:off x="930965" y="1547106"/>
            <a:ext cx="6705600" cy="31491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25CBEB-722E-470A-9416-84D38C03481C}"/>
              </a:ext>
            </a:extLst>
          </p:cNvPr>
          <p:cNvCxnSpPr/>
          <p:nvPr/>
        </p:nvCxnSpPr>
        <p:spPr>
          <a:xfrm>
            <a:off x="1921565" y="2983419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8B7E4EB9-AC9F-4B6E-9424-D1A6C30E9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041793" y="2514796"/>
            <a:ext cx="2746642" cy="86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6482FC9B-CA40-4B5A-8AF4-170A567BF117}"/>
              </a:ext>
            </a:extLst>
          </p:cNvPr>
          <p:cNvSpPr/>
          <p:nvPr/>
        </p:nvSpPr>
        <p:spPr>
          <a:xfrm rot="16200000">
            <a:off x="4689305" y="2590622"/>
            <a:ext cx="1932121" cy="609598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L3 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6BF0FBD1-9DA2-4103-A823-C7ADF54DEB5B}"/>
              </a:ext>
            </a:extLst>
          </p:cNvPr>
          <p:cNvSpPr/>
          <p:nvPr/>
        </p:nvSpPr>
        <p:spPr>
          <a:xfrm rot="16200000">
            <a:off x="2563550" y="2609897"/>
            <a:ext cx="914400" cy="674370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21B307-9DA3-4F02-BFB4-9156E0DCD3F0}"/>
              </a:ext>
            </a:extLst>
          </p:cNvPr>
          <p:cNvCxnSpPr>
            <a:stCxn id="9" idx="2"/>
          </p:cNvCxnSpPr>
          <p:nvPr/>
        </p:nvCxnSpPr>
        <p:spPr>
          <a:xfrm flipV="1">
            <a:off x="3357935" y="2947080"/>
            <a:ext cx="684530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94D31CF3-5832-4F8F-88E9-DD7B3DEFF5C2}"/>
              </a:ext>
            </a:extLst>
          </p:cNvPr>
          <p:cNvSpPr/>
          <p:nvPr/>
        </p:nvSpPr>
        <p:spPr>
          <a:xfrm rot="16200000">
            <a:off x="3738301" y="2641646"/>
            <a:ext cx="1219199" cy="610869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9DC965-B07F-4208-8C2B-F08ADAA4A014}"/>
              </a:ext>
            </a:extLst>
          </p:cNvPr>
          <p:cNvCxnSpPr/>
          <p:nvPr/>
        </p:nvCxnSpPr>
        <p:spPr>
          <a:xfrm flipV="1">
            <a:off x="4666036" y="2947079"/>
            <a:ext cx="684529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1A9DCE-4C67-42DF-92F9-0F48C545E871}"/>
              </a:ext>
            </a:extLst>
          </p:cNvPr>
          <p:cNvCxnSpPr/>
          <p:nvPr/>
        </p:nvCxnSpPr>
        <p:spPr>
          <a:xfrm>
            <a:off x="7255566" y="2983589"/>
            <a:ext cx="1752598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FA17D1-890B-4D04-8D4A-5E6553D4AE32}"/>
              </a:ext>
            </a:extLst>
          </p:cNvPr>
          <p:cNvSpPr txBox="1"/>
          <p:nvPr/>
        </p:nvSpPr>
        <p:spPr>
          <a:xfrm>
            <a:off x="2454965" y="3324639"/>
            <a:ext cx="140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 Cycles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6B8F6-2D99-4F05-B84D-B1C86BDA1607}"/>
              </a:ext>
            </a:extLst>
          </p:cNvPr>
          <p:cNvSpPr txBox="1"/>
          <p:nvPr/>
        </p:nvSpPr>
        <p:spPr>
          <a:xfrm>
            <a:off x="3651486" y="3704616"/>
            <a:ext cx="154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12 Cycles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AFBC2-A0FF-482B-9DB0-F4C1B8C515AF}"/>
              </a:ext>
            </a:extLst>
          </p:cNvPr>
          <p:cNvSpPr txBox="1"/>
          <p:nvPr/>
        </p:nvSpPr>
        <p:spPr>
          <a:xfrm>
            <a:off x="4969565" y="4005974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30 Cycles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90868-4D9A-4D34-8A6C-7A68BF685404}"/>
              </a:ext>
            </a:extLst>
          </p:cNvPr>
          <p:cNvSpPr txBox="1"/>
          <p:nvPr/>
        </p:nvSpPr>
        <p:spPr>
          <a:xfrm>
            <a:off x="9046511" y="4319614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200 Cycles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AEDD25ED-E321-4EE6-B566-F2D1B1BD266A}"/>
              </a:ext>
            </a:extLst>
          </p:cNvPr>
          <p:cNvSpPr/>
          <p:nvPr/>
        </p:nvSpPr>
        <p:spPr>
          <a:xfrm rot="16200000">
            <a:off x="5508681" y="2720754"/>
            <a:ext cx="2819399" cy="674370"/>
          </a:xfrm>
          <a:prstGeom prst="roundRect">
            <a:avLst/>
          </a:prstGeom>
          <a:solidFill>
            <a:srgbClr val="00B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DRAM Contr.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516908-F571-493C-BBAD-69939BF39F05}"/>
              </a:ext>
            </a:extLst>
          </p:cNvPr>
          <p:cNvCxnSpPr/>
          <p:nvPr/>
        </p:nvCxnSpPr>
        <p:spPr>
          <a:xfrm>
            <a:off x="5960165" y="2947083"/>
            <a:ext cx="62103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31">
            <a:extLst>
              <a:ext uri="{FF2B5EF4-FFF2-40B4-BE49-F238E27FC236}">
                <a16:creationId xmlns:a16="http://schemas.microsoft.com/office/drawing/2014/main" id="{CD0945F8-CE8F-4D95-AEEB-E1093C3BF51A}"/>
              </a:ext>
            </a:extLst>
          </p:cNvPr>
          <p:cNvSpPr/>
          <p:nvPr/>
        </p:nvSpPr>
        <p:spPr>
          <a:xfrm rot="16200000">
            <a:off x="1008845" y="2640519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F60EF9-C9D1-47C6-BB76-9716BF304205}"/>
              </a:ext>
            </a:extLst>
          </p:cNvPr>
          <p:cNvSpPr/>
          <p:nvPr/>
        </p:nvSpPr>
        <p:spPr>
          <a:xfrm>
            <a:off x="195859" y="5185013"/>
            <a:ext cx="10801656" cy="153947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85AEB-377B-49D4-86CE-120646C1B10B}"/>
              </a:ext>
            </a:extLst>
          </p:cNvPr>
          <p:cNvSpPr txBox="1"/>
          <p:nvPr/>
        </p:nvSpPr>
        <p:spPr>
          <a:xfrm>
            <a:off x="195859" y="5129607"/>
            <a:ext cx="10689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Memory stores </a:t>
            </a:r>
            <a:r>
              <a:rPr lang="en-IN" sz="3200" dirty="0">
                <a:solidFill>
                  <a:srgbClr val="C00000"/>
                </a:solidFill>
              </a:rPr>
              <a:t>CODE and DATA</a:t>
            </a:r>
          </a:p>
          <a:p>
            <a:r>
              <a:rPr lang="en-IN" sz="3200" dirty="0"/>
              <a:t>Processor accesses through </a:t>
            </a:r>
            <a:r>
              <a:rPr lang="en-IN" sz="3200" dirty="0">
                <a:solidFill>
                  <a:srgbClr val="C00000"/>
                </a:solidFill>
              </a:rPr>
              <a:t>LOADs (reads) and STOREs(writes)</a:t>
            </a:r>
          </a:p>
          <a:p>
            <a:r>
              <a:rPr lang="en-IN" sz="3200" dirty="0">
                <a:solidFill>
                  <a:srgbClr val="C00000"/>
                </a:solidFill>
              </a:rPr>
              <a:t>Memory Wall</a:t>
            </a:r>
          </a:p>
        </p:txBody>
      </p:sp>
      <p:pic>
        <p:nvPicPr>
          <p:cNvPr id="24" name="Picture 23" descr="https://upload.wikimedia.org/wikipedia/commons/d/d1/Brick_wall_close-up_view.jpg">
            <a:extLst>
              <a:ext uri="{FF2B5EF4-FFF2-40B4-BE49-F238E27FC236}">
                <a16:creationId xmlns:a16="http://schemas.microsoft.com/office/drawing/2014/main" id="{F8D2F7E6-18A1-4DF3-B2B8-B6B01D4E6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779" y="1629461"/>
            <a:ext cx="1341385" cy="2633664"/>
          </a:xfrm>
          <a:prstGeom prst="rect">
            <a:avLst/>
          </a:prstGeom>
          <a:noFill/>
          <a:scene3d>
            <a:camera prst="isometricOffAxis1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CB3063-B60F-7A24-7243-255667EE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0682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5" grpId="0"/>
      <p:bldP spid="16" grpId="0"/>
      <p:bldP spid="17" grpId="0"/>
      <p:bldP spid="18" grpId="0"/>
      <p:bldP spid="19" grpId="0" animBg="1"/>
      <p:bldP spid="21" grpId="0" animBg="1"/>
      <p:bldP spid="22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8461-EBEB-4F41-BCD4-18FFACBC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Hang on!! I got the Mantra!!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8CF88-94CC-4963-9F1B-01C14F32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189776-D1C6-42E0-87E4-BC142057BE1F}"/>
              </a:ext>
            </a:extLst>
          </p:cNvPr>
          <p:cNvSpPr/>
          <p:nvPr/>
        </p:nvSpPr>
        <p:spPr>
          <a:xfrm>
            <a:off x="264482" y="1419669"/>
            <a:ext cx="8288013" cy="88237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9012B-67CE-4005-8888-63F5C2E30520}"/>
              </a:ext>
            </a:extLst>
          </p:cNvPr>
          <p:cNvSpPr txBox="1"/>
          <p:nvPr/>
        </p:nvSpPr>
        <p:spPr>
          <a:xfrm>
            <a:off x="287398" y="1344683"/>
            <a:ext cx="106891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Reduction in DRAM accesses ~ </a:t>
            </a:r>
          </a:p>
          <a:p>
            <a:r>
              <a:rPr lang="en-IN" sz="3200" dirty="0"/>
              <a:t>Reduction in CPI (cycles per instruction)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F3359-285C-469D-995C-5C891A73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82" y="2583722"/>
            <a:ext cx="4163668" cy="31059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482F26-D180-4D84-9A08-800EF2C2EABC}"/>
              </a:ext>
            </a:extLst>
          </p:cNvPr>
          <p:cNvSpPr/>
          <p:nvPr/>
        </p:nvSpPr>
        <p:spPr>
          <a:xfrm>
            <a:off x="4479799" y="2302039"/>
            <a:ext cx="30224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</a:pPr>
            <a:r>
              <a:rPr lang="en-US" altLang="en-US" sz="6000" dirty="0">
                <a:solidFill>
                  <a:srgbClr val="C00000"/>
                </a:solidFill>
              </a:rPr>
              <a:t>WRONG!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333A7959-1FA8-47B8-8A51-485774FE1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150" y="3357911"/>
            <a:ext cx="6548438" cy="105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/>
              <a:t>  First Law of Performance:</a:t>
            </a:r>
          </a:p>
          <a:p>
            <a:pPr lvl="1">
              <a:spcBef>
                <a:spcPct val="20000"/>
              </a:spcBef>
            </a:pPr>
            <a:r>
              <a:rPr lang="en-US" altLang="en-US" sz="3600" dirty="0"/>
              <a:t>Make the common case </a:t>
            </a:r>
            <a:r>
              <a:rPr lang="en-US" altLang="en-US" sz="3600" dirty="0">
                <a:solidFill>
                  <a:srgbClr val="C00000"/>
                </a:solidFill>
              </a:rPr>
              <a:t>fast</a:t>
            </a:r>
          </a:p>
        </p:txBody>
      </p:sp>
      <p:sp>
        <p:nvSpPr>
          <p:cNvPr id="12" name="Text Box 286">
            <a:extLst>
              <a:ext uri="{FF2B5EF4-FFF2-40B4-BE49-F238E27FC236}">
                <a16:creationId xmlns:a16="http://schemas.microsoft.com/office/drawing/2014/main" id="{F942F45F-576F-43CC-AEA2-91F262A2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8150" y="4428845"/>
            <a:ext cx="7577138" cy="142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/>
              <a:t>  Second Law of Performance: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600" dirty="0"/>
              <a:t>Make the fast case </a:t>
            </a:r>
            <a:r>
              <a:rPr lang="en-US" altLang="en-US" sz="3600" dirty="0">
                <a:solidFill>
                  <a:srgbClr val="C00000"/>
                </a:solidFill>
              </a:rPr>
              <a:t>common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>
                <a:solidFill>
                  <a:srgbClr val="C00000"/>
                </a:solidFill>
              </a:rPr>
              <a:t>Amdahl’s law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8DC1ED-2058-4368-9BD9-F394ADAF50BD}"/>
              </a:ext>
            </a:extLst>
          </p:cNvPr>
          <p:cNvSpPr/>
          <p:nvPr/>
        </p:nvSpPr>
        <p:spPr>
          <a:xfrm>
            <a:off x="1155618" y="5735525"/>
            <a:ext cx="9670856" cy="723805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58C3E-51E2-4038-9E15-8878330CC403}"/>
              </a:ext>
            </a:extLst>
          </p:cNvPr>
          <p:cNvSpPr txBox="1"/>
          <p:nvPr/>
        </p:nvSpPr>
        <p:spPr>
          <a:xfrm>
            <a:off x="1155618" y="5812713"/>
            <a:ext cx="10689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What if your program is not memory intensive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8C4557-6E21-495C-BDDC-D3420EEEA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26" y="5954757"/>
            <a:ext cx="1086584" cy="72380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E6B74CF-C441-C3CA-E1CC-114F5673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0950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0584C-E3DE-6A09-B283-5497B9AF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/>
              <a:t>Do not ignore the uncommon too </a:t>
            </a:r>
            <a:endParaRPr lang="en-IN" sz="4600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17DA-1F6A-28B8-2526-4B8948DE6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800" dirty="0"/>
              <a:t>Give me an example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endParaRPr lang="en-IN" sz="2800" dirty="0"/>
          </a:p>
        </p:txBody>
      </p:sp>
      <p:pic>
        <p:nvPicPr>
          <p:cNvPr id="14" name="Picture 6" descr="Hot chocolate in a cafe facing window">
            <a:extLst>
              <a:ext uri="{FF2B5EF4-FFF2-40B4-BE49-F238E27FC236}">
                <a16:creationId xmlns:a16="http://schemas.microsoft.com/office/drawing/2014/main" id="{71FC58DA-7872-535D-EC40-F678B81CF2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83" r="13964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2C299-C680-C6CB-69B0-7898F5E0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>
                <a:solidFill>
                  <a:srgbClr val="FFFFFF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C3A9D-7056-BDFE-327D-648AC60F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2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on clear background">
            <a:extLst>
              <a:ext uri="{FF2B5EF4-FFF2-40B4-BE49-F238E27FC236}">
                <a16:creationId xmlns:a16="http://schemas.microsoft.com/office/drawing/2014/main" id="{66216E33-D36A-95C7-F00A-FC40DC785E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BC7E8-0757-58EE-6B15-0226E50A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9272016" cy="152098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Let’s Pause and understand: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The game of “common” and “uncommon”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EDF5D-1C99-E3BC-955D-03F4C9DE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058B-CABE-2A9E-6A13-61F9ED9F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759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9E04CA-8512-D2E9-7658-0D0FBE82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Do not</a:t>
            </a:r>
            <a:endParaRPr lang="en-IN" sz="480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EAE5-F626-0D65-B23A-B2C3739F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40112" y="4032504"/>
            <a:ext cx="3657600" cy="6400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000">
                <a:solidFill>
                  <a:schemeClr val="tx2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D6DCC-017D-F5AD-A10B-89E180A5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B8651ABE-1138-46C6-9A43-7FCD4EB2550C}" type="slidenum">
              <a:rPr lang="en-IN" sz="1600">
                <a:solidFill>
                  <a:schemeClr val="tx2"/>
                </a:solidFill>
              </a:rPr>
              <a:pPr algn="ctr">
                <a:spcAft>
                  <a:spcPts val="600"/>
                </a:spcAft>
              </a:pPr>
              <a:t>15</a:t>
            </a:fld>
            <a:endParaRPr lang="en-IN" sz="160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524C325-C4C0-9CA5-3DFD-C0F1462DF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384606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62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661E-FF88-4467-B2F7-210653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10,000 Feet View on Caches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3A09-7F71-49FD-B578-B807F0FE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7B6A65-8B92-4119-AA36-3899FAE47A14}"/>
              </a:ext>
            </a:extLst>
          </p:cNvPr>
          <p:cNvGraphicFramePr>
            <a:graphicFrameLocks/>
          </p:cNvGraphicFramePr>
          <p:nvPr/>
        </p:nvGraphicFramePr>
        <p:xfrm>
          <a:off x="343569" y="1773942"/>
          <a:ext cx="8421687" cy="4728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961EF7-B79A-4B06-9D3A-000156C1A52F}"/>
              </a:ext>
            </a:extLst>
          </p:cNvPr>
          <p:cNvSpPr/>
          <p:nvPr/>
        </p:nvSpPr>
        <p:spPr>
          <a:xfrm>
            <a:off x="7320091" y="1555145"/>
            <a:ext cx="4317728" cy="125651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D4C27-925E-422C-821A-4B97480F591D}"/>
              </a:ext>
            </a:extLst>
          </p:cNvPr>
          <p:cNvSpPr txBox="1"/>
          <p:nvPr/>
        </p:nvSpPr>
        <p:spPr>
          <a:xfrm>
            <a:off x="7359209" y="1636900"/>
            <a:ext cx="43177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$$: Cache</a:t>
            </a:r>
          </a:p>
          <a:p>
            <a:r>
              <a:rPr lang="en-IN" sz="3200" dirty="0"/>
              <a:t>Speculation technique</a:t>
            </a:r>
          </a:p>
          <a:p>
            <a:endParaRPr lang="en-IN" sz="3200" dirty="0"/>
          </a:p>
        </p:txBody>
      </p:sp>
      <p:pic>
        <p:nvPicPr>
          <p:cNvPr id="2050" name="Picture 2" descr="Image result for smiley confused image">
            <a:extLst>
              <a:ext uri="{FF2B5EF4-FFF2-40B4-BE49-F238E27FC236}">
                <a16:creationId xmlns:a16="http://schemas.microsoft.com/office/drawing/2014/main" id="{99BBCAC5-3251-40AB-A6FC-B1C17CBE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451" y="2880708"/>
            <a:ext cx="1499980" cy="147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E3E5CA-A598-4C73-B51A-0B5F7CDAB898}"/>
              </a:ext>
            </a:extLst>
          </p:cNvPr>
          <p:cNvSpPr/>
          <p:nvPr/>
        </p:nvSpPr>
        <p:spPr>
          <a:xfrm>
            <a:off x="7320091" y="5090450"/>
            <a:ext cx="4317728" cy="125651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11C9E-1EA4-4BE1-A04B-2F95DBE1A5E7}"/>
              </a:ext>
            </a:extLst>
          </p:cNvPr>
          <p:cNvSpPr txBox="1"/>
          <p:nvPr/>
        </p:nvSpPr>
        <p:spPr>
          <a:xfrm>
            <a:off x="7359209" y="5172205"/>
            <a:ext cx="4317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Speculation works because of </a:t>
            </a:r>
            <a:r>
              <a:rPr lang="en-IN" sz="3200" dirty="0">
                <a:solidFill>
                  <a:srgbClr val="C00000"/>
                </a:solidFill>
              </a:rPr>
              <a:t>locality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073E84-E0E6-5AC4-5E5E-6A5E08C1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6523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/>
      <p:bldP spid="9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view of a puzzle game">
            <a:extLst>
              <a:ext uri="{FF2B5EF4-FFF2-40B4-BE49-F238E27FC236}">
                <a16:creationId xmlns:a16="http://schemas.microsoft.com/office/drawing/2014/main" id="{BAF940B3-188B-0FC0-7EBF-D4445B2D5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0" b="1495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35F5-7110-14B5-29BA-853E54D5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16FD1-AC97-9020-CEBB-E97E120F8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Hardware hash tables </a:t>
            </a:r>
            <a:r>
              <a:rPr lang="en-US" sz="3200" dirty="0">
                <a:solidFill>
                  <a:srgbClr val="FFFFFF"/>
                </a:solidFill>
                <a:sym typeface="Wingdings" panose="05000000000000000000" pitchFamily="2" charset="2"/>
              </a:rPr>
              <a:t>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1CC11-776C-ABF8-F357-FF107B72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1F53F-E922-ECCD-21AE-3B7E709E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17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4395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69CA-F404-4066-96ED-DC6F45FC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 (why does it exist?)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9970E-A95A-475A-B9E9-79203342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18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01A890-E577-48F3-AF1C-ABFDD872C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5" y="1362075"/>
            <a:ext cx="11597901" cy="4972050"/>
          </a:xfrm>
        </p:spPr>
        <p:txBody>
          <a:bodyPr/>
          <a:lstStyle/>
          <a:p>
            <a:pPr marL="0" indent="0">
              <a:buNone/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Temporal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Recently referenced items are likely </a:t>
            </a:r>
            <a:br>
              <a:rPr lang="en-GB" dirty="0"/>
            </a:br>
            <a:r>
              <a:rPr lang="en-GB" dirty="0"/>
              <a:t>to be referenced again</a:t>
            </a: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Spatial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Items with nearby addresses tend </a:t>
            </a:r>
            <a:br>
              <a:rPr lang="en-GB" dirty="0"/>
            </a:br>
            <a:r>
              <a:rPr lang="en-GB" dirty="0"/>
              <a:t>to be referenced again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9B472-2C61-4D30-92B4-4837EB009E4B}"/>
              </a:ext>
            </a:extLst>
          </p:cNvPr>
          <p:cNvSpPr/>
          <p:nvPr/>
        </p:nvSpPr>
        <p:spPr bwMode="auto">
          <a:xfrm>
            <a:off x="7597181" y="2630327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031C2-BDC3-4C71-939A-993262B5C98E}"/>
              </a:ext>
            </a:extLst>
          </p:cNvPr>
          <p:cNvSpPr/>
          <p:nvPr/>
        </p:nvSpPr>
        <p:spPr bwMode="auto">
          <a:xfrm>
            <a:off x="7990881" y="2630327"/>
            <a:ext cx="381000" cy="304800"/>
          </a:xfrm>
          <a:prstGeom prst="rect">
            <a:avLst/>
          </a:prstGeom>
          <a:solidFill>
            <a:srgbClr val="C0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E527C3C9-1B95-4166-9FB2-975C934A5F2C}"/>
              </a:ext>
            </a:extLst>
          </p:cNvPr>
          <p:cNvSpPr/>
          <p:nvPr/>
        </p:nvSpPr>
        <p:spPr bwMode="auto">
          <a:xfrm>
            <a:off x="7820237" y="2120538"/>
            <a:ext cx="627844" cy="433589"/>
          </a:xfrm>
          <a:custGeom>
            <a:avLst/>
            <a:gdLst>
              <a:gd name="connsiteX0" fmla="*/ 290847 w 627844"/>
              <a:gd name="connsiteY0" fmla="*/ 433589 h 433589"/>
              <a:gd name="connsiteX1" fmla="*/ 46149 w 627844"/>
              <a:gd name="connsiteY1" fmla="*/ 72980 h 433589"/>
              <a:gd name="connsiteX2" fmla="*/ 567743 w 627844"/>
              <a:gd name="connsiteY2" fmla="*/ 60101 h 433589"/>
              <a:gd name="connsiteX3" fmla="*/ 406757 w 627844"/>
              <a:gd name="connsiteY3" fmla="*/ 433589 h 43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844" h="433589">
                <a:moveTo>
                  <a:pt x="290847" y="433589"/>
                </a:moveTo>
                <a:cubicBezTo>
                  <a:pt x="145423" y="284408"/>
                  <a:pt x="0" y="135228"/>
                  <a:pt x="46149" y="72980"/>
                </a:cubicBezTo>
                <a:cubicBezTo>
                  <a:pt x="92298" y="10732"/>
                  <a:pt x="507642" y="0"/>
                  <a:pt x="567743" y="60101"/>
                </a:cubicBezTo>
                <a:cubicBezTo>
                  <a:pt x="627844" y="120202"/>
                  <a:pt x="517300" y="276895"/>
                  <a:pt x="406757" y="433589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2D48B0-95E7-4C84-B823-5F2943D2446B}"/>
              </a:ext>
            </a:extLst>
          </p:cNvPr>
          <p:cNvSpPr/>
          <p:nvPr/>
        </p:nvSpPr>
        <p:spPr bwMode="auto">
          <a:xfrm>
            <a:off x="7603442" y="4123067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E18155-CAC0-443C-A8DC-63C85EF1570F}"/>
              </a:ext>
            </a:extLst>
          </p:cNvPr>
          <p:cNvSpPr/>
          <p:nvPr/>
        </p:nvSpPr>
        <p:spPr bwMode="auto">
          <a:xfrm>
            <a:off x="7997142" y="4123067"/>
            <a:ext cx="381000" cy="304800"/>
          </a:xfrm>
          <a:prstGeom prst="rect">
            <a:avLst/>
          </a:prstGeom>
          <a:solidFill>
            <a:srgbClr val="C0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CEEEA-0200-4A2F-9486-84377E5503A7}"/>
              </a:ext>
            </a:extLst>
          </p:cNvPr>
          <p:cNvSpPr/>
          <p:nvPr/>
        </p:nvSpPr>
        <p:spPr bwMode="auto">
          <a:xfrm>
            <a:off x="8371881" y="4123067"/>
            <a:ext cx="381000" cy="304800"/>
          </a:xfrm>
          <a:prstGeom prst="rect">
            <a:avLst/>
          </a:prstGeom>
          <a:solidFill>
            <a:srgbClr val="C0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2EACB7D-1289-44A7-ACB0-CF76A0081DAF}"/>
              </a:ext>
            </a:extLst>
          </p:cNvPr>
          <p:cNvSpPr/>
          <p:nvPr/>
        </p:nvSpPr>
        <p:spPr bwMode="auto">
          <a:xfrm>
            <a:off x="7917901" y="3692698"/>
            <a:ext cx="841420" cy="359535"/>
          </a:xfrm>
          <a:custGeom>
            <a:avLst/>
            <a:gdLst>
              <a:gd name="connsiteX0" fmla="*/ 200695 w 841420"/>
              <a:gd name="connsiteY0" fmla="*/ 353095 h 359535"/>
              <a:gd name="connsiteX1" fmla="*/ 91225 w 841420"/>
              <a:gd name="connsiteY1" fmla="*/ 56881 h 359535"/>
              <a:gd name="connsiteX2" fmla="*/ 748048 w 841420"/>
              <a:gd name="connsiteY2" fmla="*/ 50442 h 359535"/>
              <a:gd name="connsiteX3" fmla="*/ 651456 w 841420"/>
              <a:gd name="connsiteY3" fmla="*/ 359535 h 35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1420" h="359535">
                <a:moveTo>
                  <a:pt x="200695" y="353095"/>
                </a:moveTo>
                <a:cubicBezTo>
                  <a:pt x="100347" y="230209"/>
                  <a:pt x="0" y="107323"/>
                  <a:pt x="91225" y="56881"/>
                </a:cubicBezTo>
                <a:cubicBezTo>
                  <a:pt x="182450" y="6439"/>
                  <a:pt x="654676" y="0"/>
                  <a:pt x="748048" y="50442"/>
                </a:cubicBezTo>
                <a:cubicBezTo>
                  <a:pt x="841420" y="100884"/>
                  <a:pt x="746438" y="230209"/>
                  <a:pt x="651456" y="359535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87AD6C7-A277-3CAD-2C04-026C3BC9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5154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D108-26DA-4F90-AEB0-604AF297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56660-37FE-4BF6-B664-504D8AF8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19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B8AA63-B202-4DA0-99CD-CC34AC42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06" y="3992220"/>
            <a:ext cx="8047877" cy="2768858"/>
          </a:xfrm>
        </p:spPr>
        <p:txBody>
          <a:bodyPr>
            <a:noAutofit/>
          </a:bodyPr>
          <a:lstStyle/>
          <a:p>
            <a:r>
              <a:rPr lang="en-US" sz="3200" dirty="0"/>
              <a:t>Data references</a:t>
            </a:r>
          </a:p>
          <a:p>
            <a:pPr lvl="1"/>
            <a:r>
              <a:rPr lang="en-US" sz="3200" dirty="0"/>
              <a:t>Reference array elements in succession (stride-1 reference pattern).</a:t>
            </a:r>
          </a:p>
          <a:p>
            <a:pPr lvl="1"/>
            <a:r>
              <a:rPr lang="en-US" sz="3200" dirty="0"/>
              <a:t>Reference variable </a:t>
            </a:r>
            <a:r>
              <a:rPr lang="en-US" sz="3200" b="1" dirty="0">
                <a:latin typeface="Courier New"/>
                <a:cs typeface="Courier New"/>
              </a:rPr>
              <a:t>sum</a:t>
            </a:r>
            <a:r>
              <a:rPr lang="en-US" sz="3200" dirty="0"/>
              <a:t> each iteration.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5098BFC-9AF4-4511-8123-13A2ABD0E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5" y="1690688"/>
            <a:ext cx="8377968" cy="2059538"/>
          </a:xfrm>
          <a:prstGeom prst="rect">
            <a:avLst/>
          </a:prstGeom>
          <a:solidFill>
            <a:schemeClr val="bg1"/>
          </a:solidFill>
          <a:ln w="12700" cmpd="sng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3200" dirty="0">
                <a:latin typeface="Courier New" charset="0"/>
              </a:rPr>
              <a:t>sum = 0;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3200" dirty="0">
                <a:latin typeface="Courier New" charset="0"/>
              </a:rPr>
              <a:t>for (</a:t>
            </a:r>
            <a:r>
              <a:rPr lang="en-US" sz="3200" dirty="0" err="1">
                <a:latin typeface="Courier New" charset="0"/>
              </a:rPr>
              <a:t>i</a:t>
            </a:r>
            <a:r>
              <a:rPr lang="en-US" sz="3200" dirty="0">
                <a:latin typeface="Courier New" charset="0"/>
              </a:rPr>
              <a:t> = 0; </a:t>
            </a:r>
            <a:r>
              <a:rPr lang="en-US" sz="3200" dirty="0" err="1">
                <a:latin typeface="Courier New" charset="0"/>
              </a:rPr>
              <a:t>i</a:t>
            </a:r>
            <a:r>
              <a:rPr lang="en-US" sz="3200" dirty="0">
                <a:latin typeface="Courier New" charset="0"/>
              </a:rPr>
              <a:t> &lt; </a:t>
            </a:r>
            <a:r>
              <a:rPr lang="en-US" sz="3200" dirty="0" err="1">
                <a:latin typeface="Courier New" charset="0"/>
              </a:rPr>
              <a:t>n</a:t>
            </a:r>
            <a:r>
              <a:rPr lang="en-US" sz="3200" dirty="0">
                <a:latin typeface="Courier New" charset="0"/>
              </a:rPr>
              <a:t>; </a:t>
            </a:r>
            <a:r>
              <a:rPr lang="en-US" sz="3200" dirty="0" err="1">
                <a:latin typeface="Courier New" charset="0"/>
              </a:rPr>
              <a:t>i</a:t>
            </a:r>
            <a:r>
              <a:rPr lang="en-US" sz="32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3200" dirty="0">
                <a:latin typeface="Courier New" charset="0"/>
              </a:rPr>
              <a:t>	sum += </a:t>
            </a:r>
            <a:r>
              <a:rPr lang="en-US" sz="3200" dirty="0" err="1">
                <a:latin typeface="Courier New" charset="0"/>
              </a:rPr>
              <a:t>a[i</a:t>
            </a:r>
            <a:r>
              <a:rPr lang="en-US" sz="3200" dirty="0"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  <a:tabLst>
                <a:tab pos="457200" algn="l"/>
              </a:tabLst>
            </a:pPr>
            <a:r>
              <a:rPr lang="en-US" sz="3200" dirty="0">
                <a:latin typeface="Courier New" charset="0"/>
              </a:rPr>
              <a:t>return sum;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3C322-884A-4702-8E22-A51EE841A4D9}"/>
              </a:ext>
            </a:extLst>
          </p:cNvPr>
          <p:cNvSpPr txBox="1"/>
          <p:nvPr/>
        </p:nvSpPr>
        <p:spPr>
          <a:xfrm>
            <a:off x="8414419" y="2225533"/>
            <a:ext cx="46169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itchFamily="34" charset="0"/>
              </a:rPr>
              <a:t>Spatial/Temporal</a:t>
            </a:r>
          </a:p>
          <a:p>
            <a:pPr algn="ctr"/>
            <a:r>
              <a:rPr lang="en-US" sz="3200" dirty="0">
                <a:latin typeface="Calibri" pitchFamily="34" charset="0"/>
              </a:rPr>
              <a:t>Locality?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4CBF0-DDBE-47B3-920E-D15BD2115AF0}"/>
              </a:ext>
            </a:extLst>
          </p:cNvPr>
          <p:cNvSpPr txBox="1"/>
          <p:nvPr/>
        </p:nvSpPr>
        <p:spPr>
          <a:xfrm>
            <a:off x="9914561" y="5341178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temporal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B01D0-ACC5-448A-AB60-8DC7CB5D5FAE}"/>
              </a:ext>
            </a:extLst>
          </p:cNvPr>
          <p:cNvSpPr txBox="1"/>
          <p:nvPr/>
        </p:nvSpPr>
        <p:spPr>
          <a:xfrm>
            <a:off x="10074860" y="4532691"/>
            <a:ext cx="1278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spatial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3E93690-AECF-6201-42F6-5F82DA7C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3146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BF28-6760-46BF-9375-F5A6DF10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Wake-up Test: Improve Spatial Locality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6AA6D-BFF1-48BA-94C8-58F29CE8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20</a:t>
            </a:fld>
            <a:endParaRPr lang="en-IN" dirty="0"/>
          </a:p>
        </p:txBody>
      </p:sp>
      <p:sp>
        <p:nvSpPr>
          <p:cNvPr id="5" name="Text Box 1028">
            <a:extLst>
              <a:ext uri="{FF2B5EF4-FFF2-40B4-BE49-F238E27FC236}">
                <a16:creationId xmlns:a16="http://schemas.microsoft.com/office/drawing/2014/main" id="{E94D5366-8608-40F5-AC35-CC791652C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1" y="1600990"/>
            <a:ext cx="8824852" cy="501675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dirty="0" err="1">
                <a:latin typeface="Courier New" charset="0"/>
              </a:rPr>
              <a:t>int</a:t>
            </a:r>
            <a:r>
              <a:rPr lang="en-US" sz="3200" dirty="0">
                <a:latin typeface="Courier New" charset="0"/>
              </a:rPr>
              <a:t> sum_array_3d(int </a:t>
            </a:r>
            <a:r>
              <a:rPr lang="en-US" sz="3200" dirty="0" err="1">
                <a:latin typeface="Courier New" charset="0"/>
              </a:rPr>
              <a:t>a[M][N][N</a:t>
            </a:r>
            <a:r>
              <a:rPr lang="en-US" sz="3200" dirty="0">
                <a:latin typeface="Courier New" charset="0"/>
              </a:rPr>
              <a:t>])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</a:t>
            </a:r>
            <a:r>
              <a:rPr lang="en-US" sz="3200" dirty="0" err="1">
                <a:latin typeface="Courier New" charset="0"/>
              </a:rPr>
              <a:t>int</a:t>
            </a:r>
            <a:r>
              <a:rPr lang="en-US" sz="3200" dirty="0">
                <a:latin typeface="Courier New" charset="0"/>
              </a:rPr>
              <a:t> </a:t>
            </a:r>
            <a:r>
              <a:rPr lang="en-US" sz="3200" dirty="0" err="1">
                <a:latin typeface="Courier New" charset="0"/>
              </a:rPr>
              <a:t>i</a:t>
            </a:r>
            <a:r>
              <a:rPr lang="en-US" sz="3200" dirty="0">
                <a:latin typeface="Courier New" charset="0"/>
              </a:rPr>
              <a:t>, </a:t>
            </a:r>
            <a:r>
              <a:rPr lang="en-US" sz="3200" dirty="0" err="1">
                <a:latin typeface="Courier New" charset="0"/>
              </a:rPr>
              <a:t>j</a:t>
            </a:r>
            <a:r>
              <a:rPr lang="en-US" sz="3200" dirty="0">
                <a:latin typeface="Courier New" charset="0"/>
              </a:rPr>
              <a:t>, </a:t>
            </a:r>
            <a:r>
              <a:rPr lang="en-US" sz="3200" dirty="0" err="1">
                <a:latin typeface="Courier New" charset="0"/>
              </a:rPr>
              <a:t>k</a:t>
            </a:r>
            <a:r>
              <a:rPr lang="en-US" sz="3200" dirty="0">
                <a:latin typeface="Courier New" charset="0"/>
              </a:rPr>
              <a:t>, sum = 0;</a:t>
            </a:r>
          </a:p>
          <a:p>
            <a:pPr algn="l">
              <a:lnSpc>
                <a:spcPct val="100000"/>
              </a:lnSpc>
            </a:pPr>
            <a:endParaRPr lang="en-US" sz="32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for (i = 0; i &lt; N; i++)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    for (</a:t>
            </a:r>
            <a:r>
              <a:rPr lang="en-US" sz="3200" dirty="0" err="1">
                <a:latin typeface="Courier New" charset="0"/>
              </a:rPr>
              <a:t>j</a:t>
            </a:r>
            <a:r>
              <a:rPr lang="en-US" sz="3200" dirty="0">
                <a:latin typeface="Courier New" charset="0"/>
              </a:rPr>
              <a:t> = 0; </a:t>
            </a:r>
            <a:r>
              <a:rPr lang="en-US" sz="3200" dirty="0" err="1">
                <a:latin typeface="Courier New" charset="0"/>
              </a:rPr>
              <a:t>j</a:t>
            </a:r>
            <a:r>
              <a:rPr lang="en-US" sz="3200" dirty="0">
                <a:latin typeface="Courier New" charset="0"/>
              </a:rPr>
              <a:t> &lt; N; </a:t>
            </a:r>
            <a:r>
              <a:rPr lang="en-US" sz="3200" dirty="0" err="1">
                <a:latin typeface="Courier New" charset="0"/>
              </a:rPr>
              <a:t>j</a:t>
            </a:r>
            <a:r>
              <a:rPr lang="en-US" sz="3200" dirty="0">
                <a:latin typeface="Courier New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        for (k = 0; k &lt; M; k++)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            sum += </a:t>
            </a:r>
            <a:r>
              <a:rPr lang="en-US" sz="3200" dirty="0">
                <a:solidFill>
                  <a:srgbClr val="C00000"/>
                </a:solidFill>
                <a:latin typeface="Courier New" charset="0"/>
              </a:rPr>
              <a:t>a[k][</a:t>
            </a:r>
            <a:r>
              <a:rPr lang="en-US" sz="3200" dirty="0" err="1">
                <a:solidFill>
                  <a:srgbClr val="C00000"/>
                </a:solidFill>
                <a:latin typeface="Courier New" charset="0"/>
              </a:rPr>
              <a:t>i][j</a:t>
            </a:r>
            <a:r>
              <a:rPr lang="en-US" sz="3200" dirty="0">
                <a:solidFill>
                  <a:srgbClr val="C00000"/>
                </a:solidFill>
                <a:latin typeface="Courier New" charset="0"/>
              </a:rPr>
              <a:t>];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    return sum;</a:t>
            </a: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Courier New" charset="0"/>
              </a:rPr>
              <a:t>}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39CD984-CBC3-F072-739B-8C477267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76882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1E04-EA81-4C19-B9AA-2D18061E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and DRAM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55082-5EBB-4D56-9AA0-76499EE7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21</a:t>
            </a:fld>
            <a:endParaRPr lang="en-IN"/>
          </a:p>
        </p:txBody>
      </p:sp>
      <p:sp>
        <p:nvSpPr>
          <p:cNvPr id="5" name="Up-Down Arrow 34">
            <a:extLst>
              <a:ext uri="{FF2B5EF4-FFF2-40B4-BE49-F238E27FC236}">
                <a16:creationId xmlns:a16="http://schemas.microsoft.com/office/drawing/2014/main" id="{A8EA30EF-2D08-4272-B468-28D2A00D3F08}"/>
              </a:ext>
            </a:extLst>
          </p:cNvPr>
          <p:cNvSpPr/>
          <p:nvPr/>
        </p:nvSpPr>
        <p:spPr bwMode="auto">
          <a:xfrm>
            <a:off x="1651123" y="292735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Calibr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72D44-E7CE-4A88-A6D8-7B2C51966933}"/>
              </a:ext>
            </a:extLst>
          </p:cNvPr>
          <p:cNvSpPr/>
          <p:nvPr/>
        </p:nvSpPr>
        <p:spPr bwMode="auto">
          <a:xfrm>
            <a:off x="203323" y="4298950"/>
            <a:ext cx="3581400" cy="2057400"/>
          </a:xfrm>
          <a:prstGeom prst="rect">
            <a:avLst/>
          </a:prstGeom>
          <a:solidFill>
            <a:srgbClr val="DEDFF5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Calibr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4A2645-4B5D-47B3-B0D0-3C999E448D81}"/>
              </a:ext>
            </a:extLst>
          </p:cNvPr>
          <p:cNvSpPr/>
          <p:nvPr/>
        </p:nvSpPr>
        <p:spPr bwMode="auto">
          <a:xfrm>
            <a:off x="203323" y="230414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Calibr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8F16F2-5D86-4C93-AEEE-52A0384F0394}"/>
              </a:ext>
            </a:extLst>
          </p:cNvPr>
          <p:cNvSpPr/>
          <p:nvPr/>
        </p:nvSpPr>
        <p:spPr bwMode="auto">
          <a:xfrm>
            <a:off x="355723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5D4B5-FDCA-4AA0-B0B3-A66B51210C17}"/>
              </a:ext>
            </a:extLst>
          </p:cNvPr>
          <p:cNvSpPr/>
          <p:nvPr/>
        </p:nvSpPr>
        <p:spPr bwMode="auto">
          <a:xfrm>
            <a:off x="1193923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E8875E-49E6-48A4-949F-4A6283BEDF7A}"/>
              </a:ext>
            </a:extLst>
          </p:cNvPr>
          <p:cNvSpPr/>
          <p:nvPr/>
        </p:nvSpPr>
        <p:spPr bwMode="auto">
          <a:xfrm>
            <a:off x="2032123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A8A562-9B74-4AC4-AAA8-6488CF57F6CF}"/>
              </a:ext>
            </a:extLst>
          </p:cNvPr>
          <p:cNvSpPr/>
          <p:nvPr/>
        </p:nvSpPr>
        <p:spPr bwMode="auto">
          <a:xfrm>
            <a:off x="2870323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00591-BBF9-47D2-BA8E-E472099FAB79}"/>
              </a:ext>
            </a:extLst>
          </p:cNvPr>
          <p:cNvSpPr/>
          <p:nvPr/>
        </p:nvSpPr>
        <p:spPr bwMode="auto">
          <a:xfrm>
            <a:off x="355723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E30488-B0B8-4DFB-91CA-5F98EDCE7E79}"/>
              </a:ext>
            </a:extLst>
          </p:cNvPr>
          <p:cNvSpPr/>
          <p:nvPr/>
        </p:nvSpPr>
        <p:spPr bwMode="auto">
          <a:xfrm>
            <a:off x="1193923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0F2F5-998B-4C10-88C3-BD96F6D34DBD}"/>
              </a:ext>
            </a:extLst>
          </p:cNvPr>
          <p:cNvSpPr/>
          <p:nvPr/>
        </p:nvSpPr>
        <p:spPr bwMode="auto">
          <a:xfrm>
            <a:off x="2032123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484215-5C01-45D2-A2DA-84636679EF86}"/>
              </a:ext>
            </a:extLst>
          </p:cNvPr>
          <p:cNvSpPr/>
          <p:nvPr/>
        </p:nvSpPr>
        <p:spPr bwMode="auto">
          <a:xfrm>
            <a:off x="2870323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F48663-685B-42A6-8EDE-731C41456A38}"/>
              </a:ext>
            </a:extLst>
          </p:cNvPr>
          <p:cNvSpPr/>
          <p:nvPr/>
        </p:nvSpPr>
        <p:spPr bwMode="auto">
          <a:xfrm>
            <a:off x="355723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36F086-772D-4043-B9DA-195CE3221E2F}"/>
              </a:ext>
            </a:extLst>
          </p:cNvPr>
          <p:cNvSpPr/>
          <p:nvPr/>
        </p:nvSpPr>
        <p:spPr bwMode="auto">
          <a:xfrm>
            <a:off x="1193923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D4D734-759C-42F6-835B-5B16A097F266}"/>
              </a:ext>
            </a:extLst>
          </p:cNvPr>
          <p:cNvSpPr/>
          <p:nvPr/>
        </p:nvSpPr>
        <p:spPr bwMode="auto">
          <a:xfrm>
            <a:off x="2032123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DE0E9B-A5C6-4938-95AF-8626C584F1D3}"/>
              </a:ext>
            </a:extLst>
          </p:cNvPr>
          <p:cNvSpPr/>
          <p:nvPr/>
        </p:nvSpPr>
        <p:spPr bwMode="auto">
          <a:xfrm>
            <a:off x="2870323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48EE7-F71C-45A2-84E9-04B071374E0D}"/>
              </a:ext>
            </a:extLst>
          </p:cNvPr>
          <p:cNvSpPr/>
          <p:nvPr/>
        </p:nvSpPr>
        <p:spPr bwMode="auto">
          <a:xfrm>
            <a:off x="355723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14933A-5A3B-4375-B7A8-FB3154F9C854}"/>
              </a:ext>
            </a:extLst>
          </p:cNvPr>
          <p:cNvSpPr/>
          <p:nvPr/>
        </p:nvSpPr>
        <p:spPr bwMode="auto">
          <a:xfrm>
            <a:off x="1193923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4DB316-F454-4C56-B62D-C8DCABA3E793}"/>
              </a:ext>
            </a:extLst>
          </p:cNvPr>
          <p:cNvSpPr/>
          <p:nvPr/>
        </p:nvSpPr>
        <p:spPr bwMode="auto">
          <a:xfrm>
            <a:off x="2032123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C07F1-573D-474C-A75E-28BF030A6CBE}"/>
              </a:ext>
            </a:extLst>
          </p:cNvPr>
          <p:cNvSpPr/>
          <p:nvPr/>
        </p:nvSpPr>
        <p:spPr bwMode="auto">
          <a:xfrm>
            <a:off x="2870323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5471FB-D204-4D96-BB90-357BDCC4E145}"/>
              </a:ext>
            </a:extLst>
          </p:cNvPr>
          <p:cNvCxnSpPr/>
          <p:nvPr/>
        </p:nvCxnSpPr>
        <p:spPr bwMode="auto">
          <a:xfrm>
            <a:off x="584323" y="612775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3506D5C-F862-446C-98C8-CBDAD91F2E4B}"/>
              </a:ext>
            </a:extLst>
          </p:cNvPr>
          <p:cNvSpPr/>
          <p:nvPr/>
        </p:nvSpPr>
        <p:spPr bwMode="auto">
          <a:xfrm>
            <a:off x="355723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4EF95E-EF1A-4698-9460-B1D46C7864BF}"/>
              </a:ext>
            </a:extLst>
          </p:cNvPr>
          <p:cNvSpPr/>
          <p:nvPr/>
        </p:nvSpPr>
        <p:spPr bwMode="auto">
          <a:xfrm>
            <a:off x="1193923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D88AC3-4860-4F56-A4FB-D62FBE177F03}"/>
              </a:ext>
            </a:extLst>
          </p:cNvPr>
          <p:cNvSpPr/>
          <p:nvPr/>
        </p:nvSpPr>
        <p:spPr bwMode="auto">
          <a:xfrm>
            <a:off x="2032123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0673E6-B352-410B-88EE-5FFD6C23DB39}"/>
              </a:ext>
            </a:extLst>
          </p:cNvPr>
          <p:cNvSpPr/>
          <p:nvPr/>
        </p:nvSpPr>
        <p:spPr bwMode="auto">
          <a:xfrm>
            <a:off x="2870323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EDF3AB-6FF0-4426-A025-4E57CB6BF523}"/>
              </a:ext>
            </a:extLst>
          </p:cNvPr>
          <p:cNvSpPr txBox="1"/>
          <p:nvPr/>
        </p:nvSpPr>
        <p:spPr>
          <a:xfrm>
            <a:off x="109673" y="1806609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Cache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B60181-1CA5-40F4-8E21-B0660583B199}"/>
              </a:ext>
            </a:extLst>
          </p:cNvPr>
          <p:cNvSpPr txBox="1"/>
          <p:nvPr/>
        </p:nvSpPr>
        <p:spPr>
          <a:xfrm>
            <a:off x="64697" y="3837285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DRAM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3279EB-01CF-4B08-A78D-E74A44CA3DEF}"/>
              </a:ext>
            </a:extLst>
          </p:cNvPr>
          <p:cNvSpPr/>
          <p:nvPr/>
        </p:nvSpPr>
        <p:spPr bwMode="auto">
          <a:xfrm>
            <a:off x="355723" y="483235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C1656C-045C-4888-9B64-D6BC2194E5E1}"/>
              </a:ext>
            </a:extLst>
          </p:cNvPr>
          <p:cNvSpPr/>
          <p:nvPr/>
        </p:nvSpPr>
        <p:spPr bwMode="auto">
          <a:xfrm>
            <a:off x="889123" y="346075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217AA0-8A8D-4951-844D-4BD77A5FEEE5}"/>
              </a:ext>
            </a:extLst>
          </p:cNvPr>
          <p:cNvSpPr/>
          <p:nvPr/>
        </p:nvSpPr>
        <p:spPr bwMode="auto">
          <a:xfrm>
            <a:off x="355723" y="2456541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CE848F-809D-46A3-8F83-8AAE13A249CF}"/>
              </a:ext>
            </a:extLst>
          </p:cNvPr>
          <p:cNvSpPr/>
          <p:nvPr/>
        </p:nvSpPr>
        <p:spPr bwMode="auto">
          <a:xfrm>
            <a:off x="2032123" y="521335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AC7742-5B61-4BD7-BF38-CE6D82C43F2F}"/>
              </a:ext>
            </a:extLst>
          </p:cNvPr>
          <p:cNvSpPr/>
          <p:nvPr/>
        </p:nvSpPr>
        <p:spPr bwMode="auto">
          <a:xfrm>
            <a:off x="889123" y="346075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BDDCC5-0354-415E-9347-014E97EB248A}"/>
              </a:ext>
            </a:extLst>
          </p:cNvPr>
          <p:cNvSpPr/>
          <p:nvPr/>
        </p:nvSpPr>
        <p:spPr bwMode="auto">
          <a:xfrm>
            <a:off x="2032123" y="2456541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</a:rPr>
              <a:t>10</a:t>
            </a:r>
          </a:p>
        </p:txBody>
      </p:sp>
      <p:sp>
        <p:nvSpPr>
          <p:cNvPr id="71" name="Up-Down Arrow 42">
            <a:extLst>
              <a:ext uri="{FF2B5EF4-FFF2-40B4-BE49-F238E27FC236}">
                <a16:creationId xmlns:a16="http://schemas.microsoft.com/office/drawing/2014/main" id="{9A295EFA-E04B-49C9-8D32-0F6BDE0D3776}"/>
              </a:ext>
            </a:extLst>
          </p:cNvPr>
          <p:cNvSpPr/>
          <p:nvPr/>
        </p:nvSpPr>
        <p:spPr bwMode="auto">
          <a:xfrm>
            <a:off x="5350152" y="1317371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72" name="Up-Down Arrow 34">
            <a:extLst>
              <a:ext uri="{FF2B5EF4-FFF2-40B4-BE49-F238E27FC236}">
                <a16:creationId xmlns:a16="http://schemas.microsoft.com/office/drawing/2014/main" id="{1F263F06-44F9-48E7-A5D8-2A4937BC7760}"/>
              </a:ext>
            </a:extLst>
          </p:cNvPr>
          <p:cNvSpPr/>
          <p:nvPr/>
        </p:nvSpPr>
        <p:spPr bwMode="auto">
          <a:xfrm>
            <a:off x="5350152" y="2917571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551857-C1D9-4760-9BF7-5FA85E537FED}"/>
              </a:ext>
            </a:extLst>
          </p:cNvPr>
          <p:cNvSpPr/>
          <p:nvPr/>
        </p:nvSpPr>
        <p:spPr bwMode="auto">
          <a:xfrm>
            <a:off x="3902352" y="4289171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2D2158-15C1-466B-9B32-C3C1C5B89D93}"/>
              </a:ext>
            </a:extLst>
          </p:cNvPr>
          <p:cNvSpPr/>
          <p:nvPr/>
        </p:nvSpPr>
        <p:spPr bwMode="auto">
          <a:xfrm>
            <a:off x="3902352" y="2294362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D218009-A228-4A59-BB10-61D696FA1DFB}"/>
              </a:ext>
            </a:extLst>
          </p:cNvPr>
          <p:cNvSpPr/>
          <p:nvPr/>
        </p:nvSpPr>
        <p:spPr bwMode="auto">
          <a:xfrm>
            <a:off x="4054752" y="4441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C27F069-B985-4C2A-8A4E-534231099A0B}"/>
              </a:ext>
            </a:extLst>
          </p:cNvPr>
          <p:cNvSpPr/>
          <p:nvPr/>
        </p:nvSpPr>
        <p:spPr bwMode="auto">
          <a:xfrm>
            <a:off x="4892952" y="4441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86474F-1A24-4E45-AD3D-530E2667FA74}"/>
              </a:ext>
            </a:extLst>
          </p:cNvPr>
          <p:cNvSpPr/>
          <p:nvPr/>
        </p:nvSpPr>
        <p:spPr bwMode="auto">
          <a:xfrm>
            <a:off x="5731152" y="4441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9CC576-AAA6-4799-95BF-04501E7392BC}"/>
              </a:ext>
            </a:extLst>
          </p:cNvPr>
          <p:cNvSpPr/>
          <p:nvPr/>
        </p:nvSpPr>
        <p:spPr bwMode="auto">
          <a:xfrm>
            <a:off x="6569352" y="4441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8F56335-E331-4D1F-A696-0BBF47541A25}"/>
              </a:ext>
            </a:extLst>
          </p:cNvPr>
          <p:cNvSpPr/>
          <p:nvPr/>
        </p:nvSpPr>
        <p:spPr bwMode="auto">
          <a:xfrm>
            <a:off x="4054752" y="4822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5654912-F530-4C10-9686-125E20B793F2}"/>
              </a:ext>
            </a:extLst>
          </p:cNvPr>
          <p:cNvSpPr/>
          <p:nvPr/>
        </p:nvSpPr>
        <p:spPr bwMode="auto">
          <a:xfrm>
            <a:off x="4892952" y="4822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6B0E09B-AC4E-4BB6-AD11-16344B558392}"/>
              </a:ext>
            </a:extLst>
          </p:cNvPr>
          <p:cNvSpPr/>
          <p:nvPr/>
        </p:nvSpPr>
        <p:spPr bwMode="auto">
          <a:xfrm>
            <a:off x="5731152" y="4822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2F7F801-F015-414A-8AF5-B36163FDDFA5}"/>
              </a:ext>
            </a:extLst>
          </p:cNvPr>
          <p:cNvSpPr/>
          <p:nvPr/>
        </p:nvSpPr>
        <p:spPr bwMode="auto">
          <a:xfrm>
            <a:off x="6569352" y="4822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4D238D-8587-425F-8868-90218EDA2192}"/>
              </a:ext>
            </a:extLst>
          </p:cNvPr>
          <p:cNvSpPr/>
          <p:nvPr/>
        </p:nvSpPr>
        <p:spPr bwMode="auto">
          <a:xfrm>
            <a:off x="4054752" y="5203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9AF257D-CDCA-4D33-A90E-23B0AB55766F}"/>
              </a:ext>
            </a:extLst>
          </p:cNvPr>
          <p:cNvSpPr/>
          <p:nvPr/>
        </p:nvSpPr>
        <p:spPr bwMode="auto">
          <a:xfrm>
            <a:off x="4892952" y="5203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E85263-87A9-4478-991F-9193147ED2B2}"/>
              </a:ext>
            </a:extLst>
          </p:cNvPr>
          <p:cNvSpPr/>
          <p:nvPr/>
        </p:nvSpPr>
        <p:spPr bwMode="auto">
          <a:xfrm>
            <a:off x="5731152" y="5203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4F183D-D7E9-4E38-BF2F-773197239DEC}"/>
              </a:ext>
            </a:extLst>
          </p:cNvPr>
          <p:cNvSpPr/>
          <p:nvPr/>
        </p:nvSpPr>
        <p:spPr bwMode="auto">
          <a:xfrm>
            <a:off x="6569352" y="5203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1F572B0-B68B-43AE-8ADA-2719665405D8}"/>
              </a:ext>
            </a:extLst>
          </p:cNvPr>
          <p:cNvSpPr/>
          <p:nvPr/>
        </p:nvSpPr>
        <p:spPr bwMode="auto">
          <a:xfrm>
            <a:off x="4054752" y="5584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E7FDD4E-EC00-4EAC-A27D-3045EFA712F4}"/>
              </a:ext>
            </a:extLst>
          </p:cNvPr>
          <p:cNvSpPr/>
          <p:nvPr/>
        </p:nvSpPr>
        <p:spPr bwMode="auto">
          <a:xfrm>
            <a:off x="4892952" y="5584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FBAE27-D671-4C59-B3C8-D2AE706B3F91}"/>
              </a:ext>
            </a:extLst>
          </p:cNvPr>
          <p:cNvSpPr/>
          <p:nvPr/>
        </p:nvSpPr>
        <p:spPr bwMode="auto">
          <a:xfrm>
            <a:off x="5731152" y="5584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3B6415-D165-4F62-8516-693DB34502EC}"/>
              </a:ext>
            </a:extLst>
          </p:cNvPr>
          <p:cNvSpPr/>
          <p:nvPr/>
        </p:nvSpPr>
        <p:spPr bwMode="auto">
          <a:xfrm>
            <a:off x="6569352" y="558457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0F042DE-A2D8-481D-A184-E8904E42CE6C}"/>
              </a:ext>
            </a:extLst>
          </p:cNvPr>
          <p:cNvCxnSpPr/>
          <p:nvPr/>
        </p:nvCxnSpPr>
        <p:spPr bwMode="auto">
          <a:xfrm>
            <a:off x="4283352" y="6117971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FC2F639D-BCC7-4610-AB11-6A8EB4E656C8}"/>
              </a:ext>
            </a:extLst>
          </p:cNvPr>
          <p:cNvSpPr/>
          <p:nvPr/>
        </p:nvSpPr>
        <p:spPr bwMode="auto">
          <a:xfrm>
            <a:off x="4054752" y="2446762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E571D82-5D63-4F13-A26D-6DE46FFA3A99}"/>
              </a:ext>
            </a:extLst>
          </p:cNvPr>
          <p:cNvSpPr/>
          <p:nvPr/>
        </p:nvSpPr>
        <p:spPr bwMode="auto">
          <a:xfrm>
            <a:off x="4892952" y="2446762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4245FB3-3159-400A-8DC4-5FA9F0E3E34F}"/>
              </a:ext>
            </a:extLst>
          </p:cNvPr>
          <p:cNvSpPr/>
          <p:nvPr/>
        </p:nvSpPr>
        <p:spPr bwMode="auto">
          <a:xfrm>
            <a:off x="5731152" y="2446762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988080-D804-4002-9AE7-DE8EC8DA20EB}"/>
              </a:ext>
            </a:extLst>
          </p:cNvPr>
          <p:cNvSpPr/>
          <p:nvPr/>
        </p:nvSpPr>
        <p:spPr bwMode="auto">
          <a:xfrm>
            <a:off x="6569352" y="2446762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3583545-DF76-4274-A0C6-B596DF963311}"/>
              </a:ext>
            </a:extLst>
          </p:cNvPr>
          <p:cNvSpPr/>
          <p:nvPr/>
        </p:nvSpPr>
        <p:spPr>
          <a:xfrm>
            <a:off x="5994525" y="1641488"/>
            <a:ext cx="11844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9CA0C58-8401-49B2-AD5C-9B6356CBAD38}"/>
              </a:ext>
            </a:extLst>
          </p:cNvPr>
          <p:cNvSpPr/>
          <p:nvPr/>
        </p:nvSpPr>
        <p:spPr bwMode="auto">
          <a:xfrm>
            <a:off x="5731152" y="2447493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101" name="Text Box 29">
            <a:extLst>
              <a:ext uri="{FF2B5EF4-FFF2-40B4-BE49-F238E27FC236}">
                <a16:creationId xmlns:a16="http://schemas.microsoft.com/office/drawing/2014/main" id="{A0A21310-C2EF-4D71-8F88-61AB7CDC2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258" y="1596606"/>
            <a:ext cx="1849870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in cache: </a:t>
            </a:r>
            <a:r>
              <a:rPr lang="en-GB" sz="2000" i="1" dirty="0">
                <a:solidFill>
                  <a:srgbClr val="C00000"/>
                </a:solidFill>
                <a:latin typeface="Calibri" pitchFamily="34" charset="0"/>
              </a:rPr>
              <a:t>Hit!</a:t>
            </a:r>
            <a:endParaRPr lang="en-GB" sz="2000" b="1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02" name="Up-Down Arrow 42">
            <a:extLst>
              <a:ext uri="{FF2B5EF4-FFF2-40B4-BE49-F238E27FC236}">
                <a16:creationId xmlns:a16="http://schemas.microsoft.com/office/drawing/2014/main" id="{D2BC26F7-7E27-4758-9B68-743E3A966D1F}"/>
              </a:ext>
            </a:extLst>
          </p:cNvPr>
          <p:cNvSpPr/>
          <p:nvPr/>
        </p:nvSpPr>
        <p:spPr bwMode="auto">
          <a:xfrm>
            <a:off x="9001728" y="1327150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103" name="Up-Down Arrow 34">
            <a:extLst>
              <a:ext uri="{FF2B5EF4-FFF2-40B4-BE49-F238E27FC236}">
                <a16:creationId xmlns:a16="http://schemas.microsoft.com/office/drawing/2014/main" id="{939DA442-21F6-4B4C-AA73-318C483EAF7F}"/>
              </a:ext>
            </a:extLst>
          </p:cNvPr>
          <p:cNvSpPr/>
          <p:nvPr/>
        </p:nvSpPr>
        <p:spPr bwMode="auto">
          <a:xfrm>
            <a:off x="9001728" y="292735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5A324E9-93EE-404D-947E-A84A917C55E7}"/>
              </a:ext>
            </a:extLst>
          </p:cNvPr>
          <p:cNvSpPr/>
          <p:nvPr/>
        </p:nvSpPr>
        <p:spPr bwMode="auto">
          <a:xfrm>
            <a:off x="7553928" y="4298950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4B5452D-AEDC-408E-B772-D3B1ED368C85}"/>
              </a:ext>
            </a:extLst>
          </p:cNvPr>
          <p:cNvSpPr/>
          <p:nvPr/>
        </p:nvSpPr>
        <p:spPr bwMode="auto">
          <a:xfrm>
            <a:off x="7553928" y="230414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76EB627-E660-4590-8BCC-9B1839D4C11A}"/>
              </a:ext>
            </a:extLst>
          </p:cNvPr>
          <p:cNvSpPr/>
          <p:nvPr/>
        </p:nvSpPr>
        <p:spPr bwMode="auto">
          <a:xfrm>
            <a:off x="7706328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2FC1EF5-B4A7-4A11-9CD4-213BF3507E52}"/>
              </a:ext>
            </a:extLst>
          </p:cNvPr>
          <p:cNvSpPr/>
          <p:nvPr/>
        </p:nvSpPr>
        <p:spPr bwMode="auto">
          <a:xfrm>
            <a:off x="8544528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BA555D8-B4CE-4B07-B02A-46898F952C8F}"/>
              </a:ext>
            </a:extLst>
          </p:cNvPr>
          <p:cNvSpPr/>
          <p:nvPr/>
        </p:nvSpPr>
        <p:spPr bwMode="auto">
          <a:xfrm>
            <a:off x="9382728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1142555-0DF2-4784-884E-EBAFAA091E81}"/>
              </a:ext>
            </a:extLst>
          </p:cNvPr>
          <p:cNvSpPr/>
          <p:nvPr/>
        </p:nvSpPr>
        <p:spPr bwMode="auto">
          <a:xfrm>
            <a:off x="10220928" y="4451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CE1550-304D-4EA4-B654-30FD3CB2240F}"/>
              </a:ext>
            </a:extLst>
          </p:cNvPr>
          <p:cNvSpPr/>
          <p:nvPr/>
        </p:nvSpPr>
        <p:spPr bwMode="auto">
          <a:xfrm>
            <a:off x="7706328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1CD2CA2-E878-4DE6-B571-DA62640C6B39}"/>
              </a:ext>
            </a:extLst>
          </p:cNvPr>
          <p:cNvSpPr/>
          <p:nvPr/>
        </p:nvSpPr>
        <p:spPr bwMode="auto">
          <a:xfrm>
            <a:off x="8544528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4E69934-5CB3-43F4-9FBF-CB1607C1428B}"/>
              </a:ext>
            </a:extLst>
          </p:cNvPr>
          <p:cNvSpPr/>
          <p:nvPr/>
        </p:nvSpPr>
        <p:spPr bwMode="auto">
          <a:xfrm>
            <a:off x="9382728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7648056-A415-458D-BEF9-62FBB0EB8F33}"/>
              </a:ext>
            </a:extLst>
          </p:cNvPr>
          <p:cNvSpPr/>
          <p:nvPr/>
        </p:nvSpPr>
        <p:spPr bwMode="auto">
          <a:xfrm>
            <a:off x="10220928" y="4832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C9764C6-A7B5-4C39-8841-7E9238290F63}"/>
              </a:ext>
            </a:extLst>
          </p:cNvPr>
          <p:cNvSpPr/>
          <p:nvPr/>
        </p:nvSpPr>
        <p:spPr bwMode="auto">
          <a:xfrm>
            <a:off x="7706328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0C8DDFA-043D-48EA-94E5-E43AC5B10920}"/>
              </a:ext>
            </a:extLst>
          </p:cNvPr>
          <p:cNvSpPr/>
          <p:nvPr/>
        </p:nvSpPr>
        <p:spPr bwMode="auto">
          <a:xfrm>
            <a:off x="8544528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84270A1-69BA-4199-8FF9-837A66BDFDB8}"/>
              </a:ext>
            </a:extLst>
          </p:cNvPr>
          <p:cNvSpPr/>
          <p:nvPr/>
        </p:nvSpPr>
        <p:spPr bwMode="auto">
          <a:xfrm>
            <a:off x="9382728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324AEBE-BF85-477D-93B0-7D0874F4B7E1}"/>
              </a:ext>
            </a:extLst>
          </p:cNvPr>
          <p:cNvSpPr/>
          <p:nvPr/>
        </p:nvSpPr>
        <p:spPr bwMode="auto">
          <a:xfrm>
            <a:off x="10220928" y="5213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FE7EB6B-27A2-414F-86F8-71A8180DF542}"/>
              </a:ext>
            </a:extLst>
          </p:cNvPr>
          <p:cNvSpPr/>
          <p:nvPr/>
        </p:nvSpPr>
        <p:spPr bwMode="auto">
          <a:xfrm>
            <a:off x="7706328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84E330C-408A-4E8E-85CF-81D4F13A1042}"/>
              </a:ext>
            </a:extLst>
          </p:cNvPr>
          <p:cNvSpPr/>
          <p:nvPr/>
        </p:nvSpPr>
        <p:spPr bwMode="auto">
          <a:xfrm>
            <a:off x="8544528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3CE0A8F-173C-4CFC-BC42-7A6F01D4C8B0}"/>
              </a:ext>
            </a:extLst>
          </p:cNvPr>
          <p:cNvSpPr/>
          <p:nvPr/>
        </p:nvSpPr>
        <p:spPr bwMode="auto">
          <a:xfrm>
            <a:off x="9382728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3C2CFBC-279E-4529-BE93-F269D9229139}"/>
              </a:ext>
            </a:extLst>
          </p:cNvPr>
          <p:cNvSpPr/>
          <p:nvPr/>
        </p:nvSpPr>
        <p:spPr bwMode="auto">
          <a:xfrm>
            <a:off x="10220928" y="559435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7464BFC-7A90-4EC7-8E3A-CBAD993D3E75}"/>
              </a:ext>
            </a:extLst>
          </p:cNvPr>
          <p:cNvCxnSpPr/>
          <p:nvPr/>
        </p:nvCxnSpPr>
        <p:spPr bwMode="auto">
          <a:xfrm>
            <a:off x="7934928" y="612775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BFBB4B-C70B-482A-B636-3B2F2D43DAF0}"/>
              </a:ext>
            </a:extLst>
          </p:cNvPr>
          <p:cNvSpPr/>
          <p:nvPr/>
        </p:nvSpPr>
        <p:spPr bwMode="auto">
          <a:xfrm>
            <a:off x="7706328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C8B35B1-32F7-45DA-9399-0AA452EB9F2C}"/>
              </a:ext>
            </a:extLst>
          </p:cNvPr>
          <p:cNvSpPr/>
          <p:nvPr/>
        </p:nvSpPr>
        <p:spPr bwMode="auto">
          <a:xfrm>
            <a:off x="8544528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E42BFA4-033C-4737-AB47-3B62D599FD84}"/>
              </a:ext>
            </a:extLst>
          </p:cNvPr>
          <p:cNvSpPr/>
          <p:nvPr/>
        </p:nvSpPr>
        <p:spPr bwMode="auto">
          <a:xfrm>
            <a:off x="9382728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C0A5A98-CB2E-491F-BC8F-AA07564DB9FD}"/>
              </a:ext>
            </a:extLst>
          </p:cNvPr>
          <p:cNvSpPr/>
          <p:nvPr/>
        </p:nvSpPr>
        <p:spPr bwMode="auto">
          <a:xfrm>
            <a:off x="10220928" y="245654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9676175-7614-49AC-858B-6795DFFAB53D}"/>
              </a:ext>
            </a:extLst>
          </p:cNvPr>
          <p:cNvSpPr/>
          <p:nvPr/>
        </p:nvSpPr>
        <p:spPr>
          <a:xfrm>
            <a:off x="9646101" y="1651267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131" name="Text Box 29">
            <a:extLst>
              <a:ext uri="{FF2B5EF4-FFF2-40B4-BE49-F238E27FC236}">
                <a16:creationId xmlns:a16="http://schemas.microsoft.com/office/drawing/2014/main" id="{DD30E2E7-EB78-4E8C-91B0-FEE3A1EF2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988" y="1562732"/>
            <a:ext cx="1817508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not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 in </a:t>
            </a:r>
            <a:r>
              <a:rPr lang="en-GB" sz="2000" b="1" i="1" dirty="0" err="1">
                <a:latin typeface="Calibri" pitchFamily="34" charset="0"/>
              </a:rPr>
              <a:t>cache:</a:t>
            </a:r>
            <a:r>
              <a:rPr lang="en-GB" sz="2000" b="1" i="1" dirty="0" err="1">
                <a:solidFill>
                  <a:srgbClr val="C00000"/>
                </a:solidFill>
                <a:latin typeface="Calibri" pitchFamily="34" charset="0"/>
              </a:rPr>
              <a:t>Miss</a:t>
            </a:r>
            <a:r>
              <a:rPr lang="en-GB" sz="2000" b="1" i="1" dirty="0">
                <a:solidFill>
                  <a:srgbClr val="C00000"/>
                </a:solidFill>
                <a:latin typeface="Calibri" pitchFamily="34" charset="0"/>
              </a:rPr>
              <a:t>!</a:t>
            </a:r>
          </a:p>
        </p:txBody>
      </p:sp>
      <p:sp>
        <p:nvSpPr>
          <p:cNvPr id="132" name="Text Box 29">
            <a:extLst>
              <a:ext uri="{FF2B5EF4-FFF2-40B4-BE49-F238E27FC236}">
                <a16:creationId xmlns:a16="http://schemas.microsoft.com/office/drawing/2014/main" id="{BC7A3C6C-34F0-49E1-B633-122F274D7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0341" y="3671416"/>
            <a:ext cx="2585173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fetched from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i="1" dirty="0">
                <a:latin typeface="Calibri" pitchFamily="34" charset="0"/>
              </a:rPr>
              <a:t>Memory (replacement)</a:t>
            </a:r>
            <a:endParaRPr lang="en-GB" sz="2000" b="1" i="1" dirty="0">
              <a:latin typeface="Calibri" pitchFamily="34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10560DA-14B1-4A81-8361-9A577DB73493}"/>
              </a:ext>
            </a:extLst>
          </p:cNvPr>
          <p:cNvSpPr/>
          <p:nvPr/>
        </p:nvSpPr>
        <p:spPr>
          <a:xfrm>
            <a:off x="9646100" y="3426996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2E2F64E-195C-43A2-80CF-F1AD48C79388}"/>
              </a:ext>
            </a:extLst>
          </p:cNvPr>
          <p:cNvSpPr/>
          <p:nvPr/>
        </p:nvSpPr>
        <p:spPr bwMode="auto">
          <a:xfrm>
            <a:off x="7706328" y="559435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BF5E3FC-EBD6-40ED-8201-A61536F538B8}"/>
              </a:ext>
            </a:extLst>
          </p:cNvPr>
          <p:cNvSpPr/>
          <p:nvPr/>
        </p:nvSpPr>
        <p:spPr bwMode="auto">
          <a:xfrm>
            <a:off x="8239728" y="346075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CCCF67B-BE48-4D55-AA29-A922A52ECC91}"/>
              </a:ext>
            </a:extLst>
          </p:cNvPr>
          <p:cNvSpPr/>
          <p:nvPr/>
        </p:nvSpPr>
        <p:spPr bwMode="auto">
          <a:xfrm>
            <a:off x="8544528" y="2457272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FAB619D-F259-9592-2DAC-E0D80207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3952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5" grpId="1" animBg="1"/>
      <p:bldP spid="36" grpId="0" animBg="1"/>
      <p:bldP spid="37" grpId="0" animBg="1"/>
      <p:bldP spid="38" grpId="0" animBg="1"/>
      <p:bldP spid="38" grpId="1" animBg="1"/>
      <p:bldP spid="39" grpId="0" animBg="1"/>
      <p:bldP spid="99" grpId="0"/>
      <p:bldP spid="100" grpId="0" animBg="1"/>
      <p:bldP spid="101" grpId="0"/>
      <p:bldP spid="130" grpId="0"/>
      <p:bldP spid="131" grpId="0"/>
      <p:bldP spid="132" grpId="0"/>
      <p:bldP spid="133" grpId="0"/>
      <p:bldP spid="134" grpId="0" animBg="1"/>
      <p:bldP spid="135" grpId="0" animBg="1"/>
      <p:bldP spid="135" grpId="1" animBg="1"/>
      <p:bldP spid="13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43489</TotalTime>
  <Words>733</Words>
  <Application>Microsoft Office PowerPoint</Application>
  <PresentationFormat>Widescreen</PresentationFormat>
  <Paragraphs>230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Courier New</vt:lpstr>
      <vt:lpstr>Wingdings</vt:lpstr>
      <vt:lpstr>Office Theme</vt:lpstr>
      <vt:lpstr>Clip</vt:lpstr>
      <vt:lpstr>CS683: Advanced Computer Architecture-2025</vt:lpstr>
      <vt:lpstr>Phones (smart/non-smart) on silence plz, Thanks </vt:lpstr>
      <vt:lpstr>LH-102 is the place to be</vt:lpstr>
      <vt:lpstr>PowerPoint Presentation</vt:lpstr>
      <vt:lpstr>PowerPoint Presentation</vt:lpstr>
      <vt:lpstr>Performance</vt:lpstr>
      <vt:lpstr>Spell it out (Programming language matters too)</vt:lpstr>
      <vt:lpstr>Micro mantra-I: ISA vs Microarchitecture</vt:lpstr>
      <vt:lpstr>We are almost ready: The game of latency and bandwidth</vt:lpstr>
      <vt:lpstr>Let’s Jump into Memory Hierarchy</vt:lpstr>
      <vt:lpstr>From where do these latency numbers come from?</vt:lpstr>
      <vt:lpstr>Hang on!! I got the Mantra!! </vt:lpstr>
      <vt:lpstr>Do not ignore the uncommon too </vt:lpstr>
      <vt:lpstr>Let’s Pause and understand:   The game of “common” and “uncommon”</vt:lpstr>
      <vt:lpstr>Do not</vt:lpstr>
      <vt:lpstr>10,000 Feet View on Caches</vt:lpstr>
      <vt:lpstr>Caches</vt:lpstr>
      <vt:lpstr>Locality (why does it exist?)</vt:lpstr>
      <vt:lpstr>Locality: Example</vt:lpstr>
      <vt:lpstr>Wake-up Test: Improve Spatial Locality</vt:lpstr>
      <vt:lpstr>Cache and DRAM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935</cp:revision>
  <dcterms:created xsi:type="dcterms:W3CDTF">2021-05-31T06:57:48Z</dcterms:created>
  <dcterms:modified xsi:type="dcterms:W3CDTF">2025-07-31T14:51:17Z</dcterms:modified>
</cp:coreProperties>
</file>