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sldIdLst>
    <p:sldId id="256" r:id="rId2"/>
    <p:sldId id="7713" r:id="rId3"/>
    <p:sldId id="7781" r:id="rId4"/>
    <p:sldId id="7973" r:id="rId5"/>
    <p:sldId id="7936" r:id="rId6"/>
    <p:sldId id="7967" r:id="rId7"/>
    <p:sldId id="7938" r:id="rId8"/>
    <p:sldId id="275" r:id="rId9"/>
    <p:sldId id="276" r:id="rId10"/>
    <p:sldId id="277" r:id="rId11"/>
    <p:sldId id="278" r:id="rId12"/>
    <p:sldId id="279" r:id="rId13"/>
    <p:sldId id="280" r:id="rId14"/>
    <p:sldId id="7968" r:id="rId15"/>
    <p:sldId id="7971" r:id="rId16"/>
    <p:sldId id="1095" r:id="rId17"/>
    <p:sldId id="1096" r:id="rId18"/>
    <p:sldId id="1097" r:id="rId19"/>
    <p:sldId id="1098" r:id="rId20"/>
    <p:sldId id="7777" r:id="rId21"/>
    <p:sldId id="7778" r:id="rId22"/>
    <p:sldId id="7779" r:id="rId23"/>
    <p:sldId id="1099" r:id="rId24"/>
    <p:sldId id="791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45" autoAdjust="0"/>
    <p:restoredTop sz="94660"/>
  </p:normalViewPr>
  <p:slideViewPr>
    <p:cSldViewPr snapToGrid="0">
      <p:cViewPr varScale="1">
        <p:scale>
          <a:sx n="63" d="100"/>
          <a:sy n="63" d="100"/>
        </p:scale>
        <p:origin x="91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D40078-AFCE-465A-A122-999D68F1E40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6F1B6F7-B3F9-4420-B2BA-9967D8551F03}">
      <dgm:prSet custT="1"/>
      <dgm:spPr/>
      <dgm:t>
        <a:bodyPr/>
        <a:lstStyle/>
        <a:p>
          <a:r>
            <a:rPr lang="en-US" sz="1800"/>
            <a:t>Calculate miss rate of TLB for data:  # TLB misses / # TLB lookups</a:t>
          </a:r>
        </a:p>
      </dgm:t>
    </dgm:pt>
    <dgm:pt modelId="{8615A7A2-4666-4180-A8A7-D8FEA42A8A87}" type="parTrans" cxnId="{280E739F-9668-4BA4-B552-EFED4BBE8B5A}">
      <dgm:prSet/>
      <dgm:spPr/>
      <dgm:t>
        <a:bodyPr/>
        <a:lstStyle/>
        <a:p>
          <a:endParaRPr lang="en-US" sz="1800"/>
        </a:p>
      </dgm:t>
    </dgm:pt>
    <dgm:pt modelId="{BE201898-A4A5-4BD4-9DC7-96DF9F8E53DF}" type="sibTrans" cxnId="{280E739F-9668-4BA4-B552-EFED4BBE8B5A}">
      <dgm:prSet/>
      <dgm:spPr/>
      <dgm:t>
        <a:bodyPr/>
        <a:lstStyle/>
        <a:p>
          <a:endParaRPr lang="en-US" sz="1800"/>
        </a:p>
      </dgm:t>
    </dgm:pt>
    <dgm:pt modelId="{FE3BCE4E-3679-47B9-A948-1A810238FCC1}">
      <dgm:prSet custT="1"/>
      <dgm:spPr/>
      <dgm:t>
        <a:bodyPr/>
        <a:lstStyle/>
        <a:p>
          <a:r>
            <a:rPr lang="en-US" sz="1800"/>
            <a:t># TLB lookups?</a:t>
          </a:r>
        </a:p>
      </dgm:t>
    </dgm:pt>
    <dgm:pt modelId="{BE5320E3-452F-4217-AAAE-169EA579EA81}" type="parTrans" cxnId="{B7476494-F2FE-42A1-9E39-EA6E18C04C09}">
      <dgm:prSet/>
      <dgm:spPr/>
      <dgm:t>
        <a:bodyPr/>
        <a:lstStyle/>
        <a:p>
          <a:endParaRPr lang="en-US" sz="1800"/>
        </a:p>
      </dgm:t>
    </dgm:pt>
    <dgm:pt modelId="{AD019FF5-DF00-49AB-9AC4-2EF04DFC4E23}" type="sibTrans" cxnId="{B7476494-F2FE-42A1-9E39-EA6E18C04C09}">
      <dgm:prSet/>
      <dgm:spPr/>
      <dgm:t>
        <a:bodyPr/>
        <a:lstStyle/>
        <a:p>
          <a:endParaRPr lang="en-US" sz="1800"/>
        </a:p>
      </dgm:t>
    </dgm:pt>
    <dgm:pt modelId="{1EF10D50-20D2-4F0B-8476-C13C57A46B01}">
      <dgm:prSet custT="1"/>
      <dgm:spPr/>
      <dgm:t>
        <a:bodyPr/>
        <a:lstStyle/>
        <a:p>
          <a:r>
            <a:rPr lang="en-US" sz="1800"/>
            <a:t>= number of accesses to a = 2048</a:t>
          </a:r>
        </a:p>
      </dgm:t>
    </dgm:pt>
    <dgm:pt modelId="{54537403-7529-4295-926E-6F9F487DDB7B}" type="parTrans" cxnId="{6009C540-8365-41D2-9022-08558D557186}">
      <dgm:prSet/>
      <dgm:spPr/>
      <dgm:t>
        <a:bodyPr/>
        <a:lstStyle/>
        <a:p>
          <a:endParaRPr lang="en-US" sz="1800"/>
        </a:p>
      </dgm:t>
    </dgm:pt>
    <dgm:pt modelId="{CEE07ACA-F671-456E-A417-91E641D52A64}" type="sibTrans" cxnId="{6009C540-8365-41D2-9022-08558D557186}">
      <dgm:prSet/>
      <dgm:spPr/>
      <dgm:t>
        <a:bodyPr/>
        <a:lstStyle/>
        <a:p>
          <a:endParaRPr lang="en-US" sz="1800"/>
        </a:p>
      </dgm:t>
    </dgm:pt>
    <dgm:pt modelId="{5E3C362B-4613-4AAE-AAE5-C3DC04EADDB0}">
      <dgm:prSet custT="1"/>
      <dgm:spPr/>
      <dgm:t>
        <a:bodyPr/>
        <a:lstStyle/>
        <a:p>
          <a:r>
            <a:rPr lang="en-US" sz="1800"/>
            <a:t># TLB misses?</a:t>
          </a:r>
        </a:p>
      </dgm:t>
    </dgm:pt>
    <dgm:pt modelId="{ABFF0916-9AD7-4EF5-AF5B-7E6F4D8FB598}" type="parTrans" cxnId="{06D18002-89B5-4665-BDBE-9057848E25A5}">
      <dgm:prSet/>
      <dgm:spPr/>
      <dgm:t>
        <a:bodyPr/>
        <a:lstStyle/>
        <a:p>
          <a:endParaRPr lang="en-US" sz="1800"/>
        </a:p>
      </dgm:t>
    </dgm:pt>
    <dgm:pt modelId="{51029F2A-63D0-4E1B-BDF1-893101127971}" type="sibTrans" cxnId="{06D18002-89B5-4665-BDBE-9057848E25A5}">
      <dgm:prSet/>
      <dgm:spPr/>
      <dgm:t>
        <a:bodyPr/>
        <a:lstStyle/>
        <a:p>
          <a:endParaRPr lang="en-US" sz="1800"/>
        </a:p>
      </dgm:t>
    </dgm:pt>
    <dgm:pt modelId="{B4F4AD9F-48C2-418A-AD5E-706B93EFBC5C}">
      <dgm:prSet custT="1"/>
      <dgm:spPr/>
      <dgm:t>
        <a:bodyPr/>
        <a:lstStyle/>
        <a:p>
          <a:r>
            <a:rPr lang="en-US" sz="1800"/>
            <a:t>= number of unique pages accessed</a:t>
          </a:r>
        </a:p>
      </dgm:t>
    </dgm:pt>
    <dgm:pt modelId="{F35B08F7-39F4-4E37-9C6A-73FEBD6E3ED8}" type="parTrans" cxnId="{82F85EC3-29D9-4BD7-883C-E579E1FB902C}">
      <dgm:prSet/>
      <dgm:spPr/>
      <dgm:t>
        <a:bodyPr/>
        <a:lstStyle/>
        <a:p>
          <a:endParaRPr lang="en-US" sz="1800"/>
        </a:p>
      </dgm:t>
    </dgm:pt>
    <dgm:pt modelId="{319CF440-1064-495F-AF5A-8E9F265EC5E7}" type="sibTrans" cxnId="{82F85EC3-29D9-4BD7-883C-E579E1FB902C}">
      <dgm:prSet/>
      <dgm:spPr/>
      <dgm:t>
        <a:bodyPr/>
        <a:lstStyle/>
        <a:p>
          <a:endParaRPr lang="en-US" sz="1800"/>
        </a:p>
      </dgm:t>
    </dgm:pt>
    <dgm:pt modelId="{1C340010-3F4A-470C-AC4A-1E47EF5F54BC}">
      <dgm:prSet custT="1"/>
      <dgm:spPr/>
      <dgm:t>
        <a:bodyPr/>
        <a:lstStyle/>
        <a:p>
          <a:r>
            <a:rPr lang="en-US" sz="1800"/>
            <a:t>= 2048 / (elements of ‘a’ per 4K page)</a:t>
          </a:r>
        </a:p>
      </dgm:t>
    </dgm:pt>
    <dgm:pt modelId="{B46030B1-3B43-436F-8C4F-2A02A818F016}" type="parTrans" cxnId="{FB9155E3-44D3-4E74-A13A-9B4884979E0A}">
      <dgm:prSet/>
      <dgm:spPr/>
      <dgm:t>
        <a:bodyPr/>
        <a:lstStyle/>
        <a:p>
          <a:endParaRPr lang="en-US" sz="1800"/>
        </a:p>
      </dgm:t>
    </dgm:pt>
    <dgm:pt modelId="{E7EFCE47-B3DD-4AB7-BC3C-4E171F23FEA1}" type="sibTrans" cxnId="{FB9155E3-44D3-4E74-A13A-9B4884979E0A}">
      <dgm:prSet/>
      <dgm:spPr/>
      <dgm:t>
        <a:bodyPr/>
        <a:lstStyle/>
        <a:p>
          <a:endParaRPr lang="en-US" sz="1800"/>
        </a:p>
      </dgm:t>
    </dgm:pt>
    <dgm:pt modelId="{748F0916-7FEF-477E-B25D-3C075EBA3437}">
      <dgm:prSet custT="1"/>
      <dgm:spPr/>
      <dgm:t>
        <a:bodyPr/>
        <a:lstStyle/>
        <a:p>
          <a:r>
            <a:rPr lang="en-US" sz="1800"/>
            <a:t>= 2K / (4K / sizeof(int)) = 2K / 1K</a:t>
          </a:r>
        </a:p>
      </dgm:t>
    </dgm:pt>
    <dgm:pt modelId="{98CD06B6-FC3A-42EB-93E0-839DC3DC8451}" type="parTrans" cxnId="{9239BD17-CE22-4CEE-BC3F-E8B9426E886D}">
      <dgm:prSet/>
      <dgm:spPr/>
      <dgm:t>
        <a:bodyPr/>
        <a:lstStyle/>
        <a:p>
          <a:endParaRPr lang="en-US" sz="1800"/>
        </a:p>
      </dgm:t>
    </dgm:pt>
    <dgm:pt modelId="{3E1E5A39-9C9B-4612-A887-B7397D1DEC37}" type="sibTrans" cxnId="{9239BD17-CE22-4CEE-BC3F-E8B9426E886D}">
      <dgm:prSet/>
      <dgm:spPr/>
      <dgm:t>
        <a:bodyPr/>
        <a:lstStyle/>
        <a:p>
          <a:endParaRPr lang="en-US" sz="1800"/>
        </a:p>
      </dgm:t>
    </dgm:pt>
    <dgm:pt modelId="{6ECF4E8F-55C9-4764-A157-8983196B418A}">
      <dgm:prSet custT="1"/>
      <dgm:spPr/>
      <dgm:t>
        <a:bodyPr/>
        <a:lstStyle/>
        <a:p>
          <a:r>
            <a:rPr lang="en-US" sz="1800"/>
            <a:t>= 2</a:t>
          </a:r>
        </a:p>
      </dgm:t>
    </dgm:pt>
    <dgm:pt modelId="{DFDE0D21-8ED0-4589-8791-E5758B69E0A0}" type="parTrans" cxnId="{674C5E5E-15D9-4EA3-9B31-9CE8CA35A621}">
      <dgm:prSet/>
      <dgm:spPr/>
      <dgm:t>
        <a:bodyPr/>
        <a:lstStyle/>
        <a:p>
          <a:endParaRPr lang="en-US" sz="1800"/>
        </a:p>
      </dgm:t>
    </dgm:pt>
    <dgm:pt modelId="{B857D33C-FBB0-4F78-823D-6363D82D0F04}" type="sibTrans" cxnId="{674C5E5E-15D9-4EA3-9B31-9CE8CA35A621}">
      <dgm:prSet/>
      <dgm:spPr/>
      <dgm:t>
        <a:bodyPr/>
        <a:lstStyle/>
        <a:p>
          <a:endParaRPr lang="en-US" sz="1800"/>
        </a:p>
      </dgm:t>
    </dgm:pt>
    <dgm:pt modelId="{C43B6CB8-9646-43C1-9994-D4F3B940B230}">
      <dgm:prSet custT="1"/>
      <dgm:spPr/>
      <dgm:t>
        <a:bodyPr/>
        <a:lstStyle/>
        <a:p>
          <a:r>
            <a:rPr lang="en-US" sz="1800"/>
            <a:t>Miss rate?</a:t>
          </a:r>
        </a:p>
      </dgm:t>
    </dgm:pt>
    <dgm:pt modelId="{EE7170C8-9590-4D34-9644-97C87E0A9C05}" type="parTrans" cxnId="{A0E6DE39-491B-473D-A0E5-6D20034ADD3A}">
      <dgm:prSet/>
      <dgm:spPr/>
      <dgm:t>
        <a:bodyPr/>
        <a:lstStyle/>
        <a:p>
          <a:endParaRPr lang="en-US" sz="1800"/>
        </a:p>
      </dgm:t>
    </dgm:pt>
    <dgm:pt modelId="{5CC6EA72-3787-4782-AE0B-243D8493CD30}" type="sibTrans" cxnId="{A0E6DE39-491B-473D-A0E5-6D20034ADD3A}">
      <dgm:prSet/>
      <dgm:spPr/>
      <dgm:t>
        <a:bodyPr/>
        <a:lstStyle/>
        <a:p>
          <a:endParaRPr lang="en-US" sz="1800"/>
        </a:p>
      </dgm:t>
    </dgm:pt>
    <dgm:pt modelId="{FF636996-6E66-48CB-85E2-469A229241FE}">
      <dgm:prSet custT="1"/>
      <dgm:spPr/>
      <dgm:t>
        <a:bodyPr/>
        <a:lstStyle/>
        <a:p>
          <a:r>
            <a:rPr lang="en-US" sz="1800"/>
            <a:t>2/2048 = 0.1%</a:t>
          </a:r>
        </a:p>
      </dgm:t>
    </dgm:pt>
    <dgm:pt modelId="{1F1173D6-6A9D-4A26-9B46-21C18B69C226}" type="parTrans" cxnId="{3E990A05-F9D8-40E2-8E8C-0BD6CFF865DD}">
      <dgm:prSet/>
      <dgm:spPr/>
      <dgm:t>
        <a:bodyPr/>
        <a:lstStyle/>
        <a:p>
          <a:endParaRPr lang="en-US" sz="1800"/>
        </a:p>
      </dgm:t>
    </dgm:pt>
    <dgm:pt modelId="{8F97A737-0A0F-482C-A8E1-B783D6EFC6F5}" type="sibTrans" cxnId="{3E990A05-F9D8-40E2-8E8C-0BD6CFF865DD}">
      <dgm:prSet/>
      <dgm:spPr/>
      <dgm:t>
        <a:bodyPr/>
        <a:lstStyle/>
        <a:p>
          <a:endParaRPr lang="en-US" sz="1800"/>
        </a:p>
      </dgm:t>
    </dgm:pt>
    <dgm:pt modelId="{57824453-D03D-4284-8E11-2F1C555B8645}">
      <dgm:prSet custT="1"/>
      <dgm:spPr/>
      <dgm:t>
        <a:bodyPr/>
        <a:lstStyle/>
        <a:p>
          <a:r>
            <a:rPr lang="en-US" sz="1800"/>
            <a:t>Hit rate? (1 – miss rate)  99.9%</a:t>
          </a:r>
        </a:p>
      </dgm:t>
    </dgm:pt>
    <dgm:pt modelId="{B256911F-ED75-4F16-8BE3-F32CB06A8A65}" type="parTrans" cxnId="{4BDBE55C-139C-4E7E-9501-F86191702F98}">
      <dgm:prSet/>
      <dgm:spPr/>
      <dgm:t>
        <a:bodyPr/>
        <a:lstStyle/>
        <a:p>
          <a:endParaRPr lang="en-US" sz="1800"/>
        </a:p>
      </dgm:t>
    </dgm:pt>
    <dgm:pt modelId="{B5BD1403-DBB9-4E28-A16D-D087B1B7A919}" type="sibTrans" cxnId="{4BDBE55C-139C-4E7E-9501-F86191702F98}">
      <dgm:prSet/>
      <dgm:spPr/>
      <dgm:t>
        <a:bodyPr/>
        <a:lstStyle/>
        <a:p>
          <a:endParaRPr lang="en-US" sz="1800"/>
        </a:p>
      </dgm:t>
    </dgm:pt>
    <dgm:pt modelId="{D78B299C-29C1-49F1-B596-596C39EA4835}" type="pres">
      <dgm:prSet presAssocID="{76D40078-AFCE-465A-A122-999D68F1E40D}" presName="vert0" presStyleCnt="0">
        <dgm:presLayoutVars>
          <dgm:dir/>
          <dgm:animOne val="branch"/>
          <dgm:animLvl val="lvl"/>
        </dgm:presLayoutVars>
      </dgm:prSet>
      <dgm:spPr/>
    </dgm:pt>
    <dgm:pt modelId="{DCE5996B-CFD0-4255-A4F4-C3ECF0683F8F}" type="pres">
      <dgm:prSet presAssocID="{26F1B6F7-B3F9-4420-B2BA-9967D8551F03}" presName="thickLine" presStyleLbl="alignNode1" presStyleIdx="0" presStyleCnt="5"/>
      <dgm:spPr/>
    </dgm:pt>
    <dgm:pt modelId="{0184E207-650B-42A5-BA0B-851F0F4C0E7E}" type="pres">
      <dgm:prSet presAssocID="{26F1B6F7-B3F9-4420-B2BA-9967D8551F03}" presName="horz1" presStyleCnt="0"/>
      <dgm:spPr/>
    </dgm:pt>
    <dgm:pt modelId="{8F6E5277-FF83-4FF8-934F-21314101F311}" type="pres">
      <dgm:prSet presAssocID="{26F1B6F7-B3F9-4420-B2BA-9967D8551F03}" presName="tx1" presStyleLbl="revTx" presStyleIdx="0" presStyleCnt="11"/>
      <dgm:spPr/>
    </dgm:pt>
    <dgm:pt modelId="{C1205570-DC19-40C8-AA1D-330F1CFDED61}" type="pres">
      <dgm:prSet presAssocID="{26F1B6F7-B3F9-4420-B2BA-9967D8551F03}" presName="vert1" presStyleCnt="0"/>
      <dgm:spPr/>
    </dgm:pt>
    <dgm:pt modelId="{73FBB80B-279F-4042-97F6-44FFA128D6F6}" type="pres">
      <dgm:prSet presAssocID="{FE3BCE4E-3679-47B9-A948-1A810238FCC1}" presName="thickLine" presStyleLbl="alignNode1" presStyleIdx="1" presStyleCnt="5"/>
      <dgm:spPr/>
    </dgm:pt>
    <dgm:pt modelId="{B7028E9B-A64F-476C-BE34-B968D45C67FD}" type="pres">
      <dgm:prSet presAssocID="{FE3BCE4E-3679-47B9-A948-1A810238FCC1}" presName="horz1" presStyleCnt="0"/>
      <dgm:spPr/>
    </dgm:pt>
    <dgm:pt modelId="{B6E4FCE4-4DDD-4954-9CEC-93F0167E0FB8}" type="pres">
      <dgm:prSet presAssocID="{FE3BCE4E-3679-47B9-A948-1A810238FCC1}" presName="tx1" presStyleLbl="revTx" presStyleIdx="1" presStyleCnt="11"/>
      <dgm:spPr/>
    </dgm:pt>
    <dgm:pt modelId="{4E254A97-04C8-4B46-8080-B7B390134444}" type="pres">
      <dgm:prSet presAssocID="{FE3BCE4E-3679-47B9-A948-1A810238FCC1}" presName="vert1" presStyleCnt="0"/>
      <dgm:spPr/>
    </dgm:pt>
    <dgm:pt modelId="{2DBCFEE3-CC07-4C25-96BD-6864D14F7FDC}" type="pres">
      <dgm:prSet presAssocID="{1EF10D50-20D2-4F0B-8476-C13C57A46B01}" presName="vertSpace2a" presStyleCnt="0"/>
      <dgm:spPr/>
    </dgm:pt>
    <dgm:pt modelId="{49923FE9-684E-4A03-8FCF-15F3BD918C99}" type="pres">
      <dgm:prSet presAssocID="{1EF10D50-20D2-4F0B-8476-C13C57A46B01}" presName="horz2" presStyleCnt="0"/>
      <dgm:spPr/>
    </dgm:pt>
    <dgm:pt modelId="{85A439C5-7BB0-488F-802E-C1BF520552B9}" type="pres">
      <dgm:prSet presAssocID="{1EF10D50-20D2-4F0B-8476-C13C57A46B01}" presName="horzSpace2" presStyleCnt="0"/>
      <dgm:spPr/>
    </dgm:pt>
    <dgm:pt modelId="{669E26AC-DEB5-4741-84CB-F0D459DDECB7}" type="pres">
      <dgm:prSet presAssocID="{1EF10D50-20D2-4F0B-8476-C13C57A46B01}" presName="tx2" presStyleLbl="revTx" presStyleIdx="2" presStyleCnt="11"/>
      <dgm:spPr/>
    </dgm:pt>
    <dgm:pt modelId="{20026128-FCE8-4B3E-9F5E-8DC13593DED6}" type="pres">
      <dgm:prSet presAssocID="{1EF10D50-20D2-4F0B-8476-C13C57A46B01}" presName="vert2" presStyleCnt="0"/>
      <dgm:spPr/>
    </dgm:pt>
    <dgm:pt modelId="{C3B942DE-86A2-4EDB-A9D3-39340929C34E}" type="pres">
      <dgm:prSet presAssocID="{1EF10D50-20D2-4F0B-8476-C13C57A46B01}" presName="thinLine2b" presStyleLbl="callout" presStyleIdx="0" presStyleCnt="6"/>
      <dgm:spPr/>
    </dgm:pt>
    <dgm:pt modelId="{64543A40-FF45-42B8-A2F5-5A3396C94DC2}" type="pres">
      <dgm:prSet presAssocID="{1EF10D50-20D2-4F0B-8476-C13C57A46B01}" presName="vertSpace2b" presStyleCnt="0"/>
      <dgm:spPr/>
    </dgm:pt>
    <dgm:pt modelId="{9B40F3D2-6B0B-43EF-9116-1F6F148F0EFB}" type="pres">
      <dgm:prSet presAssocID="{5E3C362B-4613-4AAE-AAE5-C3DC04EADDB0}" presName="thickLine" presStyleLbl="alignNode1" presStyleIdx="2" presStyleCnt="5"/>
      <dgm:spPr/>
    </dgm:pt>
    <dgm:pt modelId="{5BA003D3-1AD3-4199-A104-225D31F2A9B6}" type="pres">
      <dgm:prSet presAssocID="{5E3C362B-4613-4AAE-AAE5-C3DC04EADDB0}" presName="horz1" presStyleCnt="0"/>
      <dgm:spPr/>
    </dgm:pt>
    <dgm:pt modelId="{7C9B290B-3CE6-4106-BB0A-A41B2D52BA51}" type="pres">
      <dgm:prSet presAssocID="{5E3C362B-4613-4AAE-AAE5-C3DC04EADDB0}" presName="tx1" presStyleLbl="revTx" presStyleIdx="3" presStyleCnt="11"/>
      <dgm:spPr/>
    </dgm:pt>
    <dgm:pt modelId="{2F6F2B81-2E72-46D4-86AA-411E364763B6}" type="pres">
      <dgm:prSet presAssocID="{5E3C362B-4613-4AAE-AAE5-C3DC04EADDB0}" presName="vert1" presStyleCnt="0"/>
      <dgm:spPr/>
    </dgm:pt>
    <dgm:pt modelId="{655DB035-C70E-40A8-B043-8D790EF4508D}" type="pres">
      <dgm:prSet presAssocID="{B4F4AD9F-48C2-418A-AD5E-706B93EFBC5C}" presName="vertSpace2a" presStyleCnt="0"/>
      <dgm:spPr/>
    </dgm:pt>
    <dgm:pt modelId="{6F7B3F31-1B41-472B-8435-73FF65A9C85C}" type="pres">
      <dgm:prSet presAssocID="{B4F4AD9F-48C2-418A-AD5E-706B93EFBC5C}" presName="horz2" presStyleCnt="0"/>
      <dgm:spPr/>
    </dgm:pt>
    <dgm:pt modelId="{ADD97C81-0125-4DAF-9DDD-FCF6B598EC25}" type="pres">
      <dgm:prSet presAssocID="{B4F4AD9F-48C2-418A-AD5E-706B93EFBC5C}" presName="horzSpace2" presStyleCnt="0"/>
      <dgm:spPr/>
    </dgm:pt>
    <dgm:pt modelId="{D2A33EC1-7602-4D60-BD25-3F2C58984B4C}" type="pres">
      <dgm:prSet presAssocID="{B4F4AD9F-48C2-418A-AD5E-706B93EFBC5C}" presName="tx2" presStyleLbl="revTx" presStyleIdx="4" presStyleCnt="11"/>
      <dgm:spPr/>
    </dgm:pt>
    <dgm:pt modelId="{4B29125B-E25B-4903-A723-3880E074F280}" type="pres">
      <dgm:prSet presAssocID="{B4F4AD9F-48C2-418A-AD5E-706B93EFBC5C}" presName="vert2" presStyleCnt="0"/>
      <dgm:spPr/>
    </dgm:pt>
    <dgm:pt modelId="{BF47A519-1192-4596-9739-675108705085}" type="pres">
      <dgm:prSet presAssocID="{B4F4AD9F-48C2-418A-AD5E-706B93EFBC5C}" presName="thinLine2b" presStyleLbl="callout" presStyleIdx="1" presStyleCnt="6"/>
      <dgm:spPr/>
    </dgm:pt>
    <dgm:pt modelId="{C62E8748-814C-4E46-9BAF-BA920B367FAF}" type="pres">
      <dgm:prSet presAssocID="{B4F4AD9F-48C2-418A-AD5E-706B93EFBC5C}" presName="vertSpace2b" presStyleCnt="0"/>
      <dgm:spPr/>
    </dgm:pt>
    <dgm:pt modelId="{01FCF7BE-21F1-477F-ABD7-D1C95BA4F9DF}" type="pres">
      <dgm:prSet presAssocID="{1C340010-3F4A-470C-AC4A-1E47EF5F54BC}" presName="horz2" presStyleCnt="0"/>
      <dgm:spPr/>
    </dgm:pt>
    <dgm:pt modelId="{12BDEDA1-6978-4735-95A0-49A893391D84}" type="pres">
      <dgm:prSet presAssocID="{1C340010-3F4A-470C-AC4A-1E47EF5F54BC}" presName="horzSpace2" presStyleCnt="0"/>
      <dgm:spPr/>
    </dgm:pt>
    <dgm:pt modelId="{F9A7F4DC-0599-4275-92E8-4762A81A170C}" type="pres">
      <dgm:prSet presAssocID="{1C340010-3F4A-470C-AC4A-1E47EF5F54BC}" presName="tx2" presStyleLbl="revTx" presStyleIdx="5" presStyleCnt="11"/>
      <dgm:spPr/>
    </dgm:pt>
    <dgm:pt modelId="{BD967BB1-4648-423E-A82D-8A82DCF75E78}" type="pres">
      <dgm:prSet presAssocID="{1C340010-3F4A-470C-AC4A-1E47EF5F54BC}" presName="vert2" presStyleCnt="0"/>
      <dgm:spPr/>
    </dgm:pt>
    <dgm:pt modelId="{763BB05A-6328-42C2-A6EB-C1D4F637AE1B}" type="pres">
      <dgm:prSet presAssocID="{1C340010-3F4A-470C-AC4A-1E47EF5F54BC}" presName="thinLine2b" presStyleLbl="callout" presStyleIdx="2" presStyleCnt="6"/>
      <dgm:spPr/>
    </dgm:pt>
    <dgm:pt modelId="{7ADE9E31-4A42-4C00-9CC9-30921B94E218}" type="pres">
      <dgm:prSet presAssocID="{1C340010-3F4A-470C-AC4A-1E47EF5F54BC}" presName="vertSpace2b" presStyleCnt="0"/>
      <dgm:spPr/>
    </dgm:pt>
    <dgm:pt modelId="{C388B578-32D4-47D9-9A83-D5D13C587593}" type="pres">
      <dgm:prSet presAssocID="{748F0916-7FEF-477E-B25D-3C075EBA3437}" presName="horz2" presStyleCnt="0"/>
      <dgm:spPr/>
    </dgm:pt>
    <dgm:pt modelId="{1DC21ABA-18E3-48B1-B003-A17473FDA64D}" type="pres">
      <dgm:prSet presAssocID="{748F0916-7FEF-477E-B25D-3C075EBA3437}" presName="horzSpace2" presStyleCnt="0"/>
      <dgm:spPr/>
    </dgm:pt>
    <dgm:pt modelId="{9969C8D5-1E28-47E7-BFC1-5B7F9E5C9599}" type="pres">
      <dgm:prSet presAssocID="{748F0916-7FEF-477E-B25D-3C075EBA3437}" presName="tx2" presStyleLbl="revTx" presStyleIdx="6" presStyleCnt="11"/>
      <dgm:spPr/>
    </dgm:pt>
    <dgm:pt modelId="{6C426C52-5C67-47D3-9948-7C5344045C3E}" type="pres">
      <dgm:prSet presAssocID="{748F0916-7FEF-477E-B25D-3C075EBA3437}" presName="vert2" presStyleCnt="0"/>
      <dgm:spPr/>
    </dgm:pt>
    <dgm:pt modelId="{C2A7FA6F-C6A2-4E34-8A62-A0ED92737782}" type="pres">
      <dgm:prSet presAssocID="{748F0916-7FEF-477E-B25D-3C075EBA3437}" presName="thinLine2b" presStyleLbl="callout" presStyleIdx="3" presStyleCnt="6"/>
      <dgm:spPr/>
    </dgm:pt>
    <dgm:pt modelId="{7D6B3108-B99E-4186-B704-94DE3BD990F0}" type="pres">
      <dgm:prSet presAssocID="{748F0916-7FEF-477E-B25D-3C075EBA3437}" presName="vertSpace2b" presStyleCnt="0"/>
      <dgm:spPr/>
    </dgm:pt>
    <dgm:pt modelId="{287272A0-D2E2-4457-AEE0-E73ECC89C6F8}" type="pres">
      <dgm:prSet presAssocID="{6ECF4E8F-55C9-4764-A157-8983196B418A}" presName="horz2" presStyleCnt="0"/>
      <dgm:spPr/>
    </dgm:pt>
    <dgm:pt modelId="{9D217DF5-E842-4F3D-AF14-062EB054CD21}" type="pres">
      <dgm:prSet presAssocID="{6ECF4E8F-55C9-4764-A157-8983196B418A}" presName="horzSpace2" presStyleCnt="0"/>
      <dgm:spPr/>
    </dgm:pt>
    <dgm:pt modelId="{B83A3AEA-E860-44D8-B652-E23E85CF3669}" type="pres">
      <dgm:prSet presAssocID="{6ECF4E8F-55C9-4764-A157-8983196B418A}" presName="tx2" presStyleLbl="revTx" presStyleIdx="7" presStyleCnt="11"/>
      <dgm:spPr/>
    </dgm:pt>
    <dgm:pt modelId="{4C6E0F42-24AC-498E-943E-A3E85D035C69}" type="pres">
      <dgm:prSet presAssocID="{6ECF4E8F-55C9-4764-A157-8983196B418A}" presName="vert2" presStyleCnt="0"/>
      <dgm:spPr/>
    </dgm:pt>
    <dgm:pt modelId="{543D3DE3-E005-4872-95B0-ED67FB4FE76E}" type="pres">
      <dgm:prSet presAssocID="{6ECF4E8F-55C9-4764-A157-8983196B418A}" presName="thinLine2b" presStyleLbl="callout" presStyleIdx="4" presStyleCnt="6"/>
      <dgm:spPr/>
    </dgm:pt>
    <dgm:pt modelId="{C234A79A-A5F6-41FF-AAE1-394EDF7134E0}" type="pres">
      <dgm:prSet presAssocID="{6ECF4E8F-55C9-4764-A157-8983196B418A}" presName="vertSpace2b" presStyleCnt="0"/>
      <dgm:spPr/>
    </dgm:pt>
    <dgm:pt modelId="{22B6CE71-54C6-4F10-A5BF-B9D0341D54D1}" type="pres">
      <dgm:prSet presAssocID="{C43B6CB8-9646-43C1-9994-D4F3B940B230}" presName="thickLine" presStyleLbl="alignNode1" presStyleIdx="3" presStyleCnt="5"/>
      <dgm:spPr/>
    </dgm:pt>
    <dgm:pt modelId="{F47FA314-2D11-41D9-92A8-D2E431EC7B2E}" type="pres">
      <dgm:prSet presAssocID="{C43B6CB8-9646-43C1-9994-D4F3B940B230}" presName="horz1" presStyleCnt="0"/>
      <dgm:spPr/>
    </dgm:pt>
    <dgm:pt modelId="{5C2E2FD6-4F28-4D88-8FD4-57223D91716D}" type="pres">
      <dgm:prSet presAssocID="{C43B6CB8-9646-43C1-9994-D4F3B940B230}" presName="tx1" presStyleLbl="revTx" presStyleIdx="8" presStyleCnt="11"/>
      <dgm:spPr/>
    </dgm:pt>
    <dgm:pt modelId="{0F451A54-1EE6-44A6-9BE0-428EE482BA8B}" type="pres">
      <dgm:prSet presAssocID="{C43B6CB8-9646-43C1-9994-D4F3B940B230}" presName="vert1" presStyleCnt="0"/>
      <dgm:spPr/>
    </dgm:pt>
    <dgm:pt modelId="{CF7C8C71-581A-489B-9BEF-3C8DBDC3054D}" type="pres">
      <dgm:prSet presAssocID="{FF636996-6E66-48CB-85E2-469A229241FE}" presName="vertSpace2a" presStyleCnt="0"/>
      <dgm:spPr/>
    </dgm:pt>
    <dgm:pt modelId="{8D7B1529-2519-4B7B-AF00-11A0C8850D4B}" type="pres">
      <dgm:prSet presAssocID="{FF636996-6E66-48CB-85E2-469A229241FE}" presName="horz2" presStyleCnt="0"/>
      <dgm:spPr/>
    </dgm:pt>
    <dgm:pt modelId="{03225862-6344-455A-A25D-F0AAE463C835}" type="pres">
      <dgm:prSet presAssocID="{FF636996-6E66-48CB-85E2-469A229241FE}" presName="horzSpace2" presStyleCnt="0"/>
      <dgm:spPr/>
    </dgm:pt>
    <dgm:pt modelId="{759D4AA3-53D7-43E8-BFFD-C46D003792B3}" type="pres">
      <dgm:prSet presAssocID="{FF636996-6E66-48CB-85E2-469A229241FE}" presName="tx2" presStyleLbl="revTx" presStyleIdx="9" presStyleCnt="11"/>
      <dgm:spPr/>
    </dgm:pt>
    <dgm:pt modelId="{DD20B5D0-71A1-4526-B7B8-9B39D9A1CA84}" type="pres">
      <dgm:prSet presAssocID="{FF636996-6E66-48CB-85E2-469A229241FE}" presName="vert2" presStyleCnt="0"/>
      <dgm:spPr/>
    </dgm:pt>
    <dgm:pt modelId="{7AE77301-74FF-4F75-A3C7-4A69F4A8F137}" type="pres">
      <dgm:prSet presAssocID="{FF636996-6E66-48CB-85E2-469A229241FE}" presName="thinLine2b" presStyleLbl="callout" presStyleIdx="5" presStyleCnt="6"/>
      <dgm:spPr/>
    </dgm:pt>
    <dgm:pt modelId="{B74ADA57-B2D6-45E1-B551-755A6EC2F5BD}" type="pres">
      <dgm:prSet presAssocID="{FF636996-6E66-48CB-85E2-469A229241FE}" presName="vertSpace2b" presStyleCnt="0"/>
      <dgm:spPr/>
    </dgm:pt>
    <dgm:pt modelId="{DE2191DC-E38D-4398-A886-6E398FF33BAA}" type="pres">
      <dgm:prSet presAssocID="{57824453-D03D-4284-8E11-2F1C555B8645}" presName="thickLine" presStyleLbl="alignNode1" presStyleIdx="4" presStyleCnt="5"/>
      <dgm:spPr/>
    </dgm:pt>
    <dgm:pt modelId="{347B3F25-1F92-4EA0-B547-952C46CC84C7}" type="pres">
      <dgm:prSet presAssocID="{57824453-D03D-4284-8E11-2F1C555B8645}" presName="horz1" presStyleCnt="0"/>
      <dgm:spPr/>
    </dgm:pt>
    <dgm:pt modelId="{C2986A4F-59DF-4AA9-9CF0-9BEF4CF69A3C}" type="pres">
      <dgm:prSet presAssocID="{57824453-D03D-4284-8E11-2F1C555B8645}" presName="tx1" presStyleLbl="revTx" presStyleIdx="10" presStyleCnt="11"/>
      <dgm:spPr/>
    </dgm:pt>
    <dgm:pt modelId="{2148F629-B748-48CA-97AB-4DDA1AA85085}" type="pres">
      <dgm:prSet presAssocID="{57824453-D03D-4284-8E11-2F1C555B8645}" presName="vert1" presStyleCnt="0"/>
      <dgm:spPr/>
    </dgm:pt>
  </dgm:ptLst>
  <dgm:cxnLst>
    <dgm:cxn modelId="{06D18002-89B5-4665-BDBE-9057848E25A5}" srcId="{76D40078-AFCE-465A-A122-999D68F1E40D}" destId="{5E3C362B-4613-4AAE-AAE5-C3DC04EADDB0}" srcOrd="2" destOrd="0" parTransId="{ABFF0916-9AD7-4EF5-AF5B-7E6F4D8FB598}" sibTransId="{51029F2A-63D0-4E1B-BDF1-893101127971}"/>
    <dgm:cxn modelId="{3E990A05-F9D8-40E2-8E8C-0BD6CFF865DD}" srcId="{C43B6CB8-9646-43C1-9994-D4F3B940B230}" destId="{FF636996-6E66-48CB-85E2-469A229241FE}" srcOrd="0" destOrd="0" parTransId="{1F1173D6-6A9D-4A26-9B46-21C18B69C226}" sibTransId="{8F97A737-0A0F-482C-A8E1-B783D6EFC6F5}"/>
    <dgm:cxn modelId="{71D3AB16-684B-42DB-ABCC-180AE4B573D4}" type="presOf" srcId="{5E3C362B-4613-4AAE-AAE5-C3DC04EADDB0}" destId="{7C9B290B-3CE6-4106-BB0A-A41B2D52BA51}" srcOrd="0" destOrd="0" presId="urn:microsoft.com/office/officeart/2008/layout/LinedList"/>
    <dgm:cxn modelId="{9239BD17-CE22-4CEE-BC3F-E8B9426E886D}" srcId="{5E3C362B-4613-4AAE-AAE5-C3DC04EADDB0}" destId="{748F0916-7FEF-477E-B25D-3C075EBA3437}" srcOrd="2" destOrd="0" parTransId="{98CD06B6-FC3A-42EB-93E0-839DC3DC8451}" sibTransId="{3E1E5A39-9C9B-4612-A887-B7397D1DEC37}"/>
    <dgm:cxn modelId="{7C0AA621-3121-40A9-A210-420B3441D691}" type="presOf" srcId="{6ECF4E8F-55C9-4764-A157-8983196B418A}" destId="{B83A3AEA-E860-44D8-B652-E23E85CF3669}" srcOrd="0" destOrd="0" presId="urn:microsoft.com/office/officeart/2008/layout/LinedList"/>
    <dgm:cxn modelId="{B0EB9E23-531F-4992-8AB0-D4E4795F648D}" type="presOf" srcId="{1EF10D50-20D2-4F0B-8476-C13C57A46B01}" destId="{669E26AC-DEB5-4741-84CB-F0D459DDECB7}" srcOrd="0" destOrd="0" presId="urn:microsoft.com/office/officeart/2008/layout/LinedList"/>
    <dgm:cxn modelId="{67640B32-EE4F-424F-AE70-19F0E710EA0B}" type="presOf" srcId="{1C340010-3F4A-470C-AC4A-1E47EF5F54BC}" destId="{F9A7F4DC-0599-4275-92E8-4762A81A170C}" srcOrd="0" destOrd="0" presId="urn:microsoft.com/office/officeart/2008/layout/LinedList"/>
    <dgm:cxn modelId="{A0E6DE39-491B-473D-A0E5-6D20034ADD3A}" srcId="{76D40078-AFCE-465A-A122-999D68F1E40D}" destId="{C43B6CB8-9646-43C1-9994-D4F3B940B230}" srcOrd="3" destOrd="0" parTransId="{EE7170C8-9590-4D34-9644-97C87E0A9C05}" sibTransId="{5CC6EA72-3787-4782-AE0B-243D8493CD30}"/>
    <dgm:cxn modelId="{6009C540-8365-41D2-9022-08558D557186}" srcId="{FE3BCE4E-3679-47B9-A948-1A810238FCC1}" destId="{1EF10D50-20D2-4F0B-8476-C13C57A46B01}" srcOrd="0" destOrd="0" parTransId="{54537403-7529-4295-926E-6F9F487DDB7B}" sibTransId="{CEE07ACA-F671-456E-A417-91E641D52A64}"/>
    <dgm:cxn modelId="{4BDBE55C-139C-4E7E-9501-F86191702F98}" srcId="{76D40078-AFCE-465A-A122-999D68F1E40D}" destId="{57824453-D03D-4284-8E11-2F1C555B8645}" srcOrd="4" destOrd="0" parTransId="{B256911F-ED75-4F16-8BE3-F32CB06A8A65}" sibTransId="{B5BD1403-DBB9-4E28-A16D-D087B1B7A919}"/>
    <dgm:cxn modelId="{674C5E5E-15D9-4EA3-9B31-9CE8CA35A621}" srcId="{5E3C362B-4613-4AAE-AAE5-C3DC04EADDB0}" destId="{6ECF4E8F-55C9-4764-A157-8983196B418A}" srcOrd="3" destOrd="0" parTransId="{DFDE0D21-8ED0-4589-8791-E5758B69E0A0}" sibTransId="{B857D33C-FBB0-4F78-823D-6363D82D0F04}"/>
    <dgm:cxn modelId="{EB9B7061-4D9B-4732-9C41-20F23EF8A38F}" type="presOf" srcId="{748F0916-7FEF-477E-B25D-3C075EBA3437}" destId="{9969C8D5-1E28-47E7-BFC1-5B7F9E5C9599}" srcOrd="0" destOrd="0" presId="urn:microsoft.com/office/officeart/2008/layout/LinedList"/>
    <dgm:cxn modelId="{7165A666-419F-40D7-9736-82594E5B2317}" type="presOf" srcId="{FE3BCE4E-3679-47B9-A948-1A810238FCC1}" destId="{B6E4FCE4-4DDD-4954-9CEC-93F0167E0FB8}" srcOrd="0" destOrd="0" presId="urn:microsoft.com/office/officeart/2008/layout/LinedList"/>
    <dgm:cxn modelId="{0B334C54-DE56-4FB8-89A5-7572DDA5CADF}" type="presOf" srcId="{B4F4AD9F-48C2-418A-AD5E-706B93EFBC5C}" destId="{D2A33EC1-7602-4D60-BD25-3F2C58984B4C}" srcOrd="0" destOrd="0" presId="urn:microsoft.com/office/officeart/2008/layout/LinedList"/>
    <dgm:cxn modelId="{4C435977-6787-4DA1-A26F-95D8F4CA7B04}" type="presOf" srcId="{C43B6CB8-9646-43C1-9994-D4F3B940B230}" destId="{5C2E2FD6-4F28-4D88-8FD4-57223D91716D}" srcOrd="0" destOrd="0" presId="urn:microsoft.com/office/officeart/2008/layout/LinedList"/>
    <dgm:cxn modelId="{20A8C97A-3801-40BA-8F07-7C191EB43438}" type="presOf" srcId="{76D40078-AFCE-465A-A122-999D68F1E40D}" destId="{D78B299C-29C1-49F1-B596-596C39EA4835}" srcOrd="0" destOrd="0" presId="urn:microsoft.com/office/officeart/2008/layout/LinedList"/>
    <dgm:cxn modelId="{D5D7BD84-3115-4AAC-9B4A-38130878F72D}" type="presOf" srcId="{FF636996-6E66-48CB-85E2-469A229241FE}" destId="{759D4AA3-53D7-43E8-BFFD-C46D003792B3}" srcOrd="0" destOrd="0" presId="urn:microsoft.com/office/officeart/2008/layout/LinedList"/>
    <dgm:cxn modelId="{B7476494-F2FE-42A1-9E39-EA6E18C04C09}" srcId="{76D40078-AFCE-465A-A122-999D68F1E40D}" destId="{FE3BCE4E-3679-47B9-A948-1A810238FCC1}" srcOrd="1" destOrd="0" parTransId="{BE5320E3-452F-4217-AAAE-169EA579EA81}" sibTransId="{AD019FF5-DF00-49AB-9AC4-2EF04DFC4E23}"/>
    <dgm:cxn modelId="{280E739F-9668-4BA4-B552-EFED4BBE8B5A}" srcId="{76D40078-AFCE-465A-A122-999D68F1E40D}" destId="{26F1B6F7-B3F9-4420-B2BA-9967D8551F03}" srcOrd="0" destOrd="0" parTransId="{8615A7A2-4666-4180-A8A7-D8FEA42A8A87}" sibTransId="{BE201898-A4A5-4BD4-9DC7-96DF9F8E53DF}"/>
    <dgm:cxn modelId="{8DEB4BB1-687D-4522-9A93-CA2189B984D8}" type="presOf" srcId="{57824453-D03D-4284-8E11-2F1C555B8645}" destId="{C2986A4F-59DF-4AA9-9CF0-9BEF4CF69A3C}" srcOrd="0" destOrd="0" presId="urn:microsoft.com/office/officeart/2008/layout/LinedList"/>
    <dgm:cxn modelId="{82F85EC3-29D9-4BD7-883C-E579E1FB902C}" srcId="{5E3C362B-4613-4AAE-AAE5-C3DC04EADDB0}" destId="{B4F4AD9F-48C2-418A-AD5E-706B93EFBC5C}" srcOrd="0" destOrd="0" parTransId="{F35B08F7-39F4-4E37-9C6A-73FEBD6E3ED8}" sibTransId="{319CF440-1064-495F-AF5A-8E9F265EC5E7}"/>
    <dgm:cxn modelId="{FB9155E3-44D3-4E74-A13A-9B4884979E0A}" srcId="{5E3C362B-4613-4AAE-AAE5-C3DC04EADDB0}" destId="{1C340010-3F4A-470C-AC4A-1E47EF5F54BC}" srcOrd="1" destOrd="0" parTransId="{B46030B1-3B43-436F-8C4F-2A02A818F016}" sibTransId="{E7EFCE47-B3DD-4AB7-BC3C-4E171F23FEA1}"/>
    <dgm:cxn modelId="{F3BC1DE9-9348-4677-B7FF-CB4E1D1FA10E}" type="presOf" srcId="{26F1B6F7-B3F9-4420-B2BA-9967D8551F03}" destId="{8F6E5277-FF83-4FF8-934F-21314101F311}" srcOrd="0" destOrd="0" presId="urn:microsoft.com/office/officeart/2008/layout/LinedList"/>
    <dgm:cxn modelId="{84A9E1A8-2EBE-4567-8FF2-114B83461418}" type="presParOf" srcId="{D78B299C-29C1-49F1-B596-596C39EA4835}" destId="{DCE5996B-CFD0-4255-A4F4-C3ECF0683F8F}" srcOrd="0" destOrd="0" presId="urn:microsoft.com/office/officeart/2008/layout/LinedList"/>
    <dgm:cxn modelId="{F04318AB-A2D6-4456-BAFD-D09011AE2805}" type="presParOf" srcId="{D78B299C-29C1-49F1-B596-596C39EA4835}" destId="{0184E207-650B-42A5-BA0B-851F0F4C0E7E}" srcOrd="1" destOrd="0" presId="urn:microsoft.com/office/officeart/2008/layout/LinedList"/>
    <dgm:cxn modelId="{FF8C37B8-93B4-4E44-A268-51B603806763}" type="presParOf" srcId="{0184E207-650B-42A5-BA0B-851F0F4C0E7E}" destId="{8F6E5277-FF83-4FF8-934F-21314101F311}" srcOrd="0" destOrd="0" presId="urn:microsoft.com/office/officeart/2008/layout/LinedList"/>
    <dgm:cxn modelId="{65B35E26-430A-4965-9699-BBC83ECD530D}" type="presParOf" srcId="{0184E207-650B-42A5-BA0B-851F0F4C0E7E}" destId="{C1205570-DC19-40C8-AA1D-330F1CFDED61}" srcOrd="1" destOrd="0" presId="urn:microsoft.com/office/officeart/2008/layout/LinedList"/>
    <dgm:cxn modelId="{B127138F-E4C1-4D7E-B601-1370A0B2D370}" type="presParOf" srcId="{D78B299C-29C1-49F1-B596-596C39EA4835}" destId="{73FBB80B-279F-4042-97F6-44FFA128D6F6}" srcOrd="2" destOrd="0" presId="urn:microsoft.com/office/officeart/2008/layout/LinedList"/>
    <dgm:cxn modelId="{61368C20-88B5-4468-94AF-BD4794B2BEDB}" type="presParOf" srcId="{D78B299C-29C1-49F1-B596-596C39EA4835}" destId="{B7028E9B-A64F-476C-BE34-B968D45C67FD}" srcOrd="3" destOrd="0" presId="urn:microsoft.com/office/officeart/2008/layout/LinedList"/>
    <dgm:cxn modelId="{62EBE943-FF4C-4A4F-A8C5-00FD5DEF8ECB}" type="presParOf" srcId="{B7028E9B-A64F-476C-BE34-B968D45C67FD}" destId="{B6E4FCE4-4DDD-4954-9CEC-93F0167E0FB8}" srcOrd="0" destOrd="0" presId="urn:microsoft.com/office/officeart/2008/layout/LinedList"/>
    <dgm:cxn modelId="{6BE63BB8-977F-4E26-95BB-AE78091A947E}" type="presParOf" srcId="{B7028E9B-A64F-476C-BE34-B968D45C67FD}" destId="{4E254A97-04C8-4B46-8080-B7B390134444}" srcOrd="1" destOrd="0" presId="urn:microsoft.com/office/officeart/2008/layout/LinedList"/>
    <dgm:cxn modelId="{CC727EBE-29A9-4C82-9B86-DF17DE8080EA}" type="presParOf" srcId="{4E254A97-04C8-4B46-8080-B7B390134444}" destId="{2DBCFEE3-CC07-4C25-96BD-6864D14F7FDC}" srcOrd="0" destOrd="0" presId="urn:microsoft.com/office/officeart/2008/layout/LinedList"/>
    <dgm:cxn modelId="{9365D2D2-96BB-420F-8F0D-AD757E542384}" type="presParOf" srcId="{4E254A97-04C8-4B46-8080-B7B390134444}" destId="{49923FE9-684E-4A03-8FCF-15F3BD918C99}" srcOrd="1" destOrd="0" presId="urn:microsoft.com/office/officeart/2008/layout/LinedList"/>
    <dgm:cxn modelId="{03E71231-34C5-4FE8-9498-958F1CAA103A}" type="presParOf" srcId="{49923FE9-684E-4A03-8FCF-15F3BD918C99}" destId="{85A439C5-7BB0-488F-802E-C1BF520552B9}" srcOrd="0" destOrd="0" presId="urn:microsoft.com/office/officeart/2008/layout/LinedList"/>
    <dgm:cxn modelId="{2A6075D8-0EB3-47B3-8329-164AA3AC8C7D}" type="presParOf" srcId="{49923FE9-684E-4A03-8FCF-15F3BD918C99}" destId="{669E26AC-DEB5-4741-84CB-F0D459DDECB7}" srcOrd="1" destOrd="0" presId="urn:microsoft.com/office/officeart/2008/layout/LinedList"/>
    <dgm:cxn modelId="{501ABE58-9515-4EB6-A9C0-EFC817D3C603}" type="presParOf" srcId="{49923FE9-684E-4A03-8FCF-15F3BD918C99}" destId="{20026128-FCE8-4B3E-9F5E-8DC13593DED6}" srcOrd="2" destOrd="0" presId="urn:microsoft.com/office/officeart/2008/layout/LinedList"/>
    <dgm:cxn modelId="{9AC44072-3FF1-4E45-9938-A77D3E2A6396}" type="presParOf" srcId="{4E254A97-04C8-4B46-8080-B7B390134444}" destId="{C3B942DE-86A2-4EDB-A9D3-39340929C34E}" srcOrd="2" destOrd="0" presId="urn:microsoft.com/office/officeart/2008/layout/LinedList"/>
    <dgm:cxn modelId="{7148967F-07C8-4AD7-B6C4-ADBBB9F0E851}" type="presParOf" srcId="{4E254A97-04C8-4B46-8080-B7B390134444}" destId="{64543A40-FF45-42B8-A2F5-5A3396C94DC2}" srcOrd="3" destOrd="0" presId="urn:microsoft.com/office/officeart/2008/layout/LinedList"/>
    <dgm:cxn modelId="{9B6D4982-185D-461F-AAD6-865881FA2E3B}" type="presParOf" srcId="{D78B299C-29C1-49F1-B596-596C39EA4835}" destId="{9B40F3D2-6B0B-43EF-9116-1F6F148F0EFB}" srcOrd="4" destOrd="0" presId="urn:microsoft.com/office/officeart/2008/layout/LinedList"/>
    <dgm:cxn modelId="{56E9127A-C67A-40B0-9289-1FC3DF836852}" type="presParOf" srcId="{D78B299C-29C1-49F1-B596-596C39EA4835}" destId="{5BA003D3-1AD3-4199-A104-225D31F2A9B6}" srcOrd="5" destOrd="0" presId="urn:microsoft.com/office/officeart/2008/layout/LinedList"/>
    <dgm:cxn modelId="{292DD69F-CAD1-4A6E-A0AA-66BAE65B6390}" type="presParOf" srcId="{5BA003D3-1AD3-4199-A104-225D31F2A9B6}" destId="{7C9B290B-3CE6-4106-BB0A-A41B2D52BA51}" srcOrd="0" destOrd="0" presId="urn:microsoft.com/office/officeart/2008/layout/LinedList"/>
    <dgm:cxn modelId="{9B2C3851-C801-4B2B-8E15-17C96D6E825E}" type="presParOf" srcId="{5BA003D3-1AD3-4199-A104-225D31F2A9B6}" destId="{2F6F2B81-2E72-46D4-86AA-411E364763B6}" srcOrd="1" destOrd="0" presId="urn:microsoft.com/office/officeart/2008/layout/LinedList"/>
    <dgm:cxn modelId="{4B5E7EFA-8BCE-4CCD-92C3-44B87C8AAE9E}" type="presParOf" srcId="{2F6F2B81-2E72-46D4-86AA-411E364763B6}" destId="{655DB035-C70E-40A8-B043-8D790EF4508D}" srcOrd="0" destOrd="0" presId="urn:microsoft.com/office/officeart/2008/layout/LinedList"/>
    <dgm:cxn modelId="{C20EB7DF-F14A-4525-939B-F6EEAB994695}" type="presParOf" srcId="{2F6F2B81-2E72-46D4-86AA-411E364763B6}" destId="{6F7B3F31-1B41-472B-8435-73FF65A9C85C}" srcOrd="1" destOrd="0" presId="urn:microsoft.com/office/officeart/2008/layout/LinedList"/>
    <dgm:cxn modelId="{A7573A7E-0AB2-4113-B57D-6FCF16CC5A66}" type="presParOf" srcId="{6F7B3F31-1B41-472B-8435-73FF65A9C85C}" destId="{ADD97C81-0125-4DAF-9DDD-FCF6B598EC25}" srcOrd="0" destOrd="0" presId="urn:microsoft.com/office/officeart/2008/layout/LinedList"/>
    <dgm:cxn modelId="{F7FCDD3D-955A-438F-96EF-56A772F3AB80}" type="presParOf" srcId="{6F7B3F31-1B41-472B-8435-73FF65A9C85C}" destId="{D2A33EC1-7602-4D60-BD25-3F2C58984B4C}" srcOrd="1" destOrd="0" presId="urn:microsoft.com/office/officeart/2008/layout/LinedList"/>
    <dgm:cxn modelId="{F09E3309-64BA-4BA3-BD7F-AD2AA983987E}" type="presParOf" srcId="{6F7B3F31-1B41-472B-8435-73FF65A9C85C}" destId="{4B29125B-E25B-4903-A723-3880E074F280}" srcOrd="2" destOrd="0" presId="urn:microsoft.com/office/officeart/2008/layout/LinedList"/>
    <dgm:cxn modelId="{674531E8-F532-412C-8CFE-F63ECCF9E1F6}" type="presParOf" srcId="{2F6F2B81-2E72-46D4-86AA-411E364763B6}" destId="{BF47A519-1192-4596-9739-675108705085}" srcOrd="2" destOrd="0" presId="urn:microsoft.com/office/officeart/2008/layout/LinedList"/>
    <dgm:cxn modelId="{3A4DF99E-A6FE-4512-BB32-75BD7628AB2D}" type="presParOf" srcId="{2F6F2B81-2E72-46D4-86AA-411E364763B6}" destId="{C62E8748-814C-4E46-9BAF-BA920B367FAF}" srcOrd="3" destOrd="0" presId="urn:microsoft.com/office/officeart/2008/layout/LinedList"/>
    <dgm:cxn modelId="{73F26268-2713-4E6A-ABBE-6280596E6825}" type="presParOf" srcId="{2F6F2B81-2E72-46D4-86AA-411E364763B6}" destId="{01FCF7BE-21F1-477F-ABD7-D1C95BA4F9DF}" srcOrd="4" destOrd="0" presId="urn:microsoft.com/office/officeart/2008/layout/LinedList"/>
    <dgm:cxn modelId="{CE96275A-D516-43B2-874A-E02E64C02304}" type="presParOf" srcId="{01FCF7BE-21F1-477F-ABD7-D1C95BA4F9DF}" destId="{12BDEDA1-6978-4735-95A0-49A893391D84}" srcOrd="0" destOrd="0" presId="urn:microsoft.com/office/officeart/2008/layout/LinedList"/>
    <dgm:cxn modelId="{9B0AF781-767F-432B-B5B2-8DCF952411DD}" type="presParOf" srcId="{01FCF7BE-21F1-477F-ABD7-D1C95BA4F9DF}" destId="{F9A7F4DC-0599-4275-92E8-4762A81A170C}" srcOrd="1" destOrd="0" presId="urn:microsoft.com/office/officeart/2008/layout/LinedList"/>
    <dgm:cxn modelId="{79AAFE4E-915F-4B66-9DAD-A987CD5476DC}" type="presParOf" srcId="{01FCF7BE-21F1-477F-ABD7-D1C95BA4F9DF}" destId="{BD967BB1-4648-423E-A82D-8A82DCF75E78}" srcOrd="2" destOrd="0" presId="urn:microsoft.com/office/officeart/2008/layout/LinedList"/>
    <dgm:cxn modelId="{00CA7A3D-F88D-4BD2-BC6F-BB9353FFE5DA}" type="presParOf" srcId="{2F6F2B81-2E72-46D4-86AA-411E364763B6}" destId="{763BB05A-6328-42C2-A6EB-C1D4F637AE1B}" srcOrd="5" destOrd="0" presId="urn:microsoft.com/office/officeart/2008/layout/LinedList"/>
    <dgm:cxn modelId="{13E31CA0-7888-41F2-BD2D-A2242B189968}" type="presParOf" srcId="{2F6F2B81-2E72-46D4-86AA-411E364763B6}" destId="{7ADE9E31-4A42-4C00-9CC9-30921B94E218}" srcOrd="6" destOrd="0" presId="urn:microsoft.com/office/officeart/2008/layout/LinedList"/>
    <dgm:cxn modelId="{9D68FCAB-DD54-4221-94D6-925CA55B1F03}" type="presParOf" srcId="{2F6F2B81-2E72-46D4-86AA-411E364763B6}" destId="{C388B578-32D4-47D9-9A83-D5D13C587593}" srcOrd="7" destOrd="0" presId="urn:microsoft.com/office/officeart/2008/layout/LinedList"/>
    <dgm:cxn modelId="{F3228B5A-0792-48A4-9117-F3775B413DB3}" type="presParOf" srcId="{C388B578-32D4-47D9-9A83-D5D13C587593}" destId="{1DC21ABA-18E3-48B1-B003-A17473FDA64D}" srcOrd="0" destOrd="0" presId="urn:microsoft.com/office/officeart/2008/layout/LinedList"/>
    <dgm:cxn modelId="{3A122208-8871-4989-8A4E-DD6253C334BC}" type="presParOf" srcId="{C388B578-32D4-47D9-9A83-D5D13C587593}" destId="{9969C8D5-1E28-47E7-BFC1-5B7F9E5C9599}" srcOrd="1" destOrd="0" presId="urn:microsoft.com/office/officeart/2008/layout/LinedList"/>
    <dgm:cxn modelId="{FA4D97E8-2038-4609-9C9E-90C78890E259}" type="presParOf" srcId="{C388B578-32D4-47D9-9A83-D5D13C587593}" destId="{6C426C52-5C67-47D3-9948-7C5344045C3E}" srcOrd="2" destOrd="0" presId="urn:microsoft.com/office/officeart/2008/layout/LinedList"/>
    <dgm:cxn modelId="{B7107A91-C373-47A0-9AE8-0976DB59EC47}" type="presParOf" srcId="{2F6F2B81-2E72-46D4-86AA-411E364763B6}" destId="{C2A7FA6F-C6A2-4E34-8A62-A0ED92737782}" srcOrd="8" destOrd="0" presId="urn:microsoft.com/office/officeart/2008/layout/LinedList"/>
    <dgm:cxn modelId="{A3F1B95E-B517-4235-9004-75C80F410C20}" type="presParOf" srcId="{2F6F2B81-2E72-46D4-86AA-411E364763B6}" destId="{7D6B3108-B99E-4186-B704-94DE3BD990F0}" srcOrd="9" destOrd="0" presId="urn:microsoft.com/office/officeart/2008/layout/LinedList"/>
    <dgm:cxn modelId="{2BB9D3CF-FDD5-4FDE-9764-D89F1D215C73}" type="presParOf" srcId="{2F6F2B81-2E72-46D4-86AA-411E364763B6}" destId="{287272A0-D2E2-4457-AEE0-E73ECC89C6F8}" srcOrd="10" destOrd="0" presId="urn:microsoft.com/office/officeart/2008/layout/LinedList"/>
    <dgm:cxn modelId="{0641C8A9-55C0-4577-9CD0-20B383A7D105}" type="presParOf" srcId="{287272A0-D2E2-4457-AEE0-E73ECC89C6F8}" destId="{9D217DF5-E842-4F3D-AF14-062EB054CD21}" srcOrd="0" destOrd="0" presId="urn:microsoft.com/office/officeart/2008/layout/LinedList"/>
    <dgm:cxn modelId="{212CE93D-EA29-403C-8A36-0DDBF0BBB5A8}" type="presParOf" srcId="{287272A0-D2E2-4457-AEE0-E73ECC89C6F8}" destId="{B83A3AEA-E860-44D8-B652-E23E85CF3669}" srcOrd="1" destOrd="0" presId="urn:microsoft.com/office/officeart/2008/layout/LinedList"/>
    <dgm:cxn modelId="{CF0524EC-0F7E-4D6A-B929-4D3918330D5D}" type="presParOf" srcId="{287272A0-D2E2-4457-AEE0-E73ECC89C6F8}" destId="{4C6E0F42-24AC-498E-943E-A3E85D035C69}" srcOrd="2" destOrd="0" presId="urn:microsoft.com/office/officeart/2008/layout/LinedList"/>
    <dgm:cxn modelId="{F0D96C2B-B11C-450F-B22D-4686AD66F955}" type="presParOf" srcId="{2F6F2B81-2E72-46D4-86AA-411E364763B6}" destId="{543D3DE3-E005-4872-95B0-ED67FB4FE76E}" srcOrd="11" destOrd="0" presId="urn:microsoft.com/office/officeart/2008/layout/LinedList"/>
    <dgm:cxn modelId="{B3A9D178-7E1D-4689-B73E-AF39C671E026}" type="presParOf" srcId="{2F6F2B81-2E72-46D4-86AA-411E364763B6}" destId="{C234A79A-A5F6-41FF-AAE1-394EDF7134E0}" srcOrd="12" destOrd="0" presId="urn:microsoft.com/office/officeart/2008/layout/LinedList"/>
    <dgm:cxn modelId="{107D3156-1B6A-41FB-8F0A-2AEE82534779}" type="presParOf" srcId="{D78B299C-29C1-49F1-B596-596C39EA4835}" destId="{22B6CE71-54C6-4F10-A5BF-B9D0341D54D1}" srcOrd="6" destOrd="0" presId="urn:microsoft.com/office/officeart/2008/layout/LinedList"/>
    <dgm:cxn modelId="{2E7E45F1-DA4B-40DC-B1E8-8C44E77CFBA2}" type="presParOf" srcId="{D78B299C-29C1-49F1-B596-596C39EA4835}" destId="{F47FA314-2D11-41D9-92A8-D2E431EC7B2E}" srcOrd="7" destOrd="0" presId="urn:microsoft.com/office/officeart/2008/layout/LinedList"/>
    <dgm:cxn modelId="{5245BC6D-78D4-4046-A934-F14CB5004471}" type="presParOf" srcId="{F47FA314-2D11-41D9-92A8-D2E431EC7B2E}" destId="{5C2E2FD6-4F28-4D88-8FD4-57223D91716D}" srcOrd="0" destOrd="0" presId="urn:microsoft.com/office/officeart/2008/layout/LinedList"/>
    <dgm:cxn modelId="{DF4E43E6-6252-458C-B238-BEAE30719099}" type="presParOf" srcId="{F47FA314-2D11-41D9-92A8-D2E431EC7B2E}" destId="{0F451A54-1EE6-44A6-9BE0-428EE482BA8B}" srcOrd="1" destOrd="0" presId="urn:microsoft.com/office/officeart/2008/layout/LinedList"/>
    <dgm:cxn modelId="{D18163F3-27F6-472C-A0EE-DFF5AF7E8BEB}" type="presParOf" srcId="{0F451A54-1EE6-44A6-9BE0-428EE482BA8B}" destId="{CF7C8C71-581A-489B-9BEF-3C8DBDC3054D}" srcOrd="0" destOrd="0" presId="urn:microsoft.com/office/officeart/2008/layout/LinedList"/>
    <dgm:cxn modelId="{4C1E4769-1547-40A4-A2F3-FCB49D1A4EC9}" type="presParOf" srcId="{0F451A54-1EE6-44A6-9BE0-428EE482BA8B}" destId="{8D7B1529-2519-4B7B-AF00-11A0C8850D4B}" srcOrd="1" destOrd="0" presId="urn:microsoft.com/office/officeart/2008/layout/LinedList"/>
    <dgm:cxn modelId="{33610BBF-06A5-4A3C-ACE8-74DD5CEB6361}" type="presParOf" srcId="{8D7B1529-2519-4B7B-AF00-11A0C8850D4B}" destId="{03225862-6344-455A-A25D-F0AAE463C835}" srcOrd="0" destOrd="0" presId="urn:microsoft.com/office/officeart/2008/layout/LinedList"/>
    <dgm:cxn modelId="{0CD935C2-DE4F-4069-9F77-E6A391D53B13}" type="presParOf" srcId="{8D7B1529-2519-4B7B-AF00-11A0C8850D4B}" destId="{759D4AA3-53D7-43E8-BFFD-C46D003792B3}" srcOrd="1" destOrd="0" presId="urn:microsoft.com/office/officeart/2008/layout/LinedList"/>
    <dgm:cxn modelId="{3C9DBDB7-379D-4AAC-9525-6F26BB3C7B65}" type="presParOf" srcId="{8D7B1529-2519-4B7B-AF00-11A0C8850D4B}" destId="{DD20B5D0-71A1-4526-B7B8-9B39D9A1CA84}" srcOrd="2" destOrd="0" presId="urn:microsoft.com/office/officeart/2008/layout/LinedList"/>
    <dgm:cxn modelId="{8D758BCD-EFBB-486A-9709-0A8107AFF183}" type="presParOf" srcId="{0F451A54-1EE6-44A6-9BE0-428EE482BA8B}" destId="{7AE77301-74FF-4F75-A3C7-4A69F4A8F137}" srcOrd="2" destOrd="0" presId="urn:microsoft.com/office/officeart/2008/layout/LinedList"/>
    <dgm:cxn modelId="{E0D4EFC6-7F13-4E82-88D6-F169A7A79929}" type="presParOf" srcId="{0F451A54-1EE6-44A6-9BE0-428EE482BA8B}" destId="{B74ADA57-B2D6-45E1-B551-755A6EC2F5BD}" srcOrd="3" destOrd="0" presId="urn:microsoft.com/office/officeart/2008/layout/LinedList"/>
    <dgm:cxn modelId="{7FD9A729-CEAC-42F0-AD19-80B3E762B34A}" type="presParOf" srcId="{D78B299C-29C1-49F1-B596-596C39EA4835}" destId="{DE2191DC-E38D-4398-A886-6E398FF33BAA}" srcOrd="8" destOrd="0" presId="urn:microsoft.com/office/officeart/2008/layout/LinedList"/>
    <dgm:cxn modelId="{7C710A56-2CD9-4A78-AC5A-971D4470D5E4}" type="presParOf" srcId="{D78B299C-29C1-49F1-B596-596C39EA4835}" destId="{347B3F25-1F92-4EA0-B547-952C46CC84C7}" srcOrd="9" destOrd="0" presId="urn:microsoft.com/office/officeart/2008/layout/LinedList"/>
    <dgm:cxn modelId="{4BF6340A-BE7D-4EF9-906B-658372A60746}" type="presParOf" srcId="{347B3F25-1F92-4EA0-B547-952C46CC84C7}" destId="{C2986A4F-59DF-4AA9-9CF0-9BEF4CF69A3C}" srcOrd="0" destOrd="0" presId="urn:microsoft.com/office/officeart/2008/layout/LinedList"/>
    <dgm:cxn modelId="{6245589B-F486-405E-BFE1-D2B3D96A27E3}" type="presParOf" srcId="{347B3F25-1F92-4EA0-B547-952C46CC84C7}" destId="{2148F629-B748-48CA-97AB-4DDA1AA8508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E5996B-CFD0-4255-A4F4-C3ECF0683F8F}">
      <dsp:nvSpPr>
        <dsp:cNvPr id="0" name=""/>
        <dsp:cNvSpPr/>
      </dsp:nvSpPr>
      <dsp:spPr>
        <a:xfrm>
          <a:off x="0" y="710"/>
          <a:ext cx="1104795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6E5277-FF83-4FF8-934F-21314101F311}">
      <dsp:nvSpPr>
        <dsp:cNvPr id="0" name=""/>
        <dsp:cNvSpPr/>
      </dsp:nvSpPr>
      <dsp:spPr>
        <a:xfrm>
          <a:off x="0" y="710"/>
          <a:ext cx="2209591" cy="1164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Calculate miss rate of TLB for data:  # TLB misses / # TLB lookups</a:t>
          </a:r>
        </a:p>
      </dsp:txBody>
      <dsp:txXfrm>
        <a:off x="0" y="710"/>
        <a:ext cx="2209591" cy="1164464"/>
      </dsp:txXfrm>
    </dsp:sp>
    <dsp:sp modelId="{73FBB80B-279F-4042-97F6-44FFA128D6F6}">
      <dsp:nvSpPr>
        <dsp:cNvPr id="0" name=""/>
        <dsp:cNvSpPr/>
      </dsp:nvSpPr>
      <dsp:spPr>
        <a:xfrm>
          <a:off x="0" y="1165175"/>
          <a:ext cx="1104795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E4FCE4-4DDD-4954-9CEC-93F0167E0FB8}">
      <dsp:nvSpPr>
        <dsp:cNvPr id="0" name=""/>
        <dsp:cNvSpPr/>
      </dsp:nvSpPr>
      <dsp:spPr>
        <a:xfrm>
          <a:off x="0" y="1165175"/>
          <a:ext cx="2209591" cy="1164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# TLB lookups?</a:t>
          </a:r>
        </a:p>
      </dsp:txBody>
      <dsp:txXfrm>
        <a:off x="0" y="1165175"/>
        <a:ext cx="2209591" cy="1164464"/>
      </dsp:txXfrm>
    </dsp:sp>
    <dsp:sp modelId="{669E26AC-DEB5-4741-84CB-F0D459DDECB7}">
      <dsp:nvSpPr>
        <dsp:cNvPr id="0" name=""/>
        <dsp:cNvSpPr/>
      </dsp:nvSpPr>
      <dsp:spPr>
        <a:xfrm>
          <a:off x="2375310" y="1218053"/>
          <a:ext cx="8672645" cy="1057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= number of accesses to a = 2048</a:t>
          </a:r>
        </a:p>
      </dsp:txBody>
      <dsp:txXfrm>
        <a:off x="2375310" y="1218053"/>
        <a:ext cx="8672645" cy="1057570"/>
      </dsp:txXfrm>
    </dsp:sp>
    <dsp:sp modelId="{C3B942DE-86A2-4EDB-A9D3-39340929C34E}">
      <dsp:nvSpPr>
        <dsp:cNvPr id="0" name=""/>
        <dsp:cNvSpPr/>
      </dsp:nvSpPr>
      <dsp:spPr>
        <a:xfrm>
          <a:off x="2209591" y="2275624"/>
          <a:ext cx="883836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40F3D2-6B0B-43EF-9116-1F6F148F0EFB}">
      <dsp:nvSpPr>
        <dsp:cNvPr id="0" name=""/>
        <dsp:cNvSpPr/>
      </dsp:nvSpPr>
      <dsp:spPr>
        <a:xfrm>
          <a:off x="0" y="2329639"/>
          <a:ext cx="1104795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9B290B-3CE6-4106-BB0A-A41B2D52BA51}">
      <dsp:nvSpPr>
        <dsp:cNvPr id="0" name=""/>
        <dsp:cNvSpPr/>
      </dsp:nvSpPr>
      <dsp:spPr>
        <a:xfrm>
          <a:off x="0" y="2329639"/>
          <a:ext cx="2209591" cy="1164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# TLB misses?</a:t>
          </a:r>
        </a:p>
      </dsp:txBody>
      <dsp:txXfrm>
        <a:off x="0" y="2329639"/>
        <a:ext cx="2209591" cy="1164464"/>
      </dsp:txXfrm>
    </dsp:sp>
    <dsp:sp modelId="{D2A33EC1-7602-4D60-BD25-3F2C58984B4C}">
      <dsp:nvSpPr>
        <dsp:cNvPr id="0" name=""/>
        <dsp:cNvSpPr/>
      </dsp:nvSpPr>
      <dsp:spPr>
        <a:xfrm>
          <a:off x="2375310" y="2343328"/>
          <a:ext cx="8672645" cy="273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= number of unique pages accessed</a:t>
          </a:r>
        </a:p>
      </dsp:txBody>
      <dsp:txXfrm>
        <a:off x="2375310" y="2343328"/>
        <a:ext cx="8672645" cy="273774"/>
      </dsp:txXfrm>
    </dsp:sp>
    <dsp:sp modelId="{BF47A519-1192-4596-9739-675108705085}">
      <dsp:nvSpPr>
        <dsp:cNvPr id="0" name=""/>
        <dsp:cNvSpPr/>
      </dsp:nvSpPr>
      <dsp:spPr>
        <a:xfrm>
          <a:off x="2209591" y="2617102"/>
          <a:ext cx="883836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A7F4DC-0599-4275-92E8-4762A81A170C}">
      <dsp:nvSpPr>
        <dsp:cNvPr id="0" name=""/>
        <dsp:cNvSpPr/>
      </dsp:nvSpPr>
      <dsp:spPr>
        <a:xfrm>
          <a:off x="2375310" y="2630791"/>
          <a:ext cx="8672645" cy="273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= 2048 / (elements of ‘a’ per 4K page)</a:t>
          </a:r>
        </a:p>
      </dsp:txBody>
      <dsp:txXfrm>
        <a:off x="2375310" y="2630791"/>
        <a:ext cx="8672645" cy="273774"/>
      </dsp:txXfrm>
    </dsp:sp>
    <dsp:sp modelId="{763BB05A-6328-42C2-A6EB-C1D4F637AE1B}">
      <dsp:nvSpPr>
        <dsp:cNvPr id="0" name=""/>
        <dsp:cNvSpPr/>
      </dsp:nvSpPr>
      <dsp:spPr>
        <a:xfrm>
          <a:off x="2209591" y="2904565"/>
          <a:ext cx="883836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69C8D5-1E28-47E7-BFC1-5B7F9E5C9599}">
      <dsp:nvSpPr>
        <dsp:cNvPr id="0" name=""/>
        <dsp:cNvSpPr/>
      </dsp:nvSpPr>
      <dsp:spPr>
        <a:xfrm>
          <a:off x="2375310" y="2918254"/>
          <a:ext cx="8672645" cy="273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= 2K / (4K / sizeof(int)) = 2K / 1K</a:t>
          </a:r>
        </a:p>
      </dsp:txBody>
      <dsp:txXfrm>
        <a:off x="2375310" y="2918254"/>
        <a:ext cx="8672645" cy="273774"/>
      </dsp:txXfrm>
    </dsp:sp>
    <dsp:sp modelId="{C2A7FA6F-C6A2-4E34-8A62-A0ED92737782}">
      <dsp:nvSpPr>
        <dsp:cNvPr id="0" name=""/>
        <dsp:cNvSpPr/>
      </dsp:nvSpPr>
      <dsp:spPr>
        <a:xfrm>
          <a:off x="2209591" y="3192028"/>
          <a:ext cx="883836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3A3AEA-E860-44D8-B652-E23E85CF3669}">
      <dsp:nvSpPr>
        <dsp:cNvPr id="0" name=""/>
        <dsp:cNvSpPr/>
      </dsp:nvSpPr>
      <dsp:spPr>
        <a:xfrm>
          <a:off x="2375310" y="3205717"/>
          <a:ext cx="8672645" cy="273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= 2</a:t>
          </a:r>
        </a:p>
      </dsp:txBody>
      <dsp:txXfrm>
        <a:off x="2375310" y="3205717"/>
        <a:ext cx="8672645" cy="273774"/>
      </dsp:txXfrm>
    </dsp:sp>
    <dsp:sp modelId="{543D3DE3-E005-4872-95B0-ED67FB4FE76E}">
      <dsp:nvSpPr>
        <dsp:cNvPr id="0" name=""/>
        <dsp:cNvSpPr/>
      </dsp:nvSpPr>
      <dsp:spPr>
        <a:xfrm>
          <a:off x="2209591" y="3479491"/>
          <a:ext cx="883836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B6CE71-54C6-4F10-A5BF-B9D0341D54D1}">
      <dsp:nvSpPr>
        <dsp:cNvPr id="0" name=""/>
        <dsp:cNvSpPr/>
      </dsp:nvSpPr>
      <dsp:spPr>
        <a:xfrm>
          <a:off x="0" y="3494104"/>
          <a:ext cx="1104795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2E2FD6-4F28-4D88-8FD4-57223D91716D}">
      <dsp:nvSpPr>
        <dsp:cNvPr id="0" name=""/>
        <dsp:cNvSpPr/>
      </dsp:nvSpPr>
      <dsp:spPr>
        <a:xfrm>
          <a:off x="0" y="3494104"/>
          <a:ext cx="2209591" cy="1164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Miss rate?</a:t>
          </a:r>
        </a:p>
      </dsp:txBody>
      <dsp:txXfrm>
        <a:off x="0" y="3494104"/>
        <a:ext cx="2209591" cy="1164464"/>
      </dsp:txXfrm>
    </dsp:sp>
    <dsp:sp modelId="{759D4AA3-53D7-43E8-BFFD-C46D003792B3}">
      <dsp:nvSpPr>
        <dsp:cNvPr id="0" name=""/>
        <dsp:cNvSpPr/>
      </dsp:nvSpPr>
      <dsp:spPr>
        <a:xfrm>
          <a:off x="2375310" y="3546982"/>
          <a:ext cx="8672645" cy="1057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2/2048 = 0.1%</a:t>
          </a:r>
        </a:p>
      </dsp:txBody>
      <dsp:txXfrm>
        <a:off x="2375310" y="3546982"/>
        <a:ext cx="8672645" cy="1057570"/>
      </dsp:txXfrm>
    </dsp:sp>
    <dsp:sp modelId="{7AE77301-74FF-4F75-A3C7-4A69F4A8F137}">
      <dsp:nvSpPr>
        <dsp:cNvPr id="0" name=""/>
        <dsp:cNvSpPr/>
      </dsp:nvSpPr>
      <dsp:spPr>
        <a:xfrm>
          <a:off x="2209591" y="4604552"/>
          <a:ext cx="883836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2191DC-E38D-4398-A886-6E398FF33BAA}">
      <dsp:nvSpPr>
        <dsp:cNvPr id="0" name=""/>
        <dsp:cNvSpPr/>
      </dsp:nvSpPr>
      <dsp:spPr>
        <a:xfrm>
          <a:off x="0" y="4658568"/>
          <a:ext cx="1104795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986A4F-59DF-4AA9-9CF0-9BEF4CF69A3C}">
      <dsp:nvSpPr>
        <dsp:cNvPr id="0" name=""/>
        <dsp:cNvSpPr/>
      </dsp:nvSpPr>
      <dsp:spPr>
        <a:xfrm>
          <a:off x="0" y="4658568"/>
          <a:ext cx="2209591" cy="1164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Hit rate? (1 – miss rate)  99.9%</a:t>
          </a:r>
        </a:p>
      </dsp:txBody>
      <dsp:txXfrm>
        <a:off x="0" y="4658568"/>
        <a:ext cx="2209591" cy="11644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00273-A75A-40C8-A1BF-43497AA16139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DD372-930E-48E8-B3B2-DE0E135E2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70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se.iitb.ac.in/~biswa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64CB-0AC2-496D-B597-B1F243F5B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3777" y="1122363"/>
            <a:ext cx="1020376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CS683: </a:t>
            </a:r>
            <a:r>
              <a:rPr lang="en-US" dirty="0" err="1"/>
              <a:t>Advancded</a:t>
            </a:r>
            <a:r>
              <a:rPr lang="en-US" dirty="0"/>
              <a:t>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45455-008C-4FEE-A9C6-8894363DC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90CD-44DD-4170-8E27-65C897B7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C8CE0C-3100-4BD4-A909-E56C192401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67446" y="71035"/>
            <a:ext cx="2841820" cy="865176"/>
          </a:xfrm>
          <a:prstGeom prst="rect">
            <a:avLst/>
          </a:prstGeom>
        </p:spPr>
      </p:pic>
      <p:pic>
        <p:nvPicPr>
          <p:cNvPr id="1026" name="Picture 2" descr="IIT Bombay | IIT Bombay">
            <a:extLst>
              <a:ext uri="{FF2B5EF4-FFF2-40B4-BE49-F238E27FC236}">
                <a16:creationId xmlns:a16="http://schemas.microsoft.com/office/drawing/2014/main" id="{17C6F939-4954-4EA5-BA91-2B9038A795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2" y="26560"/>
            <a:ext cx="1130218" cy="110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6242A2-99C7-43EF-9FF6-5F0AFFFDA1DF}"/>
              </a:ext>
            </a:extLst>
          </p:cNvPr>
          <p:cNvSpPr txBox="1"/>
          <p:nvPr userDrawn="1"/>
        </p:nvSpPr>
        <p:spPr>
          <a:xfrm>
            <a:off x="0" y="6354386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dirty="0">
                <a:hlinkClick r:id="rId4"/>
              </a:rPr>
              <a:t>https://www.cse.iitb.ac.in/~biswa/</a:t>
            </a:r>
            <a:endParaRPr lang="en-IN" sz="2800" i="1" dirty="0"/>
          </a:p>
          <a:p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16792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7915-0F56-4288-8471-3449AA53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DA509-FC2C-413C-8D9B-6E84963AD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42D7E-424B-47EC-A6D1-6B6B1784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Advanced 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FB26-2A3A-4BC7-9A52-336ED922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432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114755" y="1540840"/>
            <a:ext cx="2591435" cy="4537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r>
              <a:rPr spc="-5" dirty="0"/>
              <a:t>Biswabandan</a:t>
            </a:r>
            <a:r>
              <a:rPr spc="-60" dirty="0"/>
              <a:t> </a:t>
            </a:r>
            <a:r>
              <a:rPr spc="-5" dirty="0"/>
              <a:t>Panda,</a:t>
            </a:r>
            <a:r>
              <a:rPr spc="-35" dirty="0"/>
              <a:t> </a:t>
            </a:r>
            <a:r>
              <a:rPr spc="-5" dirty="0"/>
              <a:t>CSE@IITK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r>
              <a:rPr dirty="0"/>
              <a:t>Modern</a:t>
            </a:r>
            <a:r>
              <a:rPr spc="-55" dirty="0"/>
              <a:t> </a:t>
            </a:r>
            <a:r>
              <a:rPr spc="-5" dirty="0"/>
              <a:t>Memory</a:t>
            </a:r>
            <a:r>
              <a:rPr spc="-5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45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6212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39DFA-22D9-4774-B6B2-CF85A485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A882D-3562-4909-BF1E-D5DED9766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BA480-B9BD-4D87-8604-BB9D03C40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6BC3-8D20-4FAA-A821-14CAB47B0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80A1-8C5A-4D78-A697-18D4DCC3C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51ABE-1138-46C6-9A43-7FCD4EB25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6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9D94-0FEA-4DBE-86DF-3FB8852D3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CS683: Advanced Computer Architecture-2025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676AF-9222-4BBF-BBA7-BED9C767C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949" y="4833257"/>
            <a:ext cx="10722595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L10: Kya </a:t>
            </a:r>
            <a:r>
              <a:rPr lang="en-US" sz="3600" dirty="0" err="1">
                <a:solidFill>
                  <a:srgbClr val="C00000"/>
                </a:solidFill>
              </a:rPr>
              <a:t>Karein</a:t>
            </a:r>
            <a:r>
              <a:rPr lang="en-US" sz="3600" dirty="0">
                <a:solidFill>
                  <a:srgbClr val="C00000"/>
                </a:solidFill>
              </a:rPr>
              <a:t> Kya Na </a:t>
            </a:r>
            <a:r>
              <a:rPr lang="en-US" sz="3600" dirty="0" err="1">
                <a:solidFill>
                  <a:srgbClr val="C00000"/>
                </a:solidFill>
              </a:rPr>
              <a:t>Karein</a:t>
            </a:r>
            <a:r>
              <a:rPr lang="en-US" sz="3600" dirty="0">
                <a:solidFill>
                  <a:srgbClr val="C00000"/>
                </a:solidFill>
              </a:rPr>
              <a:t> (virtual/physical)…</a:t>
            </a:r>
          </a:p>
          <a:p>
            <a:r>
              <a:rPr lang="en-US" dirty="0">
                <a:solidFill>
                  <a:srgbClr val="C00000"/>
                </a:solidFill>
              </a:rPr>
              <a:t>https://www.cse.iitb.ac.in/~biswa/courses.html</a:t>
            </a:r>
          </a:p>
          <a:p>
            <a:endParaRPr lang="en-IN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78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Mobile device with apps">
            <a:extLst>
              <a:ext uri="{FF2B5EF4-FFF2-40B4-BE49-F238E27FC236}">
                <a16:creationId xmlns:a16="http://schemas.microsoft.com/office/drawing/2014/main" id="{499258FC-0B4F-B55F-8BE7-27FDBBECB2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866" t="9091" r="7497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1FD530-68E2-E9B7-6F08-048EC5C58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0" y="1122363"/>
            <a:ext cx="6654339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Phones (smart/non-smart) on silence plz, Thanks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C138F-E156-6AB7-33C7-AD41381E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2321" y="6356350"/>
            <a:ext cx="280901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CAD9A-A941-12C0-CA7F-8C702A97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 sz="1200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1985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10BBE-6FE4-64A1-FDE8-DA1DC5931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305" y="136525"/>
            <a:ext cx="11082495" cy="1325563"/>
          </a:xfrm>
        </p:spPr>
        <p:txBody>
          <a:bodyPr/>
          <a:lstStyle/>
          <a:p>
            <a:r>
              <a:rPr lang="en-US" dirty="0"/>
              <a:t>Small and subtle cache: MMU (PSC, PWC) Cache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61F9CE-F0D2-34FE-F0FA-88B9AD972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6D94CD-BE73-205A-CBAD-47175B216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801E75-FF66-C9C0-139D-D05A7011F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255183"/>
            <a:ext cx="6632754" cy="5178397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D42AFBA-EAB4-1E6C-8BBB-4B9EF20E036D}"/>
              </a:ext>
            </a:extLst>
          </p:cNvPr>
          <p:cNvCxnSpPr>
            <a:cxnSpLocks/>
          </p:cNvCxnSpPr>
          <p:nvPr/>
        </p:nvCxnSpPr>
        <p:spPr>
          <a:xfrm>
            <a:off x="4220308" y="2112347"/>
            <a:ext cx="1753772" cy="354702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B5D5547-5997-D27B-7F54-651C1BDC92DB}"/>
              </a:ext>
            </a:extLst>
          </p:cNvPr>
          <p:cNvCxnSpPr>
            <a:cxnSpLocks/>
          </p:cNvCxnSpPr>
          <p:nvPr/>
        </p:nvCxnSpPr>
        <p:spPr>
          <a:xfrm flipH="1">
            <a:off x="4667794" y="2092251"/>
            <a:ext cx="507107" cy="346247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31C541B-8875-DA05-33D2-12369022CBB7}"/>
              </a:ext>
            </a:extLst>
          </p:cNvPr>
          <p:cNvCxnSpPr>
            <a:cxnSpLocks/>
          </p:cNvCxnSpPr>
          <p:nvPr/>
        </p:nvCxnSpPr>
        <p:spPr>
          <a:xfrm flipH="1">
            <a:off x="3597310" y="2260879"/>
            <a:ext cx="2498690" cy="322552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1FC30CC0-CB93-D911-1BE5-5DC40D06F4AC}"/>
              </a:ext>
            </a:extLst>
          </p:cNvPr>
          <p:cNvSpPr/>
          <p:nvPr/>
        </p:nvSpPr>
        <p:spPr>
          <a:xfrm>
            <a:off x="3436536" y="1747254"/>
            <a:ext cx="1306286" cy="36509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224B247-497B-414C-7BF3-5F23F9A52E1B}"/>
              </a:ext>
            </a:extLst>
          </p:cNvPr>
          <p:cNvSpPr/>
          <p:nvPr/>
        </p:nvSpPr>
        <p:spPr>
          <a:xfrm>
            <a:off x="3277437" y="1739317"/>
            <a:ext cx="2460172" cy="36509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8B4D0FC-5205-A5C5-2731-AF019318E26C}"/>
              </a:ext>
            </a:extLst>
          </p:cNvPr>
          <p:cNvSpPr/>
          <p:nvPr/>
        </p:nvSpPr>
        <p:spPr>
          <a:xfrm>
            <a:off x="3277437" y="1761089"/>
            <a:ext cx="3424814" cy="36509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733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93E96-873B-B187-341E-5AFA30BD1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details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5E23C-9029-A3F7-4C16-370DA9F35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MMU caches are searched parallelly. </a:t>
            </a:r>
          </a:p>
          <a:p>
            <a:r>
              <a:rPr lang="en-US" dirty="0"/>
              <a:t>Anyways, these are small caches with few entries: 2, 4, 8, 16 entries </a:t>
            </a:r>
            <a:r>
              <a:rPr lang="en-US" dirty="0" err="1"/>
              <a:t>kinda</a:t>
            </a:r>
            <a:endParaRPr lang="en-US" dirty="0"/>
          </a:p>
          <a:p>
            <a:r>
              <a:rPr lang="en-US" dirty="0"/>
              <a:t>PSCL2 will have more entries than PSCL3, and PSCL4</a:t>
            </a:r>
          </a:p>
          <a:p>
            <a:r>
              <a:rPr lang="en-US" dirty="0"/>
              <a:t>PSCL4 cache usually have two entries only </a:t>
            </a:r>
            <a:r>
              <a:rPr lang="en-US" dirty="0">
                <a:sym typeface="Wingdings" panose="05000000000000000000" pitchFamily="2" charset="2"/>
              </a:rPr>
              <a:t> </a:t>
            </a:r>
          </a:p>
          <a:p>
            <a:r>
              <a:rPr lang="en-US" dirty="0">
                <a:sym typeface="Wingdings" panose="05000000000000000000" pitchFamily="2" charset="2"/>
              </a:rPr>
              <a:t>For five levels of PTW, we will have PSCL5, 4, 3, 2</a:t>
            </a:r>
          </a:p>
          <a:p>
            <a:r>
              <a:rPr lang="en-US" dirty="0">
                <a:sym typeface="Wingdings" panose="05000000000000000000" pitchFamily="2" charset="2"/>
              </a:rPr>
              <a:t>Finally, modern processors use multiple PTWs to provide address translation parallelism. 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E0568B-DC0D-5AE1-E526-4EFA26E6B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2382DA-EB57-E73D-7662-2045ECBDA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7371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130DD-8F47-2BB0-2A2F-3C7905BD6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TLBs and events of interest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760F3F-91B4-1FE9-81EF-136432276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62CF0-58D7-ADEA-8402-82FCD31A1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B68AEA92-F42D-0DFF-D27C-B3825F1B9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7105" y="1435274"/>
            <a:ext cx="173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Virtual Address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FBFA88DB-0939-0848-6513-13854EED9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5705" y="2121074"/>
            <a:ext cx="1416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TLB Lookup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4390999B-7599-CF14-0B31-E882326DA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705" y="3187874"/>
            <a:ext cx="213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Check Permissions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56C3D77F-723A-F1FC-CE30-80B94757F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2305" y="4330874"/>
            <a:ext cx="193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Physical Address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093EABDB-478F-35F6-4424-D7DDAF3FE4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0105" y="4254674"/>
            <a:ext cx="2355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Page Fault Exception</a:t>
            </a:r>
          </a:p>
          <a:p>
            <a:pPr eaLnBrk="1" hangingPunct="1"/>
            <a:r>
              <a:rPr lang="en-US" altLang="en-US"/>
              <a:t>“Protection Fault”</a:t>
            </a: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6FB45749-1AF4-4FD2-1580-679BF8BC3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3105" y="2959274"/>
            <a:ext cx="1924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Page Table Walk</a:t>
            </a: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04197D5D-0203-90E1-261F-1FFFCDA1A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7905" y="4254674"/>
            <a:ext cx="2355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Page Fault Exception</a:t>
            </a:r>
          </a:p>
          <a:p>
            <a:pPr eaLnBrk="1" hangingPunct="1"/>
            <a:r>
              <a:rPr lang="en-US" altLang="en-US"/>
              <a:t>“Page Not Present”</a:t>
            </a: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0875CB39-7960-D51B-2E7C-9F0EAE43FE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505" y="4254674"/>
            <a:ext cx="1390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TLB Reload</a:t>
            </a:r>
          </a:p>
        </p:txBody>
      </p:sp>
      <p:sp>
        <p:nvSpPr>
          <p:cNvPr id="14" name="Line 11">
            <a:extLst>
              <a:ext uri="{FF2B5EF4-FFF2-40B4-BE49-F238E27FC236}">
                <a16:creationId xmlns:a16="http://schemas.microsoft.com/office/drawing/2014/main" id="{5FB1DB03-CBD3-A08D-822E-3B8D599FBC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43505" y="3645074"/>
            <a:ext cx="1447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0171B720-9971-02B2-FAA7-3C79A175D2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91305" y="3340274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" name="Line 13">
            <a:extLst>
              <a:ext uri="{FF2B5EF4-FFF2-40B4-BE49-F238E27FC236}">
                <a16:creationId xmlns:a16="http://schemas.microsoft.com/office/drawing/2014/main" id="{2D68607D-8C79-77A4-EABB-A53F822792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1305" y="3645074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352AD379-91A6-7F16-B3F6-F1759DF662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91705" y="3797474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B0FF6377-A91D-2764-8131-E71CDC7048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53705" y="3492674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57F068BA-8B28-98B8-E2D6-2E7B49B45F62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3705" y="3797474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90D2C020-9D25-9BFF-2A44-32E7D5467D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58305" y="4940474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1" name="Text Box 18">
            <a:extLst>
              <a:ext uri="{FF2B5EF4-FFF2-40B4-BE49-F238E27FC236}">
                <a16:creationId xmlns:a16="http://schemas.microsoft.com/office/drawing/2014/main" id="{878E1A86-5011-26D1-D809-E635031BE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0105" y="5321474"/>
            <a:ext cx="2101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Terminate Process</a:t>
            </a:r>
          </a:p>
        </p:txBody>
      </p:sp>
      <p:cxnSp>
        <p:nvCxnSpPr>
          <p:cNvPr id="22" name="AutoShape 19">
            <a:extLst>
              <a:ext uri="{FF2B5EF4-FFF2-40B4-BE49-F238E27FC236}">
                <a16:creationId xmlns:a16="http://schemas.microsoft.com/office/drawing/2014/main" id="{4D63F70C-C895-ABDC-9C37-50C36F6A51AF}"/>
              </a:ext>
            </a:extLst>
          </p:cNvPr>
          <p:cNvCxnSpPr>
            <a:cxnSpLocks noChangeShapeType="1"/>
            <a:stCxn id="13" idx="1"/>
            <a:endCxn id="7" idx="1"/>
          </p:cNvCxnSpPr>
          <p:nvPr/>
        </p:nvCxnSpPr>
        <p:spPr bwMode="auto">
          <a:xfrm rot="10800000" flipH="1">
            <a:off x="1881505" y="2305224"/>
            <a:ext cx="3124200" cy="2133600"/>
          </a:xfrm>
          <a:prstGeom prst="bentConnector3">
            <a:avLst>
              <a:gd name="adj1" fmla="val -731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Line 20">
            <a:extLst>
              <a:ext uri="{FF2B5EF4-FFF2-40B4-BE49-F238E27FC236}">
                <a16:creationId xmlns:a16="http://schemas.microsoft.com/office/drawing/2014/main" id="{C87EB8A6-BDF7-F78A-2172-362297FE60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29505" y="2502074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C82A084E-0AAB-1B58-0777-05BDCDCDB08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91505" y="2502074"/>
            <a:ext cx="1524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5" name="Text Box 22">
            <a:extLst>
              <a:ext uri="{FF2B5EF4-FFF2-40B4-BE49-F238E27FC236}">
                <a16:creationId xmlns:a16="http://schemas.microsoft.com/office/drawing/2014/main" id="{B49A0AC6-369C-6376-FF1B-1605ECCB0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4705" y="2502074"/>
            <a:ext cx="654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miss</a:t>
            </a:r>
          </a:p>
        </p:txBody>
      </p:sp>
      <p:sp>
        <p:nvSpPr>
          <p:cNvPr id="26" name="Text Box 23">
            <a:extLst>
              <a:ext uri="{FF2B5EF4-FFF2-40B4-BE49-F238E27FC236}">
                <a16:creationId xmlns:a16="http://schemas.microsoft.com/office/drawing/2014/main" id="{8A7AF051-2B8A-A014-4EF5-DAB3E7D85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705" y="2502074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hit</a:t>
            </a:r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87DC70DC-6249-9B27-9989-AA371CE07C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15305" y="1816274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" name="Text Box 25">
            <a:extLst>
              <a:ext uri="{FF2B5EF4-FFF2-40B4-BE49-F238E27FC236}">
                <a16:creationId xmlns:a16="http://schemas.microsoft.com/office/drawing/2014/main" id="{D3E7404E-09CD-4407-CA86-C0AA56330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2905" y="1968674"/>
            <a:ext cx="193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restart instruction</a:t>
            </a:r>
          </a:p>
        </p:txBody>
      </p:sp>
      <p:sp>
        <p:nvSpPr>
          <p:cNvPr id="29" name="Text Box 26">
            <a:extLst>
              <a:ext uri="{FF2B5EF4-FFF2-40B4-BE49-F238E27FC236}">
                <a16:creationId xmlns:a16="http://schemas.microsoft.com/office/drawing/2014/main" id="{E0C83CB6-FA65-10A5-A45F-741523413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7705" y="3568874"/>
            <a:ext cx="1517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page present</a:t>
            </a:r>
          </a:p>
        </p:txBody>
      </p:sp>
      <p:sp>
        <p:nvSpPr>
          <p:cNvPr id="30" name="Text Box 27">
            <a:extLst>
              <a:ext uri="{FF2B5EF4-FFF2-40B4-BE49-F238E27FC236}">
                <a16:creationId xmlns:a16="http://schemas.microsoft.com/office/drawing/2014/main" id="{CCDF126F-07D3-6D7B-EA61-EEB6B649B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6105" y="3568874"/>
            <a:ext cx="603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else</a:t>
            </a:r>
          </a:p>
        </p:txBody>
      </p:sp>
      <p:sp>
        <p:nvSpPr>
          <p:cNvPr id="31" name="Text Box 28">
            <a:extLst>
              <a:ext uri="{FF2B5EF4-FFF2-40B4-BE49-F238E27FC236}">
                <a16:creationId xmlns:a16="http://schemas.microsoft.com/office/drawing/2014/main" id="{7874D80F-C22D-DC63-1DC9-C57F14259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8505" y="3721274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ok</a:t>
            </a:r>
          </a:p>
        </p:txBody>
      </p:sp>
      <p:sp>
        <p:nvSpPr>
          <p:cNvPr id="32" name="Text Box 29">
            <a:extLst>
              <a:ext uri="{FF2B5EF4-FFF2-40B4-BE49-F238E27FC236}">
                <a16:creationId xmlns:a16="http://schemas.microsoft.com/office/drawing/2014/main" id="{BAA3FCC1-B3B3-459E-ADEB-6BCCEB348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0705" y="3721274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denied</a:t>
            </a:r>
          </a:p>
        </p:txBody>
      </p:sp>
      <p:sp>
        <p:nvSpPr>
          <p:cNvPr id="33" name="Text Box 30">
            <a:extLst>
              <a:ext uri="{FF2B5EF4-FFF2-40B4-BE49-F238E27FC236}">
                <a16:creationId xmlns:a16="http://schemas.microsoft.com/office/drawing/2014/main" id="{D3CBC534-A821-FA4D-9A31-0AE4E0987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905" y="5321474"/>
            <a:ext cx="1289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Load Page</a:t>
            </a:r>
          </a:p>
        </p:txBody>
      </p:sp>
      <p:sp>
        <p:nvSpPr>
          <p:cNvPr id="34" name="Line 31">
            <a:extLst>
              <a:ext uri="{FF2B5EF4-FFF2-40B4-BE49-F238E27FC236}">
                <a16:creationId xmlns:a16="http://schemas.microsoft.com/office/drawing/2014/main" id="{474C07E1-54B2-51FB-C47D-B15A85751B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72305" y="4940474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cxnSp>
        <p:nvCxnSpPr>
          <p:cNvPr id="35" name="AutoShape 32">
            <a:extLst>
              <a:ext uri="{FF2B5EF4-FFF2-40B4-BE49-F238E27FC236}">
                <a16:creationId xmlns:a16="http://schemas.microsoft.com/office/drawing/2014/main" id="{5743A592-18D6-E1B7-E22F-87A05B3298A7}"/>
              </a:ext>
            </a:extLst>
          </p:cNvPr>
          <p:cNvCxnSpPr>
            <a:cxnSpLocks noChangeShapeType="1"/>
            <a:stCxn id="33" idx="1"/>
            <a:endCxn id="7" idx="1"/>
          </p:cNvCxnSpPr>
          <p:nvPr/>
        </p:nvCxnSpPr>
        <p:spPr bwMode="auto">
          <a:xfrm rot="10800000" flipH="1">
            <a:off x="3938905" y="2305224"/>
            <a:ext cx="1066800" cy="3200400"/>
          </a:xfrm>
          <a:prstGeom prst="bentConnector3">
            <a:avLst>
              <a:gd name="adj1" fmla="val -24256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9" name="Group 36">
            <a:extLst>
              <a:ext uri="{FF2B5EF4-FFF2-40B4-BE49-F238E27FC236}">
                <a16:creationId xmlns:a16="http://schemas.microsoft.com/office/drawing/2014/main" id="{94A87961-5E01-E9A2-3456-1849D550B1BD}"/>
              </a:ext>
            </a:extLst>
          </p:cNvPr>
          <p:cNvGrpSpPr>
            <a:grpSpLocks/>
          </p:cNvGrpSpPr>
          <p:nvPr/>
        </p:nvGrpSpPr>
        <p:grpSpPr bwMode="auto">
          <a:xfrm>
            <a:off x="2186305" y="2425874"/>
            <a:ext cx="3048000" cy="1066800"/>
            <a:chOff x="624" y="1536"/>
            <a:chExt cx="1920" cy="672"/>
          </a:xfrm>
        </p:grpSpPr>
        <p:sp>
          <p:nvSpPr>
            <p:cNvPr id="40" name="Oval 37">
              <a:extLst>
                <a:ext uri="{FF2B5EF4-FFF2-40B4-BE49-F238E27FC236}">
                  <a16:creationId xmlns:a16="http://schemas.microsoft.com/office/drawing/2014/main" id="{6B083947-4514-9918-BA37-3CF933B84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776"/>
              <a:ext cx="1296" cy="43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1" name="Text Box 38">
              <a:extLst>
                <a:ext uri="{FF2B5EF4-FFF2-40B4-BE49-F238E27FC236}">
                  <a16:creationId xmlns:a16="http://schemas.microsoft.com/office/drawing/2014/main" id="{50CF98A7-F6CB-4241-382F-376DD6CF92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536"/>
              <a:ext cx="13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machine-dependent</a:t>
              </a:r>
            </a:p>
          </p:txBody>
        </p:sp>
      </p:grpSp>
      <p:grpSp>
        <p:nvGrpSpPr>
          <p:cNvPr id="42" name="Group 39">
            <a:extLst>
              <a:ext uri="{FF2B5EF4-FFF2-40B4-BE49-F238E27FC236}">
                <a16:creationId xmlns:a16="http://schemas.microsoft.com/office/drawing/2014/main" id="{D482F5CD-C09A-8565-B574-1BE1A05E3B38}"/>
              </a:ext>
            </a:extLst>
          </p:cNvPr>
          <p:cNvGrpSpPr>
            <a:grpSpLocks/>
          </p:cNvGrpSpPr>
          <p:nvPr/>
        </p:nvGrpSpPr>
        <p:grpSpPr bwMode="auto">
          <a:xfrm>
            <a:off x="1576705" y="4864274"/>
            <a:ext cx="3962400" cy="990600"/>
            <a:chOff x="240" y="3072"/>
            <a:chExt cx="2496" cy="624"/>
          </a:xfrm>
        </p:grpSpPr>
        <p:sp>
          <p:nvSpPr>
            <p:cNvPr id="43" name="Oval 40">
              <a:extLst>
                <a:ext uri="{FF2B5EF4-FFF2-40B4-BE49-F238E27FC236}">
                  <a16:creationId xmlns:a16="http://schemas.microsoft.com/office/drawing/2014/main" id="{8F9E7C33-502B-AB90-C104-E0B5624DC8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264"/>
              <a:ext cx="1296" cy="43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4" name="Text Box 41">
              <a:extLst>
                <a:ext uri="{FF2B5EF4-FFF2-40B4-BE49-F238E27FC236}">
                  <a16:creationId xmlns:a16="http://schemas.microsoft.com/office/drawing/2014/main" id="{03738836-DE0F-2115-64F3-91106AC343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3072"/>
              <a:ext cx="150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machine-independent</a:t>
              </a:r>
            </a:p>
            <a:p>
              <a:pPr eaLnBrk="1" hangingPunct="1"/>
              <a:r>
                <a:rPr lang="en-US" altLang="en-US"/>
                <a:t>logic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3214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ED74B-C3DB-493D-9BEB-B9BFCDD73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Processor Pipeline with the TLBs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2971AB-A71A-4331-B889-C03B5EDD3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6</a:t>
            </a:fld>
            <a:endParaRPr lang="en-I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F6B497B-1B77-4BE8-94AB-B975644AE083}"/>
              </a:ext>
            </a:extLst>
          </p:cNvPr>
          <p:cNvGrpSpPr/>
          <p:nvPr/>
        </p:nvGrpSpPr>
        <p:grpSpPr>
          <a:xfrm>
            <a:off x="-35364" y="1953144"/>
            <a:ext cx="12065701" cy="4016287"/>
            <a:chOff x="1254299" y="1638300"/>
            <a:chExt cx="8695977" cy="2041100"/>
          </a:xfrm>
        </p:grpSpPr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1E6C523F-1C80-451F-9F0C-7DC8ECC0C2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6076" y="2247900"/>
              <a:ext cx="3124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endParaRPr lang="en-US" sz="1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00E07ADA-8ED8-490B-AC5B-36827D6C42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7876" y="2247900"/>
              <a:ext cx="3810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endParaRPr lang="en-US" sz="160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EF38BC7-A371-4A39-B72A-CA5B57387D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3076" y="1638300"/>
              <a:ext cx="304800" cy="1219200"/>
              <a:chOff x="336" y="1200"/>
              <a:chExt cx="144" cy="720"/>
            </a:xfrm>
            <a:solidFill>
              <a:schemeClr val="bg1"/>
            </a:solidFill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270CEE83-AF5A-49A3-A476-49583760F8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9pPr>
              </a:lstStyle>
              <a:p>
                <a:pPr algn="ctr" eaLnBrk="0" hangingPunct="0"/>
                <a:r>
                  <a:rPr lang="en-US" sz="1800">
                    <a:solidFill>
                      <a:srgbClr val="000000"/>
                    </a:solidFill>
                    <a:latin typeface="Calibri"/>
                    <a:cs typeface="Calibri"/>
                  </a:rPr>
                  <a:t>PC</a:t>
                </a:r>
              </a:p>
            </p:txBody>
          </p:sp>
          <p:sp>
            <p:nvSpPr>
              <p:cNvPr id="36" name="Freeform 8">
                <a:extLst>
                  <a:ext uri="{FF2B5EF4-FFF2-40B4-BE49-F238E27FC236}">
                    <a16:creationId xmlns:a16="http://schemas.microsoft.com/office/drawing/2014/main" id="{CEB88D2B-7A46-416E-B639-10CAA2FA7F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grp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9pPr>
              </a:lstStyle>
              <a:p>
                <a:pPr algn="ctr" eaLnBrk="0" hangingPunct="0">
                  <a:spcBef>
                    <a:spcPct val="50000"/>
                  </a:spcBef>
                </a:pPr>
                <a:endParaRPr lang="en-US" sz="1800">
                  <a:solidFill>
                    <a:srgbClr val="000000"/>
                  </a:solidFill>
                  <a:latin typeface="Calibri"/>
                  <a:cs typeface="Calibri"/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3870DEB-9D32-45A3-A635-BAB235427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0276" y="1714500"/>
              <a:ext cx="685800" cy="990600"/>
            </a:xfrm>
            <a:prstGeom prst="rect">
              <a:avLst/>
            </a:prstGeom>
            <a:solidFill>
              <a:srgbClr val="FDB9FE"/>
            </a:solidFill>
            <a:ln w="28575" cmpd="sng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/>
              <a:r>
                <a:rPr lang="en-US" dirty="0" err="1">
                  <a:solidFill>
                    <a:srgbClr val="000000"/>
                  </a:solidFill>
                  <a:latin typeface="Calibri"/>
                  <a:cs typeface="Calibri"/>
                </a:rPr>
                <a:t>Inst</a:t>
              </a:r>
              <a:r>
                <a:rPr lang="en-US" dirty="0">
                  <a:solidFill>
                    <a:srgbClr val="000000"/>
                  </a:solidFill>
                  <a:latin typeface="Calibri"/>
                  <a:cs typeface="Calibri"/>
                </a:rPr>
                <a:t> TLB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E812C3A-1B59-41F8-9177-0B6A4CBAC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476" y="1714500"/>
              <a:ext cx="914400" cy="9906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/>
              <a:r>
                <a:rPr lang="en-US">
                  <a:solidFill>
                    <a:srgbClr val="000000"/>
                  </a:solidFill>
                  <a:latin typeface="Calibri"/>
                  <a:cs typeface="Calibri"/>
                </a:rPr>
                <a:t>Inst. Cache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2A6F22F-0F7C-4119-9307-3175B8CB2E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35276" y="1638300"/>
              <a:ext cx="304800" cy="1219200"/>
              <a:chOff x="336" y="1200"/>
              <a:chExt cx="144" cy="720"/>
            </a:xfrm>
            <a:solidFill>
              <a:schemeClr val="bg1"/>
            </a:solidFill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90D489E-8664-4A3E-B270-B34F95D990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9pPr>
              </a:lstStyle>
              <a:p>
                <a:pPr algn="ctr" eaLnBrk="0" hangingPunct="0"/>
                <a:r>
                  <a:rPr lang="en-US">
                    <a:solidFill>
                      <a:srgbClr val="000000"/>
                    </a:solidFill>
                    <a:latin typeface="Calibri"/>
                    <a:cs typeface="Calibri"/>
                  </a:rPr>
                  <a:t>D</a:t>
                </a:r>
              </a:p>
            </p:txBody>
          </p:sp>
          <p:sp>
            <p:nvSpPr>
              <p:cNvPr id="34" name="Freeform 13">
                <a:extLst>
                  <a:ext uri="{FF2B5EF4-FFF2-40B4-BE49-F238E27FC236}">
                    <a16:creationId xmlns:a16="http://schemas.microsoft.com/office/drawing/2014/main" id="{2B56EA36-FDAF-4A17-B6F3-FD738E999B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grp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9pPr>
              </a:lstStyle>
              <a:p>
                <a:pPr algn="ctr" eaLnBrk="0" hangingPunct="0">
                  <a:spcBef>
                    <a:spcPct val="50000"/>
                  </a:spcBef>
                </a:pPr>
                <a:endParaRPr lang="en-US">
                  <a:solidFill>
                    <a:srgbClr val="000000"/>
                  </a:solidFill>
                  <a:latin typeface="Calibri"/>
                  <a:cs typeface="Calibri"/>
                </a:endParaRPr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BFA0E5-E972-4078-B256-A23BBF7B9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2476" y="1714500"/>
              <a:ext cx="1066800" cy="9906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/>
              <a:r>
                <a:rPr lang="en-US" sz="2000">
                  <a:solidFill>
                    <a:srgbClr val="000000"/>
                  </a:solidFill>
                  <a:latin typeface="Calibri"/>
                  <a:cs typeface="Calibri"/>
                </a:rPr>
                <a:t>Decode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8EB1388-D956-4AFF-AA3B-A09CAD1BBA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87876" y="1638300"/>
              <a:ext cx="304800" cy="1219200"/>
              <a:chOff x="336" y="1200"/>
              <a:chExt cx="144" cy="720"/>
            </a:xfrm>
            <a:solidFill>
              <a:schemeClr val="bg1"/>
            </a:solidFill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C07B5AA-CE75-4037-864A-BB8424A450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9pPr>
              </a:lstStyle>
              <a:p>
                <a:pPr algn="ctr" eaLnBrk="0" hangingPunct="0"/>
                <a:r>
                  <a:rPr lang="en-US">
                    <a:solidFill>
                      <a:srgbClr val="000000"/>
                    </a:solidFill>
                    <a:latin typeface="Calibri"/>
                    <a:cs typeface="Calibri"/>
                  </a:rPr>
                  <a:t>E</a:t>
                </a:r>
              </a:p>
            </p:txBody>
          </p:sp>
          <p:sp>
            <p:nvSpPr>
              <p:cNvPr id="32" name="Freeform 17">
                <a:extLst>
                  <a:ext uri="{FF2B5EF4-FFF2-40B4-BE49-F238E27FC236}">
                    <a16:creationId xmlns:a16="http://schemas.microsoft.com/office/drawing/2014/main" id="{5E2DD549-4AE2-4B2F-8196-4525D4838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grp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9pPr>
              </a:lstStyle>
              <a:p>
                <a:pPr algn="ctr" eaLnBrk="0" hangingPunct="0">
                  <a:spcBef>
                    <a:spcPct val="50000"/>
                  </a:spcBef>
                </a:pPr>
                <a:endParaRPr lang="en-US">
                  <a:solidFill>
                    <a:srgbClr val="000000"/>
                  </a:solidFill>
                  <a:latin typeface="Calibri"/>
                  <a:cs typeface="Calibri"/>
                </a:endParaRPr>
              </a:p>
            </p:txBody>
          </p:sp>
        </p:grpSp>
        <p:sp>
          <p:nvSpPr>
            <p:cNvPr id="15" name="Freeform 18">
              <a:extLst>
                <a:ext uri="{FF2B5EF4-FFF2-40B4-BE49-F238E27FC236}">
                  <a16:creationId xmlns:a16="http://schemas.microsoft.com/office/drawing/2014/main" id="{FC55109A-EA7C-4BAF-93ED-9B0B95FF5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5076" y="1714500"/>
              <a:ext cx="381000" cy="1066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88"/>
                </a:cxn>
                <a:cxn ang="0">
                  <a:pos x="48" y="336"/>
                </a:cxn>
                <a:cxn ang="0">
                  <a:pos x="0" y="384"/>
                </a:cxn>
                <a:cxn ang="0">
                  <a:pos x="0" y="672"/>
                </a:cxn>
                <a:cxn ang="0">
                  <a:pos x="240" y="480"/>
                </a:cxn>
                <a:cxn ang="0">
                  <a:pos x="240" y="144"/>
                </a:cxn>
                <a:cxn ang="0">
                  <a:pos x="0" y="0"/>
                </a:cxn>
              </a:cxnLst>
              <a:rect l="0" t="0" r="r" b="b"/>
              <a:pathLst>
                <a:path w="240" h="672">
                  <a:moveTo>
                    <a:pt x="0" y="0"/>
                  </a:moveTo>
                  <a:lnTo>
                    <a:pt x="0" y="288"/>
                  </a:lnTo>
                  <a:lnTo>
                    <a:pt x="48" y="336"/>
                  </a:lnTo>
                  <a:lnTo>
                    <a:pt x="0" y="384"/>
                  </a:lnTo>
                  <a:lnTo>
                    <a:pt x="0" y="672"/>
                  </a:lnTo>
                  <a:lnTo>
                    <a:pt x="240" y="480"/>
                  </a:lnTo>
                  <a:lnTo>
                    <a:pt x="240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endParaRPr lang="en-US" sz="160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6FB511C-9B53-461D-A3A6-68CE7462CC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78476" y="1638300"/>
              <a:ext cx="304800" cy="1219200"/>
              <a:chOff x="336" y="1200"/>
              <a:chExt cx="144" cy="720"/>
            </a:xfrm>
            <a:solidFill>
              <a:schemeClr val="bg1"/>
            </a:solidFill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75A62B3-C251-4B63-8DE7-362ED97C1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9pPr>
              </a:lstStyle>
              <a:p>
                <a:pPr algn="ctr" eaLnBrk="0" hangingPunct="0"/>
                <a:r>
                  <a:rPr lang="en-US">
                    <a:solidFill>
                      <a:srgbClr val="000000"/>
                    </a:solidFill>
                    <a:latin typeface="Calibri"/>
                    <a:cs typeface="Calibri"/>
                  </a:rPr>
                  <a:t>M</a:t>
                </a:r>
              </a:p>
            </p:txBody>
          </p:sp>
          <p:sp>
            <p:nvSpPr>
              <p:cNvPr id="30" name="Freeform 21">
                <a:extLst>
                  <a:ext uri="{FF2B5EF4-FFF2-40B4-BE49-F238E27FC236}">
                    <a16:creationId xmlns:a16="http://schemas.microsoft.com/office/drawing/2014/main" id="{172BC824-0FF2-4786-86BC-CDAAAA298C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grp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9pPr>
              </a:lstStyle>
              <a:p>
                <a:pPr algn="ctr" eaLnBrk="0" hangingPunct="0">
                  <a:spcBef>
                    <a:spcPct val="50000"/>
                  </a:spcBef>
                </a:pPr>
                <a:endParaRPr lang="en-US">
                  <a:solidFill>
                    <a:srgbClr val="000000"/>
                  </a:solidFill>
                  <a:latin typeface="Calibri"/>
                  <a:cs typeface="Calibri"/>
                </a:endParaRPr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5081591-D106-4F70-AE3E-7BABC77FB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5676" y="1714500"/>
              <a:ext cx="762000" cy="990600"/>
            </a:xfrm>
            <a:prstGeom prst="rect">
              <a:avLst/>
            </a:prstGeom>
            <a:solidFill>
              <a:srgbClr val="FDB9FE"/>
            </a:solidFill>
            <a:ln w="28575" cmpd="sng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/>
              <a:r>
                <a:rPr lang="en-US">
                  <a:solidFill>
                    <a:srgbClr val="000000"/>
                  </a:solidFill>
                  <a:latin typeface="Calibri"/>
                  <a:cs typeface="Calibri"/>
                </a:rPr>
                <a:t>Data TLB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1BB9163-5AEA-46F0-AE55-7F973D7F5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076" y="1714500"/>
              <a:ext cx="914400" cy="9906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/>
              <a:r>
                <a:rPr lang="en-US" dirty="0">
                  <a:solidFill>
                    <a:srgbClr val="000000"/>
                  </a:solidFill>
                  <a:latin typeface="Calibri"/>
                  <a:cs typeface="Calibri"/>
                </a:rPr>
                <a:t>Data Cache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C4B7025-1315-45FB-9CC4-3A28EA1553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16876" y="1638300"/>
              <a:ext cx="304800" cy="1219200"/>
              <a:chOff x="336" y="1200"/>
              <a:chExt cx="144" cy="720"/>
            </a:xfrm>
            <a:solidFill>
              <a:schemeClr val="bg1"/>
            </a:solidFill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A28A4B6-96E5-4EF6-BBAC-8E71D9BA2D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9pPr>
              </a:lstStyle>
              <a:p>
                <a:pPr algn="ctr" eaLnBrk="0" hangingPunct="0"/>
                <a:r>
                  <a:rPr lang="en-US">
                    <a:solidFill>
                      <a:srgbClr val="000000"/>
                    </a:solidFill>
                    <a:latin typeface="Calibri"/>
                    <a:cs typeface="Calibri"/>
                  </a:rPr>
                  <a:t>W</a:t>
                </a:r>
              </a:p>
            </p:txBody>
          </p:sp>
          <p:sp>
            <p:nvSpPr>
              <p:cNvPr id="28" name="Freeform 26">
                <a:extLst>
                  <a:ext uri="{FF2B5EF4-FFF2-40B4-BE49-F238E27FC236}">
                    <a16:creationId xmlns:a16="http://schemas.microsoft.com/office/drawing/2014/main" id="{1A297468-1A3B-4E06-98B9-6DF428064A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grp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itchFamily="-110" charset="0"/>
                    <a:ea typeface="+mn-ea"/>
                    <a:cs typeface="+mn-cs"/>
                  </a:defRPr>
                </a:lvl9pPr>
              </a:lstStyle>
              <a:p>
                <a:pPr algn="ctr" eaLnBrk="0" hangingPunct="0">
                  <a:spcBef>
                    <a:spcPct val="50000"/>
                  </a:spcBef>
                </a:pPr>
                <a:endParaRPr lang="en-US">
                  <a:solidFill>
                    <a:srgbClr val="000000"/>
                  </a:solidFill>
                  <a:latin typeface="Calibri"/>
                  <a:cs typeface="Calibri"/>
                </a:endParaRPr>
              </a:p>
            </p:txBody>
          </p:sp>
        </p:grpSp>
        <p:sp>
          <p:nvSpPr>
            <p:cNvPr id="20" name="Line 27">
              <a:extLst>
                <a:ext uri="{FF2B5EF4-FFF2-40B4-BE49-F238E27FC236}">
                  <a16:creationId xmlns:a16="http://schemas.microsoft.com/office/drawing/2014/main" id="{7BBC629D-6D98-4EF2-A638-1BC8F395E4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2676" y="1943100"/>
              <a:ext cx="15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endParaRPr lang="en-US" sz="1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" name="Line 28">
              <a:extLst>
                <a:ext uri="{FF2B5EF4-FFF2-40B4-BE49-F238E27FC236}">
                  <a16:creationId xmlns:a16="http://schemas.microsoft.com/office/drawing/2014/main" id="{0D992236-3C0A-4BC8-92D1-8351D49539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2676" y="2552700"/>
              <a:ext cx="15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endParaRPr lang="en-US" sz="1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2" name="Text Box 29">
              <a:extLst>
                <a:ext uri="{FF2B5EF4-FFF2-40B4-BE49-F238E27FC236}">
                  <a16:creationId xmlns:a16="http://schemas.microsoft.com/office/drawing/2014/main" id="{5794B97D-1B7D-4406-BFE3-16C40A4188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1276" y="1943100"/>
              <a:ext cx="338554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lang="en-US" dirty="0">
                  <a:solidFill>
                    <a:srgbClr val="000000"/>
                  </a:solidFill>
                  <a:latin typeface="Calibri"/>
                  <a:cs typeface="Calibri"/>
                </a:rPr>
                <a:t>+</a:t>
              </a:r>
            </a:p>
          </p:txBody>
        </p:sp>
        <p:sp>
          <p:nvSpPr>
            <p:cNvPr id="23" name="Line 30">
              <a:extLst>
                <a:ext uri="{FF2B5EF4-FFF2-40B4-BE49-F238E27FC236}">
                  <a16:creationId xmlns:a16="http://schemas.microsoft.com/office/drawing/2014/main" id="{C24E69EB-2862-4744-94A8-C6C6DCB7B6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5076" y="2705100"/>
              <a:ext cx="0" cy="3048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endParaRPr lang="en-US" sz="1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" name="Line 31">
              <a:extLst>
                <a:ext uri="{FF2B5EF4-FFF2-40B4-BE49-F238E27FC236}">
                  <a16:creationId xmlns:a16="http://schemas.microsoft.com/office/drawing/2014/main" id="{69EEFC2D-3780-4B26-B371-EB3868CAC2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16676" y="2705100"/>
              <a:ext cx="0" cy="3048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endParaRPr lang="en-US" sz="1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5" name="Text Box 32">
              <a:extLst>
                <a:ext uri="{FF2B5EF4-FFF2-40B4-BE49-F238E27FC236}">
                  <a16:creationId xmlns:a16="http://schemas.microsoft.com/office/drawing/2014/main" id="{DCF0AD1B-7407-435A-B248-D38A804E6F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4299" y="2848403"/>
              <a:ext cx="3007617" cy="83099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/>
              <a:r>
                <a:rPr lang="en-US" i="1" dirty="0">
                  <a:solidFill>
                    <a:srgbClr val="56127A"/>
                  </a:solidFill>
                  <a:latin typeface="Calibri"/>
                  <a:cs typeface="Calibri"/>
                </a:rPr>
                <a:t>TLB miss? Page Fault?</a:t>
              </a:r>
            </a:p>
            <a:p>
              <a:pPr algn="ctr" eaLnBrk="0" hangingPunct="0"/>
              <a:r>
                <a:rPr lang="en-US" i="1" dirty="0">
                  <a:solidFill>
                    <a:srgbClr val="56127A"/>
                  </a:solidFill>
                  <a:latin typeface="Calibri"/>
                  <a:cs typeface="Calibri"/>
                </a:rPr>
                <a:t>Protection violation?</a:t>
              </a:r>
              <a:endParaRPr lang="en-US" dirty="0">
                <a:solidFill>
                  <a:srgbClr val="56127A"/>
                </a:solidFill>
                <a:latin typeface="Calibri"/>
                <a:cs typeface="Calibri"/>
              </a:endParaRPr>
            </a:p>
          </p:txBody>
        </p:sp>
        <p:sp>
          <p:nvSpPr>
            <p:cNvPr id="26" name="Text Box 33">
              <a:extLst>
                <a:ext uri="{FF2B5EF4-FFF2-40B4-BE49-F238E27FC236}">
                  <a16:creationId xmlns:a16="http://schemas.microsoft.com/office/drawing/2014/main" id="{9DBCC350-B232-46C0-8826-96EBA37EE0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211" y="2848403"/>
              <a:ext cx="3007617" cy="83099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/>
              <a:r>
                <a:rPr lang="en-US" i="1">
                  <a:solidFill>
                    <a:srgbClr val="56127A"/>
                  </a:solidFill>
                  <a:latin typeface="Calibri"/>
                  <a:cs typeface="Calibri"/>
                </a:rPr>
                <a:t>TLB miss? Page Fault?</a:t>
              </a:r>
            </a:p>
            <a:p>
              <a:pPr algn="ctr" eaLnBrk="0" hangingPunct="0"/>
              <a:r>
                <a:rPr lang="en-US" i="1">
                  <a:solidFill>
                    <a:srgbClr val="56127A"/>
                  </a:solidFill>
                  <a:latin typeface="Calibri"/>
                  <a:cs typeface="Calibri"/>
                </a:rPr>
                <a:t>Protection violation?</a:t>
              </a:r>
              <a:endParaRPr lang="en-US">
                <a:solidFill>
                  <a:srgbClr val="56127A"/>
                </a:solidFill>
                <a:latin typeface="Calibri"/>
                <a:cs typeface="Calibri"/>
              </a:endParaRPr>
            </a:p>
          </p:txBody>
        </p:sp>
      </p:grp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1A1B414-F544-81A4-AB90-EA5B60CD4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546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458595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agnifying glass on clear background">
            <a:extLst>
              <a:ext uri="{FF2B5EF4-FFF2-40B4-BE49-F238E27FC236}">
                <a16:creationId xmlns:a16="http://schemas.microsoft.com/office/drawing/2014/main" id="{FAB2A13D-BF2B-30E2-639D-F5790EFC46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b="15730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BB70C5-D417-A314-9959-76699A341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Let’s Dig Deep into TLBs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39EB0-B790-576D-AE47-25700EA43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12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948D0F-421F-F1B1-0F36-217C2CB7B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7</a:t>
            </a:fld>
            <a:endParaRPr lang="en-US" sz="12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01145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542278" y="1363217"/>
            <a:ext cx="385191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Courier New"/>
                <a:cs typeface="Courier New"/>
              </a:rPr>
              <a:t>int</a:t>
            </a:r>
            <a:r>
              <a:rPr spc="-45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sum</a:t>
            </a:r>
            <a:r>
              <a:rPr spc="-35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40" dirty="0">
                <a:latin typeface="Courier New"/>
                <a:cs typeface="Courier New"/>
              </a:rPr>
              <a:t> </a:t>
            </a:r>
            <a:r>
              <a:rPr spc="-5" dirty="0">
                <a:latin typeface="Courier New"/>
                <a:cs typeface="Courier New"/>
              </a:rPr>
              <a:t>0;</a:t>
            </a:r>
            <a:endParaRPr>
              <a:latin typeface="Courier New"/>
              <a:cs typeface="Courier New"/>
            </a:endParaRPr>
          </a:p>
          <a:p>
            <a:pPr marL="927100" marR="5080" indent="-914400"/>
            <a:r>
              <a:rPr spc="-5" dirty="0">
                <a:latin typeface="Courier New"/>
                <a:cs typeface="Courier New"/>
              </a:rPr>
              <a:t>for</a:t>
            </a:r>
            <a:r>
              <a:rPr spc="-25" dirty="0">
                <a:latin typeface="Courier New"/>
                <a:cs typeface="Courier New"/>
              </a:rPr>
              <a:t> </a:t>
            </a:r>
            <a:r>
              <a:rPr spc="-5" dirty="0">
                <a:latin typeface="Courier New"/>
                <a:cs typeface="Courier New"/>
              </a:rPr>
              <a:t>(i</a:t>
            </a:r>
            <a:r>
              <a:rPr spc="-20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25" dirty="0">
                <a:latin typeface="Courier New"/>
                <a:cs typeface="Courier New"/>
              </a:rPr>
              <a:t> </a:t>
            </a:r>
            <a:r>
              <a:rPr spc="-5" dirty="0">
                <a:latin typeface="Courier New"/>
                <a:cs typeface="Courier New"/>
              </a:rPr>
              <a:t>0;</a:t>
            </a:r>
            <a:r>
              <a:rPr spc="-20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i</a:t>
            </a:r>
            <a:r>
              <a:rPr spc="-25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&lt;</a:t>
            </a:r>
            <a:r>
              <a:rPr spc="-25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2048;</a:t>
            </a:r>
            <a:r>
              <a:rPr spc="-15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i++)</a:t>
            </a:r>
            <a:r>
              <a:rPr spc="-20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{ </a:t>
            </a:r>
            <a:r>
              <a:rPr spc="-1065" dirty="0">
                <a:latin typeface="Courier New"/>
                <a:cs typeface="Courier New"/>
              </a:rPr>
              <a:t> </a:t>
            </a:r>
            <a:r>
              <a:rPr spc="-5" dirty="0">
                <a:latin typeface="Courier New"/>
                <a:cs typeface="Courier New"/>
              </a:rPr>
              <a:t>sum</a:t>
            </a:r>
            <a:r>
              <a:rPr spc="-25" dirty="0">
                <a:latin typeface="Courier New"/>
                <a:cs typeface="Courier New"/>
              </a:rPr>
              <a:t> </a:t>
            </a:r>
            <a:r>
              <a:rPr spc="-5" dirty="0">
                <a:latin typeface="Courier New"/>
                <a:cs typeface="Courier New"/>
              </a:rPr>
              <a:t>+=</a:t>
            </a:r>
            <a:r>
              <a:rPr spc="-20" dirty="0">
                <a:latin typeface="Courier New"/>
                <a:cs typeface="Courier New"/>
              </a:rPr>
              <a:t> </a:t>
            </a:r>
            <a:r>
              <a:rPr spc="-10" dirty="0">
                <a:solidFill>
                  <a:srgbClr val="00AFEF"/>
                </a:solidFill>
                <a:latin typeface="Courier New"/>
                <a:cs typeface="Courier New"/>
              </a:rPr>
              <a:t>a[i]</a:t>
            </a:r>
            <a:r>
              <a:rPr spc="-10"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12700"/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  <p:graphicFrame>
        <p:nvGraphicFramePr>
          <p:cNvPr id="14" name="object 5">
            <a:extLst>
              <a:ext uri="{FF2B5EF4-FFF2-40B4-BE49-F238E27FC236}">
                <a16:creationId xmlns:a16="http://schemas.microsoft.com/office/drawing/2014/main" id="{59AB58FC-13B2-F3EC-22E7-C7B0FCA64DF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72022" y="1227552"/>
          <a:ext cx="11047956" cy="5823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6392418" y="4413466"/>
            <a:ext cx="4060825" cy="1125855"/>
            <a:chOff x="4868417" y="4413465"/>
            <a:chExt cx="4060825" cy="1125855"/>
          </a:xfrm>
        </p:grpSpPr>
        <p:pic>
          <p:nvPicPr>
            <p:cNvPr id="7" name="object 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21716" y="4443828"/>
              <a:ext cx="3965489" cy="10189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68417" y="4413465"/>
              <a:ext cx="4060697" cy="112551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939664" y="4461890"/>
              <a:ext cx="3869690" cy="923290"/>
            </a:xfrm>
            <a:custGeom>
              <a:avLst/>
              <a:gdLst/>
              <a:ahLst/>
              <a:cxnLst/>
              <a:rect l="l" t="t" r="r" b="b"/>
              <a:pathLst>
                <a:path w="3869690" h="923289">
                  <a:moveTo>
                    <a:pt x="3869436" y="0"/>
                  </a:moveTo>
                  <a:lnTo>
                    <a:pt x="0" y="0"/>
                  </a:lnTo>
                  <a:lnTo>
                    <a:pt x="0" y="922782"/>
                  </a:lnTo>
                  <a:lnTo>
                    <a:pt x="3869436" y="922782"/>
                  </a:lnTo>
                  <a:lnTo>
                    <a:pt x="38694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4939664" y="4461890"/>
              <a:ext cx="3869690" cy="923290"/>
            </a:xfrm>
            <a:custGeom>
              <a:avLst/>
              <a:gdLst/>
              <a:ahLst/>
              <a:cxnLst/>
              <a:rect l="l" t="t" r="r" b="b"/>
              <a:pathLst>
                <a:path w="3869690" h="923289">
                  <a:moveTo>
                    <a:pt x="0" y="922782"/>
                  </a:moveTo>
                  <a:lnTo>
                    <a:pt x="3869436" y="922782"/>
                  </a:lnTo>
                  <a:lnTo>
                    <a:pt x="3869436" y="0"/>
                  </a:lnTo>
                  <a:lnTo>
                    <a:pt x="0" y="0"/>
                  </a:lnTo>
                  <a:lnTo>
                    <a:pt x="0" y="922782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463665" y="4461890"/>
            <a:ext cx="3869690" cy="861774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90805" marR="135890">
              <a:spcBef>
                <a:spcPts val="240"/>
              </a:spcBef>
            </a:pPr>
            <a:r>
              <a:rPr spc="-20" dirty="0">
                <a:latin typeface="Calibri"/>
                <a:cs typeface="Calibri"/>
              </a:rPr>
              <a:t>Would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hit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rate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get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better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or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worse </a:t>
            </a:r>
            <a:r>
              <a:rPr dirty="0">
                <a:latin typeface="Calibri"/>
                <a:cs typeface="Calibri"/>
              </a:rPr>
              <a:t>with </a:t>
            </a:r>
            <a:r>
              <a:rPr spc="-39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smaller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pages?</a:t>
            </a:r>
            <a:endParaRPr>
              <a:latin typeface="Calibri"/>
              <a:cs typeface="Calibri"/>
            </a:endParaRPr>
          </a:p>
          <a:p>
            <a:pPr marL="90805">
              <a:spcBef>
                <a:spcPts val="5"/>
              </a:spcBef>
            </a:pPr>
            <a:r>
              <a:rPr b="1" spc="-5" dirty="0">
                <a:latin typeface="Calibri"/>
                <a:cs typeface="Calibri"/>
              </a:rPr>
              <a:t>Answer: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spc="-20" dirty="0">
                <a:latin typeface="Calibri"/>
                <a:cs typeface="Calibri"/>
              </a:rPr>
              <a:t>Worse</a:t>
            </a:r>
            <a:endParaRPr>
              <a:latin typeface="Calibri"/>
              <a:cs typeface="Calibri"/>
            </a:endParaRPr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025211F6-A4CE-F221-0A0C-1ABC30800AE9}"/>
              </a:ext>
            </a:extLst>
          </p:cNvPr>
          <p:cNvSpPr txBox="1">
            <a:spLocks/>
          </p:cNvSpPr>
          <p:nvPr/>
        </p:nvSpPr>
        <p:spPr>
          <a:xfrm>
            <a:off x="2582546" y="6356350"/>
            <a:ext cx="55321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2B5C434A-DA1B-F762-A215-B83A6F18AA9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651ABE-1138-46C6-9A43-7FCD4EB2550C}" type="slidenum">
              <a:rPr lang="en-IN" smtClean="0"/>
              <a:pPr/>
              <a:t>8</a:t>
            </a:fld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31390" y="487934"/>
            <a:ext cx="7806690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TLB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spc="-40" dirty="0"/>
              <a:t>Workload</a:t>
            </a:r>
            <a:r>
              <a:rPr spc="15" dirty="0"/>
              <a:t> </a:t>
            </a:r>
            <a:r>
              <a:rPr spc="-10" dirty="0"/>
              <a:t>Access</a:t>
            </a:r>
            <a:r>
              <a:rPr spc="-15" dirty="0"/>
              <a:t> </a:t>
            </a:r>
            <a:r>
              <a:rPr spc="-20" dirty="0"/>
              <a:t>Patterns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31391" y="1324356"/>
            <a:ext cx="6919595" cy="1709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115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Sequential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array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accesses</a:t>
            </a:r>
            <a:r>
              <a:rPr sz="2600" spc="-10" dirty="0">
                <a:latin typeface="Calibri"/>
                <a:cs typeface="Calibri"/>
              </a:rPr>
              <a:t> almost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always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hit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in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TLB</a:t>
            </a:r>
            <a:endParaRPr sz="2600" dirty="0">
              <a:latin typeface="Calibri"/>
              <a:cs typeface="Calibri"/>
            </a:endParaRPr>
          </a:p>
          <a:p>
            <a:pPr marL="698500" lvl="1" indent="-228600">
              <a:lnSpc>
                <a:spcPts val="2635"/>
              </a:lnSpc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200" spc="-25" dirty="0">
                <a:latin typeface="Calibri"/>
                <a:cs typeface="Calibri"/>
              </a:rPr>
              <a:t>Very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fast!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176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What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access </a:t>
            </a:r>
            <a:r>
              <a:rPr sz="2600" spc="-20" dirty="0">
                <a:latin typeface="Calibri"/>
                <a:cs typeface="Calibri"/>
              </a:rPr>
              <a:t>pattern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will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be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slow?</a:t>
            </a:r>
            <a:endParaRPr sz="2600" dirty="0">
              <a:latin typeface="Calibri"/>
              <a:cs typeface="Calibri"/>
            </a:endParaRPr>
          </a:p>
          <a:p>
            <a:pPr marL="698500" lvl="1" indent="-228600">
              <a:lnSpc>
                <a:spcPts val="2635"/>
              </a:lnSpc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200" spc="-5" dirty="0">
                <a:latin typeface="Calibri"/>
                <a:cs typeface="Calibri"/>
              </a:rPr>
              <a:t>Highly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random,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no</a:t>
            </a:r>
            <a:r>
              <a:rPr sz="2200" spc="-10" dirty="0">
                <a:latin typeface="Calibri"/>
                <a:cs typeface="Calibri"/>
              </a:rPr>
              <a:t> repeat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accesses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05076" y="3203000"/>
            <a:ext cx="2616200" cy="73279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428115">
              <a:spcBef>
                <a:spcPts val="805"/>
              </a:spcBef>
            </a:pPr>
            <a:r>
              <a:rPr sz="1650" b="1" spc="-5" dirty="0">
                <a:latin typeface="Arial"/>
                <a:cs typeface="Arial"/>
              </a:rPr>
              <a:t>W</a:t>
            </a:r>
            <a:r>
              <a:rPr sz="1650" b="1" spc="15" dirty="0">
                <a:latin typeface="Arial"/>
                <a:cs typeface="Arial"/>
              </a:rPr>
              <a:t>orkload</a:t>
            </a:r>
            <a:r>
              <a:rPr sz="1650" b="1" spc="-75" dirty="0">
                <a:latin typeface="Arial"/>
                <a:cs typeface="Arial"/>
              </a:rPr>
              <a:t> </a:t>
            </a:r>
            <a:r>
              <a:rPr sz="1650" b="1" spc="25" dirty="0">
                <a:latin typeface="Arial"/>
                <a:cs typeface="Arial"/>
              </a:rPr>
              <a:t>A</a:t>
            </a:r>
            <a:endParaRPr sz="1650">
              <a:latin typeface="Arial"/>
              <a:cs typeface="Arial"/>
            </a:endParaRPr>
          </a:p>
          <a:p>
            <a:pPr marL="12700">
              <a:spcBef>
                <a:spcPts val="720"/>
              </a:spcBef>
            </a:pPr>
            <a:r>
              <a:rPr spc="-5" dirty="0">
                <a:solidFill>
                  <a:srgbClr val="333333"/>
                </a:solidFill>
                <a:latin typeface="Courier New"/>
                <a:cs typeface="Courier New"/>
              </a:rPr>
              <a:t>int</a:t>
            </a:r>
            <a:r>
              <a:rPr spc="-45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pc="-10" dirty="0">
                <a:solidFill>
                  <a:srgbClr val="333333"/>
                </a:solidFill>
                <a:latin typeface="Courier New"/>
                <a:cs typeface="Courier New"/>
              </a:rPr>
              <a:t>sum</a:t>
            </a:r>
            <a:r>
              <a:rPr spc="-35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spc="-40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pc="-5" dirty="0">
                <a:solidFill>
                  <a:srgbClr val="333333"/>
                </a:solidFill>
                <a:latin typeface="Courier New"/>
                <a:cs typeface="Courier New"/>
              </a:rPr>
              <a:t>0;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05077" y="4187698"/>
            <a:ext cx="3305175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927100" marR="5080" indent="-914400">
              <a:lnSpc>
                <a:spcPts val="1939"/>
              </a:lnSpc>
              <a:spcBef>
                <a:spcPts val="345"/>
              </a:spcBef>
            </a:pPr>
            <a:r>
              <a:rPr spc="-5" dirty="0">
                <a:solidFill>
                  <a:srgbClr val="333333"/>
                </a:solidFill>
                <a:latin typeface="Courier New"/>
                <a:cs typeface="Courier New"/>
              </a:rPr>
              <a:t>for </a:t>
            </a:r>
            <a:r>
              <a:rPr spc="-10" dirty="0">
                <a:solidFill>
                  <a:srgbClr val="333333"/>
                </a:solidFill>
                <a:latin typeface="Courier New"/>
                <a:cs typeface="Courier New"/>
              </a:rPr>
              <a:t>(i=0; i&lt;2000; i++) </a:t>
            </a:r>
            <a:r>
              <a:rPr dirty="0">
                <a:solidFill>
                  <a:srgbClr val="333333"/>
                </a:solidFill>
                <a:latin typeface="Courier New"/>
                <a:cs typeface="Courier New"/>
              </a:rPr>
              <a:t>{ </a:t>
            </a:r>
            <a:r>
              <a:rPr spc="-1070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pc="-5" dirty="0">
                <a:solidFill>
                  <a:srgbClr val="333333"/>
                </a:solidFill>
                <a:latin typeface="Courier New"/>
                <a:cs typeface="Courier New"/>
              </a:rPr>
              <a:t>sum</a:t>
            </a:r>
            <a:r>
              <a:rPr spc="-30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pc="-5" dirty="0">
                <a:solidFill>
                  <a:srgbClr val="333333"/>
                </a:solidFill>
                <a:latin typeface="Courier New"/>
                <a:cs typeface="Courier New"/>
              </a:rPr>
              <a:t>+=</a:t>
            </a:r>
            <a:r>
              <a:rPr spc="-20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pc="-10" dirty="0">
                <a:solidFill>
                  <a:srgbClr val="333333"/>
                </a:solidFill>
                <a:latin typeface="Courier New"/>
                <a:cs typeface="Courier New"/>
              </a:rPr>
              <a:t>a[i];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05077" y="4986273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333333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25083" y="3231021"/>
            <a:ext cx="3493135" cy="3045064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181735">
              <a:spcBef>
                <a:spcPts val="585"/>
              </a:spcBef>
            </a:pPr>
            <a:r>
              <a:rPr sz="1650" b="1" spc="15" dirty="0">
                <a:latin typeface="Arial"/>
                <a:cs typeface="Arial"/>
              </a:rPr>
              <a:t>Workload</a:t>
            </a:r>
            <a:r>
              <a:rPr sz="1650" b="1" spc="-55" dirty="0">
                <a:latin typeface="Arial"/>
                <a:cs typeface="Arial"/>
              </a:rPr>
              <a:t> </a:t>
            </a:r>
            <a:r>
              <a:rPr sz="1650" b="1" spc="25" dirty="0">
                <a:latin typeface="Arial"/>
                <a:cs typeface="Arial"/>
              </a:rPr>
              <a:t>B</a:t>
            </a:r>
            <a:endParaRPr sz="1650">
              <a:latin typeface="Arial"/>
              <a:cs typeface="Arial"/>
            </a:endParaRPr>
          </a:p>
          <a:p>
            <a:pPr marL="12700" marR="1738630">
              <a:spcBef>
                <a:spcPts val="505"/>
              </a:spcBef>
            </a:pPr>
            <a:r>
              <a:rPr sz="1900" spc="-10" dirty="0">
                <a:latin typeface="Courier New"/>
                <a:cs typeface="Courier New"/>
              </a:rPr>
              <a:t>int</a:t>
            </a:r>
            <a:r>
              <a:rPr sz="1900" spc="-3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sum</a:t>
            </a:r>
            <a:r>
              <a:rPr sz="1900" spc="-25" dirty="0">
                <a:latin typeface="Courier New"/>
                <a:cs typeface="Courier New"/>
              </a:rPr>
              <a:t> </a:t>
            </a:r>
            <a:r>
              <a:rPr sz="1900" spc="-5" dirty="0">
                <a:latin typeface="Courier New"/>
                <a:cs typeface="Courier New"/>
              </a:rPr>
              <a:t>=</a:t>
            </a:r>
            <a:r>
              <a:rPr sz="1900" spc="-3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0; </a:t>
            </a:r>
            <a:r>
              <a:rPr sz="1900" spc="-112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srand(1234);</a:t>
            </a:r>
            <a:endParaRPr sz="1900">
              <a:latin typeface="Courier New"/>
              <a:cs typeface="Courier New"/>
            </a:endParaRPr>
          </a:p>
          <a:p>
            <a:pPr marL="410845" marR="5080" indent="-398780">
              <a:lnSpc>
                <a:spcPts val="2280"/>
              </a:lnSpc>
              <a:spcBef>
                <a:spcPts val="75"/>
              </a:spcBef>
            </a:pPr>
            <a:r>
              <a:rPr sz="1900" spc="-10" dirty="0">
                <a:latin typeface="Courier New"/>
                <a:cs typeface="Courier New"/>
              </a:rPr>
              <a:t>for (i=0; i&lt;1000; i++) </a:t>
            </a:r>
            <a:r>
              <a:rPr sz="1900" spc="-5" dirty="0">
                <a:latin typeface="Courier New"/>
                <a:cs typeface="Courier New"/>
              </a:rPr>
              <a:t>{ </a:t>
            </a:r>
            <a:r>
              <a:rPr sz="1900" spc="-113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sum</a:t>
            </a:r>
            <a:r>
              <a:rPr sz="1900" spc="-20" dirty="0">
                <a:latin typeface="Courier New"/>
                <a:cs typeface="Courier New"/>
              </a:rPr>
              <a:t> </a:t>
            </a:r>
            <a:r>
              <a:rPr sz="1900" spc="-5" dirty="0">
                <a:latin typeface="Courier New"/>
                <a:cs typeface="Courier New"/>
              </a:rPr>
              <a:t>+=</a:t>
            </a:r>
            <a:r>
              <a:rPr sz="1900" spc="-10" dirty="0">
                <a:latin typeface="Courier New"/>
                <a:cs typeface="Courier New"/>
              </a:rPr>
              <a:t> </a:t>
            </a:r>
            <a:r>
              <a:rPr sz="1900" spc="-10" dirty="0">
                <a:solidFill>
                  <a:srgbClr val="11DBE2"/>
                </a:solidFill>
                <a:latin typeface="Courier New"/>
                <a:cs typeface="Courier New"/>
              </a:rPr>
              <a:t>a[rand()</a:t>
            </a:r>
            <a:r>
              <a:rPr sz="1900" spc="-15" dirty="0">
                <a:solidFill>
                  <a:srgbClr val="11DBE2"/>
                </a:solidFill>
                <a:latin typeface="Courier New"/>
                <a:cs typeface="Courier New"/>
              </a:rPr>
              <a:t> </a:t>
            </a:r>
            <a:r>
              <a:rPr sz="1900" spc="-5" dirty="0">
                <a:solidFill>
                  <a:srgbClr val="11DBE2"/>
                </a:solidFill>
                <a:latin typeface="Courier New"/>
                <a:cs typeface="Courier New"/>
              </a:rPr>
              <a:t>%</a:t>
            </a:r>
            <a:r>
              <a:rPr sz="1900" spc="-15" dirty="0">
                <a:solidFill>
                  <a:srgbClr val="11DBE2"/>
                </a:solidFill>
                <a:latin typeface="Courier New"/>
                <a:cs typeface="Courier New"/>
              </a:rPr>
              <a:t> </a:t>
            </a:r>
            <a:r>
              <a:rPr sz="1900" spc="-10" dirty="0">
                <a:solidFill>
                  <a:srgbClr val="11DBE2"/>
                </a:solidFill>
                <a:latin typeface="Courier New"/>
                <a:cs typeface="Courier New"/>
              </a:rPr>
              <a:t>N]</a:t>
            </a:r>
            <a:r>
              <a:rPr sz="1900" spc="-10" dirty="0">
                <a:latin typeface="Courier New"/>
                <a:cs typeface="Courier New"/>
              </a:rPr>
              <a:t>;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ts val="2200"/>
              </a:lnSpc>
            </a:pPr>
            <a:r>
              <a:rPr sz="1900" spc="-5" dirty="0">
                <a:latin typeface="Courier New"/>
                <a:cs typeface="Courier New"/>
              </a:rPr>
              <a:t>}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ts val="2275"/>
              </a:lnSpc>
            </a:pPr>
            <a:r>
              <a:rPr sz="1900" spc="-10" dirty="0">
                <a:latin typeface="Courier New"/>
                <a:cs typeface="Courier New"/>
              </a:rPr>
              <a:t>srand(1234);</a:t>
            </a:r>
            <a:endParaRPr sz="1900">
              <a:latin typeface="Courier New"/>
              <a:cs typeface="Courier New"/>
            </a:endParaRPr>
          </a:p>
          <a:p>
            <a:pPr marL="410845" marR="5080" indent="-398780">
              <a:lnSpc>
                <a:spcPts val="2280"/>
              </a:lnSpc>
              <a:spcBef>
                <a:spcPts val="70"/>
              </a:spcBef>
            </a:pPr>
            <a:r>
              <a:rPr sz="1900" spc="-10" dirty="0">
                <a:latin typeface="Courier New"/>
                <a:cs typeface="Courier New"/>
              </a:rPr>
              <a:t>for (i=0; i&lt;1000; i++) </a:t>
            </a:r>
            <a:r>
              <a:rPr sz="1900" spc="-5" dirty="0">
                <a:latin typeface="Courier New"/>
                <a:cs typeface="Courier New"/>
              </a:rPr>
              <a:t>{ </a:t>
            </a:r>
            <a:r>
              <a:rPr sz="1900" spc="-113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sum</a:t>
            </a:r>
            <a:r>
              <a:rPr sz="1900" spc="-20" dirty="0">
                <a:latin typeface="Courier New"/>
                <a:cs typeface="Courier New"/>
              </a:rPr>
              <a:t> </a:t>
            </a:r>
            <a:r>
              <a:rPr sz="1900" spc="-5" dirty="0">
                <a:latin typeface="Courier New"/>
                <a:cs typeface="Courier New"/>
              </a:rPr>
              <a:t>+=</a:t>
            </a:r>
            <a:r>
              <a:rPr sz="1900" spc="-10" dirty="0">
                <a:latin typeface="Courier New"/>
                <a:cs typeface="Courier New"/>
              </a:rPr>
              <a:t> </a:t>
            </a:r>
            <a:r>
              <a:rPr sz="1900" spc="-10" dirty="0">
                <a:solidFill>
                  <a:srgbClr val="11DBE2"/>
                </a:solidFill>
                <a:latin typeface="Courier New"/>
                <a:cs typeface="Courier New"/>
              </a:rPr>
              <a:t>a[rand()</a:t>
            </a:r>
            <a:r>
              <a:rPr sz="1900" spc="-15" dirty="0">
                <a:solidFill>
                  <a:srgbClr val="11DBE2"/>
                </a:solidFill>
                <a:latin typeface="Courier New"/>
                <a:cs typeface="Courier New"/>
              </a:rPr>
              <a:t> </a:t>
            </a:r>
            <a:r>
              <a:rPr sz="1900" spc="-5" dirty="0">
                <a:solidFill>
                  <a:srgbClr val="11DBE2"/>
                </a:solidFill>
                <a:latin typeface="Courier New"/>
                <a:cs typeface="Courier New"/>
              </a:rPr>
              <a:t>%</a:t>
            </a:r>
            <a:r>
              <a:rPr sz="1900" spc="-15" dirty="0">
                <a:solidFill>
                  <a:srgbClr val="11DBE2"/>
                </a:solidFill>
                <a:latin typeface="Courier New"/>
                <a:cs typeface="Courier New"/>
              </a:rPr>
              <a:t> </a:t>
            </a:r>
            <a:r>
              <a:rPr sz="1900" spc="-10" dirty="0">
                <a:solidFill>
                  <a:srgbClr val="11DBE2"/>
                </a:solidFill>
                <a:latin typeface="Courier New"/>
                <a:cs typeface="Courier New"/>
              </a:rPr>
              <a:t>N]</a:t>
            </a:r>
            <a:r>
              <a:rPr sz="1900" spc="-10" dirty="0">
                <a:latin typeface="Courier New"/>
                <a:cs typeface="Courier New"/>
              </a:rPr>
              <a:t>;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ts val="2205"/>
              </a:lnSpc>
            </a:pPr>
            <a:r>
              <a:rPr sz="1900" spc="-5" dirty="0">
                <a:latin typeface="Courier New"/>
                <a:cs typeface="Courier New"/>
              </a:rPr>
              <a:t>}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EC3C4C1-1738-5D8A-DDA5-A88941605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546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AD36060-1295-4E3E-F741-DCA4A579C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8651ABE-1138-46C6-9A43-7FCD4EB2550C}" type="slidenum">
              <a:rPr lang="en-IN" smtClean="0"/>
              <a:pPr/>
              <a:t>9</a:t>
            </a:fld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052027" y="2188845"/>
            <a:ext cx="3506470" cy="3554095"/>
          </a:xfrm>
          <a:custGeom>
            <a:avLst/>
            <a:gdLst/>
            <a:ahLst/>
            <a:cxnLst/>
            <a:rect l="l" t="t" r="r" b="b"/>
            <a:pathLst>
              <a:path w="3506470" h="3554095">
                <a:moveTo>
                  <a:pt x="3506381" y="3477006"/>
                </a:moveTo>
                <a:lnTo>
                  <a:pt x="3353219" y="3400387"/>
                </a:lnTo>
                <a:lnTo>
                  <a:pt x="3353219" y="3451453"/>
                </a:lnTo>
                <a:lnTo>
                  <a:pt x="101384" y="3450729"/>
                </a:lnTo>
                <a:lnTo>
                  <a:pt x="102108" y="153162"/>
                </a:lnTo>
                <a:lnTo>
                  <a:pt x="153162" y="153162"/>
                </a:lnTo>
                <a:lnTo>
                  <a:pt x="140398" y="127635"/>
                </a:lnTo>
                <a:lnTo>
                  <a:pt x="76619" y="0"/>
                </a:lnTo>
                <a:lnTo>
                  <a:pt x="0" y="153162"/>
                </a:lnTo>
                <a:lnTo>
                  <a:pt x="51054" y="153162"/>
                </a:lnTo>
                <a:lnTo>
                  <a:pt x="50330" y="3502926"/>
                </a:lnTo>
                <a:lnTo>
                  <a:pt x="101384" y="3502914"/>
                </a:lnTo>
                <a:lnTo>
                  <a:pt x="101384" y="3501783"/>
                </a:lnTo>
                <a:lnTo>
                  <a:pt x="3353219" y="3502507"/>
                </a:lnTo>
                <a:lnTo>
                  <a:pt x="3353219" y="3553549"/>
                </a:lnTo>
                <a:lnTo>
                  <a:pt x="3455352" y="3502507"/>
                </a:lnTo>
                <a:lnTo>
                  <a:pt x="3506381" y="3477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25851" y="5739891"/>
            <a:ext cx="429895" cy="27122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650" spc="15" dirty="0">
                <a:latin typeface="Arial MT"/>
                <a:cs typeface="Arial MT"/>
              </a:rPr>
              <a:t>time</a:t>
            </a:r>
            <a:endParaRPr sz="165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3793" y="3543681"/>
            <a:ext cx="155854" cy="74561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925825" y="1375157"/>
            <a:ext cx="1999614" cy="5403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spcBef>
                <a:spcPts val="135"/>
              </a:spcBef>
            </a:pPr>
            <a:r>
              <a:rPr sz="1650" spc="10" dirty="0">
                <a:latin typeface="Arial MT"/>
                <a:cs typeface="Arial MT"/>
              </a:rPr>
              <a:t>Sequential</a:t>
            </a:r>
            <a:r>
              <a:rPr sz="1650" spc="-100" dirty="0">
                <a:latin typeface="Arial MT"/>
                <a:cs typeface="Arial MT"/>
              </a:rPr>
              <a:t> </a:t>
            </a:r>
            <a:r>
              <a:rPr sz="1650" spc="15" dirty="0">
                <a:latin typeface="Arial MT"/>
                <a:cs typeface="Arial MT"/>
              </a:rPr>
              <a:t>Accesses</a:t>
            </a:r>
            <a:endParaRPr sz="1650">
              <a:latin typeface="Arial MT"/>
              <a:cs typeface="Arial MT"/>
            </a:endParaRPr>
          </a:p>
          <a:p>
            <a:pPr algn="ctr">
              <a:spcBef>
                <a:spcPts val="45"/>
              </a:spcBef>
            </a:pPr>
            <a:r>
              <a:rPr sz="1650" spc="20" dirty="0">
                <a:latin typeface="Arial MT"/>
                <a:cs typeface="Arial MT"/>
              </a:rPr>
              <a:t>(Good</a:t>
            </a:r>
            <a:r>
              <a:rPr sz="1650" spc="-30" dirty="0">
                <a:latin typeface="Arial MT"/>
                <a:cs typeface="Arial MT"/>
              </a:rPr>
              <a:t> </a:t>
            </a:r>
            <a:r>
              <a:rPr sz="1650" spc="10" dirty="0">
                <a:latin typeface="Arial MT"/>
                <a:cs typeface="Arial MT"/>
              </a:rPr>
              <a:t>for</a:t>
            </a:r>
            <a:r>
              <a:rPr sz="1650" spc="-55" dirty="0">
                <a:latin typeface="Arial MT"/>
                <a:cs typeface="Arial MT"/>
              </a:rPr>
              <a:t> </a:t>
            </a:r>
            <a:r>
              <a:rPr sz="1650" spc="15" dirty="0">
                <a:latin typeface="Arial MT"/>
                <a:cs typeface="Arial MT"/>
              </a:rPr>
              <a:t>TLB)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24862" y="2372118"/>
            <a:ext cx="3139440" cy="3074670"/>
          </a:xfrm>
          <a:custGeom>
            <a:avLst/>
            <a:gdLst/>
            <a:ahLst/>
            <a:cxnLst/>
            <a:rect l="l" t="t" r="r" b="b"/>
            <a:pathLst>
              <a:path w="3139440" h="3074670">
                <a:moveTo>
                  <a:pt x="319278" y="2754617"/>
                </a:moveTo>
                <a:lnTo>
                  <a:pt x="0" y="2754617"/>
                </a:lnTo>
                <a:lnTo>
                  <a:pt x="0" y="3074657"/>
                </a:lnTo>
                <a:lnTo>
                  <a:pt x="319278" y="3074657"/>
                </a:lnTo>
                <a:lnTo>
                  <a:pt x="319278" y="2754617"/>
                </a:lnTo>
                <a:close/>
              </a:path>
              <a:path w="3139440" h="3074670">
                <a:moveTo>
                  <a:pt x="644652" y="2446007"/>
                </a:moveTo>
                <a:lnTo>
                  <a:pt x="324612" y="2446007"/>
                </a:lnTo>
                <a:lnTo>
                  <a:pt x="324612" y="2765285"/>
                </a:lnTo>
                <a:lnTo>
                  <a:pt x="644652" y="2765285"/>
                </a:lnTo>
                <a:lnTo>
                  <a:pt x="644652" y="2446007"/>
                </a:lnTo>
                <a:close/>
              </a:path>
              <a:path w="3139440" h="3074670">
                <a:moveTo>
                  <a:pt x="971550" y="2111502"/>
                </a:moveTo>
                <a:lnTo>
                  <a:pt x="651510" y="2111502"/>
                </a:lnTo>
                <a:lnTo>
                  <a:pt x="651510" y="2431529"/>
                </a:lnTo>
                <a:lnTo>
                  <a:pt x="971550" y="2431529"/>
                </a:lnTo>
                <a:lnTo>
                  <a:pt x="971550" y="2111502"/>
                </a:lnTo>
                <a:close/>
              </a:path>
              <a:path w="3139440" h="3074670">
                <a:moveTo>
                  <a:pt x="1296162" y="1802879"/>
                </a:moveTo>
                <a:lnTo>
                  <a:pt x="976884" y="1802879"/>
                </a:lnTo>
                <a:lnTo>
                  <a:pt x="976884" y="2122157"/>
                </a:lnTo>
                <a:lnTo>
                  <a:pt x="1296162" y="2122157"/>
                </a:lnTo>
                <a:lnTo>
                  <a:pt x="1296162" y="1802879"/>
                </a:lnTo>
                <a:close/>
              </a:path>
              <a:path w="3139440" h="3074670">
                <a:moveTo>
                  <a:pt x="2162543" y="951725"/>
                </a:moveTo>
                <a:lnTo>
                  <a:pt x="1842516" y="951725"/>
                </a:lnTo>
                <a:lnTo>
                  <a:pt x="1842516" y="1271003"/>
                </a:lnTo>
                <a:lnTo>
                  <a:pt x="2162543" y="1271003"/>
                </a:lnTo>
                <a:lnTo>
                  <a:pt x="2162543" y="951725"/>
                </a:lnTo>
                <a:close/>
              </a:path>
              <a:path w="3139440" h="3074670">
                <a:moveTo>
                  <a:pt x="2487155" y="642353"/>
                </a:moveTo>
                <a:lnTo>
                  <a:pt x="2167890" y="642353"/>
                </a:lnTo>
                <a:lnTo>
                  <a:pt x="2167890" y="962393"/>
                </a:lnTo>
                <a:lnTo>
                  <a:pt x="2487155" y="962393"/>
                </a:lnTo>
                <a:lnTo>
                  <a:pt x="2487155" y="642353"/>
                </a:lnTo>
                <a:close/>
              </a:path>
              <a:path w="3139440" h="3074670">
                <a:moveTo>
                  <a:pt x="2814066" y="308597"/>
                </a:moveTo>
                <a:lnTo>
                  <a:pt x="2494788" y="308597"/>
                </a:lnTo>
                <a:lnTo>
                  <a:pt x="2494788" y="628637"/>
                </a:lnTo>
                <a:lnTo>
                  <a:pt x="2814066" y="628637"/>
                </a:lnTo>
                <a:lnTo>
                  <a:pt x="2814066" y="308597"/>
                </a:lnTo>
                <a:close/>
              </a:path>
              <a:path w="3139440" h="3074670">
                <a:moveTo>
                  <a:pt x="3139440" y="0"/>
                </a:moveTo>
                <a:lnTo>
                  <a:pt x="2819400" y="0"/>
                </a:lnTo>
                <a:lnTo>
                  <a:pt x="2819400" y="319265"/>
                </a:lnTo>
                <a:lnTo>
                  <a:pt x="3139440" y="319265"/>
                </a:lnTo>
                <a:lnTo>
                  <a:pt x="3139440" y="0"/>
                </a:lnTo>
                <a:close/>
              </a:path>
            </a:pathLst>
          </a:custGeom>
          <a:solidFill>
            <a:srgbClr val="1396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06541" y="2188845"/>
            <a:ext cx="3505835" cy="3554095"/>
          </a:xfrm>
          <a:custGeom>
            <a:avLst/>
            <a:gdLst/>
            <a:ahLst/>
            <a:cxnLst/>
            <a:rect l="l" t="t" r="r" b="b"/>
            <a:pathLst>
              <a:path w="3505834" h="3554095">
                <a:moveTo>
                  <a:pt x="3505581" y="3477006"/>
                </a:moveTo>
                <a:lnTo>
                  <a:pt x="3352419" y="3400387"/>
                </a:lnTo>
                <a:lnTo>
                  <a:pt x="3352419" y="3451453"/>
                </a:lnTo>
                <a:lnTo>
                  <a:pt x="101346" y="3450729"/>
                </a:lnTo>
                <a:lnTo>
                  <a:pt x="102095" y="153162"/>
                </a:lnTo>
                <a:lnTo>
                  <a:pt x="153162" y="153162"/>
                </a:lnTo>
                <a:lnTo>
                  <a:pt x="140398" y="127635"/>
                </a:lnTo>
                <a:lnTo>
                  <a:pt x="76581" y="0"/>
                </a:lnTo>
                <a:lnTo>
                  <a:pt x="0" y="153162"/>
                </a:lnTo>
                <a:lnTo>
                  <a:pt x="51041" y="153162"/>
                </a:lnTo>
                <a:lnTo>
                  <a:pt x="50292" y="3502926"/>
                </a:lnTo>
                <a:lnTo>
                  <a:pt x="101346" y="3502914"/>
                </a:lnTo>
                <a:lnTo>
                  <a:pt x="101346" y="3501783"/>
                </a:lnTo>
                <a:lnTo>
                  <a:pt x="3352419" y="3502507"/>
                </a:lnTo>
                <a:lnTo>
                  <a:pt x="3352419" y="3553549"/>
                </a:lnTo>
                <a:lnTo>
                  <a:pt x="3454552" y="3502507"/>
                </a:lnTo>
                <a:lnTo>
                  <a:pt x="3505581" y="3477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180324" y="5739891"/>
            <a:ext cx="429895" cy="27122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650" spc="15" dirty="0">
                <a:latin typeface="Arial MT"/>
                <a:cs typeface="Arial MT"/>
              </a:rPr>
              <a:t>time</a:t>
            </a:r>
            <a:endParaRPr sz="165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07963" y="3543681"/>
            <a:ext cx="155828" cy="74561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359141" y="1375157"/>
            <a:ext cx="1796414" cy="5403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650" spc="20" dirty="0">
                <a:latin typeface="Arial MT"/>
                <a:cs typeface="Arial MT"/>
              </a:rPr>
              <a:t>Random</a:t>
            </a:r>
            <a:r>
              <a:rPr sz="1650" spc="-100" dirty="0">
                <a:latin typeface="Arial MT"/>
                <a:cs typeface="Arial MT"/>
              </a:rPr>
              <a:t> </a:t>
            </a:r>
            <a:r>
              <a:rPr sz="1650" spc="15" dirty="0">
                <a:latin typeface="Arial MT"/>
                <a:cs typeface="Arial MT"/>
              </a:rPr>
              <a:t>Access</a:t>
            </a:r>
            <a:r>
              <a:rPr sz="1650" spc="5" dirty="0">
                <a:latin typeface="Arial MT"/>
                <a:cs typeface="Arial MT"/>
              </a:rPr>
              <a:t>e</a:t>
            </a:r>
            <a:r>
              <a:rPr sz="1650" spc="15" dirty="0">
                <a:latin typeface="Arial MT"/>
                <a:cs typeface="Arial MT"/>
              </a:rPr>
              <a:t>s</a:t>
            </a:r>
            <a:endParaRPr sz="1650">
              <a:latin typeface="Arial MT"/>
              <a:cs typeface="Arial MT"/>
            </a:endParaRPr>
          </a:p>
          <a:p>
            <a:pPr marL="397510">
              <a:spcBef>
                <a:spcPts val="45"/>
              </a:spcBef>
            </a:pPr>
            <a:r>
              <a:rPr sz="1650" spc="15" dirty="0">
                <a:latin typeface="Arial MT"/>
                <a:cs typeface="Arial MT"/>
              </a:rPr>
              <a:t>(Bad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spc="10" dirty="0">
                <a:latin typeface="Arial MT"/>
                <a:cs typeface="Arial MT"/>
              </a:rPr>
              <a:t>for</a:t>
            </a:r>
            <a:r>
              <a:rPr sz="1650" spc="-55" dirty="0">
                <a:latin typeface="Arial MT"/>
                <a:cs typeface="Arial MT"/>
              </a:rPr>
              <a:t> </a:t>
            </a:r>
            <a:r>
              <a:rPr sz="1650" spc="15" dirty="0">
                <a:latin typeface="Arial MT"/>
                <a:cs typeface="Arial MT"/>
              </a:rPr>
              <a:t>TLB)</a:t>
            </a:r>
            <a:endParaRPr sz="16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878574" y="2299717"/>
            <a:ext cx="3350895" cy="3016885"/>
            <a:chOff x="5354573" y="2299716"/>
            <a:chExt cx="3350895" cy="3016885"/>
          </a:xfrm>
        </p:grpSpPr>
        <p:sp>
          <p:nvSpPr>
            <p:cNvPr id="14" name="object 14"/>
            <p:cNvSpPr/>
            <p:nvPr/>
          </p:nvSpPr>
          <p:spPr>
            <a:xfrm>
              <a:off x="5354574" y="2299715"/>
              <a:ext cx="1297305" cy="3016885"/>
            </a:xfrm>
            <a:custGeom>
              <a:avLst/>
              <a:gdLst/>
              <a:ahLst/>
              <a:cxnLst/>
              <a:rect l="l" t="t" r="r" b="b"/>
              <a:pathLst>
                <a:path w="1297304" h="3016885">
                  <a:moveTo>
                    <a:pt x="320040" y="684288"/>
                  </a:moveTo>
                  <a:lnTo>
                    <a:pt x="0" y="684288"/>
                  </a:lnTo>
                  <a:lnTo>
                    <a:pt x="0" y="1003554"/>
                  </a:lnTo>
                  <a:lnTo>
                    <a:pt x="320040" y="1003554"/>
                  </a:lnTo>
                  <a:lnTo>
                    <a:pt x="320040" y="684288"/>
                  </a:lnTo>
                  <a:close/>
                </a:path>
                <a:path w="1297304" h="3016885">
                  <a:moveTo>
                    <a:pt x="644652" y="2696730"/>
                  </a:moveTo>
                  <a:lnTo>
                    <a:pt x="325374" y="2696730"/>
                  </a:lnTo>
                  <a:lnTo>
                    <a:pt x="325374" y="3016758"/>
                  </a:lnTo>
                  <a:lnTo>
                    <a:pt x="644652" y="3016758"/>
                  </a:lnTo>
                  <a:lnTo>
                    <a:pt x="644652" y="2696730"/>
                  </a:lnTo>
                  <a:close/>
                </a:path>
                <a:path w="1297304" h="3016885">
                  <a:moveTo>
                    <a:pt x="971550" y="1648206"/>
                  </a:moveTo>
                  <a:lnTo>
                    <a:pt x="652272" y="1648206"/>
                  </a:lnTo>
                  <a:lnTo>
                    <a:pt x="652272" y="1968246"/>
                  </a:lnTo>
                  <a:lnTo>
                    <a:pt x="971550" y="1968246"/>
                  </a:lnTo>
                  <a:lnTo>
                    <a:pt x="971550" y="1648206"/>
                  </a:lnTo>
                  <a:close/>
                </a:path>
                <a:path w="1297304" h="3016885">
                  <a:moveTo>
                    <a:pt x="1296924" y="0"/>
                  </a:moveTo>
                  <a:lnTo>
                    <a:pt x="976884" y="0"/>
                  </a:lnTo>
                  <a:lnTo>
                    <a:pt x="976884" y="320040"/>
                  </a:lnTo>
                  <a:lnTo>
                    <a:pt x="1296924" y="320040"/>
                  </a:lnTo>
                  <a:lnTo>
                    <a:pt x="1296924" y="0"/>
                  </a:lnTo>
                  <a:close/>
                </a:path>
              </a:pathLst>
            </a:custGeom>
            <a:solidFill>
              <a:srgbClr val="139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08926" y="2299715"/>
              <a:ext cx="1296670" cy="3016885"/>
            </a:xfrm>
            <a:custGeom>
              <a:avLst/>
              <a:gdLst/>
              <a:ahLst/>
              <a:cxnLst/>
              <a:rect l="l" t="t" r="r" b="b"/>
              <a:pathLst>
                <a:path w="1296670" h="3016885">
                  <a:moveTo>
                    <a:pt x="319278" y="684288"/>
                  </a:moveTo>
                  <a:lnTo>
                    <a:pt x="0" y="684288"/>
                  </a:lnTo>
                  <a:lnTo>
                    <a:pt x="0" y="1003554"/>
                  </a:lnTo>
                  <a:lnTo>
                    <a:pt x="319278" y="1003554"/>
                  </a:lnTo>
                  <a:lnTo>
                    <a:pt x="319278" y="684288"/>
                  </a:lnTo>
                  <a:close/>
                </a:path>
                <a:path w="1296670" h="3016885">
                  <a:moveTo>
                    <a:pt x="644652" y="2696730"/>
                  </a:moveTo>
                  <a:lnTo>
                    <a:pt x="324612" y="2696730"/>
                  </a:lnTo>
                  <a:lnTo>
                    <a:pt x="324612" y="3016758"/>
                  </a:lnTo>
                  <a:lnTo>
                    <a:pt x="644652" y="3016758"/>
                  </a:lnTo>
                  <a:lnTo>
                    <a:pt x="644652" y="2696730"/>
                  </a:lnTo>
                  <a:close/>
                </a:path>
                <a:path w="1296670" h="3016885">
                  <a:moveTo>
                    <a:pt x="970775" y="1648206"/>
                  </a:moveTo>
                  <a:lnTo>
                    <a:pt x="651510" y="1648206"/>
                  </a:lnTo>
                  <a:lnTo>
                    <a:pt x="651510" y="1968246"/>
                  </a:lnTo>
                  <a:lnTo>
                    <a:pt x="970775" y="1968246"/>
                  </a:lnTo>
                  <a:lnTo>
                    <a:pt x="970775" y="1648206"/>
                  </a:lnTo>
                  <a:close/>
                </a:path>
                <a:path w="1296670" h="3016885">
                  <a:moveTo>
                    <a:pt x="1296149" y="0"/>
                  </a:moveTo>
                  <a:lnTo>
                    <a:pt x="976884" y="0"/>
                  </a:lnTo>
                  <a:lnTo>
                    <a:pt x="976884" y="320040"/>
                  </a:lnTo>
                  <a:lnTo>
                    <a:pt x="1296149" y="320040"/>
                  </a:lnTo>
                  <a:lnTo>
                    <a:pt x="1296149" y="0"/>
                  </a:lnTo>
                  <a:close/>
                </a:path>
              </a:pathLst>
            </a:custGeom>
            <a:solidFill>
              <a:srgbClr val="003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809745" y="3729483"/>
            <a:ext cx="186690" cy="20710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spcBef>
                <a:spcPts val="114"/>
              </a:spcBef>
            </a:pPr>
            <a:r>
              <a:rPr sz="1250" spc="15" dirty="0">
                <a:latin typeface="Arial MT"/>
                <a:cs typeface="Arial MT"/>
              </a:rPr>
              <a:t>…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14080" y="3729483"/>
            <a:ext cx="186690" cy="20710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spcBef>
                <a:spcPts val="114"/>
              </a:spcBef>
            </a:pPr>
            <a:r>
              <a:rPr sz="1250" spc="15" dirty="0">
                <a:latin typeface="Arial MT"/>
                <a:cs typeface="Arial MT"/>
              </a:rPr>
              <a:t>…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BA09F1AE-A7A8-0329-EBEC-36FFC8962702}"/>
              </a:ext>
            </a:extLst>
          </p:cNvPr>
          <p:cNvSpPr txBox="1">
            <a:spLocks/>
          </p:cNvSpPr>
          <p:nvPr/>
        </p:nvSpPr>
        <p:spPr>
          <a:xfrm>
            <a:off x="2582546" y="6356350"/>
            <a:ext cx="55321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46488F54-B554-9687-E59E-A0FAB65C28F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651ABE-1138-46C6-9A43-7FCD4EB2550C}" type="slidenum">
              <a:rPr lang="en-IN" smtClean="0"/>
              <a:pPr/>
              <a:t>10</a:t>
            </a:fld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31390" y="487934"/>
            <a:ext cx="4192904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TLB</a:t>
            </a:r>
            <a:r>
              <a:rPr spc="-65" dirty="0"/>
              <a:t> </a:t>
            </a:r>
            <a:r>
              <a:rPr spc="-15" dirty="0"/>
              <a:t>Performance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31391" y="1345692"/>
            <a:ext cx="7644765" cy="439356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241300" marR="5080" indent="-228600">
              <a:lnSpc>
                <a:spcPts val="1920"/>
              </a:lnSpc>
              <a:spcBef>
                <a:spcPts val="56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Calibri"/>
                <a:cs typeface="Calibri"/>
              </a:rPr>
              <a:t>How</a:t>
            </a:r>
            <a:r>
              <a:rPr sz="2000" spc="-10" dirty="0">
                <a:latin typeface="Calibri"/>
                <a:cs typeface="Calibri"/>
              </a:rPr>
              <a:t> can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system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improve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TLB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performance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(hit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rate)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given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fixed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number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TLB entries?</a:t>
            </a:r>
            <a:endParaRPr sz="2000" dirty="0">
              <a:latin typeface="Calibri"/>
              <a:cs typeface="Calibri"/>
            </a:endParaRPr>
          </a:p>
          <a:p>
            <a:pPr>
              <a:spcBef>
                <a:spcPts val="45"/>
              </a:spcBef>
              <a:buFont typeface="Arial MT"/>
              <a:buChar char="•"/>
            </a:pPr>
            <a:endParaRPr sz="1550" dirty="0">
              <a:latin typeface="Calibri"/>
              <a:cs typeface="Calibri"/>
            </a:endParaRPr>
          </a:p>
          <a:p>
            <a:pPr marL="241300" indent="-228600"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Calibri"/>
                <a:cs typeface="Calibri"/>
              </a:rPr>
              <a:t>Increase</a:t>
            </a:r>
            <a:r>
              <a:rPr sz="2000" spc="-10" dirty="0">
                <a:latin typeface="Calibri"/>
                <a:cs typeface="Calibri"/>
              </a:rPr>
              <a:t> page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size</a:t>
            </a:r>
            <a:endParaRPr sz="2000" dirty="0">
              <a:latin typeface="Calibri"/>
              <a:cs typeface="Calibri"/>
            </a:endParaRPr>
          </a:p>
          <a:p>
            <a:pPr marL="698500" lvl="1" indent="-228600">
              <a:spcBef>
                <a:spcPts val="100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700" spc="-15" dirty="0">
                <a:latin typeface="Calibri"/>
                <a:cs typeface="Calibri"/>
              </a:rPr>
              <a:t>Fewer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unique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page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translations </a:t>
            </a:r>
            <a:r>
              <a:rPr sz="1700" spc="-5" dirty="0">
                <a:latin typeface="Calibri"/>
                <a:cs typeface="Calibri"/>
              </a:rPr>
              <a:t>needed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to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access</a:t>
            </a:r>
            <a:r>
              <a:rPr sz="1700" spc="2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same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amount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of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memory</a:t>
            </a:r>
            <a:endParaRPr sz="1700" dirty="0">
              <a:latin typeface="Calibri"/>
              <a:cs typeface="Calibri"/>
            </a:endParaRPr>
          </a:p>
          <a:p>
            <a:pPr lvl="1">
              <a:spcBef>
                <a:spcPts val="15"/>
              </a:spcBef>
              <a:buFont typeface="Arial MT"/>
              <a:buChar char="•"/>
            </a:pPr>
            <a:endParaRPr sz="1550" dirty="0">
              <a:latin typeface="Calibri"/>
              <a:cs typeface="Calibri"/>
            </a:endParaRPr>
          </a:p>
          <a:p>
            <a:pPr marL="241300" indent="-228600"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latin typeface="Calibri"/>
                <a:cs typeface="Calibri"/>
              </a:rPr>
              <a:t>What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drawback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spc="-15" dirty="0">
                <a:latin typeface="Calibri"/>
                <a:cs typeface="Calibri"/>
              </a:rPr>
              <a:t>large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pages?</a:t>
            </a:r>
            <a:endParaRPr sz="2000" dirty="0">
              <a:latin typeface="Calibri"/>
              <a:cs typeface="Calibri"/>
            </a:endParaRPr>
          </a:p>
          <a:p>
            <a:pPr marL="698500" lvl="1" indent="-228600">
              <a:spcBef>
                <a:spcPts val="110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700" spc="-5" dirty="0">
                <a:latin typeface="Calibri"/>
                <a:cs typeface="Calibri"/>
              </a:rPr>
              <a:t>Increased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internal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fragmentation</a:t>
            </a:r>
            <a:endParaRPr sz="1700" dirty="0">
              <a:latin typeface="Calibri"/>
              <a:cs typeface="Calibri"/>
            </a:endParaRPr>
          </a:p>
          <a:p>
            <a:pPr marL="698500" lvl="1" indent="-228600">
              <a:spcBef>
                <a:spcPts val="90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700" spc="-25" dirty="0">
                <a:latin typeface="Calibri"/>
                <a:cs typeface="Calibri"/>
              </a:rPr>
              <a:t>Tradeoffs,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15" dirty="0">
                <a:latin typeface="Calibri"/>
                <a:cs typeface="Calibri"/>
              </a:rPr>
              <a:t>tradeoffs</a:t>
            </a:r>
            <a:endParaRPr sz="1700" dirty="0">
              <a:latin typeface="Calibri"/>
              <a:cs typeface="Calibri"/>
            </a:endParaRPr>
          </a:p>
          <a:p>
            <a:pPr lvl="1">
              <a:spcBef>
                <a:spcPts val="15"/>
              </a:spcBef>
              <a:buFont typeface="Arial MT"/>
              <a:buChar char="•"/>
            </a:pPr>
            <a:endParaRPr sz="1550" dirty="0">
              <a:latin typeface="Calibri"/>
              <a:cs typeface="Calibri"/>
            </a:endParaRPr>
          </a:p>
          <a:p>
            <a:pPr marL="241300" indent="-228600">
              <a:spcBef>
                <a:spcPts val="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latin typeface="Calibri"/>
                <a:cs typeface="Calibri"/>
              </a:rPr>
              <a:t>Most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processors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support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multiple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different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page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sizes</a:t>
            </a:r>
            <a:endParaRPr sz="2000" dirty="0">
              <a:latin typeface="Calibri"/>
              <a:cs typeface="Calibri"/>
            </a:endParaRPr>
          </a:p>
          <a:p>
            <a:pPr marL="698500" lvl="1" indent="-228600">
              <a:spcBef>
                <a:spcPts val="100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700" spc="-5" dirty="0">
                <a:latin typeface="Calibri"/>
                <a:cs typeface="Calibri"/>
              </a:rPr>
              <a:t>In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32-bit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x86, 4KB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and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2MB</a:t>
            </a:r>
            <a:endParaRPr sz="1700" dirty="0">
              <a:latin typeface="Calibri"/>
              <a:cs typeface="Calibri"/>
            </a:endParaRPr>
          </a:p>
          <a:p>
            <a:pPr marL="698500" lvl="1" indent="-228600">
              <a:spcBef>
                <a:spcPts val="95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700" spc="-5" dirty="0">
                <a:latin typeface="Calibri"/>
                <a:cs typeface="Calibri"/>
              </a:rPr>
              <a:t>In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64-bit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x86,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4KB,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2MB and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1GB</a:t>
            </a:r>
            <a:endParaRPr sz="1700" dirty="0">
              <a:latin typeface="Calibri"/>
              <a:cs typeface="Calibri"/>
            </a:endParaRPr>
          </a:p>
          <a:p>
            <a:pPr marL="698500" lvl="1" indent="-228600">
              <a:spcBef>
                <a:spcPts val="90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700" spc="-10" dirty="0">
                <a:latin typeface="Calibri"/>
                <a:cs typeface="Calibri"/>
              </a:rPr>
              <a:t>Programmer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(user) </a:t>
            </a:r>
            <a:r>
              <a:rPr sz="1700" spc="-15" dirty="0">
                <a:latin typeface="Calibri"/>
                <a:cs typeface="Calibri"/>
              </a:rPr>
              <a:t>makes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the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choice</a:t>
            </a:r>
            <a:r>
              <a:rPr sz="1700" spc="2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since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they</a:t>
            </a:r>
            <a:r>
              <a:rPr sz="1700" spc="2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know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their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15" dirty="0">
                <a:latin typeface="Calibri"/>
                <a:cs typeface="Calibri"/>
              </a:rPr>
              <a:t>program</a:t>
            </a:r>
            <a:endParaRPr sz="1700" dirty="0">
              <a:latin typeface="Calibri"/>
              <a:cs typeface="Calibri"/>
            </a:endParaRPr>
          </a:p>
          <a:p>
            <a:pPr lvl="1">
              <a:spcBef>
                <a:spcPts val="15"/>
              </a:spcBef>
              <a:buFont typeface="Arial MT"/>
              <a:buChar char="•"/>
            </a:pPr>
            <a:endParaRPr sz="1550" dirty="0">
              <a:latin typeface="Calibri"/>
              <a:cs typeface="Calibri"/>
            </a:endParaRPr>
          </a:p>
          <a:p>
            <a:pPr marL="241300" indent="-228600"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b="1" spc="-5" dirty="0">
                <a:latin typeface="Calibri"/>
                <a:cs typeface="Calibri"/>
              </a:rPr>
              <a:t>TLB </a:t>
            </a:r>
            <a:r>
              <a:rPr sz="2000" b="1" spc="-10" dirty="0">
                <a:latin typeface="Calibri"/>
                <a:cs typeface="Calibri"/>
              </a:rPr>
              <a:t>Reach</a:t>
            </a:r>
            <a:r>
              <a:rPr sz="2000" spc="-10" dirty="0">
                <a:latin typeface="Calibri"/>
                <a:cs typeface="Calibri"/>
              </a:rPr>
              <a:t>: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Number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TLB entries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* </a:t>
            </a:r>
            <a:r>
              <a:rPr sz="2000" spc="-20" dirty="0">
                <a:latin typeface="Calibri"/>
                <a:cs typeface="Calibri"/>
              </a:rPr>
              <a:t>Page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Size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B981E1B-19C9-296A-850A-BE619F46A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546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DCAC0EE-E069-1388-8311-5F3B0C027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8651ABE-1138-46C6-9A43-7FCD4EB2550C}" type="slidenum">
              <a:rPr lang="en-IN" smtClean="0"/>
              <a:pPr/>
              <a:t>11</a:t>
            </a:fld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31390" y="487934"/>
            <a:ext cx="6446520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TLBs</a:t>
            </a:r>
            <a:r>
              <a:rPr spc="-20" dirty="0"/>
              <a:t> </a:t>
            </a:r>
            <a:r>
              <a:rPr spc="-5" dirty="0"/>
              <a:t>and</a:t>
            </a:r>
            <a:r>
              <a:rPr spc="-20" dirty="0"/>
              <a:t> </a:t>
            </a:r>
            <a:r>
              <a:rPr spc="-15" dirty="0"/>
              <a:t>Context</a:t>
            </a:r>
            <a:r>
              <a:rPr spc="-25" dirty="0"/>
              <a:t> </a:t>
            </a:r>
            <a:r>
              <a:rPr spc="-15" dirty="0"/>
              <a:t>Switches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31390" y="1351025"/>
            <a:ext cx="7557770" cy="480695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What</a:t>
            </a:r>
            <a:r>
              <a:rPr sz="2800" spc="-5" dirty="0">
                <a:latin typeface="Calibri"/>
                <a:cs typeface="Calibri"/>
              </a:rPr>
              <a:t> happens</a:t>
            </a:r>
            <a:r>
              <a:rPr sz="2800" dirty="0">
                <a:latin typeface="Calibri"/>
                <a:cs typeface="Calibri"/>
              </a:rPr>
              <a:t> if a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uses cached</a:t>
            </a:r>
            <a:r>
              <a:rPr sz="2800" dirty="0">
                <a:latin typeface="Calibri"/>
                <a:cs typeface="Calibri"/>
              </a:rPr>
              <a:t> TLB</a:t>
            </a:r>
            <a:r>
              <a:rPr sz="2800" spc="-10" dirty="0">
                <a:latin typeface="Calibri"/>
                <a:cs typeface="Calibri"/>
              </a:rPr>
              <a:t> entries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from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another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process?</a:t>
            </a:r>
            <a:endParaRPr sz="2800">
              <a:latin typeface="Calibri"/>
              <a:cs typeface="Calibri"/>
            </a:endParaRPr>
          </a:p>
          <a:p>
            <a:pPr marL="12700">
              <a:spcBef>
                <a:spcPts val="2025"/>
              </a:spcBef>
            </a:pPr>
            <a:r>
              <a:rPr sz="2800" spc="-5" dirty="0">
                <a:latin typeface="Calibri"/>
                <a:cs typeface="Calibri"/>
              </a:rPr>
              <a:t>Solutions?</a:t>
            </a:r>
            <a:endParaRPr sz="2800">
              <a:latin typeface="Calibri"/>
              <a:cs typeface="Calibri"/>
            </a:endParaRPr>
          </a:p>
          <a:p>
            <a:pPr marL="527050" indent="-514350">
              <a:spcBef>
                <a:spcPts val="2065"/>
              </a:spcBef>
              <a:buAutoNum type="arabicParenR"/>
              <a:tabLst>
                <a:tab pos="526415" algn="l"/>
                <a:tab pos="527050" algn="l"/>
              </a:tabLst>
            </a:pPr>
            <a:r>
              <a:rPr sz="2800" spc="-5" dirty="0">
                <a:latin typeface="Calibri"/>
                <a:cs typeface="Calibri"/>
              </a:rPr>
              <a:t>Flush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TLB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10" dirty="0">
                <a:latin typeface="Calibri"/>
                <a:cs typeface="Calibri"/>
              </a:rPr>
              <a:t> switch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spcBef>
                <a:spcPts val="24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Could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spc="-10" dirty="0">
                <a:latin typeface="Calibri"/>
                <a:cs typeface="Calibri"/>
              </a:rPr>
              <a:t>costly;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lose all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recently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cached</a:t>
            </a:r>
            <a:r>
              <a:rPr sz="2400" spc="-10" dirty="0">
                <a:latin typeface="Calibri"/>
                <a:cs typeface="Calibri"/>
              </a:rPr>
              <a:t> translations</a:t>
            </a:r>
            <a:endParaRPr sz="2400">
              <a:latin typeface="Calibri"/>
              <a:cs typeface="Calibri"/>
            </a:endParaRPr>
          </a:p>
          <a:p>
            <a:pPr marL="527050" indent="-514350">
              <a:spcBef>
                <a:spcPts val="2035"/>
              </a:spcBef>
              <a:buAutoNum type="arabicParenR"/>
              <a:tabLst>
                <a:tab pos="526415" algn="l"/>
                <a:tab pos="527050" algn="l"/>
              </a:tabLst>
            </a:pPr>
            <a:r>
              <a:rPr sz="2800" spc="-50" dirty="0">
                <a:latin typeface="Calibri"/>
                <a:cs typeface="Calibri"/>
              </a:rPr>
              <a:t>Track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entries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-25" dirty="0">
                <a:latin typeface="Calibri"/>
                <a:cs typeface="Calibri"/>
              </a:rPr>
              <a:t> for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which</a:t>
            </a:r>
            <a:r>
              <a:rPr sz="2800" spc="-10" dirty="0">
                <a:latin typeface="Calibri"/>
                <a:cs typeface="Calibri"/>
              </a:rPr>
              <a:t> process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spcBef>
                <a:spcPts val="23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ddress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pace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ID</a:t>
            </a:r>
            <a:r>
              <a:rPr sz="2400" spc="-5" dirty="0">
                <a:latin typeface="Calibri"/>
                <a:cs typeface="Calibri"/>
              </a:rPr>
              <a:t>entifier (ASID)</a:t>
            </a:r>
            <a:endParaRPr sz="2400">
              <a:latin typeface="Calibri"/>
              <a:cs typeface="Calibri"/>
            </a:endParaRPr>
          </a:p>
          <a:p>
            <a:pPr marL="698500" marR="374650" lvl="1" indent="-228600">
              <a:lnSpc>
                <a:spcPts val="2590"/>
              </a:lnSpc>
              <a:spcBef>
                <a:spcPts val="54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loading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TLB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entry,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ASID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current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spc="-5" dirty="0">
                <a:latin typeface="Calibri"/>
                <a:cs typeface="Calibri"/>
              </a:rPr>
              <a:t>(in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addition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VPN)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spcBef>
                <a:spcPts val="18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-5" dirty="0">
                <a:latin typeface="Calibri"/>
                <a:cs typeface="Calibri"/>
              </a:rPr>
              <a:t> reading</a:t>
            </a:r>
            <a:r>
              <a:rPr sz="2400" spc="-15" dirty="0">
                <a:latin typeface="Calibri"/>
                <a:cs typeface="Calibri"/>
              </a:rPr>
              <a:t> TLB,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check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both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VPN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ASID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7E7E596-E7ED-4201-ED97-7B4046C38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546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C1C89C3-8278-4AA5-A7B1-4C9E45481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8651ABE-1138-46C6-9A43-7FCD4EB2550C}" type="slidenum">
              <a:rPr lang="en-IN" smtClean="0"/>
              <a:pPr/>
              <a:t>12</a:t>
            </a:fld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31390" y="487934"/>
            <a:ext cx="4192904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TLB</a:t>
            </a:r>
            <a:r>
              <a:rPr spc="-65" dirty="0"/>
              <a:t> </a:t>
            </a:r>
            <a:r>
              <a:rPr spc="-15" dirty="0"/>
              <a:t>Performance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31391" y="1395983"/>
            <a:ext cx="8178165" cy="48545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20" dirty="0">
                <a:latin typeface="Calibri"/>
                <a:cs typeface="Calibri"/>
              </a:rPr>
              <a:t>Context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switches </a:t>
            </a:r>
            <a:r>
              <a:rPr sz="2600" spc="-15" dirty="0">
                <a:latin typeface="Calibri"/>
                <a:cs typeface="Calibri"/>
              </a:rPr>
              <a:t>are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expensive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spcBef>
                <a:spcPts val="24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25" dirty="0">
                <a:latin typeface="Calibri"/>
                <a:cs typeface="Calibri"/>
              </a:rPr>
              <a:t>Even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with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ASID,</a:t>
            </a:r>
            <a:r>
              <a:rPr sz="2600" spc="-5" dirty="0">
                <a:latin typeface="Calibri"/>
                <a:cs typeface="Calibri"/>
              </a:rPr>
              <a:t> other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processes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“pollute”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TLB</a:t>
            </a:r>
            <a:endParaRPr sz="2600" dirty="0">
              <a:latin typeface="Calibri"/>
              <a:cs typeface="Calibri"/>
            </a:endParaRPr>
          </a:p>
          <a:p>
            <a:pPr marL="698500" lvl="1" indent="-228600">
              <a:spcBef>
                <a:spcPts val="530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200" spc="-15" dirty="0">
                <a:latin typeface="Calibri"/>
                <a:cs typeface="Calibri"/>
              </a:rPr>
              <a:t>Discard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process </a:t>
            </a:r>
            <a:r>
              <a:rPr sz="2200" spc="-75" dirty="0">
                <a:latin typeface="Calibri"/>
                <a:cs typeface="Calibri"/>
              </a:rPr>
              <a:t>A’s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TLB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entries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for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process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45" dirty="0">
                <a:latin typeface="Calibri"/>
                <a:cs typeface="Calibri"/>
              </a:rPr>
              <a:t>B’s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entries</a:t>
            </a:r>
            <a:endParaRPr sz="2200" dirty="0">
              <a:latin typeface="Calibri"/>
              <a:cs typeface="Calibri"/>
            </a:endParaRPr>
          </a:p>
          <a:p>
            <a:pPr lvl="1">
              <a:spcBef>
                <a:spcPts val="50"/>
              </a:spcBef>
              <a:buFont typeface="Arial MT"/>
              <a:buChar char="•"/>
            </a:pPr>
            <a:endParaRPr sz="1900" dirty="0">
              <a:latin typeface="Calibri"/>
              <a:cs typeface="Calibri"/>
            </a:endParaRPr>
          </a:p>
          <a:p>
            <a:pPr marL="241300" indent="-228600">
              <a:buFont typeface="Arial MT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Architectures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often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have</a:t>
            </a:r>
            <a:r>
              <a:rPr sz="2600" spc="-5" dirty="0">
                <a:latin typeface="Calibri"/>
                <a:cs typeface="Calibri"/>
              </a:rPr>
              <a:t> multiple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TLBs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and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multi-level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TLBs</a:t>
            </a:r>
            <a:endParaRPr sz="2600" dirty="0">
              <a:latin typeface="Calibri"/>
              <a:cs typeface="Calibri"/>
            </a:endParaRPr>
          </a:p>
          <a:p>
            <a:pPr marL="698500" marR="638810" lvl="1" indent="-228600">
              <a:spcBef>
                <a:spcPts val="530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200" spc="-10" dirty="0">
                <a:latin typeface="Calibri"/>
                <a:cs typeface="Calibri"/>
              </a:rPr>
              <a:t>Level-1: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TLB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for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data,</a:t>
            </a:r>
            <a:r>
              <a:rPr sz="2200" dirty="0">
                <a:latin typeface="Calibri"/>
                <a:cs typeface="Calibri"/>
              </a:rPr>
              <a:t> 1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TLB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for</a:t>
            </a:r>
            <a:r>
              <a:rPr sz="2200" spc="-5" dirty="0">
                <a:latin typeface="Calibri"/>
                <a:cs typeface="Calibri"/>
              </a:rPr>
              <a:t> instructions</a:t>
            </a:r>
            <a:r>
              <a:rPr sz="2200" spc="-25" dirty="0">
                <a:latin typeface="Calibri"/>
                <a:cs typeface="Calibri"/>
              </a:rPr>
              <a:t> (smaller,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say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64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entries;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fast)</a:t>
            </a:r>
            <a:endParaRPr sz="2200" dirty="0">
              <a:latin typeface="Calibri"/>
              <a:cs typeface="Calibri"/>
            </a:endParaRPr>
          </a:p>
          <a:p>
            <a:pPr marL="698500" marR="375920" lvl="1" indent="-228600">
              <a:spcBef>
                <a:spcPts val="495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200" spc="-10" dirty="0">
                <a:latin typeface="Calibri"/>
                <a:cs typeface="Calibri"/>
              </a:rPr>
              <a:t>Level</a:t>
            </a:r>
            <a:r>
              <a:rPr sz="2200" dirty="0">
                <a:latin typeface="Calibri"/>
                <a:cs typeface="Calibri"/>
              </a:rPr>
              <a:t> 2: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combined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or </a:t>
            </a:r>
            <a:r>
              <a:rPr sz="2200" spc="-15" dirty="0">
                <a:latin typeface="Calibri"/>
                <a:cs typeface="Calibri"/>
              </a:rPr>
              <a:t>separate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inst </a:t>
            </a:r>
            <a:r>
              <a:rPr sz="2200" spc="-5" dirty="0">
                <a:latin typeface="Calibri"/>
                <a:cs typeface="Calibri"/>
              </a:rPr>
              <a:t>or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data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TLBs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35" dirty="0">
                <a:latin typeface="Calibri"/>
                <a:cs typeface="Calibri"/>
              </a:rPr>
              <a:t>(larger,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say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512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entries;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slower)</a:t>
            </a:r>
            <a:endParaRPr sz="2200" dirty="0">
              <a:latin typeface="Calibri"/>
              <a:cs typeface="Calibri"/>
            </a:endParaRPr>
          </a:p>
          <a:p>
            <a:pPr marL="698500" marR="98425" lvl="1" indent="-228600">
              <a:spcBef>
                <a:spcPts val="505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200" spc="-5" dirty="0">
                <a:latin typeface="Calibri"/>
                <a:cs typeface="Calibri"/>
              </a:rPr>
              <a:t>On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Level-1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TLB</a:t>
            </a:r>
            <a:r>
              <a:rPr sz="2200" dirty="0">
                <a:latin typeface="Calibri"/>
                <a:cs typeface="Calibri"/>
              </a:rPr>
              <a:t> miss,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first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check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Level-2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TLB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before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checking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page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table</a:t>
            </a:r>
            <a:endParaRPr lang="en-US" sz="2200" spc="-10" dirty="0">
              <a:latin typeface="Calibri"/>
              <a:cs typeface="Calibri"/>
            </a:endParaRPr>
          </a:p>
          <a:p>
            <a:pPr marL="698500" marR="98425" lvl="1" indent="-228600">
              <a:spcBef>
                <a:spcPts val="505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lang="en-IN" sz="2200" spc="-10" dirty="0">
                <a:latin typeface="Calibri"/>
                <a:cs typeface="Calibri"/>
              </a:rPr>
              <a:t>MMU caches too: Stores mid-level translations 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7BF5D68-30A9-A0C1-8CA3-B9DEEDEC5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546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0AC4414-CF22-398E-25F7-1BB1DA71B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8651ABE-1138-46C6-9A43-7FCD4EB2550C}" type="slidenum">
              <a:rPr lang="en-IN" smtClean="0"/>
              <a:pPr/>
              <a:t>13</a:t>
            </a:fld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0550D-C0DB-4005-8D91-6922B0B92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bit Deeper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70C3E-B0E6-4E15-86EC-4327D9BEE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14</a:t>
            </a:fld>
            <a:endParaRPr lang="en-IN" dirty="0"/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C943678E-067B-464D-9793-2D1D016D174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2962572"/>
            <a:ext cx="3352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2FA73E90-28A7-40D0-A206-1433C15E750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962572"/>
            <a:ext cx="411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61590CC-0FF0-40C9-8922-8F35D7531FFF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352972"/>
            <a:ext cx="304800" cy="1219200"/>
            <a:chOff x="336" y="1200"/>
            <a:chExt cx="144" cy="720"/>
          </a:xfrm>
          <a:solidFill>
            <a:schemeClr val="bg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E6A6EC2-E525-471B-B3A0-78C66218F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grpFill/>
            <a:ln w="28575" cmpd="sng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lang="en-US" dirty="0">
                  <a:solidFill>
                    <a:srgbClr val="000000"/>
                  </a:solidFill>
                  <a:latin typeface="Calibri"/>
                  <a:cs typeface="Calibri"/>
                </a:rPr>
                <a:t>PC</a:t>
              </a:r>
              <a:endParaRPr lang="en-US" sz="1600" dirty="0">
                <a:solidFill>
                  <a:srgbClr val="000000"/>
                </a:solidFill>
                <a:latin typeface="Calibri"/>
                <a:cs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473D0343-27D2-46FA-A4D5-59DC1D514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grp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endParaRPr lang="en-US" sz="1600">
                <a:solidFill>
                  <a:srgbClr val="000000"/>
                </a:solidFill>
                <a:latin typeface="Arial" charset="0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CA75054A-5823-43BB-942A-49686210F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532485"/>
            <a:ext cx="762000" cy="457200"/>
          </a:xfrm>
          <a:prstGeom prst="rect">
            <a:avLst/>
          </a:prstGeom>
          <a:solidFill>
            <a:srgbClr val="FDB9FE"/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en-US" sz="1800" dirty="0">
                <a:solidFill>
                  <a:srgbClr val="000000"/>
                </a:solidFill>
                <a:latin typeface="Calibri"/>
                <a:cs typeface="Calibri"/>
              </a:rPr>
              <a:t>Inst</a:t>
            </a:r>
            <a:r>
              <a:rPr lang="en-US" sz="1800" dirty="0">
                <a:solidFill>
                  <a:srgbClr val="000000"/>
                </a:solidFill>
                <a:latin typeface="Arial" charset="0"/>
              </a:rPr>
              <a:t>. TLB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5826FC-3EB8-4FBF-80B7-FC26FDED3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541885"/>
            <a:ext cx="1066800" cy="685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en-US" sz="1800" dirty="0">
                <a:solidFill>
                  <a:srgbClr val="000000"/>
                </a:solidFill>
                <a:latin typeface="Calibri"/>
                <a:cs typeface="Calibri"/>
              </a:rPr>
              <a:t>Inst. Cache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4100325-0917-4A52-AF81-A2037260EA61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2352972"/>
            <a:ext cx="304800" cy="1219200"/>
            <a:chOff x="336" y="1200"/>
            <a:chExt cx="144" cy="720"/>
          </a:xfrm>
          <a:solidFill>
            <a:schemeClr val="bg1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A5965A5-333C-46B9-BFD6-AB8D5F650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grpFill/>
            <a:ln w="28575" cmpd="sng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  <a:latin typeface="Calibri"/>
                  <a:cs typeface="Calibri"/>
                </a:rPr>
                <a:t>D</a:t>
              </a: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5DA5822D-6EDE-4602-98AD-B6276829E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grp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endParaRPr lang="en-US">
                <a:solidFill>
                  <a:srgbClr val="000000"/>
                </a:solidFill>
                <a:latin typeface="Calibri"/>
                <a:cs typeface="Calibri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DF5FBCD-8811-41C3-B2D1-DFBF8D133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429172"/>
            <a:ext cx="1066800" cy="914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en-US" sz="1800">
                <a:solidFill>
                  <a:srgbClr val="000000"/>
                </a:solidFill>
                <a:latin typeface="Calibri"/>
                <a:cs typeface="Calibri"/>
              </a:rPr>
              <a:t>Decode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4836CF0-F826-4A71-9229-33CBB63BFF23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2352972"/>
            <a:ext cx="304800" cy="1219200"/>
            <a:chOff x="336" y="1200"/>
            <a:chExt cx="144" cy="720"/>
          </a:xfrm>
          <a:solidFill>
            <a:schemeClr val="bg1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627A5F9-F01A-41DC-A059-EF525875E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grpFill/>
            <a:ln w="28575" cmpd="sng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lang="en-US" dirty="0">
                  <a:solidFill>
                    <a:srgbClr val="000000"/>
                  </a:solidFill>
                  <a:latin typeface="Calibri"/>
                  <a:cs typeface="Calibri"/>
                </a:rPr>
                <a:t>E</a:t>
              </a:r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CF3A64D1-8C0D-4D8A-92FB-D0620DBE7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grp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endParaRPr lang="en-US">
                <a:solidFill>
                  <a:srgbClr val="000000"/>
                </a:solidFill>
                <a:latin typeface="Calibri"/>
                <a:cs typeface="Calibri"/>
              </a:endParaRPr>
            </a:p>
          </p:txBody>
        </p:sp>
      </p:grpSp>
      <p:sp>
        <p:nvSpPr>
          <p:cNvPr id="20" name="Freeform 18">
            <a:extLst>
              <a:ext uri="{FF2B5EF4-FFF2-40B4-BE49-F238E27FC236}">
                <a16:creationId xmlns:a16="http://schemas.microsoft.com/office/drawing/2014/main" id="{5090D443-11FF-4C09-A3BE-2DAB1D702CB2}"/>
              </a:ext>
            </a:extLst>
          </p:cNvPr>
          <p:cNvSpPr>
            <a:spLocks/>
          </p:cNvSpPr>
          <p:nvPr/>
        </p:nvSpPr>
        <p:spPr bwMode="auto">
          <a:xfrm>
            <a:off x="6477000" y="2429172"/>
            <a:ext cx="381000" cy="1066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88"/>
              </a:cxn>
              <a:cxn ang="0">
                <a:pos x="48" y="336"/>
              </a:cxn>
              <a:cxn ang="0">
                <a:pos x="0" y="384"/>
              </a:cxn>
              <a:cxn ang="0">
                <a:pos x="0" y="672"/>
              </a:cxn>
              <a:cxn ang="0">
                <a:pos x="240" y="480"/>
              </a:cxn>
              <a:cxn ang="0">
                <a:pos x="240" y="144"/>
              </a:cxn>
              <a:cxn ang="0">
                <a:pos x="0" y="0"/>
              </a:cxn>
            </a:cxnLst>
            <a:rect l="0" t="0" r="r" b="b"/>
            <a:pathLst>
              <a:path w="240" h="672">
                <a:moveTo>
                  <a:pt x="0" y="0"/>
                </a:moveTo>
                <a:lnTo>
                  <a:pt x="0" y="288"/>
                </a:lnTo>
                <a:lnTo>
                  <a:pt x="48" y="336"/>
                </a:lnTo>
                <a:lnTo>
                  <a:pt x="0" y="384"/>
                </a:lnTo>
                <a:lnTo>
                  <a:pt x="0" y="672"/>
                </a:lnTo>
                <a:lnTo>
                  <a:pt x="240" y="480"/>
                </a:lnTo>
                <a:lnTo>
                  <a:pt x="240" y="14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E68A460-97B8-40E3-A1AB-871D2364BF0A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2352972"/>
            <a:ext cx="304800" cy="1219200"/>
            <a:chOff x="336" y="1200"/>
            <a:chExt cx="144" cy="720"/>
          </a:xfrm>
          <a:solidFill>
            <a:schemeClr val="bg1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DD0581-4CBE-4446-B015-4E81D358B5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grpFill/>
            <a:ln w="28575" cmpd="sng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  <a:latin typeface="Calibri"/>
                  <a:cs typeface="Calibri"/>
                </a:rPr>
                <a:t>M</a:t>
              </a: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5C6EA153-E715-410B-A2B0-93C6E6E8BD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grp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endParaRPr lang="en-US">
                <a:solidFill>
                  <a:srgbClr val="000000"/>
                </a:solidFill>
                <a:latin typeface="Calibri"/>
                <a:cs typeface="Calibri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70BA742F-0FC8-4660-AA18-7CAE83B33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2618085"/>
            <a:ext cx="914400" cy="685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en-US" sz="1800">
                <a:solidFill>
                  <a:srgbClr val="000000"/>
                </a:solidFill>
                <a:latin typeface="Calibri"/>
                <a:cs typeface="Calibri"/>
              </a:rPr>
              <a:t>Data Cache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62FCC59-C50B-4874-BA52-4ADF1C24B11D}"/>
              </a:ext>
            </a:extLst>
          </p:cNvPr>
          <p:cNvGrpSpPr>
            <a:grpSpLocks/>
          </p:cNvGrpSpPr>
          <p:nvPr/>
        </p:nvGrpSpPr>
        <p:grpSpPr bwMode="auto">
          <a:xfrm>
            <a:off x="9677400" y="2352972"/>
            <a:ext cx="304800" cy="1219200"/>
            <a:chOff x="336" y="1200"/>
            <a:chExt cx="144" cy="720"/>
          </a:xfrm>
          <a:solidFill>
            <a:schemeClr val="bg1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8A7E12C-0B79-4E01-BE60-EFDEC79F3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grpFill/>
            <a:ln w="28575" cmpd="sng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  <a:latin typeface="Calibri"/>
                  <a:cs typeface="Calibri"/>
                </a:rPr>
                <a:t>W</a:t>
              </a: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63FE877-4C2A-40C2-8DE1-318EF4202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grp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endParaRPr lang="en-US">
                <a:solidFill>
                  <a:srgbClr val="000000"/>
                </a:solidFill>
                <a:latin typeface="Calibri"/>
                <a:cs typeface="Calibri"/>
              </a:endParaRPr>
            </a:p>
          </p:txBody>
        </p:sp>
      </p:grpSp>
      <p:sp>
        <p:nvSpPr>
          <p:cNvPr id="28" name="Line 27">
            <a:extLst>
              <a:ext uri="{FF2B5EF4-FFF2-40B4-BE49-F238E27FC236}">
                <a16:creationId xmlns:a16="http://schemas.microsoft.com/office/drawing/2014/main" id="{C799D9D3-F1D0-45FA-B12C-05634C31E99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2657772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0E443BA0-AAD4-45D6-844A-D30DFC203F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3267372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ACE04A26-C093-430B-950E-FC54DA9BE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388" y="2810172"/>
            <a:ext cx="350837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en-US" sz="1600">
                <a:solidFill>
                  <a:srgbClr val="000000"/>
                </a:solidFill>
                <a:latin typeface="Arial" charset="0"/>
              </a:rPr>
              <a:t>+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64190E7-E536-4E2F-BC1C-815C38BF5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3684885"/>
            <a:ext cx="762000" cy="533400"/>
          </a:xfrm>
          <a:prstGeom prst="rect">
            <a:avLst/>
          </a:prstGeom>
          <a:solidFill>
            <a:srgbClr val="FDB9FE"/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en-US" sz="1800" dirty="0">
                <a:solidFill>
                  <a:srgbClr val="000000"/>
                </a:solidFill>
                <a:latin typeface="Calibri"/>
                <a:cs typeface="Calibri"/>
              </a:rPr>
              <a:t>Data TLB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D1C8260-2CDE-45C7-8368-433444BE6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629572"/>
            <a:ext cx="3276600" cy="381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en-US" sz="2000" dirty="0">
                <a:solidFill>
                  <a:srgbClr val="000000"/>
                </a:solidFill>
                <a:latin typeface="Calibri"/>
                <a:cs typeface="Calibri"/>
              </a:rPr>
              <a:t>Main Memory (DRAM)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201B5DB-F3A8-48D2-BEF4-BA776CAB9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599284"/>
            <a:ext cx="2667000" cy="57308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en-US" sz="2000" dirty="0">
                <a:solidFill>
                  <a:srgbClr val="000000"/>
                </a:solidFill>
                <a:latin typeface="Calibri"/>
                <a:cs typeface="Calibri"/>
              </a:rPr>
              <a:t>Memory Controller</a:t>
            </a:r>
          </a:p>
        </p:txBody>
      </p:sp>
      <p:sp>
        <p:nvSpPr>
          <p:cNvPr id="34" name="Freeform 38">
            <a:extLst>
              <a:ext uri="{FF2B5EF4-FFF2-40B4-BE49-F238E27FC236}">
                <a16:creationId xmlns:a16="http://schemas.microsoft.com/office/drawing/2014/main" id="{7E3E92D3-A3C3-43E2-8BD7-70CE1564DA0B}"/>
              </a:ext>
            </a:extLst>
          </p:cNvPr>
          <p:cNvSpPr>
            <a:spLocks/>
          </p:cNvSpPr>
          <p:nvPr/>
        </p:nvSpPr>
        <p:spPr bwMode="auto">
          <a:xfrm flipH="1">
            <a:off x="2895600" y="3227685"/>
            <a:ext cx="2286000" cy="1752600"/>
          </a:xfrm>
          <a:custGeom>
            <a:avLst/>
            <a:gdLst/>
            <a:ahLst/>
            <a:cxnLst>
              <a:cxn ang="0">
                <a:pos x="816" y="0"/>
              </a:cxn>
              <a:cxn ang="0">
                <a:pos x="816" y="384"/>
              </a:cxn>
              <a:cxn ang="0">
                <a:pos x="0" y="384"/>
              </a:cxn>
            </a:cxnLst>
            <a:rect l="0" t="0" r="r" b="b"/>
            <a:pathLst>
              <a:path w="816" h="384">
                <a:moveTo>
                  <a:pt x="816" y="0"/>
                </a:moveTo>
                <a:lnTo>
                  <a:pt x="816" y="384"/>
                </a:lnTo>
                <a:lnTo>
                  <a:pt x="0" y="384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5" name="Line 39">
            <a:extLst>
              <a:ext uri="{FF2B5EF4-FFF2-40B4-BE49-F238E27FC236}">
                <a16:creationId xmlns:a16="http://schemas.microsoft.com/office/drawing/2014/main" id="{818069CB-7B16-4E73-A1F1-75A449AA8DA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5172372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6" name="Text Box 40">
            <a:extLst>
              <a:ext uri="{FF2B5EF4-FFF2-40B4-BE49-F238E27FC236}">
                <a16:creationId xmlns:a16="http://schemas.microsoft.com/office/drawing/2014/main" id="{219DE791-9298-4DCC-9969-F924C49D4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0200" y="4337418"/>
            <a:ext cx="1116013" cy="707886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en-US" sz="2000" dirty="0">
                <a:solidFill>
                  <a:srgbClr val="000000"/>
                </a:solidFill>
                <a:latin typeface="Calibri"/>
                <a:cs typeface="Calibri"/>
              </a:rPr>
              <a:t>Physical Address</a:t>
            </a:r>
          </a:p>
        </p:txBody>
      </p:sp>
      <p:sp>
        <p:nvSpPr>
          <p:cNvPr id="37" name="Text Box 41">
            <a:extLst>
              <a:ext uri="{FF2B5EF4-FFF2-40B4-BE49-F238E27FC236}">
                <a16:creationId xmlns:a16="http://schemas.microsoft.com/office/drawing/2014/main" id="{78D05642-1C01-43A2-8E08-3F34C94CC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904085"/>
            <a:ext cx="1828800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en-US" sz="2000" dirty="0">
                <a:solidFill>
                  <a:srgbClr val="000000"/>
                </a:solidFill>
                <a:latin typeface="Calibri"/>
                <a:cs typeface="Calibri"/>
              </a:rPr>
              <a:t>Instruction data</a:t>
            </a:r>
          </a:p>
        </p:txBody>
      </p:sp>
      <p:sp>
        <p:nvSpPr>
          <p:cNvPr id="38" name="Text Box 42">
            <a:extLst>
              <a:ext uri="{FF2B5EF4-FFF2-40B4-BE49-F238E27FC236}">
                <a16:creationId xmlns:a16="http://schemas.microsoft.com/office/drawing/2014/main" id="{38A025EB-300A-4697-B2B4-0A8170312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207575"/>
            <a:ext cx="2438400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en-US" sz="1800" dirty="0">
                <a:solidFill>
                  <a:srgbClr val="000000"/>
                </a:solidFill>
                <a:latin typeface="Calibri"/>
                <a:cs typeface="Calibri"/>
              </a:rPr>
              <a:t>Physical Address</a:t>
            </a:r>
          </a:p>
        </p:txBody>
      </p:sp>
      <p:sp>
        <p:nvSpPr>
          <p:cNvPr id="39" name="Text Box 46">
            <a:extLst>
              <a:ext uri="{FF2B5EF4-FFF2-40B4-BE49-F238E27FC236}">
                <a16:creationId xmlns:a16="http://schemas.microsoft.com/office/drawing/2014/main" id="{DCDD8072-1E54-44E5-BA65-3A6787005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002455"/>
            <a:ext cx="1116013" cy="707886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en-US" sz="2000" dirty="0">
                <a:solidFill>
                  <a:srgbClr val="000000"/>
                </a:solidFill>
                <a:latin typeface="Calibri"/>
                <a:cs typeface="Calibri"/>
              </a:rPr>
              <a:t>Physical Address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45E6A8-508B-4023-BA31-9437B858A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648372"/>
            <a:ext cx="1635125" cy="457200"/>
          </a:xfrm>
          <a:prstGeom prst="rect">
            <a:avLst/>
          </a:prstGeom>
          <a:solidFill>
            <a:srgbClr val="FDB9FE"/>
          </a:solidFill>
          <a:ln w="28575" cmpd="sng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0" tIns="0" rIns="0" bIns="0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lnSpc>
                <a:spcPct val="85000"/>
              </a:lnSpc>
              <a:spcBef>
                <a:spcPct val="50000"/>
              </a:spcBef>
            </a:pPr>
            <a:r>
              <a:rPr lang="en-US" altLang="ko-KR" sz="1600" dirty="0">
                <a:solidFill>
                  <a:srgbClr val="000000"/>
                </a:solidFill>
                <a:latin typeface="Arial" charset="0"/>
                <a:ea typeface="굴림" charset="-127"/>
                <a:cs typeface="굴림" charset="-127"/>
              </a:rPr>
              <a:t>P</a:t>
            </a:r>
            <a:r>
              <a:rPr lang="en-US" altLang="ko-KR" sz="1600" dirty="0">
                <a:solidFill>
                  <a:srgbClr val="000000"/>
                </a:solidFill>
                <a:latin typeface="ヒラギノ角ゴ Pro W3" charset="-128"/>
                <a:ea typeface="굴림" charset="-127"/>
                <a:cs typeface="굴림" charset="-127"/>
              </a:rPr>
              <a:t>age-Table Base</a:t>
            </a:r>
            <a:r>
              <a:rPr lang="en-US" altLang="ko-KR" sz="1600" dirty="0">
                <a:solidFill>
                  <a:srgbClr val="000000"/>
                </a:solidFill>
                <a:latin typeface="Arial" charset="0"/>
                <a:ea typeface="굴림" charset="-127"/>
                <a:cs typeface="굴림" charset="-127"/>
              </a:rPr>
              <a:t> Register</a:t>
            </a:r>
            <a:endParaRPr lang="en-US" sz="160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1" name="Line 50">
            <a:extLst>
              <a:ext uri="{FF2B5EF4-FFF2-40B4-BE49-F238E27FC236}">
                <a16:creationId xmlns:a16="http://schemas.microsoft.com/office/drawing/2014/main" id="{7C29D3F1-AAE1-4D21-B366-0F4ED496938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4370685"/>
            <a:ext cx="1143000" cy="762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2" name="Text Box 51">
            <a:extLst>
              <a:ext uri="{FF2B5EF4-FFF2-40B4-BE49-F238E27FC236}">
                <a16:creationId xmlns:a16="http://schemas.microsoft.com/office/drawing/2014/main" id="{BEDD8DDE-B9B9-4E33-A18C-48D5A8ADD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1671032"/>
            <a:ext cx="1116013" cy="646331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en-US" sz="1800" dirty="0">
                <a:solidFill>
                  <a:srgbClr val="000000"/>
                </a:solidFill>
                <a:latin typeface="Calibri"/>
                <a:cs typeface="Calibri"/>
              </a:rPr>
              <a:t>Virtual Address</a:t>
            </a:r>
          </a:p>
        </p:txBody>
      </p:sp>
      <p:sp>
        <p:nvSpPr>
          <p:cNvPr id="43" name="Line 52">
            <a:extLst>
              <a:ext uri="{FF2B5EF4-FFF2-40B4-BE49-F238E27FC236}">
                <a16:creationId xmlns:a16="http://schemas.microsoft.com/office/drawing/2014/main" id="{12B32A3B-A0D9-4EBE-B902-E268211F01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2200" y="2237085"/>
            <a:ext cx="533400" cy="6858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4" name="Text Box 55">
            <a:extLst>
              <a:ext uri="{FF2B5EF4-FFF2-40B4-BE49-F238E27FC236}">
                <a16:creationId xmlns:a16="http://schemas.microsoft.com/office/drawing/2014/main" id="{C5062E80-CE3F-4FA0-B252-5176B50B8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1594832"/>
            <a:ext cx="1116013" cy="646331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en-US" sz="1800" dirty="0">
                <a:solidFill>
                  <a:srgbClr val="000000"/>
                </a:solidFill>
                <a:latin typeface="Calibri"/>
                <a:cs typeface="Calibri"/>
              </a:rPr>
              <a:t>Virtual Address</a:t>
            </a:r>
          </a:p>
        </p:txBody>
      </p:sp>
      <p:sp>
        <p:nvSpPr>
          <p:cNvPr id="45" name="Line 56">
            <a:extLst>
              <a:ext uri="{FF2B5EF4-FFF2-40B4-BE49-F238E27FC236}">
                <a16:creationId xmlns:a16="http://schemas.microsoft.com/office/drawing/2014/main" id="{CE88946C-96C6-45D9-B1B9-1B6A03E1C8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2237085"/>
            <a:ext cx="152400" cy="685799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1EB6358-29CB-418C-B7E4-BAE8AEAE0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3724572"/>
            <a:ext cx="1905000" cy="685800"/>
          </a:xfrm>
          <a:prstGeom prst="rect">
            <a:avLst/>
          </a:prstGeom>
          <a:solidFill>
            <a:srgbClr val="FDB9FE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en-US" sz="2000" dirty="0">
                <a:solidFill>
                  <a:srgbClr val="000000"/>
                </a:solidFill>
                <a:latin typeface="Calibri"/>
                <a:cs typeface="Calibri"/>
              </a:rPr>
              <a:t>Hardware Page Table Walker</a:t>
            </a:r>
          </a:p>
        </p:txBody>
      </p:sp>
      <p:sp>
        <p:nvSpPr>
          <p:cNvPr id="47" name="Line 58">
            <a:extLst>
              <a:ext uri="{FF2B5EF4-FFF2-40B4-BE49-F238E27FC236}">
                <a16:creationId xmlns:a16="http://schemas.microsoft.com/office/drawing/2014/main" id="{90E6099C-B5BA-4386-93AF-D8643D48958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800772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8" name="Freeform 62">
            <a:extLst>
              <a:ext uri="{FF2B5EF4-FFF2-40B4-BE49-F238E27FC236}">
                <a16:creationId xmlns:a16="http://schemas.microsoft.com/office/drawing/2014/main" id="{BBE18347-EF97-42B9-8BD8-723AC58F7DB5}"/>
              </a:ext>
            </a:extLst>
          </p:cNvPr>
          <p:cNvSpPr>
            <a:spLocks/>
          </p:cNvSpPr>
          <p:nvPr/>
        </p:nvSpPr>
        <p:spPr bwMode="auto">
          <a:xfrm>
            <a:off x="7848600" y="4218285"/>
            <a:ext cx="1371600" cy="7620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96" y="432"/>
              </a:cxn>
              <a:cxn ang="0">
                <a:pos x="96" y="0"/>
              </a:cxn>
            </a:cxnLst>
            <a:rect l="0" t="0" r="r" b="b"/>
            <a:pathLst>
              <a:path w="96" h="432">
                <a:moveTo>
                  <a:pt x="0" y="432"/>
                </a:moveTo>
                <a:lnTo>
                  <a:pt x="96" y="432"/>
                </a:lnTo>
                <a:lnTo>
                  <a:pt x="96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C01A5E0-DA23-4D20-831D-C22C60B6858B}"/>
              </a:ext>
            </a:extLst>
          </p:cNvPr>
          <p:cNvGrpSpPr/>
          <p:nvPr/>
        </p:nvGrpSpPr>
        <p:grpSpPr>
          <a:xfrm rot="5400000">
            <a:off x="8686800" y="3837285"/>
            <a:ext cx="152400" cy="304800"/>
            <a:chOff x="6629400" y="3316287"/>
            <a:chExt cx="152400" cy="304800"/>
          </a:xfrm>
        </p:grpSpPr>
        <p:sp>
          <p:nvSpPr>
            <p:cNvPr id="50" name="Line 59">
              <a:extLst>
                <a:ext uri="{FF2B5EF4-FFF2-40B4-BE49-F238E27FC236}">
                  <a16:creationId xmlns:a16="http://schemas.microsoft.com/office/drawing/2014/main" id="{68EAAF87-4913-48AC-B25A-36BD438A2B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29400" y="3316287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endParaRPr lang="en-US" sz="1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51" name="Line 63">
              <a:extLst>
                <a:ext uri="{FF2B5EF4-FFF2-40B4-BE49-F238E27FC236}">
                  <a16:creationId xmlns:a16="http://schemas.microsoft.com/office/drawing/2014/main" id="{0B230E07-860D-494B-B9A3-95A6843160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81800" y="3316287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endParaRPr lang="en-US" sz="1600">
                <a:solidFill>
                  <a:srgbClr val="000000"/>
                </a:solidFill>
                <a:latin typeface="Arial" charset="0"/>
              </a:endParaRPr>
            </a:p>
          </p:txBody>
        </p:sp>
      </p:grpSp>
      <p:sp>
        <p:nvSpPr>
          <p:cNvPr id="52" name="Freeform 64">
            <a:extLst>
              <a:ext uri="{FF2B5EF4-FFF2-40B4-BE49-F238E27FC236}">
                <a16:creationId xmlns:a16="http://schemas.microsoft.com/office/drawing/2014/main" id="{53DDB013-3166-4C17-8D8A-7F147DE1313B}"/>
              </a:ext>
            </a:extLst>
          </p:cNvPr>
          <p:cNvSpPr>
            <a:spLocks/>
          </p:cNvSpPr>
          <p:nvPr/>
        </p:nvSpPr>
        <p:spPr bwMode="auto">
          <a:xfrm>
            <a:off x="3886200" y="3989684"/>
            <a:ext cx="2819400" cy="3444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528"/>
              </a:cxn>
              <a:cxn ang="0">
                <a:pos x="2304" y="528"/>
              </a:cxn>
            </a:cxnLst>
            <a:rect l="0" t="0" r="r" b="b"/>
            <a:pathLst>
              <a:path w="2304" h="528">
                <a:moveTo>
                  <a:pt x="0" y="0"/>
                </a:moveTo>
                <a:lnTo>
                  <a:pt x="0" y="528"/>
                </a:lnTo>
                <a:lnTo>
                  <a:pt x="2304" y="528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3" name="Freeform 66">
            <a:extLst>
              <a:ext uri="{FF2B5EF4-FFF2-40B4-BE49-F238E27FC236}">
                <a16:creationId xmlns:a16="http://schemas.microsoft.com/office/drawing/2014/main" id="{856DAC19-BB32-4387-A10F-1E8EBC846770}"/>
              </a:ext>
            </a:extLst>
          </p:cNvPr>
          <p:cNvSpPr>
            <a:spLocks/>
          </p:cNvSpPr>
          <p:nvPr/>
        </p:nvSpPr>
        <p:spPr bwMode="auto">
          <a:xfrm>
            <a:off x="4114800" y="3989684"/>
            <a:ext cx="2590800" cy="1920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528"/>
              </a:cxn>
              <a:cxn ang="0">
                <a:pos x="2304" y="528"/>
              </a:cxn>
            </a:cxnLst>
            <a:rect l="0" t="0" r="r" b="b"/>
            <a:pathLst>
              <a:path w="2304" h="528">
                <a:moveTo>
                  <a:pt x="0" y="0"/>
                </a:moveTo>
                <a:lnTo>
                  <a:pt x="0" y="528"/>
                </a:lnTo>
                <a:lnTo>
                  <a:pt x="2304" y="528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4" name="Freeform 64">
            <a:extLst>
              <a:ext uri="{FF2B5EF4-FFF2-40B4-BE49-F238E27FC236}">
                <a16:creationId xmlns:a16="http://schemas.microsoft.com/office/drawing/2014/main" id="{8BA89794-D52E-44B7-ABFD-9A6F2ACEDA47}"/>
              </a:ext>
            </a:extLst>
          </p:cNvPr>
          <p:cNvSpPr>
            <a:spLocks/>
          </p:cNvSpPr>
          <p:nvPr/>
        </p:nvSpPr>
        <p:spPr bwMode="auto">
          <a:xfrm>
            <a:off x="3657600" y="3989685"/>
            <a:ext cx="1524000" cy="6492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528"/>
              </a:cxn>
              <a:cxn ang="0">
                <a:pos x="2304" y="528"/>
              </a:cxn>
            </a:cxnLst>
            <a:rect l="0" t="0" r="r" b="b"/>
            <a:pathLst>
              <a:path w="2304" h="528">
                <a:moveTo>
                  <a:pt x="0" y="0"/>
                </a:moveTo>
                <a:lnTo>
                  <a:pt x="0" y="528"/>
                </a:lnTo>
                <a:lnTo>
                  <a:pt x="2304" y="528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5" name="Line 63">
            <a:extLst>
              <a:ext uri="{FF2B5EF4-FFF2-40B4-BE49-F238E27FC236}">
                <a16:creationId xmlns:a16="http://schemas.microsoft.com/office/drawing/2014/main" id="{1522092B-9EDB-4B74-BA89-40A49BDD04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3227685"/>
            <a:ext cx="4572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6" name="Line 52">
            <a:extLst>
              <a:ext uri="{FF2B5EF4-FFF2-40B4-BE49-F238E27FC236}">
                <a16:creationId xmlns:a16="http://schemas.microsoft.com/office/drawing/2014/main" id="{DEE2FD0A-5775-47DC-8DE7-4BDB2B15AA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237085"/>
            <a:ext cx="228600" cy="12192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7" name="Line 56">
            <a:extLst>
              <a:ext uri="{FF2B5EF4-FFF2-40B4-BE49-F238E27FC236}">
                <a16:creationId xmlns:a16="http://schemas.microsoft.com/office/drawing/2014/main" id="{0E6094D6-9FAF-485B-9745-2A668EED961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53400" y="2237085"/>
            <a:ext cx="609600" cy="10668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8" name="Line 63">
            <a:extLst>
              <a:ext uri="{FF2B5EF4-FFF2-40B4-BE49-F238E27FC236}">
                <a16:creationId xmlns:a16="http://schemas.microsoft.com/office/drawing/2014/main" id="{483F9D69-F557-42A4-BDF0-B0E76C289D7D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3227685"/>
            <a:ext cx="4572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9" name="Freeform 37">
            <a:extLst>
              <a:ext uri="{FF2B5EF4-FFF2-40B4-BE49-F238E27FC236}">
                <a16:creationId xmlns:a16="http://schemas.microsoft.com/office/drawing/2014/main" id="{F718450E-2EA9-4657-8508-2F54CD3E12B9}"/>
              </a:ext>
            </a:extLst>
          </p:cNvPr>
          <p:cNvSpPr>
            <a:spLocks/>
          </p:cNvSpPr>
          <p:nvPr/>
        </p:nvSpPr>
        <p:spPr bwMode="auto">
          <a:xfrm>
            <a:off x="7848600" y="3303884"/>
            <a:ext cx="609600" cy="1563687"/>
          </a:xfrm>
          <a:custGeom>
            <a:avLst/>
            <a:gdLst/>
            <a:ahLst/>
            <a:cxnLst>
              <a:cxn ang="0">
                <a:pos x="816" y="0"/>
              </a:cxn>
              <a:cxn ang="0">
                <a:pos x="816" y="384"/>
              </a:cxn>
              <a:cxn ang="0">
                <a:pos x="0" y="384"/>
              </a:cxn>
            </a:cxnLst>
            <a:rect l="0" t="0" r="r" b="b"/>
            <a:pathLst>
              <a:path w="816" h="384">
                <a:moveTo>
                  <a:pt x="816" y="0"/>
                </a:moveTo>
                <a:lnTo>
                  <a:pt x="816" y="384"/>
                </a:lnTo>
                <a:lnTo>
                  <a:pt x="0" y="384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0" name="Text Box 65">
            <a:extLst>
              <a:ext uri="{FF2B5EF4-FFF2-40B4-BE49-F238E27FC236}">
                <a16:creationId xmlns:a16="http://schemas.microsoft.com/office/drawing/2014/main" id="{86985688-3CBB-4153-9E28-F967D9110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6785" y="3210986"/>
            <a:ext cx="794120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en-US" sz="2000" i="1" dirty="0">
                <a:solidFill>
                  <a:srgbClr val="56127A"/>
                </a:solidFill>
                <a:latin typeface="Calibri"/>
                <a:cs typeface="Calibri"/>
              </a:rPr>
              <a:t>Miss?</a:t>
            </a:r>
            <a:endParaRPr lang="en-US" sz="20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61" name="Text Box 65">
            <a:extLst>
              <a:ext uri="{FF2B5EF4-FFF2-40B4-BE49-F238E27FC236}">
                <a16:creationId xmlns:a16="http://schemas.microsoft.com/office/drawing/2014/main" id="{FC23070F-CADF-4B2F-A802-F89E351E3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480" y="3151485"/>
            <a:ext cx="794120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en-US" sz="2000" i="1" dirty="0">
                <a:solidFill>
                  <a:srgbClr val="56127A"/>
                </a:solidFill>
                <a:latin typeface="Calibri"/>
                <a:cs typeface="Calibri"/>
              </a:rPr>
              <a:t>Miss?</a:t>
            </a:r>
            <a:endParaRPr lang="en-US" sz="20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5179C28-9272-4185-B000-02BEB06577FB}"/>
              </a:ext>
            </a:extLst>
          </p:cNvPr>
          <p:cNvGrpSpPr/>
          <p:nvPr/>
        </p:nvGrpSpPr>
        <p:grpSpPr>
          <a:xfrm>
            <a:off x="4000500" y="4370685"/>
            <a:ext cx="152400" cy="228600"/>
            <a:chOff x="6629400" y="3316287"/>
            <a:chExt cx="152400" cy="304800"/>
          </a:xfrm>
        </p:grpSpPr>
        <p:sp>
          <p:nvSpPr>
            <p:cNvPr id="63" name="Line 59">
              <a:extLst>
                <a:ext uri="{FF2B5EF4-FFF2-40B4-BE49-F238E27FC236}">
                  <a16:creationId xmlns:a16="http://schemas.microsoft.com/office/drawing/2014/main" id="{12B90DED-126D-477D-9CCE-16FB661C2C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29400" y="3316287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endParaRPr lang="en-US" sz="1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64" name="Line 63">
              <a:extLst>
                <a:ext uri="{FF2B5EF4-FFF2-40B4-BE49-F238E27FC236}">
                  <a16:creationId xmlns:a16="http://schemas.microsoft.com/office/drawing/2014/main" id="{A32F374E-9877-46AA-8AE6-238C260307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81800" y="3316287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itchFamily="-110" charset="0"/>
                  <a:ea typeface="+mn-ea"/>
                  <a:cs typeface="+mn-cs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endParaRPr lang="en-US" sz="1600">
                <a:solidFill>
                  <a:srgbClr val="000000"/>
                </a:solidFill>
                <a:latin typeface="Arial" charset="0"/>
              </a:endParaRPr>
            </a:p>
          </p:txBody>
        </p:sp>
      </p:grpSp>
      <p:sp>
        <p:nvSpPr>
          <p:cNvPr id="65" name="TextBox 75">
            <a:extLst>
              <a:ext uri="{FF2B5EF4-FFF2-40B4-BE49-F238E27FC236}">
                <a16:creationId xmlns:a16="http://schemas.microsoft.com/office/drawing/2014/main" id="{0639596B-ADA2-476E-BB60-F27D1EB2101A}"/>
              </a:ext>
            </a:extLst>
          </p:cNvPr>
          <p:cNvSpPr txBox="1"/>
          <p:nvPr/>
        </p:nvSpPr>
        <p:spPr>
          <a:xfrm>
            <a:off x="1722678" y="5894685"/>
            <a:ext cx="2661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en-US" dirty="0">
                <a:solidFill>
                  <a:srgbClr val="000000"/>
                </a:solidFill>
                <a:latin typeface="Arial" charset="0"/>
              </a:rPr>
              <a:t>Translate on </a:t>
            </a:r>
            <a:r>
              <a:rPr lang="en-US" i="1" dirty="0">
                <a:solidFill>
                  <a:srgbClr val="000000"/>
                </a:solidFill>
                <a:latin typeface="Arial" charset="0"/>
              </a:rPr>
              <a:t>miss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8948B15-22D0-F0BC-CE1B-0A47C7912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546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388981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4175-14BA-ED30-A7C1-8FF7AFDA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6226C-1794-DD0C-0E27-E67854F54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Hierarchy with the TLBs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85ECB2-ADC1-5684-B8D6-DF46BC6FD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15</a:t>
            </a:fld>
            <a:endParaRPr lang="en-IN" dirty="0"/>
          </a:p>
        </p:txBody>
      </p:sp>
      <p:grpSp>
        <p:nvGrpSpPr>
          <p:cNvPr id="6" name="object 5">
            <a:extLst>
              <a:ext uri="{FF2B5EF4-FFF2-40B4-BE49-F238E27FC236}">
                <a16:creationId xmlns:a16="http://schemas.microsoft.com/office/drawing/2014/main" id="{32E2BC61-6D28-D41E-1E13-88ABC00B55F5}"/>
              </a:ext>
            </a:extLst>
          </p:cNvPr>
          <p:cNvGrpSpPr/>
          <p:nvPr/>
        </p:nvGrpSpPr>
        <p:grpSpPr>
          <a:xfrm>
            <a:off x="3750520" y="4103348"/>
            <a:ext cx="4493260" cy="534035"/>
            <a:chOff x="2416810" y="3916426"/>
            <a:chExt cx="4493260" cy="534035"/>
          </a:xfrm>
        </p:grpSpPr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01F453BB-6164-B207-9F93-98135B4073EF}"/>
                </a:ext>
              </a:extLst>
            </p:cNvPr>
            <p:cNvSpPr/>
            <p:nvPr/>
          </p:nvSpPr>
          <p:spPr>
            <a:xfrm>
              <a:off x="2446020" y="3945636"/>
              <a:ext cx="4434840" cy="475615"/>
            </a:xfrm>
            <a:custGeom>
              <a:avLst/>
              <a:gdLst/>
              <a:ahLst/>
              <a:cxnLst/>
              <a:rect l="l" t="t" r="r" b="b"/>
              <a:pathLst>
                <a:path w="4434840" h="475614">
                  <a:moveTo>
                    <a:pt x="2217420" y="0"/>
                  </a:moveTo>
                  <a:lnTo>
                    <a:pt x="2137887" y="150"/>
                  </a:lnTo>
                  <a:lnTo>
                    <a:pt x="2059059" y="596"/>
                  </a:lnTo>
                  <a:lnTo>
                    <a:pt x="1980982" y="1335"/>
                  </a:lnTo>
                  <a:lnTo>
                    <a:pt x="1903704" y="2360"/>
                  </a:lnTo>
                  <a:lnTo>
                    <a:pt x="1827270" y="3667"/>
                  </a:lnTo>
                  <a:lnTo>
                    <a:pt x="1751729" y="5251"/>
                  </a:lnTo>
                  <a:lnTo>
                    <a:pt x="1677127" y="7106"/>
                  </a:lnTo>
                  <a:lnTo>
                    <a:pt x="1603510" y="9227"/>
                  </a:lnTo>
                  <a:lnTo>
                    <a:pt x="1530927" y="11611"/>
                  </a:lnTo>
                  <a:lnTo>
                    <a:pt x="1459423" y="14251"/>
                  </a:lnTo>
                  <a:lnTo>
                    <a:pt x="1389045" y="17142"/>
                  </a:lnTo>
                  <a:lnTo>
                    <a:pt x="1319841" y="20280"/>
                  </a:lnTo>
                  <a:lnTo>
                    <a:pt x="1251858" y="23659"/>
                  </a:lnTo>
                  <a:lnTo>
                    <a:pt x="1185142" y="27275"/>
                  </a:lnTo>
                  <a:lnTo>
                    <a:pt x="1119740" y="31122"/>
                  </a:lnTo>
                  <a:lnTo>
                    <a:pt x="1055699" y="35196"/>
                  </a:lnTo>
                  <a:lnTo>
                    <a:pt x="993066" y="39491"/>
                  </a:lnTo>
                  <a:lnTo>
                    <a:pt x="931887" y="44002"/>
                  </a:lnTo>
                  <a:lnTo>
                    <a:pt x="872211" y="48724"/>
                  </a:lnTo>
                  <a:lnTo>
                    <a:pt x="814083" y="53653"/>
                  </a:lnTo>
                  <a:lnTo>
                    <a:pt x="757551" y="58783"/>
                  </a:lnTo>
                  <a:lnTo>
                    <a:pt x="702662" y="64110"/>
                  </a:lnTo>
                  <a:lnTo>
                    <a:pt x="649462" y="69627"/>
                  </a:lnTo>
                  <a:lnTo>
                    <a:pt x="597998" y="75331"/>
                  </a:lnTo>
                  <a:lnTo>
                    <a:pt x="548317" y="81216"/>
                  </a:lnTo>
                  <a:lnTo>
                    <a:pt x="500466" y="87277"/>
                  </a:lnTo>
                  <a:lnTo>
                    <a:pt x="454493" y="93509"/>
                  </a:lnTo>
                  <a:lnTo>
                    <a:pt x="410443" y="99907"/>
                  </a:lnTo>
                  <a:lnTo>
                    <a:pt x="368364" y="106466"/>
                  </a:lnTo>
                  <a:lnTo>
                    <a:pt x="328303" y="113182"/>
                  </a:lnTo>
                  <a:lnTo>
                    <a:pt x="290306" y="120048"/>
                  </a:lnTo>
                  <a:lnTo>
                    <a:pt x="220694" y="134213"/>
                  </a:lnTo>
                  <a:lnTo>
                    <a:pt x="159903" y="148922"/>
                  </a:lnTo>
                  <a:lnTo>
                    <a:pt x="108309" y="164135"/>
                  </a:lnTo>
                  <a:lnTo>
                    <a:pt x="66286" y="179811"/>
                  </a:lnTo>
                  <a:lnTo>
                    <a:pt x="22019" y="204105"/>
                  </a:lnTo>
                  <a:lnTo>
                    <a:pt x="0" y="237744"/>
                  </a:lnTo>
                  <a:lnTo>
                    <a:pt x="1399" y="246272"/>
                  </a:lnTo>
                  <a:lnTo>
                    <a:pt x="34210" y="279578"/>
                  </a:lnTo>
                  <a:lnTo>
                    <a:pt x="86078" y="303570"/>
                  </a:lnTo>
                  <a:lnTo>
                    <a:pt x="132933" y="319019"/>
                  </a:lnTo>
                  <a:lnTo>
                    <a:pt x="189173" y="333985"/>
                  </a:lnTo>
                  <a:lnTo>
                    <a:pt x="254421" y="348427"/>
                  </a:lnTo>
                  <a:lnTo>
                    <a:pt x="328303" y="362305"/>
                  </a:lnTo>
                  <a:lnTo>
                    <a:pt x="368364" y="369021"/>
                  </a:lnTo>
                  <a:lnTo>
                    <a:pt x="410443" y="375580"/>
                  </a:lnTo>
                  <a:lnTo>
                    <a:pt x="454493" y="381978"/>
                  </a:lnTo>
                  <a:lnTo>
                    <a:pt x="500466" y="388210"/>
                  </a:lnTo>
                  <a:lnTo>
                    <a:pt x="548317" y="394271"/>
                  </a:lnTo>
                  <a:lnTo>
                    <a:pt x="597998" y="400156"/>
                  </a:lnTo>
                  <a:lnTo>
                    <a:pt x="649462" y="405860"/>
                  </a:lnTo>
                  <a:lnTo>
                    <a:pt x="702662" y="411377"/>
                  </a:lnTo>
                  <a:lnTo>
                    <a:pt x="757551" y="416704"/>
                  </a:lnTo>
                  <a:lnTo>
                    <a:pt x="814083" y="421834"/>
                  </a:lnTo>
                  <a:lnTo>
                    <a:pt x="872211" y="426763"/>
                  </a:lnTo>
                  <a:lnTo>
                    <a:pt x="931887" y="431485"/>
                  </a:lnTo>
                  <a:lnTo>
                    <a:pt x="993066" y="435996"/>
                  </a:lnTo>
                  <a:lnTo>
                    <a:pt x="1055699" y="440291"/>
                  </a:lnTo>
                  <a:lnTo>
                    <a:pt x="1119740" y="444365"/>
                  </a:lnTo>
                  <a:lnTo>
                    <a:pt x="1185142" y="448212"/>
                  </a:lnTo>
                  <a:lnTo>
                    <a:pt x="1251858" y="451828"/>
                  </a:lnTo>
                  <a:lnTo>
                    <a:pt x="1319841" y="455207"/>
                  </a:lnTo>
                  <a:lnTo>
                    <a:pt x="1389045" y="458345"/>
                  </a:lnTo>
                  <a:lnTo>
                    <a:pt x="1459423" y="461236"/>
                  </a:lnTo>
                  <a:lnTo>
                    <a:pt x="1530927" y="463876"/>
                  </a:lnTo>
                  <a:lnTo>
                    <a:pt x="1603510" y="466260"/>
                  </a:lnTo>
                  <a:lnTo>
                    <a:pt x="1677127" y="468381"/>
                  </a:lnTo>
                  <a:lnTo>
                    <a:pt x="1751729" y="470236"/>
                  </a:lnTo>
                  <a:lnTo>
                    <a:pt x="1827270" y="471820"/>
                  </a:lnTo>
                  <a:lnTo>
                    <a:pt x="1903704" y="473127"/>
                  </a:lnTo>
                  <a:lnTo>
                    <a:pt x="1980982" y="474152"/>
                  </a:lnTo>
                  <a:lnTo>
                    <a:pt x="2059059" y="474891"/>
                  </a:lnTo>
                  <a:lnTo>
                    <a:pt x="2137887" y="475337"/>
                  </a:lnTo>
                  <a:lnTo>
                    <a:pt x="2217420" y="475488"/>
                  </a:lnTo>
                  <a:lnTo>
                    <a:pt x="2296952" y="475337"/>
                  </a:lnTo>
                  <a:lnTo>
                    <a:pt x="2375780" y="474891"/>
                  </a:lnTo>
                  <a:lnTo>
                    <a:pt x="2453857" y="474152"/>
                  </a:lnTo>
                  <a:lnTo>
                    <a:pt x="2531135" y="473127"/>
                  </a:lnTo>
                  <a:lnTo>
                    <a:pt x="2607569" y="471820"/>
                  </a:lnTo>
                  <a:lnTo>
                    <a:pt x="2683110" y="470236"/>
                  </a:lnTo>
                  <a:lnTo>
                    <a:pt x="2757712" y="468381"/>
                  </a:lnTo>
                  <a:lnTo>
                    <a:pt x="2831329" y="466260"/>
                  </a:lnTo>
                  <a:lnTo>
                    <a:pt x="2903912" y="463876"/>
                  </a:lnTo>
                  <a:lnTo>
                    <a:pt x="2975416" y="461236"/>
                  </a:lnTo>
                  <a:lnTo>
                    <a:pt x="3045794" y="458345"/>
                  </a:lnTo>
                  <a:lnTo>
                    <a:pt x="3114998" y="455207"/>
                  </a:lnTo>
                  <a:lnTo>
                    <a:pt x="3182981" y="451828"/>
                  </a:lnTo>
                  <a:lnTo>
                    <a:pt x="3249697" y="448212"/>
                  </a:lnTo>
                  <a:lnTo>
                    <a:pt x="3315099" y="444365"/>
                  </a:lnTo>
                  <a:lnTo>
                    <a:pt x="3379140" y="440291"/>
                  </a:lnTo>
                  <a:lnTo>
                    <a:pt x="3441773" y="435996"/>
                  </a:lnTo>
                  <a:lnTo>
                    <a:pt x="3502952" y="431485"/>
                  </a:lnTo>
                  <a:lnTo>
                    <a:pt x="3562628" y="426763"/>
                  </a:lnTo>
                  <a:lnTo>
                    <a:pt x="3620756" y="421834"/>
                  </a:lnTo>
                  <a:lnTo>
                    <a:pt x="3677288" y="416704"/>
                  </a:lnTo>
                  <a:lnTo>
                    <a:pt x="3732177" y="411377"/>
                  </a:lnTo>
                  <a:lnTo>
                    <a:pt x="3785377" y="405860"/>
                  </a:lnTo>
                  <a:lnTo>
                    <a:pt x="3836841" y="400156"/>
                  </a:lnTo>
                  <a:lnTo>
                    <a:pt x="3886522" y="394271"/>
                  </a:lnTo>
                  <a:lnTo>
                    <a:pt x="3934373" y="388210"/>
                  </a:lnTo>
                  <a:lnTo>
                    <a:pt x="3980346" y="381978"/>
                  </a:lnTo>
                  <a:lnTo>
                    <a:pt x="4024396" y="375580"/>
                  </a:lnTo>
                  <a:lnTo>
                    <a:pt x="4066475" y="369021"/>
                  </a:lnTo>
                  <a:lnTo>
                    <a:pt x="4106536" y="362305"/>
                  </a:lnTo>
                  <a:lnTo>
                    <a:pt x="4144533" y="355439"/>
                  </a:lnTo>
                  <a:lnTo>
                    <a:pt x="4214145" y="341274"/>
                  </a:lnTo>
                  <a:lnTo>
                    <a:pt x="4274936" y="326565"/>
                  </a:lnTo>
                  <a:lnTo>
                    <a:pt x="4326530" y="311352"/>
                  </a:lnTo>
                  <a:lnTo>
                    <a:pt x="4368553" y="295676"/>
                  </a:lnTo>
                  <a:lnTo>
                    <a:pt x="4412820" y="271382"/>
                  </a:lnTo>
                  <a:lnTo>
                    <a:pt x="4434839" y="237744"/>
                  </a:lnTo>
                  <a:lnTo>
                    <a:pt x="4433440" y="229215"/>
                  </a:lnTo>
                  <a:lnTo>
                    <a:pt x="4400629" y="195909"/>
                  </a:lnTo>
                  <a:lnTo>
                    <a:pt x="4348761" y="171917"/>
                  </a:lnTo>
                  <a:lnTo>
                    <a:pt x="4301906" y="156468"/>
                  </a:lnTo>
                  <a:lnTo>
                    <a:pt x="4245666" y="141502"/>
                  </a:lnTo>
                  <a:lnTo>
                    <a:pt x="4180418" y="127060"/>
                  </a:lnTo>
                  <a:lnTo>
                    <a:pt x="4106536" y="113182"/>
                  </a:lnTo>
                  <a:lnTo>
                    <a:pt x="4066475" y="106466"/>
                  </a:lnTo>
                  <a:lnTo>
                    <a:pt x="4024396" y="99907"/>
                  </a:lnTo>
                  <a:lnTo>
                    <a:pt x="3980346" y="93509"/>
                  </a:lnTo>
                  <a:lnTo>
                    <a:pt x="3934373" y="87277"/>
                  </a:lnTo>
                  <a:lnTo>
                    <a:pt x="3886522" y="81216"/>
                  </a:lnTo>
                  <a:lnTo>
                    <a:pt x="3836841" y="75331"/>
                  </a:lnTo>
                  <a:lnTo>
                    <a:pt x="3785377" y="69627"/>
                  </a:lnTo>
                  <a:lnTo>
                    <a:pt x="3732177" y="64110"/>
                  </a:lnTo>
                  <a:lnTo>
                    <a:pt x="3677288" y="58783"/>
                  </a:lnTo>
                  <a:lnTo>
                    <a:pt x="3620756" y="53653"/>
                  </a:lnTo>
                  <a:lnTo>
                    <a:pt x="3562628" y="48724"/>
                  </a:lnTo>
                  <a:lnTo>
                    <a:pt x="3502952" y="44002"/>
                  </a:lnTo>
                  <a:lnTo>
                    <a:pt x="3441773" y="39491"/>
                  </a:lnTo>
                  <a:lnTo>
                    <a:pt x="3379140" y="35196"/>
                  </a:lnTo>
                  <a:lnTo>
                    <a:pt x="3315099" y="31122"/>
                  </a:lnTo>
                  <a:lnTo>
                    <a:pt x="3249697" y="27275"/>
                  </a:lnTo>
                  <a:lnTo>
                    <a:pt x="3182981" y="23659"/>
                  </a:lnTo>
                  <a:lnTo>
                    <a:pt x="3114998" y="20280"/>
                  </a:lnTo>
                  <a:lnTo>
                    <a:pt x="3045794" y="17142"/>
                  </a:lnTo>
                  <a:lnTo>
                    <a:pt x="2975416" y="14251"/>
                  </a:lnTo>
                  <a:lnTo>
                    <a:pt x="2903912" y="11611"/>
                  </a:lnTo>
                  <a:lnTo>
                    <a:pt x="2831329" y="9227"/>
                  </a:lnTo>
                  <a:lnTo>
                    <a:pt x="2757712" y="7106"/>
                  </a:lnTo>
                  <a:lnTo>
                    <a:pt x="2683110" y="5251"/>
                  </a:lnTo>
                  <a:lnTo>
                    <a:pt x="2607569" y="3667"/>
                  </a:lnTo>
                  <a:lnTo>
                    <a:pt x="2531135" y="2360"/>
                  </a:lnTo>
                  <a:lnTo>
                    <a:pt x="2453857" y="1335"/>
                  </a:lnTo>
                  <a:lnTo>
                    <a:pt x="2375780" y="596"/>
                  </a:lnTo>
                  <a:lnTo>
                    <a:pt x="2296952" y="150"/>
                  </a:lnTo>
                  <a:lnTo>
                    <a:pt x="22174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D30E977C-6343-4809-5382-E4F34687B599}"/>
                </a:ext>
              </a:extLst>
            </p:cNvPr>
            <p:cNvSpPr/>
            <p:nvPr/>
          </p:nvSpPr>
          <p:spPr>
            <a:xfrm>
              <a:off x="2446020" y="3945636"/>
              <a:ext cx="4434840" cy="475615"/>
            </a:xfrm>
            <a:custGeom>
              <a:avLst/>
              <a:gdLst/>
              <a:ahLst/>
              <a:cxnLst/>
              <a:rect l="l" t="t" r="r" b="b"/>
              <a:pathLst>
                <a:path w="4434840" h="475614">
                  <a:moveTo>
                    <a:pt x="0" y="237744"/>
                  </a:moveTo>
                  <a:lnTo>
                    <a:pt x="22019" y="204105"/>
                  </a:lnTo>
                  <a:lnTo>
                    <a:pt x="66286" y="179811"/>
                  </a:lnTo>
                  <a:lnTo>
                    <a:pt x="108309" y="164135"/>
                  </a:lnTo>
                  <a:lnTo>
                    <a:pt x="159903" y="148922"/>
                  </a:lnTo>
                  <a:lnTo>
                    <a:pt x="220694" y="134213"/>
                  </a:lnTo>
                  <a:lnTo>
                    <a:pt x="290306" y="120048"/>
                  </a:lnTo>
                  <a:lnTo>
                    <a:pt x="328303" y="113182"/>
                  </a:lnTo>
                  <a:lnTo>
                    <a:pt x="368364" y="106466"/>
                  </a:lnTo>
                  <a:lnTo>
                    <a:pt x="410443" y="99907"/>
                  </a:lnTo>
                  <a:lnTo>
                    <a:pt x="454493" y="93509"/>
                  </a:lnTo>
                  <a:lnTo>
                    <a:pt x="500466" y="87277"/>
                  </a:lnTo>
                  <a:lnTo>
                    <a:pt x="548317" y="81216"/>
                  </a:lnTo>
                  <a:lnTo>
                    <a:pt x="597998" y="75331"/>
                  </a:lnTo>
                  <a:lnTo>
                    <a:pt x="649462" y="69627"/>
                  </a:lnTo>
                  <a:lnTo>
                    <a:pt x="702662" y="64110"/>
                  </a:lnTo>
                  <a:lnTo>
                    <a:pt x="757551" y="58783"/>
                  </a:lnTo>
                  <a:lnTo>
                    <a:pt x="814083" y="53653"/>
                  </a:lnTo>
                  <a:lnTo>
                    <a:pt x="872211" y="48724"/>
                  </a:lnTo>
                  <a:lnTo>
                    <a:pt x="931887" y="44002"/>
                  </a:lnTo>
                  <a:lnTo>
                    <a:pt x="993066" y="39491"/>
                  </a:lnTo>
                  <a:lnTo>
                    <a:pt x="1055699" y="35196"/>
                  </a:lnTo>
                  <a:lnTo>
                    <a:pt x="1119740" y="31122"/>
                  </a:lnTo>
                  <a:lnTo>
                    <a:pt x="1185142" y="27275"/>
                  </a:lnTo>
                  <a:lnTo>
                    <a:pt x="1251858" y="23659"/>
                  </a:lnTo>
                  <a:lnTo>
                    <a:pt x="1319841" y="20280"/>
                  </a:lnTo>
                  <a:lnTo>
                    <a:pt x="1389045" y="17142"/>
                  </a:lnTo>
                  <a:lnTo>
                    <a:pt x="1459423" y="14251"/>
                  </a:lnTo>
                  <a:lnTo>
                    <a:pt x="1530927" y="11611"/>
                  </a:lnTo>
                  <a:lnTo>
                    <a:pt x="1603510" y="9227"/>
                  </a:lnTo>
                  <a:lnTo>
                    <a:pt x="1677127" y="7106"/>
                  </a:lnTo>
                  <a:lnTo>
                    <a:pt x="1751729" y="5251"/>
                  </a:lnTo>
                  <a:lnTo>
                    <a:pt x="1827270" y="3667"/>
                  </a:lnTo>
                  <a:lnTo>
                    <a:pt x="1903704" y="2360"/>
                  </a:lnTo>
                  <a:lnTo>
                    <a:pt x="1980982" y="1335"/>
                  </a:lnTo>
                  <a:lnTo>
                    <a:pt x="2059059" y="596"/>
                  </a:lnTo>
                  <a:lnTo>
                    <a:pt x="2137887" y="150"/>
                  </a:lnTo>
                  <a:lnTo>
                    <a:pt x="2217420" y="0"/>
                  </a:lnTo>
                  <a:lnTo>
                    <a:pt x="2296952" y="150"/>
                  </a:lnTo>
                  <a:lnTo>
                    <a:pt x="2375780" y="596"/>
                  </a:lnTo>
                  <a:lnTo>
                    <a:pt x="2453857" y="1335"/>
                  </a:lnTo>
                  <a:lnTo>
                    <a:pt x="2531135" y="2360"/>
                  </a:lnTo>
                  <a:lnTo>
                    <a:pt x="2607569" y="3667"/>
                  </a:lnTo>
                  <a:lnTo>
                    <a:pt x="2683110" y="5251"/>
                  </a:lnTo>
                  <a:lnTo>
                    <a:pt x="2757712" y="7106"/>
                  </a:lnTo>
                  <a:lnTo>
                    <a:pt x="2831329" y="9227"/>
                  </a:lnTo>
                  <a:lnTo>
                    <a:pt x="2903912" y="11611"/>
                  </a:lnTo>
                  <a:lnTo>
                    <a:pt x="2975416" y="14251"/>
                  </a:lnTo>
                  <a:lnTo>
                    <a:pt x="3045794" y="17142"/>
                  </a:lnTo>
                  <a:lnTo>
                    <a:pt x="3114998" y="20280"/>
                  </a:lnTo>
                  <a:lnTo>
                    <a:pt x="3182981" y="23659"/>
                  </a:lnTo>
                  <a:lnTo>
                    <a:pt x="3249697" y="27275"/>
                  </a:lnTo>
                  <a:lnTo>
                    <a:pt x="3315099" y="31122"/>
                  </a:lnTo>
                  <a:lnTo>
                    <a:pt x="3379140" y="35196"/>
                  </a:lnTo>
                  <a:lnTo>
                    <a:pt x="3441773" y="39491"/>
                  </a:lnTo>
                  <a:lnTo>
                    <a:pt x="3502952" y="44002"/>
                  </a:lnTo>
                  <a:lnTo>
                    <a:pt x="3562628" y="48724"/>
                  </a:lnTo>
                  <a:lnTo>
                    <a:pt x="3620756" y="53653"/>
                  </a:lnTo>
                  <a:lnTo>
                    <a:pt x="3677288" y="58783"/>
                  </a:lnTo>
                  <a:lnTo>
                    <a:pt x="3732177" y="64110"/>
                  </a:lnTo>
                  <a:lnTo>
                    <a:pt x="3785377" y="69627"/>
                  </a:lnTo>
                  <a:lnTo>
                    <a:pt x="3836841" y="75331"/>
                  </a:lnTo>
                  <a:lnTo>
                    <a:pt x="3886522" y="81216"/>
                  </a:lnTo>
                  <a:lnTo>
                    <a:pt x="3934373" y="87277"/>
                  </a:lnTo>
                  <a:lnTo>
                    <a:pt x="3980346" y="93509"/>
                  </a:lnTo>
                  <a:lnTo>
                    <a:pt x="4024396" y="99907"/>
                  </a:lnTo>
                  <a:lnTo>
                    <a:pt x="4066475" y="106466"/>
                  </a:lnTo>
                  <a:lnTo>
                    <a:pt x="4106536" y="113182"/>
                  </a:lnTo>
                  <a:lnTo>
                    <a:pt x="4144533" y="120048"/>
                  </a:lnTo>
                  <a:lnTo>
                    <a:pt x="4214145" y="134213"/>
                  </a:lnTo>
                  <a:lnTo>
                    <a:pt x="4274936" y="148922"/>
                  </a:lnTo>
                  <a:lnTo>
                    <a:pt x="4326530" y="164135"/>
                  </a:lnTo>
                  <a:lnTo>
                    <a:pt x="4368553" y="179811"/>
                  </a:lnTo>
                  <a:lnTo>
                    <a:pt x="4412820" y="204105"/>
                  </a:lnTo>
                  <a:lnTo>
                    <a:pt x="4434839" y="237744"/>
                  </a:lnTo>
                  <a:lnTo>
                    <a:pt x="4433440" y="246272"/>
                  </a:lnTo>
                  <a:lnTo>
                    <a:pt x="4400629" y="279578"/>
                  </a:lnTo>
                  <a:lnTo>
                    <a:pt x="4348761" y="303570"/>
                  </a:lnTo>
                  <a:lnTo>
                    <a:pt x="4301906" y="319019"/>
                  </a:lnTo>
                  <a:lnTo>
                    <a:pt x="4245666" y="333985"/>
                  </a:lnTo>
                  <a:lnTo>
                    <a:pt x="4180418" y="348427"/>
                  </a:lnTo>
                  <a:lnTo>
                    <a:pt x="4106536" y="362305"/>
                  </a:lnTo>
                  <a:lnTo>
                    <a:pt x="4066475" y="369021"/>
                  </a:lnTo>
                  <a:lnTo>
                    <a:pt x="4024396" y="375580"/>
                  </a:lnTo>
                  <a:lnTo>
                    <a:pt x="3980346" y="381978"/>
                  </a:lnTo>
                  <a:lnTo>
                    <a:pt x="3934373" y="388210"/>
                  </a:lnTo>
                  <a:lnTo>
                    <a:pt x="3886522" y="394271"/>
                  </a:lnTo>
                  <a:lnTo>
                    <a:pt x="3836841" y="400156"/>
                  </a:lnTo>
                  <a:lnTo>
                    <a:pt x="3785377" y="405860"/>
                  </a:lnTo>
                  <a:lnTo>
                    <a:pt x="3732177" y="411377"/>
                  </a:lnTo>
                  <a:lnTo>
                    <a:pt x="3677288" y="416704"/>
                  </a:lnTo>
                  <a:lnTo>
                    <a:pt x="3620756" y="421834"/>
                  </a:lnTo>
                  <a:lnTo>
                    <a:pt x="3562628" y="426763"/>
                  </a:lnTo>
                  <a:lnTo>
                    <a:pt x="3502952" y="431485"/>
                  </a:lnTo>
                  <a:lnTo>
                    <a:pt x="3441773" y="435996"/>
                  </a:lnTo>
                  <a:lnTo>
                    <a:pt x="3379140" y="440291"/>
                  </a:lnTo>
                  <a:lnTo>
                    <a:pt x="3315099" y="444365"/>
                  </a:lnTo>
                  <a:lnTo>
                    <a:pt x="3249697" y="448212"/>
                  </a:lnTo>
                  <a:lnTo>
                    <a:pt x="3182981" y="451828"/>
                  </a:lnTo>
                  <a:lnTo>
                    <a:pt x="3114998" y="455207"/>
                  </a:lnTo>
                  <a:lnTo>
                    <a:pt x="3045794" y="458345"/>
                  </a:lnTo>
                  <a:lnTo>
                    <a:pt x="2975416" y="461236"/>
                  </a:lnTo>
                  <a:lnTo>
                    <a:pt x="2903912" y="463876"/>
                  </a:lnTo>
                  <a:lnTo>
                    <a:pt x="2831329" y="466260"/>
                  </a:lnTo>
                  <a:lnTo>
                    <a:pt x="2757712" y="468381"/>
                  </a:lnTo>
                  <a:lnTo>
                    <a:pt x="2683110" y="470236"/>
                  </a:lnTo>
                  <a:lnTo>
                    <a:pt x="2607569" y="471820"/>
                  </a:lnTo>
                  <a:lnTo>
                    <a:pt x="2531135" y="473127"/>
                  </a:lnTo>
                  <a:lnTo>
                    <a:pt x="2453857" y="474152"/>
                  </a:lnTo>
                  <a:lnTo>
                    <a:pt x="2375780" y="474891"/>
                  </a:lnTo>
                  <a:lnTo>
                    <a:pt x="2296952" y="475337"/>
                  </a:lnTo>
                  <a:lnTo>
                    <a:pt x="2217420" y="475488"/>
                  </a:lnTo>
                  <a:lnTo>
                    <a:pt x="2137887" y="475337"/>
                  </a:lnTo>
                  <a:lnTo>
                    <a:pt x="2059059" y="474891"/>
                  </a:lnTo>
                  <a:lnTo>
                    <a:pt x="1980982" y="474152"/>
                  </a:lnTo>
                  <a:lnTo>
                    <a:pt x="1903704" y="473127"/>
                  </a:lnTo>
                  <a:lnTo>
                    <a:pt x="1827270" y="471820"/>
                  </a:lnTo>
                  <a:lnTo>
                    <a:pt x="1751729" y="470236"/>
                  </a:lnTo>
                  <a:lnTo>
                    <a:pt x="1677127" y="468381"/>
                  </a:lnTo>
                  <a:lnTo>
                    <a:pt x="1603510" y="466260"/>
                  </a:lnTo>
                  <a:lnTo>
                    <a:pt x="1530927" y="463876"/>
                  </a:lnTo>
                  <a:lnTo>
                    <a:pt x="1459423" y="461236"/>
                  </a:lnTo>
                  <a:lnTo>
                    <a:pt x="1389045" y="458345"/>
                  </a:lnTo>
                  <a:lnTo>
                    <a:pt x="1319841" y="455207"/>
                  </a:lnTo>
                  <a:lnTo>
                    <a:pt x="1251858" y="451828"/>
                  </a:lnTo>
                  <a:lnTo>
                    <a:pt x="1185142" y="448212"/>
                  </a:lnTo>
                  <a:lnTo>
                    <a:pt x="1119740" y="444365"/>
                  </a:lnTo>
                  <a:lnTo>
                    <a:pt x="1055699" y="440291"/>
                  </a:lnTo>
                  <a:lnTo>
                    <a:pt x="993066" y="435996"/>
                  </a:lnTo>
                  <a:lnTo>
                    <a:pt x="931887" y="431485"/>
                  </a:lnTo>
                  <a:lnTo>
                    <a:pt x="872211" y="426763"/>
                  </a:lnTo>
                  <a:lnTo>
                    <a:pt x="814083" y="421834"/>
                  </a:lnTo>
                  <a:lnTo>
                    <a:pt x="757551" y="416704"/>
                  </a:lnTo>
                  <a:lnTo>
                    <a:pt x="702662" y="411377"/>
                  </a:lnTo>
                  <a:lnTo>
                    <a:pt x="649462" y="405860"/>
                  </a:lnTo>
                  <a:lnTo>
                    <a:pt x="597998" y="400156"/>
                  </a:lnTo>
                  <a:lnTo>
                    <a:pt x="548317" y="394271"/>
                  </a:lnTo>
                  <a:lnTo>
                    <a:pt x="500466" y="388210"/>
                  </a:lnTo>
                  <a:lnTo>
                    <a:pt x="454493" y="381978"/>
                  </a:lnTo>
                  <a:lnTo>
                    <a:pt x="410443" y="375580"/>
                  </a:lnTo>
                  <a:lnTo>
                    <a:pt x="368364" y="369021"/>
                  </a:lnTo>
                  <a:lnTo>
                    <a:pt x="328303" y="362305"/>
                  </a:lnTo>
                  <a:lnTo>
                    <a:pt x="290306" y="355439"/>
                  </a:lnTo>
                  <a:lnTo>
                    <a:pt x="220694" y="341274"/>
                  </a:lnTo>
                  <a:lnTo>
                    <a:pt x="159903" y="326565"/>
                  </a:lnTo>
                  <a:lnTo>
                    <a:pt x="108309" y="311352"/>
                  </a:lnTo>
                  <a:lnTo>
                    <a:pt x="66286" y="295676"/>
                  </a:lnTo>
                  <a:lnTo>
                    <a:pt x="22019" y="271382"/>
                  </a:lnTo>
                  <a:lnTo>
                    <a:pt x="0" y="237744"/>
                  </a:lnTo>
                  <a:close/>
                </a:path>
              </a:pathLst>
            </a:custGeom>
            <a:ln w="57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02913FCC-7643-4597-9AD4-F7FA01CE7544}"/>
              </a:ext>
            </a:extLst>
          </p:cNvPr>
          <p:cNvSpPr txBox="1"/>
          <p:nvPr/>
        </p:nvSpPr>
        <p:spPr>
          <a:xfrm>
            <a:off x="4713433" y="4037257"/>
            <a:ext cx="2566035" cy="603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b="1" spc="-5" dirty="0">
                <a:solidFill>
                  <a:srgbClr val="FFFFFF"/>
                </a:solidFill>
                <a:latin typeface="Carlito"/>
                <a:cs typeface="Carlito"/>
              </a:rPr>
              <a:t>I</a:t>
            </a:r>
            <a:r>
              <a:rPr sz="3800" b="1" spc="-30" dirty="0">
                <a:solidFill>
                  <a:srgbClr val="FFFFFF"/>
                </a:solidFill>
                <a:latin typeface="Carlito"/>
                <a:cs typeface="Carlito"/>
              </a:rPr>
              <a:t>n</a:t>
            </a:r>
            <a:r>
              <a:rPr sz="3800" b="1" spc="-50" dirty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r>
              <a:rPr sz="3800" b="1" dirty="0">
                <a:solidFill>
                  <a:srgbClr val="FFFFFF"/>
                </a:solidFill>
                <a:latin typeface="Carlito"/>
                <a:cs typeface="Carlito"/>
              </a:rPr>
              <a:t>e</a:t>
            </a:r>
            <a:r>
              <a:rPr sz="3800" b="1" spc="-60" dirty="0">
                <a:solidFill>
                  <a:srgbClr val="FFFFFF"/>
                </a:solidFill>
                <a:latin typeface="Carlito"/>
                <a:cs typeface="Carlito"/>
              </a:rPr>
              <a:t>r</a:t>
            </a:r>
            <a:r>
              <a:rPr sz="3800" b="1" spc="-35" dirty="0">
                <a:solidFill>
                  <a:srgbClr val="FFFFFF"/>
                </a:solidFill>
                <a:latin typeface="Carlito"/>
                <a:cs typeface="Carlito"/>
              </a:rPr>
              <a:t>c</a:t>
            </a:r>
            <a:r>
              <a:rPr sz="3800" b="1" spc="-5" dirty="0">
                <a:solidFill>
                  <a:srgbClr val="FFFFFF"/>
                </a:solidFill>
                <a:latin typeface="Carlito"/>
                <a:cs typeface="Carlito"/>
              </a:rPr>
              <a:t>onn</a:t>
            </a:r>
            <a:r>
              <a:rPr sz="3800" b="1" spc="5" dirty="0">
                <a:solidFill>
                  <a:srgbClr val="FFFFFF"/>
                </a:solidFill>
                <a:latin typeface="Carlito"/>
                <a:cs typeface="Carlito"/>
              </a:rPr>
              <a:t>e</a:t>
            </a:r>
            <a:r>
              <a:rPr sz="3800" b="1" spc="-10" dirty="0">
                <a:solidFill>
                  <a:srgbClr val="FFFFFF"/>
                </a:solidFill>
                <a:latin typeface="Carlito"/>
                <a:cs typeface="Carlito"/>
              </a:rPr>
              <a:t>ct</a:t>
            </a:r>
            <a:endParaRPr sz="3800">
              <a:latin typeface="Carlito"/>
              <a:cs typeface="Carlito"/>
            </a:endParaRPr>
          </a:p>
        </p:txBody>
      </p:sp>
      <p:grpSp>
        <p:nvGrpSpPr>
          <p:cNvPr id="10" name="object 9">
            <a:extLst>
              <a:ext uri="{FF2B5EF4-FFF2-40B4-BE49-F238E27FC236}">
                <a16:creationId xmlns:a16="http://schemas.microsoft.com/office/drawing/2014/main" id="{74C758D7-6050-78C4-476C-42CB5A61C73D}"/>
              </a:ext>
            </a:extLst>
          </p:cNvPr>
          <p:cNvGrpSpPr/>
          <p:nvPr/>
        </p:nvGrpSpPr>
        <p:grpSpPr>
          <a:xfrm>
            <a:off x="3625742" y="4960026"/>
            <a:ext cx="4285615" cy="497205"/>
            <a:chOff x="2292032" y="4773104"/>
            <a:chExt cx="4285615" cy="497205"/>
          </a:xfrm>
        </p:grpSpPr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2DE17959-AA46-B4A1-1E0C-506CD960F13E}"/>
                </a:ext>
              </a:extLst>
            </p:cNvPr>
            <p:cNvSpPr/>
            <p:nvPr/>
          </p:nvSpPr>
          <p:spPr>
            <a:xfrm>
              <a:off x="2301240" y="4782311"/>
              <a:ext cx="4267200" cy="478790"/>
            </a:xfrm>
            <a:custGeom>
              <a:avLst/>
              <a:gdLst/>
              <a:ahLst/>
              <a:cxnLst/>
              <a:rect l="l" t="t" r="r" b="b"/>
              <a:pathLst>
                <a:path w="4267200" h="478789">
                  <a:moveTo>
                    <a:pt x="4187444" y="0"/>
                  </a:moveTo>
                  <a:lnTo>
                    <a:pt x="79756" y="0"/>
                  </a:lnTo>
                  <a:lnTo>
                    <a:pt x="48702" y="6264"/>
                  </a:lnTo>
                  <a:lnTo>
                    <a:pt x="23352" y="23352"/>
                  </a:lnTo>
                  <a:lnTo>
                    <a:pt x="6264" y="48702"/>
                  </a:lnTo>
                  <a:lnTo>
                    <a:pt x="0" y="79756"/>
                  </a:lnTo>
                  <a:lnTo>
                    <a:pt x="0" y="398780"/>
                  </a:lnTo>
                  <a:lnTo>
                    <a:pt x="6264" y="429833"/>
                  </a:lnTo>
                  <a:lnTo>
                    <a:pt x="23352" y="455183"/>
                  </a:lnTo>
                  <a:lnTo>
                    <a:pt x="48702" y="472271"/>
                  </a:lnTo>
                  <a:lnTo>
                    <a:pt x="79756" y="478535"/>
                  </a:lnTo>
                  <a:lnTo>
                    <a:pt x="4187444" y="478535"/>
                  </a:lnTo>
                  <a:lnTo>
                    <a:pt x="4218497" y="472271"/>
                  </a:lnTo>
                  <a:lnTo>
                    <a:pt x="4243847" y="455183"/>
                  </a:lnTo>
                  <a:lnTo>
                    <a:pt x="4260935" y="429833"/>
                  </a:lnTo>
                  <a:lnTo>
                    <a:pt x="4267200" y="398780"/>
                  </a:lnTo>
                  <a:lnTo>
                    <a:pt x="4267200" y="79756"/>
                  </a:lnTo>
                  <a:lnTo>
                    <a:pt x="4260935" y="48702"/>
                  </a:lnTo>
                  <a:lnTo>
                    <a:pt x="4243847" y="23352"/>
                  </a:lnTo>
                  <a:lnTo>
                    <a:pt x="4218497" y="6264"/>
                  </a:lnTo>
                  <a:lnTo>
                    <a:pt x="4187444" y="0"/>
                  </a:lnTo>
                  <a:close/>
                </a:path>
              </a:pathLst>
            </a:custGeom>
            <a:solidFill>
              <a:srgbClr val="202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FE7C9FD2-11CB-A67C-5835-2580281FCB0F}"/>
                </a:ext>
              </a:extLst>
            </p:cNvPr>
            <p:cNvSpPr/>
            <p:nvPr/>
          </p:nvSpPr>
          <p:spPr>
            <a:xfrm>
              <a:off x="2301240" y="4782311"/>
              <a:ext cx="4267200" cy="478790"/>
            </a:xfrm>
            <a:custGeom>
              <a:avLst/>
              <a:gdLst/>
              <a:ahLst/>
              <a:cxnLst/>
              <a:rect l="l" t="t" r="r" b="b"/>
              <a:pathLst>
                <a:path w="4267200" h="478789">
                  <a:moveTo>
                    <a:pt x="0" y="79756"/>
                  </a:moveTo>
                  <a:lnTo>
                    <a:pt x="6264" y="48702"/>
                  </a:lnTo>
                  <a:lnTo>
                    <a:pt x="23352" y="23352"/>
                  </a:lnTo>
                  <a:lnTo>
                    <a:pt x="48702" y="6264"/>
                  </a:lnTo>
                  <a:lnTo>
                    <a:pt x="79756" y="0"/>
                  </a:lnTo>
                  <a:lnTo>
                    <a:pt x="4187444" y="0"/>
                  </a:lnTo>
                  <a:lnTo>
                    <a:pt x="4218497" y="6264"/>
                  </a:lnTo>
                  <a:lnTo>
                    <a:pt x="4243847" y="23352"/>
                  </a:lnTo>
                  <a:lnTo>
                    <a:pt x="4260935" y="48702"/>
                  </a:lnTo>
                  <a:lnTo>
                    <a:pt x="4267200" y="79756"/>
                  </a:lnTo>
                  <a:lnTo>
                    <a:pt x="4267200" y="398780"/>
                  </a:lnTo>
                  <a:lnTo>
                    <a:pt x="4260935" y="429833"/>
                  </a:lnTo>
                  <a:lnTo>
                    <a:pt x="4243847" y="455183"/>
                  </a:lnTo>
                  <a:lnTo>
                    <a:pt x="4218497" y="472271"/>
                  </a:lnTo>
                  <a:lnTo>
                    <a:pt x="4187444" y="478535"/>
                  </a:lnTo>
                  <a:lnTo>
                    <a:pt x="79756" y="478535"/>
                  </a:lnTo>
                  <a:lnTo>
                    <a:pt x="48702" y="472271"/>
                  </a:lnTo>
                  <a:lnTo>
                    <a:pt x="23352" y="455183"/>
                  </a:lnTo>
                  <a:lnTo>
                    <a:pt x="6264" y="429833"/>
                  </a:lnTo>
                  <a:lnTo>
                    <a:pt x="0" y="398780"/>
                  </a:lnTo>
                  <a:lnTo>
                    <a:pt x="0" y="79756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2">
            <a:extLst>
              <a:ext uri="{FF2B5EF4-FFF2-40B4-BE49-F238E27FC236}">
                <a16:creationId xmlns:a16="http://schemas.microsoft.com/office/drawing/2014/main" id="{7DD9E569-6887-A5B2-10B9-9B6FF47BB0E7}"/>
              </a:ext>
            </a:extLst>
          </p:cNvPr>
          <p:cNvSpPr txBox="1"/>
          <p:nvPr/>
        </p:nvSpPr>
        <p:spPr>
          <a:xfrm>
            <a:off x="5576018" y="4858439"/>
            <a:ext cx="50165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b="1" spc="5" dirty="0">
                <a:solidFill>
                  <a:srgbClr val="FFFFFF"/>
                </a:solidFill>
                <a:latin typeface="Carlito"/>
                <a:cs typeface="Carlito"/>
              </a:rPr>
              <a:t>L3</a:t>
            </a:r>
            <a:endParaRPr sz="4000">
              <a:latin typeface="Carlito"/>
              <a:cs typeface="Carlito"/>
            </a:endParaRPr>
          </a:p>
        </p:txBody>
      </p:sp>
      <p:grpSp>
        <p:nvGrpSpPr>
          <p:cNvPr id="14" name="object 13">
            <a:extLst>
              <a:ext uri="{FF2B5EF4-FFF2-40B4-BE49-F238E27FC236}">
                <a16:creationId xmlns:a16="http://schemas.microsoft.com/office/drawing/2014/main" id="{9A521EDD-8568-3C09-1827-E3209C5769A3}"/>
              </a:ext>
            </a:extLst>
          </p:cNvPr>
          <p:cNvGrpSpPr/>
          <p:nvPr/>
        </p:nvGrpSpPr>
        <p:grpSpPr>
          <a:xfrm>
            <a:off x="1662894" y="2241273"/>
            <a:ext cx="8336915" cy="3672840"/>
            <a:chOff x="329184" y="2054351"/>
            <a:chExt cx="8336915" cy="3672840"/>
          </a:xfrm>
        </p:grpSpPr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D31B9DE4-005B-BACA-57D2-E6C70CDAF25B}"/>
                </a:ext>
              </a:extLst>
            </p:cNvPr>
            <p:cNvSpPr/>
            <p:nvPr/>
          </p:nvSpPr>
          <p:spPr>
            <a:xfrm>
              <a:off x="1048512" y="3538727"/>
              <a:ext cx="6881495" cy="774065"/>
            </a:xfrm>
            <a:custGeom>
              <a:avLst/>
              <a:gdLst/>
              <a:ahLst/>
              <a:cxnLst/>
              <a:rect l="l" t="t" r="r" b="b"/>
              <a:pathLst>
                <a:path w="6881495" h="774064">
                  <a:moveTo>
                    <a:pt x="1397762" y="643890"/>
                  </a:moveTo>
                  <a:lnTo>
                    <a:pt x="1348143" y="614934"/>
                  </a:lnTo>
                  <a:lnTo>
                    <a:pt x="1181227" y="517525"/>
                  </a:lnTo>
                  <a:lnTo>
                    <a:pt x="1170317" y="513778"/>
                  </a:lnTo>
                  <a:lnTo>
                    <a:pt x="1159217" y="514502"/>
                  </a:lnTo>
                  <a:lnTo>
                    <a:pt x="1149223" y="519341"/>
                  </a:lnTo>
                  <a:lnTo>
                    <a:pt x="1141603" y="527939"/>
                  </a:lnTo>
                  <a:lnTo>
                    <a:pt x="1137843" y="538835"/>
                  </a:lnTo>
                  <a:lnTo>
                    <a:pt x="1138567" y="549897"/>
                  </a:lnTo>
                  <a:lnTo>
                    <a:pt x="1143406" y="559892"/>
                  </a:lnTo>
                  <a:lnTo>
                    <a:pt x="1152017" y="567563"/>
                  </a:lnTo>
                  <a:lnTo>
                    <a:pt x="1233208" y="614934"/>
                  </a:lnTo>
                  <a:lnTo>
                    <a:pt x="57912" y="614934"/>
                  </a:lnTo>
                  <a:lnTo>
                    <a:pt x="57912" y="74676"/>
                  </a:lnTo>
                  <a:lnTo>
                    <a:pt x="0" y="74676"/>
                  </a:lnTo>
                  <a:lnTo>
                    <a:pt x="0" y="672846"/>
                  </a:lnTo>
                  <a:lnTo>
                    <a:pt x="1233208" y="672846"/>
                  </a:lnTo>
                  <a:lnTo>
                    <a:pt x="1152017" y="720217"/>
                  </a:lnTo>
                  <a:lnTo>
                    <a:pt x="1143406" y="727837"/>
                  </a:lnTo>
                  <a:lnTo>
                    <a:pt x="1138567" y="737844"/>
                  </a:lnTo>
                  <a:lnTo>
                    <a:pt x="1137843" y="748944"/>
                  </a:lnTo>
                  <a:lnTo>
                    <a:pt x="1141603" y="759841"/>
                  </a:lnTo>
                  <a:lnTo>
                    <a:pt x="1149223" y="768388"/>
                  </a:lnTo>
                  <a:lnTo>
                    <a:pt x="1159217" y="773201"/>
                  </a:lnTo>
                  <a:lnTo>
                    <a:pt x="1170317" y="773938"/>
                  </a:lnTo>
                  <a:lnTo>
                    <a:pt x="1181227" y="770255"/>
                  </a:lnTo>
                  <a:lnTo>
                    <a:pt x="1348143" y="672846"/>
                  </a:lnTo>
                  <a:lnTo>
                    <a:pt x="1397762" y="643890"/>
                  </a:lnTo>
                  <a:close/>
                </a:path>
                <a:path w="6881495" h="774064">
                  <a:moveTo>
                    <a:pt x="2465946" y="227431"/>
                  </a:moveTo>
                  <a:lnTo>
                    <a:pt x="2464651" y="216382"/>
                  </a:lnTo>
                  <a:lnTo>
                    <a:pt x="2459317" y="206616"/>
                  </a:lnTo>
                  <a:lnTo>
                    <a:pt x="2450338" y="199390"/>
                  </a:lnTo>
                  <a:lnTo>
                    <a:pt x="2439276" y="196303"/>
                  </a:lnTo>
                  <a:lnTo>
                    <a:pt x="2428265" y="197624"/>
                  </a:lnTo>
                  <a:lnTo>
                    <a:pt x="2418537" y="202933"/>
                  </a:lnTo>
                  <a:lnTo>
                    <a:pt x="2411349" y="211836"/>
                  </a:lnTo>
                  <a:lnTo>
                    <a:pt x="2368245" y="295427"/>
                  </a:lnTo>
                  <a:lnTo>
                    <a:pt x="2353056" y="0"/>
                  </a:lnTo>
                  <a:lnTo>
                    <a:pt x="2295144" y="3048"/>
                  </a:lnTo>
                  <a:lnTo>
                    <a:pt x="2310320" y="298246"/>
                  </a:lnTo>
                  <a:lnTo>
                    <a:pt x="2258949" y="219710"/>
                  </a:lnTo>
                  <a:lnTo>
                    <a:pt x="2250846" y="211543"/>
                  </a:lnTo>
                  <a:lnTo>
                    <a:pt x="2240597" y="207238"/>
                  </a:lnTo>
                  <a:lnTo>
                    <a:pt x="2229472" y="207073"/>
                  </a:lnTo>
                  <a:lnTo>
                    <a:pt x="2218804" y="211328"/>
                  </a:lnTo>
                  <a:lnTo>
                    <a:pt x="2210638" y="219430"/>
                  </a:lnTo>
                  <a:lnTo>
                    <a:pt x="2206333" y="229679"/>
                  </a:lnTo>
                  <a:lnTo>
                    <a:pt x="2206167" y="240804"/>
                  </a:lnTo>
                  <a:lnTo>
                    <a:pt x="2210435" y="251460"/>
                  </a:lnTo>
                  <a:lnTo>
                    <a:pt x="2347722" y="461264"/>
                  </a:lnTo>
                  <a:lnTo>
                    <a:pt x="2376576" y="405384"/>
                  </a:lnTo>
                  <a:lnTo>
                    <a:pt x="2462784" y="238506"/>
                  </a:lnTo>
                  <a:lnTo>
                    <a:pt x="2465946" y="227431"/>
                  </a:lnTo>
                  <a:close/>
                </a:path>
                <a:path w="6881495" h="774064">
                  <a:moveTo>
                    <a:pt x="4732426" y="290677"/>
                  </a:moveTo>
                  <a:lnTo>
                    <a:pt x="4731461" y="279615"/>
                  </a:lnTo>
                  <a:lnTo>
                    <a:pt x="4726406" y="269722"/>
                  </a:lnTo>
                  <a:lnTo>
                    <a:pt x="4717669" y="262255"/>
                  </a:lnTo>
                  <a:lnTo>
                    <a:pt x="4706709" y="258800"/>
                  </a:lnTo>
                  <a:lnTo>
                    <a:pt x="4695647" y="259765"/>
                  </a:lnTo>
                  <a:lnTo>
                    <a:pt x="4685754" y="264820"/>
                  </a:lnTo>
                  <a:lnTo>
                    <a:pt x="4678299" y="273558"/>
                  </a:lnTo>
                  <a:lnTo>
                    <a:pt x="4632744" y="355866"/>
                  </a:lnTo>
                  <a:lnTo>
                    <a:pt x="4626864" y="89281"/>
                  </a:lnTo>
                  <a:lnTo>
                    <a:pt x="4568952" y="90551"/>
                  </a:lnTo>
                  <a:lnTo>
                    <a:pt x="4574832" y="357111"/>
                  </a:lnTo>
                  <a:lnTo>
                    <a:pt x="4525645" y="276987"/>
                  </a:lnTo>
                  <a:lnTo>
                    <a:pt x="4517860" y="268592"/>
                  </a:lnTo>
                  <a:lnTo>
                    <a:pt x="4507763" y="263994"/>
                  </a:lnTo>
                  <a:lnTo>
                    <a:pt x="4496676" y="263512"/>
                  </a:lnTo>
                  <a:lnTo>
                    <a:pt x="4485894" y="267462"/>
                  </a:lnTo>
                  <a:lnTo>
                    <a:pt x="4477486" y="275310"/>
                  </a:lnTo>
                  <a:lnTo>
                    <a:pt x="4472889" y="285394"/>
                  </a:lnTo>
                  <a:lnTo>
                    <a:pt x="4472406" y="296456"/>
                  </a:lnTo>
                  <a:lnTo>
                    <a:pt x="4476369" y="307213"/>
                  </a:lnTo>
                  <a:lnTo>
                    <a:pt x="4607433" y="521081"/>
                  </a:lnTo>
                  <a:lnTo>
                    <a:pt x="4638941" y="464185"/>
                  </a:lnTo>
                  <a:lnTo>
                    <a:pt x="4728972" y="301625"/>
                  </a:lnTo>
                  <a:lnTo>
                    <a:pt x="4732426" y="290677"/>
                  </a:lnTo>
                  <a:close/>
                </a:path>
                <a:path w="6881495" h="774064">
                  <a:moveTo>
                    <a:pt x="6881495" y="65532"/>
                  </a:moveTo>
                  <a:lnTo>
                    <a:pt x="6823583" y="65532"/>
                  </a:lnTo>
                  <a:lnTo>
                    <a:pt x="6823583" y="605790"/>
                  </a:lnTo>
                  <a:lnTo>
                    <a:pt x="5996749" y="605790"/>
                  </a:lnTo>
                  <a:lnTo>
                    <a:pt x="6077966" y="558419"/>
                  </a:lnTo>
                  <a:lnTo>
                    <a:pt x="6086564" y="550748"/>
                  </a:lnTo>
                  <a:lnTo>
                    <a:pt x="6091402" y="540753"/>
                  </a:lnTo>
                  <a:lnTo>
                    <a:pt x="6092126" y="529691"/>
                  </a:lnTo>
                  <a:lnTo>
                    <a:pt x="6088380" y="518795"/>
                  </a:lnTo>
                  <a:lnTo>
                    <a:pt x="6080760" y="510197"/>
                  </a:lnTo>
                  <a:lnTo>
                    <a:pt x="6070765" y="505358"/>
                  </a:lnTo>
                  <a:lnTo>
                    <a:pt x="6059703" y="504634"/>
                  </a:lnTo>
                  <a:lnTo>
                    <a:pt x="6048883" y="508381"/>
                  </a:lnTo>
                  <a:lnTo>
                    <a:pt x="5832221" y="634746"/>
                  </a:lnTo>
                  <a:lnTo>
                    <a:pt x="6048883" y="761111"/>
                  </a:lnTo>
                  <a:lnTo>
                    <a:pt x="6059703" y="764794"/>
                  </a:lnTo>
                  <a:lnTo>
                    <a:pt x="6070765" y="764057"/>
                  </a:lnTo>
                  <a:lnTo>
                    <a:pt x="6080760" y="759244"/>
                  </a:lnTo>
                  <a:lnTo>
                    <a:pt x="6088380" y="750697"/>
                  </a:lnTo>
                  <a:lnTo>
                    <a:pt x="6092126" y="739800"/>
                  </a:lnTo>
                  <a:lnTo>
                    <a:pt x="6091402" y="728700"/>
                  </a:lnTo>
                  <a:lnTo>
                    <a:pt x="6086564" y="718693"/>
                  </a:lnTo>
                  <a:lnTo>
                    <a:pt x="6077966" y="711073"/>
                  </a:lnTo>
                  <a:lnTo>
                    <a:pt x="5996749" y="663702"/>
                  </a:lnTo>
                  <a:lnTo>
                    <a:pt x="6881495" y="663702"/>
                  </a:lnTo>
                  <a:lnTo>
                    <a:pt x="6881495" y="634746"/>
                  </a:lnTo>
                  <a:lnTo>
                    <a:pt x="6881495" y="605790"/>
                  </a:lnTo>
                  <a:lnTo>
                    <a:pt x="6881495" y="65532"/>
                  </a:lnTo>
                  <a:close/>
                </a:path>
              </a:pathLst>
            </a:custGeom>
            <a:solidFill>
              <a:srgbClr val="12B1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589F4DFE-1C09-662F-071B-FACCA921CAC7}"/>
                </a:ext>
              </a:extLst>
            </p:cNvPr>
            <p:cNvSpPr/>
            <p:nvPr/>
          </p:nvSpPr>
          <p:spPr>
            <a:xfrm>
              <a:off x="4409859" y="4372228"/>
              <a:ext cx="205740" cy="1355090"/>
            </a:xfrm>
            <a:custGeom>
              <a:avLst/>
              <a:gdLst/>
              <a:ahLst/>
              <a:cxnLst/>
              <a:rect l="l" t="t" r="r" b="b"/>
              <a:pathLst>
                <a:path w="205739" h="1355089">
                  <a:moveTo>
                    <a:pt x="182689" y="992403"/>
                  </a:moveTo>
                  <a:lnTo>
                    <a:pt x="180936" y="983488"/>
                  </a:lnTo>
                  <a:lnTo>
                    <a:pt x="127457" y="855091"/>
                  </a:lnTo>
                  <a:lnTo>
                    <a:pt x="102704" y="795655"/>
                  </a:lnTo>
                  <a:lnTo>
                    <a:pt x="24472" y="983488"/>
                  </a:lnTo>
                  <a:lnTo>
                    <a:pt x="22707" y="992403"/>
                  </a:lnTo>
                  <a:lnTo>
                    <a:pt x="24434" y="1000988"/>
                  </a:lnTo>
                  <a:lnTo>
                    <a:pt x="29248" y="1008278"/>
                  </a:lnTo>
                  <a:lnTo>
                    <a:pt x="36791" y="1013333"/>
                  </a:lnTo>
                  <a:lnTo>
                    <a:pt x="45694" y="1015098"/>
                  </a:lnTo>
                  <a:lnTo>
                    <a:pt x="54279" y="1013371"/>
                  </a:lnTo>
                  <a:lnTo>
                    <a:pt x="61569" y="1008557"/>
                  </a:lnTo>
                  <a:lnTo>
                    <a:pt x="66649" y="1000988"/>
                  </a:lnTo>
                  <a:lnTo>
                    <a:pt x="79844" y="969327"/>
                  </a:lnTo>
                  <a:lnTo>
                    <a:pt x="79844" y="1181303"/>
                  </a:lnTo>
                  <a:lnTo>
                    <a:pt x="66636" y="1149604"/>
                  </a:lnTo>
                  <a:lnTo>
                    <a:pt x="61569" y="1142072"/>
                  </a:lnTo>
                  <a:lnTo>
                    <a:pt x="54279" y="1137259"/>
                  </a:lnTo>
                  <a:lnTo>
                    <a:pt x="45694" y="1135532"/>
                  </a:lnTo>
                  <a:lnTo>
                    <a:pt x="36791" y="1137285"/>
                  </a:lnTo>
                  <a:lnTo>
                    <a:pt x="29248" y="1142352"/>
                  </a:lnTo>
                  <a:lnTo>
                    <a:pt x="24434" y="1149642"/>
                  </a:lnTo>
                  <a:lnTo>
                    <a:pt x="22707" y="1158227"/>
                  </a:lnTo>
                  <a:lnTo>
                    <a:pt x="24472" y="1167130"/>
                  </a:lnTo>
                  <a:lnTo>
                    <a:pt x="102704" y="1354963"/>
                  </a:lnTo>
                  <a:lnTo>
                    <a:pt x="127457" y="1295527"/>
                  </a:lnTo>
                  <a:lnTo>
                    <a:pt x="180936" y="1167130"/>
                  </a:lnTo>
                  <a:lnTo>
                    <a:pt x="182689" y="1158227"/>
                  </a:lnTo>
                  <a:lnTo>
                    <a:pt x="180962" y="1149642"/>
                  </a:lnTo>
                  <a:lnTo>
                    <a:pt x="176149" y="1142352"/>
                  </a:lnTo>
                  <a:lnTo>
                    <a:pt x="168617" y="1137285"/>
                  </a:lnTo>
                  <a:lnTo>
                    <a:pt x="159702" y="1135532"/>
                  </a:lnTo>
                  <a:lnTo>
                    <a:pt x="151117" y="1137259"/>
                  </a:lnTo>
                  <a:lnTo>
                    <a:pt x="143827" y="1142072"/>
                  </a:lnTo>
                  <a:lnTo>
                    <a:pt x="138747" y="1149642"/>
                  </a:lnTo>
                  <a:lnTo>
                    <a:pt x="125564" y="1181303"/>
                  </a:lnTo>
                  <a:lnTo>
                    <a:pt x="125564" y="969327"/>
                  </a:lnTo>
                  <a:lnTo>
                    <a:pt x="138772" y="1001014"/>
                  </a:lnTo>
                  <a:lnTo>
                    <a:pt x="143827" y="1008557"/>
                  </a:lnTo>
                  <a:lnTo>
                    <a:pt x="151117" y="1013371"/>
                  </a:lnTo>
                  <a:lnTo>
                    <a:pt x="159702" y="1015098"/>
                  </a:lnTo>
                  <a:lnTo>
                    <a:pt x="168617" y="1013333"/>
                  </a:lnTo>
                  <a:lnTo>
                    <a:pt x="176149" y="1008278"/>
                  </a:lnTo>
                  <a:lnTo>
                    <a:pt x="180962" y="1000988"/>
                  </a:lnTo>
                  <a:lnTo>
                    <a:pt x="182689" y="992403"/>
                  </a:lnTo>
                  <a:close/>
                </a:path>
                <a:path w="205739" h="1355089">
                  <a:moveTo>
                    <a:pt x="205397" y="179666"/>
                  </a:moveTo>
                  <a:lnTo>
                    <a:pt x="202399" y="171069"/>
                  </a:lnTo>
                  <a:lnTo>
                    <a:pt x="129120" y="45339"/>
                  </a:lnTo>
                  <a:lnTo>
                    <a:pt x="102704" y="0"/>
                  </a:lnTo>
                  <a:lnTo>
                    <a:pt x="3009" y="171069"/>
                  </a:lnTo>
                  <a:lnTo>
                    <a:pt x="0" y="179666"/>
                  </a:lnTo>
                  <a:lnTo>
                    <a:pt x="546" y="188404"/>
                  </a:lnTo>
                  <a:lnTo>
                    <a:pt x="4343" y="196291"/>
                  </a:lnTo>
                  <a:lnTo>
                    <a:pt x="11137" y="202311"/>
                  </a:lnTo>
                  <a:lnTo>
                    <a:pt x="19723" y="205244"/>
                  </a:lnTo>
                  <a:lnTo>
                    <a:pt x="28473" y="204660"/>
                  </a:lnTo>
                  <a:lnTo>
                    <a:pt x="36347" y="200850"/>
                  </a:lnTo>
                  <a:lnTo>
                    <a:pt x="42379" y="194056"/>
                  </a:lnTo>
                  <a:lnTo>
                    <a:pt x="79844" y="129832"/>
                  </a:lnTo>
                  <a:lnTo>
                    <a:pt x="79844" y="403834"/>
                  </a:lnTo>
                  <a:lnTo>
                    <a:pt x="42379" y="339598"/>
                  </a:lnTo>
                  <a:lnTo>
                    <a:pt x="36347" y="332816"/>
                  </a:lnTo>
                  <a:lnTo>
                    <a:pt x="28473" y="328993"/>
                  </a:lnTo>
                  <a:lnTo>
                    <a:pt x="19723" y="328422"/>
                  </a:lnTo>
                  <a:lnTo>
                    <a:pt x="11137" y="331343"/>
                  </a:lnTo>
                  <a:lnTo>
                    <a:pt x="4343" y="337375"/>
                  </a:lnTo>
                  <a:lnTo>
                    <a:pt x="546" y="345249"/>
                  </a:lnTo>
                  <a:lnTo>
                    <a:pt x="0" y="353999"/>
                  </a:lnTo>
                  <a:lnTo>
                    <a:pt x="3009" y="362585"/>
                  </a:lnTo>
                  <a:lnTo>
                    <a:pt x="102704" y="533654"/>
                  </a:lnTo>
                  <a:lnTo>
                    <a:pt x="129120" y="488315"/>
                  </a:lnTo>
                  <a:lnTo>
                    <a:pt x="202399" y="362585"/>
                  </a:lnTo>
                  <a:lnTo>
                    <a:pt x="205397" y="353999"/>
                  </a:lnTo>
                  <a:lnTo>
                    <a:pt x="204851" y="345249"/>
                  </a:lnTo>
                  <a:lnTo>
                    <a:pt x="201053" y="337375"/>
                  </a:lnTo>
                  <a:lnTo>
                    <a:pt x="194271" y="331343"/>
                  </a:lnTo>
                  <a:lnTo>
                    <a:pt x="185674" y="328422"/>
                  </a:lnTo>
                  <a:lnTo>
                    <a:pt x="176936" y="328993"/>
                  </a:lnTo>
                  <a:lnTo>
                    <a:pt x="169049" y="332816"/>
                  </a:lnTo>
                  <a:lnTo>
                    <a:pt x="163029" y="339598"/>
                  </a:lnTo>
                  <a:lnTo>
                    <a:pt x="125564" y="403834"/>
                  </a:lnTo>
                  <a:lnTo>
                    <a:pt x="125564" y="129832"/>
                  </a:lnTo>
                  <a:lnTo>
                    <a:pt x="163029" y="194056"/>
                  </a:lnTo>
                  <a:lnTo>
                    <a:pt x="169049" y="200850"/>
                  </a:lnTo>
                  <a:lnTo>
                    <a:pt x="176923" y="204660"/>
                  </a:lnTo>
                  <a:lnTo>
                    <a:pt x="185674" y="205244"/>
                  </a:lnTo>
                  <a:lnTo>
                    <a:pt x="194271" y="202311"/>
                  </a:lnTo>
                  <a:lnTo>
                    <a:pt x="201053" y="196291"/>
                  </a:lnTo>
                  <a:lnTo>
                    <a:pt x="204851" y="188404"/>
                  </a:lnTo>
                  <a:lnTo>
                    <a:pt x="205397" y="179666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E301CEF1-26DC-1E8E-D1BA-151A21CE68F4}"/>
                </a:ext>
              </a:extLst>
            </p:cNvPr>
            <p:cNvSpPr/>
            <p:nvPr/>
          </p:nvSpPr>
          <p:spPr>
            <a:xfrm>
              <a:off x="7153655" y="3118103"/>
              <a:ext cx="1503045" cy="448309"/>
            </a:xfrm>
            <a:custGeom>
              <a:avLst/>
              <a:gdLst/>
              <a:ahLst/>
              <a:cxnLst/>
              <a:rect l="l" t="t" r="r" b="b"/>
              <a:pathLst>
                <a:path w="1503045" h="448310">
                  <a:moveTo>
                    <a:pt x="1427988" y="0"/>
                  </a:moveTo>
                  <a:lnTo>
                    <a:pt x="74675" y="0"/>
                  </a:lnTo>
                  <a:lnTo>
                    <a:pt x="45594" y="5863"/>
                  </a:lnTo>
                  <a:lnTo>
                    <a:pt x="21859" y="21859"/>
                  </a:lnTo>
                  <a:lnTo>
                    <a:pt x="5863" y="45594"/>
                  </a:lnTo>
                  <a:lnTo>
                    <a:pt x="0" y="74675"/>
                  </a:lnTo>
                  <a:lnTo>
                    <a:pt x="0" y="373380"/>
                  </a:lnTo>
                  <a:lnTo>
                    <a:pt x="5863" y="402461"/>
                  </a:lnTo>
                  <a:lnTo>
                    <a:pt x="21859" y="426196"/>
                  </a:lnTo>
                  <a:lnTo>
                    <a:pt x="45594" y="442192"/>
                  </a:lnTo>
                  <a:lnTo>
                    <a:pt x="74675" y="448056"/>
                  </a:lnTo>
                  <a:lnTo>
                    <a:pt x="1427988" y="448056"/>
                  </a:lnTo>
                  <a:lnTo>
                    <a:pt x="1457069" y="442192"/>
                  </a:lnTo>
                  <a:lnTo>
                    <a:pt x="1480804" y="426196"/>
                  </a:lnTo>
                  <a:lnTo>
                    <a:pt x="1496800" y="402461"/>
                  </a:lnTo>
                  <a:lnTo>
                    <a:pt x="1502664" y="373380"/>
                  </a:lnTo>
                  <a:lnTo>
                    <a:pt x="1502664" y="74675"/>
                  </a:lnTo>
                  <a:lnTo>
                    <a:pt x="1496800" y="45594"/>
                  </a:lnTo>
                  <a:lnTo>
                    <a:pt x="1480804" y="21859"/>
                  </a:lnTo>
                  <a:lnTo>
                    <a:pt x="1457069" y="5863"/>
                  </a:lnTo>
                  <a:lnTo>
                    <a:pt x="1427988" y="0"/>
                  </a:lnTo>
                  <a:close/>
                </a:path>
              </a:pathLst>
            </a:custGeom>
            <a:solidFill>
              <a:srgbClr val="202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7">
              <a:extLst>
                <a:ext uri="{FF2B5EF4-FFF2-40B4-BE49-F238E27FC236}">
                  <a16:creationId xmlns:a16="http://schemas.microsoft.com/office/drawing/2014/main" id="{FEB576A2-8BCA-1347-1B3A-12891F9D5385}"/>
                </a:ext>
              </a:extLst>
            </p:cNvPr>
            <p:cNvSpPr/>
            <p:nvPr/>
          </p:nvSpPr>
          <p:spPr>
            <a:xfrm>
              <a:off x="7153655" y="3118103"/>
              <a:ext cx="1503045" cy="448309"/>
            </a:xfrm>
            <a:custGeom>
              <a:avLst/>
              <a:gdLst/>
              <a:ahLst/>
              <a:cxnLst/>
              <a:rect l="l" t="t" r="r" b="b"/>
              <a:pathLst>
                <a:path w="1503045" h="448310">
                  <a:moveTo>
                    <a:pt x="0" y="74675"/>
                  </a:moveTo>
                  <a:lnTo>
                    <a:pt x="5863" y="45594"/>
                  </a:lnTo>
                  <a:lnTo>
                    <a:pt x="21859" y="21859"/>
                  </a:lnTo>
                  <a:lnTo>
                    <a:pt x="45594" y="5863"/>
                  </a:lnTo>
                  <a:lnTo>
                    <a:pt x="74675" y="0"/>
                  </a:lnTo>
                  <a:lnTo>
                    <a:pt x="1427988" y="0"/>
                  </a:lnTo>
                  <a:lnTo>
                    <a:pt x="1457069" y="5863"/>
                  </a:lnTo>
                  <a:lnTo>
                    <a:pt x="1480804" y="21859"/>
                  </a:lnTo>
                  <a:lnTo>
                    <a:pt x="1496800" y="45594"/>
                  </a:lnTo>
                  <a:lnTo>
                    <a:pt x="1502664" y="74675"/>
                  </a:lnTo>
                  <a:lnTo>
                    <a:pt x="1502664" y="373380"/>
                  </a:lnTo>
                  <a:lnTo>
                    <a:pt x="1496800" y="402461"/>
                  </a:lnTo>
                  <a:lnTo>
                    <a:pt x="1480804" y="426196"/>
                  </a:lnTo>
                  <a:lnTo>
                    <a:pt x="1457069" y="442192"/>
                  </a:lnTo>
                  <a:lnTo>
                    <a:pt x="1427988" y="448056"/>
                  </a:lnTo>
                  <a:lnTo>
                    <a:pt x="74675" y="448056"/>
                  </a:lnTo>
                  <a:lnTo>
                    <a:pt x="45594" y="442192"/>
                  </a:lnTo>
                  <a:lnTo>
                    <a:pt x="21859" y="426196"/>
                  </a:lnTo>
                  <a:lnTo>
                    <a:pt x="5863" y="402461"/>
                  </a:lnTo>
                  <a:lnTo>
                    <a:pt x="0" y="373380"/>
                  </a:lnTo>
                  <a:lnTo>
                    <a:pt x="0" y="74675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8">
              <a:extLst>
                <a:ext uri="{FF2B5EF4-FFF2-40B4-BE49-F238E27FC236}">
                  <a16:creationId xmlns:a16="http://schemas.microsoft.com/office/drawing/2014/main" id="{5F7893D1-E6AC-3A43-E5BD-5C526E0BAF18}"/>
                </a:ext>
              </a:extLst>
            </p:cNvPr>
            <p:cNvSpPr/>
            <p:nvPr/>
          </p:nvSpPr>
          <p:spPr>
            <a:xfrm>
              <a:off x="329184" y="2054351"/>
              <a:ext cx="8220709" cy="506095"/>
            </a:xfrm>
            <a:custGeom>
              <a:avLst/>
              <a:gdLst/>
              <a:ahLst/>
              <a:cxnLst/>
              <a:rect l="l" t="t" r="r" b="b"/>
              <a:pathLst>
                <a:path w="8220709" h="506094">
                  <a:moveTo>
                    <a:pt x="1319784" y="69596"/>
                  </a:moveTo>
                  <a:lnTo>
                    <a:pt x="1314310" y="42494"/>
                  </a:lnTo>
                  <a:lnTo>
                    <a:pt x="1299413" y="20370"/>
                  </a:lnTo>
                  <a:lnTo>
                    <a:pt x="1277289" y="5473"/>
                  </a:lnTo>
                  <a:lnTo>
                    <a:pt x="1250188" y="0"/>
                  </a:lnTo>
                  <a:lnTo>
                    <a:pt x="69596" y="0"/>
                  </a:lnTo>
                  <a:lnTo>
                    <a:pt x="42506" y="5473"/>
                  </a:lnTo>
                  <a:lnTo>
                    <a:pt x="20383" y="20370"/>
                  </a:lnTo>
                  <a:lnTo>
                    <a:pt x="5461" y="42494"/>
                  </a:lnTo>
                  <a:lnTo>
                    <a:pt x="0" y="69596"/>
                  </a:lnTo>
                  <a:lnTo>
                    <a:pt x="0" y="347980"/>
                  </a:lnTo>
                  <a:lnTo>
                    <a:pt x="5461" y="375094"/>
                  </a:lnTo>
                  <a:lnTo>
                    <a:pt x="20383" y="397217"/>
                  </a:lnTo>
                  <a:lnTo>
                    <a:pt x="42506" y="412115"/>
                  </a:lnTo>
                  <a:lnTo>
                    <a:pt x="69596" y="417576"/>
                  </a:lnTo>
                  <a:lnTo>
                    <a:pt x="1250188" y="417576"/>
                  </a:lnTo>
                  <a:lnTo>
                    <a:pt x="1277289" y="412115"/>
                  </a:lnTo>
                  <a:lnTo>
                    <a:pt x="1299413" y="397217"/>
                  </a:lnTo>
                  <a:lnTo>
                    <a:pt x="1314310" y="375094"/>
                  </a:lnTo>
                  <a:lnTo>
                    <a:pt x="1319784" y="347980"/>
                  </a:lnTo>
                  <a:lnTo>
                    <a:pt x="1319784" y="69596"/>
                  </a:lnTo>
                  <a:close/>
                </a:path>
                <a:path w="8220709" h="506094">
                  <a:moveTo>
                    <a:pt x="3642360" y="87884"/>
                  </a:moveTo>
                  <a:lnTo>
                    <a:pt x="3636886" y="60782"/>
                  </a:lnTo>
                  <a:lnTo>
                    <a:pt x="3621989" y="38658"/>
                  </a:lnTo>
                  <a:lnTo>
                    <a:pt x="3599865" y="23761"/>
                  </a:lnTo>
                  <a:lnTo>
                    <a:pt x="3572764" y="18288"/>
                  </a:lnTo>
                  <a:lnTo>
                    <a:pt x="2379980" y="18288"/>
                  </a:lnTo>
                  <a:lnTo>
                    <a:pt x="2352865" y="23761"/>
                  </a:lnTo>
                  <a:lnTo>
                    <a:pt x="2330742" y="38658"/>
                  </a:lnTo>
                  <a:lnTo>
                    <a:pt x="2315845" y="60782"/>
                  </a:lnTo>
                  <a:lnTo>
                    <a:pt x="2310384" y="87884"/>
                  </a:lnTo>
                  <a:lnTo>
                    <a:pt x="2310384" y="366268"/>
                  </a:lnTo>
                  <a:lnTo>
                    <a:pt x="2315845" y="393382"/>
                  </a:lnTo>
                  <a:lnTo>
                    <a:pt x="2330742" y="415505"/>
                  </a:lnTo>
                  <a:lnTo>
                    <a:pt x="2352865" y="430403"/>
                  </a:lnTo>
                  <a:lnTo>
                    <a:pt x="2379980" y="435864"/>
                  </a:lnTo>
                  <a:lnTo>
                    <a:pt x="3572764" y="435864"/>
                  </a:lnTo>
                  <a:lnTo>
                    <a:pt x="3599865" y="430403"/>
                  </a:lnTo>
                  <a:lnTo>
                    <a:pt x="3621989" y="415505"/>
                  </a:lnTo>
                  <a:lnTo>
                    <a:pt x="3636886" y="393382"/>
                  </a:lnTo>
                  <a:lnTo>
                    <a:pt x="3642360" y="366268"/>
                  </a:lnTo>
                  <a:lnTo>
                    <a:pt x="3642360" y="87884"/>
                  </a:lnTo>
                  <a:close/>
                </a:path>
                <a:path w="8220709" h="506094">
                  <a:moveTo>
                    <a:pt x="5870448" y="118872"/>
                  </a:moveTo>
                  <a:lnTo>
                    <a:pt x="5864936" y="91579"/>
                  </a:lnTo>
                  <a:lnTo>
                    <a:pt x="5849912" y="69303"/>
                  </a:lnTo>
                  <a:lnTo>
                    <a:pt x="5827636" y="54279"/>
                  </a:lnTo>
                  <a:lnTo>
                    <a:pt x="5800344" y="48768"/>
                  </a:lnTo>
                  <a:lnTo>
                    <a:pt x="4614672" y="48768"/>
                  </a:lnTo>
                  <a:lnTo>
                    <a:pt x="4587367" y="54279"/>
                  </a:lnTo>
                  <a:lnTo>
                    <a:pt x="4565091" y="69303"/>
                  </a:lnTo>
                  <a:lnTo>
                    <a:pt x="4550067" y="91579"/>
                  </a:lnTo>
                  <a:lnTo>
                    <a:pt x="4544568" y="118872"/>
                  </a:lnTo>
                  <a:lnTo>
                    <a:pt x="4544568" y="399288"/>
                  </a:lnTo>
                  <a:lnTo>
                    <a:pt x="4550067" y="426593"/>
                  </a:lnTo>
                  <a:lnTo>
                    <a:pt x="4565091" y="448868"/>
                  </a:lnTo>
                  <a:lnTo>
                    <a:pt x="4587367" y="463892"/>
                  </a:lnTo>
                  <a:lnTo>
                    <a:pt x="4614672" y="469392"/>
                  </a:lnTo>
                  <a:lnTo>
                    <a:pt x="5800344" y="469392"/>
                  </a:lnTo>
                  <a:lnTo>
                    <a:pt x="5827636" y="463892"/>
                  </a:lnTo>
                  <a:lnTo>
                    <a:pt x="5849912" y="448868"/>
                  </a:lnTo>
                  <a:lnTo>
                    <a:pt x="5864936" y="426593"/>
                  </a:lnTo>
                  <a:lnTo>
                    <a:pt x="5870448" y="399288"/>
                  </a:lnTo>
                  <a:lnTo>
                    <a:pt x="5870448" y="118872"/>
                  </a:lnTo>
                  <a:close/>
                </a:path>
                <a:path w="8220709" h="506094">
                  <a:moveTo>
                    <a:pt x="8220456" y="155448"/>
                  </a:moveTo>
                  <a:lnTo>
                    <a:pt x="8214944" y="128155"/>
                  </a:lnTo>
                  <a:lnTo>
                    <a:pt x="8199920" y="105879"/>
                  </a:lnTo>
                  <a:lnTo>
                    <a:pt x="8177644" y="90855"/>
                  </a:lnTo>
                  <a:lnTo>
                    <a:pt x="8150352" y="85344"/>
                  </a:lnTo>
                  <a:lnTo>
                    <a:pt x="6946392" y="85344"/>
                  </a:lnTo>
                  <a:lnTo>
                    <a:pt x="6919087" y="90855"/>
                  </a:lnTo>
                  <a:lnTo>
                    <a:pt x="6896811" y="105879"/>
                  </a:lnTo>
                  <a:lnTo>
                    <a:pt x="6881787" y="128155"/>
                  </a:lnTo>
                  <a:lnTo>
                    <a:pt x="6876288" y="155448"/>
                  </a:lnTo>
                  <a:lnTo>
                    <a:pt x="6876288" y="435864"/>
                  </a:lnTo>
                  <a:lnTo>
                    <a:pt x="6881787" y="463169"/>
                  </a:lnTo>
                  <a:lnTo>
                    <a:pt x="6896811" y="485444"/>
                  </a:lnTo>
                  <a:lnTo>
                    <a:pt x="6919087" y="500468"/>
                  </a:lnTo>
                  <a:lnTo>
                    <a:pt x="6946392" y="505968"/>
                  </a:lnTo>
                  <a:lnTo>
                    <a:pt x="8150352" y="505968"/>
                  </a:lnTo>
                  <a:lnTo>
                    <a:pt x="8177644" y="500468"/>
                  </a:lnTo>
                  <a:lnTo>
                    <a:pt x="8199920" y="485444"/>
                  </a:lnTo>
                  <a:lnTo>
                    <a:pt x="8214944" y="463169"/>
                  </a:lnTo>
                  <a:lnTo>
                    <a:pt x="8220456" y="435864"/>
                  </a:lnTo>
                  <a:lnTo>
                    <a:pt x="8220456" y="155448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9">
              <a:extLst>
                <a:ext uri="{FF2B5EF4-FFF2-40B4-BE49-F238E27FC236}">
                  <a16:creationId xmlns:a16="http://schemas.microsoft.com/office/drawing/2014/main" id="{8B76B421-4A7C-C020-096B-53A7C45B82DF}"/>
                </a:ext>
              </a:extLst>
            </p:cNvPr>
            <p:cNvSpPr/>
            <p:nvPr/>
          </p:nvSpPr>
          <p:spPr>
            <a:xfrm>
              <a:off x="7293864" y="2606039"/>
              <a:ext cx="1137285" cy="448309"/>
            </a:xfrm>
            <a:custGeom>
              <a:avLst/>
              <a:gdLst/>
              <a:ahLst/>
              <a:cxnLst/>
              <a:rect l="l" t="t" r="r" b="b"/>
              <a:pathLst>
                <a:path w="1137284" h="448310">
                  <a:moveTo>
                    <a:pt x="1062227" y="0"/>
                  </a:moveTo>
                  <a:lnTo>
                    <a:pt x="74675" y="0"/>
                  </a:lnTo>
                  <a:lnTo>
                    <a:pt x="45594" y="5863"/>
                  </a:lnTo>
                  <a:lnTo>
                    <a:pt x="21859" y="21859"/>
                  </a:lnTo>
                  <a:lnTo>
                    <a:pt x="5863" y="45594"/>
                  </a:lnTo>
                  <a:lnTo>
                    <a:pt x="0" y="74675"/>
                  </a:lnTo>
                  <a:lnTo>
                    <a:pt x="0" y="373380"/>
                  </a:lnTo>
                  <a:lnTo>
                    <a:pt x="5863" y="402461"/>
                  </a:lnTo>
                  <a:lnTo>
                    <a:pt x="21859" y="426196"/>
                  </a:lnTo>
                  <a:lnTo>
                    <a:pt x="45594" y="442192"/>
                  </a:lnTo>
                  <a:lnTo>
                    <a:pt x="74675" y="448056"/>
                  </a:lnTo>
                  <a:lnTo>
                    <a:pt x="1062227" y="448056"/>
                  </a:lnTo>
                  <a:lnTo>
                    <a:pt x="1091309" y="442192"/>
                  </a:lnTo>
                  <a:lnTo>
                    <a:pt x="1115044" y="426196"/>
                  </a:lnTo>
                  <a:lnTo>
                    <a:pt x="1131040" y="402461"/>
                  </a:lnTo>
                  <a:lnTo>
                    <a:pt x="1136903" y="373380"/>
                  </a:lnTo>
                  <a:lnTo>
                    <a:pt x="1136903" y="74675"/>
                  </a:lnTo>
                  <a:lnTo>
                    <a:pt x="1131040" y="45594"/>
                  </a:lnTo>
                  <a:lnTo>
                    <a:pt x="1115044" y="21859"/>
                  </a:lnTo>
                  <a:lnTo>
                    <a:pt x="1091309" y="5863"/>
                  </a:lnTo>
                  <a:lnTo>
                    <a:pt x="1062227" y="0"/>
                  </a:lnTo>
                  <a:close/>
                </a:path>
              </a:pathLst>
            </a:custGeom>
            <a:solidFill>
              <a:srgbClr val="202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0">
              <a:extLst>
                <a:ext uri="{FF2B5EF4-FFF2-40B4-BE49-F238E27FC236}">
                  <a16:creationId xmlns:a16="http://schemas.microsoft.com/office/drawing/2014/main" id="{AA30D703-9DFB-BA29-3463-C6415B71E63D}"/>
                </a:ext>
              </a:extLst>
            </p:cNvPr>
            <p:cNvSpPr/>
            <p:nvPr/>
          </p:nvSpPr>
          <p:spPr>
            <a:xfrm>
              <a:off x="7293864" y="2606039"/>
              <a:ext cx="1137285" cy="448309"/>
            </a:xfrm>
            <a:custGeom>
              <a:avLst/>
              <a:gdLst/>
              <a:ahLst/>
              <a:cxnLst/>
              <a:rect l="l" t="t" r="r" b="b"/>
              <a:pathLst>
                <a:path w="1137284" h="448310">
                  <a:moveTo>
                    <a:pt x="0" y="74675"/>
                  </a:moveTo>
                  <a:lnTo>
                    <a:pt x="5863" y="45594"/>
                  </a:lnTo>
                  <a:lnTo>
                    <a:pt x="21859" y="21859"/>
                  </a:lnTo>
                  <a:lnTo>
                    <a:pt x="45594" y="5863"/>
                  </a:lnTo>
                  <a:lnTo>
                    <a:pt x="74675" y="0"/>
                  </a:lnTo>
                  <a:lnTo>
                    <a:pt x="1062227" y="0"/>
                  </a:lnTo>
                  <a:lnTo>
                    <a:pt x="1091309" y="5863"/>
                  </a:lnTo>
                  <a:lnTo>
                    <a:pt x="1115044" y="21859"/>
                  </a:lnTo>
                  <a:lnTo>
                    <a:pt x="1131040" y="45594"/>
                  </a:lnTo>
                  <a:lnTo>
                    <a:pt x="1136903" y="74675"/>
                  </a:lnTo>
                  <a:lnTo>
                    <a:pt x="1136903" y="373380"/>
                  </a:lnTo>
                  <a:lnTo>
                    <a:pt x="1131040" y="402461"/>
                  </a:lnTo>
                  <a:lnTo>
                    <a:pt x="1115044" y="426196"/>
                  </a:lnTo>
                  <a:lnTo>
                    <a:pt x="1091309" y="442192"/>
                  </a:lnTo>
                  <a:lnTo>
                    <a:pt x="1062227" y="448056"/>
                  </a:lnTo>
                  <a:lnTo>
                    <a:pt x="74675" y="448056"/>
                  </a:lnTo>
                  <a:lnTo>
                    <a:pt x="45594" y="442192"/>
                  </a:lnTo>
                  <a:lnTo>
                    <a:pt x="21859" y="426196"/>
                  </a:lnTo>
                  <a:lnTo>
                    <a:pt x="5863" y="402461"/>
                  </a:lnTo>
                  <a:lnTo>
                    <a:pt x="0" y="373380"/>
                  </a:lnTo>
                  <a:lnTo>
                    <a:pt x="0" y="74675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1">
            <a:extLst>
              <a:ext uri="{FF2B5EF4-FFF2-40B4-BE49-F238E27FC236}">
                <a16:creationId xmlns:a16="http://schemas.microsoft.com/office/drawing/2014/main" id="{54C0499F-1D79-2887-7026-72E943973A44}"/>
              </a:ext>
            </a:extLst>
          </p:cNvPr>
          <p:cNvSpPr txBox="1"/>
          <p:nvPr/>
        </p:nvSpPr>
        <p:spPr>
          <a:xfrm>
            <a:off x="8662117" y="2255955"/>
            <a:ext cx="1102995" cy="153098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98120" marR="5080" indent="-186055" algn="just">
              <a:lnSpc>
                <a:spcPct val="92800"/>
              </a:lnSpc>
              <a:spcBef>
                <a:spcPts val="370"/>
              </a:spcBef>
            </a:pPr>
            <a:r>
              <a:rPr sz="3200" b="1" spc="-20" dirty="0">
                <a:solidFill>
                  <a:srgbClr val="FFFFFF"/>
                </a:solidFill>
                <a:latin typeface="Carlito"/>
                <a:cs typeface="Carlito"/>
              </a:rPr>
              <a:t>Core</a:t>
            </a:r>
            <a:r>
              <a:rPr sz="3200" b="1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rlito"/>
                <a:cs typeface="Carlito"/>
              </a:rPr>
              <a:t>3  </a:t>
            </a:r>
            <a:r>
              <a:rPr sz="3600" b="1" spc="-10" dirty="0">
                <a:solidFill>
                  <a:srgbClr val="FFFFFF"/>
                </a:solidFill>
                <a:latin typeface="Carlito"/>
                <a:cs typeface="Carlito"/>
              </a:rPr>
              <a:t>L1 </a:t>
            </a:r>
            <a:r>
              <a:rPr sz="3600" b="1" dirty="0">
                <a:solidFill>
                  <a:srgbClr val="FFFFFF"/>
                </a:solidFill>
                <a:latin typeface="Carlito"/>
                <a:cs typeface="Carlito"/>
              </a:rPr>
              <a:t>$  </a:t>
            </a:r>
            <a:r>
              <a:rPr sz="3600" b="1" spc="-10" dirty="0">
                <a:solidFill>
                  <a:srgbClr val="FFFFFF"/>
                </a:solidFill>
                <a:latin typeface="Carlito"/>
                <a:cs typeface="Carlito"/>
              </a:rPr>
              <a:t>L2</a:t>
            </a:r>
            <a:r>
              <a:rPr sz="3600" b="1" spc="-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arlito"/>
                <a:cs typeface="Carlito"/>
              </a:rPr>
              <a:t>$</a:t>
            </a:r>
            <a:endParaRPr sz="3600">
              <a:latin typeface="Carlito"/>
              <a:cs typeface="Carlito"/>
            </a:endParaRPr>
          </a:p>
        </p:txBody>
      </p:sp>
      <p:grpSp>
        <p:nvGrpSpPr>
          <p:cNvPr id="23" name="object 22">
            <a:extLst>
              <a:ext uri="{FF2B5EF4-FFF2-40B4-BE49-F238E27FC236}">
                <a16:creationId xmlns:a16="http://schemas.microsoft.com/office/drawing/2014/main" id="{EE067E24-2821-876F-58B5-AD74DB42C1EC}"/>
              </a:ext>
            </a:extLst>
          </p:cNvPr>
          <p:cNvGrpSpPr/>
          <p:nvPr/>
        </p:nvGrpSpPr>
        <p:grpSpPr>
          <a:xfrm>
            <a:off x="4490844" y="2777658"/>
            <a:ext cx="3317240" cy="3886835"/>
            <a:chOff x="3157134" y="2590736"/>
            <a:chExt cx="3317240" cy="3886835"/>
          </a:xfrm>
        </p:grpSpPr>
        <p:sp>
          <p:nvSpPr>
            <p:cNvPr id="24" name="object 23">
              <a:extLst>
                <a:ext uri="{FF2B5EF4-FFF2-40B4-BE49-F238E27FC236}">
                  <a16:creationId xmlns:a16="http://schemas.microsoft.com/office/drawing/2014/main" id="{A85A1AF8-5E31-3519-68E1-63DA0B3E02C3}"/>
                </a:ext>
              </a:extLst>
            </p:cNvPr>
            <p:cNvSpPr/>
            <p:nvPr/>
          </p:nvSpPr>
          <p:spPr>
            <a:xfrm>
              <a:off x="3157134" y="5743762"/>
              <a:ext cx="2725505" cy="73323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4">
              <a:extLst>
                <a:ext uri="{FF2B5EF4-FFF2-40B4-BE49-F238E27FC236}">
                  <a16:creationId xmlns:a16="http://schemas.microsoft.com/office/drawing/2014/main" id="{BF2AD661-6407-6196-B3AB-76D97DADFFDD}"/>
                </a:ext>
              </a:extLst>
            </p:cNvPr>
            <p:cNvSpPr/>
            <p:nvPr/>
          </p:nvSpPr>
          <p:spPr>
            <a:xfrm>
              <a:off x="4815839" y="3112007"/>
              <a:ext cx="1649095" cy="448309"/>
            </a:xfrm>
            <a:custGeom>
              <a:avLst/>
              <a:gdLst/>
              <a:ahLst/>
              <a:cxnLst/>
              <a:rect l="l" t="t" r="r" b="b"/>
              <a:pathLst>
                <a:path w="1649095" h="448310">
                  <a:moveTo>
                    <a:pt x="1574292" y="0"/>
                  </a:moveTo>
                  <a:lnTo>
                    <a:pt x="74675" y="0"/>
                  </a:lnTo>
                  <a:lnTo>
                    <a:pt x="45594" y="5863"/>
                  </a:lnTo>
                  <a:lnTo>
                    <a:pt x="21859" y="21859"/>
                  </a:lnTo>
                  <a:lnTo>
                    <a:pt x="5863" y="45594"/>
                  </a:lnTo>
                  <a:lnTo>
                    <a:pt x="0" y="74675"/>
                  </a:lnTo>
                  <a:lnTo>
                    <a:pt x="0" y="373379"/>
                  </a:lnTo>
                  <a:lnTo>
                    <a:pt x="5863" y="402461"/>
                  </a:lnTo>
                  <a:lnTo>
                    <a:pt x="21859" y="426196"/>
                  </a:lnTo>
                  <a:lnTo>
                    <a:pt x="45594" y="442192"/>
                  </a:lnTo>
                  <a:lnTo>
                    <a:pt x="74675" y="448055"/>
                  </a:lnTo>
                  <a:lnTo>
                    <a:pt x="1574292" y="448055"/>
                  </a:lnTo>
                  <a:lnTo>
                    <a:pt x="1603373" y="442192"/>
                  </a:lnTo>
                  <a:lnTo>
                    <a:pt x="1627108" y="426196"/>
                  </a:lnTo>
                  <a:lnTo>
                    <a:pt x="1643104" y="402461"/>
                  </a:lnTo>
                  <a:lnTo>
                    <a:pt x="1648968" y="373379"/>
                  </a:lnTo>
                  <a:lnTo>
                    <a:pt x="1648968" y="74675"/>
                  </a:lnTo>
                  <a:lnTo>
                    <a:pt x="1643104" y="45594"/>
                  </a:lnTo>
                  <a:lnTo>
                    <a:pt x="1627108" y="21859"/>
                  </a:lnTo>
                  <a:lnTo>
                    <a:pt x="1603373" y="5863"/>
                  </a:lnTo>
                  <a:lnTo>
                    <a:pt x="1574292" y="0"/>
                  </a:lnTo>
                  <a:close/>
                </a:path>
              </a:pathLst>
            </a:custGeom>
            <a:solidFill>
              <a:srgbClr val="202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5">
              <a:extLst>
                <a:ext uri="{FF2B5EF4-FFF2-40B4-BE49-F238E27FC236}">
                  <a16:creationId xmlns:a16="http://schemas.microsoft.com/office/drawing/2014/main" id="{9140E0D0-86AB-E19F-21DB-5BCC36A57FB7}"/>
                </a:ext>
              </a:extLst>
            </p:cNvPr>
            <p:cNvSpPr/>
            <p:nvPr/>
          </p:nvSpPr>
          <p:spPr>
            <a:xfrm>
              <a:off x="4815839" y="3112007"/>
              <a:ext cx="1649095" cy="448309"/>
            </a:xfrm>
            <a:custGeom>
              <a:avLst/>
              <a:gdLst/>
              <a:ahLst/>
              <a:cxnLst/>
              <a:rect l="l" t="t" r="r" b="b"/>
              <a:pathLst>
                <a:path w="1649095" h="448310">
                  <a:moveTo>
                    <a:pt x="0" y="74675"/>
                  </a:moveTo>
                  <a:lnTo>
                    <a:pt x="5863" y="45594"/>
                  </a:lnTo>
                  <a:lnTo>
                    <a:pt x="21859" y="21859"/>
                  </a:lnTo>
                  <a:lnTo>
                    <a:pt x="45594" y="5863"/>
                  </a:lnTo>
                  <a:lnTo>
                    <a:pt x="74675" y="0"/>
                  </a:lnTo>
                  <a:lnTo>
                    <a:pt x="1574292" y="0"/>
                  </a:lnTo>
                  <a:lnTo>
                    <a:pt x="1603373" y="5863"/>
                  </a:lnTo>
                  <a:lnTo>
                    <a:pt x="1627108" y="21859"/>
                  </a:lnTo>
                  <a:lnTo>
                    <a:pt x="1643104" y="45594"/>
                  </a:lnTo>
                  <a:lnTo>
                    <a:pt x="1648968" y="74675"/>
                  </a:lnTo>
                  <a:lnTo>
                    <a:pt x="1648968" y="373379"/>
                  </a:lnTo>
                  <a:lnTo>
                    <a:pt x="1643104" y="402461"/>
                  </a:lnTo>
                  <a:lnTo>
                    <a:pt x="1627108" y="426196"/>
                  </a:lnTo>
                  <a:lnTo>
                    <a:pt x="1603373" y="442192"/>
                  </a:lnTo>
                  <a:lnTo>
                    <a:pt x="1574292" y="448055"/>
                  </a:lnTo>
                  <a:lnTo>
                    <a:pt x="74675" y="448055"/>
                  </a:lnTo>
                  <a:lnTo>
                    <a:pt x="45594" y="442192"/>
                  </a:lnTo>
                  <a:lnTo>
                    <a:pt x="21859" y="426196"/>
                  </a:lnTo>
                  <a:lnTo>
                    <a:pt x="5863" y="402461"/>
                  </a:lnTo>
                  <a:lnTo>
                    <a:pt x="0" y="373379"/>
                  </a:lnTo>
                  <a:lnTo>
                    <a:pt x="0" y="74675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6">
              <a:extLst>
                <a:ext uri="{FF2B5EF4-FFF2-40B4-BE49-F238E27FC236}">
                  <a16:creationId xmlns:a16="http://schemas.microsoft.com/office/drawing/2014/main" id="{743C7B0F-73CD-2C40-E139-F0EDDBBBFEC3}"/>
                </a:ext>
              </a:extLst>
            </p:cNvPr>
            <p:cNvSpPr/>
            <p:nvPr/>
          </p:nvSpPr>
          <p:spPr>
            <a:xfrm>
              <a:off x="5020055" y="2599943"/>
              <a:ext cx="1176655" cy="448309"/>
            </a:xfrm>
            <a:custGeom>
              <a:avLst/>
              <a:gdLst/>
              <a:ahLst/>
              <a:cxnLst/>
              <a:rect l="l" t="t" r="r" b="b"/>
              <a:pathLst>
                <a:path w="1176654" h="448310">
                  <a:moveTo>
                    <a:pt x="1101852" y="0"/>
                  </a:moveTo>
                  <a:lnTo>
                    <a:pt x="74676" y="0"/>
                  </a:lnTo>
                  <a:lnTo>
                    <a:pt x="45594" y="5863"/>
                  </a:lnTo>
                  <a:lnTo>
                    <a:pt x="21859" y="21859"/>
                  </a:lnTo>
                  <a:lnTo>
                    <a:pt x="5863" y="45594"/>
                  </a:lnTo>
                  <a:lnTo>
                    <a:pt x="0" y="74675"/>
                  </a:lnTo>
                  <a:lnTo>
                    <a:pt x="0" y="373379"/>
                  </a:lnTo>
                  <a:lnTo>
                    <a:pt x="5863" y="402461"/>
                  </a:lnTo>
                  <a:lnTo>
                    <a:pt x="21859" y="426196"/>
                  </a:lnTo>
                  <a:lnTo>
                    <a:pt x="45594" y="442192"/>
                  </a:lnTo>
                  <a:lnTo>
                    <a:pt x="74676" y="448055"/>
                  </a:lnTo>
                  <a:lnTo>
                    <a:pt x="1101852" y="448055"/>
                  </a:lnTo>
                  <a:lnTo>
                    <a:pt x="1130933" y="442192"/>
                  </a:lnTo>
                  <a:lnTo>
                    <a:pt x="1154668" y="426196"/>
                  </a:lnTo>
                  <a:lnTo>
                    <a:pt x="1170664" y="402461"/>
                  </a:lnTo>
                  <a:lnTo>
                    <a:pt x="1176528" y="373379"/>
                  </a:lnTo>
                  <a:lnTo>
                    <a:pt x="1176528" y="74675"/>
                  </a:lnTo>
                  <a:lnTo>
                    <a:pt x="1170664" y="45594"/>
                  </a:lnTo>
                  <a:lnTo>
                    <a:pt x="1154668" y="21859"/>
                  </a:lnTo>
                  <a:lnTo>
                    <a:pt x="1130933" y="5863"/>
                  </a:lnTo>
                  <a:lnTo>
                    <a:pt x="1101852" y="0"/>
                  </a:lnTo>
                  <a:close/>
                </a:path>
              </a:pathLst>
            </a:custGeom>
            <a:solidFill>
              <a:srgbClr val="202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7">
              <a:extLst>
                <a:ext uri="{FF2B5EF4-FFF2-40B4-BE49-F238E27FC236}">
                  <a16:creationId xmlns:a16="http://schemas.microsoft.com/office/drawing/2014/main" id="{44DD92E6-6A5C-55CE-E8D1-7FFEF1D606CA}"/>
                </a:ext>
              </a:extLst>
            </p:cNvPr>
            <p:cNvSpPr/>
            <p:nvPr/>
          </p:nvSpPr>
          <p:spPr>
            <a:xfrm>
              <a:off x="5020055" y="2599943"/>
              <a:ext cx="1176655" cy="448309"/>
            </a:xfrm>
            <a:custGeom>
              <a:avLst/>
              <a:gdLst/>
              <a:ahLst/>
              <a:cxnLst/>
              <a:rect l="l" t="t" r="r" b="b"/>
              <a:pathLst>
                <a:path w="1176654" h="448310">
                  <a:moveTo>
                    <a:pt x="0" y="74675"/>
                  </a:moveTo>
                  <a:lnTo>
                    <a:pt x="5863" y="45594"/>
                  </a:lnTo>
                  <a:lnTo>
                    <a:pt x="21859" y="21859"/>
                  </a:lnTo>
                  <a:lnTo>
                    <a:pt x="45594" y="5863"/>
                  </a:lnTo>
                  <a:lnTo>
                    <a:pt x="74676" y="0"/>
                  </a:lnTo>
                  <a:lnTo>
                    <a:pt x="1101852" y="0"/>
                  </a:lnTo>
                  <a:lnTo>
                    <a:pt x="1130933" y="5863"/>
                  </a:lnTo>
                  <a:lnTo>
                    <a:pt x="1154668" y="21859"/>
                  </a:lnTo>
                  <a:lnTo>
                    <a:pt x="1170664" y="45594"/>
                  </a:lnTo>
                  <a:lnTo>
                    <a:pt x="1176528" y="74675"/>
                  </a:lnTo>
                  <a:lnTo>
                    <a:pt x="1176528" y="373379"/>
                  </a:lnTo>
                  <a:lnTo>
                    <a:pt x="1170664" y="402461"/>
                  </a:lnTo>
                  <a:lnTo>
                    <a:pt x="1154668" y="426196"/>
                  </a:lnTo>
                  <a:lnTo>
                    <a:pt x="1130933" y="442192"/>
                  </a:lnTo>
                  <a:lnTo>
                    <a:pt x="1101852" y="448055"/>
                  </a:lnTo>
                  <a:lnTo>
                    <a:pt x="74676" y="448055"/>
                  </a:lnTo>
                  <a:lnTo>
                    <a:pt x="45594" y="442192"/>
                  </a:lnTo>
                  <a:lnTo>
                    <a:pt x="21859" y="426196"/>
                  </a:lnTo>
                  <a:lnTo>
                    <a:pt x="5863" y="402461"/>
                  </a:lnTo>
                  <a:lnTo>
                    <a:pt x="0" y="373379"/>
                  </a:lnTo>
                  <a:lnTo>
                    <a:pt x="0" y="74675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8">
            <a:extLst>
              <a:ext uri="{FF2B5EF4-FFF2-40B4-BE49-F238E27FC236}">
                <a16:creationId xmlns:a16="http://schemas.microsoft.com/office/drawing/2014/main" id="{E3CC42B0-97AE-C9B0-BB69-E31C772E3C85}"/>
              </a:ext>
            </a:extLst>
          </p:cNvPr>
          <p:cNvSpPr txBox="1"/>
          <p:nvPr/>
        </p:nvSpPr>
        <p:spPr>
          <a:xfrm>
            <a:off x="6319475" y="2219760"/>
            <a:ext cx="1103630" cy="156083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73685" marR="5080" indent="-261620" algn="just">
              <a:lnSpc>
                <a:spcPct val="95500"/>
              </a:lnSpc>
              <a:spcBef>
                <a:spcPts val="265"/>
              </a:spcBef>
            </a:pPr>
            <a:r>
              <a:rPr sz="3200" b="1" spc="-20" dirty="0">
                <a:solidFill>
                  <a:srgbClr val="FFFFFF"/>
                </a:solidFill>
                <a:latin typeface="Carlito"/>
                <a:cs typeface="Carlito"/>
              </a:rPr>
              <a:t>Core</a:t>
            </a:r>
            <a:r>
              <a:rPr sz="3200" b="1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rlito"/>
                <a:cs typeface="Carlito"/>
              </a:rPr>
              <a:t>2  </a:t>
            </a:r>
            <a:r>
              <a:rPr sz="3600" b="1" spc="-10" dirty="0">
                <a:solidFill>
                  <a:srgbClr val="FFFFFF"/>
                </a:solidFill>
                <a:latin typeface="Carlito"/>
                <a:cs typeface="Carlito"/>
              </a:rPr>
              <a:t>L1 </a:t>
            </a:r>
            <a:r>
              <a:rPr sz="3600" b="1" dirty="0">
                <a:solidFill>
                  <a:srgbClr val="FFFFFF"/>
                </a:solidFill>
                <a:latin typeface="Carlito"/>
                <a:cs typeface="Carlito"/>
              </a:rPr>
              <a:t>$  </a:t>
            </a:r>
            <a:r>
              <a:rPr sz="3600" b="1" spc="-10" dirty="0">
                <a:solidFill>
                  <a:srgbClr val="FFFFFF"/>
                </a:solidFill>
                <a:latin typeface="Carlito"/>
                <a:cs typeface="Carlito"/>
              </a:rPr>
              <a:t>L2</a:t>
            </a:r>
            <a:r>
              <a:rPr sz="3600" b="1" spc="-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arlito"/>
                <a:cs typeface="Carlito"/>
              </a:rPr>
              <a:t>$</a:t>
            </a:r>
            <a:endParaRPr sz="3600">
              <a:latin typeface="Carlito"/>
              <a:cs typeface="Carlito"/>
            </a:endParaRPr>
          </a:p>
        </p:txBody>
      </p:sp>
      <p:grpSp>
        <p:nvGrpSpPr>
          <p:cNvPr id="30" name="object 29">
            <a:extLst>
              <a:ext uri="{FF2B5EF4-FFF2-40B4-BE49-F238E27FC236}">
                <a16:creationId xmlns:a16="http://schemas.microsoft.com/office/drawing/2014/main" id="{B76A5F6A-740F-0C24-8204-4AEA47DACD5A}"/>
              </a:ext>
            </a:extLst>
          </p:cNvPr>
          <p:cNvGrpSpPr/>
          <p:nvPr/>
        </p:nvGrpSpPr>
        <p:grpSpPr>
          <a:xfrm>
            <a:off x="3890918" y="2759370"/>
            <a:ext cx="1597660" cy="975994"/>
            <a:chOff x="2557208" y="2572448"/>
            <a:chExt cx="1597660" cy="975994"/>
          </a:xfrm>
        </p:grpSpPr>
        <p:sp>
          <p:nvSpPr>
            <p:cNvPr id="31" name="object 30">
              <a:extLst>
                <a:ext uri="{FF2B5EF4-FFF2-40B4-BE49-F238E27FC236}">
                  <a16:creationId xmlns:a16="http://schemas.microsoft.com/office/drawing/2014/main" id="{611570D1-B175-B00A-51E8-6AAD20C24683}"/>
                </a:ext>
              </a:extLst>
            </p:cNvPr>
            <p:cNvSpPr/>
            <p:nvPr/>
          </p:nvSpPr>
          <p:spPr>
            <a:xfrm>
              <a:off x="2566415" y="3093719"/>
              <a:ext cx="1579245" cy="445134"/>
            </a:xfrm>
            <a:custGeom>
              <a:avLst/>
              <a:gdLst/>
              <a:ahLst/>
              <a:cxnLst/>
              <a:rect l="l" t="t" r="r" b="b"/>
              <a:pathLst>
                <a:path w="1579245" h="445135">
                  <a:moveTo>
                    <a:pt x="1504695" y="0"/>
                  </a:moveTo>
                  <a:lnTo>
                    <a:pt x="74167" y="0"/>
                  </a:lnTo>
                  <a:lnTo>
                    <a:pt x="45273" y="5820"/>
                  </a:lnTo>
                  <a:lnTo>
                    <a:pt x="21701" y="21701"/>
                  </a:lnTo>
                  <a:lnTo>
                    <a:pt x="5820" y="45273"/>
                  </a:lnTo>
                  <a:lnTo>
                    <a:pt x="0" y="74167"/>
                  </a:lnTo>
                  <a:lnTo>
                    <a:pt x="0" y="370839"/>
                  </a:lnTo>
                  <a:lnTo>
                    <a:pt x="5820" y="399734"/>
                  </a:lnTo>
                  <a:lnTo>
                    <a:pt x="21701" y="423306"/>
                  </a:lnTo>
                  <a:lnTo>
                    <a:pt x="45273" y="439187"/>
                  </a:lnTo>
                  <a:lnTo>
                    <a:pt x="74167" y="445007"/>
                  </a:lnTo>
                  <a:lnTo>
                    <a:pt x="1504695" y="445007"/>
                  </a:lnTo>
                  <a:lnTo>
                    <a:pt x="1533590" y="439187"/>
                  </a:lnTo>
                  <a:lnTo>
                    <a:pt x="1557162" y="423306"/>
                  </a:lnTo>
                  <a:lnTo>
                    <a:pt x="1573043" y="399734"/>
                  </a:lnTo>
                  <a:lnTo>
                    <a:pt x="1578863" y="370839"/>
                  </a:lnTo>
                  <a:lnTo>
                    <a:pt x="1578863" y="74167"/>
                  </a:lnTo>
                  <a:lnTo>
                    <a:pt x="1573043" y="45273"/>
                  </a:lnTo>
                  <a:lnTo>
                    <a:pt x="1557162" y="21701"/>
                  </a:lnTo>
                  <a:lnTo>
                    <a:pt x="1533590" y="5820"/>
                  </a:lnTo>
                  <a:lnTo>
                    <a:pt x="1504695" y="0"/>
                  </a:lnTo>
                  <a:close/>
                </a:path>
              </a:pathLst>
            </a:custGeom>
            <a:solidFill>
              <a:srgbClr val="202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1">
              <a:extLst>
                <a:ext uri="{FF2B5EF4-FFF2-40B4-BE49-F238E27FC236}">
                  <a16:creationId xmlns:a16="http://schemas.microsoft.com/office/drawing/2014/main" id="{A1D5952B-03AC-69DD-E2BA-46DEE312CE18}"/>
                </a:ext>
              </a:extLst>
            </p:cNvPr>
            <p:cNvSpPr/>
            <p:nvPr/>
          </p:nvSpPr>
          <p:spPr>
            <a:xfrm>
              <a:off x="2566415" y="3093719"/>
              <a:ext cx="1579245" cy="445134"/>
            </a:xfrm>
            <a:custGeom>
              <a:avLst/>
              <a:gdLst/>
              <a:ahLst/>
              <a:cxnLst/>
              <a:rect l="l" t="t" r="r" b="b"/>
              <a:pathLst>
                <a:path w="1579245" h="445135">
                  <a:moveTo>
                    <a:pt x="0" y="74167"/>
                  </a:moveTo>
                  <a:lnTo>
                    <a:pt x="5820" y="45273"/>
                  </a:lnTo>
                  <a:lnTo>
                    <a:pt x="21701" y="21701"/>
                  </a:lnTo>
                  <a:lnTo>
                    <a:pt x="45273" y="5820"/>
                  </a:lnTo>
                  <a:lnTo>
                    <a:pt x="74167" y="0"/>
                  </a:lnTo>
                  <a:lnTo>
                    <a:pt x="1504695" y="0"/>
                  </a:lnTo>
                  <a:lnTo>
                    <a:pt x="1533590" y="5820"/>
                  </a:lnTo>
                  <a:lnTo>
                    <a:pt x="1557162" y="21701"/>
                  </a:lnTo>
                  <a:lnTo>
                    <a:pt x="1573043" y="45273"/>
                  </a:lnTo>
                  <a:lnTo>
                    <a:pt x="1578863" y="74167"/>
                  </a:lnTo>
                  <a:lnTo>
                    <a:pt x="1578863" y="370839"/>
                  </a:lnTo>
                  <a:lnTo>
                    <a:pt x="1573043" y="399734"/>
                  </a:lnTo>
                  <a:lnTo>
                    <a:pt x="1557162" y="423306"/>
                  </a:lnTo>
                  <a:lnTo>
                    <a:pt x="1533590" y="439187"/>
                  </a:lnTo>
                  <a:lnTo>
                    <a:pt x="1504695" y="445007"/>
                  </a:lnTo>
                  <a:lnTo>
                    <a:pt x="74167" y="445007"/>
                  </a:lnTo>
                  <a:lnTo>
                    <a:pt x="45273" y="439187"/>
                  </a:lnTo>
                  <a:lnTo>
                    <a:pt x="21701" y="423306"/>
                  </a:lnTo>
                  <a:lnTo>
                    <a:pt x="5820" y="399734"/>
                  </a:lnTo>
                  <a:lnTo>
                    <a:pt x="0" y="370839"/>
                  </a:lnTo>
                  <a:lnTo>
                    <a:pt x="0" y="74167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2">
              <a:extLst>
                <a:ext uri="{FF2B5EF4-FFF2-40B4-BE49-F238E27FC236}">
                  <a16:creationId xmlns:a16="http://schemas.microsoft.com/office/drawing/2014/main" id="{C9E11FCC-91F9-740E-C4B9-1D8C7F4173E3}"/>
                </a:ext>
              </a:extLst>
            </p:cNvPr>
            <p:cNvSpPr/>
            <p:nvPr/>
          </p:nvSpPr>
          <p:spPr>
            <a:xfrm>
              <a:off x="2795015" y="2581655"/>
              <a:ext cx="1155700" cy="445134"/>
            </a:xfrm>
            <a:custGeom>
              <a:avLst/>
              <a:gdLst/>
              <a:ahLst/>
              <a:cxnLst/>
              <a:rect l="l" t="t" r="r" b="b"/>
              <a:pathLst>
                <a:path w="1155700" h="445135">
                  <a:moveTo>
                    <a:pt x="1081023" y="0"/>
                  </a:moveTo>
                  <a:lnTo>
                    <a:pt x="74167" y="0"/>
                  </a:lnTo>
                  <a:lnTo>
                    <a:pt x="45273" y="5820"/>
                  </a:lnTo>
                  <a:lnTo>
                    <a:pt x="21701" y="21701"/>
                  </a:lnTo>
                  <a:lnTo>
                    <a:pt x="5820" y="45273"/>
                  </a:lnTo>
                  <a:lnTo>
                    <a:pt x="0" y="74168"/>
                  </a:lnTo>
                  <a:lnTo>
                    <a:pt x="0" y="370840"/>
                  </a:lnTo>
                  <a:lnTo>
                    <a:pt x="5820" y="399734"/>
                  </a:lnTo>
                  <a:lnTo>
                    <a:pt x="21701" y="423306"/>
                  </a:lnTo>
                  <a:lnTo>
                    <a:pt x="45273" y="439187"/>
                  </a:lnTo>
                  <a:lnTo>
                    <a:pt x="74167" y="445008"/>
                  </a:lnTo>
                  <a:lnTo>
                    <a:pt x="1081023" y="445008"/>
                  </a:lnTo>
                  <a:lnTo>
                    <a:pt x="1109918" y="439187"/>
                  </a:lnTo>
                  <a:lnTo>
                    <a:pt x="1133490" y="423306"/>
                  </a:lnTo>
                  <a:lnTo>
                    <a:pt x="1149371" y="399734"/>
                  </a:lnTo>
                  <a:lnTo>
                    <a:pt x="1155192" y="370840"/>
                  </a:lnTo>
                  <a:lnTo>
                    <a:pt x="1155192" y="74168"/>
                  </a:lnTo>
                  <a:lnTo>
                    <a:pt x="1149371" y="45273"/>
                  </a:lnTo>
                  <a:lnTo>
                    <a:pt x="1133490" y="21701"/>
                  </a:lnTo>
                  <a:lnTo>
                    <a:pt x="1109918" y="5820"/>
                  </a:lnTo>
                  <a:lnTo>
                    <a:pt x="1081023" y="0"/>
                  </a:lnTo>
                  <a:close/>
                </a:path>
              </a:pathLst>
            </a:custGeom>
            <a:solidFill>
              <a:srgbClr val="202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3">
              <a:extLst>
                <a:ext uri="{FF2B5EF4-FFF2-40B4-BE49-F238E27FC236}">
                  <a16:creationId xmlns:a16="http://schemas.microsoft.com/office/drawing/2014/main" id="{C07AD129-9969-F917-59CB-22FD33D0FBF9}"/>
                </a:ext>
              </a:extLst>
            </p:cNvPr>
            <p:cNvSpPr/>
            <p:nvPr/>
          </p:nvSpPr>
          <p:spPr>
            <a:xfrm>
              <a:off x="2795015" y="2581655"/>
              <a:ext cx="1155700" cy="445134"/>
            </a:xfrm>
            <a:custGeom>
              <a:avLst/>
              <a:gdLst/>
              <a:ahLst/>
              <a:cxnLst/>
              <a:rect l="l" t="t" r="r" b="b"/>
              <a:pathLst>
                <a:path w="1155700" h="445135">
                  <a:moveTo>
                    <a:pt x="0" y="74168"/>
                  </a:moveTo>
                  <a:lnTo>
                    <a:pt x="5820" y="45273"/>
                  </a:lnTo>
                  <a:lnTo>
                    <a:pt x="21701" y="21701"/>
                  </a:lnTo>
                  <a:lnTo>
                    <a:pt x="45273" y="5820"/>
                  </a:lnTo>
                  <a:lnTo>
                    <a:pt x="74167" y="0"/>
                  </a:lnTo>
                  <a:lnTo>
                    <a:pt x="1081023" y="0"/>
                  </a:lnTo>
                  <a:lnTo>
                    <a:pt x="1109918" y="5820"/>
                  </a:lnTo>
                  <a:lnTo>
                    <a:pt x="1133490" y="21701"/>
                  </a:lnTo>
                  <a:lnTo>
                    <a:pt x="1149371" y="45273"/>
                  </a:lnTo>
                  <a:lnTo>
                    <a:pt x="1155192" y="74168"/>
                  </a:lnTo>
                  <a:lnTo>
                    <a:pt x="1155192" y="370840"/>
                  </a:lnTo>
                  <a:lnTo>
                    <a:pt x="1149371" y="399734"/>
                  </a:lnTo>
                  <a:lnTo>
                    <a:pt x="1133490" y="423306"/>
                  </a:lnTo>
                  <a:lnTo>
                    <a:pt x="1109918" y="439187"/>
                  </a:lnTo>
                  <a:lnTo>
                    <a:pt x="1081023" y="445008"/>
                  </a:lnTo>
                  <a:lnTo>
                    <a:pt x="74167" y="445008"/>
                  </a:lnTo>
                  <a:lnTo>
                    <a:pt x="45273" y="439187"/>
                  </a:lnTo>
                  <a:lnTo>
                    <a:pt x="21701" y="423306"/>
                  </a:lnTo>
                  <a:lnTo>
                    <a:pt x="5820" y="399734"/>
                  </a:lnTo>
                  <a:lnTo>
                    <a:pt x="0" y="370840"/>
                  </a:lnTo>
                  <a:lnTo>
                    <a:pt x="0" y="74168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4">
            <a:extLst>
              <a:ext uri="{FF2B5EF4-FFF2-40B4-BE49-F238E27FC236}">
                <a16:creationId xmlns:a16="http://schemas.microsoft.com/office/drawing/2014/main" id="{79312800-464B-27DF-6921-973F621DB77D}"/>
              </a:ext>
            </a:extLst>
          </p:cNvPr>
          <p:cNvSpPr txBox="1"/>
          <p:nvPr/>
        </p:nvSpPr>
        <p:spPr>
          <a:xfrm>
            <a:off x="4087705" y="2188315"/>
            <a:ext cx="1101725" cy="157289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23520" marR="5080" indent="-211454" algn="just">
              <a:lnSpc>
                <a:spcPct val="96600"/>
              </a:lnSpc>
              <a:spcBef>
                <a:spcPts val="220"/>
              </a:spcBef>
            </a:pPr>
            <a:r>
              <a:rPr sz="3200" b="1" spc="-25" dirty="0">
                <a:solidFill>
                  <a:srgbClr val="FFFFFF"/>
                </a:solidFill>
                <a:latin typeface="Carlito"/>
                <a:cs typeface="Carlito"/>
              </a:rPr>
              <a:t>Core </a:t>
            </a:r>
            <a:r>
              <a:rPr sz="3200" b="1" spc="-5" dirty="0">
                <a:solidFill>
                  <a:srgbClr val="FFFFFF"/>
                </a:solidFill>
                <a:latin typeface="Carlito"/>
                <a:cs typeface="Carlito"/>
              </a:rPr>
              <a:t>1  </a:t>
            </a:r>
            <a:r>
              <a:rPr sz="3600" b="1" spc="-10" dirty="0">
                <a:solidFill>
                  <a:srgbClr val="FFFFFF"/>
                </a:solidFill>
                <a:latin typeface="Carlito"/>
                <a:cs typeface="Carlito"/>
              </a:rPr>
              <a:t>L1 </a:t>
            </a:r>
            <a:r>
              <a:rPr sz="3600" b="1" dirty="0">
                <a:solidFill>
                  <a:srgbClr val="FFFFFF"/>
                </a:solidFill>
                <a:latin typeface="Carlito"/>
                <a:cs typeface="Carlito"/>
              </a:rPr>
              <a:t>$  </a:t>
            </a:r>
            <a:r>
              <a:rPr sz="3600" b="1" spc="-10" dirty="0">
                <a:solidFill>
                  <a:srgbClr val="FFFFFF"/>
                </a:solidFill>
                <a:latin typeface="Carlito"/>
                <a:cs typeface="Carlito"/>
              </a:rPr>
              <a:t>L2</a:t>
            </a:r>
            <a:r>
              <a:rPr sz="3600" b="1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arlito"/>
                <a:cs typeface="Carlito"/>
              </a:rPr>
              <a:t>$</a:t>
            </a:r>
            <a:endParaRPr sz="3600">
              <a:latin typeface="Carlito"/>
              <a:cs typeface="Carlito"/>
            </a:endParaRPr>
          </a:p>
        </p:txBody>
      </p:sp>
      <p:grpSp>
        <p:nvGrpSpPr>
          <p:cNvPr id="36" name="object 35">
            <a:extLst>
              <a:ext uri="{FF2B5EF4-FFF2-40B4-BE49-F238E27FC236}">
                <a16:creationId xmlns:a16="http://schemas.microsoft.com/office/drawing/2014/main" id="{6D6B247E-93FA-4D6D-9C7D-1F184F27AC37}"/>
              </a:ext>
            </a:extLst>
          </p:cNvPr>
          <p:cNvGrpSpPr/>
          <p:nvPr/>
        </p:nvGrpSpPr>
        <p:grpSpPr>
          <a:xfrm>
            <a:off x="1653686" y="2783754"/>
            <a:ext cx="1481455" cy="978535"/>
            <a:chOff x="319976" y="2596832"/>
            <a:chExt cx="1481455" cy="978535"/>
          </a:xfrm>
        </p:grpSpPr>
        <p:sp>
          <p:nvSpPr>
            <p:cNvPr id="37" name="object 36">
              <a:extLst>
                <a:ext uri="{FF2B5EF4-FFF2-40B4-BE49-F238E27FC236}">
                  <a16:creationId xmlns:a16="http://schemas.microsoft.com/office/drawing/2014/main" id="{6739B5DE-E689-F673-D45D-60D386B4336A}"/>
                </a:ext>
              </a:extLst>
            </p:cNvPr>
            <p:cNvSpPr/>
            <p:nvPr/>
          </p:nvSpPr>
          <p:spPr>
            <a:xfrm>
              <a:off x="469392" y="2606040"/>
              <a:ext cx="1122045" cy="448309"/>
            </a:xfrm>
            <a:custGeom>
              <a:avLst/>
              <a:gdLst/>
              <a:ahLst/>
              <a:cxnLst/>
              <a:rect l="l" t="t" r="r" b="b"/>
              <a:pathLst>
                <a:path w="1122045" h="448310">
                  <a:moveTo>
                    <a:pt x="1046988" y="0"/>
                  </a:moveTo>
                  <a:lnTo>
                    <a:pt x="74676" y="0"/>
                  </a:lnTo>
                  <a:lnTo>
                    <a:pt x="45611" y="5863"/>
                  </a:lnTo>
                  <a:lnTo>
                    <a:pt x="21874" y="21859"/>
                  </a:lnTo>
                  <a:lnTo>
                    <a:pt x="5869" y="45594"/>
                  </a:lnTo>
                  <a:lnTo>
                    <a:pt x="0" y="74675"/>
                  </a:lnTo>
                  <a:lnTo>
                    <a:pt x="0" y="373380"/>
                  </a:lnTo>
                  <a:lnTo>
                    <a:pt x="5869" y="402461"/>
                  </a:lnTo>
                  <a:lnTo>
                    <a:pt x="21874" y="426196"/>
                  </a:lnTo>
                  <a:lnTo>
                    <a:pt x="45611" y="442192"/>
                  </a:lnTo>
                  <a:lnTo>
                    <a:pt x="74676" y="448056"/>
                  </a:lnTo>
                  <a:lnTo>
                    <a:pt x="1046988" y="448056"/>
                  </a:lnTo>
                  <a:lnTo>
                    <a:pt x="1076069" y="442192"/>
                  </a:lnTo>
                  <a:lnTo>
                    <a:pt x="1099804" y="426196"/>
                  </a:lnTo>
                  <a:lnTo>
                    <a:pt x="1115800" y="402461"/>
                  </a:lnTo>
                  <a:lnTo>
                    <a:pt x="1121664" y="373380"/>
                  </a:lnTo>
                  <a:lnTo>
                    <a:pt x="1121664" y="74675"/>
                  </a:lnTo>
                  <a:lnTo>
                    <a:pt x="1115800" y="45594"/>
                  </a:lnTo>
                  <a:lnTo>
                    <a:pt x="1099804" y="21859"/>
                  </a:lnTo>
                  <a:lnTo>
                    <a:pt x="1076069" y="5863"/>
                  </a:lnTo>
                  <a:lnTo>
                    <a:pt x="1046988" y="0"/>
                  </a:lnTo>
                  <a:close/>
                </a:path>
              </a:pathLst>
            </a:custGeom>
            <a:solidFill>
              <a:srgbClr val="202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7">
              <a:extLst>
                <a:ext uri="{FF2B5EF4-FFF2-40B4-BE49-F238E27FC236}">
                  <a16:creationId xmlns:a16="http://schemas.microsoft.com/office/drawing/2014/main" id="{67D5E2D6-59B0-F7FA-79E5-74F25D4F2965}"/>
                </a:ext>
              </a:extLst>
            </p:cNvPr>
            <p:cNvSpPr/>
            <p:nvPr/>
          </p:nvSpPr>
          <p:spPr>
            <a:xfrm>
              <a:off x="469392" y="2606040"/>
              <a:ext cx="1122045" cy="448309"/>
            </a:xfrm>
            <a:custGeom>
              <a:avLst/>
              <a:gdLst/>
              <a:ahLst/>
              <a:cxnLst/>
              <a:rect l="l" t="t" r="r" b="b"/>
              <a:pathLst>
                <a:path w="1122045" h="448310">
                  <a:moveTo>
                    <a:pt x="0" y="74675"/>
                  </a:moveTo>
                  <a:lnTo>
                    <a:pt x="5869" y="45594"/>
                  </a:lnTo>
                  <a:lnTo>
                    <a:pt x="21874" y="21859"/>
                  </a:lnTo>
                  <a:lnTo>
                    <a:pt x="45611" y="5863"/>
                  </a:lnTo>
                  <a:lnTo>
                    <a:pt x="74676" y="0"/>
                  </a:lnTo>
                  <a:lnTo>
                    <a:pt x="1046988" y="0"/>
                  </a:lnTo>
                  <a:lnTo>
                    <a:pt x="1076069" y="5863"/>
                  </a:lnTo>
                  <a:lnTo>
                    <a:pt x="1099804" y="21859"/>
                  </a:lnTo>
                  <a:lnTo>
                    <a:pt x="1115800" y="45594"/>
                  </a:lnTo>
                  <a:lnTo>
                    <a:pt x="1121664" y="74675"/>
                  </a:lnTo>
                  <a:lnTo>
                    <a:pt x="1121664" y="373380"/>
                  </a:lnTo>
                  <a:lnTo>
                    <a:pt x="1115800" y="402461"/>
                  </a:lnTo>
                  <a:lnTo>
                    <a:pt x="1099804" y="426196"/>
                  </a:lnTo>
                  <a:lnTo>
                    <a:pt x="1076069" y="442192"/>
                  </a:lnTo>
                  <a:lnTo>
                    <a:pt x="1046988" y="448056"/>
                  </a:lnTo>
                  <a:lnTo>
                    <a:pt x="74676" y="448056"/>
                  </a:lnTo>
                  <a:lnTo>
                    <a:pt x="45611" y="442192"/>
                  </a:lnTo>
                  <a:lnTo>
                    <a:pt x="21874" y="426196"/>
                  </a:lnTo>
                  <a:lnTo>
                    <a:pt x="5869" y="402461"/>
                  </a:lnTo>
                  <a:lnTo>
                    <a:pt x="0" y="373380"/>
                  </a:lnTo>
                  <a:lnTo>
                    <a:pt x="0" y="74675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8">
              <a:extLst>
                <a:ext uri="{FF2B5EF4-FFF2-40B4-BE49-F238E27FC236}">
                  <a16:creationId xmlns:a16="http://schemas.microsoft.com/office/drawing/2014/main" id="{AE08A8C1-1751-729D-AD6D-35795697BAA6}"/>
                </a:ext>
              </a:extLst>
            </p:cNvPr>
            <p:cNvSpPr/>
            <p:nvPr/>
          </p:nvSpPr>
          <p:spPr>
            <a:xfrm>
              <a:off x="329183" y="3118104"/>
              <a:ext cx="1463040" cy="448309"/>
            </a:xfrm>
            <a:custGeom>
              <a:avLst/>
              <a:gdLst/>
              <a:ahLst/>
              <a:cxnLst/>
              <a:rect l="l" t="t" r="r" b="b"/>
              <a:pathLst>
                <a:path w="1463039" h="448310">
                  <a:moveTo>
                    <a:pt x="1388364" y="0"/>
                  </a:moveTo>
                  <a:lnTo>
                    <a:pt x="74675" y="0"/>
                  </a:lnTo>
                  <a:lnTo>
                    <a:pt x="45611" y="5863"/>
                  </a:lnTo>
                  <a:lnTo>
                    <a:pt x="21874" y="21859"/>
                  </a:lnTo>
                  <a:lnTo>
                    <a:pt x="5869" y="45594"/>
                  </a:lnTo>
                  <a:lnTo>
                    <a:pt x="0" y="74675"/>
                  </a:lnTo>
                  <a:lnTo>
                    <a:pt x="0" y="373380"/>
                  </a:lnTo>
                  <a:lnTo>
                    <a:pt x="5869" y="402461"/>
                  </a:lnTo>
                  <a:lnTo>
                    <a:pt x="21874" y="426196"/>
                  </a:lnTo>
                  <a:lnTo>
                    <a:pt x="45611" y="442192"/>
                  </a:lnTo>
                  <a:lnTo>
                    <a:pt x="74675" y="448056"/>
                  </a:lnTo>
                  <a:lnTo>
                    <a:pt x="1388364" y="448056"/>
                  </a:lnTo>
                  <a:lnTo>
                    <a:pt x="1417445" y="442192"/>
                  </a:lnTo>
                  <a:lnTo>
                    <a:pt x="1441180" y="426196"/>
                  </a:lnTo>
                  <a:lnTo>
                    <a:pt x="1457176" y="402461"/>
                  </a:lnTo>
                  <a:lnTo>
                    <a:pt x="1463040" y="373380"/>
                  </a:lnTo>
                  <a:lnTo>
                    <a:pt x="1463040" y="74675"/>
                  </a:lnTo>
                  <a:lnTo>
                    <a:pt x="1457176" y="45594"/>
                  </a:lnTo>
                  <a:lnTo>
                    <a:pt x="1441180" y="21859"/>
                  </a:lnTo>
                  <a:lnTo>
                    <a:pt x="1417445" y="5863"/>
                  </a:lnTo>
                  <a:lnTo>
                    <a:pt x="1388364" y="0"/>
                  </a:lnTo>
                  <a:close/>
                </a:path>
              </a:pathLst>
            </a:custGeom>
            <a:solidFill>
              <a:srgbClr val="202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9">
              <a:extLst>
                <a:ext uri="{FF2B5EF4-FFF2-40B4-BE49-F238E27FC236}">
                  <a16:creationId xmlns:a16="http://schemas.microsoft.com/office/drawing/2014/main" id="{DC01E675-E936-67BD-DA56-DD651EE83244}"/>
                </a:ext>
              </a:extLst>
            </p:cNvPr>
            <p:cNvSpPr/>
            <p:nvPr/>
          </p:nvSpPr>
          <p:spPr>
            <a:xfrm>
              <a:off x="329183" y="3118104"/>
              <a:ext cx="1463040" cy="448309"/>
            </a:xfrm>
            <a:custGeom>
              <a:avLst/>
              <a:gdLst/>
              <a:ahLst/>
              <a:cxnLst/>
              <a:rect l="l" t="t" r="r" b="b"/>
              <a:pathLst>
                <a:path w="1463039" h="448310">
                  <a:moveTo>
                    <a:pt x="0" y="74675"/>
                  </a:moveTo>
                  <a:lnTo>
                    <a:pt x="5869" y="45594"/>
                  </a:lnTo>
                  <a:lnTo>
                    <a:pt x="21874" y="21859"/>
                  </a:lnTo>
                  <a:lnTo>
                    <a:pt x="45611" y="5863"/>
                  </a:lnTo>
                  <a:lnTo>
                    <a:pt x="74675" y="0"/>
                  </a:lnTo>
                  <a:lnTo>
                    <a:pt x="1388364" y="0"/>
                  </a:lnTo>
                  <a:lnTo>
                    <a:pt x="1417445" y="5863"/>
                  </a:lnTo>
                  <a:lnTo>
                    <a:pt x="1441180" y="21859"/>
                  </a:lnTo>
                  <a:lnTo>
                    <a:pt x="1457176" y="45594"/>
                  </a:lnTo>
                  <a:lnTo>
                    <a:pt x="1463040" y="74675"/>
                  </a:lnTo>
                  <a:lnTo>
                    <a:pt x="1463040" y="373380"/>
                  </a:lnTo>
                  <a:lnTo>
                    <a:pt x="1457176" y="402461"/>
                  </a:lnTo>
                  <a:lnTo>
                    <a:pt x="1441180" y="426196"/>
                  </a:lnTo>
                  <a:lnTo>
                    <a:pt x="1417445" y="442192"/>
                  </a:lnTo>
                  <a:lnTo>
                    <a:pt x="1388364" y="448056"/>
                  </a:lnTo>
                  <a:lnTo>
                    <a:pt x="74675" y="448056"/>
                  </a:lnTo>
                  <a:lnTo>
                    <a:pt x="45611" y="442192"/>
                  </a:lnTo>
                  <a:lnTo>
                    <a:pt x="21874" y="426196"/>
                  </a:lnTo>
                  <a:lnTo>
                    <a:pt x="5869" y="402461"/>
                  </a:lnTo>
                  <a:lnTo>
                    <a:pt x="0" y="373380"/>
                  </a:lnTo>
                  <a:lnTo>
                    <a:pt x="0" y="74675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0">
            <a:extLst>
              <a:ext uri="{FF2B5EF4-FFF2-40B4-BE49-F238E27FC236}">
                <a16:creationId xmlns:a16="http://schemas.microsoft.com/office/drawing/2014/main" id="{57F3A4A5-99C0-B0C9-98FB-5CD7A8E8FC93}"/>
              </a:ext>
            </a:extLst>
          </p:cNvPr>
          <p:cNvSpPr txBox="1"/>
          <p:nvPr/>
        </p:nvSpPr>
        <p:spPr>
          <a:xfrm>
            <a:off x="1771504" y="2130871"/>
            <a:ext cx="1103630" cy="165608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42570" marR="5080" indent="-230504" algn="just">
              <a:lnSpc>
                <a:spcPct val="101200"/>
              </a:lnSpc>
              <a:spcBef>
                <a:spcPts val="350"/>
              </a:spcBef>
            </a:pPr>
            <a:r>
              <a:rPr sz="3200" b="1" spc="-20" dirty="0">
                <a:solidFill>
                  <a:srgbClr val="FFFFFF"/>
                </a:solidFill>
                <a:latin typeface="Carlito"/>
                <a:cs typeface="Carlito"/>
              </a:rPr>
              <a:t>Core</a:t>
            </a:r>
            <a:r>
              <a:rPr sz="3200" b="1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rlito"/>
                <a:cs typeface="Carlito"/>
              </a:rPr>
              <a:t>0  </a:t>
            </a:r>
            <a:r>
              <a:rPr sz="3600" b="1" spc="-10" dirty="0">
                <a:solidFill>
                  <a:srgbClr val="FFFFFF"/>
                </a:solidFill>
                <a:latin typeface="Carlito"/>
                <a:cs typeface="Carlito"/>
              </a:rPr>
              <a:t>L1 </a:t>
            </a:r>
            <a:r>
              <a:rPr sz="3600" b="1" dirty="0">
                <a:solidFill>
                  <a:srgbClr val="FFFFFF"/>
                </a:solidFill>
                <a:latin typeface="Carlito"/>
                <a:cs typeface="Carlito"/>
              </a:rPr>
              <a:t>$  L2</a:t>
            </a:r>
            <a:r>
              <a:rPr sz="3600" b="1" spc="-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arlito"/>
                <a:cs typeface="Carlito"/>
              </a:rPr>
              <a:t>$</a:t>
            </a:r>
            <a:endParaRPr sz="3600">
              <a:latin typeface="Carlito"/>
              <a:cs typeface="Carlito"/>
            </a:endParaRPr>
          </a:p>
        </p:txBody>
      </p:sp>
      <p:grpSp>
        <p:nvGrpSpPr>
          <p:cNvPr id="42" name="object 41">
            <a:extLst>
              <a:ext uri="{FF2B5EF4-FFF2-40B4-BE49-F238E27FC236}">
                <a16:creationId xmlns:a16="http://schemas.microsoft.com/office/drawing/2014/main" id="{335F26DC-59D9-74E5-0AB0-DEBFFD85F3DD}"/>
              </a:ext>
            </a:extLst>
          </p:cNvPr>
          <p:cNvGrpSpPr/>
          <p:nvPr/>
        </p:nvGrpSpPr>
        <p:grpSpPr>
          <a:xfrm>
            <a:off x="2915431" y="1982194"/>
            <a:ext cx="7480300" cy="1195070"/>
            <a:chOff x="1581721" y="1795272"/>
            <a:chExt cx="7480300" cy="1195070"/>
          </a:xfrm>
        </p:grpSpPr>
        <p:sp>
          <p:nvSpPr>
            <p:cNvPr id="43" name="object 42">
              <a:extLst>
                <a:ext uri="{FF2B5EF4-FFF2-40B4-BE49-F238E27FC236}">
                  <a16:creationId xmlns:a16="http://schemas.microsoft.com/office/drawing/2014/main" id="{6EC9C942-21F7-B203-C45F-D01DE1A9B59B}"/>
                </a:ext>
              </a:extLst>
            </p:cNvPr>
            <p:cNvSpPr/>
            <p:nvPr/>
          </p:nvSpPr>
          <p:spPr>
            <a:xfrm>
              <a:off x="1697735" y="2084831"/>
              <a:ext cx="323215" cy="277495"/>
            </a:xfrm>
            <a:custGeom>
              <a:avLst/>
              <a:gdLst/>
              <a:ahLst/>
              <a:cxnLst/>
              <a:rect l="l" t="t" r="r" b="b"/>
              <a:pathLst>
                <a:path w="323214" h="277494">
                  <a:moveTo>
                    <a:pt x="276859" y="0"/>
                  </a:moveTo>
                  <a:lnTo>
                    <a:pt x="46227" y="0"/>
                  </a:lnTo>
                  <a:lnTo>
                    <a:pt x="28235" y="3633"/>
                  </a:lnTo>
                  <a:lnTo>
                    <a:pt x="13541" y="13541"/>
                  </a:lnTo>
                  <a:lnTo>
                    <a:pt x="3633" y="28235"/>
                  </a:lnTo>
                  <a:lnTo>
                    <a:pt x="0" y="46227"/>
                  </a:lnTo>
                  <a:lnTo>
                    <a:pt x="0" y="231139"/>
                  </a:lnTo>
                  <a:lnTo>
                    <a:pt x="3633" y="249132"/>
                  </a:lnTo>
                  <a:lnTo>
                    <a:pt x="13541" y="263826"/>
                  </a:lnTo>
                  <a:lnTo>
                    <a:pt x="28235" y="273734"/>
                  </a:lnTo>
                  <a:lnTo>
                    <a:pt x="46227" y="277367"/>
                  </a:lnTo>
                  <a:lnTo>
                    <a:pt x="276859" y="277367"/>
                  </a:lnTo>
                  <a:lnTo>
                    <a:pt x="294852" y="273734"/>
                  </a:lnTo>
                  <a:lnTo>
                    <a:pt x="309546" y="263826"/>
                  </a:lnTo>
                  <a:lnTo>
                    <a:pt x="319454" y="249132"/>
                  </a:lnTo>
                  <a:lnTo>
                    <a:pt x="323088" y="231139"/>
                  </a:lnTo>
                  <a:lnTo>
                    <a:pt x="323088" y="46227"/>
                  </a:lnTo>
                  <a:lnTo>
                    <a:pt x="319454" y="28235"/>
                  </a:lnTo>
                  <a:lnTo>
                    <a:pt x="309546" y="13541"/>
                  </a:lnTo>
                  <a:lnTo>
                    <a:pt x="294852" y="3633"/>
                  </a:lnTo>
                  <a:lnTo>
                    <a:pt x="27685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3">
              <a:extLst>
                <a:ext uri="{FF2B5EF4-FFF2-40B4-BE49-F238E27FC236}">
                  <a16:creationId xmlns:a16="http://schemas.microsoft.com/office/drawing/2014/main" id="{7D4658CB-4F56-FCEC-DB53-C1AD931CE7A6}"/>
                </a:ext>
              </a:extLst>
            </p:cNvPr>
            <p:cNvSpPr/>
            <p:nvPr/>
          </p:nvSpPr>
          <p:spPr>
            <a:xfrm>
              <a:off x="1697735" y="2084831"/>
              <a:ext cx="323215" cy="277495"/>
            </a:xfrm>
            <a:custGeom>
              <a:avLst/>
              <a:gdLst/>
              <a:ahLst/>
              <a:cxnLst/>
              <a:rect l="l" t="t" r="r" b="b"/>
              <a:pathLst>
                <a:path w="323214" h="277494">
                  <a:moveTo>
                    <a:pt x="0" y="46227"/>
                  </a:moveTo>
                  <a:lnTo>
                    <a:pt x="3633" y="28235"/>
                  </a:lnTo>
                  <a:lnTo>
                    <a:pt x="13541" y="13541"/>
                  </a:lnTo>
                  <a:lnTo>
                    <a:pt x="28235" y="3633"/>
                  </a:lnTo>
                  <a:lnTo>
                    <a:pt x="46227" y="0"/>
                  </a:lnTo>
                  <a:lnTo>
                    <a:pt x="276859" y="0"/>
                  </a:lnTo>
                  <a:lnTo>
                    <a:pt x="294852" y="3633"/>
                  </a:lnTo>
                  <a:lnTo>
                    <a:pt x="309546" y="13541"/>
                  </a:lnTo>
                  <a:lnTo>
                    <a:pt x="319454" y="28235"/>
                  </a:lnTo>
                  <a:lnTo>
                    <a:pt x="323088" y="46227"/>
                  </a:lnTo>
                  <a:lnTo>
                    <a:pt x="323088" y="231139"/>
                  </a:lnTo>
                  <a:lnTo>
                    <a:pt x="319454" y="249132"/>
                  </a:lnTo>
                  <a:lnTo>
                    <a:pt x="309546" y="263826"/>
                  </a:lnTo>
                  <a:lnTo>
                    <a:pt x="294852" y="273734"/>
                  </a:lnTo>
                  <a:lnTo>
                    <a:pt x="276859" y="277367"/>
                  </a:lnTo>
                  <a:lnTo>
                    <a:pt x="46227" y="277367"/>
                  </a:lnTo>
                  <a:lnTo>
                    <a:pt x="28235" y="273734"/>
                  </a:lnTo>
                  <a:lnTo>
                    <a:pt x="13541" y="263826"/>
                  </a:lnTo>
                  <a:lnTo>
                    <a:pt x="3633" y="249132"/>
                  </a:lnTo>
                  <a:lnTo>
                    <a:pt x="0" y="231139"/>
                  </a:lnTo>
                  <a:lnTo>
                    <a:pt x="0" y="46227"/>
                  </a:lnTo>
                  <a:close/>
                </a:path>
              </a:pathLst>
            </a:custGeom>
            <a:ln w="2438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4">
              <a:extLst>
                <a:ext uri="{FF2B5EF4-FFF2-40B4-BE49-F238E27FC236}">
                  <a16:creationId xmlns:a16="http://schemas.microsoft.com/office/drawing/2014/main" id="{401B622C-B7D1-70D6-9D82-D7610CD166DC}"/>
                </a:ext>
              </a:extLst>
            </p:cNvPr>
            <p:cNvSpPr/>
            <p:nvPr/>
          </p:nvSpPr>
          <p:spPr>
            <a:xfrm>
              <a:off x="1642871" y="2444495"/>
              <a:ext cx="515620" cy="253365"/>
            </a:xfrm>
            <a:custGeom>
              <a:avLst/>
              <a:gdLst/>
              <a:ahLst/>
              <a:cxnLst/>
              <a:rect l="l" t="t" r="r" b="b"/>
              <a:pathLst>
                <a:path w="515619" h="253364">
                  <a:moveTo>
                    <a:pt x="472947" y="0"/>
                  </a:moveTo>
                  <a:lnTo>
                    <a:pt x="42163" y="0"/>
                  </a:lnTo>
                  <a:lnTo>
                    <a:pt x="25771" y="3319"/>
                  </a:lnTo>
                  <a:lnTo>
                    <a:pt x="12366" y="12366"/>
                  </a:lnTo>
                  <a:lnTo>
                    <a:pt x="3319" y="25771"/>
                  </a:lnTo>
                  <a:lnTo>
                    <a:pt x="0" y="42163"/>
                  </a:lnTo>
                  <a:lnTo>
                    <a:pt x="0" y="210819"/>
                  </a:lnTo>
                  <a:lnTo>
                    <a:pt x="3319" y="227212"/>
                  </a:lnTo>
                  <a:lnTo>
                    <a:pt x="12366" y="240617"/>
                  </a:lnTo>
                  <a:lnTo>
                    <a:pt x="25771" y="249664"/>
                  </a:lnTo>
                  <a:lnTo>
                    <a:pt x="42163" y="252983"/>
                  </a:lnTo>
                  <a:lnTo>
                    <a:pt x="472947" y="252983"/>
                  </a:lnTo>
                  <a:lnTo>
                    <a:pt x="489340" y="249664"/>
                  </a:lnTo>
                  <a:lnTo>
                    <a:pt x="502745" y="240617"/>
                  </a:lnTo>
                  <a:lnTo>
                    <a:pt x="511792" y="227212"/>
                  </a:lnTo>
                  <a:lnTo>
                    <a:pt x="515111" y="210819"/>
                  </a:lnTo>
                  <a:lnTo>
                    <a:pt x="515111" y="42163"/>
                  </a:lnTo>
                  <a:lnTo>
                    <a:pt x="511792" y="25771"/>
                  </a:lnTo>
                  <a:lnTo>
                    <a:pt x="502745" y="12366"/>
                  </a:lnTo>
                  <a:lnTo>
                    <a:pt x="489340" y="3319"/>
                  </a:lnTo>
                  <a:lnTo>
                    <a:pt x="47294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5">
              <a:extLst>
                <a:ext uri="{FF2B5EF4-FFF2-40B4-BE49-F238E27FC236}">
                  <a16:creationId xmlns:a16="http://schemas.microsoft.com/office/drawing/2014/main" id="{64BED7CA-105D-022B-FCF2-83B8AD751D19}"/>
                </a:ext>
              </a:extLst>
            </p:cNvPr>
            <p:cNvSpPr/>
            <p:nvPr/>
          </p:nvSpPr>
          <p:spPr>
            <a:xfrm>
              <a:off x="1642871" y="2444495"/>
              <a:ext cx="515620" cy="253365"/>
            </a:xfrm>
            <a:custGeom>
              <a:avLst/>
              <a:gdLst/>
              <a:ahLst/>
              <a:cxnLst/>
              <a:rect l="l" t="t" r="r" b="b"/>
              <a:pathLst>
                <a:path w="515619" h="253364">
                  <a:moveTo>
                    <a:pt x="0" y="42163"/>
                  </a:moveTo>
                  <a:lnTo>
                    <a:pt x="3319" y="25771"/>
                  </a:lnTo>
                  <a:lnTo>
                    <a:pt x="12366" y="12366"/>
                  </a:lnTo>
                  <a:lnTo>
                    <a:pt x="25771" y="3319"/>
                  </a:lnTo>
                  <a:lnTo>
                    <a:pt x="42163" y="0"/>
                  </a:lnTo>
                  <a:lnTo>
                    <a:pt x="472947" y="0"/>
                  </a:lnTo>
                  <a:lnTo>
                    <a:pt x="489340" y="3319"/>
                  </a:lnTo>
                  <a:lnTo>
                    <a:pt x="502745" y="12366"/>
                  </a:lnTo>
                  <a:lnTo>
                    <a:pt x="511792" y="25771"/>
                  </a:lnTo>
                  <a:lnTo>
                    <a:pt x="515111" y="42163"/>
                  </a:lnTo>
                  <a:lnTo>
                    <a:pt x="515111" y="210819"/>
                  </a:lnTo>
                  <a:lnTo>
                    <a:pt x="511792" y="227212"/>
                  </a:lnTo>
                  <a:lnTo>
                    <a:pt x="502745" y="240617"/>
                  </a:lnTo>
                  <a:lnTo>
                    <a:pt x="489340" y="249664"/>
                  </a:lnTo>
                  <a:lnTo>
                    <a:pt x="472947" y="252983"/>
                  </a:lnTo>
                  <a:lnTo>
                    <a:pt x="42163" y="252983"/>
                  </a:lnTo>
                  <a:lnTo>
                    <a:pt x="25771" y="249664"/>
                  </a:lnTo>
                  <a:lnTo>
                    <a:pt x="12366" y="240617"/>
                  </a:lnTo>
                  <a:lnTo>
                    <a:pt x="3319" y="227212"/>
                  </a:lnTo>
                  <a:lnTo>
                    <a:pt x="0" y="210819"/>
                  </a:lnTo>
                  <a:lnTo>
                    <a:pt x="0" y="42163"/>
                  </a:lnTo>
                  <a:close/>
                </a:path>
              </a:pathLst>
            </a:custGeom>
            <a:ln w="2438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6">
              <a:extLst>
                <a:ext uri="{FF2B5EF4-FFF2-40B4-BE49-F238E27FC236}">
                  <a16:creationId xmlns:a16="http://schemas.microsoft.com/office/drawing/2014/main" id="{C3A7BDB0-5416-DC8A-AF62-E0C130512849}"/>
                </a:ext>
              </a:extLst>
            </p:cNvPr>
            <p:cNvSpPr/>
            <p:nvPr/>
          </p:nvSpPr>
          <p:spPr>
            <a:xfrm>
              <a:off x="1594103" y="2740152"/>
              <a:ext cx="603885" cy="125095"/>
            </a:xfrm>
            <a:custGeom>
              <a:avLst/>
              <a:gdLst/>
              <a:ahLst/>
              <a:cxnLst/>
              <a:rect l="l" t="t" r="r" b="b"/>
              <a:pathLst>
                <a:path w="603885" h="125094">
                  <a:moveTo>
                    <a:pt x="582676" y="0"/>
                  </a:moveTo>
                  <a:lnTo>
                    <a:pt x="20828" y="0"/>
                  </a:lnTo>
                  <a:lnTo>
                    <a:pt x="12698" y="1629"/>
                  </a:lnTo>
                  <a:lnTo>
                    <a:pt x="6080" y="6080"/>
                  </a:lnTo>
                  <a:lnTo>
                    <a:pt x="1629" y="12698"/>
                  </a:lnTo>
                  <a:lnTo>
                    <a:pt x="0" y="20827"/>
                  </a:lnTo>
                  <a:lnTo>
                    <a:pt x="0" y="104139"/>
                  </a:lnTo>
                  <a:lnTo>
                    <a:pt x="1629" y="112269"/>
                  </a:lnTo>
                  <a:lnTo>
                    <a:pt x="6080" y="118887"/>
                  </a:lnTo>
                  <a:lnTo>
                    <a:pt x="12698" y="123338"/>
                  </a:lnTo>
                  <a:lnTo>
                    <a:pt x="20828" y="124968"/>
                  </a:lnTo>
                  <a:lnTo>
                    <a:pt x="582676" y="124968"/>
                  </a:lnTo>
                  <a:lnTo>
                    <a:pt x="590805" y="123338"/>
                  </a:lnTo>
                  <a:lnTo>
                    <a:pt x="597423" y="118887"/>
                  </a:lnTo>
                  <a:lnTo>
                    <a:pt x="601874" y="112269"/>
                  </a:lnTo>
                  <a:lnTo>
                    <a:pt x="603504" y="104139"/>
                  </a:lnTo>
                  <a:lnTo>
                    <a:pt x="603504" y="20827"/>
                  </a:lnTo>
                  <a:lnTo>
                    <a:pt x="601874" y="12698"/>
                  </a:lnTo>
                  <a:lnTo>
                    <a:pt x="597423" y="6080"/>
                  </a:lnTo>
                  <a:lnTo>
                    <a:pt x="590805" y="1629"/>
                  </a:lnTo>
                  <a:lnTo>
                    <a:pt x="58267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7">
              <a:extLst>
                <a:ext uri="{FF2B5EF4-FFF2-40B4-BE49-F238E27FC236}">
                  <a16:creationId xmlns:a16="http://schemas.microsoft.com/office/drawing/2014/main" id="{F33A1559-ED05-A95B-4896-C493A057009D}"/>
                </a:ext>
              </a:extLst>
            </p:cNvPr>
            <p:cNvSpPr/>
            <p:nvPr/>
          </p:nvSpPr>
          <p:spPr>
            <a:xfrm>
              <a:off x="1594103" y="2740152"/>
              <a:ext cx="603885" cy="125095"/>
            </a:xfrm>
            <a:custGeom>
              <a:avLst/>
              <a:gdLst/>
              <a:ahLst/>
              <a:cxnLst/>
              <a:rect l="l" t="t" r="r" b="b"/>
              <a:pathLst>
                <a:path w="603885" h="125094">
                  <a:moveTo>
                    <a:pt x="0" y="20827"/>
                  </a:moveTo>
                  <a:lnTo>
                    <a:pt x="1629" y="12698"/>
                  </a:lnTo>
                  <a:lnTo>
                    <a:pt x="6080" y="6080"/>
                  </a:lnTo>
                  <a:lnTo>
                    <a:pt x="12698" y="1629"/>
                  </a:lnTo>
                  <a:lnTo>
                    <a:pt x="20828" y="0"/>
                  </a:lnTo>
                  <a:lnTo>
                    <a:pt x="582676" y="0"/>
                  </a:lnTo>
                  <a:lnTo>
                    <a:pt x="590805" y="1629"/>
                  </a:lnTo>
                  <a:lnTo>
                    <a:pt x="597423" y="6080"/>
                  </a:lnTo>
                  <a:lnTo>
                    <a:pt x="601874" y="12698"/>
                  </a:lnTo>
                  <a:lnTo>
                    <a:pt x="603504" y="20827"/>
                  </a:lnTo>
                  <a:lnTo>
                    <a:pt x="603504" y="104139"/>
                  </a:lnTo>
                  <a:lnTo>
                    <a:pt x="601874" y="112269"/>
                  </a:lnTo>
                  <a:lnTo>
                    <a:pt x="597423" y="118887"/>
                  </a:lnTo>
                  <a:lnTo>
                    <a:pt x="590805" y="123338"/>
                  </a:lnTo>
                  <a:lnTo>
                    <a:pt x="582676" y="124968"/>
                  </a:lnTo>
                  <a:lnTo>
                    <a:pt x="20828" y="124968"/>
                  </a:lnTo>
                  <a:lnTo>
                    <a:pt x="12698" y="123338"/>
                  </a:lnTo>
                  <a:lnTo>
                    <a:pt x="6080" y="118887"/>
                  </a:lnTo>
                  <a:lnTo>
                    <a:pt x="1629" y="112269"/>
                  </a:lnTo>
                  <a:lnTo>
                    <a:pt x="0" y="104139"/>
                  </a:lnTo>
                  <a:lnTo>
                    <a:pt x="0" y="20827"/>
                  </a:lnTo>
                  <a:close/>
                </a:path>
              </a:pathLst>
            </a:custGeom>
            <a:ln w="2438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8">
              <a:extLst>
                <a:ext uri="{FF2B5EF4-FFF2-40B4-BE49-F238E27FC236}">
                  <a16:creationId xmlns:a16="http://schemas.microsoft.com/office/drawing/2014/main" id="{0ED2E3BC-7E40-2734-4FB1-0C6F007BEB6F}"/>
                </a:ext>
              </a:extLst>
            </p:cNvPr>
            <p:cNvSpPr/>
            <p:nvPr/>
          </p:nvSpPr>
          <p:spPr>
            <a:xfrm>
              <a:off x="4035551" y="2115312"/>
              <a:ext cx="326390" cy="274320"/>
            </a:xfrm>
            <a:custGeom>
              <a:avLst/>
              <a:gdLst/>
              <a:ahLst/>
              <a:cxnLst/>
              <a:rect l="l" t="t" r="r" b="b"/>
              <a:pathLst>
                <a:path w="326389" h="274319">
                  <a:moveTo>
                    <a:pt x="280415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228600"/>
                  </a:lnTo>
                  <a:lnTo>
                    <a:pt x="3589" y="246405"/>
                  </a:lnTo>
                  <a:lnTo>
                    <a:pt x="13382" y="260937"/>
                  </a:lnTo>
                  <a:lnTo>
                    <a:pt x="27914" y="270730"/>
                  </a:lnTo>
                  <a:lnTo>
                    <a:pt x="45720" y="274320"/>
                  </a:lnTo>
                  <a:lnTo>
                    <a:pt x="280415" y="274320"/>
                  </a:lnTo>
                  <a:lnTo>
                    <a:pt x="298221" y="270730"/>
                  </a:lnTo>
                  <a:lnTo>
                    <a:pt x="312753" y="260937"/>
                  </a:lnTo>
                  <a:lnTo>
                    <a:pt x="322546" y="246405"/>
                  </a:lnTo>
                  <a:lnTo>
                    <a:pt x="326136" y="228600"/>
                  </a:lnTo>
                  <a:lnTo>
                    <a:pt x="326136" y="45720"/>
                  </a:lnTo>
                  <a:lnTo>
                    <a:pt x="322546" y="27914"/>
                  </a:lnTo>
                  <a:lnTo>
                    <a:pt x="312753" y="13382"/>
                  </a:lnTo>
                  <a:lnTo>
                    <a:pt x="298221" y="3589"/>
                  </a:lnTo>
                  <a:lnTo>
                    <a:pt x="28041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49">
              <a:extLst>
                <a:ext uri="{FF2B5EF4-FFF2-40B4-BE49-F238E27FC236}">
                  <a16:creationId xmlns:a16="http://schemas.microsoft.com/office/drawing/2014/main" id="{A1EA26C5-7BFB-FD19-C17E-D555572540A2}"/>
                </a:ext>
              </a:extLst>
            </p:cNvPr>
            <p:cNvSpPr/>
            <p:nvPr/>
          </p:nvSpPr>
          <p:spPr>
            <a:xfrm>
              <a:off x="4035551" y="2115312"/>
              <a:ext cx="326390" cy="274320"/>
            </a:xfrm>
            <a:custGeom>
              <a:avLst/>
              <a:gdLst/>
              <a:ahLst/>
              <a:cxnLst/>
              <a:rect l="l" t="t" r="r" b="b"/>
              <a:pathLst>
                <a:path w="326389" h="274319">
                  <a:moveTo>
                    <a:pt x="0" y="45720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20" y="0"/>
                  </a:lnTo>
                  <a:lnTo>
                    <a:pt x="280415" y="0"/>
                  </a:lnTo>
                  <a:lnTo>
                    <a:pt x="298221" y="3589"/>
                  </a:lnTo>
                  <a:lnTo>
                    <a:pt x="312753" y="13382"/>
                  </a:lnTo>
                  <a:lnTo>
                    <a:pt x="322546" y="27914"/>
                  </a:lnTo>
                  <a:lnTo>
                    <a:pt x="326136" y="45720"/>
                  </a:lnTo>
                  <a:lnTo>
                    <a:pt x="326136" y="228600"/>
                  </a:lnTo>
                  <a:lnTo>
                    <a:pt x="322546" y="246405"/>
                  </a:lnTo>
                  <a:lnTo>
                    <a:pt x="312753" y="260937"/>
                  </a:lnTo>
                  <a:lnTo>
                    <a:pt x="298221" y="270730"/>
                  </a:lnTo>
                  <a:lnTo>
                    <a:pt x="280415" y="274320"/>
                  </a:lnTo>
                  <a:lnTo>
                    <a:pt x="45720" y="274320"/>
                  </a:lnTo>
                  <a:lnTo>
                    <a:pt x="27914" y="270730"/>
                  </a:lnTo>
                  <a:lnTo>
                    <a:pt x="13382" y="260937"/>
                  </a:lnTo>
                  <a:lnTo>
                    <a:pt x="3589" y="246405"/>
                  </a:lnTo>
                  <a:lnTo>
                    <a:pt x="0" y="228600"/>
                  </a:lnTo>
                  <a:lnTo>
                    <a:pt x="0" y="45720"/>
                  </a:lnTo>
                  <a:close/>
                </a:path>
              </a:pathLst>
            </a:custGeom>
            <a:ln w="2438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0">
              <a:extLst>
                <a:ext uri="{FF2B5EF4-FFF2-40B4-BE49-F238E27FC236}">
                  <a16:creationId xmlns:a16="http://schemas.microsoft.com/office/drawing/2014/main" id="{C873371D-5516-122A-60C7-81665207559B}"/>
                </a:ext>
              </a:extLst>
            </p:cNvPr>
            <p:cNvSpPr/>
            <p:nvPr/>
          </p:nvSpPr>
          <p:spPr>
            <a:xfrm>
              <a:off x="3998976" y="2468880"/>
              <a:ext cx="512445" cy="253365"/>
            </a:xfrm>
            <a:custGeom>
              <a:avLst/>
              <a:gdLst/>
              <a:ahLst/>
              <a:cxnLst/>
              <a:rect l="l" t="t" r="r" b="b"/>
              <a:pathLst>
                <a:path w="512445" h="253364">
                  <a:moveTo>
                    <a:pt x="469900" y="0"/>
                  </a:moveTo>
                  <a:lnTo>
                    <a:pt x="42163" y="0"/>
                  </a:lnTo>
                  <a:lnTo>
                    <a:pt x="25771" y="3319"/>
                  </a:lnTo>
                  <a:lnTo>
                    <a:pt x="12366" y="12366"/>
                  </a:lnTo>
                  <a:lnTo>
                    <a:pt x="3319" y="25771"/>
                  </a:lnTo>
                  <a:lnTo>
                    <a:pt x="0" y="42164"/>
                  </a:lnTo>
                  <a:lnTo>
                    <a:pt x="0" y="210820"/>
                  </a:lnTo>
                  <a:lnTo>
                    <a:pt x="3319" y="227212"/>
                  </a:lnTo>
                  <a:lnTo>
                    <a:pt x="12366" y="240617"/>
                  </a:lnTo>
                  <a:lnTo>
                    <a:pt x="25771" y="249664"/>
                  </a:lnTo>
                  <a:lnTo>
                    <a:pt x="42163" y="252984"/>
                  </a:lnTo>
                  <a:lnTo>
                    <a:pt x="469900" y="252984"/>
                  </a:lnTo>
                  <a:lnTo>
                    <a:pt x="486292" y="249664"/>
                  </a:lnTo>
                  <a:lnTo>
                    <a:pt x="499697" y="240617"/>
                  </a:lnTo>
                  <a:lnTo>
                    <a:pt x="508744" y="227212"/>
                  </a:lnTo>
                  <a:lnTo>
                    <a:pt x="512063" y="210820"/>
                  </a:lnTo>
                  <a:lnTo>
                    <a:pt x="512063" y="42164"/>
                  </a:lnTo>
                  <a:lnTo>
                    <a:pt x="508744" y="25771"/>
                  </a:lnTo>
                  <a:lnTo>
                    <a:pt x="499697" y="12366"/>
                  </a:lnTo>
                  <a:lnTo>
                    <a:pt x="486292" y="3319"/>
                  </a:lnTo>
                  <a:lnTo>
                    <a:pt x="4699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1">
              <a:extLst>
                <a:ext uri="{FF2B5EF4-FFF2-40B4-BE49-F238E27FC236}">
                  <a16:creationId xmlns:a16="http://schemas.microsoft.com/office/drawing/2014/main" id="{B0FB0AD4-7F44-D37D-F17D-9C5507979865}"/>
                </a:ext>
              </a:extLst>
            </p:cNvPr>
            <p:cNvSpPr/>
            <p:nvPr/>
          </p:nvSpPr>
          <p:spPr>
            <a:xfrm>
              <a:off x="3998976" y="2468880"/>
              <a:ext cx="512445" cy="253365"/>
            </a:xfrm>
            <a:custGeom>
              <a:avLst/>
              <a:gdLst/>
              <a:ahLst/>
              <a:cxnLst/>
              <a:rect l="l" t="t" r="r" b="b"/>
              <a:pathLst>
                <a:path w="512445" h="253364">
                  <a:moveTo>
                    <a:pt x="0" y="42164"/>
                  </a:moveTo>
                  <a:lnTo>
                    <a:pt x="3319" y="25771"/>
                  </a:lnTo>
                  <a:lnTo>
                    <a:pt x="12366" y="12366"/>
                  </a:lnTo>
                  <a:lnTo>
                    <a:pt x="25771" y="3319"/>
                  </a:lnTo>
                  <a:lnTo>
                    <a:pt x="42163" y="0"/>
                  </a:lnTo>
                  <a:lnTo>
                    <a:pt x="469900" y="0"/>
                  </a:lnTo>
                  <a:lnTo>
                    <a:pt x="486292" y="3319"/>
                  </a:lnTo>
                  <a:lnTo>
                    <a:pt x="499697" y="12366"/>
                  </a:lnTo>
                  <a:lnTo>
                    <a:pt x="508744" y="25771"/>
                  </a:lnTo>
                  <a:lnTo>
                    <a:pt x="512063" y="42164"/>
                  </a:lnTo>
                  <a:lnTo>
                    <a:pt x="512063" y="210820"/>
                  </a:lnTo>
                  <a:lnTo>
                    <a:pt x="508744" y="227212"/>
                  </a:lnTo>
                  <a:lnTo>
                    <a:pt x="499697" y="240617"/>
                  </a:lnTo>
                  <a:lnTo>
                    <a:pt x="486292" y="249664"/>
                  </a:lnTo>
                  <a:lnTo>
                    <a:pt x="469900" y="252984"/>
                  </a:lnTo>
                  <a:lnTo>
                    <a:pt x="42163" y="252984"/>
                  </a:lnTo>
                  <a:lnTo>
                    <a:pt x="25771" y="249664"/>
                  </a:lnTo>
                  <a:lnTo>
                    <a:pt x="12366" y="240617"/>
                  </a:lnTo>
                  <a:lnTo>
                    <a:pt x="3319" y="227212"/>
                  </a:lnTo>
                  <a:lnTo>
                    <a:pt x="0" y="210820"/>
                  </a:lnTo>
                  <a:lnTo>
                    <a:pt x="0" y="42164"/>
                  </a:lnTo>
                  <a:close/>
                </a:path>
              </a:pathLst>
            </a:custGeom>
            <a:ln w="2438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2">
              <a:extLst>
                <a:ext uri="{FF2B5EF4-FFF2-40B4-BE49-F238E27FC236}">
                  <a16:creationId xmlns:a16="http://schemas.microsoft.com/office/drawing/2014/main" id="{B1E721A3-A7F7-3F04-DF12-30483FEDD1EE}"/>
                </a:ext>
              </a:extLst>
            </p:cNvPr>
            <p:cNvSpPr/>
            <p:nvPr/>
          </p:nvSpPr>
          <p:spPr>
            <a:xfrm>
              <a:off x="3950207" y="2773680"/>
              <a:ext cx="640080" cy="113030"/>
            </a:xfrm>
            <a:custGeom>
              <a:avLst/>
              <a:gdLst/>
              <a:ahLst/>
              <a:cxnLst/>
              <a:rect l="l" t="t" r="r" b="b"/>
              <a:pathLst>
                <a:path w="640079" h="113030">
                  <a:moveTo>
                    <a:pt x="621283" y="0"/>
                  </a:moveTo>
                  <a:lnTo>
                    <a:pt x="18795" y="0"/>
                  </a:lnTo>
                  <a:lnTo>
                    <a:pt x="11465" y="1472"/>
                  </a:lnTo>
                  <a:lnTo>
                    <a:pt x="5492" y="5492"/>
                  </a:lnTo>
                  <a:lnTo>
                    <a:pt x="1472" y="11465"/>
                  </a:lnTo>
                  <a:lnTo>
                    <a:pt x="0" y="18796"/>
                  </a:lnTo>
                  <a:lnTo>
                    <a:pt x="0" y="93980"/>
                  </a:lnTo>
                  <a:lnTo>
                    <a:pt x="1472" y="101310"/>
                  </a:lnTo>
                  <a:lnTo>
                    <a:pt x="5492" y="107283"/>
                  </a:lnTo>
                  <a:lnTo>
                    <a:pt x="11465" y="111303"/>
                  </a:lnTo>
                  <a:lnTo>
                    <a:pt x="18795" y="112775"/>
                  </a:lnTo>
                  <a:lnTo>
                    <a:pt x="621283" y="112775"/>
                  </a:lnTo>
                  <a:lnTo>
                    <a:pt x="628614" y="111303"/>
                  </a:lnTo>
                  <a:lnTo>
                    <a:pt x="634587" y="107283"/>
                  </a:lnTo>
                  <a:lnTo>
                    <a:pt x="638607" y="101310"/>
                  </a:lnTo>
                  <a:lnTo>
                    <a:pt x="640079" y="93980"/>
                  </a:lnTo>
                  <a:lnTo>
                    <a:pt x="640079" y="18796"/>
                  </a:lnTo>
                  <a:lnTo>
                    <a:pt x="638607" y="11465"/>
                  </a:lnTo>
                  <a:lnTo>
                    <a:pt x="634587" y="5492"/>
                  </a:lnTo>
                  <a:lnTo>
                    <a:pt x="628614" y="1472"/>
                  </a:lnTo>
                  <a:lnTo>
                    <a:pt x="62128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3">
              <a:extLst>
                <a:ext uri="{FF2B5EF4-FFF2-40B4-BE49-F238E27FC236}">
                  <a16:creationId xmlns:a16="http://schemas.microsoft.com/office/drawing/2014/main" id="{D0BDB05A-7581-21FE-4A85-D42FEBC9E351}"/>
                </a:ext>
              </a:extLst>
            </p:cNvPr>
            <p:cNvSpPr/>
            <p:nvPr/>
          </p:nvSpPr>
          <p:spPr>
            <a:xfrm>
              <a:off x="3950207" y="2773680"/>
              <a:ext cx="640080" cy="113030"/>
            </a:xfrm>
            <a:custGeom>
              <a:avLst/>
              <a:gdLst/>
              <a:ahLst/>
              <a:cxnLst/>
              <a:rect l="l" t="t" r="r" b="b"/>
              <a:pathLst>
                <a:path w="640079" h="113030">
                  <a:moveTo>
                    <a:pt x="0" y="18796"/>
                  </a:moveTo>
                  <a:lnTo>
                    <a:pt x="1472" y="11465"/>
                  </a:lnTo>
                  <a:lnTo>
                    <a:pt x="5492" y="5492"/>
                  </a:lnTo>
                  <a:lnTo>
                    <a:pt x="11465" y="1472"/>
                  </a:lnTo>
                  <a:lnTo>
                    <a:pt x="18795" y="0"/>
                  </a:lnTo>
                  <a:lnTo>
                    <a:pt x="621283" y="0"/>
                  </a:lnTo>
                  <a:lnTo>
                    <a:pt x="628614" y="1472"/>
                  </a:lnTo>
                  <a:lnTo>
                    <a:pt x="634587" y="5492"/>
                  </a:lnTo>
                  <a:lnTo>
                    <a:pt x="638607" y="11465"/>
                  </a:lnTo>
                  <a:lnTo>
                    <a:pt x="640079" y="18796"/>
                  </a:lnTo>
                  <a:lnTo>
                    <a:pt x="640079" y="93980"/>
                  </a:lnTo>
                  <a:lnTo>
                    <a:pt x="638607" y="101310"/>
                  </a:lnTo>
                  <a:lnTo>
                    <a:pt x="634587" y="107283"/>
                  </a:lnTo>
                  <a:lnTo>
                    <a:pt x="628614" y="111303"/>
                  </a:lnTo>
                  <a:lnTo>
                    <a:pt x="621283" y="112775"/>
                  </a:lnTo>
                  <a:lnTo>
                    <a:pt x="18795" y="112775"/>
                  </a:lnTo>
                  <a:lnTo>
                    <a:pt x="11465" y="111303"/>
                  </a:lnTo>
                  <a:lnTo>
                    <a:pt x="5492" y="107283"/>
                  </a:lnTo>
                  <a:lnTo>
                    <a:pt x="1472" y="101310"/>
                  </a:lnTo>
                  <a:lnTo>
                    <a:pt x="0" y="93980"/>
                  </a:lnTo>
                  <a:lnTo>
                    <a:pt x="0" y="18796"/>
                  </a:lnTo>
                  <a:close/>
                </a:path>
              </a:pathLst>
            </a:custGeom>
            <a:ln w="2438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4">
              <a:extLst>
                <a:ext uri="{FF2B5EF4-FFF2-40B4-BE49-F238E27FC236}">
                  <a16:creationId xmlns:a16="http://schemas.microsoft.com/office/drawing/2014/main" id="{2C6B6A66-073A-E10C-9BF2-1C432DA80138}"/>
                </a:ext>
              </a:extLst>
            </p:cNvPr>
            <p:cNvSpPr/>
            <p:nvPr/>
          </p:nvSpPr>
          <p:spPr>
            <a:xfrm>
              <a:off x="6263639" y="2154936"/>
              <a:ext cx="326390" cy="274320"/>
            </a:xfrm>
            <a:custGeom>
              <a:avLst/>
              <a:gdLst/>
              <a:ahLst/>
              <a:cxnLst/>
              <a:rect l="l" t="t" r="r" b="b"/>
              <a:pathLst>
                <a:path w="326390" h="274319">
                  <a:moveTo>
                    <a:pt x="280415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19"/>
                  </a:lnTo>
                  <a:lnTo>
                    <a:pt x="0" y="228600"/>
                  </a:lnTo>
                  <a:lnTo>
                    <a:pt x="3589" y="246405"/>
                  </a:lnTo>
                  <a:lnTo>
                    <a:pt x="13382" y="260937"/>
                  </a:lnTo>
                  <a:lnTo>
                    <a:pt x="27914" y="270730"/>
                  </a:lnTo>
                  <a:lnTo>
                    <a:pt x="45720" y="274319"/>
                  </a:lnTo>
                  <a:lnTo>
                    <a:pt x="280415" y="274319"/>
                  </a:lnTo>
                  <a:lnTo>
                    <a:pt x="298221" y="270730"/>
                  </a:lnTo>
                  <a:lnTo>
                    <a:pt x="312753" y="260937"/>
                  </a:lnTo>
                  <a:lnTo>
                    <a:pt x="322546" y="246405"/>
                  </a:lnTo>
                  <a:lnTo>
                    <a:pt x="326136" y="228600"/>
                  </a:lnTo>
                  <a:lnTo>
                    <a:pt x="326136" y="45719"/>
                  </a:lnTo>
                  <a:lnTo>
                    <a:pt x="322546" y="27914"/>
                  </a:lnTo>
                  <a:lnTo>
                    <a:pt x="312753" y="13382"/>
                  </a:lnTo>
                  <a:lnTo>
                    <a:pt x="298221" y="3589"/>
                  </a:lnTo>
                  <a:lnTo>
                    <a:pt x="28041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5">
              <a:extLst>
                <a:ext uri="{FF2B5EF4-FFF2-40B4-BE49-F238E27FC236}">
                  <a16:creationId xmlns:a16="http://schemas.microsoft.com/office/drawing/2014/main" id="{2B13474B-80EE-F6DC-5D31-961AF521660C}"/>
                </a:ext>
              </a:extLst>
            </p:cNvPr>
            <p:cNvSpPr/>
            <p:nvPr/>
          </p:nvSpPr>
          <p:spPr>
            <a:xfrm>
              <a:off x="6263639" y="2154936"/>
              <a:ext cx="326390" cy="274320"/>
            </a:xfrm>
            <a:custGeom>
              <a:avLst/>
              <a:gdLst/>
              <a:ahLst/>
              <a:cxnLst/>
              <a:rect l="l" t="t" r="r" b="b"/>
              <a:pathLst>
                <a:path w="326390" h="274319">
                  <a:moveTo>
                    <a:pt x="0" y="45719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20" y="0"/>
                  </a:lnTo>
                  <a:lnTo>
                    <a:pt x="280415" y="0"/>
                  </a:lnTo>
                  <a:lnTo>
                    <a:pt x="298221" y="3589"/>
                  </a:lnTo>
                  <a:lnTo>
                    <a:pt x="312753" y="13382"/>
                  </a:lnTo>
                  <a:lnTo>
                    <a:pt x="322546" y="27914"/>
                  </a:lnTo>
                  <a:lnTo>
                    <a:pt x="326136" y="45719"/>
                  </a:lnTo>
                  <a:lnTo>
                    <a:pt x="326136" y="228600"/>
                  </a:lnTo>
                  <a:lnTo>
                    <a:pt x="322546" y="246405"/>
                  </a:lnTo>
                  <a:lnTo>
                    <a:pt x="312753" y="260937"/>
                  </a:lnTo>
                  <a:lnTo>
                    <a:pt x="298221" y="270730"/>
                  </a:lnTo>
                  <a:lnTo>
                    <a:pt x="280415" y="274319"/>
                  </a:lnTo>
                  <a:lnTo>
                    <a:pt x="45720" y="274319"/>
                  </a:lnTo>
                  <a:lnTo>
                    <a:pt x="27914" y="270730"/>
                  </a:lnTo>
                  <a:lnTo>
                    <a:pt x="13382" y="260937"/>
                  </a:lnTo>
                  <a:lnTo>
                    <a:pt x="3589" y="246405"/>
                  </a:lnTo>
                  <a:lnTo>
                    <a:pt x="0" y="228600"/>
                  </a:lnTo>
                  <a:lnTo>
                    <a:pt x="0" y="45719"/>
                  </a:lnTo>
                  <a:close/>
                </a:path>
              </a:pathLst>
            </a:custGeom>
            <a:ln w="2438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6">
              <a:extLst>
                <a:ext uri="{FF2B5EF4-FFF2-40B4-BE49-F238E27FC236}">
                  <a16:creationId xmlns:a16="http://schemas.microsoft.com/office/drawing/2014/main" id="{04EC6585-C87C-ECBF-0A44-EFB857F4F0B1}"/>
                </a:ext>
              </a:extLst>
            </p:cNvPr>
            <p:cNvSpPr/>
            <p:nvPr/>
          </p:nvSpPr>
          <p:spPr>
            <a:xfrm>
              <a:off x="6233160" y="2499359"/>
              <a:ext cx="512445" cy="253365"/>
            </a:xfrm>
            <a:custGeom>
              <a:avLst/>
              <a:gdLst/>
              <a:ahLst/>
              <a:cxnLst/>
              <a:rect l="l" t="t" r="r" b="b"/>
              <a:pathLst>
                <a:path w="512445" h="253364">
                  <a:moveTo>
                    <a:pt x="469899" y="0"/>
                  </a:moveTo>
                  <a:lnTo>
                    <a:pt x="42163" y="0"/>
                  </a:lnTo>
                  <a:lnTo>
                    <a:pt x="25771" y="3319"/>
                  </a:lnTo>
                  <a:lnTo>
                    <a:pt x="12366" y="12366"/>
                  </a:lnTo>
                  <a:lnTo>
                    <a:pt x="3319" y="25771"/>
                  </a:lnTo>
                  <a:lnTo>
                    <a:pt x="0" y="42163"/>
                  </a:lnTo>
                  <a:lnTo>
                    <a:pt x="0" y="210819"/>
                  </a:lnTo>
                  <a:lnTo>
                    <a:pt x="3319" y="227212"/>
                  </a:lnTo>
                  <a:lnTo>
                    <a:pt x="12366" y="240617"/>
                  </a:lnTo>
                  <a:lnTo>
                    <a:pt x="25771" y="249664"/>
                  </a:lnTo>
                  <a:lnTo>
                    <a:pt x="42163" y="252984"/>
                  </a:lnTo>
                  <a:lnTo>
                    <a:pt x="469899" y="252984"/>
                  </a:lnTo>
                  <a:lnTo>
                    <a:pt x="486292" y="249664"/>
                  </a:lnTo>
                  <a:lnTo>
                    <a:pt x="499697" y="240617"/>
                  </a:lnTo>
                  <a:lnTo>
                    <a:pt x="508744" y="227212"/>
                  </a:lnTo>
                  <a:lnTo>
                    <a:pt x="512063" y="210819"/>
                  </a:lnTo>
                  <a:lnTo>
                    <a:pt x="512063" y="42163"/>
                  </a:lnTo>
                  <a:lnTo>
                    <a:pt x="508744" y="25771"/>
                  </a:lnTo>
                  <a:lnTo>
                    <a:pt x="499697" y="12366"/>
                  </a:lnTo>
                  <a:lnTo>
                    <a:pt x="486292" y="3319"/>
                  </a:lnTo>
                  <a:lnTo>
                    <a:pt x="46989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7">
              <a:extLst>
                <a:ext uri="{FF2B5EF4-FFF2-40B4-BE49-F238E27FC236}">
                  <a16:creationId xmlns:a16="http://schemas.microsoft.com/office/drawing/2014/main" id="{C593381C-F01C-8B55-FCFB-B291F9024558}"/>
                </a:ext>
              </a:extLst>
            </p:cNvPr>
            <p:cNvSpPr/>
            <p:nvPr/>
          </p:nvSpPr>
          <p:spPr>
            <a:xfrm>
              <a:off x="6233160" y="2499359"/>
              <a:ext cx="512445" cy="253365"/>
            </a:xfrm>
            <a:custGeom>
              <a:avLst/>
              <a:gdLst/>
              <a:ahLst/>
              <a:cxnLst/>
              <a:rect l="l" t="t" r="r" b="b"/>
              <a:pathLst>
                <a:path w="512445" h="253364">
                  <a:moveTo>
                    <a:pt x="0" y="42163"/>
                  </a:moveTo>
                  <a:lnTo>
                    <a:pt x="3319" y="25771"/>
                  </a:lnTo>
                  <a:lnTo>
                    <a:pt x="12366" y="12366"/>
                  </a:lnTo>
                  <a:lnTo>
                    <a:pt x="25771" y="3319"/>
                  </a:lnTo>
                  <a:lnTo>
                    <a:pt x="42163" y="0"/>
                  </a:lnTo>
                  <a:lnTo>
                    <a:pt x="469899" y="0"/>
                  </a:lnTo>
                  <a:lnTo>
                    <a:pt x="486292" y="3319"/>
                  </a:lnTo>
                  <a:lnTo>
                    <a:pt x="499697" y="12366"/>
                  </a:lnTo>
                  <a:lnTo>
                    <a:pt x="508744" y="25771"/>
                  </a:lnTo>
                  <a:lnTo>
                    <a:pt x="512063" y="42163"/>
                  </a:lnTo>
                  <a:lnTo>
                    <a:pt x="512063" y="210819"/>
                  </a:lnTo>
                  <a:lnTo>
                    <a:pt x="508744" y="227212"/>
                  </a:lnTo>
                  <a:lnTo>
                    <a:pt x="499697" y="240617"/>
                  </a:lnTo>
                  <a:lnTo>
                    <a:pt x="486292" y="249664"/>
                  </a:lnTo>
                  <a:lnTo>
                    <a:pt x="469899" y="252984"/>
                  </a:lnTo>
                  <a:lnTo>
                    <a:pt x="42163" y="252984"/>
                  </a:lnTo>
                  <a:lnTo>
                    <a:pt x="25771" y="249664"/>
                  </a:lnTo>
                  <a:lnTo>
                    <a:pt x="12366" y="240617"/>
                  </a:lnTo>
                  <a:lnTo>
                    <a:pt x="3319" y="227212"/>
                  </a:lnTo>
                  <a:lnTo>
                    <a:pt x="0" y="210819"/>
                  </a:lnTo>
                  <a:lnTo>
                    <a:pt x="0" y="42163"/>
                  </a:lnTo>
                  <a:close/>
                </a:path>
              </a:pathLst>
            </a:custGeom>
            <a:ln w="2438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8">
              <a:extLst>
                <a:ext uri="{FF2B5EF4-FFF2-40B4-BE49-F238E27FC236}">
                  <a16:creationId xmlns:a16="http://schemas.microsoft.com/office/drawing/2014/main" id="{E0310C80-199D-0EBC-36A2-0A838E8B5F10}"/>
                </a:ext>
              </a:extLst>
            </p:cNvPr>
            <p:cNvSpPr/>
            <p:nvPr/>
          </p:nvSpPr>
          <p:spPr>
            <a:xfrm>
              <a:off x="6178295" y="2804160"/>
              <a:ext cx="622300" cy="121920"/>
            </a:xfrm>
            <a:custGeom>
              <a:avLst/>
              <a:gdLst/>
              <a:ahLst/>
              <a:cxnLst/>
              <a:rect l="l" t="t" r="r" b="b"/>
              <a:pathLst>
                <a:path w="622300" h="121919">
                  <a:moveTo>
                    <a:pt x="601472" y="0"/>
                  </a:moveTo>
                  <a:lnTo>
                    <a:pt x="20319" y="0"/>
                  </a:lnTo>
                  <a:lnTo>
                    <a:pt x="12430" y="1603"/>
                  </a:lnTo>
                  <a:lnTo>
                    <a:pt x="5968" y="5969"/>
                  </a:lnTo>
                  <a:lnTo>
                    <a:pt x="1603" y="12430"/>
                  </a:lnTo>
                  <a:lnTo>
                    <a:pt x="0" y="20319"/>
                  </a:lnTo>
                  <a:lnTo>
                    <a:pt x="0" y="101600"/>
                  </a:lnTo>
                  <a:lnTo>
                    <a:pt x="1603" y="109489"/>
                  </a:lnTo>
                  <a:lnTo>
                    <a:pt x="5969" y="115950"/>
                  </a:lnTo>
                  <a:lnTo>
                    <a:pt x="12430" y="120316"/>
                  </a:lnTo>
                  <a:lnTo>
                    <a:pt x="20319" y="121919"/>
                  </a:lnTo>
                  <a:lnTo>
                    <a:pt x="601472" y="121919"/>
                  </a:lnTo>
                  <a:lnTo>
                    <a:pt x="609361" y="120316"/>
                  </a:lnTo>
                  <a:lnTo>
                    <a:pt x="615823" y="115950"/>
                  </a:lnTo>
                  <a:lnTo>
                    <a:pt x="620188" y="109489"/>
                  </a:lnTo>
                  <a:lnTo>
                    <a:pt x="621792" y="101600"/>
                  </a:lnTo>
                  <a:lnTo>
                    <a:pt x="621792" y="20319"/>
                  </a:lnTo>
                  <a:lnTo>
                    <a:pt x="620188" y="12430"/>
                  </a:lnTo>
                  <a:lnTo>
                    <a:pt x="615823" y="5968"/>
                  </a:lnTo>
                  <a:lnTo>
                    <a:pt x="609361" y="1603"/>
                  </a:lnTo>
                  <a:lnTo>
                    <a:pt x="60147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59">
              <a:extLst>
                <a:ext uri="{FF2B5EF4-FFF2-40B4-BE49-F238E27FC236}">
                  <a16:creationId xmlns:a16="http://schemas.microsoft.com/office/drawing/2014/main" id="{A15710D5-B676-2DEC-D5C1-74DF56920BFF}"/>
                </a:ext>
              </a:extLst>
            </p:cNvPr>
            <p:cNvSpPr/>
            <p:nvPr/>
          </p:nvSpPr>
          <p:spPr>
            <a:xfrm>
              <a:off x="6178295" y="2804160"/>
              <a:ext cx="622300" cy="121920"/>
            </a:xfrm>
            <a:custGeom>
              <a:avLst/>
              <a:gdLst/>
              <a:ahLst/>
              <a:cxnLst/>
              <a:rect l="l" t="t" r="r" b="b"/>
              <a:pathLst>
                <a:path w="622300" h="121919">
                  <a:moveTo>
                    <a:pt x="0" y="20319"/>
                  </a:moveTo>
                  <a:lnTo>
                    <a:pt x="1603" y="12430"/>
                  </a:lnTo>
                  <a:lnTo>
                    <a:pt x="5968" y="5969"/>
                  </a:lnTo>
                  <a:lnTo>
                    <a:pt x="12430" y="1603"/>
                  </a:lnTo>
                  <a:lnTo>
                    <a:pt x="20319" y="0"/>
                  </a:lnTo>
                  <a:lnTo>
                    <a:pt x="601472" y="0"/>
                  </a:lnTo>
                  <a:lnTo>
                    <a:pt x="609361" y="1603"/>
                  </a:lnTo>
                  <a:lnTo>
                    <a:pt x="615823" y="5968"/>
                  </a:lnTo>
                  <a:lnTo>
                    <a:pt x="620188" y="12430"/>
                  </a:lnTo>
                  <a:lnTo>
                    <a:pt x="621792" y="20319"/>
                  </a:lnTo>
                  <a:lnTo>
                    <a:pt x="621792" y="101600"/>
                  </a:lnTo>
                  <a:lnTo>
                    <a:pt x="620188" y="109489"/>
                  </a:lnTo>
                  <a:lnTo>
                    <a:pt x="615823" y="115950"/>
                  </a:lnTo>
                  <a:lnTo>
                    <a:pt x="609361" y="120316"/>
                  </a:lnTo>
                  <a:lnTo>
                    <a:pt x="601472" y="121919"/>
                  </a:lnTo>
                  <a:lnTo>
                    <a:pt x="20319" y="121919"/>
                  </a:lnTo>
                  <a:lnTo>
                    <a:pt x="12430" y="120316"/>
                  </a:lnTo>
                  <a:lnTo>
                    <a:pt x="5969" y="115950"/>
                  </a:lnTo>
                  <a:lnTo>
                    <a:pt x="1603" y="109489"/>
                  </a:lnTo>
                  <a:lnTo>
                    <a:pt x="0" y="101600"/>
                  </a:lnTo>
                  <a:lnTo>
                    <a:pt x="0" y="20319"/>
                  </a:lnTo>
                  <a:close/>
                </a:path>
              </a:pathLst>
            </a:custGeom>
            <a:ln w="2438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0">
              <a:extLst>
                <a:ext uri="{FF2B5EF4-FFF2-40B4-BE49-F238E27FC236}">
                  <a16:creationId xmlns:a16="http://schemas.microsoft.com/office/drawing/2014/main" id="{92A5318E-FF02-1359-D630-DCF3C788502F}"/>
                </a:ext>
              </a:extLst>
            </p:cNvPr>
            <p:cNvSpPr/>
            <p:nvPr/>
          </p:nvSpPr>
          <p:spPr>
            <a:xfrm>
              <a:off x="8586215" y="2212848"/>
              <a:ext cx="326390" cy="274320"/>
            </a:xfrm>
            <a:custGeom>
              <a:avLst/>
              <a:gdLst/>
              <a:ahLst/>
              <a:cxnLst/>
              <a:rect l="l" t="t" r="r" b="b"/>
              <a:pathLst>
                <a:path w="326390" h="274319">
                  <a:moveTo>
                    <a:pt x="280415" y="0"/>
                  </a:moveTo>
                  <a:lnTo>
                    <a:pt x="45719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19"/>
                  </a:lnTo>
                  <a:lnTo>
                    <a:pt x="0" y="228600"/>
                  </a:lnTo>
                  <a:lnTo>
                    <a:pt x="3589" y="246405"/>
                  </a:lnTo>
                  <a:lnTo>
                    <a:pt x="13382" y="260937"/>
                  </a:lnTo>
                  <a:lnTo>
                    <a:pt x="27914" y="270730"/>
                  </a:lnTo>
                  <a:lnTo>
                    <a:pt x="45719" y="274319"/>
                  </a:lnTo>
                  <a:lnTo>
                    <a:pt x="280415" y="274319"/>
                  </a:lnTo>
                  <a:lnTo>
                    <a:pt x="298221" y="270730"/>
                  </a:lnTo>
                  <a:lnTo>
                    <a:pt x="312753" y="260937"/>
                  </a:lnTo>
                  <a:lnTo>
                    <a:pt x="322546" y="246405"/>
                  </a:lnTo>
                  <a:lnTo>
                    <a:pt x="326135" y="228600"/>
                  </a:lnTo>
                  <a:lnTo>
                    <a:pt x="326135" y="45719"/>
                  </a:lnTo>
                  <a:lnTo>
                    <a:pt x="322546" y="27914"/>
                  </a:lnTo>
                  <a:lnTo>
                    <a:pt x="312753" y="13382"/>
                  </a:lnTo>
                  <a:lnTo>
                    <a:pt x="298221" y="3589"/>
                  </a:lnTo>
                  <a:lnTo>
                    <a:pt x="28041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1">
              <a:extLst>
                <a:ext uri="{FF2B5EF4-FFF2-40B4-BE49-F238E27FC236}">
                  <a16:creationId xmlns:a16="http://schemas.microsoft.com/office/drawing/2014/main" id="{4521E472-6F8A-DF44-D237-11D3F9849B9F}"/>
                </a:ext>
              </a:extLst>
            </p:cNvPr>
            <p:cNvSpPr/>
            <p:nvPr/>
          </p:nvSpPr>
          <p:spPr>
            <a:xfrm>
              <a:off x="8586215" y="2212848"/>
              <a:ext cx="326390" cy="274320"/>
            </a:xfrm>
            <a:custGeom>
              <a:avLst/>
              <a:gdLst/>
              <a:ahLst/>
              <a:cxnLst/>
              <a:rect l="l" t="t" r="r" b="b"/>
              <a:pathLst>
                <a:path w="326390" h="274319">
                  <a:moveTo>
                    <a:pt x="0" y="45719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19" y="0"/>
                  </a:lnTo>
                  <a:lnTo>
                    <a:pt x="280415" y="0"/>
                  </a:lnTo>
                  <a:lnTo>
                    <a:pt x="298221" y="3589"/>
                  </a:lnTo>
                  <a:lnTo>
                    <a:pt x="312753" y="13382"/>
                  </a:lnTo>
                  <a:lnTo>
                    <a:pt x="322546" y="27914"/>
                  </a:lnTo>
                  <a:lnTo>
                    <a:pt x="326135" y="45719"/>
                  </a:lnTo>
                  <a:lnTo>
                    <a:pt x="326135" y="228600"/>
                  </a:lnTo>
                  <a:lnTo>
                    <a:pt x="322546" y="246405"/>
                  </a:lnTo>
                  <a:lnTo>
                    <a:pt x="312753" y="260937"/>
                  </a:lnTo>
                  <a:lnTo>
                    <a:pt x="298221" y="270730"/>
                  </a:lnTo>
                  <a:lnTo>
                    <a:pt x="280415" y="274319"/>
                  </a:lnTo>
                  <a:lnTo>
                    <a:pt x="45719" y="274319"/>
                  </a:lnTo>
                  <a:lnTo>
                    <a:pt x="27914" y="270730"/>
                  </a:lnTo>
                  <a:lnTo>
                    <a:pt x="13382" y="260937"/>
                  </a:lnTo>
                  <a:lnTo>
                    <a:pt x="3589" y="246405"/>
                  </a:lnTo>
                  <a:lnTo>
                    <a:pt x="0" y="228600"/>
                  </a:lnTo>
                  <a:lnTo>
                    <a:pt x="0" y="45719"/>
                  </a:lnTo>
                  <a:close/>
                </a:path>
              </a:pathLst>
            </a:custGeom>
            <a:ln w="2438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2">
              <a:extLst>
                <a:ext uri="{FF2B5EF4-FFF2-40B4-BE49-F238E27FC236}">
                  <a16:creationId xmlns:a16="http://schemas.microsoft.com/office/drawing/2014/main" id="{AE900908-FB46-5993-BFCA-BE2C6A83A336}"/>
                </a:ext>
              </a:extLst>
            </p:cNvPr>
            <p:cNvSpPr/>
            <p:nvPr/>
          </p:nvSpPr>
          <p:spPr>
            <a:xfrm>
              <a:off x="8513064" y="2560320"/>
              <a:ext cx="512445" cy="253365"/>
            </a:xfrm>
            <a:custGeom>
              <a:avLst/>
              <a:gdLst/>
              <a:ahLst/>
              <a:cxnLst/>
              <a:rect l="l" t="t" r="r" b="b"/>
              <a:pathLst>
                <a:path w="512445" h="253364">
                  <a:moveTo>
                    <a:pt x="469900" y="0"/>
                  </a:moveTo>
                  <a:lnTo>
                    <a:pt x="42163" y="0"/>
                  </a:lnTo>
                  <a:lnTo>
                    <a:pt x="25771" y="3319"/>
                  </a:lnTo>
                  <a:lnTo>
                    <a:pt x="12366" y="12366"/>
                  </a:lnTo>
                  <a:lnTo>
                    <a:pt x="3319" y="25771"/>
                  </a:lnTo>
                  <a:lnTo>
                    <a:pt x="0" y="42163"/>
                  </a:lnTo>
                  <a:lnTo>
                    <a:pt x="0" y="210819"/>
                  </a:lnTo>
                  <a:lnTo>
                    <a:pt x="3319" y="227212"/>
                  </a:lnTo>
                  <a:lnTo>
                    <a:pt x="12366" y="240617"/>
                  </a:lnTo>
                  <a:lnTo>
                    <a:pt x="25771" y="249664"/>
                  </a:lnTo>
                  <a:lnTo>
                    <a:pt x="42163" y="252983"/>
                  </a:lnTo>
                  <a:lnTo>
                    <a:pt x="469900" y="252983"/>
                  </a:lnTo>
                  <a:lnTo>
                    <a:pt x="486292" y="249664"/>
                  </a:lnTo>
                  <a:lnTo>
                    <a:pt x="499697" y="240617"/>
                  </a:lnTo>
                  <a:lnTo>
                    <a:pt x="508744" y="227212"/>
                  </a:lnTo>
                  <a:lnTo>
                    <a:pt x="512063" y="210819"/>
                  </a:lnTo>
                  <a:lnTo>
                    <a:pt x="512063" y="42163"/>
                  </a:lnTo>
                  <a:lnTo>
                    <a:pt x="508744" y="25771"/>
                  </a:lnTo>
                  <a:lnTo>
                    <a:pt x="499697" y="12366"/>
                  </a:lnTo>
                  <a:lnTo>
                    <a:pt x="486292" y="3319"/>
                  </a:lnTo>
                  <a:lnTo>
                    <a:pt x="4699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3">
              <a:extLst>
                <a:ext uri="{FF2B5EF4-FFF2-40B4-BE49-F238E27FC236}">
                  <a16:creationId xmlns:a16="http://schemas.microsoft.com/office/drawing/2014/main" id="{A8C4A3A8-E9A9-F468-2190-C52F6AB82427}"/>
                </a:ext>
              </a:extLst>
            </p:cNvPr>
            <p:cNvSpPr/>
            <p:nvPr/>
          </p:nvSpPr>
          <p:spPr>
            <a:xfrm>
              <a:off x="8513064" y="2560320"/>
              <a:ext cx="512445" cy="253365"/>
            </a:xfrm>
            <a:custGeom>
              <a:avLst/>
              <a:gdLst/>
              <a:ahLst/>
              <a:cxnLst/>
              <a:rect l="l" t="t" r="r" b="b"/>
              <a:pathLst>
                <a:path w="512445" h="253364">
                  <a:moveTo>
                    <a:pt x="0" y="42163"/>
                  </a:moveTo>
                  <a:lnTo>
                    <a:pt x="3319" y="25771"/>
                  </a:lnTo>
                  <a:lnTo>
                    <a:pt x="12366" y="12366"/>
                  </a:lnTo>
                  <a:lnTo>
                    <a:pt x="25771" y="3319"/>
                  </a:lnTo>
                  <a:lnTo>
                    <a:pt x="42163" y="0"/>
                  </a:lnTo>
                  <a:lnTo>
                    <a:pt x="469900" y="0"/>
                  </a:lnTo>
                  <a:lnTo>
                    <a:pt x="486292" y="3319"/>
                  </a:lnTo>
                  <a:lnTo>
                    <a:pt x="499697" y="12366"/>
                  </a:lnTo>
                  <a:lnTo>
                    <a:pt x="508744" y="25771"/>
                  </a:lnTo>
                  <a:lnTo>
                    <a:pt x="512063" y="42163"/>
                  </a:lnTo>
                  <a:lnTo>
                    <a:pt x="512063" y="210819"/>
                  </a:lnTo>
                  <a:lnTo>
                    <a:pt x="508744" y="227212"/>
                  </a:lnTo>
                  <a:lnTo>
                    <a:pt x="499697" y="240617"/>
                  </a:lnTo>
                  <a:lnTo>
                    <a:pt x="486292" y="249664"/>
                  </a:lnTo>
                  <a:lnTo>
                    <a:pt x="469900" y="252983"/>
                  </a:lnTo>
                  <a:lnTo>
                    <a:pt x="42163" y="252983"/>
                  </a:lnTo>
                  <a:lnTo>
                    <a:pt x="25771" y="249664"/>
                  </a:lnTo>
                  <a:lnTo>
                    <a:pt x="12366" y="240617"/>
                  </a:lnTo>
                  <a:lnTo>
                    <a:pt x="3319" y="227212"/>
                  </a:lnTo>
                  <a:lnTo>
                    <a:pt x="0" y="210819"/>
                  </a:lnTo>
                  <a:lnTo>
                    <a:pt x="0" y="42163"/>
                  </a:lnTo>
                  <a:close/>
                </a:path>
              </a:pathLst>
            </a:custGeom>
            <a:ln w="2438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4">
              <a:extLst>
                <a:ext uri="{FF2B5EF4-FFF2-40B4-BE49-F238E27FC236}">
                  <a16:creationId xmlns:a16="http://schemas.microsoft.com/office/drawing/2014/main" id="{9ABAD337-3436-ED50-1C25-3C48D40B747E}"/>
                </a:ext>
              </a:extLst>
            </p:cNvPr>
            <p:cNvSpPr/>
            <p:nvPr/>
          </p:nvSpPr>
          <p:spPr>
            <a:xfrm>
              <a:off x="8449055" y="2852927"/>
              <a:ext cx="600710" cy="125095"/>
            </a:xfrm>
            <a:custGeom>
              <a:avLst/>
              <a:gdLst/>
              <a:ahLst/>
              <a:cxnLst/>
              <a:rect l="l" t="t" r="r" b="b"/>
              <a:pathLst>
                <a:path w="600709" h="125094">
                  <a:moveTo>
                    <a:pt x="579627" y="0"/>
                  </a:moveTo>
                  <a:lnTo>
                    <a:pt x="20827" y="0"/>
                  </a:lnTo>
                  <a:lnTo>
                    <a:pt x="12698" y="1629"/>
                  </a:lnTo>
                  <a:lnTo>
                    <a:pt x="6080" y="6080"/>
                  </a:lnTo>
                  <a:lnTo>
                    <a:pt x="1629" y="12698"/>
                  </a:lnTo>
                  <a:lnTo>
                    <a:pt x="0" y="20827"/>
                  </a:lnTo>
                  <a:lnTo>
                    <a:pt x="0" y="104139"/>
                  </a:lnTo>
                  <a:lnTo>
                    <a:pt x="1629" y="112269"/>
                  </a:lnTo>
                  <a:lnTo>
                    <a:pt x="6080" y="118887"/>
                  </a:lnTo>
                  <a:lnTo>
                    <a:pt x="12698" y="123338"/>
                  </a:lnTo>
                  <a:lnTo>
                    <a:pt x="20827" y="124968"/>
                  </a:lnTo>
                  <a:lnTo>
                    <a:pt x="579627" y="124968"/>
                  </a:lnTo>
                  <a:lnTo>
                    <a:pt x="587757" y="123338"/>
                  </a:lnTo>
                  <a:lnTo>
                    <a:pt x="594375" y="118887"/>
                  </a:lnTo>
                  <a:lnTo>
                    <a:pt x="598826" y="112269"/>
                  </a:lnTo>
                  <a:lnTo>
                    <a:pt x="600455" y="104139"/>
                  </a:lnTo>
                  <a:lnTo>
                    <a:pt x="600455" y="20827"/>
                  </a:lnTo>
                  <a:lnTo>
                    <a:pt x="598826" y="12698"/>
                  </a:lnTo>
                  <a:lnTo>
                    <a:pt x="594375" y="6080"/>
                  </a:lnTo>
                  <a:lnTo>
                    <a:pt x="587757" y="1629"/>
                  </a:lnTo>
                  <a:lnTo>
                    <a:pt x="5796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5">
              <a:extLst>
                <a:ext uri="{FF2B5EF4-FFF2-40B4-BE49-F238E27FC236}">
                  <a16:creationId xmlns:a16="http://schemas.microsoft.com/office/drawing/2014/main" id="{66EF2D5D-7D28-4828-153D-7BB42CBD0B1D}"/>
                </a:ext>
              </a:extLst>
            </p:cNvPr>
            <p:cNvSpPr/>
            <p:nvPr/>
          </p:nvSpPr>
          <p:spPr>
            <a:xfrm>
              <a:off x="8449055" y="2852927"/>
              <a:ext cx="600710" cy="125095"/>
            </a:xfrm>
            <a:custGeom>
              <a:avLst/>
              <a:gdLst/>
              <a:ahLst/>
              <a:cxnLst/>
              <a:rect l="l" t="t" r="r" b="b"/>
              <a:pathLst>
                <a:path w="600709" h="125094">
                  <a:moveTo>
                    <a:pt x="0" y="20827"/>
                  </a:moveTo>
                  <a:lnTo>
                    <a:pt x="1629" y="12698"/>
                  </a:lnTo>
                  <a:lnTo>
                    <a:pt x="6080" y="6080"/>
                  </a:lnTo>
                  <a:lnTo>
                    <a:pt x="12698" y="1629"/>
                  </a:lnTo>
                  <a:lnTo>
                    <a:pt x="20827" y="0"/>
                  </a:lnTo>
                  <a:lnTo>
                    <a:pt x="579627" y="0"/>
                  </a:lnTo>
                  <a:lnTo>
                    <a:pt x="587757" y="1629"/>
                  </a:lnTo>
                  <a:lnTo>
                    <a:pt x="594375" y="6080"/>
                  </a:lnTo>
                  <a:lnTo>
                    <a:pt x="598826" y="12698"/>
                  </a:lnTo>
                  <a:lnTo>
                    <a:pt x="600455" y="20827"/>
                  </a:lnTo>
                  <a:lnTo>
                    <a:pt x="600455" y="104139"/>
                  </a:lnTo>
                  <a:lnTo>
                    <a:pt x="598826" y="112269"/>
                  </a:lnTo>
                  <a:lnTo>
                    <a:pt x="594375" y="118887"/>
                  </a:lnTo>
                  <a:lnTo>
                    <a:pt x="587757" y="123338"/>
                  </a:lnTo>
                  <a:lnTo>
                    <a:pt x="579627" y="124968"/>
                  </a:lnTo>
                  <a:lnTo>
                    <a:pt x="20827" y="124968"/>
                  </a:lnTo>
                  <a:lnTo>
                    <a:pt x="12698" y="123338"/>
                  </a:lnTo>
                  <a:lnTo>
                    <a:pt x="6080" y="118887"/>
                  </a:lnTo>
                  <a:lnTo>
                    <a:pt x="1629" y="112269"/>
                  </a:lnTo>
                  <a:lnTo>
                    <a:pt x="0" y="104139"/>
                  </a:lnTo>
                  <a:lnTo>
                    <a:pt x="0" y="20827"/>
                  </a:lnTo>
                  <a:close/>
                </a:path>
              </a:pathLst>
            </a:custGeom>
            <a:ln w="2438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6">
              <a:extLst>
                <a:ext uri="{FF2B5EF4-FFF2-40B4-BE49-F238E27FC236}">
                  <a16:creationId xmlns:a16="http://schemas.microsoft.com/office/drawing/2014/main" id="{4850FFC5-2E9F-677C-9C96-30E4809BE652}"/>
                </a:ext>
              </a:extLst>
            </p:cNvPr>
            <p:cNvSpPr/>
            <p:nvPr/>
          </p:nvSpPr>
          <p:spPr>
            <a:xfrm>
              <a:off x="1860804" y="1795271"/>
              <a:ext cx="6889115" cy="464820"/>
            </a:xfrm>
            <a:custGeom>
              <a:avLst/>
              <a:gdLst/>
              <a:ahLst/>
              <a:cxnLst/>
              <a:rect l="l" t="t" r="r" b="b"/>
              <a:pathLst>
                <a:path w="6889115" h="464819">
                  <a:moveTo>
                    <a:pt x="6888861" y="419608"/>
                  </a:moveTo>
                  <a:lnTo>
                    <a:pt x="6777863" y="346583"/>
                  </a:lnTo>
                  <a:lnTo>
                    <a:pt x="6773202" y="385902"/>
                  </a:lnTo>
                  <a:lnTo>
                    <a:pt x="3531870" y="127"/>
                  </a:lnTo>
                  <a:lnTo>
                    <a:pt x="3529952" y="16573"/>
                  </a:lnTo>
                  <a:lnTo>
                    <a:pt x="3528695" y="0"/>
                  </a:lnTo>
                  <a:lnTo>
                    <a:pt x="116954" y="264541"/>
                  </a:lnTo>
                  <a:lnTo>
                    <a:pt x="113919" y="225044"/>
                  </a:lnTo>
                  <a:lnTo>
                    <a:pt x="0" y="293497"/>
                  </a:lnTo>
                  <a:lnTo>
                    <a:pt x="123063" y="343535"/>
                  </a:lnTo>
                  <a:lnTo>
                    <a:pt x="120129" y="305562"/>
                  </a:lnTo>
                  <a:lnTo>
                    <a:pt x="120002" y="304038"/>
                  </a:lnTo>
                  <a:lnTo>
                    <a:pt x="3300412" y="57556"/>
                  </a:lnTo>
                  <a:lnTo>
                    <a:pt x="2448141" y="274154"/>
                  </a:lnTo>
                  <a:lnTo>
                    <a:pt x="2438400" y="235712"/>
                  </a:lnTo>
                  <a:lnTo>
                    <a:pt x="2337816" y="322580"/>
                  </a:lnTo>
                  <a:lnTo>
                    <a:pt x="2467610" y="350901"/>
                  </a:lnTo>
                  <a:lnTo>
                    <a:pt x="2459101" y="317373"/>
                  </a:lnTo>
                  <a:lnTo>
                    <a:pt x="2457869" y="312496"/>
                  </a:lnTo>
                  <a:lnTo>
                    <a:pt x="3528707" y="40386"/>
                  </a:lnTo>
                  <a:lnTo>
                    <a:pt x="4447768" y="343560"/>
                  </a:lnTo>
                  <a:lnTo>
                    <a:pt x="4435348" y="381254"/>
                  </a:lnTo>
                  <a:lnTo>
                    <a:pt x="4566793" y="362077"/>
                  </a:lnTo>
                  <a:lnTo>
                    <a:pt x="4554398" y="349758"/>
                  </a:lnTo>
                  <a:lnTo>
                    <a:pt x="4472559" y="268351"/>
                  </a:lnTo>
                  <a:lnTo>
                    <a:pt x="4460151" y="305981"/>
                  </a:lnTo>
                  <a:lnTo>
                    <a:pt x="3723068" y="62801"/>
                  </a:lnTo>
                  <a:lnTo>
                    <a:pt x="6768541" y="425284"/>
                  </a:lnTo>
                  <a:lnTo>
                    <a:pt x="6763893" y="464566"/>
                  </a:lnTo>
                  <a:lnTo>
                    <a:pt x="6866610" y="427609"/>
                  </a:lnTo>
                  <a:lnTo>
                    <a:pt x="6888861" y="41960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7">
            <a:extLst>
              <a:ext uri="{FF2B5EF4-FFF2-40B4-BE49-F238E27FC236}">
                <a16:creationId xmlns:a16="http://schemas.microsoft.com/office/drawing/2014/main" id="{F5CAA554-F45F-C2C5-2088-F4B54226342D}"/>
              </a:ext>
            </a:extLst>
          </p:cNvPr>
          <p:cNvSpPr txBox="1"/>
          <p:nvPr/>
        </p:nvSpPr>
        <p:spPr>
          <a:xfrm>
            <a:off x="8892877" y="4750489"/>
            <a:ext cx="69215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C00000"/>
                </a:solidFill>
                <a:latin typeface="Carlito"/>
                <a:cs typeface="Carlito"/>
              </a:rPr>
              <a:t>L2</a:t>
            </a:r>
            <a:r>
              <a:rPr sz="2000" b="1" spc="-8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rlito"/>
                <a:cs typeface="Carlito"/>
              </a:rPr>
              <a:t>TLB</a:t>
            </a:r>
            <a:endParaRPr sz="2000" dirty="0">
              <a:latin typeface="Carlito"/>
              <a:cs typeface="Carlito"/>
            </a:endParaRPr>
          </a:p>
        </p:txBody>
      </p:sp>
      <p:sp>
        <p:nvSpPr>
          <p:cNvPr id="69" name="object 68">
            <a:extLst>
              <a:ext uri="{FF2B5EF4-FFF2-40B4-BE49-F238E27FC236}">
                <a16:creationId xmlns:a16="http://schemas.microsoft.com/office/drawing/2014/main" id="{B66A06F7-3AC4-D02E-82C5-10DAF7CAE6CF}"/>
              </a:ext>
            </a:extLst>
          </p:cNvPr>
          <p:cNvSpPr/>
          <p:nvPr/>
        </p:nvSpPr>
        <p:spPr>
          <a:xfrm>
            <a:off x="2511393" y="2742669"/>
            <a:ext cx="7599045" cy="2397760"/>
          </a:xfrm>
          <a:custGeom>
            <a:avLst/>
            <a:gdLst/>
            <a:ahLst/>
            <a:cxnLst/>
            <a:rect l="l" t="t" r="r" b="b"/>
            <a:pathLst>
              <a:path w="7599045" h="2397760">
                <a:moveTo>
                  <a:pt x="735825" y="442849"/>
                </a:moveTo>
                <a:lnTo>
                  <a:pt x="730326" y="397510"/>
                </a:lnTo>
                <a:lnTo>
                  <a:pt x="719823" y="310896"/>
                </a:lnTo>
                <a:lnTo>
                  <a:pt x="623811" y="402844"/>
                </a:lnTo>
                <a:lnTo>
                  <a:pt x="661187" y="416204"/>
                </a:lnTo>
                <a:lnTo>
                  <a:pt x="0" y="2264283"/>
                </a:lnTo>
                <a:lnTo>
                  <a:pt x="37312" y="2277618"/>
                </a:lnTo>
                <a:lnTo>
                  <a:pt x="698411" y="429501"/>
                </a:lnTo>
                <a:lnTo>
                  <a:pt x="735825" y="442849"/>
                </a:lnTo>
                <a:close/>
              </a:path>
              <a:path w="7599045" h="2397760">
                <a:moveTo>
                  <a:pt x="7598778" y="391922"/>
                </a:moveTo>
                <a:lnTo>
                  <a:pt x="7596594" y="341376"/>
                </a:lnTo>
                <a:lnTo>
                  <a:pt x="7593063" y="259080"/>
                </a:lnTo>
                <a:lnTo>
                  <a:pt x="7490193" y="343281"/>
                </a:lnTo>
                <a:lnTo>
                  <a:pt x="7526401" y="359511"/>
                </a:lnTo>
                <a:lnTo>
                  <a:pt x="6813080" y="1953780"/>
                </a:lnTo>
                <a:lnTo>
                  <a:pt x="5404624" y="276415"/>
                </a:lnTo>
                <a:lnTo>
                  <a:pt x="5422697" y="261239"/>
                </a:lnTo>
                <a:lnTo>
                  <a:pt x="5434939" y="250952"/>
                </a:lnTo>
                <a:lnTo>
                  <a:pt x="5313032" y="198120"/>
                </a:lnTo>
                <a:lnTo>
                  <a:pt x="5343893" y="327406"/>
                </a:lnTo>
                <a:lnTo>
                  <a:pt x="5374259" y="301917"/>
                </a:lnTo>
                <a:lnTo>
                  <a:pt x="6734835" y="1922272"/>
                </a:lnTo>
                <a:lnTo>
                  <a:pt x="3448253" y="83439"/>
                </a:lnTo>
                <a:lnTo>
                  <a:pt x="3453650" y="73787"/>
                </a:lnTo>
                <a:lnTo>
                  <a:pt x="3467595" y="48895"/>
                </a:lnTo>
                <a:lnTo>
                  <a:pt x="3334880" y="42672"/>
                </a:lnTo>
                <a:lnTo>
                  <a:pt x="3409556" y="152527"/>
                </a:lnTo>
                <a:lnTo>
                  <a:pt x="3428885" y="118021"/>
                </a:lnTo>
                <a:lnTo>
                  <a:pt x="6616154" y="1901329"/>
                </a:lnTo>
                <a:lnTo>
                  <a:pt x="2746552" y="593725"/>
                </a:lnTo>
                <a:lnTo>
                  <a:pt x="3006534" y="415747"/>
                </a:lnTo>
                <a:lnTo>
                  <a:pt x="3028937" y="448437"/>
                </a:lnTo>
                <a:lnTo>
                  <a:pt x="3071444" y="371856"/>
                </a:lnTo>
                <a:lnTo>
                  <a:pt x="3093453" y="332232"/>
                </a:lnTo>
                <a:lnTo>
                  <a:pt x="2961754" y="350393"/>
                </a:lnTo>
                <a:lnTo>
                  <a:pt x="2984131" y="383057"/>
                </a:lnTo>
                <a:lnTo>
                  <a:pt x="2699588" y="577862"/>
                </a:lnTo>
                <a:lnTo>
                  <a:pt x="1100797" y="37592"/>
                </a:lnTo>
                <a:lnTo>
                  <a:pt x="1102944" y="31242"/>
                </a:lnTo>
                <a:lnTo>
                  <a:pt x="1113523" y="0"/>
                </a:lnTo>
                <a:lnTo>
                  <a:pt x="981824" y="18288"/>
                </a:lnTo>
                <a:lnTo>
                  <a:pt x="1075423" y="112649"/>
                </a:lnTo>
                <a:lnTo>
                  <a:pt x="1088123" y="75069"/>
                </a:lnTo>
                <a:lnTo>
                  <a:pt x="2658757" y="605815"/>
                </a:lnTo>
                <a:lnTo>
                  <a:pt x="89763" y="2364613"/>
                </a:lnTo>
                <a:lnTo>
                  <a:pt x="112128" y="2397252"/>
                </a:lnTo>
                <a:lnTo>
                  <a:pt x="2705709" y="621690"/>
                </a:lnTo>
                <a:lnTo>
                  <a:pt x="6804596" y="2006765"/>
                </a:lnTo>
                <a:lnTo>
                  <a:pt x="6807949" y="2008632"/>
                </a:lnTo>
                <a:lnTo>
                  <a:pt x="6808292" y="2008009"/>
                </a:lnTo>
                <a:lnTo>
                  <a:pt x="6812775" y="2009521"/>
                </a:lnTo>
                <a:lnTo>
                  <a:pt x="6818947" y="1991309"/>
                </a:lnTo>
                <a:lnTo>
                  <a:pt x="6820255" y="1990204"/>
                </a:lnTo>
                <a:lnTo>
                  <a:pt x="6836778" y="1997583"/>
                </a:lnTo>
                <a:lnTo>
                  <a:pt x="7562507" y="375678"/>
                </a:lnTo>
                <a:lnTo>
                  <a:pt x="7598778" y="39192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69">
            <a:extLst>
              <a:ext uri="{FF2B5EF4-FFF2-40B4-BE49-F238E27FC236}">
                <a16:creationId xmlns:a16="http://schemas.microsoft.com/office/drawing/2014/main" id="{8EE68EAC-05E7-E586-868A-BB99E4E49210}"/>
              </a:ext>
            </a:extLst>
          </p:cNvPr>
          <p:cNvSpPr txBox="1"/>
          <p:nvPr/>
        </p:nvSpPr>
        <p:spPr>
          <a:xfrm>
            <a:off x="1584966" y="5031210"/>
            <a:ext cx="1882139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2000" b="1" spc="-30" dirty="0">
                <a:solidFill>
                  <a:srgbClr val="C00000"/>
                </a:solidFill>
                <a:latin typeface="Carlito"/>
                <a:cs typeface="Carlito"/>
              </a:rPr>
              <a:t>Page </a:t>
            </a:r>
            <a:r>
              <a:rPr sz="2000" b="1" spc="-10" dirty="0">
                <a:solidFill>
                  <a:srgbClr val="C00000"/>
                </a:solidFill>
                <a:latin typeface="Carlito"/>
                <a:cs typeface="Carlito"/>
              </a:rPr>
              <a:t>table </a:t>
            </a:r>
            <a:r>
              <a:rPr sz="2000" b="1" spc="-20" dirty="0">
                <a:solidFill>
                  <a:srgbClr val="C00000"/>
                </a:solidFill>
                <a:latin typeface="Carlito"/>
                <a:cs typeface="Carlito"/>
              </a:rPr>
              <a:t>walker  </a:t>
            </a:r>
            <a:r>
              <a:rPr sz="2000" b="1" spc="-10" dirty="0">
                <a:solidFill>
                  <a:srgbClr val="C00000"/>
                </a:solidFill>
                <a:latin typeface="Carlito"/>
                <a:cs typeface="Carlito"/>
              </a:rPr>
              <a:t>(PTW)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71" name="object 70">
            <a:extLst>
              <a:ext uri="{FF2B5EF4-FFF2-40B4-BE49-F238E27FC236}">
                <a16:creationId xmlns:a16="http://schemas.microsoft.com/office/drawing/2014/main" id="{115BB2E6-2162-3497-CF00-3DCAF4B14F35}"/>
              </a:ext>
            </a:extLst>
          </p:cNvPr>
          <p:cNvSpPr/>
          <p:nvPr/>
        </p:nvSpPr>
        <p:spPr>
          <a:xfrm>
            <a:off x="2523369" y="3098650"/>
            <a:ext cx="7560945" cy="1933575"/>
          </a:xfrm>
          <a:custGeom>
            <a:avLst/>
            <a:gdLst/>
            <a:ahLst/>
            <a:cxnLst/>
            <a:rect l="l" t="t" r="r" b="b"/>
            <a:pathLst>
              <a:path w="7560945" h="1933575">
                <a:moveTo>
                  <a:pt x="7560386" y="67691"/>
                </a:moveTo>
                <a:lnTo>
                  <a:pt x="7430719" y="38227"/>
                </a:lnTo>
                <a:lnTo>
                  <a:pt x="7440155" y="76720"/>
                </a:lnTo>
                <a:lnTo>
                  <a:pt x="360934" y="1807108"/>
                </a:lnTo>
                <a:lnTo>
                  <a:pt x="5194973" y="74612"/>
                </a:lnTo>
                <a:lnTo>
                  <a:pt x="5208346" y="111887"/>
                </a:lnTo>
                <a:lnTo>
                  <a:pt x="5286070" y="30607"/>
                </a:lnTo>
                <a:lnTo>
                  <a:pt x="5300167" y="15875"/>
                </a:lnTo>
                <a:lnTo>
                  <a:pt x="5168214" y="0"/>
                </a:lnTo>
                <a:lnTo>
                  <a:pt x="5181587" y="37287"/>
                </a:lnTo>
                <a:lnTo>
                  <a:pt x="0" y="1894332"/>
                </a:lnTo>
                <a:lnTo>
                  <a:pt x="5842" y="1910689"/>
                </a:lnTo>
                <a:lnTo>
                  <a:pt x="11379" y="1933321"/>
                </a:lnTo>
                <a:lnTo>
                  <a:pt x="7449591" y="115189"/>
                </a:lnTo>
                <a:lnTo>
                  <a:pt x="7459040" y="153670"/>
                </a:lnTo>
                <a:lnTo>
                  <a:pt x="7555293" y="72009"/>
                </a:lnTo>
                <a:lnTo>
                  <a:pt x="7560386" y="67691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67">
            <a:extLst>
              <a:ext uri="{FF2B5EF4-FFF2-40B4-BE49-F238E27FC236}">
                <a16:creationId xmlns:a16="http://schemas.microsoft.com/office/drawing/2014/main" id="{B551F0B1-281E-38DE-FE4D-6E22172BBFE0}"/>
              </a:ext>
            </a:extLst>
          </p:cNvPr>
          <p:cNvSpPr txBox="1"/>
          <p:nvPr/>
        </p:nvSpPr>
        <p:spPr>
          <a:xfrm>
            <a:off x="6438479" y="1664307"/>
            <a:ext cx="69215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C00000"/>
                </a:solidFill>
                <a:latin typeface="Carlito"/>
                <a:cs typeface="Carlito"/>
              </a:rPr>
              <a:t>L</a:t>
            </a:r>
            <a:r>
              <a:rPr lang="en-IN" sz="2000" b="1" spc="-5" dirty="0">
                <a:solidFill>
                  <a:srgbClr val="C00000"/>
                </a:solidFill>
                <a:latin typeface="Carlito"/>
                <a:cs typeface="Carlito"/>
              </a:rPr>
              <a:t>1</a:t>
            </a:r>
            <a:r>
              <a:rPr sz="2000" b="1" spc="-8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rlito"/>
                <a:cs typeface="Carlito"/>
              </a:rPr>
              <a:t>TLB</a:t>
            </a:r>
            <a:endParaRPr sz="2000" dirty="0">
              <a:latin typeface="Carlito"/>
              <a:cs typeface="Carlito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4A96822-013B-17B5-3C8F-AA39323CD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546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211467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00EC2-04A4-46C8-B142-7C7ABFCCB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Caches: Virtual or Physical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D15A62-4460-476B-A3AD-E91E0D972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16</a:t>
            </a:fld>
            <a:endParaRPr lang="en-I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215DBB6-5042-4919-8739-D9F997CB54AD}"/>
              </a:ext>
            </a:extLst>
          </p:cNvPr>
          <p:cNvGrpSpPr/>
          <p:nvPr/>
        </p:nvGrpSpPr>
        <p:grpSpPr>
          <a:xfrm>
            <a:off x="1121529" y="1481162"/>
            <a:ext cx="9131362" cy="4837585"/>
            <a:chOff x="304800" y="1143000"/>
            <a:chExt cx="8870685" cy="5722279"/>
          </a:xfrm>
        </p:grpSpPr>
        <p:sp>
          <p:nvSpPr>
            <p:cNvPr id="7" name="Slide Number Placeholder 3">
              <a:extLst>
                <a:ext uri="{FF2B5EF4-FFF2-40B4-BE49-F238E27FC236}">
                  <a16:creationId xmlns:a16="http://schemas.microsoft.com/office/drawing/2014/main" id="{7E20DFE2-F440-43B7-9FB1-7D102F9FAABD}"/>
                </a:ext>
              </a:extLst>
            </p:cNvPr>
            <p:cNvSpPr txBox="1">
              <a:spLocks/>
            </p:cNvSpPr>
            <p:nvPr/>
          </p:nvSpPr>
          <p:spPr>
            <a:xfrm>
              <a:off x="6777038" y="6318250"/>
              <a:ext cx="2133600" cy="457200"/>
            </a:xfrm>
            <a:prstGeom prst="rect">
              <a:avLst/>
            </a:prstGeom>
            <a:noFill/>
            <a:ln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457200" rtl="0" eaLnBrk="0" latinLnBrk="0" hangingPunct="0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742950" indent="-285750" algn="l" defTabSz="457200" rtl="0" eaLnBrk="0" latinLnBrk="0" hangingPunct="0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1143000" indent="-228600" algn="l" defTabSz="457200" rtl="0" eaLnBrk="0" latinLnBrk="0" hangingPunct="0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600200" indent="-228600" algn="l" defTabSz="457200" rtl="0" eaLnBrk="0" latinLnBrk="0" hangingPunct="0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2057400" indent="-228600" algn="l" defTabSz="457200" rtl="0" eaLnBrk="0" latinLnBrk="0" hangingPunct="0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514600" indent="-228600" algn="l" defTabSz="4572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971800" indent="-228600" algn="l" defTabSz="4572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429000" indent="-228600" algn="l" defTabSz="4572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886200" indent="-228600" algn="l" defTabSz="4572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eaLnBrk="1" hangingPunct="1"/>
              <a:endParaRPr lang="en-US" altLang="en-US" sz="1600" dirty="0">
                <a:solidFill>
                  <a:srgbClr val="000000"/>
                </a:solidFill>
                <a:latin typeface="Garamond" panose="02020404030301010803" pitchFamily="18" charset="0"/>
              </a:endParaRPr>
            </a:p>
          </p:txBody>
        </p:sp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9BB1219E-70AD-4AFC-B0DC-42E664A16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4388" y="1143000"/>
              <a:ext cx="990600" cy="9906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>
                  <a:solidFill>
                    <a:sysClr val="windowText" lastClr="000000"/>
                  </a:solidFill>
                  <a:latin typeface="Calibri" charset="0"/>
                  <a:ea typeface="ＭＳ Ｐゴシック" charset="0"/>
                  <a:cs typeface="ＭＳ Ｐゴシック" charset="0"/>
                </a:rPr>
                <a:t>CPU</a:t>
              </a:r>
            </a:p>
          </p:txBody>
        </p:sp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4BB84130-A35E-43E5-84F6-D740FEF0B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4388" y="2514600"/>
              <a:ext cx="990600" cy="9906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 dirty="0">
                  <a:solidFill>
                    <a:sysClr val="windowText" lastClr="000000"/>
                  </a:solidFill>
                  <a:latin typeface="Calibri" charset="0"/>
                  <a:ea typeface="ＭＳ Ｐゴシック" charset="0"/>
                  <a:cs typeface="ＭＳ Ｐゴシック" charset="0"/>
                </a:rPr>
                <a:t>TLB</a:t>
              </a:r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49C7D5EA-68F9-4D46-95F1-CB52E3632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4388" y="3914775"/>
              <a:ext cx="990600" cy="9906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>
                  <a:solidFill>
                    <a:sysClr val="windowText" lastClr="000000"/>
                  </a:solidFill>
                  <a:latin typeface="Calibri" charset="0"/>
                  <a:ea typeface="ＭＳ Ｐゴシック" charset="0"/>
                  <a:cs typeface="ＭＳ Ｐゴシック" charset="0"/>
                </a:rPr>
                <a:t>cache</a:t>
              </a:r>
            </a:p>
          </p:txBody>
        </p:sp>
        <p:cxnSp>
          <p:nvCxnSpPr>
            <p:cNvPr id="11" name="AutoShape 6">
              <a:extLst>
                <a:ext uri="{FF2B5EF4-FFF2-40B4-BE49-F238E27FC236}">
                  <a16:creationId xmlns:a16="http://schemas.microsoft.com/office/drawing/2014/main" id="{957D833B-8229-4CAA-8F0B-D1D43BDD7441}"/>
                </a:ext>
              </a:extLst>
            </p:cNvPr>
            <p:cNvCxnSpPr>
              <a:cxnSpLocks noChangeShapeType="1"/>
              <a:stCxn id="8" idx="2"/>
              <a:endCxn id="9" idx="0"/>
            </p:cNvCxnSpPr>
            <p:nvPr/>
          </p:nvCxnSpPr>
          <p:spPr bwMode="auto">
            <a:xfrm rot="5400000">
              <a:off x="1128713" y="2324100"/>
              <a:ext cx="361950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AutoShape 7">
              <a:extLst>
                <a:ext uri="{FF2B5EF4-FFF2-40B4-BE49-F238E27FC236}">
                  <a16:creationId xmlns:a16="http://schemas.microsoft.com/office/drawing/2014/main" id="{E1840AD9-634C-473A-BF41-39DB983A1DCB}"/>
                </a:ext>
              </a:extLst>
            </p:cNvPr>
            <p:cNvCxnSpPr>
              <a:cxnSpLocks noChangeShapeType="1"/>
              <a:stCxn id="9" idx="2"/>
              <a:endCxn id="10" idx="0"/>
            </p:cNvCxnSpPr>
            <p:nvPr/>
          </p:nvCxnSpPr>
          <p:spPr bwMode="auto">
            <a:xfrm rot="5400000">
              <a:off x="1114425" y="3709988"/>
              <a:ext cx="390525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0280A40B-F332-404C-B645-1628ED3CF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4388" y="5286375"/>
              <a:ext cx="990600" cy="9906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>
                  <a:solidFill>
                    <a:sysClr val="windowText" lastClr="000000"/>
                  </a:solidFill>
                  <a:latin typeface="Calibri" charset="0"/>
                  <a:ea typeface="ＭＳ Ｐゴシック" charset="0"/>
                  <a:cs typeface="ＭＳ Ｐゴシック" charset="0"/>
                </a:rPr>
                <a:t>lower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>
                  <a:solidFill>
                    <a:sysClr val="windowText" lastClr="000000"/>
                  </a:solidFill>
                  <a:latin typeface="Calibri" charset="0"/>
                  <a:ea typeface="ＭＳ Ｐゴシック" charset="0"/>
                  <a:cs typeface="ＭＳ Ｐゴシック" charset="0"/>
                </a:rPr>
                <a:t>hier.</a:t>
              </a:r>
            </a:p>
          </p:txBody>
        </p:sp>
        <p:cxnSp>
          <p:nvCxnSpPr>
            <p:cNvPr id="14" name="AutoShape 9">
              <a:extLst>
                <a:ext uri="{FF2B5EF4-FFF2-40B4-BE49-F238E27FC236}">
                  <a16:creationId xmlns:a16="http://schemas.microsoft.com/office/drawing/2014/main" id="{6F56A1DC-5B35-491F-8B5A-C7A476A3229C}"/>
                </a:ext>
              </a:extLst>
            </p:cNvPr>
            <p:cNvCxnSpPr>
              <a:cxnSpLocks noChangeShapeType="1"/>
              <a:stCxn id="10" idx="2"/>
              <a:endCxn id="13" idx="0"/>
            </p:cNvCxnSpPr>
            <p:nvPr/>
          </p:nvCxnSpPr>
          <p:spPr bwMode="auto">
            <a:xfrm rot="5400000">
              <a:off x="1128713" y="5095875"/>
              <a:ext cx="361950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Text Box 10">
              <a:extLst>
                <a:ext uri="{FF2B5EF4-FFF2-40B4-BE49-F238E27FC236}">
                  <a16:creationId xmlns:a16="http://schemas.microsoft.com/office/drawing/2014/main" id="{4AD4A69F-6D6A-4617-8885-733EFDD635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925" y="6370638"/>
              <a:ext cx="1830101" cy="49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Calibri" panose="020F0502020204030204" pitchFamily="34" charset="0"/>
                </a:rPr>
                <a:t>physical cache</a:t>
              </a:r>
            </a:p>
          </p:txBody>
        </p:sp>
        <p:sp>
          <p:nvSpPr>
            <p:cNvPr id="16" name="Rectangle 11">
              <a:extLst>
                <a:ext uri="{FF2B5EF4-FFF2-40B4-BE49-F238E27FC236}">
                  <a16:creationId xmlns:a16="http://schemas.microsoft.com/office/drawing/2014/main" id="{9440DE31-E3F7-4EFE-B12F-24D7F3157E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9513" y="1143000"/>
              <a:ext cx="990600" cy="9906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>
                  <a:solidFill>
                    <a:sysClr val="windowText" lastClr="000000"/>
                  </a:solidFill>
                  <a:latin typeface="Calibri" charset="0"/>
                  <a:ea typeface="ＭＳ Ｐゴシック" charset="0"/>
                  <a:cs typeface="ＭＳ Ｐゴシック" charset="0"/>
                </a:rPr>
                <a:t>CPU</a:t>
              </a:r>
            </a:p>
          </p:txBody>
        </p:sp>
        <p:sp>
          <p:nvSpPr>
            <p:cNvPr id="17" name="Rectangle 12">
              <a:extLst>
                <a:ext uri="{FF2B5EF4-FFF2-40B4-BE49-F238E27FC236}">
                  <a16:creationId xmlns:a16="http://schemas.microsoft.com/office/drawing/2014/main" id="{CBD8385D-BFC4-4150-97E7-D3233057F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9513" y="2514600"/>
              <a:ext cx="990600" cy="9906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>
                  <a:solidFill>
                    <a:sysClr val="windowText" lastClr="000000"/>
                  </a:solidFill>
                  <a:latin typeface="Calibri" charset="0"/>
                  <a:ea typeface="ＭＳ Ｐゴシック" charset="0"/>
                  <a:cs typeface="ＭＳ Ｐゴシック" charset="0"/>
                </a:rPr>
                <a:t>cache</a:t>
              </a:r>
            </a:p>
          </p:txBody>
        </p:sp>
        <p:sp>
          <p:nvSpPr>
            <p:cNvPr id="18" name="Rectangle 13">
              <a:extLst>
                <a:ext uri="{FF2B5EF4-FFF2-40B4-BE49-F238E27FC236}">
                  <a16:creationId xmlns:a16="http://schemas.microsoft.com/office/drawing/2014/main" id="{F4153FEA-7FAE-466A-85F2-5EA2F481D0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9513" y="3914775"/>
              <a:ext cx="990600" cy="9906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>
                  <a:solidFill>
                    <a:sysClr val="windowText" lastClr="000000"/>
                  </a:solidFill>
                  <a:latin typeface="Calibri" charset="0"/>
                  <a:ea typeface="ＭＳ Ｐゴシック" charset="0"/>
                  <a:cs typeface="ＭＳ Ｐゴシック" charset="0"/>
                </a:rPr>
                <a:t>tlb</a:t>
              </a:r>
            </a:p>
          </p:txBody>
        </p:sp>
        <p:cxnSp>
          <p:nvCxnSpPr>
            <p:cNvPr id="19" name="AutoShape 14">
              <a:extLst>
                <a:ext uri="{FF2B5EF4-FFF2-40B4-BE49-F238E27FC236}">
                  <a16:creationId xmlns:a16="http://schemas.microsoft.com/office/drawing/2014/main" id="{62E71B44-863A-49C8-A514-5D05307DDCF2}"/>
                </a:ext>
              </a:extLst>
            </p:cNvPr>
            <p:cNvCxnSpPr>
              <a:cxnSpLocks noChangeShapeType="1"/>
              <a:stCxn id="16" idx="2"/>
              <a:endCxn id="17" idx="0"/>
            </p:cNvCxnSpPr>
            <p:nvPr/>
          </p:nvCxnSpPr>
          <p:spPr bwMode="auto">
            <a:xfrm rot="5400000">
              <a:off x="4033838" y="2324100"/>
              <a:ext cx="361950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AutoShape 15">
              <a:extLst>
                <a:ext uri="{FF2B5EF4-FFF2-40B4-BE49-F238E27FC236}">
                  <a16:creationId xmlns:a16="http://schemas.microsoft.com/office/drawing/2014/main" id="{BB8C136B-B34C-4B22-A15E-0EFBEC33450D}"/>
                </a:ext>
              </a:extLst>
            </p:cNvPr>
            <p:cNvCxnSpPr>
              <a:cxnSpLocks noChangeShapeType="1"/>
              <a:stCxn id="17" idx="2"/>
              <a:endCxn id="18" idx="0"/>
            </p:cNvCxnSpPr>
            <p:nvPr/>
          </p:nvCxnSpPr>
          <p:spPr bwMode="auto">
            <a:xfrm rot="5400000">
              <a:off x="4019550" y="3709988"/>
              <a:ext cx="390525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" name="Rectangle 16">
              <a:extLst>
                <a:ext uri="{FF2B5EF4-FFF2-40B4-BE49-F238E27FC236}">
                  <a16:creationId xmlns:a16="http://schemas.microsoft.com/office/drawing/2014/main" id="{D56EA2E3-6320-47D5-8E6C-7657F628C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9513" y="5286375"/>
              <a:ext cx="990600" cy="9906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>
                  <a:solidFill>
                    <a:sysClr val="windowText" lastClr="000000"/>
                  </a:solidFill>
                  <a:latin typeface="Calibri" charset="0"/>
                  <a:ea typeface="ＭＳ Ｐゴシック" charset="0"/>
                  <a:cs typeface="ＭＳ Ｐゴシック" charset="0"/>
                </a:rPr>
                <a:t>lower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>
                  <a:solidFill>
                    <a:sysClr val="windowText" lastClr="000000"/>
                  </a:solidFill>
                  <a:latin typeface="Calibri" charset="0"/>
                  <a:ea typeface="ＭＳ Ｐゴシック" charset="0"/>
                  <a:cs typeface="ＭＳ Ｐゴシック" charset="0"/>
                </a:rPr>
                <a:t>hier.</a:t>
              </a:r>
            </a:p>
          </p:txBody>
        </p:sp>
        <p:cxnSp>
          <p:nvCxnSpPr>
            <p:cNvPr id="22" name="AutoShape 17">
              <a:extLst>
                <a:ext uri="{FF2B5EF4-FFF2-40B4-BE49-F238E27FC236}">
                  <a16:creationId xmlns:a16="http://schemas.microsoft.com/office/drawing/2014/main" id="{908E99AD-C157-409F-9D30-A68BB8D75655}"/>
                </a:ext>
              </a:extLst>
            </p:cNvPr>
            <p:cNvCxnSpPr>
              <a:cxnSpLocks noChangeShapeType="1"/>
              <a:stCxn id="18" idx="2"/>
              <a:endCxn id="21" idx="0"/>
            </p:cNvCxnSpPr>
            <p:nvPr/>
          </p:nvCxnSpPr>
          <p:spPr bwMode="auto">
            <a:xfrm rot="5400000">
              <a:off x="4033838" y="5095875"/>
              <a:ext cx="361950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Text Box 18">
              <a:extLst>
                <a:ext uri="{FF2B5EF4-FFF2-40B4-BE49-F238E27FC236}">
                  <a16:creationId xmlns:a16="http://schemas.microsoft.com/office/drawing/2014/main" id="{350A191D-5EA2-41E5-B60F-86EC371F2A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2775" y="6370638"/>
              <a:ext cx="2155554" cy="49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Calibri" panose="020F0502020204030204" pitchFamily="34" charset="0"/>
                </a:rPr>
                <a:t>virtual (L1) cache</a:t>
              </a:r>
            </a:p>
          </p:txBody>
        </p:sp>
        <p:sp>
          <p:nvSpPr>
            <p:cNvPr id="24" name="Text Box 19">
              <a:extLst>
                <a:ext uri="{FF2B5EF4-FFF2-40B4-BE49-F238E27FC236}">
                  <a16:creationId xmlns:a16="http://schemas.microsoft.com/office/drawing/2014/main" id="{28A5E325-E485-492B-BA15-47C667AEEC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2450" y="2595563"/>
              <a:ext cx="439738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accent1"/>
                  </a:solidFill>
                  <a:latin typeface="Calibri" panose="020F0502020204030204" pitchFamily="34" charset="0"/>
                </a:rPr>
                <a:t>VA</a:t>
              </a:r>
            </a:p>
          </p:txBody>
        </p:sp>
        <p:sp>
          <p:nvSpPr>
            <p:cNvPr id="25" name="Text Box 20">
              <a:extLst>
                <a:ext uri="{FF2B5EF4-FFF2-40B4-BE49-F238E27FC236}">
                  <a16:creationId xmlns:a16="http://schemas.microsoft.com/office/drawing/2014/main" id="{D789F58E-7EC3-4CC9-A1A9-AD1B8CD4FF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725" y="2976563"/>
              <a:ext cx="4191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accent1"/>
                  </a:solidFill>
                  <a:latin typeface="Calibri" panose="020F0502020204030204" pitchFamily="34" charset="0"/>
                </a:rPr>
                <a:t>PA</a:t>
              </a:r>
            </a:p>
          </p:txBody>
        </p:sp>
        <p:sp>
          <p:nvSpPr>
            <p:cNvPr id="26" name="Rectangle 21">
              <a:extLst>
                <a:ext uri="{FF2B5EF4-FFF2-40B4-BE49-F238E27FC236}">
                  <a16:creationId xmlns:a16="http://schemas.microsoft.com/office/drawing/2014/main" id="{761E082F-7380-4593-8C0C-7BB702A78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4188" y="1143000"/>
              <a:ext cx="990600" cy="9906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>
                  <a:solidFill>
                    <a:sysClr val="windowText" lastClr="000000"/>
                  </a:solidFill>
                  <a:latin typeface="Calibri" charset="0"/>
                  <a:ea typeface="ＭＳ Ｐゴシック" charset="0"/>
                  <a:cs typeface="ＭＳ Ｐゴシック" charset="0"/>
                </a:rPr>
                <a:t>CPU</a:t>
              </a:r>
            </a:p>
          </p:txBody>
        </p:sp>
        <p:sp>
          <p:nvSpPr>
            <p:cNvPr id="27" name="Rectangle 22">
              <a:extLst>
                <a:ext uri="{FF2B5EF4-FFF2-40B4-BE49-F238E27FC236}">
                  <a16:creationId xmlns:a16="http://schemas.microsoft.com/office/drawing/2014/main" id="{E505DB50-53BA-4F40-A0E8-657903BA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2200" y="3084513"/>
              <a:ext cx="990600" cy="9906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>
                  <a:solidFill>
                    <a:sysClr val="windowText" lastClr="000000"/>
                  </a:solidFill>
                  <a:latin typeface="Calibri" charset="0"/>
                  <a:ea typeface="ＭＳ Ｐゴシック" charset="0"/>
                  <a:cs typeface="ＭＳ Ｐゴシック" charset="0"/>
                </a:rPr>
                <a:t>cache</a:t>
              </a:r>
            </a:p>
          </p:txBody>
        </p:sp>
        <p:sp>
          <p:nvSpPr>
            <p:cNvPr id="28" name="Rectangle 23">
              <a:extLst>
                <a:ext uri="{FF2B5EF4-FFF2-40B4-BE49-F238E27FC236}">
                  <a16:creationId xmlns:a16="http://schemas.microsoft.com/office/drawing/2014/main" id="{C4BCB1AD-0A77-4980-8484-F844CBB58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91413" y="3084513"/>
              <a:ext cx="990600" cy="9906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>
                  <a:solidFill>
                    <a:sysClr val="windowText" lastClr="000000"/>
                  </a:solidFill>
                  <a:latin typeface="Calibri" charset="0"/>
                  <a:ea typeface="ＭＳ Ｐゴシック" charset="0"/>
                  <a:cs typeface="ＭＳ Ｐゴシック" charset="0"/>
                </a:rPr>
                <a:t>tlb</a:t>
              </a:r>
            </a:p>
          </p:txBody>
        </p:sp>
        <p:cxnSp>
          <p:nvCxnSpPr>
            <p:cNvPr id="29" name="AutoShape 24">
              <a:extLst>
                <a:ext uri="{FF2B5EF4-FFF2-40B4-BE49-F238E27FC236}">
                  <a16:creationId xmlns:a16="http://schemas.microsoft.com/office/drawing/2014/main" id="{6294656E-F695-4E12-AF9A-3AFCEFD2B952}"/>
                </a:ext>
              </a:extLst>
            </p:cNvPr>
            <p:cNvCxnSpPr>
              <a:cxnSpLocks noChangeShapeType="1"/>
              <a:stCxn id="26" idx="2"/>
              <a:endCxn id="27" idx="0"/>
            </p:cNvCxnSpPr>
            <p:nvPr/>
          </p:nvCxnSpPr>
          <p:spPr bwMode="auto">
            <a:xfrm rot="5400000">
              <a:off x="6532562" y="2278063"/>
              <a:ext cx="931863" cy="661988"/>
            </a:xfrm>
            <a:prstGeom prst="bentConnector3">
              <a:avLst>
                <a:gd name="adj1" fmla="val 49917"/>
              </a:avLst>
            </a:prstGeom>
            <a:noFill/>
            <a:ln w="1905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AutoShape 25">
              <a:extLst>
                <a:ext uri="{FF2B5EF4-FFF2-40B4-BE49-F238E27FC236}">
                  <a16:creationId xmlns:a16="http://schemas.microsoft.com/office/drawing/2014/main" id="{AD9352EE-64E9-4856-85D6-871A87D3F3C1}"/>
                </a:ext>
              </a:extLst>
            </p:cNvPr>
            <p:cNvCxnSpPr>
              <a:cxnSpLocks noChangeShapeType="1"/>
              <a:stCxn id="27" idx="2"/>
              <a:endCxn id="31" idx="0"/>
            </p:cNvCxnSpPr>
            <p:nvPr/>
          </p:nvCxnSpPr>
          <p:spPr bwMode="auto">
            <a:xfrm rot="16200000" flipH="1">
              <a:off x="6402388" y="4349750"/>
              <a:ext cx="1192212" cy="661988"/>
            </a:xfrm>
            <a:prstGeom prst="bentConnector3">
              <a:avLst>
                <a:gd name="adj1" fmla="val 49935"/>
              </a:avLst>
            </a:prstGeom>
            <a:noFill/>
            <a:ln w="1905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" name="Rectangle 26">
              <a:extLst>
                <a:ext uri="{FF2B5EF4-FFF2-40B4-BE49-F238E27FC236}">
                  <a16:creationId xmlns:a16="http://schemas.microsoft.com/office/drawing/2014/main" id="{8249C86B-20AA-4855-B4E2-A5CF9D5494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4188" y="5286375"/>
              <a:ext cx="990600" cy="9906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>
                  <a:solidFill>
                    <a:sysClr val="windowText" lastClr="000000"/>
                  </a:solidFill>
                  <a:latin typeface="Calibri" charset="0"/>
                  <a:ea typeface="ＭＳ Ｐゴシック" charset="0"/>
                  <a:cs typeface="ＭＳ Ｐゴシック" charset="0"/>
                </a:rPr>
                <a:t>lower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>
                  <a:solidFill>
                    <a:sysClr val="windowText" lastClr="000000"/>
                  </a:solidFill>
                  <a:latin typeface="Calibri" charset="0"/>
                  <a:ea typeface="ＭＳ Ｐゴシック" charset="0"/>
                  <a:cs typeface="ＭＳ Ｐゴシック" charset="0"/>
                </a:rPr>
                <a:t>hier.</a:t>
              </a:r>
            </a:p>
          </p:txBody>
        </p:sp>
        <p:cxnSp>
          <p:nvCxnSpPr>
            <p:cNvPr id="32" name="AutoShape 27">
              <a:extLst>
                <a:ext uri="{FF2B5EF4-FFF2-40B4-BE49-F238E27FC236}">
                  <a16:creationId xmlns:a16="http://schemas.microsoft.com/office/drawing/2014/main" id="{46D92DA9-8E06-4BC5-94E0-BDC1499A08B4}"/>
                </a:ext>
              </a:extLst>
            </p:cNvPr>
            <p:cNvCxnSpPr>
              <a:cxnSpLocks noChangeShapeType="1"/>
              <a:stCxn id="28" idx="2"/>
              <a:endCxn id="31" idx="0"/>
            </p:cNvCxnSpPr>
            <p:nvPr/>
          </p:nvCxnSpPr>
          <p:spPr bwMode="auto">
            <a:xfrm rot="5400000">
              <a:off x="7061995" y="4352131"/>
              <a:ext cx="1192212" cy="657225"/>
            </a:xfrm>
            <a:prstGeom prst="bentConnector3">
              <a:avLst>
                <a:gd name="adj1" fmla="val 49935"/>
              </a:avLst>
            </a:prstGeom>
            <a:noFill/>
            <a:ln w="1905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" name="Text Box 28">
              <a:extLst>
                <a:ext uri="{FF2B5EF4-FFF2-40B4-BE49-F238E27FC236}">
                  <a16:creationId xmlns:a16="http://schemas.microsoft.com/office/drawing/2014/main" id="{92CBEC1F-C1D2-4A34-B566-C8B042DAAD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2190" y="6370636"/>
              <a:ext cx="2663295" cy="49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Calibri" panose="020F0502020204030204" pitchFamily="34" charset="0"/>
                </a:rPr>
                <a:t>virtual-physical cache</a:t>
              </a:r>
            </a:p>
          </p:txBody>
        </p:sp>
        <p:sp>
          <p:nvSpPr>
            <p:cNvPr id="34" name="Text Box 29">
              <a:extLst>
                <a:ext uri="{FF2B5EF4-FFF2-40B4-BE49-F238E27FC236}">
                  <a16:creationId xmlns:a16="http://schemas.microsoft.com/office/drawing/2014/main" id="{9E7E6CD8-9D08-4E49-821F-B5A9BDD75D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83600" y="3167060"/>
              <a:ext cx="439738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chemeClr val="accent1"/>
                  </a:solidFill>
                  <a:latin typeface="Calibri" panose="020F0502020204030204" pitchFamily="34" charset="0"/>
                </a:rPr>
                <a:t>VA</a:t>
              </a:r>
            </a:p>
          </p:txBody>
        </p:sp>
        <p:sp>
          <p:nvSpPr>
            <p:cNvPr id="35" name="Text Box 30">
              <a:extLst>
                <a:ext uri="{FF2B5EF4-FFF2-40B4-BE49-F238E27FC236}">
                  <a16:creationId xmlns:a16="http://schemas.microsoft.com/office/drawing/2014/main" id="{9D7ECB10-8A56-4FB1-92E4-37838BAEAC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93125" y="3586163"/>
              <a:ext cx="4191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accent1"/>
                  </a:solidFill>
                  <a:latin typeface="Calibri" panose="020F0502020204030204" pitchFamily="34" charset="0"/>
                </a:rPr>
                <a:t>PA</a:t>
              </a:r>
            </a:p>
          </p:txBody>
        </p:sp>
        <p:cxnSp>
          <p:nvCxnSpPr>
            <p:cNvPr id="36" name="AutoShape 31">
              <a:extLst>
                <a:ext uri="{FF2B5EF4-FFF2-40B4-BE49-F238E27FC236}">
                  <a16:creationId xmlns:a16="http://schemas.microsoft.com/office/drawing/2014/main" id="{D5D54A94-1784-4FC2-82CC-81BC65DEE88A}"/>
                </a:ext>
              </a:extLst>
            </p:cNvPr>
            <p:cNvCxnSpPr>
              <a:cxnSpLocks noChangeShapeType="1"/>
              <a:stCxn id="26" idx="2"/>
              <a:endCxn id="28" idx="0"/>
            </p:cNvCxnSpPr>
            <p:nvPr/>
          </p:nvCxnSpPr>
          <p:spPr bwMode="auto">
            <a:xfrm rot="16200000" flipH="1">
              <a:off x="7192169" y="2280444"/>
              <a:ext cx="931863" cy="657225"/>
            </a:xfrm>
            <a:prstGeom prst="bentConnector3">
              <a:avLst>
                <a:gd name="adj1" fmla="val 49917"/>
              </a:avLst>
            </a:prstGeom>
            <a:noFill/>
            <a:ln w="1905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7" name="Line 32">
              <a:extLst>
                <a:ext uri="{FF2B5EF4-FFF2-40B4-BE49-F238E27FC236}">
                  <a16:creationId xmlns:a16="http://schemas.microsoft.com/office/drawing/2014/main" id="{052B9665-67B8-4F0C-9E50-85FF96E536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800" y="2922131"/>
              <a:ext cx="20574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8" name="Line 33">
              <a:extLst>
                <a:ext uri="{FF2B5EF4-FFF2-40B4-BE49-F238E27FC236}">
                  <a16:creationId xmlns:a16="http://schemas.microsoft.com/office/drawing/2014/main" id="{9FECCF41-1397-4355-A89F-9CAFDF4D9D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0400" y="4310060"/>
              <a:ext cx="20574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9" name="Line 34">
              <a:extLst>
                <a:ext uri="{FF2B5EF4-FFF2-40B4-BE49-F238E27FC236}">
                  <a16:creationId xmlns:a16="http://schemas.microsoft.com/office/drawing/2014/main" id="{C8C1B95D-D64F-43A8-98BD-CD339332CA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39000" y="3493631"/>
              <a:ext cx="16002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0" name="Text Box 35">
              <a:extLst>
                <a:ext uri="{FF2B5EF4-FFF2-40B4-BE49-F238E27FC236}">
                  <a16:creationId xmlns:a16="http://schemas.microsoft.com/office/drawing/2014/main" id="{77FE8B2F-7E6E-4818-A461-56D3E5D2BF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8700" y="3901845"/>
              <a:ext cx="4397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chemeClr val="accent1"/>
                  </a:solidFill>
                  <a:latin typeface="Calibri" panose="020F0502020204030204" pitchFamily="34" charset="0"/>
                </a:rPr>
                <a:t>VA</a:t>
              </a:r>
            </a:p>
          </p:txBody>
        </p:sp>
        <p:sp>
          <p:nvSpPr>
            <p:cNvPr id="41" name="Text Box 36">
              <a:extLst>
                <a:ext uri="{FF2B5EF4-FFF2-40B4-BE49-F238E27FC236}">
                  <a16:creationId xmlns:a16="http://schemas.microsoft.com/office/drawing/2014/main" id="{6DD639D6-1CDE-49EB-88C0-C70DA06270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9975" y="4438650"/>
              <a:ext cx="4191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accent1"/>
                  </a:solidFill>
                  <a:latin typeface="Calibri" panose="020F0502020204030204" pitchFamily="34" charset="0"/>
                </a:rPr>
                <a:t>PA</a:t>
              </a:r>
            </a:p>
          </p:txBody>
        </p:sp>
      </p:grp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D3A215E-47EF-CF82-32F0-0037B57AF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546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875502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2C508-BBFC-458C-BEC4-761C67170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Synonym Problem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E89534-E794-4D30-B70C-A48678BF2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17</a:t>
            </a:fld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604DA5-E977-4A7E-B493-204D0D59A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563" y="2617914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806724-E736-428B-977B-24B0712FF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563" y="2389314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5778B6-03A2-406F-B039-4EFC37BEF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563" y="2160714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3789C3-8299-405A-BDBE-8D55B21A7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563" y="1932114"/>
            <a:ext cx="990600" cy="228600"/>
          </a:xfrm>
          <a:prstGeom prst="rect">
            <a:avLst/>
          </a:prstGeom>
          <a:solidFill>
            <a:srgbClr val="FFCC6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4F0BA5-AC75-4576-AA62-5A4DF4FEF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563" y="3532314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C1BFE1-90B6-4F18-BA1D-5C20F056E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563" y="3303714"/>
            <a:ext cx="990600" cy="228600"/>
          </a:xfrm>
          <a:prstGeom prst="rect">
            <a:avLst/>
          </a:prstGeom>
          <a:solidFill>
            <a:srgbClr val="FFCC6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918544-5907-4CE6-A685-B6EA8F997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563" y="3075114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81EF3B-203E-4741-805D-46F35304C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563" y="2846514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44D079-A968-428C-8613-3A53093D5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4963" y="3227514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A10AC4-3672-4AF2-B8A9-6083F2EED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4963" y="2998914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2CAE29-AD74-48E1-822F-0876DA578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4963" y="2770314"/>
            <a:ext cx="990600" cy="2286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D1EA6B-A87D-4BD5-B750-8B5EDAF94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4963" y="2541714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D3F85000-381F-410A-AD4A-89AFE21E6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9163" y="2084514"/>
            <a:ext cx="68580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8D1BEFC2-C35C-4B6B-85B4-2FBFDFEFC4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69163" y="2998914"/>
            <a:ext cx="6858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6B72445F-78E5-47C8-BC47-E7BCB2011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4593" y="1808259"/>
            <a:ext cx="565254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/>
            <a:r>
              <a:rPr lang="en-US" sz="2000">
                <a:solidFill>
                  <a:srgbClr val="56127A"/>
                </a:solidFill>
                <a:latin typeface="Calibri"/>
                <a:cs typeface="Calibri"/>
              </a:rPr>
              <a:t>VA</a:t>
            </a:r>
            <a:r>
              <a:rPr lang="en-US" sz="2000" baseline="-25000">
                <a:solidFill>
                  <a:srgbClr val="56127A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2E668079-80D9-431F-873C-2D4CD73F399C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7563" y="2008314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2" name="Text Box 19">
            <a:extLst>
              <a:ext uri="{FF2B5EF4-FFF2-40B4-BE49-F238E27FC236}">
                <a16:creationId xmlns:a16="http://schemas.microsoft.com/office/drawing/2014/main" id="{DDBE447C-863A-4C0C-9A07-BE499F705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4593" y="3179859"/>
            <a:ext cx="565254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/>
            <a:r>
              <a:rPr lang="en-US" sz="2000">
                <a:solidFill>
                  <a:srgbClr val="56127A"/>
                </a:solidFill>
                <a:latin typeface="Calibri"/>
                <a:cs typeface="Calibri"/>
              </a:rPr>
              <a:t>VA</a:t>
            </a:r>
            <a:r>
              <a:rPr lang="en-US" sz="2000" baseline="-25000">
                <a:solidFill>
                  <a:srgbClr val="56127A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9B613A5E-5E28-4C68-8AB0-BC273FD2340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7563" y="3379914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4" name="Text Box 21">
            <a:extLst>
              <a:ext uri="{FF2B5EF4-FFF2-40B4-BE49-F238E27FC236}">
                <a16:creationId xmlns:a16="http://schemas.microsoft.com/office/drawing/2014/main" id="{5D590FEC-C1ED-4972-9CD8-23C22DC2A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8647" y="1517926"/>
            <a:ext cx="154155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/>
            <a:r>
              <a:rPr lang="en-US">
                <a:solidFill>
                  <a:srgbClr val="56127A"/>
                </a:solidFill>
                <a:latin typeface="Calibri"/>
                <a:cs typeface="Calibri"/>
              </a:rPr>
              <a:t>Page Table</a:t>
            </a:r>
          </a:p>
        </p:txBody>
      </p:sp>
      <p:sp>
        <p:nvSpPr>
          <p:cNvPr id="25" name="Text Box 22">
            <a:extLst>
              <a:ext uri="{FF2B5EF4-FFF2-40B4-BE49-F238E27FC236}">
                <a16:creationId xmlns:a16="http://schemas.microsoft.com/office/drawing/2014/main" id="{75BA33AE-60CB-4871-883B-E2F8BFDD4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8356" y="2098951"/>
            <a:ext cx="1566354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/>
            <a:r>
              <a:rPr lang="en-US">
                <a:solidFill>
                  <a:srgbClr val="56127A"/>
                </a:solidFill>
                <a:latin typeface="Calibri"/>
                <a:cs typeface="Calibri"/>
              </a:rPr>
              <a:t>Data Pages</a:t>
            </a:r>
          </a:p>
        </p:txBody>
      </p:sp>
      <p:sp>
        <p:nvSpPr>
          <p:cNvPr id="26" name="Text Box 23">
            <a:extLst>
              <a:ext uri="{FF2B5EF4-FFF2-40B4-BE49-F238E27FC236}">
                <a16:creationId xmlns:a16="http://schemas.microsoft.com/office/drawing/2014/main" id="{EB3D61CC-4E19-48FA-96BF-16D39535D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4860" y="2722659"/>
            <a:ext cx="466794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/>
            <a:r>
              <a:rPr lang="en-US" sz="2000">
                <a:solidFill>
                  <a:srgbClr val="56127A"/>
                </a:solidFill>
                <a:latin typeface="Calibri"/>
                <a:cs typeface="Calibri"/>
              </a:rPr>
              <a:t>PA</a:t>
            </a:r>
            <a:endParaRPr lang="en-US" sz="2000" baseline="-25000">
              <a:solidFill>
                <a:srgbClr val="56127A"/>
              </a:solidFill>
              <a:latin typeface="Calibri"/>
              <a:cs typeface="Calibri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244E4F-10F2-4844-B6AF-DA1FBEA07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563" y="1932114"/>
            <a:ext cx="9144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4F3F53-899F-4F92-8500-ADC2D07F5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563" y="2160714"/>
            <a:ext cx="9144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/>
            <a:r>
              <a:rPr lang="en-US" sz="2000" dirty="0">
                <a:solidFill>
                  <a:srgbClr val="56127A"/>
                </a:solidFill>
                <a:latin typeface="Calibri"/>
                <a:cs typeface="Calibri"/>
              </a:rPr>
              <a:t>VA</a:t>
            </a:r>
            <a:r>
              <a:rPr lang="en-US" sz="2000" baseline="-25000" dirty="0">
                <a:solidFill>
                  <a:srgbClr val="56127A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1DD9031-760F-47B4-966C-9CE1977BD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563" y="2389314"/>
            <a:ext cx="9144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7DA7FE7-E929-4B35-8795-F26450369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563" y="2846514"/>
            <a:ext cx="9144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/>
            <a:r>
              <a:rPr lang="en-US" sz="2000">
                <a:solidFill>
                  <a:srgbClr val="56127A"/>
                </a:solidFill>
                <a:latin typeface="Calibri"/>
                <a:cs typeface="Calibri"/>
              </a:rPr>
              <a:t>VA</a:t>
            </a:r>
            <a:r>
              <a:rPr lang="en-US" sz="2000" baseline="-25000">
                <a:solidFill>
                  <a:srgbClr val="56127A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AA68E3-1D85-4F11-8CFA-86D03A128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563" y="2617914"/>
            <a:ext cx="9144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69FE510-EC7C-4527-A79C-25B8679FC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563" y="3075114"/>
            <a:ext cx="9144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CE1E89-F82C-42A6-BD26-75C897726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1963" y="1932114"/>
            <a:ext cx="27432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5467755-C95A-48F8-A98B-CF8225BBE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1963" y="2160714"/>
            <a:ext cx="27432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/>
            <a:r>
              <a:rPr lang="en-US" sz="2000">
                <a:solidFill>
                  <a:srgbClr val="56127A"/>
                </a:solidFill>
                <a:latin typeface="Calibri"/>
                <a:cs typeface="Calibri"/>
              </a:rPr>
              <a:t>1st Copy of Data at PA</a:t>
            </a:r>
            <a:endParaRPr lang="en-US" sz="2000" baseline="-25000">
              <a:solidFill>
                <a:srgbClr val="56127A"/>
              </a:solidFill>
              <a:latin typeface="Calibri"/>
              <a:cs typeface="Calibri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F066902-0425-4108-A0E5-4BE6980CD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1963" y="2389314"/>
            <a:ext cx="27432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E2FCA46-ECA1-4734-9895-8B3D89F1C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1963" y="2846514"/>
            <a:ext cx="27432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/>
            <a:r>
              <a:rPr lang="en-US" sz="2000">
                <a:solidFill>
                  <a:srgbClr val="56127A"/>
                </a:solidFill>
                <a:latin typeface="Calibri"/>
                <a:cs typeface="Calibri"/>
              </a:rPr>
              <a:t>2nd Copy of Data at PA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79F9C6E-4309-414D-90E0-191020F1B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1963" y="2617914"/>
            <a:ext cx="27432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1E0D55E-6021-4914-8350-FFAB91D62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1963" y="3075114"/>
            <a:ext cx="27432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9" name="Text Box 36">
            <a:extLst>
              <a:ext uri="{FF2B5EF4-FFF2-40B4-BE49-F238E27FC236}">
                <a16:creationId xmlns:a16="http://schemas.microsoft.com/office/drawing/2014/main" id="{E4BDD8E5-41E3-4AC7-BA08-68884B41C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748" y="1517926"/>
            <a:ext cx="626944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/>
            <a:r>
              <a:rPr lang="en-US">
                <a:solidFill>
                  <a:srgbClr val="56127A"/>
                </a:solidFill>
                <a:latin typeface="Calibri"/>
                <a:cs typeface="Calibri"/>
              </a:rPr>
              <a:t>Tag</a:t>
            </a:r>
          </a:p>
        </p:txBody>
      </p:sp>
      <p:sp>
        <p:nvSpPr>
          <p:cNvPr id="40" name="Text Box 37">
            <a:extLst>
              <a:ext uri="{FF2B5EF4-FFF2-40B4-BE49-F238E27FC236}">
                <a16:creationId xmlns:a16="http://schemas.microsoft.com/office/drawing/2014/main" id="{7876F92C-1C56-4FCD-9B3D-FF6C0377A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6312" y="1517926"/>
            <a:ext cx="771966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/>
            <a:r>
              <a:rPr lang="en-US">
                <a:solidFill>
                  <a:srgbClr val="56127A"/>
                </a:solidFill>
                <a:latin typeface="Calibri"/>
                <a:cs typeface="Calibri"/>
              </a:rPr>
              <a:t>Data</a:t>
            </a:r>
          </a:p>
        </p:txBody>
      </p:sp>
      <p:sp>
        <p:nvSpPr>
          <p:cNvPr id="41" name="Text Box 38">
            <a:extLst>
              <a:ext uri="{FF2B5EF4-FFF2-40B4-BE49-F238E27FC236}">
                <a16:creationId xmlns:a16="http://schemas.microsoft.com/office/drawing/2014/main" id="{5B643ED0-2047-44AD-A9AA-9C822669F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8963" y="3837114"/>
            <a:ext cx="3352800" cy="7016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/>
            <a:r>
              <a:rPr lang="en-US" sz="2000">
                <a:solidFill>
                  <a:srgbClr val="000000"/>
                </a:solidFill>
                <a:latin typeface="Verdana" charset="0"/>
              </a:rPr>
              <a:t>Two virtual pages share one physical page</a:t>
            </a:r>
          </a:p>
        </p:txBody>
      </p:sp>
      <p:sp>
        <p:nvSpPr>
          <p:cNvPr id="42" name="Text Box 39">
            <a:extLst>
              <a:ext uri="{FF2B5EF4-FFF2-40B4-BE49-F238E27FC236}">
                <a16:creationId xmlns:a16="http://schemas.microsoft.com/office/drawing/2014/main" id="{620C5FF4-2FAE-45C5-B310-A08340CE7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1763" y="3435388"/>
            <a:ext cx="4724400" cy="120032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/>
            <a:r>
              <a:rPr lang="en-US">
                <a:solidFill>
                  <a:srgbClr val="000000"/>
                </a:solidFill>
                <a:latin typeface="Calibri"/>
                <a:cs typeface="Calibri"/>
              </a:rPr>
              <a:t>Virtual cache can have two copies of same physical data. Writes to one copy not visible to reads of other!</a:t>
            </a:r>
          </a:p>
        </p:txBody>
      </p:sp>
      <p:sp>
        <p:nvSpPr>
          <p:cNvPr id="43" name="Text Box 40">
            <a:extLst>
              <a:ext uri="{FF2B5EF4-FFF2-40B4-BE49-F238E27FC236}">
                <a16:creationId xmlns:a16="http://schemas.microsoft.com/office/drawing/2014/main" id="{D17AC291-1AFA-4380-B131-49A1537A1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563" y="5243873"/>
            <a:ext cx="8839200" cy="97872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en-US" dirty="0">
                <a:solidFill>
                  <a:srgbClr val="000000"/>
                </a:solidFill>
                <a:latin typeface="Calibri"/>
                <a:cs typeface="Calibri"/>
              </a:rPr>
              <a:t>General Solution:  </a:t>
            </a:r>
            <a:r>
              <a:rPr lang="en-US" i="1" dirty="0">
                <a:solidFill>
                  <a:srgbClr val="56127A"/>
                </a:solidFill>
                <a:latin typeface="Calibri"/>
                <a:cs typeface="Calibri"/>
              </a:rPr>
              <a:t>Prevent aliases coexisting in cache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rgbClr val="000000"/>
                </a:solidFill>
                <a:latin typeface="Calibri"/>
                <a:cs typeface="Calibri"/>
              </a:rPr>
              <a:t>Software (i.e., OS) solution for direct-mapped cache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522A99-B3AF-8AC4-987A-BF1381E4B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546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670674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3AB02-6693-4818-89E5-AFC8095CC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Homonym Problem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9BDCE9-9100-4006-A2CC-DF655991A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18</a:t>
            </a:fld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77EF29-50EB-47D5-A9BC-3582349AB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3396" y="2487463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2CEC68-08EC-469F-A391-9977EDED2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3396" y="2258863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D67E8A-9D4C-4EEC-A886-10AD5D8BC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3396" y="2030263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0132FC-9BCB-45FC-831C-DF861878A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3396" y="1801663"/>
            <a:ext cx="990600" cy="228600"/>
          </a:xfrm>
          <a:prstGeom prst="rect">
            <a:avLst/>
          </a:prstGeom>
          <a:solidFill>
            <a:srgbClr val="FFCC6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C016E1-CEEC-4F4A-B69A-884EF61DD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3396" y="3182640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57C3EB-255E-4611-B888-7660B1FC2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3396" y="2944663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93D718-C294-4C1C-AAA3-9E56FFD1D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3396" y="2716063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1FE21F-DB56-4D54-A62B-70B4DC88F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9796" y="3097063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7784C6-66FA-47EF-A806-34EEF3418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9796" y="2868463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CA69CD-73F9-413E-B516-C8288D8E8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9796" y="2639863"/>
            <a:ext cx="990600" cy="2286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391C03-8F35-4375-93F6-41CE9DC5D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9796" y="2411263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34CA548B-4FC9-416A-8B1C-B6EE38EA90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83996" y="1954063"/>
            <a:ext cx="68580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1F7E4E3A-B2F0-4087-B4D1-B7355F20784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83996" y="2001718"/>
            <a:ext cx="685800" cy="124774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A979DBC2-DCB6-43F1-B6A8-0D98A20EB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426" y="1677808"/>
            <a:ext cx="565254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/>
            <a:r>
              <a:rPr lang="en-US" sz="2000">
                <a:solidFill>
                  <a:srgbClr val="56127A"/>
                </a:solidFill>
                <a:latin typeface="Calibri"/>
                <a:cs typeface="Calibri"/>
              </a:rPr>
              <a:t>VA</a:t>
            </a:r>
            <a:r>
              <a:rPr lang="en-US" sz="2000" baseline="-25000">
                <a:solidFill>
                  <a:srgbClr val="56127A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80A891DC-DBE4-4DA3-9B77-7D81E0CC9E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2396" y="1877863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FAB30784-22A5-48B5-A81C-E0B59FA8F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3189" y="1968500"/>
            <a:ext cx="1566354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/>
            <a:r>
              <a:rPr lang="en-US">
                <a:solidFill>
                  <a:srgbClr val="56127A"/>
                </a:solidFill>
                <a:latin typeface="Calibri"/>
                <a:cs typeface="Calibri"/>
              </a:rPr>
              <a:t>Data Pages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DB8C2C65-181F-4101-8534-6F1D351F5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2958" y="2592208"/>
            <a:ext cx="548869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/>
            <a:r>
              <a:rPr lang="en-US" sz="2000" dirty="0">
                <a:solidFill>
                  <a:srgbClr val="56127A"/>
                </a:solidFill>
                <a:latin typeface="Calibri"/>
                <a:cs typeface="Calibri"/>
              </a:rPr>
              <a:t>PAs</a:t>
            </a:r>
            <a:endParaRPr lang="en-US" sz="2000" baseline="-25000" dirty="0">
              <a:solidFill>
                <a:srgbClr val="56127A"/>
              </a:solidFill>
              <a:latin typeface="Calibri"/>
              <a:cs typeface="Calibri"/>
            </a:endParaRPr>
          </a:p>
        </p:txBody>
      </p:sp>
      <p:sp>
        <p:nvSpPr>
          <p:cNvPr id="23" name="Text Box 38">
            <a:extLst>
              <a:ext uri="{FF2B5EF4-FFF2-40B4-BE49-F238E27FC236}">
                <a16:creationId xmlns:a16="http://schemas.microsoft.com/office/drawing/2014/main" id="{00E34D0B-D1D9-4B12-BC0D-6D4A7DCA0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3796" y="3857445"/>
            <a:ext cx="6858000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/>
            <a:r>
              <a:rPr lang="en-US" sz="2000" dirty="0">
                <a:solidFill>
                  <a:srgbClr val="000000"/>
                </a:solidFill>
                <a:latin typeface="Verdana" charset="0"/>
              </a:rPr>
              <a:t>One virtual page maps to two physical pages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DA13CD-3EDB-4699-93B1-DD5940575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9796" y="3063875"/>
            <a:ext cx="990600" cy="2286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5" name="Text Box 38">
            <a:extLst>
              <a:ext uri="{FF2B5EF4-FFF2-40B4-BE49-F238E27FC236}">
                <a16:creationId xmlns:a16="http://schemas.microsoft.com/office/drawing/2014/main" id="{993C07B8-7DEB-4476-8355-40C91CE5E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1423500"/>
            <a:ext cx="6629400" cy="224676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anchor="ctr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pPr algn="ctr" eaLnBrk="0" hangingPunct="0"/>
            <a:r>
              <a:rPr lang="en-US" sz="2000" dirty="0">
                <a:solidFill>
                  <a:srgbClr val="000000"/>
                </a:solidFill>
                <a:latin typeface="Verdana" charset="0"/>
              </a:rPr>
              <a:t>Tag may not uniquely identify cache data</a:t>
            </a:r>
          </a:p>
          <a:p>
            <a:pPr algn="ctr" eaLnBrk="0" hangingPunct="0"/>
            <a:r>
              <a:rPr lang="en-US" sz="2000" dirty="0">
                <a:solidFill>
                  <a:srgbClr val="000000"/>
                </a:solidFill>
                <a:latin typeface="Verdana" charset="0"/>
              </a:rPr>
              <a:t>Solution: Add ASID with tag </a:t>
            </a:r>
          </a:p>
          <a:p>
            <a:pPr algn="ctr" eaLnBrk="0" hangingPunct="0"/>
            <a:r>
              <a:rPr lang="en-US" sz="2000" dirty="0">
                <a:solidFill>
                  <a:srgbClr val="000000"/>
                </a:solidFill>
                <a:latin typeface="Verdana" charset="0"/>
              </a:rPr>
              <a:t>Or </a:t>
            </a:r>
          </a:p>
          <a:p>
            <a:pPr algn="ctr" eaLnBrk="0" hangingPunct="0"/>
            <a:r>
              <a:rPr lang="en-US" sz="2000" dirty="0">
                <a:solidFill>
                  <a:srgbClr val="000000"/>
                </a:solidFill>
                <a:latin typeface="Verdana" charset="0"/>
              </a:rPr>
              <a:t>Physical tags</a:t>
            </a:r>
          </a:p>
          <a:p>
            <a:pPr algn="ctr" eaLnBrk="0" hangingPunct="0"/>
            <a:r>
              <a:rPr lang="en-US" sz="2000" dirty="0">
                <a:solidFill>
                  <a:srgbClr val="000000"/>
                </a:solidFill>
                <a:latin typeface="Verdana" charset="0"/>
              </a:rPr>
              <a:t>Or</a:t>
            </a:r>
          </a:p>
          <a:p>
            <a:pPr algn="ctr" eaLnBrk="0" hangingPunct="0"/>
            <a:r>
              <a:rPr lang="en-US" sz="2000" dirty="0">
                <a:solidFill>
                  <a:srgbClr val="000000"/>
                </a:solidFill>
                <a:latin typeface="Verdana" charset="0"/>
              </a:rPr>
              <a:t>Flush on context switch</a:t>
            </a:r>
          </a:p>
          <a:p>
            <a:pPr algn="ctr" eaLnBrk="0" hangingPunct="0"/>
            <a:endParaRPr lang="en-US" sz="2000" dirty="0">
              <a:solidFill>
                <a:srgbClr val="000000"/>
              </a:solidFill>
              <a:latin typeface="Verdana" charset="0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EF40547-9281-011C-D5A5-B714DFD7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546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77740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8B1FE-BC43-4CD2-8854-0530A28E7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VIPT Caches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32F74B-7FE8-4DD8-98F3-DD9E874E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19</a:t>
            </a:fld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9572DA-868E-47D7-9879-80322B70C745}"/>
              </a:ext>
            </a:extLst>
          </p:cNvPr>
          <p:cNvSpPr txBox="1">
            <a:spLocks/>
          </p:cNvSpPr>
          <p:nvPr/>
        </p:nvSpPr>
        <p:spPr>
          <a:xfrm>
            <a:off x="622651" y="1431417"/>
            <a:ext cx="9693398" cy="51943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609585" lvl="0" indent="-55878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 panose="020B0604020202020204" pitchFamily="34" charset="0"/>
              <a:buChar char="●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558786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 sz="2400" kern="120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828754" lvl="2" indent="-558786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■"/>
              <a:defRPr sz="2000" kern="120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2438339" lvl="3" indent="-558786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●"/>
              <a:defRPr sz="1800" kern="120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3047924" lvl="4" indent="-558786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 sz="1800" kern="120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3657509" lvl="5" indent="-558786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■"/>
              <a:defRPr sz="1800" kern="120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4267093" lvl="6" indent="-558786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●"/>
              <a:defRPr sz="1800" kern="120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4876678" lvl="7" indent="-558786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 sz="1800" kern="120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5486263" lvl="8" indent="-558786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SzPts val="3000"/>
              <a:buFont typeface="Cambria"/>
              <a:buChar char="■"/>
              <a:defRPr sz="1800" kern="120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If </a:t>
            </a:r>
            <a:r>
              <a:rPr lang="en-US" altLang="en-US" dirty="0">
                <a:solidFill>
                  <a:schemeClr val="accent2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C</a:t>
            </a:r>
            <a:r>
              <a:rPr lang="en-US" altLang="en-US" dirty="0">
                <a:solidFill>
                  <a:schemeClr val="accent2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≤(</a:t>
            </a:r>
            <a:r>
              <a:rPr lang="en-US" altLang="en-US" dirty="0" err="1">
                <a:solidFill>
                  <a:schemeClr val="accent2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page_size</a:t>
            </a:r>
            <a:r>
              <a:rPr lang="en-US" altLang="en-US" dirty="0">
                <a:solidFill>
                  <a:schemeClr val="accent2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Calibri" panose="020F0502020204030204" pitchFamily="34" charset="0"/>
                <a:ea typeface="ＭＳ Ｐゴシック" panose="020B0600070205080204" pitchFamily="34" charset="-128"/>
                <a:sym typeface="Symbol" panose="05050102010706020507" pitchFamily="18" charset="2"/>
              </a:rPr>
              <a:t></a:t>
            </a:r>
            <a:r>
              <a:rPr lang="en-US" altLang="en-US" dirty="0">
                <a:solidFill>
                  <a:schemeClr val="accent2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 associativity)</a:t>
            </a: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, the cache index bits come only from page offset </a:t>
            </a:r>
            <a:r>
              <a:rPr lang="en-US" altLang="en-US" dirty="0">
                <a:solidFill>
                  <a:srgbClr val="C00000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(same in VA and PA)</a:t>
            </a:r>
          </a:p>
          <a:p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If both cache and TLB are on chip: index both arrays concurrently using VA bits, check cache tag (physical) against TLB output at the end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3FDE3D6-70B1-43C8-A8CF-E5263CAF1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4846" y="3125279"/>
            <a:ext cx="1905000" cy="381000"/>
          </a:xfrm>
          <a:prstGeom prst="rect">
            <a:avLst/>
          </a:prstGeom>
          <a:solidFill>
            <a:srgbClr val="C0C0C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Calibri" panose="020F0502020204030204" pitchFamily="34" charset="0"/>
              </a:rPr>
              <a:t>VPN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C82A290-93F7-4F14-9EF6-326A01278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9846" y="3125279"/>
            <a:ext cx="1524000" cy="381000"/>
          </a:xfrm>
          <a:prstGeom prst="rect">
            <a:avLst/>
          </a:prstGeom>
          <a:solidFill>
            <a:srgbClr val="C0C0C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dirty="0">
                <a:latin typeface="Calibri" panose="020F0502020204030204" pitchFamily="34" charset="0"/>
              </a:rPr>
              <a:t>Page Offset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CC2760F-4350-4BF0-9CCD-5F4A0ECB3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0446" y="3811079"/>
            <a:ext cx="1143000" cy="990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Calibri" panose="020F0502020204030204" pitchFamily="34" charset="0"/>
              </a:rPr>
              <a:t>TLB</a:t>
            </a:r>
          </a:p>
        </p:txBody>
      </p:sp>
      <p:cxnSp>
        <p:nvCxnSpPr>
          <p:cNvPr id="10" name="AutoShape 7">
            <a:extLst>
              <a:ext uri="{FF2B5EF4-FFF2-40B4-BE49-F238E27FC236}">
                <a16:creationId xmlns:a16="http://schemas.microsoft.com/office/drawing/2014/main" id="{2A18AD64-AF7F-49BB-840E-10D7C8067695}"/>
              </a:ext>
            </a:extLst>
          </p:cNvPr>
          <p:cNvCxnSpPr>
            <a:cxnSpLocks noChangeShapeType="1"/>
            <a:stCxn id="7" idx="2"/>
            <a:endCxn id="9" idx="0"/>
          </p:cNvCxnSpPr>
          <p:nvPr/>
        </p:nvCxnSpPr>
        <p:spPr bwMode="auto">
          <a:xfrm rot="5400000">
            <a:off x="5976771" y="3010979"/>
            <a:ext cx="285750" cy="129540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Rectangle 8">
            <a:extLst>
              <a:ext uri="{FF2B5EF4-FFF2-40B4-BE49-F238E27FC236}">
                <a16:creationId xmlns:a16="http://schemas.microsoft.com/office/drawing/2014/main" id="{480EF93D-BC87-49D0-8213-99F641D78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446" y="5182679"/>
            <a:ext cx="1905000" cy="381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Calibri" panose="020F0502020204030204" pitchFamily="34" charset="0"/>
              </a:rPr>
              <a:t>PPN</a:t>
            </a:r>
          </a:p>
        </p:txBody>
      </p:sp>
      <p:cxnSp>
        <p:nvCxnSpPr>
          <p:cNvPr id="12" name="AutoShape 9">
            <a:extLst>
              <a:ext uri="{FF2B5EF4-FFF2-40B4-BE49-F238E27FC236}">
                <a16:creationId xmlns:a16="http://schemas.microsoft.com/office/drawing/2014/main" id="{D7A6BC9A-EC86-4E78-88D4-0132A2CB400C}"/>
              </a:ext>
            </a:extLst>
          </p:cNvPr>
          <p:cNvCxnSpPr>
            <a:cxnSpLocks noChangeShapeType="1"/>
            <a:stCxn id="9" idx="2"/>
            <a:endCxn id="11" idx="0"/>
          </p:cNvCxnSpPr>
          <p:nvPr/>
        </p:nvCxnSpPr>
        <p:spPr bwMode="auto">
          <a:xfrm rot="5400000">
            <a:off x="5290971" y="4992179"/>
            <a:ext cx="3619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Rectangle 10">
            <a:extLst>
              <a:ext uri="{FF2B5EF4-FFF2-40B4-BE49-F238E27FC236}">
                <a16:creationId xmlns:a16="http://schemas.microsoft.com/office/drawing/2014/main" id="{F24FC236-71AC-4247-BEC8-735266C5C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9846" y="3506279"/>
            <a:ext cx="1066800" cy="3048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Calibri" panose="020F0502020204030204" pitchFamily="34" charset="0"/>
              </a:rPr>
              <a:t>Index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F43BD1DC-CC01-4E8B-9A04-644739FD5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6646" y="3506279"/>
            <a:ext cx="457200" cy="3048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Calibri" panose="020F0502020204030204" pitchFamily="34" charset="0"/>
              </a:rPr>
              <a:t>BiB</a:t>
            </a: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27AD9844-36C6-4241-98C7-6ED9B09EE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9446" y="4039679"/>
            <a:ext cx="1219200" cy="838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Calibri" panose="020F0502020204030204" pitchFamily="34" charset="0"/>
              </a:rPr>
              <a:t>physical</a:t>
            </a:r>
          </a:p>
          <a:p>
            <a:pPr eaLnBrk="1" hangingPunct="1"/>
            <a:r>
              <a:rPr lang="en-US" altLang="en-US" sz="1800">
                <a:latin typeface="Calibri" panose="020F0502020204030204" pitchFamily="34" charset="0"/>
              </a:rPr>
              <a:t>cache</a:t>
            </a:r>
          </a:p>
        </p:txBody>
      </p:sp>
      <p:cxnSp>
        <p:nvCxnSpPr>
          <p:cNvPr id="16" name="AutoShape 13">
            <a:extLst>
              <a:ext uri="{FF2B5EF4-FFF2-40B4-BE49-F238E27FC236}">
                <a16:creationId xmlns:a16="http://schemas.microsoft.com/office/drawing/2014/main" id="{95A969BB-D3EA-4CF6-9591-A373FE779399}"/>
              </a:ext>
            </a:extLst>
          </p:cNvPr>
          <p:cNvCxnSpPr>
            <a:cxnSpLocks noChangeShapeType="1"/>
            <a:stCxn id="13" idx="2"/>
            <a:endCxn id="15" idx="0"/>
          </p:cNvCxnSpPr>
          <p:nvPr/>
        </p:nvCxnSpPr>
        <p:spPr bwMode="auto">
          <a:xfrm rot="16200000" flipH="1">
            <a:off x="8491371" y="3582479"/>
            <a:ext cx="209550" cy="68580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Rectangle 14">
            <a:extLst>
              <a:ext uri="{FF2B5EF4-FFF2-40B4-BE49-F238E27FC236}">
                <a16:creationId xmlns:a16="http://schemas.microsoft.com/office/drawing/2014/main" id="{99A8B083-3B80-42D5-8396-A34B7E236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8846" y="5182679"/>
            <a:ext cx="1828800" cy="381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Calibri" panose="020F0502020204030204" pitchFamily="34" charset="0"/>
              </a:rPr>
              <a:t>tag</a:t>
            </a:r>
          </a:p>
        </p:txBody>
      </p:sp>
      <p:cxnSp>
        <p:nvCxnSpPr>
          <p:cNvPr id="18" name="AutoShape 15">
            <a:extLst>
              <a:ext uri="{FF2B5EF4-FFF2-40B4-BE49-F238E27FC236}">
                <a16:creationId xmlns:a16="http://schemas.microsoft.com/office/drawing/2014/main" id="{11820C7F-9B0F-4740-9D1E-5F930CD7C2D1}"/>
              </a:ext>
            </a:extLst>
          </p:cNvPr>
          <p:cNvCxnSpPr>
            <a:cxnSpLocks noChangeShapeType="1"/>
            <a:stCxn id="15" idx="2"/>
            <a:endCxn id="17" idx="0"/>
          </p:cNvCxnSpPr>
          <p:nvPr/>
        </p:nvCxnSpPr>
        <p:spPr bwMode="auto">
          <a:xfrm rot="5400000">
            <a:off x="8453271" y="4687379"/>
            <a:ext cx="285750" cy="68580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Rectangle 16">
            <a:extLst>
              <a:ext uri="{FF2B5EF4-FFF2-40B4-BE49-F238E27FC236}">
                <a16:creationId xmlns:a16="http://schemas.microsoft.com/office/drawing/2014/main" id="{DE86E8D5-AA09-4957-A5EE-50243A031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2446" y="5182679"/>
            <a:ext cx="1828800" cy="381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Calibri" panose="020F0502020204030204" pitchFamily="34" charset="0"/>
              </a:rPr>
              <a:t>data</a:t>
            </a:r>
          </a:p>
        </p:txBody>
      </p:sp>
      <p:cxnSp>
        <p:nvCxnSpPr>
          <p:cNvPr id="20" name="AutoShape 17">
            <a:extLst>
              <a:ext uri="{FF2B5EF4-FFF2-40B4-BE49-F238E27FC236}">
                <a16:creationId xmlns:a16="http://schemas.microsoft.com/office/drawing/2014/main" id="{39A4998D-6C71-4EAF-922F-1F0050B7BB03}"/>
              </a:ext>
            </a:extLst>
          </p:cNvPr>
          <p:cNvCxnSpPr>
            <a:cxnSpLocks noChangeShapeType="1"/>
            <a:stCxn id="15" idx="2"/>
            <a:endCxn id="19" idx="0"/>
          </p:cNvCxnSpPr>
          <p:nvPr/>
        </p:nvCxnSpPr>
        <p:spPr bwMode="auto">
          <a:xfrm rot="16200000" flipH="1">
            <a:off x="9520071" y="4306379"/>
            <a:ext cx="285750" cy="144780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Oval 18">
            <a:extLst>
              <a:ext uri="{FF2B5EF4-FFF2-40B4-BE49-F238E27FC236}">
                <a16:creationId xmlns:a16="http://schemas.microsoft.com/office/drawing/2014/main" id="{EDE79B53-7028-4B4E-AE69-F81E20315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7809" y="5149342"/>
            <a:ext cx="457200" cy="4572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Calibri" panose="020F0502020204030204" pitchFamily="34" charset="0"/>
              </a:rPr>
              <a:t>=</a:t>
            </a:r>
          </a:p>
        </p:txBody>
      </p:sp>
      <p:cxnSp>
        <p:nvCxnSpPr>
          <p:cNvPr id="22" name="AutoShape 19">
            <a:extLst>
              <a:ext uri="{FF2B5EF4-FFF2-40B4-BE49-F238E27FC236}">
                <a16:creationId xmlns:a16="http://schemas.microsoft.com/office/drawing/2014/main" id="{F84A3A6D-6127-4F0A-B1F1-2FF204913DC0}"/>
              </a:ext>
            </a:extLst>
          </p:cNvPr>
          <p:cNvCxnSpPr>
            <a:cxnSpLocks noChangeShapeType="1"/>
            <a:stCxn id="11" idx="3"/>
            <a:endCxn id="21" idx="2"/>
          </p:cNvCxnSpPr>
          <p:nvPr/>
        </p:nvCxnSpPr>
        <p:spPr bwMode="auto">
          <a:xfrm>
            <a:off x="6433971" y="5373179"/>
            <a:ext cx="214313" cy="4763"/>
          </a:xfrm>
          <a:prstGeom prst="bentConnector3">
            <a:avLst>
              <a:gd name="adj1" fmla="val 4963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AutoShape 20">
            <a:extLst>
              <a:ext uri="{FF2B5EF4-FFF2-40B4-BE49-F238E27FC236}">
                <a16:creationId xmlns:a16="http://schemas.microsoft.com/office/drawing/2014/main" id="{A7B04672-DFAA-40DD-BCB4-C00C8EC58260}"/>
              </a:ext>
            </a:extLst>
          </p:cNvPr>
          <p:cNvCxnSpPr>
            <a:cxnSpLocks noChangeShapeType="1"/>
            <a:stCxn id="17" idx="1"/>
            <a:endCxn id="21" idx="6"/>
          </p:cNvCxnSpPr>
          <p:nvPr/>
        </p:nvCxnSpPr>
        <p:spPr bwMode="auto">
          <a:xfrm rot="10800000" flipV="1">
            <a:off x="7124534" y="5373179"/>
            <a:ext cx="204787" cy="4763"/>
          </a:xfrm>
          <a:prstGeom prst="bentConnector3">
            <a:avLst>
              <a:gd name="adj1" fmla="val 49611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Text Box 21">
            <a:extLst>
              <a:ext uri="{FF2B5EF4-FFF2-40B4-BE49-F238E27FC236}">
                <a16:creationId xmlns:a16="http://schemas.microsoft.com/office/drawing/2014/main" id="{84D4C6C3-E792-4489-A00F-6245DF44E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4096" y="5798629"/>
            <a:ext cx="14525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cache hit?</a:t>
            </a:r>
          </a:p>
        </p:txBody>
      </p:sp>
      <p:cxnSp>
        <p:nvCxnSpPr>
          <p:cNvPr id="25" name="AutoShape 22">
            <a:extLst>
              <a:ext uri="{FF2B5EF4-FFF2-40B4-BE49-F238E27FC236}">
                <a16:creationId xmlns:a16="http://schemas.microsoft.com/office/drawing/2014/main" id="{2B67E9A5-A545-44F3-BC98-CC89CDB6736D}"/>
              </a:ext>
            </a:extLst>
          </p:cNvPr>
          <p:cNvCxnSpPr>
            <a:cxnSpLocks noChangeShapeType="1"/>
            <a:stCxn id="21" idx="4"/>
            <a:endCxn id="24" idx="0"/>
          </p:cNvCxnSpPr>
          <p:nvPr/>
        </p:nvCxnSpPr>
        <p:spPr bwMode="auto">
          <a:xfrm rot="16200000" flipH="1">
            <a:off x="6792746" y="5700205"/>
            <a:ext cx="192087" cy="4762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Box 24">
            <a:extLst>
              <a:ext uri="{FF2B5EF4-FFF2-40B4-BE49-F238E27FC236}">
                <a16:creationId xmlns:a16="http://schemas.microsoft.com/office/drawing/2014/main" id="{EB3A5F39-8515-46DC-833D-D51863B1B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7096" y="5798629"/>
            <a:ext cx="11795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Calibri" panose="020F0502020204030204" pitchFamily="34" charset="0"/>
              </a:rPr>
              <a:t>TLB hit?</a:t>
            </a:r>
          </a:p>
        </p:txBody>
      </p:sp>
      <p:cxnSp>
        <p:nvCxnSpPr>
          <p:cNvPr id="27" name="AutoShape 25">
            <a:extLst>
              <a:ext uri="{FF2B5EF4-FFF2-40B4-BE49-F238E27FC236}">
                <a16:creationId xmlns:a16="http://schemas.microsoft.com/office/drawing/2014/main" id="{A420B8F8-85A2-49A6-A798-7E1480EEC023}"/>
              </a:ext>
            </a:extLst>
          </p:cNvPr>
          <p:cNvCxnSpPr>
            <a:cxnSpLocks noChangeShapeType="1"/>
            <a:stCxn id="9" idx="1"/>
            <a:endCxn id="26" idx="0"/>
          </p:cNvCxnSpPr>
          <p:nvPr/>
        </p:nvCxnSpPr>
        <p:spPr bwMode="auto">
          <a:xfrm rot="10800000" flipV="1">
            <a:off x="4086059" y="4306379"/>
            <a:ext cx="814387" cy="1492250"/>
          </a:xfrm>
          <a:prstGeom prst="bentConnector2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7F5A0F9-FF0C-259B-5CDD-8857FFBB0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546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3098600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67927-EC97-00EB-F5A0-0C0A71DEE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7184"/>
            <a:ext cx="10515600" cy="1325563"/>
          </a:xfrm>
        </p:spPr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544B21-E415-C531-9418-09F56436D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7C6BCA-5908-211F-3AB0-7D2D5C72B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20</a:t>
            </a:fld>
            <a:endParaRPr lang="en-IN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97B581EF-B7B2-BFBF-F3D0-9A7346BFE70D}"/>
              </a:ext>
            </a:extLst>
          </p:cNvPr>
          <p:cNvSpPr txBox="1">
            <a:spLocks/>
          </p:cNvSpPr>
          <p:nvPr/>
        </p:nvSpPr>
        <p:spPr>
          <a:xfrm>
            <a:off x="2227371" y="502973"/>
            <a:ext cx="9278471" cy="980060"/>
          </a:xfrm>
          <a:prstGeom prst="rect">
            <a:avLst/>
          </a:prstGeom>
        </p:spPr>
        <p:txBody>
          <a:bodyPr vert="horz" wrap="square" lIns="0" tIns="22971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80340" marR="4483" indent="-508214">
              <a:lnSpc>
                <a:spcPts val="3591"/>
              </a:lnSpc>
              <a:spcBef>
                <a:spcPts val="180"/>
              </a:spcBef>
            </a:pPr>
            <a:r>
              <a:rPr lang="en-US"/>
              <a:t>Concurrent </a:t>
            </a:r>
            <a:r>
              <a:rPr lang="en-US" spc="-4"/>
              <a:t>Access </a:t>
            </a:r>
            <a:r>
              <a:rPr lang="en-US"/>
              <a:t>to TLB &amp; </a:t>
            </a:r>
            <a:r>
              <a:rPr lang="en-US" spc="-4"/>
              <a:t>Cache </a:t>
            </a:r>
            <a:r>
              <a:rPr lang="en-US" spc="-666"/>
              <a:t> </a:t>
            </a:r>
            <a:r>
              <a:rPr lang="en-US" spc="-4"/>
              <a:t>(Virtual</a:t>
            </a:r>
            <a:r>
              <a:rPr lang="en-US"/>
              <a:t> </a:t>
            </a:r>
            <a:r>
              <a:rPr lang="en-US" spc="-4"/>
              <a:t>Index/Physical</a:t>
            </a:r>
            <a:r>
              <a:rPr lang="en-US" spc="4"/>
              <a:t> </a:t>
            </a:r>
            <a:r>
              <a:rPr lang="en-US" spc="-4"/>
              <a:t>Tag)</a:t>
            </a:r>
            <a:endParaRPr lang="en-US" spc="-4" dirty="0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515116C8-F0F5-0010-3E40-6515CFD15D7C}"/>
              </a:ext>
            </a:extLst>
          </p:cNvPr>
          <p:cNvSpPr txBox="1"/>
          <p:nvPr/>
        </p:nvSpPr>
        <p:spPr>
          <a:xfrm>
            <a:off x="2341671" y="4817908"/>
            <a:ext cx="6852397" cy="1513423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spcBef>
                <a:spcPts val="101"/>
              </a:spcBef>
            </a:pPr>
            <a:r>
              <a:rPr sz="2250" spc="-4" dirty="0">
                <a:latin typeface="Calibri"/>
                <a:cs typeface="Calibri"/>
              </a:rPr>
              <a:t>Index</a:t>
            </a:r>
            <a:r>
              <a:rPr sz="2250" spc="-18" dirty="0">
                <a:latin typeface="Calibri"/>
                <a:cs typeface="Calibri"/>
              </a:rPr>
              <a:t> </a:t>
            </a:r>
            <a:r>
              <a:rPr sz="2250" spc="4" dirty="0">
                <a:latin typeface="Calibri"/>
                <a:cs typeface="Calibri"/>
              </a:rPr>
              <a:t>L</a:t>
            </a:r>
            <a:r>
              <a:rPr sz="2250" spc="-9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is</a:t>
            </a:r>
            <a:r>
              <a:rPr sz="2250" spc="-9" dirty="0">
                <a:latin typeface="Calibri"/>
                <a:cs typeface="Calibri"/>
              </a:rPr>
              <a:t> available</a:t>
            </a:r>
            <a:r>
              <a:rPr sz="2250" spc="-4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without</a:t>
            </a:r>
            <a:r>
              <a:rPr sz="2250" spc="-13" dirty="0">
                <a:latin typeface="Calibri"/>
                <a:cs typeface="Calibri"/>
              </a:rPr>
              <a:t> </a:t>
            </a:r>
            <a:r>
              <a:rPr sz="2250" spc="-4" dirty="0">
                <a:latin typeface="Calibri"/>
                <a:cs typeface="Calibri"/>
              </a:rPr>
              <a:t>consulting</a:t>
            </a:r>
            <a:r>
              <a:rPr sz="2250" spc="-13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the</a:t>
            </a:r>
            <a:r>
              <a:rPr sz="2250" spc="-4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TLB</a:t>
            </a:r>
            <a:endParaRPr sz="2250">
              <a:latin typeface="Calibri"/>
              <a:cs typeface="Calibri"/>
            </a:endParaRPr>
          </a:p>
          <a:p>
            <a:pPr marL="440414">
              <a:spcBef>
                <a:spcPts val="4"/>
              </a:spcBef>
              <a:tabLst>
                <a:tab pos="864019" algn="l"/>
              </a:tabLst>
            </a:pPr>
            <a:r>
              <a:rPr sz="2250" spc="13" dirty="0">
                <a:latin typeface="Wingdings"/>
                <a:cs typeface="Wingdings"/>
              </a:rPr>
              <a:t></a:t>
            </a:r>
            <a:r>
              <a:rPr sz="2250" spc="13" dirty="0">
                <a:latin typeface="Times New Roman"/>
                <a:cs typeface="Times New Roman"/>
              </a:rPr>
              <a:t>	</a:t>
            </a:r>
            <a:r>
              <a:rPr sz="2250" i="1" dirty="0">
                <a:solidFill>
                  <a:srgbClr val="56127A"/>
                </a:solidFill>
                <a:latin typeface="Calibri"/>
                <a:cs typeface="Calibri"/>
              </a:rPr>
              <a:t>cache</a:t>
            </a:r>
            <a:r>
              <a:rPr sz="2250" i="1" spc="-4" dirty="0">
                <a:solidFill>
                  <a:srgbClr val="56127A"/>
                </a:solidFill>
                <a:latin typeface="Calibri"/>
                <a:cs typeface="Calibri"/>
              </a:rPr>
              <a:t> </a:t>
            </a:r>
            <a:r>
              <a:rPr sz="2250" i="1" spc="4" dirty="0">
                <a:solidFill>
                  <a:srgbClr val="56127A"/>
                </a:solidFill>
                <a:latin typeface="Calibri"/>
                <a:cs typeface="Calibri"/>
              </a:rPr>
              <a:t>and</a:t>
            </a:r>
            <a:r>
              <a:rPr sz="2250" i="1" spc="-4" dirty="0">
                <a:solidFill>
                  <a:srgbClr val="56127A"/>
                </a:solidFill>
                <a:latin typeface="Calibri"/>
                <a:cs typeface="Calibri"/>
              </a:rPr>
              <a:t> </a:t>
            </a:r>
            <a:r>
              <a:rPr sz="2250" i="1" spc="4" dirty="0">
                <a:solidFill>
                  <a:srgbClr val="56127A"/>
                </a:solidFill>
                <a:latin typeface="Calibri"/>
                <a:cs typeface="Calibri"/>
              </a:rPr>
              <a:t>TLB</a:t>
            </a:r>
            <a:r>
              <a:rPr sz="2250" i="1" spc="-13" dirty="0">
                <a:solidFill>
                  <a:srgbClr val="56127A"/>
                </a:solidFill>
                <a:latin typeface="Calibri"/>
                <a:cs typeface="Calibri"/>
              </a:rPr>
              <a:t> </a:t>
            </a:r>
            <a:r>
              <a:rPr sz="2250" i="1" spc="-4" dirty="0">
                <a:solidFill>
                  <a:srgbClr val="56127A"/>
                </a:solidFill>
                <a:latin typeface="Calibri"/>
                <a:cs typeface="Calibri"/>
              </a:rPr>
              <a:t>accesses</a:t>
            </a:r>
            <a:r>
              <a:rPr sz="2250" i="1" dirty="0">
                <a:solidFill>
                  <a:srgbClr val="56127A"/>
                </a:solidFill>
                <a:latin typeface="Calibri"/>
                <a:cs typeface="Calibri"/>
              </a:rPr>
              <a:t> </a:t>
            </a:r>
            <a:r>
              <a:rPr sz="2250" i="1" spc="-4" dirty="0">
                <a:solidFill>
                  <a:srgbClr val="56127A"/>
                </a:solidFill>
                <a:latin typeface="Calibri"/>
                <a:cs typeface="Calibri"/>
              </a:rPr>
              <a:t>can </a:t>
            </a:r>
            <a:r>
              <a:rPr sz="2250" i="1" dirty="0">
                <a:solidFill>
                  <a:srgbClr val="56127A"/>
                </a:solidFill>
                <a:latin typeface="Calibri"/>
                <a:cs typeface="Calibri"/>
              </a:rPr>
              <a:t>begin </a:t>
            </a:r>
            <a:r>
              <a:rPr sz="2250" i="1" spc="-4" dirty="0">
                <a:solidFill>
                  <a:srgbClr val="56127A"/>
                </a:solidFill>
                <a:latin typeface="Calibri"/>
                <a:cs typeface="Calibri"/>
              </a:rPr>
              <a:t>simultaneously!</a:t>
            </a:r>
            <a:endParaRPr sz="2250">
              <a:latin typeface="Calibri"/>
              <a:cs typeface="Calibri"/>
            </a:endParaRPr>
          </a:p>
          <a:p>
            <a:pPr marL="11206">
              <a:lnSpc>
                <a:spcPts val="2682"/>
              </a:lnSpc>
              <a:spcBef>
                <a:spcPts val="9"/>
              </a:spcBef>
            </a:pPr>
            <a:r>
              <a:rPr sz="2250" spc="-57" dirty="0">
                <a:latin typeface="Calibri"/>
                <a:cs typeface="Calibri"/>
              </a:rPr>
              <a:t>Tag</a:t>
            </a:r>
            <a:r>
              <a:rPr sz="2250" spc="-18" dirty="0">
                <a:latin typeface="Calibri"/>
                <a:cs typeface="Calibri"/>
              </a:rPr>
              <a:t> </a:t>
            </a:r>
            <a:r>
              <a:rPr sz="2250" spc="-4" dirty="0">
                <a:latin typeface="Calibri"/>
                <a:cs typeface="Calibri"/>
              </a:rPr>
              <a:t>comparison</a:t>
            </a:r>
            <a:r>
              <a:rPr sz="2250" spc="-13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is</a:t>
            </a:r>
            <a:r>
              <a:rPr sz="2250" spc="-13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made</a:t>
            </a:r>
            <a:r>
              <a:rPr sz="2250" spc="-9" dirty="0">
                <a:latin typeface="Calibri"/>
                <a:cs typeface="Calibri"/>
              </a:rPr>
              <a:t> </a:t>
            </a:r>
            <a:r>
              <a:rPr sz="2250" spc="-4" dirty="0">
                <a:latin typeface="Calibri"/>
                <a:cs typeface="Calibri"/>
              </a:rPr>
              <a:t>after</a:t>
            </a:r>
            <a:r>
              <a:rPr sz="2250" spc="-9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both</a:t>
            </a:r>
            <a:r>
              <a:rPr sz="2250" spc="-13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accesses</a:t>
            </a:r>
            <a:r>
              <a:rPr sz="2250" spc="-18" dirty="0">
                <a:latin typeface="Calibri"/>
                <a:cs typeface="Calibri"/>
              </a:rPr>
              <a:t> </a:t>
            </a:r>
            <a:r>
              <a:rPr sz="2250" spc="-9" dirty="0">
                <a:latin typeface="Calibri"/>
                <a:cs typeface="Calibri"/>
              </a:rPr>
              <a:t>are</a:t>
            </a:r>
            <a:r>
              <a:rPr sz="2250" spc="-4" dirty="0">
                <a:latin typeface="Calibri"/>
                <a:cs typeface="Calibri"/>
              </a:rPr>
              <a:t> completed</a:t>
            </a:r>
            <a:endParaRPr sz="2250">
              <a:latin typeface="Calibri"/>
              <a:cs typeface="Calibri"/>
            </a:endParaRPr>
          </a:p>
          <a:p>
            <a:pPr marL="11206">
              <a:lnSpc>
                <a:spcPts val="3583"/>
              </a:lnSpc>
              <a:tabLst>
                <a:tab pos="2583094" algn="l"/>
                <a:tab pos="4110537" algn="l"/>
              </a:tabLst>
            </a:pPr>
            <a:r>
              <a:rPr sz="3000" i="1" dirty="0">
                <a:latin typeface="Calibri"/>
                <a:cs typeface="Calibri"/>
              </a:rPr>
              <a:t>Cases:</a:t>
            </a:r>
            <a:r>
              <a:rPr sz="3000" i="1" spc="-168" dirty="0">
                <a:latin typeface="Calibri"/>
                <a:cs typeface="Calibri"/>
              </a:rPr>
              <a:t> </a:t>
            </a:r>
            <a:r>
              <a:rPr sz="3000" i="1" dirty="0">
                <a:solidFill>
                  <a:srgbClr val="56127A"/>
                </a:solidFill>
                <a:latin typeface="Calibri"/>
                <a:cs typeface="Calibri"/>
              </a:rPr>
              <a:t>L</a:t>
            </a:r>
            <a:r>
              <a:rPr sz="3000" i="1" spc="9" dirty="0">
                <a:solidFill>
                  <a:srgbClr val="56127A"/>
                </a:solidFill>
                <a:latin typeface="Calibri"/>
                <a:cs typeface="Calibri"/>
              </a:rPr>
              <a:t> </a:t>
            </a:r>
            <a:r>
              <a:rPr sz="3000" i="1" dirty="0">
                <a:solidFill>
                  <a:srgbClr val="56127A"/>
                </a:solidFill>
                <a:latin typeface="Calibri"/>
                <a:cs typeface="Calibri"/>
              </a:rPr>
              <a:t>+</a:t>
            </a:r>
            <a:r>
              <a:rPr sz="3000" i="1" spc="18" dirty="0">
                <a:solidFill>
                  <a:srgbClr val="56127A"/>
                </a:solidFill>
                <a:latin typeface="Calibri"/>
                <a:cs typeface="Calibri"/>
              </a:rPr>
              <a:t> </a:t>
            </a:r>
            <a:r>
              <a:rPr sz="3000" i="1" dirty="0">
                <a:solidFill>
                  <a:srgbClr val="56127A"/>
                </a:solidFill>
                <a:latin typeface="Calibri"/>
                <a:cs typeface="Calibri"/>
              </a:rPr>
              <a:t>b</a:t>
            </a:r>
            <a:r>
              <a:rPr sz="3000" i="1" spc="9" dirty="0">
                <a:solidFill>
                  <a:srgbClr val="56127A"/>
                </a:solidFill>
                <a:latin typeface="Calibri"/>
                <a:cs typeface="Calibri"/>
              </a:rPr>
              <a:t> </a:t>
            </a:r>
            <a:r>
              <a:rPr sz="3000" i="1" dirty="0">
                <a:solidFill>
                  <a:srgbClr val="56127A"/>
                </a:solidFill>
                <a:latin typeface="Calibri"/>
                <a:cs typeface="Calibri"/>
              </a:rPr>
              <a:t>=</a:t>
            </a:r>
            <a:r>
              <a:rPr sz="3000" i="1" spc="13" dirty="0">
                <a:solidFill>
                  <a:srgbClr val="56127A"/>
                </a:solidFill>
                <a:latin typeface="Calibri"/>
                <a:cs typeface="Calibri"/>
              </a:rPr>
              <a:t> </a:t>
            </a:r>
            <a:r>
              <a:rPr sz="3000" i="1" spc="-4" dirty="0">
                <a:solidFill>
                  <a:srgbClr val="56127A"/>
                </a:solidFill>
                <a:latin typeface="Calibri"/>
                <a:cs typeface="Calibri"/>
              </a:rPr>
              <a:t>k,	</a:t>
            </a:r>
            <a:r>
              <a:rPr sz="3000" i="1" dirty="0">
                <a:solidFill>
                  <a:srgbClr val="56127A"/>
                </a:solidFill>
                <a:latin typeface="Calibri"/>
                <a:cs typeface="Calibri"/>
              </a:rPr>
              <a:t>L</a:t>
            </a:r>
            <a:r>
              <a:rPr sz="3000" i="1" spc="9" dirty="0">
                <a:solidFill>
                  <a:srgbClr val="56127A"/>
                </a:solidFill>
                <a:latin typeface="Calibri"/>
                <a:cs typeface="Calibri"/>
              </a:rPr>
              <a:t> </a:t>
            </a:r>
            <a:r>
              <a:rPr sz="3000" i="1" dirty="0">
                <a:solidFill>
                  <a:srgbClr val="56127A"/>
                </a:solidFill>
                <a:latin typeface="Calibri"/>
                <a:cs typeface="Calibri"/>
              </a:rPr>
              <a:t>+</a:t>
            </a:r>
            <a:r>
              <a:rPr sz="3000" i="1" spc="4" dirty="0">
                <a:solidFill>
                  <a:srgbClr val="56127A"/>
                </a:solidFill>
                <a:latin typeface="Calibri"/>
                <a:cs typeface="Calibri"/>
              </a:rPr>
              <a:t> </a:t>
            </a:r>
            <a:r>
              <a:rPr sz="3000" i="1" dirty="0">
                <a:solidFill>
                  <a:srgbClr val="56127A"/>
                </a:solidFill>
                <a:latin typeface="Calibri"/>
                <a:cs typeface="Calibri"/>
              </a:rPr>
              <a:t>b</a:t>
            </a:r>
            <a:r>
              <a:rPr sz="3000" i="1" spc="13" dirty="0">
                <a:solidFill>
                  <a:srgbClr val="56127A"/>
                </a:solidFill>
                <a:latin typeface="Calibri"/>
                <a:cs typeface="Calibri"/>
              </a:rPr>
              <a:t> </a:t>
            </a:r>
            <a:r>
              <a:rPr sz="3000" i="1" dirty="0">
                <a:solidFill>
                  <a:srgbClr val="56127A"/>
                </a:solidFill>
                <a:latin typeface="Calibri"/>
                <a:cs typeface="Calibri"/>
              </a:rPr>
              <a:t>&lt;</a:t>
            </a:r>
            <a:r>
              <a:rPr sz="3000" i="1" spc="9" dirty="0">
                <a:solidFill>
                  <a:srgbClr val="56127A"/>
                </a:solidFill>
                <a:latin typeface="Calibri"/>
                <a:cs typeface="Calibri"/>
              </a:rPr>
              <a:t> </a:t>
            </a:r>
            <a:r>
              <a:rPr sz="3000" i="1" spc="-4" dirty="0">
                <a:solidFill>
                  <a:srgbClr val="56127A"/>
                </a:solidFill>
                <a:latin typeface="Calibri"/>
                <a:cs typeface="Calibri"/>
              </a:rPr>
              <a:t>k,	</a:t>
            </a:r>
            <a:r>
              <a:rPr sz="3000" i="1" dirty="0">
                <a:solidFill>
                  <a:srgbClr val="56127A"/>
                </a:solidFill>
                <a:latin typeface="Calibri"/>
                <a:cs typeface="Calibri"/>
              </a:rPr>
              <a:t>L</a:t>
            </a:r>
            <a:r>
              <a:rPr sz="3000" i="1" spc="-9" dirty="0">
                <a:solidFill>
                  <a:srgbClr val="56127A"/>
                </a:solidFill>
                <a:latin typeface="Calibri"/>
                <a:cs typeface="Calibri"/>
              </a:rPr>
              <a:t> </a:t>
            </a:r>
            <a:r>
              <a:rPr sz="3000" i="1" dirty="0">
                <a:solidFill>
                  <a:srgbClr val="56127A"/>
                </a:solidFill>
                <a:latin typeface="Calibri"/>
                <a:cs typeface="Calibri"/>
              </a:rPr>
              <a:t>+</a:t>
            </a:r>
            <a:r>
              <a:rPr sz="3000" i="1" spc="-13" dirty="0">
                <a:solidFill>
                  <a:srgbClr val="56127A"/>
                </a:solidFill>
                <a:latin typeface="Calibri"/>
                <a:cs typeface="Calibri"/>
              </a:rPr>
              <a:t> </a:t>
            </a:r>
            <a:r>
              <a:rPr sz="3000" i="1" dirty="0">
                <a:solidFill>
                  <a:srgbClr val="56127A"/>
                </a:solidFill>
                <a:latin typeface="Calibri"/>
                <a:cs typeface="Calibri"/>
              </a:rPr>
              <a:t>b</a:t>
            </a:r>
            <a:r>
              <a:rPr sz="3000" i="1" spc="-4" dirty="0">
                <a:solidFill>
                  <a:srgbClr val="56127A"/>
                </a:solidFill>
                <a:latin typeface="Calibri"/>
                <a:cs typeface="Calibri"/>
              </a:rPr>
              <a:t> </a:t>
            </a:r>
            <a:r>
              <a:rPr sz="3000" i="1" dirty="0">
                <a:solidFill>
                  <a:srgbClr val="56127A"/>
                </a:solidFill>
                <a:latin typeface="Calibri"/>
                <a:cs typeface="Calibri"/>
              </a:rPr>
              <a:t>&gt;</a:t>
            </a:r>
            <a:r>
              <a:rPr sz="3000" i="1" spc="-9" dirty="0">
                <a:solidFill>
                  <a:srgbClr val="56127A"/>
                </a:solidFill>
                <a:latin typeface="Calibri"/>
                <a:cs typeface="Calibri"/>
              </a:rPr>
              <a:t> </a:t>
            </a:r>
            <a:r>
              <a:rPr sz="3000" i="1" dirty="0">
                <a:solidFill>
                  <a:srgbClr val="56127A"/>
                </a:solidFill>
                <a:latin typeface="Calibri"/>
                <a:cs typeface="Calibri"/>
              </a:rPr>
              <a:t>k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1C8D5ECC-F579-6418-D98B-6C79091FE51A}"/>
              </a:ext>
            </a:extLst>
          </p:cNvPr>
          <p:cNvSpPr/>
          <p:nvPr/>
        </p:nvSpPr>
        <p:spPr>
          <a:xfrm>
            <a:off x="9260182" y="3353660"/>
            <a:ext cx="71718" cy="783291"/>
          </a:xfrm>
          <a:custGeom>
            <a:avLst/>
            <a:gdLst/>
            <a:ahLst/>
            <a:cxnLst/>
            <a:rect l="l" t="t" r="r" b="b"/>
            <a:pathLst>
              <a:path w="81279" h="887729">
                <a:moveTo>
                  <a:pt x="54185" y="0"/>
                </a:moveTo>
                <a:lnTo>
                  <a:pt x="27092" y="0"/>
                </a:lnTo>
                <a:lnTo>
                  <a:pt x="27094" y="806027"/>
                </a:lnTo>
                <a:lnTo>
                  <a:pt x="0" y="806027"/>
                </a:lnTo>
                <a:lnTo>
                  <a:pt x="40641" y="887307"/>
                </a:lnTo>
                <a:lnTo>
                  <a:pt x="81279" y="806027"/>
                </a:lnTo>
                <a:lnTo>
                  <a:pt x="54187" y="806027"/>
                </a:lnTo>
                <a:lnTo>
                  <a:pt x="54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9" name="object 5">
            <a:extLst>
              <a:ext uri="{FF2B5EF4-FFF2-40B4-BE49-F238E27FC236}">
                <a16:creationId xmlns:a16="http://schemas.microsoft.com/office/drawing/2014/main" id="{868318B5-CDE6-8E4C-CDCF-5E8CD6E17D1D}"/>
              </a:ext>
            </a:extLst>
          </p:cNvPr>
          <p:cNvGrpSpPr/>
          <p:nvPr/>
        </p:nvGrpSpPr>
        <p:grpSpPr>
          <a:xfrm>
            <a:off x="2437948" y="1841521"/>
            <a:ext cx="4778749" cy="1655669"/>
            <a:chOff x="1076854" y="1989560"/>
            <a:chExt cx="5415915" cy="1876425"/>
          </a:xfrm>
        </p:grpSpPr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1A6D760A-7C25-5FAA-9D11-6A5E39D0E82A}"/>
                </a:ext>
              </a:extLst>
            </p:cNvPr>
            <p:cNvSpPr/>
            <p:nvPr/>
          </p:nvSpPr>
          <p:spPr>
            <a:xfrm>
              <a:off x="4683760" y="3520438"/>
              <a:ext cx="0" cy="332105"/>
            </a:xfrm>
            <a:custGeom>
              <a:avLst/>
              <a:gdLst/>
              <a:ahLst/>
              <a:cxnLst/>
              <a:rect l="l" t="t" r="r" b="b"/>
              <a:pathLst>
                <a:path h="332104">
                  <a:moveTo>
                    <a:pt x="0" y="0"/>
                  </a:moveTo>
                  <a:lnTo>
                    <a:pt x="1" y="331893"/>
                  </a:lnTo>
                </a:path>
              </a:pathLst>
            </a:custGeom>
            <a:ln w="27093">
              <a:solidFill>
                <a:srgbClr val="D5EDF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879443F1-EC3B-AC59-151B-8ED16480260E}"/>
                </a:ext>
              </a:extLst>
            </p:cNvPr>
            <p:cNvSpPr/>
            <p:nvPr/>
          </p:nvSpPr>
          <p:spPr>
            <a:xfrm>
              <a:off x="4731173" y="2003212"/>
              <a:ext cx="1341120" cy="352425"/>
            </a:xfrm>
            <a:custGeom>
              <a:avLst/>
              <a:gdLst/>
              <a:ahLst/>
              <a:cxnLst/>
              <a:rect l="l" t="t" r="r" b="b"/>
              <a:pathLst>
                <a:path w="1341120" h="352425">
                  <a:moveTo>
                    <a:pt x="1341120" y="0"/>
                  </a:moveTo>
                  <a:lnTo>
                    <a:pt x="0" y="0"/>
                  </a:lnTo>
                  <a:lnTo>
                    <a:pt x="0" y="352214"/>
                  </a:lnTo>
                  <a:lnTo>
                    <a:pt x="1341120" y="352214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FFCC6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8">
              <a:extLst>
                <a:ext uri="{FF2B5EF4-FFF2-40B4-BE49-F238E27FC236}">
                  <a16:creationId xmlns:a16="http://schemas.microsoft.com/office/drawing/2014/main" id="{6C30F0F1-30AB-6F43-7D5C-3340B9E853C2}"/>
                </a:ext>
              </a:extLst>
            </p:cNvPr>
            <p:cNvSpPr/>
            <p:nvPr/>
          </p:nvSpPr>
          <p:spPr>
            <a:xfrm>
              <a:off x="1090506" y="2003212"/>
              <a:ext cx="5388610" cy="352425"/>
            </a:xfrm>
            <a:custGeom>
              <a:avLst/>
              <a:gdLst/>
              <a:ahLst/>
              <a:cxnLst/>
              <a:rect l="l" t="t" r="r" b="b"/>
              <a:pathLst>
                <a:path w="5388610" h="352425">
                  <a:moveTo>
                    <a:pt x="0" y="0"/>
                  </a:moveTo>
                  <a:lnTo>
                    <a:pt x="5388185" y="0"/>
                  </a:lnTo>
                  <a:lnTo>
                    <a:pt x="5388185" y="352213"/>
                  </a:lnTo>
                  <a:lnTo>
                    <a:pt x="0" y="352213"/>
                  </a:lnTo>
                  <a:lnTo>
                    <a:pt x="0" y="0"/>
                  </a:lnTo>
                  <a:close/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" name="object 9">
            <a:extLst>
              <a:ext uri="{FF2B5EF4-FFF2-40B4-BE49-F238E27FC236}">
                <a16:creationId xmlns:a16="http://schemas.microsoft.com/office/drawing/2014/main" id="{B7EBDEA7-C99D-40C2-296B-C38EB0CCFDDD}"/>
              </a:ext>
            </a:extLst>
          </p:cNvPr>
          <p:cNvSpPr txBox="1"/>
          <p:nvPr/>
        </p:nvSpPr>
        <p:spPr>
          <a:xfrm>
            <a:off x="2449994" y="1853566"/>
            <a:ext cx="2805953" cy="307777"/>
          </a:xfrm>
          <a:prstGeom prst="rect">
            <a:avLst/>
          </a:prstGeom>
          <a:solidFill>
            <a:srgbClr val="FFCC66"/>
          </a:solidFill>
          <a:ln w="2709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1762" algn="ctr">
              <a:lnSpc>
                <a:spcPts val="2435"/>
              </a:lnSpc>
            </a:pPr>
            <a:r>
              <a:rPr sz="2250" dirty="0">
                <a:latin typeface="Calibri"/>
                <a:cs typeface="Calibri"/>
              </a:rPr>
              <a:t>VPN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108E5D09-6F87-6324-06BF-57853C69D6F2}"/>
              </a:ext>
            </a:extLst>
          </p:cNvPr>
          <p:cNvSpPr txBox="1"/>
          <p:nvPr/>
        </p:nvSpPr>
        <p:spPr>
          <a:xfrm>
            <a:off x="5659359" y="1806961"/>
            <a:ext cx="1186703" cy="359260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R="186028" algn="ctr">
              <a:spcBef>
                <a:spcPts val="101"/>
              </a:spcBef>
            </a:pPr>
            <a:r>
              <a:rPr sz="2250" spc="4" dirty="0">
                <a:latin typeface="Calibri"/>
                <a:cs typeface="Calibri"/>
              </a:rPr>
              <a:t>L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15" name="object 11">
            <a:extLst>
              <a:ext uri="{FF2B5EF4-FFF2-40B4-BE49-F238E27FC236}">
                <a16:creationId xmlns:a16="http://schemas.microsoft.com/office/drawing/2014/main" id="{4B2F51F4-DE77-9BD3-1033-2CF02E1581E6}"/>
              </a:ext>
            </a:extLst>
          </p:cNvPr>
          <p:cNvSpPr txBox="1"/>
          <p:nvPr/>
        </p:nvSpPr>
        <p:spPr>
          <a:xfrm>
            <a:off x="6910525" y="1806961"/>
            <a:ext cx="173691" cy="359260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spcBef>
                <a:spcPts val="101"/>
              </a:spcBef>
            </a:pPr>
            <a:r>
              <a:rPr sz="2250" spc="4" dirty="0">
                <a:latin typeface="Calibri"/>
                <a:cs typeface="Calibri"/>
              </a:rPr>
              <a:t>b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16" name="object 12">
            <a:extLst>
              <a:ext uri="{FF2B5EF4-FFF2-40B4-BE49-F238E27FC236}">
                <a16:creationId xmlns:a16="http://schemas.microsoft.com/office/drawing/2014/main" id="{E9643A6F-E1DA-FCDD-B6FE-47FEF651238F}"/>
              </a:ext>
            </a:extLst>
          </p:cNvPr>
          <p:cNvGrpSpPr/>
          <p:nvPr/>
        </p:nvGrpSpPr>
        <p:grpSpPr>
          <a:xfrm>
            <a:off x="5243901" y="1686133"/>
            <a:ext cx="1599079" cy="502584"/>
            <a:chOff x="4256934" y="1813454"/>
            <a:chExt cx="1812289" cy="569595"/>
          </a:xfrm>
        </p:grpSpPr>
        <p:sp>
          <p:nvSpPr>
            <p:cNvPr id="17" name="object 13">
              <a:extLst>
                <a:ext uri="{FF2B5EF4-FFF2-40B4-BE49-F238E27FC236}">
                  <a16:creationId xmlns:a16="http://schemas.microsoft.com/office/drawing/2014/main" id="{7738E734-862E-E76C-6D37-4535B401F6A8}"/>
                </a:ext>
              </a:extLst>
            </p:cNvPr>
            <p:cNvSpPr/>
            <p:nvPr/>
          </p:nvSpPr>
          <p:spPr>
            <a:xfrm>
              <a:off x="6055360" y="2003212"/>
              <a:ext cx="0" cy="332105"/>
            </a:xfrm>
            <a:custGeom>
              <a:avLst/>
              <a:gdLst/>
              <a:ahLst/>
              <a:cxnLst/>
              <a:rect l="l" t="t" r="r" b="b"/>
              <a:pathLst>
                <a:path h="332105">
                  <a:moveTo>
                    <a:pt x="0" y="0"/>
                  </a:moveTo>
                  <a:lnTo>
                    <a:pt x="1" y="331893"/>
                  </a:lnTo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4">
              <a:extLst>
                <a:ext uri="{FF2B5EF4-FFF2-40B4-BE49-F238E27FC236}">
                  <a16:creationId xmlns:a16="http://schemas.microsoft.com/office/drawing/2014/main" id="{58E73895-C21C-FFB7-963F-FFEE247986E5}"/>
                </a:ext>
              </a:extLst>
            </p:cNvPr>
            <p:cNvSpPr/>
            <p:nvPr/>
          </p:nvSpPr>
          <p:spPr>
            <a:xfrm>
              <a:off x="4270587" y="2030307"/>
              <a:ext cx="0" cy="339090"/>
            </a:xfrm>
            <a:custGeom>
              <a:avLst/>
              <a:gdLst/>
              <a:ahLst/>
              <a:cxnLst/>
              <a:rect l="l" t="t" r="r" b="b"/>
              <a:pathLst>
                <a:path h="339089">
                  <a:moveTo>
                    <a:pt x="0" y="0"/>
                  </a:moveTo>
                  <a:lnTo>
                    <a:pt x="1" y="338666"/>
                  </a:lnTo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5">
              <a:extLst>
                <a:ext uri="{FF2B5EF4-FFF2-40B4-BE49-F238E27FC236}">
                  <a16:creationId xmlns:a16="http://schemas.microsoft.com/office/drawing/2014/main" id="{531E45D5-04D6-B557-3030-2F6D91997CB2}"/>
                </a:ext>
              </a:extLst>
            </p:cNvPr>
            <p:cNvSpPr/>
            <p:nvPr/>
          </p:nvSpPr>
          <p:spPr>
            <a:xfrm>
              <a:off x="4744720" y="1827107"/>
              <a:ext cx="1287145" cy="121920"/>
            </a:xfrm>
            <a:custGeom>
              <a:avLst/>
              <a:gdLst/>
              <a:ahLst/>
              <a:cxnLst/>
              <a:rect l="l" t="t" r="r" b="b"/>
              <a:pathLst>
                <a:path w="1287145" h="121919">
                  <a:moveTo>
                    <a:pt x="0" y="111759"/>
                  </a:moveTo>
                  <a:lnTo>
                    <a:pt x="59266" y="0"/>
                  </a:lnTo>
                  <a:lnTo>
                    <a:pt x="1247986" y="0"/>
                  </a:lnTo>
                  <a:lnTo>
                    <a:pt x="1286933" y="121919"/>
                  </a:lnTo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16">
              <a:extLst>
                <a:ext uri="{FF2B5EF4-FFF2-40B4-BE49-F238E27FC236}">
                  <a16:creationId xmlns:a16="http://schemas.microsoft.com/office/drawing/2014/main" id="{62A40910-0581-9105-343F-8DE04F2D0368}"/>
                </a:ext>
              </a:extLst>
            </p:cNvPr>
            <p:cNvSpPr/>
            <p:nvPr/>
          </p:nvSpPr>
          <p:spPr>
            <a:xfrm>
              <a:off x="4714240" y="2016760"/>
              <a:ext cx="0" cy="332105"/>
            </a:xfrm>
            <a:custGeom>
              <a:avLst/>
              <a:gdLst/>
              <a:ahLst/>
              <a:cxnLst/>
              <a:rect l="l" t="t" r="r" b="b"/>
              <a:pathLst>
                <a:path h="332105">
                  <a:moveTo>
                    <a:pt x="0" y="0"/>
                  </a:moveTo>
                  <a:lnTo>
                    <a:pt x="1" y="331893"/>
                  </a:lnTo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1" name="object 17">
            <a:extLst>
              <a:ext uri="{FF2B5EF4-FFF2-40B4-BE49-F238E27FC236}">
                <a16:creationId xmlns:a16="http://schemas.microsoft.com/office/drawing/2014/main" id="{964DAF8D-729C-54FB-102D-04DB67D31B69}"/>
              </a:ext>
            </a:extLst>
          </p:cNvPr>
          <p:cNvSpPr txBox="1"/>
          <p:nvPr/>
        </p:nvSpPr>
        <p:spPr>
          <a:xfrm>
            <a:off x="3379335" y="2379497"/>
            <a:ext cx="1255059" cy="476945"/>
          </a:xfrm>
          <a:prstGeom prst="rect">
            <a:avLst/>
          </a:prstGeom>
          <a:ln w="27093">
            <a:solidFill>
              <a:srgbClr val="09213B"/>
            </a:solidFill>
          </a:ln>
        </p:spPr>
        <p:txBody>
          <a:bodyPr vert="horz" wrap="square" lIns="0" tIns="68916" rIns="0" bIns="0" rtlCol="0">
            <a:spAutoFit/>
          </a:bodyPr>
          <a:lstStyle/>
          <a:p>
            <a:pPr marL="383822">
              <a:spcBef>
                <a:spcPts val="543"/>
              </a:spcBef>
            </a:pPr>
            <a:r>
              <a:rPr sz="2647" spc="-9" dirty="0">
                <a:solidFill>
                  <a:srgbClr val="56127A"/>
                </a:solidFill>
                <a:latin typeface="Calibri"/>
                <a:cs typeface="Calibri"/>
              </a:rPr>
              <a:t>TLB</a:t>
            </a:r>
            <a:endParaRPr sz="2647">
              <a:latin typeface="Calibri"/>
              <a:cs typeface="Calibri"/>
            </a:endParaRPr>
          </a:p>
        </p:txBody>
      </p:sp>
      <p:pic>
        <p:nvPicPr>
          <p:cNvPr id="22" name="object 18">
            <a:extLst>
              <a:ext uri="{FF2B5EF4-FFF2-40B4-BE49-F238E27FC236}">
                <a16:creationId xmlns:a16="http://schemas.microsoft.com/office/drawing/2014/main" id="{783335F6-1895-ED6F-0365-96C6E083CFA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5145" y="2164344"/>
            <a:ext cx="71718" cy="215152"/>
          </a:xfrm>
          <a:prstGeom prst="rect">
            <a:avLst/>
          </a:prstGeom>
        </p:spPr>
      </p:pic>
      <p:sp>
        <p:nvSpPr>
          <p:cNvPr id="23" name="object 19">
            <a:extLst>
              <a:ext uri="{FF2B5EF4-FFF2-40B4-BE49-F238E27FC236}">
                <a16:creationId xmlns:a16="http://schemas.microsoft.com/office/drawing/2014/main" id="{1A9FFF47-E787-F5CF-738C-0C0CED855CAF}"/>
              </a:ext>
            </a:extLst>
          </p:cNvPr>
          <p:cNvSpPr txBox="1"/>
          <p:nvPr/>
        </p:nvSpPr>
        <p:spPr>
          <a:xfrm>
            <a:off x="7503100" y="2331684"/>
            <a:ext cx="2151529" cy="1025922"/>
          </a:xfrm>
          <a:prstGeom prst="rect">
            <a:avLst/>
          </a:prstGeom>
          <a:ln w="27093">
            <a:solidFill>
              <a:srgbClr val="09213B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206">
              <a:lnSpc>
                <a:spcPts val="2550"/>
              </a:lnSpc>
            </a:pPr>
            <a:r>
              <a:rPr sz="2250" spc="-9" dirty="0">
                <a:latin typeface="Calibri"/>
                <a:cs typeface="Calibri"/>
              </a:rPr>
              <a:t>Direct-map</a:t>
            </a:r>
            <a:r>
              <a:rPr sz="2250" spc="-49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Cache</a:t>
            </a:r>
            <a:endParaRPr sz="2250">
              <a:latin typeface="Calibri"/>
              <a:cs typeface="Calibri"/>
            </a:endParaRPr>
          </a:p>
          <a:p>
            <a:pPr marL="308739" marR="304816" indent="267275">
              <a:spcBef>
                <a:spcPts val="4"/>
              </a:spcBef>
            </a:pPr>
            <a:r>
              <a:rPr sz="2250" spc="-4" dirty="0">
                <a:latin typeface="Calibri"/>
                <a:cs typeface="Calibri"/>
              </a:rPr>
              <a:t>2</a:t>
            </a:r>
            <a:r>
              <a:rPr sz="2250" spc="-6" baseline="24509" dirty="0">
                <a:latin typeface="Calibri"/>
                <a:cs typeface="Calibri"/>
              </a:rPr>
              <a:t>L </a:t>
            </a:r>
            <a:r>
              <a:rPr sz="2250" spc="-4" dirty="0">
                <a:latin typeface="Calibri"/>
                <a:cs typeface="Calibri"/>
              </a:rPr>
              <a:t>blocks </a:t>
            </a:r>
            <a:r>
              <a:rPr sz="2250" dirty="0">
                <a:latin typeface="Calibri"/>
                <a:cs typeface="Calibri"/>
              </a:rPr>
              <a:t> </a:t>
            </a:r>
            <a:r>
              <a:rPr sz="2250" spc="-4" dirty="0">
                <a:latin typeface="Calibri"/>
                <a:cs typeface="Calibri"/>
              </a:rPr>
              <a:t>2</a:t>
            </a:r>
            <a:r>
              <a:rPr sz="2250" spc="-6" baseline="24509" dirty="0">
                <a:latin typeface="Calibri"/>
                <a:cs typeface="Calibri"/>
              </a:rPr>
              <a:t>b</a:t>
            </a:r>
            <a:r>
              <a:rPr sz="2250" spc="-4" dirty="0">
                <a:latin typeface="Calibri"/>
                <a:cs typeface="Calibri"/>
              </a:rPr>
              <a:t>-byte</a:t>
            </a:r>
            <a:r>
              <a:rPr sz="2250" spc="-79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block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24" name="object 20">
            <a:extLst>
              <a:ext uri="{FF2B5EF4-FFF2-40B4-BE49-F238E27FC236}">
                <a16:creationId xmlns:a16="http://schemas.microsoft.com/office/drawing/2014/main" id="{9C2175A6-4DC6-2A46-D5F2-27E4D6C1904B}"/>
              </a:ext>
            </a:extLst>
          </p:cNvPr>
          <p:cNvSpPr/>
          <p:nvPr/>
        </p:nvSpPr>
        <p:spPr>
          <a:xfrm>
            <a:off x="2387241" y="3168390"/>
            <a:ext cx="4849906" cy="310963"/>
          </a:xfrm>
          <a:custGeom>
            <a:avLst/>
            <a:gdLst/>
            <a:ahLst/>
            <a:cxnLst/>
            <a:rect l="l" t="t" r="r" b="b"/>
            <a:pathLst>
              <a:path w="5496559" h="352425">
                <a:moveTo>
                  <a:pt x="0" y="0"/>
                </a:moveTo>
                <a:lnTo>
                  <a:pt x="5496558" y="0"/>
                </a:lnTo>
                <a:lnTo>
                  <a:pt x="5496558" y="352213"/>
                </a:lnTo>
                <a:lnTo>
                  <a:pt x="0" y="352213"/>
                </a:lnTo>
                <a:lnTo>
                  <a:pt x="0" y="0"/>
                </a:lnTo>
                <a:close/>
              </a:path>
            </a:pathLst>
          </a:custGeom>
          <a:ln w="270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D99ADA1F-3A61-1DE6-B5D4-1135F26E8A9B}"/>
              </a:ext>
            </a:extLst>
          </p:cNvPr>
          <p:cNvSpPr txBox="1"/>
          <p:nvPr/>
        </p:nvSpPr>
        <p:spPr>
          <a:xfrm>
            <a:off x="2387241" y="3168390"/>
            <a:ext cx="2805953" cy="307777"/>
          </a:xfrm>
          <a:prstGeom prst="rect">
            <a:avLst/>
          </a:prstGeom>
          <a:solidFill>
            <a:srgbClr val="FFCC66"/>
          </a:solidFill>
          <a:ln w="2709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96376" algn="ctr">
              <a:lnSpc>
                <a:spcPts val="2435"/>
              </a:lnSpc>
            </a:pPr>
            <a:r>
              <a:rPr sz="2250" spc="-4" dirty="0">
                <a:latin typeface="Calibri"/>
                <a:cs typeface="Calibri"/>
              </a:rPr>
              <a:t>PPN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26" name="object 22">
            <a:extLst>
              <a:ext uri="{FF2B5EF4-FFF2-40B4-BE49-F238E27FC236}">
                <a16:creationId xmlns:a16="http://schemas.microsoft.com/office/drawing/2014/main" id="{7056C1CF-B415-7A7E-85F1-8B8C2B7FD9C2}"/>
              </a:ext>
            </a:extLst>
          </p:cNvPr>
          <p:cNvSpPr txBox="1"/>
          <p:nvPr/>
        </p:nvSpPr>
        <p:spPr>
          <a:xfrm>
            <a:off x="5205148" y="3121784"/>
            <a:ext cx="2020421" cy="359260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87148">
              <a:spcBef>
                <a:spcPts val="101"/>
              </a:spcBef>
            </a:pPr>
            <a:r>
              <a:rPr sz="2250" spc="-18" dirty="0">
                <a:latin typeface="Calibri"/>
                <a:cs typeface="Calibri"/>
              </a:rPr>
              <a:t>Page</a:t>
            </a:r>
            <a:r>
              <a:rPr sz="2250" spc="-35" dirty="0">
                <a:latin typeface="Calibri"/>
                <a:cs typeface="Calibri"/>
              </a:rPr>
              <a:t> </a:t>
            </a:r>
            <a:r>
              <a:rPr sz="2250" spc="-9" dirty="0">
                <a:latin typeface="Calibri"/>
                <a:cs typeface="Calibri"/>
              </a:rPr>
              <a:t>Offset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27" name="object 23">
            <a:extLst>
              <a:ext uri="{FF2B5EF4-FFF2-40B4-BE49-F238E27FC236}">
                <a16:creationId xmlns:a16="http://schemas.microsoft.com/office/drawing/2014/main" id="{FCA51580-BB44-0FE6-DDA9-55C659678587}"/>
              </a:ext>
            </a:extLst>
          </p:cNvPr>
          <p:cNvGrpSpPr/>
          <p:nvPr/>
        </p:nvGrpSpPr>
        <p:grpSpPr>
          <a:xfrm>
            <a:off x="3929172" y="2319731"/>
            <a:ext cx="4183716" cy="2366682"/>
            <a:chOff x="2766907" y="2531532"/>
            <a:chExt cx="4741545" cy="2682240"/>
          </a:xfrm>
        </p:grpSpPr>
        <p:sp>
          <p:nvSpPr>
            <p:cNvPr id="28" name="object 24">
              <a:extLst>
                <a:ext uri="{FF2B5EF4-FFF2-40B4-BE49-F238E27FC236}">
                  <a16:creationId xmlns:a16="http://schemas.microsoft.com/office/drawing/2014/main" id="{6EF7A14A-8A8C-01B9-CF61-375C3AB90C1F}"/>
                </a:ext>
              </a:extLst>
            </p:cNvPr>
            <p:cNvSpPr/>
            <p:nvPr/>
          </p:nvSpPr>
          <p:spPr>
            <a:xfrm>
              <a:off x="4199467" y="3506891"/>
              <a:ext cx="0" cy="339090"/>
            </a:xfrm>
            <a:custGeom>
              <a:avLst/>
              <a:gdLst/>
              <a:ahLst/>
              <a:cxnLst/>
              <a:rect l="l" t="t" r="r" b="b"/>
              <a:pathLst>
                <a:path h="339089">
                  <a:moveTo>
                    <a:pt x="0" y="0"/>
                  </a:moveTo>
                  <a:lnTo>
                    <a:pt x="1" y="338666"/>
                  </a:lnTo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5">
              <a:extLst>
                <a:ext uri="{FF2B5EF4-FFF2-40B4-BE49-F238E27FC236}">
                  <a16:creationId xmlns:a16="http://schemas.microsoft.com/office/drawing/2014/main" id="{0298F0C7-38B2-8F5D-1B23-F8FB1D701663}"/>
                </a:ext>
              </a:extLst>
            </p:cNvPr>
            <p:cNvSpPr/>
            <p:nvPr/>
          </p:nvSpPr>
          <p:spPr>
            <a:xfrm>
              <a:off x="5367867" y="2531532"/>
              <a:ext cx="81280" cy="880744"/>
            </a:xfrm>
            <a:custGeom>
              <a:avLst/>
              <a:gdLst/>
              <a:ahLst/>
              <a:cxnLst/>
              <a:rect l="l" t="t" r="r" b="b"/>
              <a:pathLst>
                <a:path w="81279" h="880745">
                  <a:moveTo>
                    <a:pt x="54185" y="0"/>
                  </a:moveTo>
                  <a:lnTo>
                    <a:pt x="27092" y="0"/>
                  </a:lnTo>
                  <a:lnTo>
                    <a:pt x="27094" y="799254"/>
                  </a:lnTo>
                  <a:lnTo>
                    <a:pt x="0" y="799254"/>
                  </a:lnTo>
                  <a:lnTo>
                    <a:pt x="40639" y="880534"/>
                  </a:lnTo>
                  <a:lnTo>
                    <a:pt x="81280" y="799254"/>
                  </a:lnTo>
                  <a:lnTo>
                    <a:pt x="54187" y="799254"/>
                  </a:lnTo>
                  <a:lnTo>
                    <a:pt x="541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0" name="object 26">
              <a:extLst>
                <a:ext uri="{FF2B5EF4-FFF2-40B4-BE49-F238E27FC236}">
                  <a16:creationId xmlns:a16="http://schemas.microsoft.com/office/drawing/2014/main" id="{9AA9C32E-11D0-9EFF-59BF-CD39FC9FE9A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66907" y="3269825"/>
              <a:ext cx="81279" cy="223519"/>
            </a:xfrm>
            <a:prstGeom prst="rect">
              <a:avLst/>
            </a:prstGeom>
          </p:spPr>
        </p:pic>
        <p:sp>
          <p:nvSpPr>
            <p:cNvPr id="31" name="object 27">
              <a:extLst>
                <a:ext uri="{FF2B5EF4-FFF2-40B4-BE49-F238E27FC236}">
                  <a16:creationId xmlns:a16="http://schemas.microsoft.com/office/drawing/2014/main" id="{84D49375-418C-F196-72AA-CC248285AD62}"/>
                </a:ext>
              </a:extLst>
            </p:cNvPr>
            <p:cNvSpPr/>
            <p:nvPr/>
          </p:nvSpPr>
          <p:spPr>
            <a:xfrm>
              <a:off x="5029200" y="4333238"/>
              <a:ext cx="1310640" cy="501650"/>
            </a:xfrm>
            <a:custGeom>
              <a:avLst/>
              <a:gdLst/>
              <a:ahLst/>
              <a:cxnLst/>
              <a:rect l="l" t="t" r="r" b="b"/>
              <a:pathLst>
                <a:path w="1310639" h="501650">
                  <a:moveTo>
                    <a:pt x="0" y="250613"/>
                  </a:moveTo>
                  <a:lnTo>
                    <a:pt x="13313" y="200106"/>
                  </a:lnTo>
                  <a:lnTo>
                    <a:pt x="51498" y="153063"/>
                  </a:lnTo>
                  <a:lnTo>
                    <a:pt x="111918" y="110493"/>
                  </a:lnTo>
                  <a:lnTo>
                    <a:pt x="149643" y="91199"/>
                  </a:lnTo>
                  <a:lnTo>
                    <a:pt x="191938" y="73402"/>
                  </a:lnTo>
                  <a:lnTo>
                    <a:pt x="238475" y="57227"/>
                  </a:lnTo>
                  <a:lnTo>
                    <a:pt x="288924" y="42800"/>
                  </a:lnTo>
                  <a:lnTo>
                    <a:pt x="342955" y="30247"/>
                  </a:lnTo>
                  <a:lnTo>
                    <a:pt x="400239" y="19694"/>
                  </a:lnTo>
                  <a:lnTo>
                    <a:pt x="460447" y="11267"/>
                  </a:lnTo>
                  <a:lnTo>
                    <a:pt x="523250" y="5091"/>
                  </a:lnTo>
                  <a:lnTo>
                    <a:pt x="588317" y="1293"/>
                  </a:lnTo>
                  <a:lnTo>
                    <a:pt x="655319" y="0"/>
                  </a:lnTo>
                  <a:lnTo>
                    <a:pt x="722322" y="1293"/>
                  </a:lnTo>
                  <a:lnTo>
                    <a:pt x="787389" y="5091"/>
                  </a:lnTo>
                  <a:lnTo>
                    <a:pt x="850192" y="11267"/>
                  </a:lnTo>
                  <a:lnTo>
                    <a:pt x="910400" y="19694"/>
                  </a:lnTo>
                  <a:lnTo>
                    <a:pt x="967684" y="30247"/>
                  </a:lnTo>
                  <a:lnTo>
                    <a:pt x="1021715" y="42800"/>
                  </a:lnTo>
                  <a:lnTo>
                    <a:pt x="1072164" y="57227"/>
                  </a:lnTo>
                  <a:lnTo>
                    <a:pt x="1118701" y="73402"/>
                  </a:lnTo>
                  <a:lnTo>
                    <a:pt x="1160996" y="91199"/>
                  </a:lnTo>
                  <a:lnTo>
                    <a:pt x="1198721" y="110493"/>
                  </a:lnTo>
                  <a:lnTo>
                    <a:pt x="1231546" y="131156"/>
                  </a:lnTo>
                  <a:lnTo>
                    <a:pt x="1281178" y="176088"/>
                  </a:lnTo>
                  <a:lnTo>
                    <a:pt x="1307256" y="224989"/>
                  </a:lnTo>
                  <a:lnTo>
                    <a:pt x="1310639" y="250613"/>
                  </a:lnTo>
                  <a:lnTo>
                    <a:pt x="1307256" y="276237"/>
                  </a:lnTo>
                  <a:lnTo>
                    <a:pt x="1281178" y="325138"/>
                  </a:lnTo>
                  <a:lnTo>
                    <a:pt x="1231546" y="370070"/>
                  </a:lnTo>
                  <a:lnTo>
                    <a:pt x="1198721" y="390733"/>
                  </a:lnTo>
                  <a:lnTo>
                    <a:pt x="1160996" y="410026"/>
                  </a:lnTo>
                  <a:lnTo>
                    <a:pt x="1118701" y="427823"/>
                  </a:lnTo>
                  <a:lnTo>
                    <a:pt x="1072164" y="443998"/>
                  </a:lnTo>
                  <a:lnTo>
                    <a:pt x="1021715" y="458425"/>
                  </a:lnTo>
                  <a:lnTo>
                    <a:pt x="967684" y="470978"/>
                  </a:lnTo>
                  <a:lnTo>
                    <a:pt x="910400" y="481532"/>
                  </a:lnTo>
                  <a:lnTo>
                    <a:pt x="850192" y="489959"/>
                  </a:lnTo>
                  <a:lnTo>
                    <a:pt x="787389" y="496135"/>
                  </a:lnTo>
                  <a:lnTo>
                    <a:pt x="722322" y="499932"/>
                  </a:lnTo>
                  <a:lnTo>
                    <a:pt x="655319" y="501226"/>
                  </a:lnTo>
                  <a:lnTo>
                    <a:pt x="588317" y="499932"/>
                  </a:lnTo>
                  <a:lnTo>
                    <a:pt x="523250" y="496135"/>
                  </a:lnTo>
                  <a:lnTo>
                    <a:pt x="460447" y="489959"/>
                  </a:lnTo>
                  <a:lnTo>
                    <a:pt x="400239" y="481532"/>
                  </a:lnTo>
                  <a:lnTo>
                    <a:pt x="342955" y="470978"/>
                  </a:lnTo>
                  <a:lnTo>
                    <a:pt x="288924" y="458425"/>
                  </a:lnTo>
                  <a:lnTo>
                    <a:pt x="238475" y="443998"/>
                  </a:lnTo>
                  <a:lnTo>
                    <a:pt x="191938" y="427823"/>
                  </a:lnTo>
                  <a:lnTo>
                    <a:pt x="149643" y="410026"/>
                  </a:lnTo>
                  <a:lnTo>
                    <a:pt x="111918" y="390733"/>
                  </a:lnTo>
                  <a:lnTo>
                    <a:pt x="79093" y="370070"/>
                  </a:lnTo>
                  <a:lnTo>
                    <a:pt x="29461" y="325138"/>
                  </a:lnTo>
                  <a:lnTo>
                    <a:pt x="3383" y="276237"/>
                  </a:lnTo>
                  <a:lnTo>
                    <a:pt x="0" y="250613"/>
                  </a:lnTo>
                  <a:close/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28">
              <a:extLst>
                <a:ext uri="{FF2B5EF4-FFF2-40B4-BE49-F238E27FC236}">
                  <a16:creationId xmlns:a16="http://schemas.microsoft.com/office/drawing/2014/main" id="{9CAAA1E1-972B-BC6F-8D46-D3135877E767}"/>
                </a:ext>
              </a:extLst>
            </p:cNvPr>
            <p:cNvSpPr/>
            <p:nvPr/>
          </p:nvSpPr>
          <p:spPr>
            <a:xfrm>
              <a:off x="2790609" y="3696550"/>
              <a:ext cx="4718050" cy="1517650"/>
            </a:xfrm>
            <a:custGeom>
              <a:avLst/>
              <a:gdLst/>
              <a:ahLst/>
              <a:cxnLst/>
              <a:rect l="l" t="t" r="r" b="b"/>
              <a:pathLst>
                <a:path w="4718050" h="1517650">
                  <a:moveTo>
                    <a:pt x="2236736" y="878801"/>
                  </a:moveTo>
                  <a:lnTo>
                    <a:pt x="2155456" y="838161"/>
                  </a:lnTo>
                  <a:lnTo>
                    <a:pt x="2155456" y="865263"/>
                  </a:lnTo>
                  <a:lnTo>
                    <a:pt x="27089" y="865263"/>
                  </a:lnTo>
                  <a:lnTo>
                    <a:pt x="27089" y="332879"/>
                  </a:lnTo>
                  <a:lnTo>
                    <a:pt x="21031" y="326809"/>
                  </a:lnTo>
                  <a:lnTo>
                    <a:pt x="13550" y="326809"/>
                  </a:lnTo>
                  <a:lnTo>
                    <a:pt x="6057" y="326809"/>
                  </a:lnTo>
                  <a:lnTo>
                    <a:pt x="0" y="332879"/>
                  </a:lnTo>
                  <a:lnTo>
                    <a:pt x="0" y="886294"/>
                  </a:lnTo>
                  <a:lnTo>
                    <a:pt x="6057" y="892352"/>
                  </a:lnTo>
                  <a:lnTo>
                    <a:pt x="2155456" y="892352"/>
                  </a:lnTo>
                  <a:lnTo>
                    <a:pt x="2155456" y="919441"/>
                  </a:lnTo>
                  <a:lnTo>
                    <a:pt x="2236736" y="878801"/>
                  </a:lnTo>
                  <a:close/>
                </a:path>
                <a:path w="4718050" h="1517650">
                  <a:moveTo>
                    <a:pt x="2929471" y="1435950"/>
                  </a:moveTo>
                  <a:lnTo>
                    <a:pt x="2902369" y="1435950"/>
                  </a:lnTo>
                  <a:lnTo>
                    <a:pt x="2902369" y="1124369"/>
                  </a:lnTo>
                  <a:lnTo>
                    <a:pt x="2875280" y="1124369"/>
                  </a:lnTo>
                  <a:lnTo>
                    <a:pt x="2875280" y="1435950"/>
                  </a:lnTo>
                  <a:lnTo>
                    <a:pt x="2848191" y="1435950"/>
                  </a:lnTo>
                  <a:lnTo>
                    <a:pt x="2888831" y="1517230"/>
                  </a:lnTo>
                  <a:lnTo>
                    <a:pt x="2929471" y="1435950"/>
                  </a:lnTo>
                  <a:close/>
                </a:path>
                <a:path w="4718050" h="1517650">
                  <a:moveTo>
                    <a:pt x="4717631" y="6070"/>
                  </a:moveTo>
                  <a:lnTo>
                    <a:pt x="4711560" y="0"/>
                  </a:lnTo>
                  <a:lnTo>
                    <a:pt x="4704080" y="0"/>
                  </a:lnTo>
                  <a:lnTo>
                    <a:pt x="4696599" y="0"/>
                  </a:lnTo>
                  <a:lnTo>
                    <a:pt x="4690529" y="6070"/>
                  </a:lnTo>
                  <a:lnTo>
                    <a:pt x="4690529" y="865847"/>
                  </a:lnTo>
                  <a:lnTo>
                    <a:pt x="3647440" y="865847"/>
                  </a:lnTo>
                  <a:lnTo>
                    <a:pt x="3647440" y="838758"/>
                  </a:lnTo>
                  <a:lnTo>
                    <a:pt x="3566160" y="879398"/>
                  </a:lnTo>
                  <a:lnTo>
                    <a:pt x="3647440" y="920038"/>
                  </a:lnTo>
                  <a:lnTo>
                    <a:pt x="3647440" y="892937"/>
                  </a:lnTo>
                  <a:lnTo>
                    <a:pt x="4711560" y="892937"/>
                  </a:lnTo>
                  <a:lnTo>
                    <a:pt x="4717631" y="886879"/>
                  </a:lnTo>
                  <a:lnTo>
                    <a:pt x="4717631" y="6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3" name="object 29">
            <a:extLst>
              <a:ext uri="{FF2B5EF4-FFF2-40B4-BE49-F238E27FC236}">
                <a16:creationId xmlns:a16="http://schemas.microsoft.com/office/drawing/2014/main" id="{3C9D7767-B299-01EA-390A-C690AF36B5AE}"/>
              </a:ext>
            </a:extLst>
          </p:cNvPr>
          <p:cNvSpPr txBox="1"/>
          <p:nvPr/>
        </p:nvSpPr>
        <p:spPr>
          <a:xfrm>
            <a:off x="5784119" y="3721730"/>
            <a:ext cx="837640" cy="1068728"/>
          </a:xfrm>
          <a:prstGeom prst="rect">
            <a:avLst/>
          </a:prstGeom>
        </p:spPr>
        <p:txBody>
          <a:bodyPr vert="horz" wrap="square" lIns="0" tIns="128307" rIns="0" bIns="0" rtlCol="0">
            <a:spAutoFit/>
          </a:bodyPr>
          <a:lstStyle/>
          <a:p>
            <a:pPr marR="4483" algn="r">
              <a:spcBef>
                <a:spcPts val="1010"/>
              </a:spcBef>
            </a:pPr>
            <a:r>
              <a:rPr sz="3353" spc="13" dirty="0">
                <a:solidFill>
                  <a:srgbClr val="56127A"/>
                </a:solidFill>
                <a:latin typeface="Calibri"/>
                <a:cs typeface="Calibri"/>
              </a:rPr>
              <a:t>=</a:t>
            </a:r>
            <a:endParaRPr sz="3353">
              <a:latin typeface="Calibri"/>
              <a:cs typeface="Calibri"/>
            </a:endParaRPr>
          </a:p>
          <a:p>
            <a:pPr marL="11206">
              <a:spcBef>
                <a:spcPts val="618"/>
              </a:spcBef>
            </a:pPr>
            <a:r>
              <a:rPr sz="2250" dirty="0">
                <a:solidFill>
                  <a:srgbClr val="56127A"/>
                </a:solidFill>
                <a:latin typeface="Calibri"/>
                <a:cs typeface="Calibri"/>
              </a:rPr>
              <a:t>hit?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34" name="object 30">
            <a:extLst>
              <a:ext uri="{FF2B5EF4-FFF2-40B4-BE49-F238E27FC236}">
                <a16:creationId xmlns:a16="http://schemas.microsoft.com/office/drawing/2014/main" id="{4B2A448B-B18B-6A96-251D-A63C2461BD72}"/>
              </a:ext>
            </a:extLst>
          </p:cNvPr>
          <p:cNvSpPr txBox="1"/>
          <p:nvPr/>
        </p:nvSpPr>
        <p:spPr>
          <a:xfrm>
            <a:off x="7076722" y="4204552"/>
            <a:ext cx="2517401" cy="41867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1873723" algn="l"/>
              </a:tabLst>
            </a:pPr>
            <a:r>
              <a:rPr sz="2647" spc="-9" dirty="0">
                <a:solidFill>
                  <a:srgbClr val="56127A"/>
                </a:solidFill>
                <a:latin typeface="Calibri"/>
                <a:cs typeface="Calibri"/>
              </a:rPr>
              <a:t>P</a:t>
            </a:r>
            <a:r>
              <a:rPr sz="2647" spc="-53" dirty="0">
                <a:solidFill>
                  <a:srgbClr val="56127A"/>
                </a:solidFill>
                <a:latin typeface="Calibri"/>
                <a:cs typeface="Calibri"/>
              </a:rPr>
              <a:t>h</a:t>
            </a:r>
            <a:r>
              <a:rPr sz="2647" spc="-40" dirty="0">
                <a:solidFill>
                  <a:srgbClr val="56127A"/>
                </a:solidFill>
                <a:latin typeface="Calibri"/>
                <a:cs typeface="Calibri"/>
              </a:rPr>
              <a:t>y</a:t>
            </a:r>
            <a:r>
              <a:rPr sz="2647" spc="-4" dirty="0">
                <a:solidFill>
                  <a:srgbClr val="56127A"/>
                </a:solidFill>
                <a:latin typeface="Calibri"/>
                <a:cs typeface="Calibri"/>
              </a:rPr>
              <a:t>s</a:t>
            </a:r>
            <a:r>
              <a:rPr sz="2647" spc="-9" dirty="0">
                <a:solidFill>
                  <a:srgbClr val="56127A"/>
                </a:solidFill>
                <a:latin typeface="Calibri"/>
                <a:cs typeface="Calibri"/>
              </a:rPr>
              <a:t>i</a:t>
            </a:r>
            <a:r>
              <a:rPr sz="2647" spc="-26" dirty="0">
                <a:solidFill>
                  <a:srgbClr val="56127A"/>
                </a:solidFill>
                <a:latin typeface="Calibri"/>
                <a:cs typeface="Calibri"/>
              </a:rPr>
              <a:t>c</a:t>
            </a:r>
            <a:r>
              <a:rPr sz="2647" spc="-13" dirty="0">
                <a:solidFill>
                  <a:srgbClr val="56127A"/>
                </a:solidFill>
                <a:latin typeface="Calibri"/>
                <a:cs typeface="Calibri"/>
              </a:rPr>
              <a:t>a</a:t>
            </a:r>
            <a:r>
              <a:rPr sz="2647" dirty="0">
                <a:solidFill>
                  <a:srgbClr val="56127A"/>
                </a:solidFill>
                <a:latin typeface="Calibri"/>
                <a:cs typeface="Calibri"/>
              </a:rPr>
              <a:t>l</a:t>
            </a:r>
            <a:r>
              <a:rPr sz="2647" spc="-9" dirty="0">
                <a:solidFill>
                  <a:srgbClr val="56127A"/>
                </a:solidFill>
                <a:latin typeface="Calibri"/>
                <a:cs typeface="Calibri"/>
              </a:rPr>
              <a:t> </a:t>
            </a:r>
            <a:r>
              <a:rPr sz="2647" spc="-216" dirty="0">
                <a:solidFill>
                  <a:srgbClr val="56127A"/>
                </a:solidFill>
                <a:latin typeface="Calibri"/>
                <a:cs typeface="Calibri"/>
              </a:rPr>
              <a:t>T</a:t>
            </a:r>
            <a:r>
              <a:rPr sz="2647" spc="-13" dirty="0">
                <a:solidFill>
                  <a:srgbClr val="56127A"/>
                </a:solidFill>
                <a:latin typeface="Calibri"/>
                <a:cs typeface="Calibri"/>
              </a:rPr>
              <a:t>a</a:t>
            </a:r>
            <a:r>
              <a:rPr sz="2647" dirty="0">
                <a:solidFill>
                  <a:srgbClr val="56127A"/>
                </a:solidFill>
                <a:latin typeface="Calibri"/>
                <a:cs typeface="Calibri"/>
              </a:rPr>
              <a:t>g	</a:t>
            </a:r>
            <a:r>
              <a:rPr sz="2647" spc="-9" dirty="0">
                <a:solidFill>
                  <a:srgbClr val="56127A"/>
                </a:solidFill>
                <a:latin typeface="Calibri"/>
                <a:cs typeface="Calibri"/>
              </a:rPr>
              <a:t>D</a:t>
            </a:r>
            <a:r>
              <a:rPr sz="2647" spc="-35" dirty="0">
                <a:solidFill>
                  <a:srgbClr val="56127A"/>
                </a:solidFill>
                <a:latin typeface="Calibri"/>
                <a:cs typeface="Calibri"/>
              </a:rPr>
              <a:t>a</a:t>
            </a:r>
            <a:r>
              <a:rPr sz="2647" spc="-40" dirty="0">
                <a:solidFill>
                  <a:srgbClr val="56127A"/>
                </a:solidFill>
                <a:latin typeface="Calibri"/>
                <a:cs typeface="Calibri"/>
              </a:rPr>
              <a:t>t</a:t>
            </a:r>
            <a:r>
              <a:rPr sz="2647" dirty="0">
                <a:solidFill>
                  <a:srgbClr val="56127A"/>
                </a:solidFill>
                <a:latin typeface="Calibri"/>
                <a:cs typeface="Calibri"/>
              </a:rPr>
              <a:t>a</a:t>
            </a:r>
            <a:endParaRPr sz="2647">
              <a:latin typeface="Calibri"/>
              <a:cs typeface="Calibri"/>
            </a:endParaRPr>
          </a:p>
        </p:txBody>
      </p:sp>
      <p:grpSp>
        <p:nvGrpSpPr>
          <p:cNvPr id="35" name="object 31">
            <a:extLst>
              <a:ext uri="{FF2B5EF4-FFF2-40B4-BE49-F238E27FC236}">
                <a16:creationId xmlns:a16="http://schemas.microsoft.com/office/drawing/2014/main" id="{B87787C3-F675-7356-47FA-674EBA6E17B6}"/>
              </a:ext>
            </a:extLst>
          </p:cNvPr>
          <p:cNvGrpSpPr/>
          <p:nvPr/>
        </p:nvGrpSpPr>
        <p:grpSpPr>
          <a:xfrm>
            <a:off x="2384254" y="1542791"/>
            <a:ext cx="6075269" cy="2115671"/>
            <a:chOff x="1016000" y="1651000"/>
            <a:chExt cx="6885305" cy="2397760"/>
          </a:xfrm>
        </p:grpSpPr>
        <p:sp>
          <p:nvSpPr>
            <p:cNvPr id="36" name="object 32">
              <a:extLst>
                <a:ext uri="{FF2B5EF4-FFF2-40B4-BE49-F238E27FC236}">
                  <a16:creationId xmlns:a16="http://schemas.microsoft.com/office/drawing/2014/main" id="{488AF9DA-475A-4E5D-34DD-66FA448230A9}"/>
                </a:ext>
              </a:extLst>
            </p:cNvPr>
            <p:cNvSpPr/>
            <p:nvPr/>
          </p:nvSpPr>
          <p:spPr>
            <a:xfrm>
              <a:off x="1029546" y="3899745"/>
              <a:ext cx="3657600" cy="135890"/>
            </a:xfrm>
            <a:custGeom>
              <a:avLst/>
              <a:gdLst/>
              <a:ahLst/>
              <a:cxnLst/>
              <a:rect l="l" t="t" r="r" b="b"/>
              <a:pathLst>
                <a:path w="3657600" h="135889">
                  <a:moveTo>
                    <a:pt x="0" y="10159"/>
                  </a:moveTo>
                  <a:lnTo>
                    <a:pt x="171026" y="135466"/>
                  </a:lnTo>
                  <a:lnTo>
                    <a:pt x="3549226" y="135466"/>
                  </a:lnTo>
                  <a:lnTo>
                    <a:pt x="3657599" y="0"/>
                  </a:lnTo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3">
              <a:extLst>
                <a:ext uri="{FF2B5EF4-FFF2-40B4-BE49-F238E27FC236}">
                  <a16:creationId xmlns:a16="http://schemas.microsoft.com/office/drawing/2014/main" id="{3F1E7036-71A7-E6B9-5D29-A067ABC9974E}"/>
                </a:ext>
              </a:extLst>
            </p:cNvPr>
            <p:cNvSpPr/>
            <p:nvPr/>
          </p:nvSpPr>
          <p:spPr>
            <a:xfrm>
              <a:off x="4297679" y="2396067"/>
              <a:ext cx="2167890" cy="135890"/>
            </a:xfrm>
            <a:custGeom>
              <a:avLst/>
              <a:gdLst/>
              <a:ahLst/>
              <a:cxnLst/>
              <a:rect l="l" t="t" r="r" b="b"/>
              <a:pathLst>
                <a:path w="2167890" h="135889">
                  <a:moveTo>
                    <a:pt x="0" y="10159"/>
                  </a:moveTo>
                  <a:lnTo>
                    <a:pt x="101599" y="135466"/>
                  </a:lnTo>
                  <a:lnTo>
                    <a:pt x="2103118" y="135466"/>
                  </a:lnTo>
                  <a:lnTo>
                    <a:pt x="2167466" y="0"/>
                  </a:lnTo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4">
              <a:extLst>
                <a:ext uri="{FF2B5EF4-FFF2-40B4-BE49-F238E27FC236}">
                  <a16:creationId xmlns:a16="http://schemas.microsoft.com/office/drawing/2014/main" id="{164DDB14-16F0-5A19-E428-BE38E2429385}"/>
                </a:ext>
              </a:extLst>
            </p:cNvPr>
            <p:cNvSpPr/>
            <p:nvPr/>
          </p:nvSpPr>
          <p:spPr>
            <a:xfrm>
              <a:off x="5394959" y="1651000"/>
              <a:ext cx="2506345" cy="879475"/>
            </a:xfrm>
            <a:custGeom>
              <a:avLst/>
              <a:gdLst/>
              <a:ahLst/>
              <a:cxnLst/>
              <a:rect l="l" t="t" r="r" b="b"/>
              <a:pathLst>
                <a:path w="2506345" h="879475">
                  <a:moveTo>
                    <a:pt x="2472974" y="0"/>
                  </a:moveTo>
                  <a:lnTo>
                    <a:pt x="13547" y="0"/>
                  </a:lnTo>
                  <a:lnTo>
                    <a:pt x="6065" y="0"/>
                  </a:lnTo>
                  <a:lnTo>
                    <a:pt x="0" y="6065"/>
                  </a:lnTo>
                  <a:lnTo>
                    <a:pt x="0" y="145345"/>
                  </a:lnTo>
                  <a:lnTo>
                    <a:pt x="6065" y="151409"/>
                  </a:lnTo>
                  <a:lnTo>
                    <a:pt x="21028" y="151409"/>
                  </a:lnTo>
                  <a:lnTo>
                    <a:pt x="27092" y="145345"/>
                  </a:lnTo>
                  <a:lnTo>
                    <a:pt x="27092" y="27092"/>
                  </a:lnTo>
                  <a:lnTo>
                    <a:pt x="2451945" y="27092"/>
                  </a:lnTo>
                  <a:lnTo>
                    <a:pt x="2451945" y="797638"/>
                  </a:lnTo>
                  <a:lnTo>
                    <a:pt x="2424852" y="797638"/>
                  </a:lnTo>
                  <a:lnTo>
                    <a:pt x="2465492" y="878918"/>
                  </a:lnTo>
                  <a:lnTo>
                    <a:pt x="2506132" y="797638"/>
                  </a:lnTo>
                  <a:lnTo>
                    <a:pt x="2479040" y="797638"/>
                  </a:lnTo>
                  <a:lnTo>
                    <a:pt x="2479040" y="6065"/>
                  </a:lnTo>
                  <a:lnTo>
                    <a:pt x="24729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5">
              <a:extLst>
                <a:ext uri="{FF2B5EF4-FFF2-40B4-BE49-F238E27FC236}">
                  <a16:creationId xmlns:a16="http://schemas.microsoft.com/office/drawing/2014/main" id="{3A6FFA62-EADA-2EBC-0D47-E66C7F2567A7}"/>
                </a:ext>
              </a:extLst>
            </p:cNvPr>
            <p:cNvSpPr/>
            <p:nvPr/>
          </p:nvSpPr>
          <p:spPr>
            <a:xfrm>
              <a:off x="5327227" y="2924385"/>
              <a:ext cx="162560" cy="81280"/>
            </a:xfrm>
            <a:custGeom>
              <a:avLst/>
              <a:gdLst/>
              <a:ahLst/>
              <a:cxnLst/>
              <a:rect l="l" t="t" r="r" b="b"/>
              <a:pathLst>
                <a:path w="162560" h="81280">
                  <a:moveTo>
                    <a:pt x="162559" y="0"/>
                  </a:moveTo>
                  <a:lnTo>
                    <a:pt x="0" y="81279"/>
                  </a:lnTo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0" name="object 36">
            <a:extLst>
              <a:ext uri="{FF2B5EF4-FFF2-40B4-BE49-F238E27FC236}">
                <a16:creationId xmlns:a16="http://schemas.microsoft.com/office/drawing/2014/main" id="{96486ED3-CA90-ACCE-385E-FBB773E7CFB6}"/>
              </a:ext>
            </a:extLst>
          </p:cNvPr>
          <p:cNvSpPr txBox="1"/>
          <p:nvPr/>
        </p:nvSpPr>
        <p:spPr>
          <a:xfrm>
            <a:off x="3339742" y="3840753"/>
            <a:ext cx="412937" cy="359260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spcBef>
                <a:spcPts val="101"/>
              </a:spcBef>
            </a:pPr>
            <a:r>
              <a:rPr sz="2250" spc="-172" dirty="0">
                <a:solidFill>
                  <a:srgbClr val="56127A"/>
                </a:solidFill>
                <a:latin typeface="Calibri"/>
                <a:cs typeface="Calibri"/>
              </a:rPr>
              <a:t>T</a:t>
            </a:r>
            <a:r>
              <a:rPr sz="2250" spc="-4" dirty="0">
                <a:solidFill>
                  <a:srgbClr val="56127A"/>
                </a:solidFill>
                <a:latin typeface="Calibri"/>
                <a:cs typeface="Calibri"/>
              </a:rPr>
              <a:t>a</a:t>
            </a:r>
            <a:r>
              <a:rPr sz="2250" spc="4" dirty="0">
                <a:solidFill>
                  <a:srgbClr val="56127A"/>
                </a:solidFill>
                <a:latin typeface="Calibri"/>
                <a:cs typeface="Calibri"/>
              </a:rPr>
              <a:t>g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41" name="object 37">
            <a:extLst>
              <a:ext uri="{FF2B5EF4-FFF2-40B4-BE49-F238E27FC236}">
                <a16:creationId xmlns:a16="http://schemas.microsoft.com/office/drawing/2014/main" id="{C4D10CA9-4A5F-6287-0242-27203F76EDD4}"/>
              </a:ext>
            </a:extLst>
          </p:cNvPr>
          <p:cNvSpPr txBox="1"/>
          <p:nvPr/>
        </p:nvSpPr>
        <p:spPr>
          <a:xfrm>
            <a:off x="1911365" y="1769908"/>
            <a:ext cx="327212" cy="359260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spcBef>
                <a:spcPts val="101"/>
              </a:spcBef>
            </a:pPr>
            <a:r>
              <a:rPr sz="2250" spc="-106" dirty="0">
                <a:solidFill>
                  <a:srgbClr val="56127A"/>
                </a:solidFill>
                <a:latin typeface="Calibri"/>
                <a:cs typeface="Calibri"/>
              </a:rPr>
              <a:t>VA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42" name="object 38">
            <a:extLst>
              <a:ext uri="{FF2B5EF4-FFF2-40B4-BE49-F238E27FC236}">
                <a16:creationId xmlns:a16="http://schemas.microsoft.com/office/drawing/2014/main" id="{C035C723-E09A-6AE1-1CEB-DDE5382523F6}"/>
              </a:ext>
            </a:extLst>
          </p:cNvPr>
          <p:cNvSpPr txBox="1"/>
          <p:nvPr/>
        </p:nvSpPr>
        <p:spPr>
          <a:xfrm>
            <a:off x="1882977" y="3107143"/>
            <a:ext cx="304800" cy="359260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spcBef>
                <a:spcPts val="101"/>
              </a:spcBef>
            </a:pPr>
            <a:r>
              <a:rPr sz="2250" spc="-168" dirty="0">
                <a:solidFill>
                  <a:srgbClr val="56127A"/>
                </a:solidFill>
                <a:latin typeface="Calibri"/>
                <a:cs typeface="Calibri"/>
              </a:rPr>
              <a:t>PA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43" name="object 39">
            <a:extLst>
              <a:ext uri="{FF2B5EF4-FFF2-40B4-BE49-F238E27FC236}">
                <a16:creationId xmlns:a16="http://schemas.microsoft.com/office/drawing/2014/main" id="{60F1325D-4A10-BEE0-8DB9-11977404A01D}"/>
              </a:ext>
            </a:extLst>
          </p:cNvPr>
          <p:cNvSpPr txBox="1"/>
          <p:nvPr/>
        </p:nvSpPr>
        <p:spPr>
          <a:xfrm>
            <a:off x="8509389" y="1443424"/>
            <a:ext cx="928968" cy="833244"/>
          </a:xfrm>
          <a:prstGeom prst="rect">
            <a:avLst/>
          </a:prstGeom>
        </p:spPr>
        <p:txBody>
          <a:bodyPr vert="horz" wrap="square" lIns="0" tIns="25213" rIns="0" bIns="0" rtlCol="0">
            <a:spAutoFit/>
          </a:bodyPr>
          <a:lstStyle/>
          <a:p>
            <a:pPr marL="11206" marR="4483">
              <a:lnSpc>
                <a:spcPts val="3150"/>
              </a:lnSpc>
              <a:spcBef>
                <a:spcPts val="199"/>
              </a:spcBef>
            </a:pPr>
            <a:r>
              <a:rPr sz="2647" spc="-13" dirty="0">
                <a:solidFill>
                  <a:srgbClr val="56127A"/>
                </a:solidFill>
                <a:latin typeface="Calibri"/>
                <a:cs typeface="Calibri"/>
              </a:rPr>
              <a:t>V</a:t>
            </a:r>
            <a:r>
              <a:rPr sz="2647" spc="-9" dirty="0">
                <a:solidFill>
                  <a:srgbClr val="56127A"/>
                </a:solidFill>
                <a:latin typeface="Calibri"/>
                <a:cs typeface="Calibri"/>
              </a:rPr>
              <a:t>irtu</a:t>
            </a:r>
            <a:r>
              <a:rPr sz="2647" spc="-13" dirty="0">
                <a:solidFill>
                  <a:srgbClr val="56127A"/>
                </a:solidFill>
                <a:latin typeface="Calibri"/>
                <a:cs typeface="Calibri"/>
              </a:rPr>
              <a:t>a</a:t>
            </a:r>
            <a:r>
              <a:rPr sz="2647" dirty="0">
                <a:solidFill>
                  <a:srgbClr val="56127A"/>
                </a:solidFill>
                <a:latin typeface="Calibri"/>
                <a:cs typeface="Calibri"/>
              </a:rPr>
              <a:t>l  </a:t>
            </a:r>
            <a:r>
              <a:rPr sz="2647" spc="-18" dirty="0">
                <a:solidFill>
                  <a:srgbClr val="56127A"/>
                </a:solidFill>
                <a:latin typeface="Calibri"/>
                <a:cs typeface="Calibri"/>
              </a:rPr>
              <a:t>Index</a:t>
            </a:r>
            <a:endParaRPr sz="2647">
              <a:latin typeface="Calibri"/>
              <a:cs typeface="Calibri"/>
            </a:endParaRPr>
          </a:p>
        </p:txBody>
      </p:sp>
      <p:sp>
        <p:nvSpPr>
          <p:cNvPr id="44" name="object 40">
            <a:extLst>
              <a:ext uri="{FF2B5EF4-FFF2-40B4-BE49-F238E27FC236}">
                <a16:creationId xmlns:a16="http://schemas.microsoft.com/office/drawing/2014/main" id="{0513D617-8B60-1223-97AC-AC9EE84AF644}"/>
              </a:ext>
            </a:extLst>
          </p:cNvPr>
          <p:cNvSpPr txBox="1"/>
          <p:nvPr/>
        </p:nvSpPr>
        <p:spPr>
          <a:xfrm>
            <a:off x="6429578" y="2447471"/>
            <a:ext cx="175372" cy="41867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647" dirty="0">
                <a:solidFill>
                  <a:srgbClr val="56127A"/>
                </a:solidFill>
                <a:latin typeface="Calibri"/>
                <a:cs typeface="Calibri"/>
              </a:rPr>
              <a:t>k</a:t>
            </a:r>
            <a:endParaRPr sz="2647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123967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4E5804-4751-F30E-E81E-61F12A8E0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3ACE65-6DB3-2EDC-8B4E-69E4655D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21</a:t>
            </a:fld>
            <a:endParaRPr lang="en-IN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824B4395-D597-E79B-89DD-C4F1771A45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98059" y="360673"/>
            <a:ext cx="9278471" cy="1092607"/>
          </a:xfrm>
          <a:prstGeom prst="rect">
            <a:avLst/>
          </a:prstGeom>
        </p:spPr>
        <p:txBody>
          <a:bodyPr vert="horz" wrap="square" lIns="0" tIns="68580" rIns="0" bIns="0" rtlCol="0" anchor="ctr">
            <a:spAutoFit/>
          </a:bodyPr>
          <a:lstStyle/>
          <a:p>
            <a:pPr marL="417441" algn="ctr">
              <a:lnSpc>
                <a:spcPct val="100000"/>
              </a:lnSpc>
              <a:spcBef>
                <a:spcPts val="88"/>
              </a:spcBef>
            </a:pPr>
            <a:r>
              <a:rPr spc="-4" dirty="0"/>
              <a:t>Virtual-Index</a:t>
            </a:r>
            <a:r>
              <a:rPr spc="9" dirty="0"/>
              <a:t> </a:t>
            </a:r>
            <a:r>
              <a:rPr spc="-4" dirty="0"/>
              <a:t>Physical-Tag</a:t>
            </a:r>
            <a:r>
              <a:rPr dirty="0"/>
              <a:t> </a:t>
            </a:r>
            <a:r>
              <a:rPr spc="-4" dirty="0"/>
              <a:t>Caches:</a:t>
            </a:r>
          </a:p>
          <a:p>
            <a:pPr marL="419122" algn="ctr">
              <a:lnSpc>
                <a:spcPct val="100000"/>
              </a:lnSpc>
              <a:spcBef>
                <a:spcPts val="31"/>
              </a:spcBef>
            </a:pPr>
            <a:r>
              <a:rPr sz="2250" dirty="0"/>
              <a:t>Associative</a:t>
            </a:r>
            <a:r>
              <a:rPr sz="2250" spc="-35" dirty="0"/>
              <a:t> </a:t>
            </a:r>
            <a:r>
              <a:rPr sz="2250" dirty="0"/>
              <a:t>Organization</a:t>
            </a:r>
            <a:endParaRPr sz="2250"/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D15AECED-055A-4674-DD7F-8BA1405DA9A7}"/>
              </a:ext>
            </a:extLst>
          </p:cNvPr>
          <p:cNvGrpSpPr/>
          <p:nvPr/>
        </p:nvGrpSpPr>
        <p:grpSpPr>
          <a:xfrm>
            <a:off x="2486211" y="1659871"/>
            <a:ext cx="4781550" cy="335056"/>
            <a:chOff x="938106" y="1881187"/>
            <a:chExt cx="5419090" cy="379730"/>
          </a:xfrm>
        </p:grpSpPr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1FF9D0C2-1992-AE46-6829-C0C3A3D8551A}"/>
                </a:ext>
              </a:extLst>
            </p:cNvPr>
            <p:cNvSpPr/>
            <p:nvPr/>
          </p:nvSpPr>
          <p:spPr>
            <a:xfrm>
              <a:off x="938106" y="1894840"/>
              <a:ext cx="3197225" cy="365760"/>
            </a:xfrm>
            <a:custGeom>
              <a:avLst/>
              <a:gdLst/>
              <a:ahLst/>
              <a:cxnLst/>
              <a:rect l="l" t="t" r="r" b="b"/>
              <a:pathLst>
                <a:path w="3197225" h="365760">
                  <a:moveTo>
                    <a:pt x="3197013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197013" y="365760"/>
                  </a:lnTo>
                  <a:lnTo>
                    <a:pt x="3197013" y="0"/>
                  </a:lnTo>
                  <a:close/>
                </a:path>
              </a:pathLst>
            </a:custGeom>
            <a:solidFill>
              <a:srgbClr val="FFCC6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356A3C00-C75D-01F4-ABB7-EE3970BE2C7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5120" y="1894839"/>
              <a:ext cx="1801707" cy="352213"/>
            </a:xfrm>
            <a:prstGeom prst="rect">
              <a:avLst/>
            </a:prstGeom>
          </p:spPr>
        </p:pic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9FD68D99-5DAB-1B61-C6F5-054CACC1E7B5}"/>
                </a:ext>
              </a:extLst>
            </p:cNvPr>
            <p:cNvSpPr/>
            <p:nvPr/>
          </p:nvSpPr>
          <p:spPr>
            <a:xfrm>
              <a:off x="955039" y="1894840"/>
              <a:ext cx="5388610" cy="352425"/>
            </a:xfrm>
            <a:custGeom>
              <a:avLst/>
              <a:gdLst/>
              <a:ahLst/>
              <a:cxnLst/>
              <a:rect l="l" t="t" r="r" b="b"/>
              <a:pathLst>
                <a:path w="5388610" h="352425">
                  <a:moveTo>
                    <a:pt x="0" y="0"/>
                  </a:moveTo>
                  <a:lnTo>
                    <a:pt x="5388186" y="0"/>
                  </a:lnTo>
                  <a:lnTo>
                    <a:pt x="5388186" y="352213"/>
                  </a:lnTo>
                  <a:lnTo>
                    <a:pt x="0" y="352213"/>
                  </a:lnTo>
                  <a:lnTo>
                    <a:pt x="0" y="0"/>
                  </a:lnTo>
                  <a:close/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7">
            <a:extLst>
              <a:ext uri="{FF2B5EF4-FFF2-40B4-BE49-F238E27FC236}">
                <a16:creationId xmlns:a16="http://schemas.microsoft.com/office/drawing/2014/main" id="{28573E42-0609-8F1E-5770-88A0504A92DD}"/>
              </a:ext>
            </a:extLst>
          </p:cNvPr>
          <p:cNvSpPr txBox="1"/>
          <p:nvPr/>
        </p:nvSpPr>
        <p:spPr>
          <a:xfrm>
            <a:off x="2513105" y="1683870"/>
            <a:ext cx="2348753" cy="297389"/>
          </a:xfrm>
          <a:prstGeom prst="rect">
            <a:avLst/>
          </a:prstGeom>
          <a:solidFill>
            <a:srgbClr val="FFCC66"/>
          </a:solidFill>
        </p:spPr>
        <p:txBody>
          <a:bodyPr vert="horz" wrap="square" lIns="0" tIns="0" rIns="0" bIns="0" rtlCol="0">
            <a:spAutoFit/>
          </a:bodyPr>
          <a:lstStyle/>
          <a:p>
            <a:pPr marL="1289866">
              <a:lnSpc>
                <a:spcPts val="2259"/>
              </a:lnSpc>
            </a:pPr>
            <a:r>
              <a:rPr sz="2250" dirty="0">
                <a:latin typeface="Calibri"/>
                <a:cs typeface="Calibri"/>
              </a:rPr>
              <a:t>VPN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E82AC42F-31D1-81F2-F7A4-3FE147C0CE2F}"/>
              </a:ext>
            </a:extLst>
          </p:cNvPr>
          <p:cNvSpPr txBox="1"/>
          <p:nvPr/>
        </p:nvSpPr>
        <p:spPr>
          <a:xfrm>
            <a:off x="4885765" y="1683870"/>
            <a:ext cx="409574" cy="297389"/>
          </a:xfrm>
          <a:prstGeom prst="rect">
            <a:avLst/>
          </a:prstGeom>
          <a:solidFill>
            <a:srgbClr val="FFCC66"/>
          </a:solidFill>
        </p:spPr>
        <p:txBody>
          <a:bodyPr vert="horz" wrap="square" lIns="0" tIns="0" rIns="0" bIns="0" rtlCol="0">
            <a:spAutoFit/>
          </a:bodyPr>
          <a:lstStyle/>
          <a:p>
            <a:pPr marL="118228">
              <a:lnSpc>
                <a:spcPts val="2259"/>
              </a:lnSpc>
            </a:pPr>
            <a:r>
              <a:rPr sz="2250" spc="4" dirty="0">
                <a:latin typeface="Calibri"/>
                <a:cs typeface="Calibri"/>
              </a:rPr>
              <a:t>a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0DFD9655-21F0-8CE1-3A36-CCD7620F8830}"/>
              </a:ext>
            </a:extLst>
          </p:cNvPr>
          <p:cNvSpPr txBox="1"/>
          <p:nvPr/>
        </p:nvSpPr>
        <p:spPr>
          <a:xfrm>
            <a:off x="5707313" y="1625312"/>
            <a:ext cx="1437154" cy="359260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spcBef>
                <a:spcPts val="101"/>
              </a:spcBef>
              <a:tabLst>
                <a:tab pos="1274177" algn="l"/>
              </a:tabLst>
            </a:pPr>
            <a:r>
              <a:rPr sz="2250" spc="4" dirty="0">
                <a:latin typeface="Calibri"/>
                <a:cs typeface="Calibri"/>
              </a:rPr>
              <a:t>L</a:t>
            </a:r>
            <a:r>
              <a:rPr sz="2250" spc="-9" dirty="0">
                <a:latin typeface="Calibri"/>
                <a:cs typeface="Calibri"/>
              </a:rPr>
              <a:t> </a:t>
            </a:r>
            <a:r>
              <a:rPr sz="2250" spc="4" dirty="0">
                <a:latin typeface="Calibri"/>
                <a:cs typeface="Calibri"/>
              </a:rPr>
              <a:t>=</a:t>
            </a:r>
            <a:r>
              <a:rPr sz="2250" spc="-4" dirty="0">
                <a:latin typeface="Calibri"/>
                <a:cs typeface="Calibri"/>
              </a:rPr>
              <a:t> </a:t>
            </a:r>
            <a:r>
              <a:rPr sz="2250" spc="-88" dirty="0">
                <a:latin typeface="Calibri"/>
                <a:cs typeface="Calibri"/>
              </a:rPr>
              <a:t>k</a:t>
            </a:r>
            <a:r>
              <a:rPr sz="2250" dirty="0">
                <a:latin typeface="Calibri"/>
                <a:cs typeface="Calibri"/>
              </a:rPr>
              <a:t>-</a:t>
            </a:r>
            <a:r>
              <a:rPr sz="2250" spc="4" dirty="0">
                <a:latin typeface="Calibri"/>
                <a:cs typeface="Calibri"/>
              </a:rPr>
              <a:t>b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4" dirty="0">
                <a:latin typeface="Calibri"/>
                <a:cs typeface="Calibri"/>
              </a:rPr>
              <a:t>b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14" name="object 10">
            <a:extLst>
              <a:ext uri="{FF2B5EF4-FFF2-40B4-BE49-F238E27FC236}">
                <a16:creationId xmlns:a16="http://schemas.microsoft.com/office/drawing/2014/main" id="{0A714E01-D297-3F20-8A0E-49F47C5D732A}"/>
              </a:ext>
            </a:extLst>
          </p:cNvPr>
          <p:cNvGrpSpPr/>
          <p:nvPr/>
        </p:nvGrpSpPr>
        <p:grpSpPr>
          <a:xfrm>
            <a:off x="5295059" y="1540341"/>
            <a:ext cx="1599079" cy="454398"/>
            <a:chOff x="4121467" y="1745720"/>
            <a:chExt cx="1812289" cy="514984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1C5E857-169A-0228-17B8-C27600FC0BBB}"/>
                </a:ext>
              </a:extLst>
            </p:cNvPr>
            <p:cNvSpPr/>
            <p:nvPr/>
          </p:nvSpPr>
          <p:spPr>
            <a:xfrm>
              <a:off x="5919892" y="1894839"/>
              <a:ext cx="0" cy="332105"/>
            </a:xfrm>
            <a:custGeom>
              <a:avLst/>
              <a:gdLst/>
              <a:ahLst/>
              <a:cxnLst/>
              <a:rect l="l" t="t" r="r" b="b"/>
              <a:pathLst>
                <a:path h="332105">
                  <a:moveTo>
                    <a:pt x="0" y="0"/>
                  </a:moveTo>
                  <a:lnTo>
                    <a:pt x="1" y="331893"/>
                  </a:lnTo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2">
              <a:extLst>
                <a:ext uri="{FF2B5EF4-FFF2-40B4-BE49-F238E27FC236}">
                  <a16:creationId xmlns:a16="http://schemas.microsoft.com/office/drawing/2014/main" id="{0C8D1A37-D0BB-6C6E-69B2-194B8A36DD6A}"/>
                </a:ext>
              </a:extLst>
            </p:cNvPr>
            <p:cNvSpPr/>
            <p:nvPr/>
          </p:nvSpPr>
          <p:spPr>
            <a:xfrm>
              <a:off x="4135119" y="1908387"/>
              <a:ext cx="0" cy="339090"/>
            </a:xfrm>
            <a:custGeom>
              <a:avLst/>
              <a:gdLst/>
              <a:ahLst/>
              <a:cxnLst/>
              <a:rect l="l" t="t" r="r" b="b"/>
              <a:pathLst>
                <a:path h="339089">
                  <a:moveTo>
                    <a:pt x="0" y="0"/>
                  </a:moveTo>
                  <a:lnTo>
                    <a:pt x="1" y="338666"/>
                  </a:lnTo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3">
              <a:extLst>
                <a:ext uri="{FF2B5EF4-FFF2-40B4-BE49-F238E27FC236}">
                  <a16:creationId xmlns:a16="http://schemas.microsoft.com/office/drawing/2014/main" id="{806FEA29-A1E7-2DCF-2124-B073EB891F6A}"/>
                </a:ext>
              </a:extLst>
            </p:cNvPr>
            <p:cNvSpPr/>
            <p:nvPr/>
          </p:nvSpPr>
          <p:spPr>
            <a:xfrm>
              <a:off x="4148667" y="1759372"/>
              <a:ext cx="1761489" cy="108585"/>
            </a:xfrm>
            <a:custGeom>
              <a:avLst/>
              <a:gdLst/>
              <a:ahLst/>
              <a:cxnLst/>
              <a:rect l="l" t="t" r="r" b="b"/>
              <a:pathLst>
                <a:path w="1761489" h="108585">
                  <a:moveTo>
                    <a:pt x="0" y="99907"/>
                  </a:moveTo>
                  <a:lnTo>
                    <a:pt x="81280" y="0"/>
                  </a:lnTo>
                  <a:lnTo>
                    <a:pt x="1708573" y="0"/>
                  </a:lnTo>
                  <a:lnTo>
                    <a:pt x="1761067" y="108373"/>
                  </a:lnTo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" name="object 14">
            <a:extLst>
              <a:ext uri="{FF2B5EF4-FFF2-40B4-BE49-F238E27FC236}">
                <a16:creationId xmlns:a16="http://schemas.microsoft.com/office/drawing/2014/main" id="{ADD2B996-D3CF-E6CA-35DF-4B69E921D9E8}"/>
              </a:ext>
            </a:extLst>
          </p:cNvPr>
          <p:cNvSpPr txBox="1"/>
          <p:nvPr/>
        </p:nvSpPr>
        <p:spPr>
          <a:xfrm>
            <a:off x="3430493" y="2378635"/>
            <a:ext cx="1255059" cy="501834"/>
          </a:xfrm>
          <a:prstGeom prst="rect">
            <a:avLst/>
          </a:prstGeom>
          <a:ln w="27093">
            <a:solidFill>
              <a:srgbClr val="09213B"/>
            </a:solidFill>
          </a:ln>
        </p:spPr>
        <p:txBody>
          <a:bodyPr vert="horz" wrap="square" lIns="0" tIns="39781" rIns="0" bIns="0" rtlCol="0">
            <a:spAutoFit/>
          </a:bodyPr>
          <a:lstStyle/>
          <a:p>
            <a:pPr marL="349082">
              <a:spcBef>
                <a:spcPts val="313"/>
              </a:spcBef>
            </a:pPr>
            <a:r>
              <a:rPr sz="3000" spc="4" dirty="0">
                <a:solidFill>
                  <a:srgbClr val="56127A"/>
                </a:solidFill>
                <a:latin typeface="Calibri"/>
                <a:cs typeface="Calibri"/>
              </a:rPr>
              <a:t>TLB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9" name="object 15">
            <a:extLst>
              <a:ext uri="{FF2B5EF4-FFF2-40B4-BE49-F238E27FC236}">
                <a16:creationId xmlns:a16="http://schemas.microsoft.com/office/drawing/2014/main" id="{6F1445D6-157D-7DAA-95E4-94262C6248D0}"/>
              </a:ext>
            </a:extLst>
          </p:cNvPr>
          <p:cNvSpPr/>
          <p:nvPr/>
        </p:nvSpPr>
        <p:spPr>
          <a:xfrm>
            <a:off x="4004236" y="2006601"/>
            <a:ext cx="71718" cy="346822"/>
          </a:xfrm>
          <a:custGeom>
            <a:avLst/>
            <a:gdLst/>
            <a:ahLst/>
            <a:cxnLst/>
            <a:rect l="l" t="t" r="r" b="b"/>
            <a:pathLst>
              <a:path w="81280" h="393064">
                <a:moveTo>
                  <a:pt x="54185" y="0"/>
                </a:moveTo>
                <a:lnTo>
                  <a:pt x="27092" y="0"/>
                </a:lnTo>
                <a:lnTo>
                  <a:pt x="27092" y="311572"/>
                </a:lnTo>
                <a:lnTo>
                  <a:pt x="0" y="311572"/>
                </a:lnTo>
                <a:lnTo>
                  <a:pt x="40639" y="392852"/>
                </a:lnTo>
                <a:lnTo>
                  <a:pt x="81279" y="311572"/>
                </a:lnTo>
                <a:lnTo>
                  <a:pt x="54187" y="311572"/>
                </a:lnTo>
                <a:lnTo>
                  <a:pt x="54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0" name="object 16">
            <a:extLst>
              <a:ext uri="{FF2B5EF4-FFF2-40B4-BE49-F238E27FC236}">
                <a16:creationId xmlns:a16="http://schemas.microsoft.com/office/drawing/2014/main" id="{CB7AB503-ED49-0458-15B3-751497C0DA2D}"/>
              </a:ext>
            </a:extLst>
          </p:cNvPr>
          <p:cNvSpPr txBox="1"/>
          <p:nvPr/>
        </p:nvSpPr>
        <p:spPr>
          <a:xfrm>
            <a:off x="7386918" y="2269564"/>
            <a:ext cx="1183341" cy="665898"/>
          </a:xfrm>
          <a:prstGeom prst="rect">
            <a:avLst/>
          </a:prstGeom>
          <a:ln w="27093">
            <a:solidFill>
              <a:srgbClr val="09213B"/>
            </a:solidFill>
          </a:ln>
        </p:spPr>
        <p:txBody>
          <a:bodyPr vert="horz" wrap="square" lIns="0" tIns="94689" rIns="0" bIns="0" rtlCol="0">
            <a:spAutoFit/>
          </a:bodyPr>
          <a:lstStyle/>
          <a:p>
            <a:pPr marL="174821" marR="45386" indent="-124392">
              <a:lnSpc>
                <a:spcPct val="100499"/>
              </a:lnSpc>
              <a:spcBef>
                <a:spcPts val="745"/>
              </a:spcBef>
            </a:pPr>
            <a:r>
              <a:rPr sz="1853" spc="9" dirty="0">
                <a:latin typeface="Calibri"/>
                <a:cs typeface="Calibri"/>
              </a:rPr>
              <a:t>D</a:t>
            </a:r>
            <a:r>
              <a:rPr sz="1853" spc="4" dirty="0">
                <a:latin typeface="Calibri"/>
                <a:cs typeface="Calibri"/>
              </a:rPr>
              <a:t>i</a:t>
            </a:r>
            <a:r>
              <a:rPr sz="1853" spc="-18" dirty="0">
                <a:latin typeface="Calibri"/>
                <a:cs typeface="Calibri"/>
              </a:rPr>
              <a:t>r</a:t>
            </a:r>
            <a:r>
              <a:rPr sz="1853" spc="13" dirty="0">
                <a:latin typeface="Calibri"/>
                <a:cs typeface="Calibri"/>
              </a:rPr>
              <a:t>ec</a:t>
            </a:r>
            <a:r>
              <a:rPr sz="1853" spc="-49" dirty="0">
                <a:latin typeface="Calibri"/>
                <a:cs typeface="Calibri"/>
              </a:rPr>
              <a:t>t</a:t>
            </a:r>
            <a:r>
              <a:rPr sz="1853" spc="9" dirty="0">
                <a:latin typeface="Calibri"/>
                <a:cs typeface="Calibri"/>
              </a:rPr>
              <a:t>-map  2</a:t>
            </a:r>
            <a:r>
              <a:rPr sz="1853" spc="13" baseline="25793" dirty="0">
                <a:latin typeface="Calibri"/>
                <a:cs typeface="Calibri"/>
              </a:rPr>
              <a:t>L</a:t>
            </a:r>
            <a:r>
              <a:rPr sz="1853" spc="-33" baseline="25793" dirty="0">
                <a:latin typeface="Calibri"/>
                <a:cs typeface="Calibri"/>
              </a:rPr>
              <a:t> </a:t>
            </a:r>
            <a:r>
              <a:rPr sz="1853" spc="4" dirty="0">
                <a:latin typeface="Calibri"/>
                <a:cs typeface="Calibri"/>
              </a:rPr>
              <a:t>blocks</a:t>
            </a:r>
            <a:endParaRPr sz="1853">
              <a:latin typeface="Calibri"/>
              <a:cs typeface="Calibri"/>
            </a:endParaRPr>
          </a:p>
        </p:txBody>
      </p:sp>
      <p:graphicFrame>
        <p:nvGraphicFramePr>
          <p:cNvPr id="21" name="object 17">
            <a:extLst>
              <a:ext uri="{FF2B5EF4-FFF2-40B4-BE49-F238E27FC236}">
                <a16:creationId xmlns:a16="http://schemas.microsoft.com/office/drawing/2014/main" id="{B23FBAE8-0889-970A-FF02-0BCFF9885D18}"/>
              </a:ext>
            </a:extLst>
          </p:cNvPr>
          <p:cNvGraphicFramePr>
            <a:graphicFrameLocks noGrp="1"/>
          </p:cNvGraphicFramePr>
          <p:nvPr/>
        </p:nvGraphicFramePr>
        <p:xfrm>
          <a:off x="2429435" y="3369235"/>
          <a:ext cx="4850467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20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4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776">
                <a:tc>
                  <a:txBody>
                    <a:bodyPr/>
                    <a:lstStyle/>
                    <a:p>
                      <a:pPr marL="464820" algn="ctr">
                        <a:lnSpc>
                          <a:spcPts val="2675"/>
                        </a:lnSpc>
                      </a:pPr>
                      <a:r>
                        <a:rPr sz="2300" spc="-5" dirty="0">
                          <a:latin typeface="Calibri"/>
                          <a:cs typeface="Calibri"/>
                        </a:rPr>
                        <a:t>PPN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D5EDF4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5EDF4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300355">
                        <a:lnSpc>
                          <a:spcPts val="2675"/>
                        </a:lnSpc>
                      </a:pPr>
                      <a:r>
                        <a:rPr sz="2300" spc="-20" dirty="0">
                          <a:latin typeface="Calibri"/>
                          <a:cs typeface="Calibri"/>
                        </a:rPr>
                        <a:t>Page</a:t>
                      </a:r>
                      <a:r>
                        <a:rPr sz="23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300" spc="-10" dirty="0">
                          <a:latin typeface="Calibri"/>
                          <a:cs typeface="Calibri"/>
                        </a:rPr>
                        <a:t>Offset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2" name="object 18">
            <a:extLst>
              <a:ext uri="{FF2B5EF4-FFF2-40B4-BE49-F238E27FC236}">
                <a16:creationId xmlns:a16="http://schemas.microsoft.com/office/drawing/2014/main" id="{2E51B1C4-2221-93F1-9AF5-3ED429955C5E}"/>
              </a:ext>
            </a:extLst>
          </p:cNvPr>
          <p:cNvGrpSpPr/>
          <p:nvPr/>
        </p:nvGrpSpPr>
        <p:grpSpPr>
          <a:xfrm>
            <a:off x="3980330" y="2138083"/>
            <a:ext cx="5032562" cy="2044513"/>
            <a:chOff x="2631441" y="2423160"/>
            <a:chExt cx="5703570" cy="2317115"/>
          </a:xfrm>
        </p:grpSpPr>
        <p:sp>
          <p:nvSpPr>
            <p:cNvPr id="23" name="object 19">
              <a:extLst>
                <a:ext uri="{FF2B5EF4-FFF2-40B4-BE49-F238E27FC236}">
                  <a16:creationId xmlns:a16="http://schemas.microsoft.com/office/drawing/2014/main" id="{410D6253-0345-AA5C-51EC-2711589B569A}"/>
                </a:ext>
              </a:extLst>
            </p:cNvPr>
            <p:cNvSpPr/>
            <p:nvPr/>
          </p:nvSpPr>
          <p:spPr>
            <a:xfrm>
              <a:off x="2631440" y="2423159"/>
              <a:ext cx="2682240" cy="1368425"/>
            </a:xfrm>
            <a:custGeom>
              <a:avLst/>
              <a:gdLst/>
              <a:ahLst/>
              <a:cxnLst/>
              <a:rect l="l" t="t" r="r" b="b"/>
              <a:pathLst>
                <a:path w="2682240" h="1368425">
                  <a:moveTo>
                    <a:pt x="81280" y="1273390"/>
                  </a:moveTo>
                  <a:lnTo>
                    <a:pt x="54178" y="1273390"/>
                  </a:lnTo>
                  <a:lnTo>
                    <a:pt x="54178" y="961821"/>
                  </a:lnTo>
                  <a:lnTo>
                    <a:pt x="27089" y="961821"/>
                  </a:lnTo>
                  <a:lnTo>
                    <a:pt x="27089" y="1273390"/>
                  </a:lnTo>
                  <a:lnTo>
                    <a:pt x="0" y="1273390"/>
                  </a:lnTo>
                  <a:lnTo>
                    <a:pt x="40640" y="1354670"/>
                  </a:lnTo>
                  <a:lnTo>
                    <a:pt x="81280" y="1273390"/>
                  </a:lnTo>
                  <a:close/>
                </a:path>
                <a:path w="2682240" h="1368425">
                  <a:moveTo>
                    <a:pt x="2682240" y="1286941"/>
                  </a:moveTo>
                  <a:lnTo>
                    <a:pt x="2655138" y="1286941"/>
                  </a:lnTo>
                  <a:lnTo>
                    <a:pt x="2655138" y="0"/>
                  </a:lnTo>
                  <a:lnTo>
                    <a:pt x="2628049" y="0"/>
                  </a:lnTo>
                  <a:lnTo>
                    <a:pt x="2628049" y="1286941"/>
                  </a:lnTo>
                  <a:lnTo>
                    <a:pt x="2600960" y="1286941"/>
                  </a:lnTo>
                  <a:lnTo>
                    <a:pt x="2641600" y="1368221"/>
                  </a:lnTo>
                  <a:lnTo>
                    <a:pt x="2682240" y="12869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0">
              <a:extLst>
                <a:ext uri="{FF2B5EF4-FFF2-40B4-BE49-F238E27FC236}">
                  <a16:creationId xmlns:a16="http://schemas.microsoft.com/office/drawing/2014/main" id="{0A9F3B0B-BB2F-47D5-8B73-93C26AA2B540}"/>
                </a:ext>
              </a:extLst>
            </p:cNvPr>
            <p:cNvSpPr/>
            <p:nvPr/>
          </p:nvSpPr>
          <p:spPr>
            <a:xfrm>
              <a:off x="6736079" y="4251960"/>
              <a:ext cx="487680" cy="474345"/>
            </a:xfrm>
            <a:custGeom>
              <a:avLst/>
              <a:gdLst/>
              <a:ahLst/>
              <a:cxnLst/>
              <a:rect l="l" t="t" r="r" b="b"/>
              <a:pathLst>
                <a:path w="487679" h="474345">
                  <a:moveTo>
                    <a:pt x="0" y="237066"/>
                  </a:moveTo>
                  <a:lnTo>
                    <a:pt x="4953" y="189289"/>
                  </a:lnTo>
                  <a:lnTo>
                    <a:pt x="19162" y="144789"/>
                  </a:lnTo>
                  <a:lnTo>
                    <a:pt x="41644" y="104520"/>
                  </a:lnTo>
                  <a:lnTo>
                    <a:pt x="71419" y="69435"/>
                  </a:lnTo>
                  <a:lnTo>
                    <a:pt x="107506" y="40487"/>
                  </a:lnTo>
                  <a:lnTo>
                    <a:pt x="148926" y="18629"/>
                  </a:lnTo>
                  <a:lnTo>
                    <a:pt x="194697" y="4816"/>
                  </a:lnTo>
                  <a:lnTo>
                    <a:pt x="243839" y="0"/>
                  </a:lnTo>
                  <a:lnTo>
                    <a:pt x="292982" y="4816"/>
                  </a:lnTo>
                  <a:lnTo>
                    <a:pt x="338753" y="18629"/>
                  </a:lnTo>
                  <a:lnTo>
                    <a:pt x="380173" y="40487"/>
                  </a:lnTo>
                  <a:lnTo>
                    <a:pt x="416260" y="69435"/>
                  </a:lnTo>
                  <a:lnTo>
                    <a:pt x="446035" y="104520"/>
                  </a:lnTo>
                  <a:lnTo>
                    <a:pt x="468517" y="144789"/>
                  </a:lnTo>
                  <a:lnTo>
                    <a:pt x="482726" y="189289"/>
                  </a:lnTo>
                  <a:lnTo>
                    <a:pt x="487679" y="237066"/>
                  </a:lnTo>
                  <a:lnTo>
                    <a:pt x="482726" y="284843"/>
                  </a:lnTo>
                  <a:lnTo>
                    <a:pt x="468517" y="329343"/>
                  </a:lnTo>
                  <a:lnTo>
                    <a:pt x="446035" y="369612"/>
                  </a:lnTo>
                  <a:lnTo>
                    <a:pt x="416260" y="404698"/>
                  </a:lnTo>
                  <a:lnTo>
                    <a:pt x="380173" y="433646"/>
                  </a:lnTo>
                  <a:lnTo>
                    <a:pt x="338753" y="455503"/>
                  </a:lnTo>
                  <a:lnTo>
                    <a:pt x="292982" y="469316"/>
                  </a:lnTo>
                  <a:lnTo>
                    <a:pt x="243839" y="474133"/>
                  </a:lnTo>
                  <a:lnTo>
                    <a:pt x="194697" y="469316"/>
                  </a:lnTo>
                  <a:lnTo>
                    <a:pt x="148926" y="455503"/>
                  </a:lnTo>
                  <a:lnTo>
                    <a:pt x="107506" y="433646"/>
                  </a:lnTo>
                  <a:lnTo>
                    <a:pt x="71419" y="404698"/>
                  </a:lnTo>
                  <a:lnTo>
                    <a:pt x="41644" y="369612"/>
                  </a:lnTo>
                  <a:lnTo>
                    <a:pt x="19162" y="329343"/>
                  </a:lnTo>
                  <a:lnTo>
                    <a:pt x="4953" y="284843"/>
                  </a:lnTo>
                  <a:lnTo>
                    <a:pt x="0" y="237066"/>
                  </a:lnTo>
                  <a:close/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1">
              <a:extLst>
                <a:ext uri="{FF2B5EF4-FFF2-40B4-BE49-F238E27FC236}">
                  <a16:creationId xmlns:a16="http://schemas.microsoft.com/office/drawing/2014/main" id="{216AF8C0-7DC4-112E-5B0A-9480C8C46C19}"/>
                </a:ext>
              </a:extLst>
            </p:cNvPr>
            <p:cNvSpPr/>
            <p:nvPr/>
          </p:nvSpPr>
          <p:spPr>
            <a:xfrm>
              <a:off x="2658529" y="4387430"/>
              <a:ext cx="5676265" cy="203200"/>
            </a:xfrm>
            <a:custGeom>
              <a:avLst/>
              <a:gdLst/>
              <a:ahLst/>
              <a:cxnLst/>
              <a:rect l="l" t="t" r="r" b="b"/>
              <a:pathLst>
                <a:path w="5676265" h="203200">
                  <a:moveTo>
                    <a:pt x="4064000" y="162560"/>
                  </a:moveTo>
                  <a:lnTo>
                    <a:pt x="3982720" y="121920"/>
                  </a:lnTo>
                  <a:lnTo>
                    <a:pt x="3982720" y="149009"/>
                  </a:lnTo>
                  <a:lnTo>
                    <a:pt x="27089" y="149009"/>
                  </a:lnTo>
                  <a:lnTo>
                    <a:pt x="27089" y="6070"/>
                  </a:lnTo>
                  <a:lnTo>
                    <a:pt x="21031" y="0"/>
                  </a:lnTo>
                  <a:lnTo>
                    <a:pt x="13550" y="0"/>
                  </a:lnTo>
                  <a:lnTo>
                    <a:pt x="6057" y="0"/>
                  </a:lnTo>
                  <a:lnTo>
                    <a:pt x="0" y="6070"/>
                  </a:lnTo>
                  <a:lnTo>
                    <a:pt x="0" y="170040"/>
                  </a:lnTo>
                  <a:lnTo>
                    <a:pt x="6057" y="176110"/>
                  </a:lnTo>
                  <a:lnTo>
                    <a:pt x="3982720" y="176110"/>
                  </a:lnTo>
                  <a:lnTo>
                    <a:pt x="3982720" y="203200"/>
                  </a:lnTo>
                  <a:lnTo>
                    <a:pt x="4064000" y="162560"/>
                  </a:lnTo>
                  <a:close/>
                </a:path>
                <a:path w="5676265" h="203200">
                  <a:moveTo>
                    <a:pt x="5676049" y="135470"/>
                  </a:moveTo>
                  <a:lnTo>
                    <a:pt x="5594769" y="94830"/>
                  </a:lnTo>
                  <a:lnTo>
                    <a:pt x="5594769" y="121920"/>
                  </a:lnTo>
                  <a:lnTo>
                    <a:pt x="5188369" y="121920"/>
                  </a:lnTo>
                  <a:lnTo>
                    <a:pt x="5188369" y="149009"/>
                  </a:lnTo>
                  <a:lnTo>
                    <a:pt x="5594769" y="149021"/>
                  </a:lnTo>
                  <a:lnTo>
                    <a:pt x="5594769" y="176110"/>
                  </a:lnTo>
                  <a:lnTo>
                    <a:pt x="5676049" y="1354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6" name="object 22">
            <a:extLst>
              <a:ext uri="{FF2B5EF4-FFF2-40B4-BE49-F238E27FC236}">
                <a16:creationId xmlns:a16="http://schemas.microsoft.com/office/drawing/2014/main" id="{87091209-4D97-2C6D-9D6C-9CCDB29634CD}"/>
              </a:ext>
            </a:extLst>
          </p:cNvPr>
          <p:cNvSpPr txBox="1"/>
          <p:nvPr/>
        </p:nvSpPr>
        <p:spPr>
          <a:xfrm>
            <a:off x="7339854" y="3726472"/>
            <a:ext cx="572621" cy="71663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R="4483" algn="r">
              <a:spcBef>
                <a:spcPts val="88"/>
              </a:spcBef>
            </a:pPr>
            <a:r>
              <a:rPr sz="2647" dirty="0">
                <a:solidFill>
                  <a:srgbClr val="56127A"/>
                </a:solidFill>
                <a:latin typeface="Calibri"/>
                <a:cs typeface="Calibri"/>
              </a:rPr>
              <a:t>=</a:t>
            </a:r>
            <a:endParaRPr sz="2647">
              <a:latin typeface="Calibri"/>
              <a:cs typeface="Calibri"/>
            </a:endParaRPr>
          </a:p>
          <a:p>
            <a:pPr marL="11206">
              <a:spcBef>
                <a:spcPts val="115"/>
              </a:spcBef>
            </a:pPr>
            <a:r>
              <a:rPr sz="1853" spc="9" dirty="0">
                <a:solidFill>
                  <a:srgbClr val="56127A"/>
                </a:solidFill>
                <a:latin typeface="Calibri"/>
                <a:cs typeface="Calibri"/>
              </a:rPr>
              <a:t>hit?</a:t>
            </a:r>
            <a:endParaRPr sz="1853">
              <a:latin typeface="Calibri"/>
              <a:cs typeface="Calibri"/>
            </a:endParaRPr>
          </a:p>
        </p:txBody>
      </p:sp>
      <p:sp>
        <p:nvSpPr>
          <p:cNvPr id="27" name="object 23">
            <a:extLst>
              <a:ext uri="{FF2B5EF4-FFF2-40B4-BE49-F238E27FC236}">
                <a16:creationId xmlns:a16="http://schemas.microsoft.com/office/drawing/2014/main" id="{B440E682-4FF3-2289-5E6D-3A77B3898B20}"/>
              </a:ext>
            </a:extLst>
          </p:cNvPr>
          <p:cNvSpPr txBox="1"/>
          <p:nvPr/>
        </p:nvSpPr>
        <p:spPr>
          <a:xfrm>
            <a:off x="8734801" y="3089117"/>
            <a:ext cx="419660" cy="583863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47067" marR="4483" indent="-36421">
              <a:lnSpc>
                <a:spcPct val="100499"/>
              </a:lnSpc>
              <a:spcBef>
                <a:spcPts val="106"/>
              </a:spcBef>
            </a:pPr>
            <a:r>
              <a:rPr sz="1853" spc="13" dirty="0">
                <a:solidFill>
                  <a:srgbClr val="56127A"/>
                </a:solidFill>
                <a:latin typeface="Calibri"/>
                <a:cs typeface="Calibri"/>
              </a:rPr>
              <a:t>P</a:t>
            </a:r>
            <a:r>
              <a:rPr sz="1853" spc="-26" dirty="0">
                <a:solidFill>
                  <a:srgbClr val="56127A"/>
                </a:solidFill>
                <a:latin typeface="Calibri"/>
                <a:cs typeface="Calibri"/>
              </a:rPr>
              <a:t>h</a:t>
            </a:r>
            <a:r>
              <a:rPr sz="1853" spc="-119" dirty="0">
                <a:solidFill>
                  <a:srgbClr val="56127A"/>
                </a:solidFill>
                <a:latin typeface="Calibri"/>
                <a:cs typeface="Calibri"/>
              </a:rPr>
              <a:t>y</a:t>
            </a:r>
            <a:r>
              <a:rPr sz="1853" spc="4" dirty="0">
                <a:solidFill>
                  <a:srgbClr val="56127A"/>
                </a:solidFill>
                <a:latin typeface="Calibri"/>
                <a:cs typeface="Calibri"/>
              </a:rPr>
              <a:t>.  </a:t>
            </a:r>
            <a:r>
              <a:rPr sz="1853" spc="-40" dirty="0">
                <a:solidFill>
                  <a:srgbClr val="56127A"/>
                </a:solidFill>
                <a:latin typeface="Calibri"/>
                <a:cs typeface="Calibri"/>
              </a:rPr>
              <a:t>Tag</a:t>
            </a:r>
            <a:endParaRPr sz="1853">
              <a:latin typeface="Calibri"/>
              <a:cs typeface="Calibri"/>
            </a:endParaRPr>
          </a:p>
        </p:txBody>
      </p:sp>
      <p:grpSp>
        <p:nvGrpSpPr>
          <p:cNvPr id="28" name="object 24">
            <a:extLst>
              <a:ext uri="{FF2B5EF4-FFF2-40B4-BE49-F238E27FC236}">
                <a16:creationId xmlns:a16="http://schemas.microsoft.com/office/drawing/2014/main" id="{01105AFA-24B4-B02C-9136-DAEA9E7C30F5}"/>
              </a:ext>
            </a:extLst>
          </p:cNvPr>
          <p:cNvGrpSpPr/>
          <p:nvPr/>
        </p:nvGrpSpPr>
        <p:grpSpPr>
          <a:xfrm>
            <a:off x="2426353" y="1408952"/>
            <a:ext cx="5425888" cy="2474819"/>
            <a:chOff x="870267" y="1596812"/>
            <a:chExt cx="6149340" cy="2804795"/>
          </a:xfrm>
        </p:grpSpPr>
        <p:sp>
          <p:nvSpPr>
            <p:cNvPr id="29" name="object 25">
              <a:extLst>
                <a:ext uri="{FF2B5EF4-FFF2-40B4-BE49-F238E27FC236}">
                  <a16:creationId xmlns:a16="http://schemas.microsoft.com/office/drawing/2014/main" id="{5D1B8E86-AA2F-C797-AFB4-9B5729B4BFEF}"/>
                </a:ext>
              </a:extLst>
            </p:cNvPr>
            <p:cNvSpPr/>
            <p:nvPr/>
          </p:nvSpPr>
          <p:spPr>
            <a:xfrm>
              <a:off x="4162213" y="2287692"/>
              <a:ext cx="2167890" cy="135890"/>
            </a:xfrm>
            <a:custGeom>
              <a:avLst/>
              <a:gdLst/>
              <a:ahLst/>
              <a:cxnLst/>
              <a:rect l="l" t="t" r="r" b="b"/>
              <a:pathLst>
                <a:path w="2167890" h="135889">
                  <a:moveTo>
                    <a:pt x="0" y="10160"/>
                  </a:moveTo>
                  <a:lnTo>
                    <a:pt x="101600" y="135467"/>
                  </a:lnTo>
                  <a:lnTo>
                    <a:pt x="2103121" y="135467"/>
                  </a:lnTo>
                  <a:lnTo>
                    <a:pt x="2167467" y="0"/>
                  </a:lnTo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26">
              <a:extLst>
                <a:ext uri="{FF2B5EF4-FFF2-40B4-BE49-F238E27FC236}">
                  <a16:creationId xmlns:a16="http://schemas.microsoft.com/office/drawing/2014/main" id="{D77B7ED7-70BA-E84D-2380-C61770A2B3C0}"/>
                </a:ext>
              </a:extLst>
            </p:cNvPr>
            <p:cNvSpPr/>
            <p:nvPr/>
          </p:nvSpPr>
          <p:spPr>
            <a:xfrm>
              <a:off x="4961467" y="1596812"/>
              <a:ext cx="2058035" cy="975360"/>
            </a:xfrm>
            <a:custGeom>
              <a:avLst/>
              <a:gdLst/>
              <a:ahLst/>
              <a:cxnLst/>
              <a:rect l="l" t="t" r="r" b="b"/>
              <a:pathLst>
                <a:path w="2058034" h="975360">
                  <a:moveTo>
                    <a:pt x="2024378" y="0"/>
                  </a:moveTo>
                  <a:lnTo>
                    <a:pt x="13545" y="0"/>
                  </a:lnTo>
                  <a:lnTo>
                    <a:pt x="6064" y="0"/>
                  </a:lnTo>
                  <a:lnTo>
                    <a:pt x="0" y="6065"/>
                  </a:lnTo>
                  <a:lnTo>
                    <a:pt x="0" y="159881"/>
                  </a:lnTo>
                  <a:lnTo>
                    <a:pt x="6064" y="165947"/>
                  </a:lnTo>
                  <a:lnTo>
                    <a:pt x="21027" y="165947"/>
                  </a:lnTo>
                  <a:lnTo>
                    <a:pt x="27092" y="159881"/>
                  </a:lnTo>
                  <a:lnTo>
                    <a:pt x="27092" y="27094"/>
                  </a:lnTo>
                  <a:lnTo>
                    <a:pt x="2003351" y="27094"/>
                  </a:lnTo>
                  <a:lnTo>
                    <a:pt x="2003351" y="894081"/>
                  </a:lnTo>
                  <a:lnTo>
                    <a:pt x="1976257" y="894081"/>
                  </a:lnTo>
                  <a:lnTo>
                    <a:pt x="2016897" y="975361"/>
                  </a:lnTo>
                  <a:lnTo>
                    <a:pt x="2057537" y="894081"/>
                  </a:lnTo>
                  <a:lnTo>
                    <a:pt x="2030444" y="894081"/>
                  </a:lnTo>
                  <a:lnTo>
                    <a:pt x="2030444" y="6065"/>
                  </a:lnTo>
                  <a:lnTo>
                    <a:pt x="20243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27">
              <a:extLst>
                <a:ext uri="{FF2B5EF4-FFF2-40B4-BE49-F238E27FC236}">
                  <a16:creationId xmlns:a16="http://schemas.microsoft.com/office/drawing/2014/main" id="{07C903F1-E55F-5356-45BD-4A9373D94A10}"/>
                </a:ext>
              </a:extLst>
            </p:cNvPr>
            <p:cNvSpPr/>
            <p:nvPr/>
          </p:nvSpPr>
          <p:spPr>
            <a:xfrm>
              <a:off x="5151119" y="3086947"/>
              <a:ext cx="230504" cy="40640"/>
            </a:xfrm>
            <a:custGeom>
              <a:avLst/>
              <a:gdLst/>
              <a:ahLst/>
              <a:cxnLst/>
              <a:rect l="l" t="t" r="r" b="b"/>
              <a:pathLst>
                <a:path w="230504" h="40639">
                  <a:moveTo>
                    <a:pt x="230293" y="0"/>
                  </a:moveTo>
                  <a:lnTo>
                    <a:pt x="0" y="40639"/>
                  </a:lnTo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28">
              <a:extLst>
                <a:ext uri="{FF2B5EF4-FFF2-40B4-BE49-F238E27FC236}">
                  <a16:creationId xmlns:a16="http://schemas.microsoft.com/office/drawing/2014/main" id="{04D47A58-3B0F-F8AA-3DF6-CAE26964BAA1}"/>
                </a:ext>
              </a:extLst>
            </p:cNvPr>
            <p:cNvSpPr/>
            <p:nvPr/>
          </p:nvSpPr>
          <p:spPr>
            <a:xfrm>
              <a:off x="883920" y="4184227"/>
              <a:ext cx="3251200" cy="203200"/>
            </a:xfrm>
            <a:custGeom>
              <a:avLst/>
              <a:gdLst/>
              <a:ahLst/>
              <a:cxnLst/>
              <a:rect l="l" t="t" r="r" b="b"/>
              <a:pathLst>
                <a:path w="3251200" h="203200">
                  <a:moveTo>
                    <a:pt x="0" y="15240"/>
                  </a:moveTo>
                  <a:lnTo>
                    <a:pt x="150706" y="203200"/>
                  </a:lnTo>
                  <a:lnTo>
                    <a:pt x="3154680" y="203200"/>
                  </a:lnTo>
                  <a:lnTo>
                    <a:pt x="3251201" y="0"/>
                  </a:lnTo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3" name="object 29">
            <a:extLst>
              <a:ext uri="{FF2B5EF4-FFF2-40B4-BE49-F238E27FC236}">
                <a16:creationId xmlns:a16="http://schemas.microsoft.com/office/drawing/2014/main" id="{E982DB9C-F662-9B1E-C428-0859FEDCD7F8}"/>
              </a:ext>
            </a:extLst>
          </p:cNvPr>
          <p:cNvSpPr txBox="1"/>
          <p:nvPr/>
        </p:nvSpPr>
        <p:spPr>
          <a:xfrm>
            <a:off x="3574678" y="4053553"/>
            <a:ext cx="412937" cy="359260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spcBef>
                <a:spcPts val="101"/>
              </a:spcBef>
            </a:pPr>
            <a:r>
              <a:rPr sz="2250" spc="-172" dirty="0">
                <a:solidFill>
                  <a:srgbClr val="56127A"/>
                </a:solidFill>
                <a:latin typeface="Calibri"/>
                <a:cs typeface="Calibri"/>
              </a:rPr>
              <a:t>T</a:t>
            </a:r>
            <a:r>
              <a:rPr sz="2250" spc="-4" dirty="0">
                <a:solidFill>
                  <a:srgbClr val="56127A"/>
                </a:solidFill>
                <a:latin typeface="Calibri"/>
                <a:cs typeface="Calibri"/>
              </a:rPr>
              <a:t>a</a:t>
            </a:r>
            <a:r>
              <a:rPr sz="2250" spc="4" dirty="0">
                <a:solidFill>
                  <a:srgbClr val="56127A"/>
                </a:solidFill>
                <a:latin typeface="Calibri"/>
                <a:cs typeface="Calibri"/>
              </a:rPr>
              <a:t>g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34" name="object 30">
            <a:extLst>
              <a:ext uri="{FF2B5EF4-FFF2-40B4-BE49-F238E27FC236}">
                <a16:creationId xmlns:a16="http://schemas.microsoft.com/office/drawing/2014/main" id="{C084DC00-B24A-333A-51D6-19701E27DBD9}"/>
              </a:ext>
            </a:extLst>
          </p:cNvPr>
          <p:cNvSpPr txBox="1"/>
          <p:nvPr/>
        </p:nvSpPr>
        <p:spPr>
          <a:xfrm>
            <a:off x="2010336" y="1572552"/>
            <a:ext cx="379879" cy="41867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647" spc="-132" dirty="0">
                <a:solidFill>
                  <a:srgbClr val="56127A"/>
                </a:solidFill>
                <a:latin typeface="Calibri"/>
                <a:cs typeface="Calibri"/>
              </a:rPr>
              <a:t>VA</a:t>
            </a:r>
            <a:endParaRPr sz="2647">
              <a:latin typeface="Calibri"/>
              <a:cs typeface="Calibri"/>
            </a:endParaRPr>
          </a:p>
        </p:txBody>
      </p:sp>
      <p:sp>
        <p:nvSpPr>
          <p:cNvPr id="35" name="object 31">
            <a:extLst>
              <a:ext uri="{FF2B5EF4-FFF2-40B4-BE49-F238E27FC236}">
                <a16:creationId xmlns:a16="http://schemas.microsoft.com/office/drawing/2014/main" id="{0FFDAC46-4E95-F751-0E37-E7B05B25B45E}"/>
              </a:ext>
            </a:extLst>
          </p:cNvPr>
          <p:cNvSpPr txBox="1"/>
          <p:nvPr/>
        </p:nvSpPr>
        <p:spPr>
          <a:xfrm>
            <a:off x="2010336" y="3222057"/>
            <a:ext cx="354666" cy="41867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647" spc="-199" dirty="0">
                <a:solidFill>
                  <a:srgbClr val="56127A"/>
                </a:solidFill>
                <a:latin typeface="Calibri"/>
                <a:cs typeface="Calibri"/>
              </a:rPr>
              <a:t>PA</a:t>
            </a:r>
            <a:endParaRPr sz="2647">
              <a:latin typeface="Calibri"/>
              <a:cs typeface="Calibri"/>
            </a:endParaRPr>
          </a:p>
        </p:txBody>
      </p:sp>
      <p:sp>
        <p:nvSpPr>
          <p:cNvPr id="36" name="object 32">
            <a:extLst>
              <a:ext uri="{FF2B5EF4-FFF2-40B4-BE49-F238E27FC236}">
                <a16:creationId xmlns:a16="http://schemas.microsoft.com/office/drawing/2014/main" id="{85FECE16-C091-9911-7213-C8B9D532F9B0}"/>
              </a:ext>
            </a:extLst>
          </p:cNvPr>
          <p:cNvSpPr txBox="1"/>
          <p:nvPr/>
        </p:nvSpPr>
        <p:spPr>
          <a:xfrm>
            <a:off x="9397254" y="1364905"/>
            <a:ext cx="672913" cy="583863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 marR="4483">
              <a:lnSpc>
                <a:spcPct val="100499"/>
              </a:lnSpc>
              <a:spcBef>
                <a:spcPts val="106"/>
              </a:spcBef>
            </a:pPr>
            <a:r>
              <a:rPr sz="1853" spc="9" dirty="0">
                <a:solidFill>
                  <a:srgbClr val="56127A"/>
                </a:solidFill>
                <a:latin typeface="Calibri"/>
                <a:cs typeface="Calibri"/>
              </a:rPr>
              <a:t>Virtu</a:t>
            </a:r>
            <a:r>
              <a:rPr sz="1853" spc="4" dirty="0">
                <a:solidFill>
                  <a:srgbClr val="56127A"/>
                </a:solidFill>
                <a:latin typeface="Calibri"/>
                <a:cs typeface="Calibri"/>
              </a:rPr>
              <a:t>al  Index</a:t>
            </a:r>
            <a:endParaRPr sz="1853">
              <a:latin typeface="Calibri"/>
              <a:cs typeface="Calibri"/>
            </a:endParaRPr>
          </a:p>
        </p:txBody>
      </p:sp>
      <p:sp>
        <p:nvSpPr>
          <p:cNvPr id="37" name="object 33">
            <a:extLst>
              <a:ext uri="{FF2B5EF4-FFF2-40B4-BE49-F238E27FC236}">
                <a16:creationId xmlns:a16="http://schemas.microsoft.com/office/drawing/2014/main" id="{FC5D0848-FFAC-2996-618E-61F10CB34811}"/>
              </a:ext>
            </a:extLst>
          </p:cNvPr>
          <p:cNvSpPr txBox="1"/>
          <p:nvPr/>
        </p:nvSpPr>
        <p:spPr>
          <a:xfrm>
            <a:off x="6491195" y="2562397"/>
            <a:ext cx="192741" cy="359260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spcBef>
                <a:spcPts val="101"/>
              </a:spcBef>
            </a:pPr>
            <a:r>
              <a:rPr sz="2250" spc="4" dirty="0">
                <a:solidFill>
                  <a:srgbClr val="56127A"/>
                </a:solidFill>
                <a:latin typeface="Verdana"/>
                <a:cs typeface="Verdana"/>
              </a:rPr>
              <a:t>k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38" name="object 34">
            <a:extLst>
              <a:ext uri="{FF2B5EF4-FFF2-40B4-BE49-F238E27FC236}">
                <a16:creationId xmlns:a16="http://schemas.microsoft.com/office/drawing/2014/main" id="{B223B7F6-540E-C92A-AE73-5E84997466EA}"/>
              </a:ext>
            </a:extLst>
          </p:cNvPr>
          <p:cNvSpPr txBox="1"/>
          <p:nvPr/>
        </p:nvSpPr>
        <p:spPr>
          <a:xfrm>
            <a:off x="8881035" y="2293471"/>
            <a:ext cx="1183341" cy="665898"/>
          </a:xfrm>
          <a:prstGeom prst="rect">
            <a:avLst/>
          </a:prstGeom>
          <a:ln w="27093">
            <a:solidFill>
              <a:srgbClr val="09213B"/>
            </a:solidFill>
          </a:ln>
        </p:spPr>
        <p:txBody>
          <a:bodyPr vert="horz" wrap="square" lIns="0" tIns="94689" rIns="0" bIns="0" rtlCol="0">
            <a:spAutoFit/>
          </a:bodyPr>
          <a:lstStyle/>
          <a:p>
            <a:pPr marL="174821" marR="45386" indent="-124392">
              <a:lnSpc>
                <a:spcPct val="100499"/>
              </a:lnSpc>
              <a:spcBef>
                <a:spcPts val="745"/>
              </a:spcBef>
            </a:pPr>
            <a:r>
              <a:rPr sz="1853" spc="9" dirty="0">
                <a:latin typeface="Calibri"/>
                <a:cs typeface="Calibri"/>
              </a:rPr>
              <a:t>D</a:t>
            </a:r>
            <a:r>
              <a:rPr sz="1853" spc="4" dirty="0">
                <a:latin typeface="Calibri"/>
                <a:cs typeface="Calibri"/>
              </a:rPr>
              <a:t>i</a:t>
            </a:r>
            <a:r>
              <a:rPr sz="1853" spc="-18" dirty="0">
                <a:latin typeface="Calibri"/>
                <a:cs typeface="Calibri"/>
              </a:rPr>
              <a:t>r</a:t>
            </a:r>
            <a:r>
              <a:rPr sz="1853" spc="13" dirty="0">
                <a:latin typeface="Calibri"/>
                <a:cs typeface="Calibri"/>
              </a:rPr>
              <a:t>ec</a:t>
            </a:r>
            <a:r>
              <a:rPr sz="1853" spc="-49" dirty="0">
                <a:latin typeface="Calibri"/>
                <a:cs typeface="Calibri"/>
              </a:rPr>
              <a:t>t</a:t>
            </a:r>
            <a:r>
              <a:rPr sz="1853" spc="9" dirty="0">
                <a:latin typeface="Calibri"/>
                <a:cs typeface="Calibri"/>
              </a:rPr>
              <a:t>-map  2</a:t>
            </a:r>
            <a:r>
              <a:rPr sz="1853" spc="13" baseline="25793" dirty="0">
                <a:latin typeface="Calibri"/>
                <a:cs typeface="Calibri"/>
              </a:rPr>
              <a:t>L</a:t>
            </a:r>
            <a:r>
              <a:rPr sz="1853" spc="-33" baseline="25793" dirty="0">
                <a:latin typeface="Calibri"/>
                <a:cs typeface="Calibri"/>
              </a:rPr>
              <a:t> </a:t>
            </a:r>
            <a:r>
              <a:rPr sz="1853" spc="4" dirty="0">
                <a:latin typeface="Calibri"/>
                <a:cs typeface="Calibri"/>
              </a:rPr>
              <a:t>blocks</a:t>
            </a:r>
            <a:endParaRPr sz="1853">
              <a:latin typeface="Calibri"/>
              <a:cs typeface="Calibri"/>
            </a:endParaRPr>
          </a:p>
        </p:txBody>
      </p:sp>
      <p:grpSp>
        <p:nvGrpSpPr>
          <p:cNvPr id="39" name="object 35">
            <a:extLst>
              <a:ext uri="{FF2B5EF4-FFF2-40B4-BE49-F238E27FC236}">
                <a16:creationId xmlns:a16="http://schemas.microsoft.com/office/drawing/2014/main" id="{082176BE-FE7F-6A3A-FC5C-C5BE99BFCF4E}"/>
              </a:ext>
            </a:extLst>
          </p:cNvPr>
          <p:cNvGrpSpPr/>
          <p:nvPr/>
        </p:nvGrpSpPr>
        <p:grpSpPr>
          <a:xfrm>
            <a:off x="4861765" y="1408952"/>
            <a:ext cx="4496360" cy="872938"/>
            <a:chOff x="3630400" y="1596812"/>
            <a:chExt cx="5095875" cy="989330"/>
          </a:xfrm>
        </p:grpSpPr>
        <p:sp>
          <p:nvSpPr>
            <p:cNvPr id="40" name="object 36">
              <a:extLst>
                <a:ext uri="{FF2B5EF4-FFF2-40B4-BE49-F238E27FC236}">
                  <a16:creationId xmlns:a16="http://schemas.microsoft.com/office/drawing/2014/main" id="{F65A0E36-CB7B-E69A-BE3D-9D1A069058C6}"/>
                </a:ext>
              </a:extLst>
            </p:cNvPr>
            <p:cNvSpPr/>
            <p:nvPr/>
          </p:nvSpPr>
          <p:spPr>
            <a:xfrm>
              <a:off x="6966374" y="1596812"/>
              <a:ext cx="1759585" cy="989330"/>
            </a:xfrm>
            <a:custGeom>
              <a:avLst/>
              <a:gdLst/>
              <a:ahLst/>
              <a:cxnLst/>
              <a:rect l="l" t="t" r="r" b="b"/>
              <a:pathLst>
                <a:path w="1759584" h="989330">
                  <a:moveTo>
                    <a:pt x="1726203" y="0"/>
                  </a:moveTo>
                  <a:lnTo>
                    <a:pt x="13545" y="0"/>
                  </a:lnTo>
                  <a:lnTo>
                    <a:pt x="6064" y="0"/>
                  </a:lnTo>
                  <a:lnTo>
                    <a:pt x="0" y="6065"/>
                  </a:lnTo>
                  <a:lnTo>
                    <a:pt x="0" y="21028"/>
                  </a:lnTo>
                  <a:lnTo>
                    <a:pt x="6064" y="27094"/>
                  </a:lnTo>
                  <a:lnTo>
                    <a:pt x="1705174" y="27094"/>
                  </a:lnTo>
                  <a:lnTo>
                    <a:pt x="1705174" y="907627"/>
                  </a:lnTo>
                  <a:lnTo>
                    <a:pt x="1678081" y="907627"/>
                  </a:lnTo>
                  <a:lnTo>
                    <a:pt x="1718721" y="988907"/>
                  </a:lnTo>
                  <a:lnTo>
                    <a:pt x="1759361" y="907627"/>
                  </a:lnTo>
                  <a:lnTo>
                    <a:pt x="1732267" y="907627"/>
                  </a:lnTo>
                  <a:lnTo>
                    <a:pt x="1732267" y="6065"/>
                  </a:lnTo>
                  <a:lnTo>
                    <a:pt x="17262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37">
              <a:extLst>
                <a:ext uri="{FF2B5EF4-FFF2-40B4-BE49-F238E27FC236}">
                  <a16:creationId xmlns:a16="http://schemas.microsoft.com/office/drawing/2014/main" id="{AA59E659-0577-2097-3539-CF34B25602DA}"/>
                </a:ext>
              </a:extLst>
            </p:cNvPr>
            <p:cNvSpPr/>
            <p:nvPr/>
          </p:nvSpPr>
          <p:spPr>
            <a:xfrm>
              <a:off x="3644052" y="1908387"/>
              <a:ext cx="0" cy="332105"/>
            </a:xfrm>
            <a:custGeom>
              <a:avLst/>
              <a:gdLst/>
              <a:ahLst/>
              <a:cxnLst/>
              <a:rect l="l" t="t" r="r" b="b"/>
              <a:pathLst>
                <a:path h="332105">
                  <a:moveTo>
                    <a:pt x="0" y="0"/>
                  </a:moveTo>
                  <a:lnTo>
                    <a:pt x="1" y="331893"/>
                  </a:lnTo>
                </a:path>
              </a:pathLst>
            </a:custGeom>
            <a:ln w="27093">
              <a:solidFill>
                <a:srgbClr val="D5EDF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38">
              <a:extLst>
                <a:ext uri="{FF2B5EF4-FFF2-40B4-BE49-F238E27FC236}">
                  <a16:creationId xmlns:a16="http://schemas.microsoft.com/office/drawing/2014/main" id="{1897EC1B-9B53-37CE-C032-61FC6694F6C9}"/>
                </a:ext>
              </a:extLst>
            </p:cNvPr>
            <p:cNvSpPr/>
            <p:nvPr/>
          </p:nvSpPr>
          <p:spPr>
            <a:xfrm>
              <a:off x="7779172" y="2219959"/>
              <a:ext cx="27305" cy="54610"/>
            </a:xfrm>
            <a:custGeom>
              <a:avLst/>
              <a:gdLst/>
              <a:ahLst/>
              <a:cxnLst/>
              <a:rect l="l" t="t" r="r" b="b"/>
              <a:pathLst>
                <a:path w="27304" h="54610">
                  <a:moveTo>
                    <a:pt x="13547" y="0"/>
                  </a:moveTo>
                  <a:lnTo>
                    <a:pt x="8274" y="2129"/>
                  </a:lnTo>
                  <a:lnTo>
                    <a:pt x="3967" y="7935"/>
                  </a:lnTo>
                  <a:lnTo>
                    <a:pt x="1064" y="16547"/>
                  </a:lnTo>
                  <a:lnTo>
                    <a:pt x="0" y="27092"/>
                  </a:lnTo>
                  <a:lnTo>
                    <a:pt x="1064" y="37638"/>
                  </a:lnTo>
                  <a:lnTo>
                    <a:pt x="3967" y="46251"/>
                  </a:lnTo>
                  <a:lnTo>
                    <a:pt x="8274" y="52057"/>
                  </a:lnTo>
                  <a:lnTo>
                    <a:pt x="13547" y="54187"/>
                  </a:lnTo>
                  <a:lnTo>
                    <a:pt x="18820" y="52057"/>
                  </a:lnTo>
                  <a:lnTo>
                    <a:pt x="23126" y="46251"/>
                  </a:lnTo>
                  <a:lnTo>
                    <a:pt x="26029" y="37638"/>
                  </a:lnTo>
                  <a:lnTo>
                    <a:pt x="27094" y="27092"/>
                  </a:lnTo>
                  <a:lnTo>
                    <a:pt x="26029" y="16547"/>
                  </a:lnTo>
                  <a:lnTo>
                    <a:pt x="23126" y="7935"/>
                  </a:lnTo>
                  <a:lnTo>
                    <a:pt x="18820" y="2129"/>
                  </a:lnTo>
                  <a:lnTo>
                    <a:pt x="135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3" name="object 39">
              <a:extLst>
                <a:ext uri="{FF2B5EF4-FFF2-40B4-BE49-F238E27FC236}">
                  <a16:creationId xmlns:a16="http://schemas.microsoft.com/office/drawing/2014/main" id="{F223462A-120E-504B-AD5D-C0A003F97E13}"/>
                </a:ext>
              </a:extLst>
            </p:cNvPr>
            <p:cNvSpPr/>
            <p:nvPr/>
          </p:nvSpPr>
          <p:spPr>
            <a:xfrm>
              <a:off x="7779172" y="2219959"/>
              <a:ext cx="27305" cy="54610"/>
            </a:xfrm>
            <a:custGeom>
              <a:avLst/>
              <a:gdLst/>
              <a:ahLst/>
              <a:cxnLst/>
              <a:rect l="l" t="t" r="r" b="b"/>
              <a:pathLst>
                <a:path w="27304" h="54610">
                  <a:moveTo>
                    <a:pt x="0" y="27093"/>
                  </a:moveTo>
                  <a:lnTo>
                    <a:pt x="1064" y="16547"/>
                  </a:lnTo>
                  <a:lnTo>
                    <a:pt x="3967" y="7935"/>
                  </a:lnTo>
                  <a:lnTo>
                    <a:pt x="8273" y="2129"/>
                  </a:lnTo>
                  <a:lnTo>
                    <a:pt x="13546" y="0"/>
                  </a:lnTo>
                  <a:lnTo>
                    <a:pt x="18819" y="2129"/>
                  </a:lnTo>
                  <a:lnTo>
                    <a:pt x="23125" y="7935"/>
                  </a:lnTo>
                  <a:lnTo>
                    <a:pt x="26028" y="16547"/>
                  </a:lnTo>
                  <a:lnTo>
                    <a:pt x="27093" y="27093"/>
                  </a:lnTo>
                  <a:lnTo>
                    <a:pt x="26028" y="37639"/>
                  </a:lnTo>
                  <a:lnTo>
                    <a:pt x="23125" y="46251"/>
                  </a:lnTo>
                  <a:lnTo>
                    <a:pt x="18819" y="52057"/>
                  </a:lnTo>
                  <a:lnTo>
                    <a:pt x="13546" y="54186"/>
                  </a:lnTo>
                  <a:lnTo>
                    <a:pt x="8273" y="52057"/>
                  </a:lnTo>
                  <a:lnTo>
                    <a:pt x="3967" y="46251"/>
                  </a:lnTo>
                  <a:lnTo>
                    <a:pt x="1064" y="37639"/>
                  </a:lnTo>
                  <a:lnTo>
                    <a:pt x="0" y="27093"/>
                  </a:lnTo>
                  <a:close/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4" name="object 40">
              <a:extLst>
                <a:ext uri="{FF2B5EF4-FFF2-40B4-BE49-F238E27FC236}">
                  <a16:creationId xmlns:a16="http://schemas.microsoft.com/office/drawing/2014/main" id="{A817EC62-5DA2-FAF5-4615-3022A583DD0F}"/>
                </a:ext>
              </a:extLst>
            </p:cNvPr>
            <p:cNvSpPr/>
            <p:nvPr/>
          </p:nvSpPr>
          <p:spPr>
            <a:xfrm>
              <a:off x="7941733" y="2219959"/>
              <a:ext cx="27305" cy="54610"/>
            </a:xfrm>
            <a:custGeom>
              <a:avLst/>
              <a:gdLst/>
              <a:ahLst/>
              <a:cxnLst/>
              <a:rect l="l" t="t" r="r" b="b"/>
              <a:pathLst>
                <a:path w="27304" h="54610">
                  <a:moveTo>
                    <a:pt x="13547" y="0"/>
                  </a:moveTo>
                  <a:lnTo>
                    <a:pt x="8274" y="2129"/>
                  </a:lnTo>
                  <a:lnTo>
                    <a:pt x="3967" y="7935"/>
                  </a:lnTo>
                  <a:lnTo>
                    <a:pt x="1064" y="16547"/>
                  </a:lnTo>
                  <a:lnTo>
                    <a:pt x="0" y="27092"/>
                  </a:lnTo>
                  <a:lnTo>
                    <a:pt x="1064" y="37638"/>
                  </a:lnTo>
                  <a:lnTo>
                    <a:pt x="3967" y="46251"/>
                  </a:lnTo>
                  <a:lnTo>
                    <a:pt x="8274" y="52057"/>
                  </a:lnTo>
                  <a:lnTo>
                    <a:pt x="13547" y="54187"/>
                  </a:lnTo>
                  <a:lnTo>
                    <a:pt x="18820" y="52057"/>
                  </a:lnTo>
                  <a:lnTo>
                    <a:pt x="23126" y="46251"/>
                  </a:lnTo>
                  <a:lnTo>
                    <a:pt x="26029" y="37638"/>
                  </a:lnTo>
                  <a:lnTo>
                    <a:pt x="27094" y="27092"/>
                  </a:lnTo>
                  <a:lnTo>
                    <a:pt x="26029" y="16547"/>
                  </a:lnTo>
                  <a:lnTo>
                    <a:pt x="23126" y="7935"/>
                  </a:lnTo>
                  <a:lnTo>
                    <a:pt x="18820" y="2129"/>
                  </a:lnTo>
                  <a:lnTo>
                    <a:pt x="135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5" name="object 41">
              <a:extLst>
                <a:ext uri="{FF2B5EF4-FFF2-40B4-BE49-F238E27FC236}">
                  <a16:creationId xmlns:a16="http://schemas.microsoft.com/office/drawing/2014/main" id="{65F46487-9AAC-4F37-83D4-63CC565D8EDC}"/>
                </a:ext>
              </a:extLst>
            </p:cNvPr>
            <p:cNvSpPr/>
            <p:nvPr/>
          </p:nvSpPr>
          <p:spPr>
            <a:xfrm>
              <a:off x="7941733" y="2219959"/>
              <a:ext cx="27305" cy="54610"/>
            </a:xfrm>
            <a:custGeom>
              <a:avLst/>
              <a:gdLst/>
              <a:ahLst/>
              <a:cxnLst/>
              <a:rect l="l" t="t" r="r" b="b"/>
              <a:pathLst>
                <a:path w="27304" h="54610">
                  <a:moveTo>
                    <a:pt x="0" y="27093"/>
                  </a:moveTo>
                  <a:lnTo>
                    <a:pt x="1064" y="16547"/>
                  </a:lnTo>
                  <a:lnTo>
                    <a:pt x="3967" y="7935"/>
                  </a:lnTo>
                  <a:lnTo>
                    <a:pt x="8273" y="2129"/>
                  </a:lnTo>
                  <a:lnTo>
                    <a:pt x="13546" y="0"/>
                  </a:lnTo>
                  <a:lnTo>
                    <a:pt x="18819" y="2129"/>
                  </a:lnTo>
                  <a:lnTo>
                    <a:pt x="23125" y="7935"/>
                  </a:lnTo>
                  <a:lnTo>
                    <a:pt x="26028" y="16547"/>
                  </a:lnTo>
                  <a:lnTo>
                    <a:pt x="27093" y="27093"/>
                  </a:lnTo>
                  <a:lnTo>
                    <a:pt x="26028" y="37639"/>
                  </a:lnTo>
                  <a:lnTo>
                    <a:pt x="23125" y="46251"/>
                  </a:lnTo>
                  <a:lnTo>
                    <a:pt x="18819" y="52057"/>
                  </a:lnTo>
                  <a:lnTo>
                    <a:pt x="13546" y="54186"/>
                  </a:lnTo>
                  <a:lnTo>
                    <a:pt x="8273" y="52057"/>
                  </a:lnTo>
                  <a:lnTo>
                    <a:pt x="3967" y="46251"/>
                  </a:lnTo>
                  <a:lnTo>
                    <a:pt x="1064" y="37639"/>
                  </a:lnTo>
                  <a:lnTo>
                    <a:pt x="0" y="27093"/>
                  </a:lnTo>
                  <a:close/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2">
              <a:extLst>
                <a:ext uri="{FF2B5EF4-FFF2-40B4-BE49-F238E27FC236}">
                  <a16:creationId xmlns:a16="http://schemas.microsoft.com/office/drawing/2014/main" id="{2A63609A-950D-443C-7461-395035AD56D3}"/>
                </a:ext>
              </a:extLst>
            </p:cNvPr>
            <p:cNvSpPr/>
            <p:nvPr/>
          </p:nvSpPr>
          <p:spPr>
            <a:xfrm>
              <a:off x="8104292" y="2219959"/>
              <a:ext cx="27305" cy="54610"/>
            </a:xfrm>
            <a:custGeom>
              <a:avLst/>
              <a:gdLst/>
              <a:ahLst/>
              <a:cxnLst/>
              <a:rect l="l" t="t" r="r" b="b"/>
              <a:pathLst>
                <a:path w="27304" h="54610">
                  <a:moveTo>
                    <a:pt x="13547" y="0"/>
                  </a:moveTo>
                  <a:lnTo>
                    <a:pt x="8274" y="2129"/>
                  </a:lnTo>
                  <a:lnTo>
                    <a:pt x="3967" y="7935"/>
                  </a:lnTo>
                  <a:lnTo>
                    <a:pt x="1064" y="16547"/>
                  </a:lnTo>
                  <a:lnTo>
                    <a:pt x="0" y="27092"/>
                  </a:lnTo>
                  <a:lnTo>
                    <a:pt x="1064" y="37638"/>
                  </a:lnTo>
                  <a:lnTo>
                    <a:pt x="3967" y="46251"/>
                  </a:lnTo>
                  <a:lnTo>
                    <a:pt x="8274" y="52057"/>
                  </a:lnTo>
                  <a:lnTo>
                    <a:pt x="13547" y="54187"/>
                  </a:lnTo>
                  <a:lnTo>
                    <a:pt x="18820" y="52057"/>
                  </a:lnTo>
                  <a:lnTo>
                    <a:pt x="23126" y="46251"/>
                  </a:lnTo>
                  <a:lnTo>
                    <a:pt x="26029" y="37638"/>
                  </a:lnTo>
                  <a:lnTo>
                    <a:pt x="27094" y="27092"/>
                  </a:lnTo>
                  <a:lnTo>
                    <a:pt x="26029" y="16547"/>
                  </a:lnTo>
                  <a:lnTo>
                    <a:pt x="23126" y="7935"/>
                  </a:lnTo>
                  <a:lnTo>
                    <a:pt x="18820" y="2129"/>
                  </a:lnTo>
                  <a:lnTo>
                    <a:pt x="135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3">
              <a:extLst>
                <a:ext uri="{FF2B5EF4-FFF2-40B4-BE49-F238E27FC236}">
                  <a16:creationId xmlns:a16="http://schemas.microsoft.com/office/drawing/2014/main" id="{B83AAD73-21F8-7CA7-96D9-8B6DA5C7CD3F}"/>
                </a:ext>
              </a:extLst>
            </p:cNvPr>
            <p:cNvSpPr/>
            <p:nvPr/>
          </p:nvSpPr>
          <p:spPr>
            <a:xfrm>
              <a:off x="8104292" y="2219959"/>
              <a:ext cx="27305" cy="54610"/>
            </a:xfrm>
            <a:custGeom>
              <a:avLst/>
              <a:gdLst/>
              <a:ahLst/>
              <a:cxnLst/>
              <a:rect l="l" t="t" r="r" b="b"/>
              <a:pathLst>
                <a:path w="27304" h="54610">
                  <a:moveTo>
                    <a:pt x="0" y="27093"/>
                  </a:moveTo>
                  <a:lnTo>
                    <a:pt x="1064" y="16547"/>
                  </a:lnTo>
                  <a:lnTo>
                    <a:pt x="3967" y="7935"/>
                  </a:lnTo>
                  <a:lnTo>
                    <a:pt x="8273" y="2129"/>
                  </a:lnTo>
                  <a:lnTo>
                    <a:pt x="13546" y="0"/>
                  </a:lnTo>
                  <a:lnTo>
                    <a:pt x="18819" y="2129"/>
                  </a:lnTo>
                  <a:lnTo>
                    <a:pt x="23125" y="7935"/>
                  </a:lnTo>
                  <a:lnTo>
                    <a:pt x="26028" y="16547"/>
                  </a:lnTo>
                  <a:lnTo>
                    <a:pt x="27093" y="27093"/>
                  </a:lnTo>
                  <a:lnTo>
                    <a:pt x="26028" y="37639"/>
                  </a:lnTo>
                  <a:lnTo>
                    <a:pt x="23125" y="46251"/>
                  </a:lnTo>
                  <a:lnTo>
                    <a:pt x="18819" y="52057"/>
                  </a:lnTo>
                  <a:lnTo>
                    <a:pt x="13546" y="54186"/>
                  </a:lnTo>
                  <a:lnTo>
                    <a:pt x="8273" y="52057"/>
                  </a:lnTo>
                  <a:lnTo>
                    <a:pt x="3967" y="46251"/>
                  </a:lnTo>
                  <a:lnTo>
                    <a:pt x="1064" y="37639"/>
                  </a:lnTo>
                  <a:lnTo>
                    <a:pt x="0" y="27093"/>
                  </a:lnTo>
                  <a:close/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8" name="object 44">
            <a:extLst>
              <a:ext uri="{FF2B5EF4-FFF2-40B4-BE49-F238E27FC236}">
                <a16:creationId xmlns:a16="http://schemas.microsoft.com/office/drawing/2014/main" id="{F9D29631-4F4F-6979-C4D7-1391AC9C1C05}"/>
              </a:ext>
            </a:extLst>
          </p:cNvPr>
          <p:cNvSpPr txBox="1"/>
          <p:nvPr/>
        </p:nvSpPr>
        <p:spPr>
          <a:xfrm>
            <a:off x="8596408" y="1527009"/>
            <a:ext cx="279587" cy="299917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/>
          <a:p>
            <a:pPr marL="33619">
              <a:spcBef>
                <a:spcPts val="115"/>
              </a:spcBef>
            </a:pPr>
            <a:r>
              <a:rPr sz="2780" spc="6" baseline="-27777" dirty="0">
                <a:solidFill>
                  <a:srgbClr val="56127A"/>
                </a:solidFill>
                <a:latin typeface="Calibri"/>
                <a:cs typeface="Calibri"/>
              </a:rPr>
              <a:t>2</a:t>
            </a:r>
            <a:r>
              <a:rPr sz="1500" spc="4" dirty="0">
                <a:solidFill>
                  <a:srgbClr val="56127A"/>
                </a:solidFill>
                <a:latin typeface="Calibri"/>
                <a:cs typeface="Calibri"/>
              </a:rPr>
              <a:t>a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49" name="object 45">
            <a:extLst>
              <a:ext uri="{FF2B5EF4-FFF2-40B4-BE49-F238E27FC236}">
                <a16:creationId xmlns:a16="http://schemas.microsoft.com/office/drawing/2014/main" id="{42D4F663-3947-4E24-3029-8F655F7DD9C8}"/>
              </a:ext>
            </a:extLst>
          </p:cNvPr>
          <p:cNvGrpSpPr/>
          <p:nvPr/>
        </p:nvGrpSpPr>
        <p:grpSpPr>
          <a:xfrm>
            <a:off x="7769412" y="3058458"/>
            <a:ext cx="2127997" cy="2187388"/>
            <a:chOff x="6925733" y="3466252"/>
            <a:chExt cx="2411730" cy="2479040"/>
          </a:xfrm>
        </p:grpSpPr>
        <p:sp>
          <p:nvSpPr>
            <p:cNvPr id="50" name="object 46">
              <a:extLst>
                <a:ext uri="{FF2B5EF4-FFF2-40B4-BE49-F238E27FC236}">
                  <a16:creationId xmlns:a16="http://schemas.microsoft.com/office/drawing/2014/main" id="{843F9FB1-15D7-45C9-7443-7E351FD8FF6E}"/>
                </a:ext>
              </a:extLst>
            </p:cNvPr>
            <p:cNvSpPr/>
            <p:nvPr/>
          </p:nvSpPr>
          <p:spPr>
            <a:xfrm>
              <a:off x="6925729" y="3466261"/>
              <a:ext cx="1503680" cy="2479040"/>
            </a:xfrm>
            <a:custGeom>
              <a:avLst/>
              <a:gdLst/>
              <a:ahLst/>
              <a:cxnLst/>
              <a:rect l="l" t="t" r="r" b="b"/>
              <a:pathLst>
                <a:path w="1503679" h="2479040">
                  <a:moveTo>
                    <a:pt x="81280" y="663778"/>
                  </a:moveTo>
                  <a:lnTo>
                    <a:pt x="54190" y="663778"/>
                  </a:lnTo>
                  <a:lnTo>
                    <a:pt x="54190" y="0"/>
                  </a:lnTo>
                  <a:lnTo>
                    <a:pt x="27089" y="0"/>
                  </a:lnTo>
                  <a:lnTo>
                    <a:pt x="27089" y="663778"/>
                  </a:lnTo>
                  <a:lnTo>
                    <a:pt x="0" y="663778"/>
                  </a:lnTo>
                  <a:lnTo>
                    <a:pt x="40640" y="745058"/>
                  </a:lnTo>
                  <a:lnTo>
                    <a:pt x="81280" y="663778"/>
                  </a:lnTo>
                  <a:close/>
                </a:path>
                <a:path w="1503679" h="2479040">
                  <a:moveTo>
                    <a:pt x="609600" y="1788160"/>
                  </a:moveTo>
                  <a:lnTo>
                    <a:pt x="582510" y="1788160"/>
                  </a:lnTo>
                  <a:lnTo>
                    <a:pt x="582510" y="0"/>
                  </a:lnTo>
                  <a:lnTo>
                    <a:pt x="555409" y="0"/>
                  </a:lnTo>
                  <a:lnTo>
                    <a:pt x="555409" y="1788160"/>
                  </a:lnTo>
                  <a:lnTo>
                    <a:pt x="528320" y="1788160"/>
                  </a:lnTo>
                  <a:lnTo>
                    <a:pt x="568960" y="1869440"/>
                  </a:lnTo>
                  <a:lnTo>
                    <a:pt x="609600" y="1788160"/>
                  </a:lnTo>
                  <a:close/>
                </a:path>
                <a:path w="1503679" h="2479040">
                  <a:moveTo>
                    <a:pt x="1503680" y="2397760"/>
                  </a:moveTo>
                  <a:lnTo>
                    <a:pt x="1476590" y="2397760"/>
                  </a:lnTo>
                  <a:lnTo>
                    <a:pt x="1476590" y="1896529"/>
                  </a:lnTo>
                  <a:lnTo>
                    <a:pt x="1449489" y="1896529"/>
                  </a:lnTo>
                  <a:lnTo>
                    <a:pt x="1449489" y="2397760"/>
                  </a:lnTo>
                  <a:lnTo>
                    <a:pt x="1422400" y="2397760"/>
                  </a:lnTo>
                  <a:lnTo>
                    <a:pt x="1463040" y="2479040"/>
                  </a:lnTo>
                  <a:lnTo>
                    <a:pt x="1503680" y="23977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47">
              <a:extLst>
                <a:ext uri="{FF2B5EF4-FFF2-40B4-BE49-F238E27FC236}">
                  <a16:creationId xmlns:a16="http://schemas.microsoft.com/office/drawing/2014/main" id="{95ACD087-75DD-EF0C-595E-C053C233BEF6}"/>
                </a:ext>
              </a:extLst>
            </p:cNvPr>
            <p:cNvSpPr/>
            <p:nvPr/>
          </p:nvSpPr>
          <p:spPr>
            <a:xfrm>
              <a:off x="7372772" y="5349239"/>
              <a:ext cx="1950720" cy="0"/>
            </a:xfrm>
            <a:custGeom>
              <a:avLst/>
              <a:gdLst/>
              <a:ahLst/>
              <a:cxnLst/>
              <a:rect l="l" t="t" r="r" b="b"/>
              <a:pathLst>
                <a:path w="1950720">
                  <a:moveTo>
                    <a:pt x="0" y="0"/>
                  </a:moveTo>
                  <a:lnTo>
                    <a:pt x="1950719" y="1"/>
                  </a:lnTo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2" name="object 48">
              <a:extLst>
                <a:ext uri="{FF2B5EF4-FFF2-40B4-BE49-F238E27FC236}">
                  <a16:creationId xmlns:a16="http://schemas.microsoft.com/office/drawing/2014/main" id="{8C95EE22-0456-4A29-9B96-6C4B912F581F}"/>
                </a:ext>
              </a:extLst>
            </p:cNvPr>
            <p:cNvSpPr/>
            <p:nvPr/>
          </p:nvSpPr>
          <p:spPr>
            <a:xfrm>
              <a:off x="7305039" y="4766732"/>
              <a:ext cx="379730" cy="271145"/>
            </a:xfrm>
            <a:custGeom>
              <a:avLst/>
              <a:gdLst/>
              <a:ahLst/>
              <a:cxnLst/>
              <a:rect l="l" t="t" r="r" b="b"/>
              <a:pathLst>
                <a:path w="379729" h="271145">
                  <a:moveTo>
                    <a:pt x="379307" y="0"/>
                  </a:moveTo>
                  <a:lnTo>
                    <a:pt x="0" y="0"/>
                  </a:lnTo>
                  <a:lnTo>
                    <a:pt x="189652" y="270934"/>
                  </a:lnTo>
                  <a:lnTo>
                    <a:pt x="3793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3" name="object 49">
              <a:extLst>
                <a:ext uri="{FF2B5EF4-FFF2-40B4-BE49-F238E27FC236}">
                  <a16:creationId xmlns:a16="http://schemas.microsoft.com/office/drawing/2014/main" id="{226F0E1E-3787-9E7B-5D01-149D487C2FC5}"/>
                </a:ext>
              </a:extLst>
            </p:cNvPr>
            <p:cNvSpPr/>
            <p:nvPr/>
          </p:nvSpPr>
          <p:spPr>
            <a:xfrm>
              <a:off x="7305039" y="4766732"/>
              <a:ext cx="379730" cy="271145"/>
            </a:xfrm>
            <a:custGeom>
              <a:avLst/>
              <a:gdLst/>
              <a:ahLst/>
              <a:cxnLst/>
              <a:rect l="l" t="t" r="r" b="b"/>
              <a:pathLst>
                <a:path w="379729" h="271145">
                  <a:moveTo>
                    <a:pt x="0" y="0"/>
                  </a:moveTo>
                  <a:lnTo>
                    <a:pt x="379307" y="0"/>
                  </a:lnTo>
                  <a:lnTo>
                    <a:pt x="189653" y="270933"/>
                  </a:lnTo>
                  <a:lnTo>
                    <a:pt x="0" y="0"/>
                  </a:lnTo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4" name="object 50">
              <a:extLst>
                <a:ext uri="{FF2B5EF4-FFF2-40B4-BE49-F238E27FC236}">
                  <a16:creationId xmlns:a16="http://schemas.microsoft.com/office/drawing/2014/main" id="{AE615097-CAA8-8DB9-562C-74FDFE7140D5}"/>
                </a:ext>
              </a:extLst>
            </p:cNvPr>
            <p:cNvSpPr/>
            <p:nvPr/>
          </p:nvSpPr>
          <p:spPr>
            <a:xfrm>
              <a:off x="7020559" y="4739639"/>
              <a:ext cx="393065" cy="162560"/>
            </a:xfrm>
            <a:custGeom>
              <a:avLst/>
              <a:gdLst/>
              <a:ahLst/>
              <a:cxnLst/>
              <a:rect l="l" t="t" r="r" b="b"/>
              <a:pathLst>
                <a:path w="393065" h="162560">
                  <a:moveTo>
                    <a:pt x="0" y="0"/>
                  </a:moveTo>
                  <a:lnTo>
                    <a:pt x="0" y="162560"/>
                  </a:lnTo>
                  <a:lnTo>
                    <a:pt x="392853" y="162560"/>
                  </a:lnTo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1">
              <a:extLst>
                <a:ext uri="{FF2B5EF4-FFF2-40B4-BE49-F238E27FC236}">
                  <a16:creationId xmlns:a16="http://schemas.microsoft.com/office/drawing/2014/main" id="{540F4422-36AA-CE21-808F-1C412B35203C}"/>
                </a:ext>
              </a:extLst>
            </p:cNvPr>
            <p:cNvSpPr/>
            <p:nvPr/>
          </p:nvSpPr>
          <p:spPr>
            <a:xfrm>
              <a:off x="8375226" y="4265506"/>
              <a:ext cx="487680" cy="474345"/>
            </a:xfrm>
            <a:custGeom>
              <a:avLst/>
              <a:gdLst/>
              <a:ahLst/>
              <a:cxnLst/>
              <a:rect l="l" t="t" r="r" b="b"/>
              <a:pathLst>
                <a:path w="487679" h="474345">
                  <a:moveTo>
                    <a:pt x="0" y="237066"/>
                  </a:moveTo>
                  <a:lnTo>
                    <a:pt x="4953" y="189289"/>
                  </a:lnTo>
                  <a:lnTo>
                    <a:pt x="19162" y="144789"/>
                  </a:lnTo>
                  <a:lnTo>
                    <a:pt x="41644" y="104520"/>
                  </a:lnTo>
                  <a:lnTo>
                    <a:pt x="71419" y="69435"/>
                  </a:lnTo>
                  <a:lnTo>
                    <a:pt x="107506" y="40487"/>
                  </a:lnTo>
                  <a:lnTo>
                    <a:pt x="148926" y="18629"/>
                  </a:lnTo>
                  <a:lnTo>
                    <a:pt x="194697" y="4816"/>
                  </a:lnTo>
                  <a:lnTo>
                    <a:pt x="243839" y="0"/>
                  </a:lnTo>
                  <a:lnTo>
                    <a:pt x="292982" y="4816"/>
                  </a:lnTo>
                  <a:lnTo>
                    <a:pt x="338753" y="18629"/>
                  </a:lnTo>
                  <a:lnTo>
                    <a:pt x="380173" y="40487"/>
                  </a:lnTo>
                  <a:lnTo>
                    <a:pt x="416260" y="69435"/>
                  </a:lnTo>
                  <a:lnTo>
                    <a:pt x="446035" y="104520"/>
                  </a:lnTo>
                  <a:lnTo>
                    <a:pt x="468517" y="144789"/>
                  </a:lnTo>
                  <a:lnTo>
                    <a:pt x="482726" y="189289"/>
                  </a:lnTo>
                  <a:lnTo>
                    <a:pt x="487679" y="237066"/>
                  </a:lnTo>
                  <a:lnTo>
                    <a:pt x="482726" y="284843"/>
                  </a:lnTo>
                  <a:lnTo>
                    <a:pt x="468517" y="329343"/>
                  </a:lnTo>
                  <a:lnTo>
                    <a:pt x="446035" y="369612"/>
                  </a:lnTo>
                  <a:lnTo>
                    <a:pt x="416260" y="404698"/>
                  </a:lnTo>
                  <a:lnTo>
                    <a:pt x="380173" y="433646"/>
                  </a:lnTo>
                  <a:lnTo>
                    <a:pt x="338753" y="455503"/>
                  </a:lnTo>
                  <a:lnTo>
                    <a:pt x="292982" y="469316"/>
                  </a:lnTo>
                  <a:lnTo>
                    <a:pt x="243839" y="474133"/>
                  </a:lnTo>
                  <a:lnTo>
                    <a:pt x="194697" y="469316"/>
                  </a:lnTo>
                  <a:lnTo>
                    <a:pt x="148926" y="455503"/>
                  </a:lnTo>
                  <a:lnTo>
                    <a:pt x="107506" y="433646"/>
                  </a:lnTo>
                  <a:lnTo>
                    <a:pt x="71419" y="404698"/>
                  </a:lnTo>
                  <a:lnTo>
                    <a:pt x="41644" y="369612"/>
                  </a:lnTo>
                  <a:lnTo>
                    <a:pt x="19162" y="329343"/>
                  </a:lnTo>
                  <a:lnTo>
                    <a:pt x="4953" y="284843"/>
                  </a:lnTo>
                  <a:lnTo>
                    <a:pt x="0" y="237066"/>
                  </a:lnTo>
                  <a:close/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6" name="object 52">
            <a:extLst>
              <a:ext uri="{FF2B5EF4-FFF2-40B4-BE49-F238E27FC236}">
                <a16:creationId xmlns:a16="http://schemas.microsoft.com/office/drawing/2014/main" id="{AF26A244-3AEB-810B-2DA8-68D190649F84}"/>
              </a:ext>
            </a:extLst>
          </p:cNvPr>
          <p:cNvSpPr txBox="1"/>
          <p:nvPr/>
        </p:nvSpPr>
        <p:spPr>
          <a:xfrm>
            <a:off x="9168683" y="3738424"/>
            <a:ext cx="189940" cy="41867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647" dirty="0">
                <a:solidFill>
                  <a:srgbClr val="56127A"/>
                </a:solidFill>
                <a:latin typeface="Calibri"/>
                <a:cs typeface="Calibri"/>
              </a:rPr>
              <a:t>=</a:t>
            </a:r>
            <a:endParaRPr sz="2647">
              <a:latin typeface="Calibri"/>
              <a:cs typeface="Calibri"/>
            </a:endParaRPr>
          </a:p>
        </p:txBody>
      </p:sp>
      <p:grpSp>
        <p:nvGrpSpPr>
          <p:cNvPr id="57" name="object 53">
            <a:extLst>
              <a:ext uri="{FF2B5EF4-FFF2-40B4-BE49-F238E27FC236}">
                <a16:creationId xmlns:a16="http://schemas.microsoft.com/office/drawing/2014/main" id="{B35A1E97-C938-B923-5EF5-30B3F7C5E6BF}"/>
              </a:ext>
            </a:extLst>
          </p:cNvPr>
          <p:cNvGrpSpPr/>
          <p:nvPr/>
        </p:nvGrpSpPr>
        <p:grpSpPr>
          <a:xfrm>
            <a:off x="8151905" y="3073400"/>
            <a:ext cx="1745316" cy="1646704"/>
            <a:chOff x="7359225" y="3483187"/>
            <a:chExt cx="1978025" cy="1866264"/>
          </a:xfrm>
        </p:grpSpPr>
        <p:sp>
          <p:nvSpPr>
            <p:cNvPr id="58" name="object 54">
              <a:extLst>
                <a:ext uri="{FF2B5EF4-FFF2-40B4-BE49-F238E27FC236}">
                  <a16:creationId xmlns:a16="http://schemas.microsoft.com/office/drawing/2014/main" id="{E167C409-7D4C-C5C9-1172-8D9816B4486B}"/>
                </a:ext>
              </a:extLst>
            </p:cNvPr>
            <p:cNvSpPr/>
            <p:nvPr/>
          </p:nvSpPr>
          <p:spPr>
            <a:xfrm>
              <a:off x="8564880" y="3483190"/>
              <a:ext cx="609600" cy="1866264"/>
            </a:xfrm>
            <a:custGeom>
              <a:avLst/>
              <a:gdLst/>
              <a:ahLst/>
              <a:cxnLst/>
              <a:rect l="l" t="t" r="r" b="b"/>
              <a:pathLst>
                <a:path w="609600" h="1866264">
                  <a:moveTo>
                    <a:pt x="81280" y="660400"/>
                  </a:moveTo>
                  <a:lnTo>
                    <a:pt x="54178" y="660400"/>
                  </a:lnTo>
                  <a:lnTo>
                    <a:pt x="54178" y="23710"/>
                  </a:lnTo>
                  <a:lnTo>
                    <a:pt x="27089" y="23710"/>
                  </a:lnTo>
                  <a:lnTo>
                    <a:pt x="27089" y="660400"/>
                  </a:lnTo>
                  <a:lnTo>
                    <a:pt x="0" y="660400"/>
                  </a:lnTo>
                  <a:lnTo>
                    <a:pt x="40640" y="741680"/>
                  </a:lnTo>
                  <a:lnTo>
                    <a:pt x="81280" y="660400"/>
                  </a:lnTo>
                  <a:close/>
                </a:path>
                <a:path w="609600" h="1866264">
                  <a:moveTo>
                    <a:pt x="609600" y="1784769"/>
                  </a:moveTo>
                  <a:lnTo>
                    <a:pt x="582498" y="1784769"/>
                  </a:lnTo>
                  <a:lnTo>
                    <a:pt x="582498" y="0"/>
                  </a:lnTo>
                  <a:lnTo>
                    <a:pt x="555409" y="0"/>
                  </a:lnTo>
                  <a:lnTo>
                    <a:pt x="555409" y="1784769"/>
                  </a:lnTo>
                  <a:lnTo>
                    <a:pt x="528320" y="1784769"/>
                  </a:lnTo>
                  <a:lnTo>
                    <a:pt x="568960" y="1866049"/>
                  </a:lnTo>
                  <a:lnTo>
                    <a:pt x="609600" y="17847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9" name="object 55">
              <a:extLst>
                <a:ext uri="{FF2B5EF4-FFF2-40B4-BE49-F238E27FC236}">
                  <a16:creationId xmlns:a16="http://schemas.microsoft.com/office/drawing/2014/main" id="{A939CA84-64EF-CD9D-EB64-0B4077FB6227}"/>
                </a:ext>
              </a:extLst>
            </p:cNvPr>
            <p:cNvSpPr/>
            <p:nvPr/>
          </p:nvSpPr>
          <p:spPr>
            <a:xfrm>
              <a:off x="8944186" y="4780279"/>
              <a:ext cx="379730" cy="271145"/>
            </a:xfrm>
            <a:custGeom>
              <a:avLst/>
              <a:gdLst/>
              <a:ahLst/>
              <a:cxnLst/>
              <a:rect l="l" t="t" r="r" b="b"/>
              <a:pathLst>
                <a:path w="379729" h="271145">
                  <a:moveTo>
                    <a:pt x="379307" y="0"/>
                  </a:moveTo>
                  <a:lnTo>
                    <a:pt x="0" y="0"/>
                  </a:lnTo>
                  <a:lnTo>
                    <a:pt x="189652" y="270934"/>
                  </a:lnTo>
                  <a:lnTo>
                    <a:pt x="3793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0" name="object 56">
              <a:extLst>
                <a:ext uri="{FF2B5EF4-FFF2-40B4-BE49-F238E27FC236}">
                  <a16:creationId xmlns:a16="http://schemas.microsoft.com/office/drawing/2014/main" id="{4D50B6C7-2B14-A19F-2CBA-37AB22349CA7}"/>
                </a:ext>
              </a:extLst>
            </p:cNvPr>
            <p:cNvSpPr/>
            <p:nvPr/>
          </p:nvSpPr>
          <p:spPr>
            <a:xfrm>
              <a:off x="8944186" y="4780279"/>
              <a:ext cx="379730" cy="271145"/>
            </a:xfrm>
            <a:custGeom>
              <a:avLst/>
              <a:gdLst/>
              <a:ahLst/>
              <a:cxnLst/>
              <a:rect l="l" t="t" r="r" b="b"/>
              <a:pathLst>
                <a:path w="379729" h="271145">
                  <a:moveTo>
                    <a:pt x="0" y="0"/>
                  </a:moveTo>
                  <a:lnTo>
                    <a:pt x="379307" y="0"/>
                  </a:lnTo>
                  <a:lnTo>
                    <a:pt x="189653" y="270933"/>
                  </a:lnTo>
                  <a:lnTo>
                    <a:pt x="0" y="0"/>
                  </a:lnTo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1" name="object 57">
              <a:extLst>
                <a:ext uri="{FF2B5EF4-FFF2-40B4-BE49-F238E27FC236}">
                  <a16:creationId xmlns:a16="http://schemas.microsoft.com/office/drawing/2014/main" id="{660E7893-7308-232A-5F69-6654D5979F88}"/>
                </a:ext>
              </a:extLst>
            </p:cNvPr>
            <p:cNvSpPr/>
            <p:nvPr/>
          </p:nvSpPr>
          <p:spPr>
            <a:xfrm>
              <a:off x="8659706" y="4753187"/>
              <a:ext cx="393065" cy="162560"/>
            </a:xfrm>
            <a:custGeom>
              <a:avLst/>
              <a:gdLst/>
              <a:ahLst/>
              <a:cxnLst/>
              <a:rect l="l" t="t" r="r" b="b"/>
              <a:pathLst>
                <a:path w="393065" h="162560">
                  <a:moveTo>
                    <a:pt x="0" y="0"/>
                  </a:moveTo>
                  <a:lnTo>
                    <a:pt x="0" y="162560"/>
                  </a:lnTo>
                  <a:lnTo>
                    <a:pt x="392853" y="162560"/>
                  </a:lnTo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2" name="object 58">
              <a:extLst>
                <a:ext uri="{FF2B5EF4-FFF2-40B4-BE49-F238E27FC236}">
                  <a16:creationId xmlns:a16="http://schemas.microsoft.com/office/drawing/2014/main" id="{91CDDBFF-D1C3-1BDC-D16B-A9808B1E35B8}"/>
                </a:ext>
              </a:extLst>
            </p:cNvPr>
            <p:cNvSpPr/>
            <p:nvPr/>
          </p:nvSpPr>
          <p:spPr>
            <a:xfrm>
              <a:off x="7968826" y="5132492"/>
              <a:ext cx="27305" cy="54610"/>
            </a:xfrm>
            <a:custGeom>
              <a:avLst/>
              <a:gdLst/>
              <a:ahLst/>
              <a:cxnLst/>
              <a:rect l="l" t="t" r="r" b="b"/>
              <a:pathLst>
                <a:path w="27304" h="54610">
                  <a:moveTo>
                    <a:pt x="13545" y="0"/>
                  </a:moveTo>
                  <a:lnTo>
                    <a:pt x="8272" y="2129"/>
                  </a:lnTo>
                  <a:lnTo>
                    <a:pt x="3967" y="7935"/>
                  </a:lnTo>
                  <a:lnTo>
                    <a:pt x="1064" y="16548"/>
                  </a:lnTo>
                  <a:lnTo>
                    <a:pt x="0" y="27094"/>
                  </a:lnTo>
                  <a:lnTo>
                    <a:pt x="1064" y="37640"/>
                  </a:lnTo>
                  <a:lnTo>
                    <a:pt x="3967" y="46251"/>
                  </a:lnTo>
                  <a:lnTo>
                    <a:pt x="8272" y="52058"/>
                  </a:lnTo>
                  <a:lnTo>
                    <a:pt x="13545" y="54187"/>
                  </a:lnTo>
                  <a:lnTo>
                    <a:pt x="18818" y="52058"/>
                  </a:lnTo>
                  <a:lnTo>
                    <a:pt x="23124" y="46251"/>
                  </a:lnTo>
                  <a:lnTo>
                    <a:pt x="26028" y="37640"/>
                  </a:lnTo>
                  <a:lnTo>
                    <a:pt x="27092" y="27094"/>
                  </a:lnTo>
                  <a:lnTo>
                    <a:pt x="26028" y="16548"/>
                  </a:lnTo>
                  <a:lnTo>
                    <a:pt x="23124" y="7935"/>
                  </a:lnTo>
                  <a:lnTo>
                    <a:pt x="18818" y="2129"/>
                  </a:lnTo>
                  <a:lnTo>
                    <a:pt x="135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3" name="object 59">
              <a:extLst>
                <a:ext uri="{FF2B5EF4-FFF2-40B4-BE49-F238E27FC236}">
                  <a16:creationId xmlns:a16="http://schemas.microsoft.com/office/drawing/2014/main" id="{412C6C7A-7EFA-738B-506B-5E57A62BBF81}"/>
                </a:ext>
              </a:extLst>
            </p:cNvPr>
            <p:cNvSpPr/>
            <p:nvPr/>
          </p:nvSpPr>
          <p:spPr>
            <a:xfrm>
              <a:off x="7968826" y="5132492"/>
              <a:ext cx="27305" cy="54610"/>
            </a:xfrm>
            <a:custGeom>
              <a:avLst/>
              <a:gdLst/>
              <a:ahLst/>
              <a:cxnLst/>
              <a:rect l="l" t="t" r="r" b="b"/>
              <a:pathLst>
                <a:path w="27304" h="54610">
                  <a:moveTo>
                    <a:pt x="0" y="27093"/>
                  </a:moveTo>
                  <a:lnTo>
                    <a:pt x="1064" y="16547"/>
                  </a:lnTo>
                  <a:lnTo>
                    <a:pt x="3967" y="7935"/>
                  </a:lnTo>
                  <a:lnTo>
                    <a:pt x="8273" y="2129"/>
                  </a:lnTo>
                  <a:lnTo>
                    <a:pt x="13546" y="0"/>
                  </a:lnTo>
                  <a:lnTo>
                    <a:pt x="18819" y="2129"/>
                  </a:lnTo>
                  <a:lnTo>
                    <a:pt x="23125" y="7935"/>
                  </a:lnTo>
                  <a:lnTo>
                    <a:pt x="26028" y="16547"/>
                  </a:lnTo>
                  <a:lnTo>
                    <a:pt x="27093" y="27093"/>
                  </a:lnTo>
                  <a:lnTo>
                    <a:pt x="26028" y="37639"/>
                  </a:lnTo>
                  <a:lnTo>
                    <a:pt x="23125" y="46251"/>
                  </a:lnTo>
                  <a:lnTo>
                    <a:pt x="18819" y="52057"/>
                  </a:lnTo>
                  <a:lnTo>
                    <a:pt x="13546" y="54186"/>
                  </a:lnTo>
                  <a:lnTo>
                    <a:pt x="8273" y="52057"/>
                  </a:lnTo>
                  <a:lnTo>
                    <a:pt x="3967" y="46251"/>
                  </a:lnTo>
                  <a:lnTo>
                    <a:pt x="1064" y="37639"/>
                  </a:lnTo>
                  <a:lnTo>
                    <a:pt x="0" y="27093"/>
                  </a:lnTo>
                  <a:close/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4" name="object 60">
              <a:extLst>
                <a:ext uri="{FF2B5EF4-FFF2-40B4-BE49-F238E27FC236}">
                  <a16:creationId xmlns:a16="http://schemas.microsoft.com/office/drawing/2014/main" id="{216F2177-593C-8E98-0163-C1EE8BF26CA7}"/>
                </a:ext>
              </a:extLst>
            </p:cNvPr>
            <p:cNvSpPr/>
            <p:nvPr/>
          </p:nvSpPr>
          <p:spPr>
            <a:xfrm>
              <a:off x="8131386" y="5132492"/>
              <a:ext cx="27305" cy="54610"/>
            </a:xfrm>
            <a:custGeom>
              <a:avLst/>
              <a:gdLst/>
              <a:ahLst/>
              <a:cxnLst/>
              <a:rect l="l" t="t" r="r" b="b"/>
              <a:pathLst>
                <a:path w="27304" h="54610">
                  <a:moveTo>
                    <a:pt x="13545" y="0"/>
                  </a:moveTo>
                  <a:lnTo>
                    <a:pt x="8272" y="2129"/>
                  </a:lnTo>
                  <a:lnTo>
                    <a:pt x="3967" y="7935"/>
                  </a:lnTo>
                  <a:lnTo>
                    <a:pt x="1064" y="16548"/>
                  </a:lnTo>
                  <a:lnTo>
                    <a:pt x="0" y="27094"/>
                  </a:lnTo>
                  <a:lnTo>
                    <a:pt x="1064" y="37640"/>
                  </a:lnTo>
                  <a:lnTo>
                    <a:pt x="3967" y="46251"/>
                  </a:lnTo>
                  <a:lnTo>
                    <a:pt x="8272" y="52058"/>
                  </a:lnTo>
                  <a:lnTo>
                    <a:pt x="13545" y="54187"/>
                  </a:lnTo>
                  <a:lnTo>
                    <a:pt x="18819" y="52058"/>
                  </a:lnTo>
                  <a:lnTo>
                    <a:pt x="23125" y="46251"/>
                  </a:lnTo>
                  <a:lnTo>
                    <a:pt x="26028" y="37640"/>
                  </a:lnTo>
                  <a:lnTo>
                    <a:pt x="27092" y="27094"/>
                  </a:lnTo>
                  <a:lnTo>
                    <a:pt x="26028" y="16548"/>
                  </a:lnTo>
                  <a:lnTo>
                    <a:pt x="23125" y="7935"/>
                  </a:lnTo>
                  <a:lnTo>
                    <a:pt x="18819" y="2129"/>
                  </a:lnTo>
                  <a:lnTo>
                    <a:pt x="135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1">
              <a:extLst>
                <a:ext uri="{FF2B5EF4-FFF2-40B4-BE49-F238E27FC236}">
                  <a16:creationId xmlns:a16="http://schemas.microsoft.com/office/drawing/2014/main" id="{C32D474E-9AF2-EA03-D5D5-92EBE28E25BE}"/>
                </a:ext>
              </a:extLst>
            </p:cNvPr>
            <p:cNvSpPr/>
            <p:nvPr/>
          </p:nvSpPr>
          <p:spPr>
            <a:xfrm>
              <a:off x="8131386" y="5132492"/>
              <a:ext cx="27305" cy="54610"/>
            </a:xfrm>
            <a:custGeom>
              <a:avLst/>
              <a:gdLst/>
              <a:ahLst/>
              <a:cxnLst/>
              <a:rect l="l" t="t" r="r" b="b"/>
              <a:pathLst>
                <a:path w="27304" h="54610">
                  <a:moveTo>
                    <a:pt x="0" y="27093"/>
                  </a:moveTo>
                  <a:lnTo>
                    <a:pt x="1064" y="16547"/>
                  </a:lnTo>
                  <a:lnTo>
                    <a:pt x="3967" y="7935"/>
                  </a:lnTo>
                  <a:lnTo>
                    <a:pt x="8273" y="2129"/>
                  </a:lnTo>
                  <a:lnTo>
                    <a:pt x="13546" y="0"/>
                  </a:lnTo>
                  <a:lnTo>
                    <a:pt x="18819" y="2129"/>
                  </a:lnTo>
                  <a:lnTo>
                    <a:pt x="23125" y="7935"/>
                  </a:lnTo>
                  <a:lnTo>
                    <a:pt x="26028" y="16547"/>
                  </a:lnTo>
                  <a:lnTo>
                    <a:pt x="27093" y="27093"/>
                  </a:lnTo>
                  <a:lnTo>
                    <a:pt x="26028" y="37639"/>
                  </a:lnTo>
                  <a:lnTo>
                    <a:pt x="23125" y="46251"/>
                  </a:lnTo>
                  <a:lnTo>
                    <a:pt x="18819" y="52057"/>
                  </a:lnTo>
                  <a:lnTo>
                    <a:pt x="13546" y="54186"/>
                  </a:lnTo>
                  <a:lnTo>
                    <a:pt x="8273" y="52057"/>
                  </a:lnTo>
                  <a:lnTo>
                    <a:pt x="3967" y="46251"/>
                  </a:lnTo>
                  <a:lnTo>
                    <a:pt x="1064" y="37639"/>
                  </a:lnTo>
                  <a:lnTo>
                    <a:pt x="0" y="27093"/>
                  </a:lnTo>
                  <a:close/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6" name="object 62">
              <a:extLst>
                <a:ext uri="{FF2B5EF4-FFF2-40B4-BE49-F238E27FC236}">
                  <a16:creationId xmlns:a16="http://schemas.microsoft.com/office/drawing/2014/main" id="{4ABD67EE-453E-5C3F-BDE7-140C273A5A07}"/>
                </a:ext>
              </a:extLst>
            </p:cNvPr>
            <p:cNvSpPr/>
            <p:nvPr/>
          </p:nvSpPr>
          <p:spPr>
            <a:xfrm>
              <a:off x="8293946" y="5132492"/>
              <a:ext cx="27305" cy="54610"/>
            </a:xfrm>
            <a:custGeom>
              <a:avLst/>
              <a:gdLst/>
              <a:ahLst/>
              <a:cxnLst/>
              <a:rect l="l" t="t" r="r" b="b"/>
              <a:pathLst>
                <a:path w="27304" h="54610">
                  <a:moveTo>
                    <a:pt x="13545" y="0"/>
                  </a:moveTo>
                  <a:lnTo>
                    <a:pt x="8272" y="2129"/>
                  </a:lnTo>
                  <a:lnTo>
                    <a:pt x="3967" y="7935"/>
                  </a:lnTo>
                  <a:lnTo>
                    <a:pt x="1064" y="16548"/>
                  </a:lnTo>
                  <a:lnTo>
                    <a:pt x="0" y="27094"/>
                  </a:lnTo>
                  <a:lnTo>
                    <a:pt x="1064" y="37640"/>
                  </a:lnTo>
                  <a:lnTo>
                    <a:pt x="3967" y="46251"/>
                  </a:lnTo>
                  <a:lnTo>
                    <a:pt x="8272" y="52058"/>
                  </a:lnTo>
                  <a:lnTo>
                    <a:pt x="13545" y="54187"/>
                  </a:lnTo>
                  <a:lnTo>
                    <a:pt x="18818" y="52058"/>
                  </a:lnTo>
                  <a:lnTo>
                    <a:pt x="23124" y="46251"/>
                  </a:lnTo>
                  <a:lnTo>
                    <a:pt x="26028" y="37640"/>
                  </a:lnTo>
                  <a:lnTo>
                    <a:pt x="27092" y="27094"/>
                  </a:lnTo>
                  <a:lnTo>
                    <a:pt x="26028" y="16548"/>
                  </a:lnTo>
                  <a:lnTo>
                    <a:pt x="23124" y="7935"/>
                  </a:lnTo>
                  <a:lnTo>
                    <a:pt x="18818" y="2129"/>
                  </a:lnTo>
                  <a:lnTo>
                    <a:pt x="135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7" name="object 63">
              <a:extLst>
                <a:ext uri="{FF2B5EF4-FFF2-40B4-BE49-F238E27FC236}">
                  <a16:creationId xmlns:a16="http://schemas.microsoft.com/office/drawing/2014/main" id="{D80122E2-5B51-BFC0-F86B-1FC6CFBB2051}"/>
                </a:ext>
              </a:extLst>
            </p:cNvPr>
            <p:cNvSpPr/>
            <p:nvPr/>
          </p:nvSpPr>
          <p:spPr>
            <a:xfrm>
              <a:off x="8293946" y="5132492"/>
              <a:ext cx="27305" cy="54610"/>
            </a:xfrm>
            <a:custGeom>
              <a:avLst/>
              <a:gdLst/>
              <a:ahLst/>
              <a:cxnLst/>
              <a:rect l="l" t="t" r="r" b="b"/>
              <a:pathLst>
                <a:path w="27304" h="54610">
                  <a:moveTo>
                    <a:pt x="0" y="27093"/>
                  </a:moveTo>
                  <a:lnTo>
                    <a:pt x="1064" y="16547"/>
                  </a:lnTo>
                  <a:lnTo>
                    <a:pt x="3967" y="7935"/>
                  </a:lnTo>
                  <a:lnTo>
                    <a:pt x="8273" y="2129"/>
                  </a:lnTo>
                  <a:lnTo>
                    <a:pt x="13546" y="0"/>
                  </a:lnTo>
                  <a:lnTo>
                    <a:pt x="18819" y="2129"/>
                  </a:lnTo>
                  <a:lnTo>
                    <a:pt x="23125" y="7935"/>
                  </a:lnTo>
                  <a:lnTo>
                    <a:pt x="26028" y="16547"/>
                  </a:lnTo>
                  <a:lnTo>
                    <a:pt x="27093" y="27093"/>
                  </a:lnTo>
                  <a:lnTo>
                    <a:pt x="26028" y="37639"/>
                  </a:lnTo>
                  <a:lnTo>
                    <a:pt x="23125" y="46251"/>
                  </a:lnTo>
                  <a:lnTo>
                    <a:pt x="18819" y="52057"/>
                  </a:lnTo>
                  <a:lnTo>
                    <a:pt x="13546" y="54186"/>
                  </a:lnTo>
                  <a:lnTo>
                    <a:pt x="8273" y="52057"/>
                  </a:lnTo>
                  <a:lnTo>
                    <a:pt x="3967" y="46251"/>
                  </a:lnTo>
                  <a:lnTo>
                    <a:pt x="1064" y="37639"/>
                  </a:lnTo>
                  <a:lnTo>
                    <a:pt x="0" y="27093"/>
                  </a:lnTo>
                  <a:close/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8" name="object 64">
              <a:extLst>
                <a:ext uri="{FF2B5EF4-FFF2-40B4-BE49-F238E27FC236}">
                  <a16:creationId xmlns:a16="http://schemas.microsoft.com/office/drawing/2014/main" id="{B576315F-DA68-479A-97E6-06B74ED2EBF3}"/>
                </a:ext>
              </a:extLst>
            </p:cNvPr>
            <p:cNvSpPr/>
            <p:nvPr/>
          </p:nvSpPr>
          <p:spPr>
            <a:xfrm>
              <a:off x="7372772" y="4495799"/>
              <a:ext cx="27305" cy="54610"/>
            </a:xfrm>
            <a:custGeom>
              <a:avLst/>
              <a:gdLst/>
              <a:ahLst/>
              <a:cxnLst/>
              <a:rect l="l" t="t" r="r" b="b"/>
              <a:pathLst>
                <a:path w="27304" h="54610">
                  <a:moveTo>
                    <a:pt x="13547" y="0"/>
                  </a:moveTo>
                  <a:lnTo>
                    <a:pt x="8274" y="2129"/>
                  </a:lnTo>
                  <a:lnTo>
                    <a:pt x="3967" y="7935"/>
                  </a:lnTo>
                  <a:lnTo>
                    <a:pt x="1064" y="16547"/>
                  </a:lnTo>
                  <a:lnTo>
                    <a:pt x="0" y="27092"/>
                  </a:lnTo>
                  <a:lnTo>
                    <a:pt x="1064" y="37638"/>
                  </a:lnTo>
                  <a:lnTo>
                    <a:pt x="3967" y="46251"/>
                  </a:lnTo>
                  <a:lnTo>
                    <a:pt x="8274" y="52057"/>
                  </a:lnTo>
                  <a:lnTo>
                    <a:pt x="13547" y="54187"/>
                  </a:lnTo>
                  <a:lnTo>
                    <a:pt x="18820" y="52057"/>
                  </a:lnTo>
                  <a:lnTo>
                    <a:pt x="23126" y="46251"/>
                  </a:lnTo>
                  <a:lnTo>
                    <a:pt x="26029" y="37638"/>
                  </a:lnTo>
                  <a:lnTo>
                    <a:pt x="27094" y="27092"/>
                  </a:lnTo>
                  <a:lnTo>
                    <a:pt x="26029" y="16547"/>
                  </a:lnTo>
                  <a:lnTo>
                    <a:pt x="23126" y="7935"/>
                  </a:lnTo>
                  <a:lnTo>
                    <a:pt x="18820" y="2129"/>
                  </a:lnTo>
                  <a:lnTo>
                    <a:pt x="135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9" name="object 65">
              <a:extLst>
                <a:ext uri="{FF2B5EF4-FFF2-40B4-BE49-F238E27FC236}">
                  <a16:creationId xmlns:a16="http://schemas.microsoft.com/office/drawing/2014/main" id="{9A695CEF-15A7-4270-B4DA-5F8BCF57F829}"/>
                </a:ext>
              </a:extLst>
            </p:cNvPr>
            <p:cNvSpPr/>
            <p:nvPr/>
          </p:nvSpPr>
          <p:spPr>
            <a:xfrm>
              <a:off x="7372772" y="4495799"/>
              <a:ext cx="27305" cy="54610"/>
            </a:xfrm>
            <a:custGeom>
              <a:avLst/>
              <a:gdLst/>
              <a:ahLst/>
              <a:cxnLst/>
              <a:rect l="l" t="t" r="r" b="b"/>
              <a:pathLst>
                <a:path w="27304" h="54610">
                  <a:moveTo>
                    <a:pt x="0" y="27093"/>
                  </a:moveTo>
                  <a:lnTo>
                    <a:pt x="1064" y="16547"/>
                  </a:lnTo>
                  <a:lnTo>
                    <a:pt x="3967" y="7935"/>
                  </a:lnTo>
                  <a:lnTo>
                    <a:pt x="8273" y="2129"/>
                  </a:lnTo>
                  <a:lnTo>
                    <a:pt x="13546" y="0"/>
                  </a:lnTo>
                  <a:lnTo>
                    <a:pt x="18819" y="2129"/>
                  </a:lnTo>
                  <a:lnTo>
                    <a:pt x="23125" y="7935"/>
                  </a:lnTo>
                  <a:lnTo>
                    <a:pt x="26028" y="16547"/>
                  </a:lnTo>
                  <a:lnTo>
                    <a:pt x="27093" y="27093"/>
                  </a:lnTo>
                  <a:lnTo>
                    <a:pt x="26028" y="37639"/>
                  </a:lnTo>
                  <a:lnTo>
                    <a:pt x="23125" y="46251"/>
                  </a:lnTo>
                  <a:lnTo>
                    <a:pt x="18819" y="52057"/>
                  </a:lnTo>
                  <a:lnTo>
                    <a:pt x="13546" y="54186"/>
                  </a:lnTo>
                  <a:lnTo>
                    <a:pt x="8273" y="52057"/>
                  </a:lnTo>
                  <a:lnTo>
                    <a:pt x="3967" y="46251"/>
                  </a:lnTo>
                  <a:lnTo>
                    <a:pt x="1064" y="37639"/>
                  </a:lnTo>
                  <a:lnTo>
                    <a:pt x="0" y="27093"/>
                  </a:lnTo>
                  <a:close/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0" name="object 66">
              <a:extLst>
                <a:ext uri="{FF2B5EF4-FFF2-40B4-BE49-F238E27FC236}">
                  <a16:creationId xmlns:a16="http://schemas.microsoft.com/office/drawing/2014/main" id="{A37974BC-F057-8D78-CF5E-5D542962AA4B}"/>
                </a:ext>
              </a:extLst>
            </p:cNvPr>
            <p:cNvSpPr/>
            <p:nvPr/>
          </p:nvSpPr>
          <p:spPr>
            <a:xfrm>
              <a:off x="7535332" y="4495799"/>
              <a:ext cx="27305" cy="54610"/>
            </a:xfrm>
            <a:custGeom>
              <a:avLst/>
              <a:gdLst/>
              <a:ahLst/>
              <a:cxnLst/>
              <a:rect l="l" t="t" r="r" b="b"/>
              <a:pathLst>
                <a:path w="27304" h="54610">
                  <a:moveTo>
                    <a:pt x="13547" y="0"/>
                  </a:moveTo>
                  <a:lnTo>
                    <a:pt x="8274" y="2129"/>
                  </a:lnTo>
                  <a:lnTo>
                    <a:pt x="3967" y="7935"/>
                  </a:lnTo>
                  <a:lnTo>
                    <a:pt x="1064" y="16547"/>
                  </a:lnTo>
                  <a:lnTo>
                    <a:pt x="0" y="27092"/>
                  </a:lnTo>
                  <a:lnTo>
                    <a:pt x="1064" y="37638"/>
                  </a:lnTo>
                  <a:lnTo>
                    <a:pt x="3967" y="46251"/>
                  </a:lnTo>
                  <a:lnTo>
                    <a:pt x="8274" y="52057"/>
                  </a:lnTo>
                  <a:lnTo>
                    <a:pt x="13547" y="54187"/>
                  </a:lnTo>
                  <a:lnTo>
                    <a:pt x="18820" y="52057"/>
                  </a:lnTo>
                  <a:lnTo>
                    <a:pt x="23126" y="46251"/>
                  </a:lnTo>
                  <a:lnTo>
                    <a:pt x="26029" y="37638"/>
                  </a:lnTo>
                  <a:lnTo>
                    <a:pt x="27094" y="27092"/>
                  </a:lnTo>
                  <a:lnTo>
                    <a:pt x="26029" y="16547"/>
                  </a:lnTo>
                  <a:lnTo>
                    <a:pt x="23126" y="7935"/>
                  </a:lnTo>
                  <a:lnTo>
                    <a:pt x="18820" y="2129"/>
                  </a:lnTo>
                  <a:lnTo>
                    <a:pt x="135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1" name="object 67">
              <a:extLst>
                <a:ext uri="{FF2B5EF4-FFF2-40B4-BE49-F238E27FC236}">
                  <a16:creationId xmlns:a16="http://schemas.microsoft.com/office/drawing/2014/main" id="{655DC16F-13C7-1AD4-48B0-02E7C329024E}"/>
                </a:ext>
              </a:extLst>
            </p:cNvPr>
            <p:cNvSpPr/>
            <p:nvPr/>
          </p:nvSpPr>
          <p:spPr>
            <a:xfrm>
              <a:off x="7535332" y="4495799"/>
              <a:ext cx="27305" cy="54610"/>
            </a:xfrm>
            <a:custGeom>
              <a:avLst/>
              <a:gdLst/>
              <a:ahLst/>
              <a:cxnLst/>
              <a:rect l="l" t="t" r="r" b="b"/>
              <a:pathLst>
                <a:path w="27304" h="54610">
                  <a:moveTo>
                    <a:pt x="0" y="27093"/>
                  </a:moveTo>
                  <a:lnTo>
                    <a:pt x="1064" y="16547"/>
                  </a:lnTo>
                  <a:lnTo>
                    <a:pt x="3967" y="7935"/>
                  </a:lnTo>
                  <a:lnTo>
                    <a:pt x="8273" y="2129"/>
                  </a:lnTo>
                  <a:lnTo>
                    <a:pt x="13546" y="0"/>
                  </a:lnTo>
                  <a:lnTo>
                    <a:pt x="18819" y="2129"/>
                  </a:lnTo>
                  <a:lnTo>
                    <a:pt x="23125" y="7935"/>
                  </a:lnTo>
                  <a:lnTo>
                    <a:pt x="26028" y="16547"/>
                  </a:lnTo>
                  <a:lnTo>
                    <a:pt x="27093" y="27093"/>
                  </a:lnTo>
                  <a:lnTo>
                    <a:pt x="26028" y="37639"/>
                  </a:lnTo>
                  <a:lnTo>
                    <a:pt x="23125" y="46251"/>
                  </a:lnTo>
                  <a:lnTo>
                    <a:pt x="18819" y="52057"/>
                  </a:lnTo>
                  <a:lnTo>
                    <a:pt x="13546" y="54186"/>
                  </a:lnTo>
                  <a:lnTo>
                    <a:pt x="8273" y="52057"/>
                  </a:lnTo>
                  <a:lnTo>
                    <a:pt x="3967" y="46251"/>
                  </a:lnTo>
                  <a:lnTo>
                    <a:pt x="1064" y="37639"/>
                  </a:lnTo>
                  <a:lnTo>
                    <a:pt x="0" y="27093"/>
                  </a:lnTo>
                  <a:close/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2" name="object 68">
              <a:extLst>
                <a:ext uri="{FF2B5EF4-FFF2-40B4-BE49-F238E27FC236}">
                  <a16:creationId xmlns:a16="http://schemas.microsoft.com/office/drawing/2014/main" id="{18979B2D-221D-9028-DE5A-B7256DB07ACB}"/>
                </a:ext>
              </a:extLst>
            </p:cNvPr>
            <p:cNvSpPr/>
            <p:nvPr/>
          </p:nvSpPr>
          <p:spPr>
            <a:xfrm>
              <a:off x="7697892" y="4495799"/>
              <a:ext cx="27305" cy="54610"/>
            </a:xfrm>
            <a:custGeom>
              <a:avLst/>
              <a:gdLst/>
              <a:ahLst/>
              <a:cxnLst/>
              <a:rect l="l" t="t" r="r" b="b"/>
              <a:pathLst>
                <a:path w="27304" h="54610">
                  <a:moveTo>
                    <a:pt x="13547" y="0"/>
                  </a:moveTo>
                  <a:lnTo>
                    <a:pt x="8274" y="2129"/>
                  </a:lnTo>
                  <a:lnTo>
                    <a:pt x="3967" y="7935"/>
                  </a:lnTo>
                  <a:lnTo>
                    <a:pt x="1064" y="16547"/>
                  </a:lnTo>
                  <a:lnTo>
                    <a:pt x="0" y="27092"/>
                  </a:lnTo>
                  <a:lnTo>
                    <a:pt x="1064" y="37638"/>
                  </a:lnTo>
                  <a:lnTo>
                    <a:pt x="3967" y="46251"/>
                  </a:lnTo>
                  <a:lnTo>
                    <a:pt x="8274" y="52057"/>
                  </a:lnTo>
                  <a:lnTo>
                    <a:pt x="13547" y="54187"/>
                  </a:lnTo>
                  <a:lnTo>
                    <a:pt x="18820" y="52057"/>
                  </a:lnTo>
                  <a:lnTo>
                    <a:pt x="23126" y="46251"/>
                  </a:lnTo>
                  <a:lnTo>
                    <a:pt x="26029" y="37638"/>
                  </a:lnTo>
                  <a:lnTo>
                    <a:pt x="27094" y="27092"/>
                  </a:lnTo>
                  <a:lnTo>
                    <a:pt x="26029" y="16547"/>
                  </a:lnTo>
                  <a:lnTo>
                    <a:pt x="23126" y="7935"/>
                  </a:lnTo>
                  <a:lnTo>
                    <a:pt x="18820" y="2129"/>
                  </a:lnTo>
                  <a:lnTo>
                    <a:pt x="135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3" name="object 69">
              <a:extLst>
                <a:ext uri="{FF2B5EF4-FFF2-40B4-BE49-F238E27FC236}">
                  <a16:creationId xmlns:a16="http://schemas.microsoft.com/office/drawing/2014/main" id="{17A65747-25E3-708A-2FBD-33D5B9C43949}"/>
                </a:ext>
              </a:extLst>
            </p:cNvPr>
            <p:cNvSpPr/>
            <p:nvPr/>
          </p:nvSpPr>
          <p:spPr>
            <a:xfrm>
              <a:off x="7697892" y="4495799"/>
              <a:ext cx="27305" cy="54610"/>
            </a:xfrm>
            <a:custGeom>
              <a:avLst/>
              <a:gdLst/>
              <a:ahLst/>
              <a:cxnLst/>
              <a:rect l="l" t="t" r="r" b="b"/>
              <a:pathLst>
                <a:path w="27304" h="54610">
                  <a:moveTo>
                    <a:pt x="0" y="27093"/>
                  </a:moveTo>
                  <a:lnTo>
                    <a:pt x="1064" y="16547"/>
                  </a:lnTo>
                  <a:lnTo>
                    <a:pt x="3967" y="7935"/>
                  </a:lnTo>
                  <a:lnTo>
                    <a:pt x="8273" y="2129"/>
                  </a:lnTo>
                  <a:lnTo>
                    <a:pt x="13546" y="0"/>
                  </a:lnTo>
                  <a:lnTo>
                    <a:pt x="18819" y="2129"/>
                  </a:lnTo>
                  <a:lnTo>
                    <a:pt x="23125" y="7935"/>
                  </a:lnTo>
                  <a:lnTo>
                    <a:pt x="26028" y="16547"/>
                  </a:lnTo>
                  <a:lnTo>
                    <a:pt x="27093" y="27093"/>
                  </a:lnTo>
                  <a:lnTo>
                    <a:pt x="26028" y="37639"/>
                  </a:lnTo>
                  <a:lnTo>
                    <a:pt x="23125" y="46251"/>
                  </a:lnTo>
                  <a:lnTo>
                    <a:pt x="18819" y="52057"/>
                  </a:lnTo>
                  <a:lnTo>
                    <a:pt x="13546" y="54186"/>
                  </a:lnTo>
                  <a:lnTo>
                    <a:pt x="8273" y="52057"/>
                  </a:lnTo>
                  <a:lnTo>
                    <a:pt x="3967" y="46251"/>
                  </a:lnTo>
                  <a:lnTo>
                    <a:pt x="1064" y="37639"/>
                  </a:lnTo>
                  <a:lnTo>
                    <a:pt x="0" y="27093"/>
                  </a:lnTo>
                  <a:close/>
                </a:path>
              </a:pathLst>
            </a:custGeom>
            <a:ln w="27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4" name="object 70">
            <a:extLst>
              <a:ext uri="{FF2B5EF4-FFF2-40B4-BE49-F238E27FC236}">
                <a16:creationId xmlns:a16="http://schemas.microsoft.com/office/drawing/2014/main" id="{EA977855-7781-34F3-F54D-7315C2C5373A}"/>
              </a:ext>
            </a:extLst>
          </p:cNvPr>
          <p:cNvSpPr txBox="1"/>
          <p:nvPr/>
        </p:nvSpPr>
        <p:spPr>
          <a:xfrm>
            <a:off x="8763749" y="4096891"/>
            <a:ext cx="279587" cy="299917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/>
          <a:p>
            <a:pPr marL="33619">
              <a:spcBef>
                <a:spcPts val="115"/>
              </a:spcBef>
            </a:pPr>
            <a:r>
              <a:rPr sz="2780" spc="6" baseline="-27777" dirty="0">
                <a:solidFill>
                  <a:srgbClr val="56127A"/>
                </a:solidFill>
                <a:latin typeface="Calibri"/>
                <a:cs typeface="Calibri"/>
              </a:rPr>
              <a:t>2</a:t>
            </a:r>
            <a:r>
              <a:rPr sz="1500" spc="4" dirty="0">
                <a:solidFill>
                  <a:srgbClr val="56127A"/>
                </a:solidFill>
                <a:latin typeface="Calibri"/>
                <a:cs typeface="Calibri"/>
              </a:rPr>
              <a:t>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5" name="object 71">
            <a:extLst>
              <a:ext uri="{FF2B5EF4-FFF2-40B4-BE49-F238E27FC236}">
                <a16:creationId xmlns:a16="http://schemas.microsoft.com/office/drawing/2014/main" id="{5A30D3F7-ED4F-5021-3727-5489709EC8F3}"/>
              </a:ext>
            </a:extLst>
          </p:cNvPr>
          <p:cNvSpPr txBox="1"/>
          <p:nvPr/>
        </p:nvSpPr>
        <p:spPr>
          <a:xfrm>
            <a:off x="2059642" y="4742566"/>
            <a:ext cx="7618319" cy="1372552"/>
          </a:xfrm>
          <a:prstGeom prst="rect">
            <a:avLst/>
          </a:prstGeom>
        </p:spPr>
        <p:txBody>
          <a:bodyPr vert="horz" wrap="square" lIns="0" tIns="79562" rIns="0" bIns="0" rtlCol="0">
            <a:spAutoFit/>
          </a:bodyPr>
          <a:lstStyle/>
          <a:p>
            <a:pPr marR="26896" algn="r">
              <a:spcBef>
                <a:spcPts val="627"/>
              </a:spcBef>
            </a:pPr>
            <a:r>
              <a:rPr sz="1853" dirty="0">
                <a:solidFill>
                  <a:srgbClr val="56127A"/>
                </a:solidFill>
                <a:latin typeface="Calibri"/>
                <a:cs typeface="Calibri"/>
              </a:rPr>
              <a:t>Data</a:t>
            </a:r>
            <a:endParaRPr sz="1853">
              <a:latin typeface="Calibri"/>
              <a:cs typeface="Calibri"/>
            </a:endParaRPr>
          </a:p>
          <a:p>
            <a:pPr marR="231974" algn="ctr">
              <a:spcBef>
                <a:spcPts val="723"/>
              </a:spcBef>
            </a:pPr>
            <a:r>
              <a:rPr sz="2647" spc="-13" dirty="0">
                <a:latin typeface="Calibri"/>
                <a:cs typeface="Calibri"/>
              </a:rPr>
              <a:t>After </a:t>
            </a:r>
            <a:r>
              <a:rPr sz="2647" spc="-4" dirty="0">
                <a:latin typeface="Calibri"/>
                <a:cs typeface="Calibri"/>
              </a:rPr>
              <a:t>the</a:t>
            </a:r>
            <a:r>
              <a:rPr sz="2647" spc="-22" dirty="0">
                <a:latin typeface="Calibri"/>
                <a:cs typeface="Calibri"/>
              </a:rPr>
              <a:t> </a:t>
            </a:r>
            <a:r>
              <a:rPr sz="2647" spc="-9" dirty="0">
                <a:solidFill>
                  <a:srgbClr val="56127A"/>
                </a:solidFill>
                <a:latin typeface="Calibri"/>
                <a:cs typeface="Calibri"/>
              </a:rPr>
              <a:t>PPN </a:t>
            </a:r>
            <a:r>
              <a:rPr sz="2647" spc="-4" dirty="0">
                <a:latin typeface="Calibri"/>
                <a:cs typeface="Calibri"/>
              </a:rPr>
              <a:t>is</a:t>
            </a:r>
            <a:r>
              <a:rPr sz="2647" spc="-9" dirty="0">
                <a:latin typeface="Calibri"/>
                <a:cs typeface="Calibri"/>
              </a:rPr>
              <a:t> </a:t>
            </a:r>
            <a:r>
              <a:rPr sz="2647" spc="-13" dirty="0">
                <a:latin typeface="Calibri"/>
                <a:cs typeface="Calibri"/>
              </a:rPr>
              <a:t>known,</a:t>
            </a:r>
            <a:r>
              <a:rPr sz="2647" spc="-4" dirty="0">
                <a:latin typeface="Calibri"/>
                <a:cs typeface="Calibri"/>
              </a:rPr>
              <a:t> </a:t>
            </a:r>
            <a:r>
              <a:rPr sz="2647" spc="-4" dirty="0">
                <a:solidFill>
                  <a:srgbClr val="56127A"/>
                </a:solidFill>
                <a:latin typeface="Calibri"/>
                <a:cs typeface="Calibri"/>
              </a:rPr>
              <a:t>2</a:t>
            </a:r>
            <a:r>
              <a:rPr sz="2647" spc="-6" baseline="33333" dirty="0">
                <a:solidFill>
                  <a:srgbClr val="56127A"/>
                </a:solidFill>
                <a:latin typeface="Calibri"/>
                <a:cs typeface="Calibri"/>
              </a:rPr>
              <a:t>a</a:t>
            </a:r>
            <a:r>
              <a:rPr sz="2647" spc="291" baseline="33333" dirty="0">
                <a:solidFill>
                  <a:srgbClr val="56127A"/>
                </a:solidFill>
                <a:latin typeface="Calibri"/>
                <a:cs typeface="Calibri"/>
              </a:rPr>
              <a:t> </a:t>
            </a:r>
            <a:r>
              <a:rPr sz="2647" spc="-22" dirty="0">
                <a:latin typeface="Calibri"/>
                <a:cs typeface="Calibri"/>
              </a:rPr>
              <a:t>physical</a:t>
            </a:r>
            <a:r>
              <a:rPr sz="2647" spc="-9" dirty="0">
                <a:latin typeface="Calibri"/>
                <a:cs typeface="Calibri"/>
              </a:rPr>
              <a:t> </a:t>
            </a:r>
            <a:r>
              <a:rPr sz="2647" spc="-18" dirty="0">
                <a:latin typeface="Calibri"/>
                <a:cs typeface="Calibri"/>
              </a:rPr>
              <a:t>tags</a:t>
            </a:r>
            <a:r>
              <a:rPr sz="2647" spc="-4" dirty="0">
                <a:latin typeface="Calibri"/>
                <a:cs typeface="Calibri"/>
              </a:rPr>
              <a:t> </a:t>
            </a:r>
            <a:r>
              <a:rPr sz="2647" spc="-22" dirty="0">
                <a:latin typeface="Calibri"/>
                <a:cs typeface="Calibri"/>
              </a:rPr>
              <a:t>are</a:t>
            </a:r>
            <a:r>
              <a:rPr sz="2647" spc="-18" dirty="0">
                <a:latin typeface="Calibri"/>
                <a:cs typeface="Calibri"/>
              </a:rPr>
              <a:t> compared</a:t>
            </a:r>
            <a:endParaRPr sz="2647">
              <a:latin typeface="Calibri"/>
              <a:cs typeface="Calibri"/>
            </a:endParaRPr>
          </a:p>
          <a:p>
            <a:pPr marR="276800" algn="ctr">
              <a:spcBef>
                <a:spcPts val="777"/>
              </a:spcBef>
            </a:pPr>
            <a:r>
              <a:rPr sz="2647" i="1" spc="-13" dirty="0">
                <a:latin typeface="Calibri"/>
                <a:cs typeface="Calibri"/>
              </a:rPr>
              <a:t>How</a:t>
            </a:r>
            <a:r>
              <a:rPr sz="2647" i="1" spc="-22" dirty="0">
                <a:latin typeface="Calibri"/>
                <a:cs typeface="Calibri"/>
              </a:rPr>
              <a:t> </a:t>
            </a:r>
            <a:r>
              <a:rPr sz="2647" i="1" spc="-9" dirty="0">
                <a:latin typeface="Calibri"/>
                <a:cs typeface="Calibri"/>
              </a:rPr>
              <a:t>does</a:t>
            </a:r>
            <a:r>
              <a:rPr sz="2647" i="1" spc="-13" dirty="0">
                <a:latin typeface="Calibri"/>
                <a:cs typeface="Calibri"/>
              </a:rPr>
              <a:t> </a:t>
            </a:r>
            <a:r>
              <a:rPr sz="2647" i="1" spc="-9" dirty="0">
                <a:latin typeface="Calibri"/>
                <a:cs typeface="Calibri"/>
              </a:rPr>
              <a:t>this</a:t>
            </a:r>
            <a:r>
              <a:rPr sz="2647" i="1" spc="-13" dirty="0">
                <a:latin typeface="Calibri"/>
                <a:cs typeface="Calibri"/>
              </a:rPr>
              <a:t> scheme scale </a:t>
            </a:r>
            <a:r>
              <a:rPr sz="2647" i="1" spc="-22" dirty="0">
                <a:latin typeface="Calibri"/>
                <a:cs typeface="Calibri"/>
              </a:rPr>
              <a:t>to</a:t>
            </a:r>
            <a:r>
              <a:rPr sz="2647" i="1" spc="-13" dirty="0">
                <a:latin typeface="Calibri"/>
                <a:cs typeface="Calibri"/>
              </a:rPr>
              <a:t> </a:t>
            </a:r>
            <a:r>
              <a:rPr sz="2647" i="1" spc="-9" dirty="0">
                <a:latin typeface="Calibri"/>
                <a:cs typeface="Calibri"/>
              </a:rPr>
              <a:t>larger </a:t>
            </a:r>
            <a:r>
              <a:rPr sz="2647" i="1" spc="-13" dirty="0">
                <a:latin typeface="Calibri"/>
                <a:cs typeface="Calibri"/>
              </a:rPr>
              <a:t>caches?</a:t>
            </a:r>
            <a:endParaRPr sz="2647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04476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54CAFF-40DF-68C3-8031-A03F3CE40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96B3BB-21C5-11FC-3844-AD0BBAFF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22</a:t>
            </a:fld>
            <a:endParaRPr lang="en-IN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80BC6CE6-77BA-04BE-73C3-36CECFE3F2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98059" y="360673"/>
            <a:ext cx="9278471" cy="1092607"/>
          </a:xfrm>
          <a:prstGeom prst="rect">
            <a:avLst/>
          </a:prstGeom>
        </p:spPr>
        <p:txBody>
          <a:bodyPr vert="horz" wrap="square" lIns="0" tIns="68580" rIns="0" bIns="0" rtlCol="0" anchor="ctr">
            <a:spAutoFit/>
          </a:bodyPr>
          <a:lstStyle/>
          <a:p>
            <a:pPr marL="418001" algn="ctr">
              <a:lnSpc>
                <a:spcPct val="100000"/>
              </a:lnSpc>
              <a:spcBef>
                <a:spcPts val="88"/>
              </a:spcBef>
            </a:pPr>
            <a:r>
              <a:rPr dirty="0"/>
              <a:t>Concurrent </a:t>
            </a:r>
            <a:r>
              <a:rPr spc="-4" dirty="0"/>
              <a:t>Access </a:t>
            </a:r>
            <a:r>
              <a:rPr dirty="0"/>
              <a:t>to TLB</a:t>
            </a:r>
            <a:r>
              <a:rPr spc="4" dirty="0"/>
              <a:t> </a:t>
            </a:r>
            <a:r>
              <a:rPr dirty="0"/>
              <a:t>&amp;</a:t>
            </a:r>
            <a:r>
              <a:rPr spc="-9" dirty="0"/>
              <a:t> </a:t>
            </a:r>
            <a:r>
              <a:rPr spc="-4" dirty="0"/>
              <a:t>Large</a:t>
            </a:r>
            <a:r>
              <a:rPr dirty="0"/>
              <a:t> </a:t>
            </a:r>
            <a:r>
              <a:rPr spc="-4" dirty="0"/>
              <a:t>L1</a:t>
            </a:r>
          </a:p>
          <a:p>
            <a:pPr marL="418001" algn="ctr">
              <a:lnSpc>
                <a:spcPct val="100000"/>
              </a:lnSpc>
              <a:spcBef>
                <a:spcPts val="31"/>
              </a:spcBef>
            </a:pPr>
            <a:r>
              <a:rPr sz="2250" dirty="0"/>
              <a:t>The</a:t>
            </a:r>
            <a:r>
              <a:rPr sz="2250" spc="-18" dirty="0"/>
              <a:t> </a:t>
            </a:r>
            <a:r>
              <a:rPr sz="2250" dirty="0"/>
              <a:t>problem</a:t>
            </a:r>
            <a:r>
              <a:rPr sz="2250" spc="-22" dirty="0"/>
              <a:t> </a:t>
            </a:r>
            <a:r>
              <a:rPr sz="2250" dirty="0"/>
              <a:t>with</a:t>
            </a:r>
            <a:r>
              <a:rPr sz="2250" spc="-18" dirty="0"/>
              <a:t> </a:t>
            </a:r>
            <a:r>
              <a:rPr sz="2250" dirty="0"/>
              <a:t>L1</a:t>
            </a:r>
            <a:r>
              <a:rPr sz="2250" spc="-18" dirty="0"/>
              <a:t> </a:t>
            </a:r>
            <a:r>
              <a:rPr sz="2250" spc="4" dirty="0"/>
              <a:t>&gt;</a:t>
            </a:r>
            <a:r>
              <a:rPr sz="2250" spc="-9" dirty="0"/>
              <a:t> </a:t>
            </a:r>
            <a:r>
              <a:rPr sz="2250" dirty="0"/>
              <a:t>Page</a:t>
            </a:r>
            <a:r>
              <a:rPr sz="2250" spc="-13" dirty="0"/>
              <a:t> </a:t>
            </a:r>
            <a:r>
              <a:rPr sz="2250" dirty="0"/>
              <a:t>size</a:t>
            </a:r>
          </a:p>
        </p:txBody>
      </p:sp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6656FBC7-8301-ED39-C5DA-753F7C111A47}"/>
              </a:ext>
            </a:extLst>
          </p:cNvPr>
          <p:cNvGraphicFramePr>
            <a:graphicFrameLocks noGrp="1"/>
          </p:cNvGraphicFramePr>
          <p:nvPr/>
        </p:nvGraphicFramePr>
        <p:xfrm>
          <a:off x="2548964" y="3787588"/>
          <a:ext cx="4849346" cy="3107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5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776">
                <a:tc>
                  <a:txBody>
                    <a:bodyPr/>
                    <a:lstStyle/>
                    <a:p>
                      <a:pPr marR="57594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900" spc="15" dirty="0">
                          <a:latin typeface="Calibri"/>
                          <a:cs typeface="Calibri"/>
                        </a:rPr>
                        <a:t>PPN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3238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900" spc="-5" dirty="0">
                          <a:latin typeface="Calibri"/>
                          <a:cs typeface="Calibri"/>
                        </a:rPr>
                        <a:t>Page</a:t>
                      </a:r>
                      <a:r>
                        <a:rPr sz="19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Offset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b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7E20C4D2-201B-A5A6-8B01-E6A4008C5EFC}"/>
              </a:ext>
            </a:extLst>
          </p:cNvPr>
          <p:cNvGraphicFramePr>
            <a:graphicFrameLocks noGrp="1"/>
          </p:cNvGraphicFramePr>
          <p:nvPr/>
        </p:nvGraphicFramePr>
        <p:xfrm>
          <a:off x="2608729" y="2078317"/>
          <a:ext cx="4755216" cy="3107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3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4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7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776">
                <a:tc>
                  <a:txBody>
                    <a:bodyPr/>
                    <a:lstStyle/>
                    <a:p>
                      <a:pPr marR="18351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900" spc="15" dirty="0">
                          <a:latin typeface="Calibri"/>
                          <a:cs typeface="Calibri"/>
                        </a:rPr>
                        <a:t>VPN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D5EDF4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a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560" marB="0">
                    <a:lnL w="28575">
                      <a:solidFill>
                        <a:srgbClr val="D5EDF4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2711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900" spc="-5" dirty="0">
                          <a:latin typeface="Calibri"/>
                          <a:cs typeface="Calibri"/>
                        </a:rPr>
                        <a:t>Page</a:t>
                      </a:r>
                      <a:r>
                        <a:rPr sz="1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Offset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b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56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5">
            <a:extLst>
              <a:ext uri="{FF2B5EF4-FFF2-40B4-BE49-F238E27FC236}">
                <a16:creationId xmlns:a16="http://schemas.microsoft.com/office/drawing/2014/main" id="{A6C22838-60A7-3F37-C935-83AFAD9B0AD7}"/>
              </a:ext>
            </a:extLst>
          </p:cNvPr>
          <p:cNvSpPr/>
          <p:nvPr/>
        </p:nvSpPr>
        <p:spPr>
          <a:xfrm>
            <a:off x="4996330" y="1958789"/>
            <a:ext cx="1984562" cy="95810"/>
          </a:xfrm>
          <a:custGeom>
            <a:avLst/>
            <a:gdLst/>
            <a:ahLst/>
            <a:cxnLst/>
            <a:rect l="l" t="t" r="r" b="b"/>
            <a:pathLst>
              <a:path w="2249170" h="108585">
                <a:moveTo>
                  <a:pt x="0" y="99907"/>
                </a:moveTo>
                <a:lnTo>
                  <a:pt x="104986" y="0"/>
                </a:lnTo>
                <a:lnTo>
                  <a:pt x="2182707" y="0"/>
                </a:lnTo>
                <a:lnTo>
                  <a:pt x="2248746" y="108373"/>
                </a:lnTo>
              </a:path>
            </a:pathLst>
          </a:custGeom>
          <a:ln w="270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897CD0D6-EA7D-C8C8-6363-E9E5960ED022}"/>
              </a:ext>
            </a:extLst>
          </p:cNvPr>
          <p:cNvSpPr txBox="1"/>
          <p:nvPr/>
        </p:nvSpPr>
        <p:spPr>
          <a:xfrm>
            <a:off x="3526118" y="2737224"/>
            <a:ext cx="1255059" cy="476945"/>
          </a:xfrm>
          <a:prstGeom prst="rect">
            <a:avLst/>
          </a:prstGeom>
          <a:ln w="27093">
            <a:solidFill>
              <a:srgbClr val="09213B"/>
            </a:solidFill>
          </a:ln>
        </p:spPr>
        <p:txBody>
          <a:bodyPr vert="horz" wrap="square" lIns="0" tIns="68916" rIns="0" bIns="0" rtlCol="0">
            <a:spAutoFit/>
          </a:bodyPr>
          <a:lstStyle/>
          <a:p>
            <a:pPr marL="383822">
              <a:spcBef>
                <a:spcPts val="543"/>
              </a:spcBef>
            </a:pPr>
            <a:r>
              <a:rPr sz="2647" spc="-9" dirty="0">
                <a:solidFill>
                  <a:srgbClr val="56127A"/>
                </a:solidFill>
                <a:latin typeface="Calibri"/>
                <a:cs typeface="Calibri"/>
              </a:rPr>
              <a:t>TLB</a:t>
            </a:r>
            <a:endParaRPr sz="2647">
              <a:latin typeface="Calibri"/>
              <a:cs typeface="Calibri"/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9505EEFC-18C0-1D84-3635-E896B250EBC7}"/>
              </a:ext>
            </a:extLst>
          </p:cNvPr>
          <p:cNvSpPr/>
          <p:nvPr/>
        </p:nvSpPr>
        <p:spPr>
          <a:xfrm>
            <a:off x="4111812" y="3357283"/>
            <a:ext cx="119903" cy="406773"/>
          </a:xfrm>
          <a:custGeom>
            <a:avLst/>
            <a:gdLst/>
            <a:ahLst/>
            <a:cxnLst/>
            <a:rect l="l" t="t" r="r" b="b"/>
            <a:pathLst>
              <a:path w="135889" h="461010">
                <a:moveTo>
                  <a:pt x="81278" y="0"/>
                </a:moveTo>
                <a:lnTo>
                  <a:pt x="54185" y="0"/>
                </a:lnTo>
                <a:lnTo>
                  <a:pt x="54187" y="325119"/>
                </a:lnTo>
                <a:lnTo>
                  <a:pt x="0" y="325119"/>
                </a:lnTo>
                <a:lnTo>
                  <a:pt x="67732" y="460587"/>
                </a:lnTo>
                <a:lnTo>
                  <a:pt x="135467" y="325119"/>
                </a:lnTo>
                <a:lnTo>
                  <a:pt x="81280" y="325119"/>
                </a:lnTo>
                <a:lnTo>
                  <a:pt x="812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F81C212D-6E8D-1341-1BC2-D402DC472C3E}"/>
              </a:ext>
            </a:extLst>
          </p:cNvPr>
          <p:cNvSpPr/>
          <p:nvPr/>
        </p:nvSpPr>
        <p:spPr>
          <a:xfrm>
            <a:off x="4087907" y="2436907"/>
            <a:ext cx="119903" cy="275104"/>
          </a:xfrm>
          <a:custGeom>
            <a:avLst/>
            <a:gdLst/>
            <a:ahLst/>
            <a:cxnLst/>
            <a:rect l="l" t="t" r="r" b="b"/>
            <a:pathLst>
              <a:path w="135889" h="311785">
                <a:moveTo>
                  <a:pt x="81278" y="0"/>
                </a:moveTo>
                <a:lnTo>
                  <a:pt x="54185" y="0"/>
                </a:lnTo>
                <a:lnTo>
                  <a:pt x="54185" y="176105"/>
                </a:lnTo>
                <a:lnTo>
                  <a:pt x="0" y="176107"/>
                </a:lnTo>
                <a:lnTo>
                  <a:pt x="67732" y="311572"/>
                </a:lnTo>
                <a:lnTo>
                  <a:pt x="135465" y="176105"/>
                </a:lnTo>
                <a:lnTo>
                  <a:pt x="81280" y="176105"/>
                </a:lnTo>
                <a:lnTo>
                  <a:pt x="812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D9415F6A-7633-4A5D-AD4F-1E334C24BA95}"/>
              </a:ext>
            </a:extLst>
          </p:cNvPr>
          <p:cNvSpPr/>
          <p:nvPr/>
        </p:nvSpPr>
        <p:spPr>
          <a:xfrm>
            <a:off x="2569882" y="4141696"/>
            <a:ext cx="2796428" cy="131669"/>
          </a:xfrm>
          <a:custGeom>
            <a:avLst/>
            <a:gdLst/>
            <a:ahLst/>
            <a:cxnLst/>
            <a:rect l="l" t="t" r="r" b="b"/>
            <a:pathLst>
              <a:path w="3169285" h="149225">
                <a:moveTo>
                  <a:pt x="0" y="11853"/>
                </a:moveTo>
                <a:lnTo>
                  <a:pt x="148137" y="149012"/>
                </a:lnTo>
                <a:lnTo>
                  <a:pt x="3074382" y="149012"/>
                </a:lnTo>
                <a:lnTo>
                  <a:pt x="3168846" y="0"/>
                </a:lnTo>
              </a:path>
            </a:pathLst>
          </a:custGeom>
          <a:ln w="270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186E0011-CFFB-16C1-6FA0-D9A77956CC17}"/>
              </a:ext>
            </a:extLst>
          </p:cNvPr>
          <p:cNvSpPr txBox="1"/>
          <p:nvPr/>
        </p:nvSpPr>
        <p:spPr>
          <a:xfrm>
            <a:off x="3136302" y="4321582"/>
            <a:ext cx="5341844" cy="1177736"/>
          </a:xfrm>
          <a:prstGeom prst="rect">
            <a:avLst/>
          </a:prstGeom>
        </p:spPr>
        <p:txBody>
          <a:bodyPr vert="horz" wrap="square" lIns="0" tIns="163046" rIns="0" bIns="0" rtlCol="0">
            <a:spAutoFit/>
          </a:bodyPr>
          <a:lstStyle/>
          <a:p>
            <a:pPr marL="568729">
              <a:spcBef>
                <a:spcPts val="1284"/>
              </a:spcBef>
            </a:pPr>
            <a:r>
              <a:rPr sz="2250" spc="-57" dirty="0">
                <a:solidFill>
                  <a:srgbClr val="56127A"/>
                </a:solidFill>
                <a:latin typeface="Calibri"/>
                <a:cs typeface="Calibri"/>
              </a:rPr>
              <a:t>Tag</a:t>
            </a:r>
            <a:endParaRPr sz="2250">
              <a:latin typeface="Calibri"/>
              <a:cs typeface="Calibri"/>
            </a:endParaRPr>
          </a:p>
          <a:p>
            <a:pPr marL="33619">
              <a:spcBef>
                <a:spcPts val="1571"/>
              </a:spcBef>
            </a:pPr>
            <a:r>
              <a:rPr sz="3000" i="1" dirty="0">
                <a:solidFill>
                  <a:srgbClr val="56127A"/>
                </a:solidFill>
                <a:latin typeface="Calibri"/>
                <a:cs typeface="Calibri"/>
              </a:rPr>
              <a:t>Can </a:t>
            </a:r>
            <a:r>
              <a:rPr sz="3000" spc="-49" dirty="0">
                <a:solidFill>
                  <a:srgbClr val="56127A"/>
                </a:solidFill>
                <a:latin typeface="Calibri"/>
                <a:cs typeface="Calibri"/>
              </a:rPr>
              <a:t>VA</a:t>
            </a:r>
            <a:r>
              <a:rPr sz="2978" spc="-72" baseline="-20987" dirty="0">
                <a:solidFill>
                  <a:srgbClr val="56127A"/>
                </a:solidFill>
                <a:latin typeface="Calibri"/>
                <a:cs typeface="Calibri"/>
              </a:rPr>
              <a:t>1</a:t>
            </a:r>
            <a:r>
              <a:rPr sz="2978" spc="350" baseline="-20987" dirty="0">
                <a:solidFill>
                  <a:srgbClr val="56127A"/>
                </a:solidFill>
                <a:latin typeface="Calibri"/>
                <a:cs typeface="Calibri"/>
              </a:rPr>
              <a:t> </a:t>
            </a:r>
            <a:r>
              <a:rPr sz="3000" i="1" dirty="0">
                <a:solidFill>
                  <a:srgbClr val="56127A"/>
                </a:solidFill>
                <a:latin typeface="Calibri"/>
                <a:cs typeface="Calibri"/>
              </a:rPr>
              <a:t>and</a:t>
            </a:r>
            <a:r>
              <a:rPr sz="3000" i="1" spc="4" dirty="0">
                <a:solidFill>
                  <a:srgbClr val="56127A"/>
                </a:solidFill>
                <a:latin typeface="Calibri"/>
                <a:cs typeface="Calibri"/>
              </a:rPr>
              <a:t> </a:t>
            </a:r>
            <a:r>
              <a:rPr sz="3000" spc="-49" dirty="0">
                <a:solidFill>
                  <a:srgbClr val="56127A"/>
                </a:solidFill>
                <a:latin typeface="Calibri"/>
                <a:cs typeface="Calibri"/>
              </a:rPr>
              <a:t>VA</a:t>
            </a:r>
            <a:r>
              <a:rPr sz="2978" spc="-72" baseline="-20987" dirty="0">
                <a:solidFill>
                  <a:srgbClr val="56127A"/>
                </a:solidFill>
                <a:latin typeface="Calibri"/>
                <a:cs typeface="Calibri"/>
              </a:rPr>
              <a:t>2</a:t>
            </a:r>
            <a:r>
              <a:rPr sz="2978" spc="350" baseline="-20987" dirty="0">
                <a:solidFill>
                  <a:srgbClr val="56127A"/>
                </a:solidFill>
                <a:latin typeface="Calibri"/>
                <a:cs typeface="Calibri"/>
              </a:rPr>
              <a:t> </a:t>
            </a:r>
            <a:r>
              <a:rPr sz="3000" i="1" dirty="0">
                <a:solidFill>
                  <a:srgbClr val="56127A"/>
                </a:solidFill>
                <a:latin typeface="Calibri"/>
                <a:cs typeface="Calibri"/>
              </a:rPr>
              <a:t>both</a:t>
            </a:r>
            <a:r>
              <a:rPr sz="3000" i="1" spc="4" dirty="0">
                <a:solidFill>
                  <a:srgbClr val="56127A"/>
                </a:solidFill>
                <a:latin typeface="Calibri"/>
                <a:cs typeface="Calibri"/>
              </a:rPr>
              <a:t> map </a:t>
            </a:r>
            <a:r>
              <a:rPr sz="3000" i="1" spc="-18" dirty="0">
                <a:solidFill>
                  <a:srgbClr val="56127A"/>
                </a:solidFill>
                <a:latin typeface="Calibri"/>
                <a:cs typeface="Calibri"/>
              </a:rPr>
              <a:t>to</a:t>
            </a:r>
            <a:r>
              <a:rPr sz="3000" i="1" dirty="0">
                <a:solidFill>
                  <a:srgbClr val="56127A"/>
                </a:solidFill>
                <a:latin typeface="Calibri"/>
                <a:cs typeface="Calibri"/>
              </a:rPr>
              <a:t> </a:t>
            </a:r>
            <a:r>
              <a:rPr sz="3000" spc="-110" dirty="0">
                <a:solidFill>
                  <a:srgbClr val="56127A"/>
                </a:solidFill>
                <a:latin typeface="Calibri"/>
                <a:cs typeface="Calibri"/>
              </a:rPr>
              <a:t>PA</a:t>
            </a:r>
            <a:r>
              <a:rPr sz="3000" dirty="0">
                <a:solidFill>
                  <a:srgbClr val="56127A"/>
                </a:solidFill>
                <a:latin typeface="Calibri"/>
                <a:cs typeface="Calibri"/>
              </a:rPr>
              <a:t> </a:t>
            </a:r>
            <a:r>
              <a:rPr sz="3000" i="1" dirty="0">
                <a:solidFill>
                  <a:srgbClr val="56127A"/>
                </a:solidFill>
                <a:latin typeface="Calibri"/>
                <a:cs typeface="Calibri"/>
              </a:rPr>
              <a:t>?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5" name="object 11">
            <a:extLst>
              <a:ext uri="{FF2B5EF4-FFF2-40B4-BE49-F238E27FC236}">
                <a16:creationId xmlns:a16="http://schemas.microsoft.com/office/drawing/2014/main" id="{BE0C36DE-100C-515B-DE4F-9872BF5EE47C}"/>
              </a:ext>
            </a:extLst>
          </p:cNvPr>
          <p:cNvSpPr txBox="1"/>
          <p:nvPr/>
        </p:nvSpPr>
        <p:spPr>
          <a:xfrm>
            <a:off x="2080559" y="2005118"/>
            <a:ext cx="327212" cy="359260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spcBef>
                <a:spcPts val="101"/>
              </a:spcBef>
            </a:pPr>
            <a:r>
              <a:rPr sz="2250" spc="-106" dirty="0">
                <a:solidFill>
                  <a:srgbClr val="56127A"/>
                </a:solidFill>
                <a:latin typeface="Calibri"/>
                <a:cs typeface="Calibri"/>
              </a:rPr>
              <a:t>VA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8C3CD882-39AC-792E-FB12-26A583CF79E4}"/>
              </a:ext>
            </a:extLst>
          </p:cNvPr>
          <p:cNvSpPr txBox="1"/>
          <p:nvPr/>
        </p:nvSpPr>
        <p:spPr>
          <a:xfrm>
            <a:off x="2056654" y="3738294"/>
            <a:ext cx="304800" cy="359260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spcBef>
                <a:spcPts val="101"/>
              </a:spcBef>
            </a:pPr>
            <a:r>
              <a:rPr sz="2250" spc="-168" dirty="0">
                <a:solidFill>
                  <a:srgbClr val="56127A"/>
                </a:solidFill>
                <a:latin typeface="Calibri"/>
                <a:cs typeface="Calibri"/>
              </a:rPr>
              <a:t>PA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A3C7140A-DBAF-ADCE-2BCF-F4ED02F7B1D5}"/>
              </a:ext>
            </a:extLst>
          </p:cNvPr>
          <p:cNvSpPr txBox="1"/>
          <p:nvPr/>
        </p:nvSpPr>
        <p:spPr>
          <a:xfrm>
            <a:off x="6456831" y="1357398"/>
            <a:ext cx="1745876" cy="41867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647" spc="-9" dirty="0">
                <a:solidFill>
                  <a:srgbClr val="56127A"/>
                </a:solidFill>
                <a:latin typeface="Calibri"/>
                <a:cs typeface="Calibri"/>
              </a:rPr>
              <a:t>Virtual</a:t>
            </a:r>
            <a:r>
              <a:rPr sz="2647" spc="-79" dirty="0">
                <a:solidFill>
                  <a:srgbClr val="56127A"/>
                </a:solidFill>
                <a:latin typeface="Calibri"/>
                <a:cs typeface="Calibri"/>
              </a:rPr>
              <a:t> </a:t>
            </a:r>
            <a:r>
              <a:rPr sz="2647" spc="-18" dirty="0">
                <a:solidFill>
                  <a:srgbClr val="56127A"/>
                </a:solidFill>
                <a:latin typeface="Calibri"/>
                <a:cs typeface="Calibri"/>
              </a:rPr>
              <a:t>Index</a:t>
            </a:r>
            <a:endParaRPr sz="2647">
              <a:latin typeface="Calibri"/>
              <a:cs typeface="Calibri"/>
            </a:endParaRPr>
          </a:p>
        </p:txBody>
      </p:sp>
      <p:graphicFrame>
        <p:nvGraphicFramePr>
          <p:cNvPr id="18" name="object 14">
            <a:extLst>
              <a:ext uri="{FF2B5EF4-FFF2-40B4-BE49-F238E27FC236}">
                <a16:creationId xmlns:a16="http://schemas.microsoft.com/office/drawing/2014/main" id="{AE9F7A35-241B-223D-36A9-FB37E895A5F4}"/>
              </a:ext>
            </a:extLst>
          </p:cNvPr>
          <p:cNvGraphicFramePr>
            <a:graphicFrameLocks noGrp="1"/>
          </p:cNvGraphicFramePr>
          <p:nvPr/>
        </p:nvGraphicFramePr>
        <p:xfrm>
          <a:off x="8331199" y="2556435"/>
          <a:ext cx="1697130" cy="11983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6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7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880">
                <a:tc>
                  <a:txBody>
                    <a:bodyPr/>
                    <a:lstStyle/>
                    <a:p>
                      <a:pPr marR="41275" algn="r">
                        <a:lnSpc>
                          <a:spcPts val="2160"/>
                        </a:lnSpc>
                      </a:pPr>
                      <a:r>
                        <a:rPr sz="2300" spc="-5" dirty="0">
                          <a:latin typeface="Calibri"/>
                          <a:cs typeface="Calibri"/>
                        </a:rPr>
                        <a:t>PPN</a:t>
                      </a:r>
                      <a:r>
                        <a:rPr sz="2300" spc="-7" baseline="-19607" dirty="0">
                          <a:latin typeface="Calibri"/>
                          <a:cs typeface="Calibri"/>
                        </a:rPr>
                        <a:t>a</a:t>
                      </a:r>
                      <a:endParaRPr sz="2300" baseline="-19607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2250" algn="r">
                        <a:lnSpc>
                          <a:spcPts val="2160"/>
                        </a:lnSpc>
                      </a:pPr>
                      <a:r>
                        <a:rPr sz="2300" spc="-15" dirty="0">
                          <a:latin typeface="Calibri"/>
                          <a:cs typeface="Calibri"/>
                        </a:rPr>
                        <a:t>Data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7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884">
                <a:tc>
                  <a:txBody>
                    <a:bodyPr/>
                    <a:lstStyle/>
                    <a:p>
                      <a:pPr marR="41275" algn="r">
                        <a:lnSpc>
                          <a:spcPts val="2335"/>
                        </a:lnSpc>
                      </a:pPr>
                      <a:r>
                        <a:rPr sz="2300" spc="-5" dirty="0">
                          <a:latin typeface="Calibri"/>
                          <a:cs typeface="Calibri"/>
                        </a:rPr>
                        <a:t>PPN</a:t>
                      </a:r>
                      <a:r>
                        <a:rPr sz="2300" spc="-7" baseline="-19607" dirty="0">
                          <a:latin typeface="Calibri"/>
                          <a:cs typeface="Calibri"/>
                        </a:rPr>
                        <a:t>a</a:t>
                      </a:r>
                      <a:endParaRPr sz="2300" baseline="-19607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2250" algn="r">
                        <a:lnSpc>
                          <a:spcPts val="2335"/>
                        </a:lnSpc>
                      </a:pPr>
                      <a:r>
                        <a:rPr sz="2300" spc="-15" dirty="0">
                          <a:latin typeface="Calibri"/>
                          <a:cs typeface="Calibri"/>
                        </a:rPr>
                        <a:t>Data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1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object 15">
            <a:extLst>
              <a:ext uri="{FF2B5EF4-FFF2-40B4-BE49-F238E27FC236}">
                <a16:creationId xmlns:a16="http://schemas.microsoft.com/office/drawing/2014/main" id="{92211733-6461-11C5-9699-FD13F02BEB23}"/>
              </a:ext>
            </a:extLst>
          </p:cNvPr>
          <p:cNvSpPr/>
          <p:nvPr/>
        </p:nvSpPr>
        <p:spPr>
          <a:xfrm>
            <a:off x="6036235" y="1779494"/>
            <a:ext cx="2689412" cy="777127"/>
          </a:xfrm>
          <a:custGeom>
            <a:avLst/>
            <a:gdLst/>
            <a:ahLst/>
            <a:cxnLst/>
            <a:rect l="l" t="t" r="r" b="b"/>
            <a:pathLst>
              <a:path w="3048000" h="880744">
                <a:moveTo>
                  <a:pt x="2987748" y="0"/>
                </a:moveTo>
                <a:lnTo>
                  <a:pt x="13545" y="0"/>
                </a:lnTo>
                <a:lnTo>
                  <a:pt x="6064" y="0"/>
                </a:lnTo>
                <a:lnTo>
                  <a:pt x="0" y="6065"/>
                </a:lnTo>
                <a:lnTo>
                  <a:pt x="0" y="146334"/>
                </a:lnTo>
                <a:lnTo>
                  <a:pt x="6064" y="152400"/>
                </a:lnTo>
                <a:lnTo>
                  <a:pt x="21027" y="152400"/>
                </a:lnTo>
                <a:lnTo>
                  <a:pt x="27092" y="146334"/>
                </a:lnTo>
                <a:lnTo>
                  <a:pt x="27092" y="27092"/>
                </a:lnTo>
                <a:lnTo>
                  <a:pt x="2966720" y="27092"/>
                </a:lnTo>
                <a:lnTo>
                  <a:pt x="2966720" y="745067"/>
                </a:lnTo>
                <a:lnTo>
                  <a:pt x="2912532" y="745067"/>
                </a:lnTo>
                <a:lnTo>
                  <a:pt x="2980267" y="880534"/>
                </a:lnTo>
                <a:lnTo>
                  <a:pt x="3048000" y="745067"/>
                </a:lnTo>
                <a:lnTo>
                  <a:pt x="2993812" y="745067"/>
                </a:lnTo>
                <a:lnTo>
                  <a:pt x="2993812" y="6065"/>
                </a:lnTo>
                <a:lnTo>
                  <a:pt x="2987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0" name="object 16">
            <a:extLst>
              <a:ext uri="{FF2B5EF4-FFF2-40B4-BE49-F238E27FC236}">
                <a16:creationId xmlns:a16="http://schemas.microsoft.com/office/drawing/2014/main" id="{33AFAAD5-5DFA-27F4-8E6A-AAB164937466}"/>
              </a:ext>
            </a:extLst>
          </p:cNvPr>
          <p:cNvSpPr txBox="1"/>
          <p:nvPr/>
        </p:nvSpPr>
        <p:spPr>
          <a:xfrm>
            <a:off x="8735360" y="1791458"/>
            <a:ext cx="1378884" cy="705509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 marR="4483">
              <a:spcBef>
                <a:spcPts val="101"/>
              </a:spcBef>
            </a:pPr>
            <a:r>
              <a:rPr sz="2250" dirty="0">
                <a:solidFill>
                  <a:srgbClr val="56127A"/>
                </a:solidFill>
                <a:latin typeface="Calibri"/>
                <a:cs typeface="Calibri"/>
              </a:rPr>
              <a:t>L</a:t>
            </a:r>
            <a:r>
              <a:rPr sz="2250" spc="4" dirty="0">
                <a:solidFill>
                  <a:srgbClr val="56127A"/>
                </a:solidFill>
                <a:latin typeface="Calibri"/>
                <a:cs typeface="Calibri"/>
              </a:rPr>
              <a:t>1</a:t>
            </a:r>
            <a:r>
              <a:rPr sz="2250" spc="-18" dirty="0">
                <a:solidFill>
                  <a:srgbClr val="56127A"/>
                </a:solidFill>
                <a:latin typeface="Calibri"/>
                <a:cs typeface="Calibri"/>
              </a:rPr>
              <a:t> </a:t>
            </a:r>
            <a:r>
              <a:rPr sz="2250" spc="-168" dirty="0">
                <a:solidFill>
                  <a:srgbClr val="56127A"/>
                </a:solidFill>
                <a:latin typeface="Calibri"/>
                <a:cs typeface="Calibri"/>
              </a:rPr>
              <a:t>P</a:t>
            </a:r>
            <a:r>
              <a:rPr sz="2250" spc="4" dirty="0">
                <a:solidFill>
                  <a:srgbClr val="56127A"/>
                </a:solidFill>
                <a:latin typeface="Calibri"/>
                <a:cs typeface="Calibri"/>
              </a:rPr>
              <a:t>A</a:t>
            </a:r>
            <a:r>
              <a:rPr sz="2250" spc="-13" dirty="0">
                <a:solidFill>
                  <a:srgbClr val="56127A"/>
                </a:solidFill>
                <a:latin typeface="Calibri"/>
                <a:cs typeface="Calibri"/>
              </a:rPr>
              <a:t> </a:t>
            </a:r>
            <a:r>
              <a:rPr sz="2250" spc="-22" dirty="0">
                <a:solidFill>
                  <a:srgbClr val="56127A"/>
                </a:solidFill>
                <a:latin typeface="Calibri"/>
                <a:cs typeface="Calibri"/>
              </a:rPr>
              <a:t>c</a:t>
            </a:r>
            <a:r>
              <a:rPr sz="2250" dirty="0">
                <a:solidFill>
                  <a:srgbClr val="56127A"/>
                </a:solidFill>
                <a:latin typeface="Calibri"/>
                <a:cs typeface="Calibri"/>
              </a:rPr>
              <a:t>a</a:t>
            </a:r>
            <a:r>
              <a:rPr sz="2250" spc="-4" dirty="0">
                <a:solidFill>
                  <a:srgbClr val="56127A"/>
                </a:solidFill>
                <a:latin typeface="Calibri"/>
                <a:cs typeface="Calibri"/>
              </a:rPr>
              <a:t>c</a:t>
            </a:r>
            <a:r>
              <a:rPr sz="2250" dirty="0">
                <a:solidFill>
                  <a:srgbClr val="56127A"/>
                </a:solidFill>
                <a:latin typeface="Calibri"/>
                <a:cs typeface="Calibri"/>
              </a:rPr>
              <a:t>h</a:t>
            </a:r>
            <a:r>
              <a:rPr sz="2250" spc="4" dirty="0">
                <a:solidFill>
                  <a:srgbClr val="56127A"/>
                </a:solidFill>
                <a:latin typeface="Calibri"/>
                <a:cs typeface="Calibri"/>
              </a:rPr>
              <a:t>e  </a:t>
            </a:r>
            <a:r>
              <a:rPr sz="2250" spc="-9" dirty="0">
                <a:solidFill>
                  <a:srgbClr val="56127A"/>
                </a:solidFill>
                <a:latin typeface="Calibri"/>
                <a:cs typeface="Calibri"/>
              </a:rPr>
              <a:t>Direct-map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21" name="object 17">
            <a:extLst>
              <a:ext uri="{FF2B5EF4-FFF2-40B4-BE49-F238E27FC236}">
                <a16:creationId xmlns:a16="http://schemas.microsoft.com/office/drawing/2014/main" id="{9B30C492-0269-BFDC-CF38-8E2A69E335D5}"/>
              </a:ext>
            </a:extLst>
          </p:cNvPr>
          <p:cNvSpPr/>
          <p:nvPr/>
        </p:nvSpPr>
        <p:spPr>
          <a:xfrm>
            <a:off x="8498541" y="4182036"/>
            <a:ext cx="430306" cy="418540"/>
          </a:xfrm>
          <a:custGeom>
            <a:avLst/>
            <a:gdLst/>
            <a:ahLst/>
            <a:cxnLst/>
            <a:rect l="l" t="t" r="r" b="b"/>
            <a:pathLst>
              <a:path w="487679" h="474345">
                <a:moveTo>
                  <a:pt x="0" y="237066"/>
                </a:moveTo>
                <a:lnTo>
                  <a:pt x="4953" y="189289"/>
                </a:lnTo>
                <a:lnTo>
                  <a:pt x="19162" y="144789"/>
                </a:lnTo>
                <a:lnTo>
                  <a:pt x="41644" y="104520"/>
                </a:lnTo>
                <a:lnTo>
                  <a:pt x="71419" y="69435"/>
                </a:lnTo>
                <a:lnTo>
                  <a:pt x="107506" y="40487"/>
                </a:lnTo>
                <a:lnTo>
                  <a:pt x="148926" y="18629"/>
                </a:lnTo>
                <a:lnTo>
                  <a:pt x="194697" y="4816"/>
                </a:lnTo>
                <a:lnTo>
                  <a:pt x="243839" y="0"/>
                </a:lnTo>
                <a:lnTo>
                  <a:pt x="292982" y="4816"/>
                </a:lnTo>
                <a:lnTo>
                  <a:pt x="338753" y="18629"/>
                </a:lnTo>
                <a:lnTo>
                  <a:pt x="380173" y="40487"/>
                </a:lnTo>
                <a:lnTo>
                  <a:pt x="416260" y="69435"/>
                </a:lnTo>
                <a:lnTo>
                  <a:pt x="446035" y="104520"/>
                </a:lnTo>
                <a:lnTo>
                  <a:pt x="468517" y="144789"/>
                </a:lnTo>
                <a:lnTo>
                  <a:pt x="482726" y="189289"/>
                </a:lnTo>
                <a:lnTo>
                  <a:pt x="487679" y="237066"/>
                </a:lnTo>
                <a:lnTo>
                  <a:pt x="482726" y="284843"/>
                </a:lnTo>
                <a:lnTo>
                  <a:pt x="468517" y="329343"/>
                </a:lnTo>
                <a:lnTo>
                  <a:pt x="446035" y="369612"/>
                </a:lnTo>
                <a:lnTo>
                  <a:pt x="416260" y="404698"/>
                </a:lnTo>
                <a:lnTo>
                  <a:pt x="380173" y="433646"/>
                </a:lnTo>
                <a:lnTo>
                  <a:pt x="338753" y="455503"/>
                </a:lnTo>
                <a:lnTo>
                  <a:pt x="292982" y="469316"/>
                </a:lnTo>
                <a:lnTo>
                  <a:pt x="243839" y="474133"/>
                </a:lnTo>
                <a:lnTo>
                  <a:pt x="194697" y="469316"/>
                </a:lnTo>
                <a:lnTo>
                  <a:pt x="148926" y="455503"/>
                </a:lnTo>
                <a:lnTo>
                  <a:pt x="107506" y="433646"/>
                </a:lnTo>
                <a:lnTo>
                  <a:pt x="71419" y="404698"/>
                </a:lnTo>
                <a:lnTo>
                  <a:pt x="41644" y="369612"/>
                </a:lnTo>
                <a:lnTo>
                  <a:pt x="19162" y="329343"/>
                </a:lnTo>
                <a:lnTo>
                  <a:pt x="4953" y="284843"/>
                </a:lnTo>
                <a:lnTo>
                  <a:pt x="0" y="237066"/>
                </a:lnTo>
                <a:close/>
              </a:path>
            </a:pathLst>
          </a:custGeom>
          <a:ln w="270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2" name="object 18">
            <a:extLst>
              <a:ext uri="{FF2B5EF4-FFF2-40B4-BE49-F238E27FC236}">
                <a16:creationId xmlns:a16="http://schemas.microsoft.com/office/drawing/2014/main" id="{81278C6F-2BD6-DE69-0876-1D2DB2AE290F}"/>
              </a:ext>
            </a:extLst>
          </p:cNvPr>
          <p:cNvSpPr txBox="1"/>
          <p:nvPr/>
        </p:nvSpPr>
        <p:spPr>
          <a:xfrm>
            <a:off x="8618848" y="4156777"/>
            <a:ext cx="189940" cy="41867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647" dirty="0">
                <a:solidFill>
                  <a:srgbClr val="56127A"/>
                </a:solidFill>
                <a:latin typeface="Calibri"/>
                <a:cs typeface="Calibri"/>
              </a:rPr>
              <a:t>=</a:t>
            </a:r>
            <a:endParaRPr sz="2647">
              <a:latin typeface="Calibri"/>
              <a:cs typeface="Calibri"/>
            </a:endParaRPr>
          </a:p>
        </p:txBody>
      </p:sp>
      <p:sp>
        <p:nvSpPr>
          <p:cNvPr id="23" name="object 19">
            <a:extLst>
              <a:ext uri="{FF2B5EF4-FFF2-40B4-BE49-F238E27FC236}">
                <a16:creationId xmlns:a16="http://schemas.microsoft.com/office/drawing/2014/main" id="{8F69398E-5724-0C80-2870-8BE19069C1C1}"/>
              </a:ext>
            </a:extLst>
          </p:cNvPr>
          <p:cNvSpPr txBox="1"/>
          <p:nvPr/>
        </p:nvSpPr>
        <p:spPr>
          <a:xfrm>
            <a:off x="9309101" y="4170092"/>
            <a:ext cx="467285" cy="359260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spcBef>
                <a:spcPts val="101"/>
              </a:spcBef>
            </a:pPr>
            <a:r>
              <a:rPr sz="2250" dirty="0">
                <a:solidFill>
                  <a:srgbClr val="56127A"/>
                </a:solidFill>
                <a:latin typeface="Calibri"/>
                <a:cs typeface="Calibri"/>
              </a:rPr>
              <a:t>hi</a:t>
            </a:r>
            <a:r>
              <a:rPr sz="2250" spc="-4" dirty="0">
                <a:solidFill>
                  <a:srgbClr val="56127A"/>
                </a:solidFill>
                <a:latin typeface="Calibri"/>
                <a:cs typeface="Calibri"/>
              </a:rPr>
              <a:t>t</a:t>
            </a:r>
            <a:r>
              <a:rPr sz="2250" spc="4" dirty="0">
                <a:solidFill>
                  <a:srgbClr val="56127A"/>
                </a:solidFill>
                <a:latin typeface="Calibri"/>
                <a:cs typeface="Calibri"/>
              </a:rPr>
              <a:t>?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24" name="object 20">
            <a:extLst>
              <a:ext uri="{FF2B5EF4-FFF2-40B4-BE49-F238E27FC236}">
                <a16:creationId xmlns:a16="http://schemas.microsoft.com/office/drawing/2014/main" id="{A0418CFF-9264-0492-1720-26A166252997}"/>
              </a:ext>
            </a:extLst>
          </p:cNvPr>
          <p:cNvSpPr/>
          <p:nvPr/>
        </p:nvSpPr>
        <p:spPr>
          <a:xfrm>
            <a:off x="4147667" y="3763686"/>
            <a:ext cx="5120528" cy="705410"/>
          </a:xfrm>
          <a:custGeom>
            <a:avLst/>
            <a:gdLst/>
            <a:ahLst/>
            <a:cxnLst/>
            <a:rect l="l" t="t" r="r" b="b"/>
            <a:pathLst>
              <a:path w="5803265" h="799464">
                <a:moveTo>
                  <a:pt x="4904994" y="731520"/>
                </a:moveTo>
                <a:lnTo>
                  <a:pt x="4769536" y="663790"/>
                </a:lnTo>
                <a:lnTo>
                  <a:pt x="4769536" y="717969"/>
                </a:lnTo>
                <a:lnTo>
                  <a:pt x="27089" y="717969"/>
                </a:lnTo>
                <a:lnTo>
                  <a:pt x="27089" y="588568"/>
                </a:lnTo>
                <a:lnTo>
                  <a:pt x="21031" y="582510"/>
                </a:lnTo>
                <a:lnTo>
                  <a:pt x="13550" y="582510"/>
                </a:lnTo>
                <a:lnTo>
                  <a:pt x="6057" y="582510"/>
                </a:lnTo>
                <a:lnTo>
                  <a:pt x="0" y="588568"/>
                </a:lnTo>
                <a:lnTo>
                  <a:pt x="0" y="739000"/>
                </a:lnTo>
                <a:lnTo>
                  <a:pt x="6057" y="745070"/>
                </a:lnTo>
                <a:lnTo>
                  <a:pt x="4769536" y="745070"/>
                </a:lnTo>
                <a:lnTo>
                  <a:pt x="4769536" y="799261"/>
                </a:lnTo>
                <a:lnTo>
                  <a:pt x="4904994" y="731520"/>
                </a:lnTo>
                <a:close/>
              </a:path>
              <a:path w="5803265" h="799464">
                <a:moveTo>
                  <a:pt x="5229009" y="338670"/>
                </a:moveTo>
                <a:lnTo>
                  <a:pt x="5174831" y="338670"/>
                </a:lnTo>
                <a:lnTo>
                  <a:pt x="5174831" y="0"/>
                </a:lnTo>
                <a:lnTo>
                  <a:pt x="5147729" y="0"/>
                </a:lnTo>
                <a:lnTo>
                  <a:pt x="5147729" y="338670"/>
                </a:lnTo>
                <a:lnTo>
                  <a:pt x="5093551" y="338670"/>
                </a:lnTo>
                <a:lnTo>
                  <a:pt x="5161280" y="474129"/>
                </a:lnTo>
                <a:lnTo>
                  <a:pt x="5229009" y="338670"/>
                </a:lnTo>
                <a:close/>
              </a:path>
              <a:path w="5803265" h="799464">
                <a:moveTo>
                  <a:pt x="5803049" y="677329"/>
                </a:moveTo>
                <a:lnTo>
                  <a:pt x="5667591" y="609600"/>
                </a:lnTo>
                <a:lnTo>
                  <a:pt x="5667591" y="663790"/>
                </a:lnTo>
                <a:lnTo>
                  <a:pt x="5459311" y="663790"/>
                </a:lnTo>
                <a:lnTo>
                  <a:pt x="5459311" y="690880"/>
                </a:lnTo>
                <a:lnTo>
                  <a:pt x="5667591" y="690880"/>
                </a:lnTo>
                <a:lnTo>
                  <a:pt x="5667591" y="745070"/>
                </a:lnTo>
                <a:lnTo>
                  <a:pt x="5803049" y="6773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182FF351-52B9-5B5D-E206-E559E96775CC}"/>
              </a:ext>
            </a:extLst>
          </p:cNvPr>
          <p:cNvSpPr txBox="1"/>
          <p:nvPr/>
        </p:nvSpPr>
        <p:spPr>
          <a:xfrm>
            <a:off x="7797950" y="2635614"/>
            <a:ext cx="479051" cy="881274"/>
          </a:xfrm>
          <a:prstGeom prst="rect">
            <a:avLst/>
          </a:prstGeom>
        </p:spPr>
        <p:txBody>
          <a:bodyPr vert="horz" wrap="square" lIns="0" tIns="98051" rIns="0" bIns="0" rtlCol="0">
            <a:spAutoFit/>
          </a:bodyPr>
          <a:lstStyle/>
          <a:p>
            <a:pPr marL="33619">
              <a:spcBef>
                <a:spcPts val="772"/>
              </a:spcBef>
            </a:pPr>
            <a:r>
              <a:rPr sz="2250" spc="-35" dirty="0">
                <a:solidFill>
                  <a:srgbClr val="56127A"/>
                </a:solidFill>
                <a:latin typeface="Calibri"/>
                <a:cs typeface="Calibri"/>
              </a:rPr>
              <a:t>VA</a:t>
            </a:r>
            <a:r>
              <a:rPr sz="2250" spc="-53" baseline="-19607" dirty="0">
                <a:solidFill>
                  <a:srgbClr val="56127A"/>
                </a:solidFill>
                <a:latin typeface="Calibri"/>
                <a:cs typeface="Calibri"/>
              </a:rPr>
              <a:t>1</a:t>
            </a:r>
            <a:endParaRPr sz="2250" baseline="-19607">
              <a:latin typeface="Calibri"/>
              <a:cs typeface="Calibri"/>
            </a:endParaRPr>
          </a:p>
          <a:p>
            <a:pPr marL="33619">
              <a:spcBef>
                <a:spcPts val="688"/>
              </a:spcBef>
            </a:pPr>
            <a:r>
              <a:rPr sz="2250" spc="-35" dirty="0">
                <a:solidFill>
                  <a:srgbClr val="56127A"/>
                </a:solidFill>
                <a:latin typeface="Calibri"/>
                <a:cs typeface="Calibri"/>
              </a:rPr>
              <a:t>VA</a:t>
            </a:r>
            <a:r>
              <a:rPr sz="2250" spc="-53" baseline="-19607" dirty="0">
                <a:solidFill>
                  <a:srgbClr val="56127A"/>
                </a:solidFill>
                <a:latin typeface="Calibri"/>
                <a:cs typeface="Calibri"/>
              </a:rPr>
              <a:t>2</a:t>
            </a:r>
            <a:endParaRPr sz="2250" baseline="-19607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1186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D3978-ECBF-4049-AB36-2CC2EFC3D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if? Think about PIPT, VIPT, PIVT, and VIVT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F3D15E-431E-44D3-805F-9D28BDCFE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23</a:t>
            </a:fld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E829B9B-877C-4033-9497-99E9012C071E}"/>
              </a:ext>
            </a:extLst>
          </p:cNvPr>
          <p:cNvSpPr txBox="1">
            <a:spLocks/>
          </p:cNvSpPr>
          <p:nvPr/>
        </p:nvSpPr>
        <p:spPr>
          <a:xfrm>
            <a:off x="567079" y="1492039"/>
            <a:ext cx="8610600" cy="51943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609585" lvl="0" indent="-55878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 panose="020B0604020202020204" pitchFamily="34" charset="0"/>
              <a:buChar char="●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558786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 sz="2400" kern="120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828754" lvl="2" indent="-558786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■"/>
              <a:defRPr sz="2000" kern="120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2438339" lvl="3" indent="-558786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●"/>
              <a:defRPr sz="1800" kern="120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3047924" lvl="4" indent="-558786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 sz="1800" kern="120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3657509" lvl="5" indent="-558786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■"/>
              <a:defRPr sz="1800" kern="120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4267093" lvl="6" indent="-558786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●"/>
              <a:defRPr sz="1800" kern="120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4876678" lvl="7" indent="-558786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 sz="1800" kern="120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5486263" lvl="8" indent="-558786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SzPts val="3000"/>
              <a:buFont typeface="Cambria"/>
              <a:buChar char="■"/>
              <a:defRPr sz="1800" kern="120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If </a:t>
            </a:r>
            <a:r>
              <a:rPr lang="en-US" altLang="en-US" dirty="0">
                <a:solidFill>
                  <a:srgbClr val="C00000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C</a:t>
            </a:r>
            <a:r>
              <a:rPr lang="en-US" altLang="en-US" dirty="0">
                <a:solidFill>
                  <a:srgbClr val="C0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&gt;(</a:t>
            </a:r>
            <a:r>
              <a:rPr lang="en-US" altLang="en-US" dirty="0" err="1">
                <a:solidFill>
                  <a:srgbClr val="C00000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page_size</a:t>
            </a:r>
            <a:r>
              <a:rPr lang="en-US" altLang="en-US" dirty="0">
                <a:solidFill>
                  <a:srgbClr val="C00000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solidFill>
                  <a:srgbClr val="C0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sym typeface="Symbol" panose="05050102010706020507" pitchFamily="18" charset="2"/>
              </a:rPr>
              <a:t></a:t>
            </a:r>
            <a:r>
              <a:rPr lang="en-US" altLang="en-US" dirty="0">
                <a:solidFill>
                  <a:srgbClr val="C00000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 associativity), </a:t>
            </a: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the cache index bits include VPN </a:t>
            </a:r>
            <a:r>
              <a:rPr lang="en-US" altLang="en-US" dirty="0">
                <a:solidFill>
                  <a:srgbClr val="C0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sym typeface="Symbol" panose="05050102010706020507" pitchFamily="18" charset="2"/>
              </a:rPr>
              <a:t> Synonyms can cause problems</a:t>
            </a:r>
          </a:p>
          <a:p>
            <a:pPr lvl="1"/>
            <a:r>
              <a:rPr lang="en-US" altLang="en-US" dirty="0">
                <a:solidFill>
                  <a:srgbClr val="C0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sym typeface="Symbol" panose="05050102010706020507" pitchFamily="18" charset="2"/>
              </a:rPr>
              <a:t>The same physical address can exist in two locations</a:t>
            </a:r>
          </a:p>
          <a:p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sym typeface="Symbol" panose="05050102010706020507" pitchFamily="18" charset="2"/>
              </a:rPr>
              <a:t>Solutions?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033CA5C-154E-4B65-A4FC-2709964F5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0479" y="3104226"/>
            <a:ext cx="1905000" cy="381000"/>
          </a:xfrm>
          <a:prstGeom prst="rect">
            <a:avLst/>
          </a:prstGeom>
          <a:solidFill>
            <a:srgbClr val="C0C0C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>
                <a:solidFill>
                  <a:srgbClr val="0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VPN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2C99C0E-4037-4C05-B14C-8000904B0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479" y="3104226"/>
            <a:ext cx="1524000" cy="381000"/>
          </a:xfrm>
          <a:prstGeom prst="rect">
            <a:avLst/>
          </a:prstGeom>
          <a:solidFill>
            <a:srgbClr val="C0C0C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 dirty="0">
                <a:solidFill>
                  <a:srgbClr val="0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Page Offset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4E26CE8-2B6D-4F2F-94DE-010B58C9A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6079" y="3790026"/>
            <a:ext cx="1143000" cy="990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>
                <a:solidFill>
                  <a:srgbClr val="0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TLB</a:t>
            </a:r>
          </a:p>
        </p:txBody>
      </p:sp>
      <p:cxnSp>
        <p:nvCxnSpPr>
          <p:cNvPr id="10" name="AutoShape 7">
            <a:extLst>
              <a:ext uri="{FF2B5EF4-FFF2-40B4-BE49-F238E27FC236}">
                <a16:creationId xmlns:a16="http://schemas.microsoft.com/office/drawing/2014/main" id="{CDF8E86A-9BF5-4FF1-93CB-F0A8535F7082}"/>
              </a:ext>
            </a:extLst>
          </p:cNvPr>
          <p:cNvCxnSpPr>
            <a:cxnSpLocks noChangeShapeType="1"/>
            <a:stCxn id="7" idx="2"/>
            <a:endCxn id="9" idx="0"/>
          </p:cNvCxnSpPr>
          <p:nvPr/>
        </p:nvCxnSpPr>
        <p:spPr bwMode="auto">
          <a:xfrm rot="5400000">
            <a:off x="3802404" y="2989926"/>
            <a:ext cx="285750" cy="129540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Rectangle 8">
            <a:extLst>
              <a:ext uri="{FF2B5EF4-FFF2-40B4-BE49-F238E27FC236}">
                <a16:creationId xmlns:a16="http://schemas.microsoft.com/office/drawing/2014/main" id="{D588CEBE-9F2B-4A4E-98A8-8EF7DA460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5079" y="5161626"/>
            <a:ext cx="1905000" cy="38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>
                <a:solidFill>
                  <a:srgbClr val="0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PPN</a:t>
            </a:r>
          </a:p>
        </p:txBody>
      </p:sp>
      <p:cxnSp>
        <p:nvCxnSpPr>
          <p:cNvPr id="12" name="AutoShape 9">
            <a:extLst>
              <a:ext uri="{FF2B5EF4-FFF2-40B4-BE49-F238E27FC236}">
                <a16:creationId xmlns:a16="http://schemas.microsoft.com/office/drawing/2014/main" id="{C52BAFB3-0A7C-4C86-B230-C472996E63CF}"/>
              </a:ext>
            </a:extLst>
          </p:cNvPr>
          <p:cNvCxnSpPr>
            <a:cxnSpLocks noChangeShapeType="1"/>
            <a:stCxn id="9" idx="2"/>
            <a:endCxn id="11" idx="0"/>
          </p:cNvCxnSpPr>
          <p:nvPr/>
        </p:nvCxnSpPr>
        <p:spPr bwMode="auto">
          <a:xfrm rot="5400000">
            <a:off x="3116604" y="4971126"/>
            <a:ext cx="36195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Rectangle 10">
            <a:extLst>
              <a:ext uri="{FF2B5EF4-FFF2-40B4-BE49-F238E27FC236}">
                <a16:creationId xmlns:a16="http://schemas.microsoft.com/office/drawing/2014/main" id="{AF4D25A8-1406-45F3-995E-B45B33604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2879" y="3485226"/>
            <a:ext cx="1549400" cy="30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 dirty="0">
                <a:solidFill>
                  <a:srgbClr val="0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Index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EC012E9F-B258-40F8-BDD8-B6F2FA2C2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2279" y="3485226"/>
            <a:ext cx="457200" cy="30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 dirty="0" err="1">
                <a:solidFill>
                  <a:srgbClr val="0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BiB</a:t>
            </a:r>
            <a:endParaRPr lang="en-US" kern="0" dirty="0">
              <a:solidFill>
                <a:srgbClr val="000000"/>
              </a:solidFill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3E7F18B5-61B8-4297-BB37-47F7C1878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5079" y="4018626"/>
            <a:ext cx="1219200" cy="83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>
                <a:solidFill>
                  <a:srgbClr val="0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physical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>
                <a:solidFill>
                  <a:srgbClr val="0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cache</a:t>
            </a:r>
          </a:p>
        </p:txBody>
      </p:sp>
      <p:cxnSp>
        <p:nvCxnSpPr>
          <p:cNvPr id="16" name="AutoShape 13">
            <a:extLst>
              <a:ext uri="{FF2B5EF4-FFF2-40B4-BE49-F238E27FC236}">
                <a16:creationId xmlns:a16="http://schemas.microsoft.com/office/drawing/2014/main" id="{90469B40-3018-429C-8DC6-83ADAB0318B9}"/>
              </a:ext>
            </a:extLst>
          </p:cNvPr>
          <p:cNvCxnSpPr>
            <a:cxnSpLocks noChangeShapeType="1"/>
            <a:stCxn id="13" idx="2"/>
            <a:endCxn id="15" idx="0"/>
          </p:cNvCxnSpPr>
          <p:nvPr/>
        </p:nvCxnSpPr>
        <p:spPr bwMode="auto">
          <a:xfrm rot="16200000" flipH="1">
            <a:off x="6196354" y="3440776"/>
            <a:ext cx="209550" cy="92710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Rectangle 14">
            <a:extLst>
              <a:ext uri="{FF2B5EF4-FFF2-40B4-BE49-F238E27FC236}">
                <a16:creationId xmlns:a16="http://schemas.microsoft.com/office/drawing/2014/main" id="{4916D49A-F8BB-41FF-B6FA-40A5BAF4E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4479" y="5161626"/>
            <a:ext cx="1828800" cy="38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>
                <a:solidFill>
                  <a:srgbClr val="0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tag</a:t>
            </a:r>
          </a:p>
        </p:txBody>
      </p:sp>
      <p:cxnSp>
        <p:nvCxnSpPr>
          <p:cNvPr id="18" name="AutoShape 15">
            <a:extLst>
              <a:ext uri="{FF2B5EF4-FFF2-40B4-BE49-F238E27FC236}">
                <a16:creationId xmlns:a16="http://schemas.microsoft.com/office/drawing/2014/main" id="{FC795031-A432-40F6-8220-09836456E060}"/>
              </a:ext>
            </a:extLst>
          </p:cNvPr>
          <p:cNvCxnSpPr>
            <a:cxnSpLocks noChangeShapeType="1"/>
            <a:stCxn id="15" idx="2"/>
            <a:endCxn id="17" idx="0"/>
          </p:cNvCxnSpPr>
          <p:nvPr/>
        </p:nvCxnSpPr>
        <p:spPr bwMode="auto">
          <a:xfrm rot="5400000">
            <a:off x="6278904" y="4666326"/>
            <a:ext cx="285750" cy="68580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Rectangle 16">
            <a:extLst>
              <a:ext uri="{FF2B5EF4-FFF2-40B4-BE49-F238E27FC236}">
                <a16:creationId xmlns:a16="http://schemas.microsoft.com/office/drawing/2014/main" id="{34BAD999-D8FC-470A-8CEE-E449A77E7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8079" y="5161626"/>
            <a:ext cx="1828800" cy="38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>
                <a:solidFill>
                  <a:srgbClr val="0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data</a:t>
            </a:r>
          </a:p>
        </p:txBody>
      </p:sp>
      <p:cxnSp>
        <p:nvCxnSpPr>
          <p:cNvPr id="20" name="AutoShape 17">
            <a:extLst>
              <a:ext uri="{FF2B5EF4-FFF2-40B4-BE49-F238E27FC236}">
                <a16:creationId xmlns:a16="http://schemas.microsoft.com/office/drawing/2014/main" id="{79515A59-AD1B-4894-87D2-6A4F4E9636FE}"/>
              </a:ext>
            </a:extLst>
          </p:cNvPr>
          <p:cNvCxnSpPr>
            <a:cxnSpLocks noChangeShapeType="1"/>
            <a:stCxn id="15" idx="2"/>
            <a:endCxn id="19" idx="0"/>
          </p:cNvCxnSpPr>
          <p:nvPr/>
        </p:nvCxnSpPr>
        <p:spPr bwMode="auto">
          <a:xfrm rot="16200000" flipH="1">
            <a:off x="7345704" y="4285326"/>
            <a:ext cx="285750" cy="144780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Oval 18">
            <a:extLst>
              <a:ext uri="{FF2B5EF4-FFF2-40B4-BE49-F238E27FC236}">
                <a16:creationId xmlns:a16="http://schemas.microsoft.com/office/drawing/2014/main" id="{83250FF2-D335-4F94-A4DA-35AE10AEC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42" y="5128289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>
                <a:solidFill>
                  <a:srgbClr val="0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=</a:t>
            </a:r>
          </a:p>
        </p:txBody>
      </p:sp>
      <p:cxnSp>
        <p:nvCxnSpPr>
          <p:cNvPr id="22" name="AutoShape 19">
            <a:extLst>
              <a:ext uri="{FF2B5EF4-FFF2-40B4-BE49-F238E27FC236}">
                <a16:creationId xmlns:a16="http://schemas.microsoft.com/office/drawing/2014/main" id="{2327C5AC-5C5E-4DE9-B290-97C3CA347687}"/>
              </a:ext>
            </a:extLst>
          </p:cNvPr>
          <p:cNvCxnSpPr>
            <a:cxnSpLocks noChangeShapeType="1"/>
            <a:stCxn id="11" idx="3"/>
            <a:endCxn id="21" idx="2"/>
          </p:cNvCxnSpPr>
          <p:nvPr/>
        </p:nvCxnSpPr>
        <p:spPr bwMode="auto">
          <a:xfrm>
            <a:off x="4259604" y="5352126"/>
            <a:ext cx="214313" cy="4763"/>
          </a:xfrm>
          <a:prstGeom prst="bentConnector3">
            <a:avLst>
              <a:gd name="adj1" fmla="val 49630"/>
            </a:avLst>
          </a:prstGeom>
          <a:noFill/>
          <a:ln w="1905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AutoShape 20">
            <a:extLst>
              <a:ext uri="{FF2B5EF4-FFF2-40B4-BE49-F238E27FC236}">
                <a16:creationId xmlns:a16="http://schemas.microsoft.com/office/drawing/2014/main" id="{2397F919-99C0-4973-BDC5-06C1FCC92676}"/>
              </a:ext>
            </a:extLst>
          </p:cNvPr>
          <p:cNvCxnSpPr>
            <a:cxnSpLocks noChangeShapeType="1"/>
            <a:stCxn id="17" idx="1"/>
            <a:endCxn id="21" idx="6"/>
          </p:cNvCxnSpPr>
          <p:nvPr/>
        </p:nvCxnSpPr>
        <p:spPr bwMode="auto">
          <a:xfrm rot="10800000" flipV="1">
            <a:off x="4950167" y="5352126"/>
            <a:ext cx="204787" cy="4763"/>
          </a:xfrm>
          <a:prstGeom prst="bentConnector3">
            <a:avLst>
              <a:gd name="adj1" fmla="val 49611"/>
            </a:avLst>
          </a:prstGeom>
          <a:noFill/>
          <a:ln w="1905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Text Box 21">
            <a:extLst>
              <a:ext uri="{FF2B5EF4-FFF2-40B4-BE49-F238E27FC236}">
                <a16:creationId xmlns:a16="http://schemas.microsoft.com/office/drawing/2014/main" id="{C7075498-C437-4427-A287-9453C5CEB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9729" y="5929976"/>
            <a:ext cx="14525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accent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400" i="1">
                <a:solidFill>
                  <a:schemeClr val="accent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accent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accent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accent1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accent1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accent1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accent1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accent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i="0" kern="0">
                <a:solidFill>
                  <a:srgbClr val="000000"/>
                </a:solidFill>
                <a:latin typeface="Calibri" charset="0"/>
                <a:cs typeface="ＭＳ Ｐゴシック" charset="0"/>
              </a:rPr>
              <a:t>cache hit?</a:t>
            </a:r>
          </a:p>
        </p:txBody>
      </p:sp>
      <p:cxnSp>
        <p:nvCxnSpPr>
          <p:cNvPr id="25" name="AutoShape 22">
            <a:extLst>
              <a:ext uri="{FF2B5EF4-FFF2-40B4-BE49-F238E27FC236}">
                <a16:creationId xmlns:a16="http://schemas.microsoft.com/office/drawing/2014/main" id="{EE9CBA45-4B79-43FA-A26C-5E5929AA16F1}"/>
              </a:ext>
            </a:extLst>
          </p:cNvPr>
          <p:cNvCxnSpPr>
            <a:cxnSpLocks noChangeShapeType="1"/>
            <a:stCxn id="21" idx="4"/>
            <a:endCxn id="24" idx="0"/>
          </p:cNvCxnSpPr>
          <p:nvPr/>
        </p:nvCxnSpPr>
        <p:spPr bwMode="auto">
          <a:xfrm rot="16200000" flipH="1">
            <a:off x="4542179" y="5755352"/>
            <a:ext cx="344487" cy="4762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Box 23">
            <a:extLst>
              <a:ext uri="{FF2B5EF4-FFF2-40B4-BE49-F238E27FC236}">
                <a16:creationId xmlns:a16="http://schemas.microsoft.com/office/drawing/2014/main" id="{8C390391-EF2F-4CD3-AFF7-7D21285E0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2729" y="5929976"/>
            <a:ext cx="11795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accent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400" i="1">
                <a:solidFill>
                  <a:schemeClr val="accent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accent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accent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accent1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accent1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accent1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accent1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accent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i="0" kern="0">
                <a:solidFill>
                  <a:srgbClr val="000000"/>
                </a:solidFill>
                <a:latin typeface="Calibri" charset="0"/>
                <a:cs typeface="ＭＳ Ｐゴシック" charset="0"/>
              </a:rPr>
              <a:t>TLB hit?</a:t>
            </a:r>
          </a:p>
        </p:txBody>
      </p:sp>
      <p:cxnSp>
        <p:nvCxnSpPr>
          <p:cNvPr id="27" name="AutoShape 24">
            <a:extLst>
              <a:ext uri="{FF2B5EF4-FFF2-40B4-BE49-F238E27FC236}">
                <a16:creationId xmlns:a16="http://schemas.microsoft.com/office/drawing/2014/main" id="{90777B31-3BD8-488F-BC95-D411ADBC232E}"/>
              </a:ext>
            </a:extLst>
          </p:cNvPr>
          <p:cNvCxnSpPr>
            <a:cxnSpLocks noChangeShapeType="1"/>
            <a:stCxn id="9" idx="1"/>
            <a:endCxn id="26" idx="0"/>
          </p:cNvCxnSpPr>
          <p:nvPr/>
        </p:nvCxnSpPr>
        <p:spPr bwMode="auto">
          <a:xfrm rot="10800000" flipV="1">
            <a:off x="1911692" y="4285326"/>
            <a:ext cx="814387" cy="1644650"/>
          </a:xfrm>
          <a:prstGeom prst="bentConnector2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AutoShape 25">
            <a:extLst>
              <a:ext uri="{FF2B5EF4-FFF2-40B4-BE49-F238E27FC236}">
                <a16:creationId xmlns:a16="http://schemas.microsoft.com/office/drawing/2014/main" id="{041C8FF8-B95E-4D2D-A2BE-9CBC07DDA362}"/>
              </a:ext>
            </a:extLst>
          </p:cNvPr>
          <p:cNvSpPr>
            <a:spLocks/>
          </p:cNvSpPr>
          <p:nvPr/>
        </p:nvSpPr>
        <p:spPr bwMode="auto">
          <a:xfrm rot="5400000">
            <a:off x="5225598" y="3627307"/>
            <a:ext cx="187325" cy="512763"/>
          </a:xfrm>
          <a:prstGeom prst="rightBrace">
            <a:avLst>
              <a:gd name="adj1" fmla="val 22811"/>
              <a:gd name="adj2" fmla="val 50000"/>
            </a:avLst>
          </a:prstGeom>
          <a:noFill/>
          <a:ln w="28575">
            <a:solidFill>
              <a:srgbClr val="FC0128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00" kern="0">
              <a:solidFill>
                <a:sysClr val="windowText" lastClr="000000"/>
              </a:solidFill>
              <a:latin typeface="Calibri" charset="0"/>
              <a:ea typeface="ＭＳ Ｐゴシック" charset="0"/>
              <a:cs typeface="ＭＳ Ｐゴシック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00" kern="0">
              <a:solidFill>
                <a:sysClr val="windowText" lastClr="000000"/>
              </a:solidFill>
              <a:latin typeface="Calibri" charset="0"/>
              <a:ea typeface="ＭＳ Ｐゴシック" charset="0"/>
              <a:cs typeface="ＭＳ Ｐゴシック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>
                <a:solidFill>
                  <a:sysClr val="windowText" lastClr="000000"/>
                </a:solidFill>
                <a:latin typeface="Calibri" charset="0"/>
                <a:ea typeface="ＭＳ Ｐゴシック" charset="0"/>
                <a:cs typeface="ＭＳ Ｐゴシック" charset="0"/>
              </a:rPr>
              <a:t>a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9CC23E5-B92B-66EE-AA8D-D48CF600D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546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833443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86D3C-4F97-767C-61EB-552200C0A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Golmaal Hai: Any reasons for small L1 cache?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499C2-BFE6-717E-1BEA-25BFE7A78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Better answers now </a:t>
            </a:r>
            <a:r>
              <a:rPr lang="en-US" dirty="0">
                <a:sym typeface="Wingdings" panose="05000000000000000000" pitchFamily="2" charset="2"/>
              </a:rPr>
              <a:t> 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BTW Apple phones use 196KB L1 caches. Golmaal </a:t>
            </a:r>
            <a:r>
              <a:rPr lang="en-US" dirty="0" err="1">
                <a:sym typeface="Wingdings" panose="05000000000000000000" pitchFamily="2" charset="2"/>
              </a:rPr>
              <a:t>hai</a:t>
            </a:r>
            <a:r>
              <a:rPr lang="en-US" dirty="0">
                <a:sym typeface="Wingdings" panose="05000000000000000000" pitchFamily="2" charset="2"/>
              </a:rPr>
              <a:t> 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96738C-EE4C-FCC9-56EF-40031F985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C55D5-FF07-CCD6-4233-B689669D6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0646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49602</TotalTime>
  <Words>1443</Words>
  <Application>Microsoft Office PowerPoint</Application>
  <PresentationFormat>Widescreen</PresentationFormat>
  <Paragraphs>370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8" baseType="lpstr">
      <vt:lpstr>ＭＳ Ｐゴシック</vt:lpstr>
      <vt:lpstr>Arial</vt:lpstr>
      <vt:lpstr>Arial MT</vt:lpstr>
      <vt:lpstr>Calibri</vt:lpstr>
      <vt:lpstr>Calibri Light</vt:lpstr>
      <vt:lpstr>Cambria</vt:lpstr>
      <vt:lpstr>Carlito</vt:lpstr>
      <vt:lpstr>Courier New</vt:lpstr>
      <vt:lpstr>Garamond</vt:lpstr>
      <vt:lpstr>Times New Roman</vt:lpstr>
      <vt:lpstr>Verdana</vt:lpstr>
      <vt:lpstr>Wingdings</vt:lpstr>
      <vt:lpstr>ヒラギノ角ゴ Pro W3</vt:lpstr>
      <vt:lpstr>Office Theme</vt:lpstr>
      <vt:lpstr>CS683: Advanced Computer Architecture-2025</vt:lpstr>
      <vt:lpstr>Phones (smart/non-smart) on silence plz, Thanks </vt:lpstr>
      <vt:lpstr>Small and subtle cache: MMU (PSC, PWC) Cache </vt:lpstr>
      <vt:lpstr>More details </vt:lpstr>
      <vt:lpstr>TLBs and events of interest</vt:lpstr>
      <vt:lpstr>The Processor Pipeline with the TLBs</vt:lpstr>
      <vt:lpstr>Let’s Dig Deep into TLBs</vt:lpstr>
      <vt:lpstr>PowerPoint Presentation</vt:lpstr>
      <vt:lpstr>TLB &amp; Workload Access Patterns</vt:lpstr>
      <vt:lpstr>PowerPoint Presentation</vt:lpstr>
      <vt:lpstr>TLB Performance</vt:lpstr>
      <vt:lpstr>TLBs and Context Switches</vt:lpstr>
      <vt:lpstr>TLB Performance</vt:lpstr>
      <vt:lpstr>A bit Deeper</vt:lpstr>
      <vt:lpstr>Memory Hierarchy with the TLBs</vt:lpstr>
      <vt:lpstr>Caches: Virtual or Physical</vt:lpstr>
      <vt:lpstr>Synonym Problem</vt:lpstr>
      <vt:lpstr>Homonym Problem</vt:lpstr>
      <vt:lpstr>VIPT Caches</vt:lpstr>
      <vt:lpstr> </vt:lpstr>
      <vt:lpstr>Virtual-Index Physical-Tag Caches: Associative Organization</vt:lpstr>
      <vt:lpstr>Concurrent Access to TLB &amp; Large L1 The problem with L1 &gt; Page size</vt:lpstr>
      <vt:lpstr>What if? Think about PIPT, VIPT, PIVT, and VIVT</vt:lpstr>
      <vt:lpstr>Golmaal Hai: Any reasons for small L1 cache?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Biswabandan</dc:creator>
  <cp:lastModifiedBy>Biswabandan</cp:lastModifiedBy>
  <cp:revision>1002</cp:revision>
  <dcterms:created xsi:type="dcterms:W3CDTF">2021-05-31T06:57:48Z</dcterms:created>
  <dcterms:modified xsi:type="dcterms:W3CDTF">2025-09-08T13:17:41Z</dcterms:modified>
</cp:coreProperties>
</file>