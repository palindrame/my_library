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7"/>
  </p:notesMasterIdLst>
  <p:sldIdLst>
    <p:sldId id="256" r:id="rId2"/>
    <p:sldId id="7713" r:id="rId3"/>
    <p:sldId id="7728" r:id="rId4"/>
    <p:sldId id="7756" r:id="rId5"/>
    <p:sldId id="7726" r:id="rId6"/>
    <p:sldId id="7727" r:id="rId7"/>
    <p:sldId id="7729" r:id="rId8"/>
    <p:sldId id="7907" r:id="rId9"/>
    <p:sldId id="7944" r:id="rId10"/>
    <p:sldId id="7730" r:id="rId11"/>
    <p:sldId id="7731" r:id="rId12"/>
    <p:sldId id="7733" r:id="rId13"/>
    <p:sldId id="7734" r:id="rId14"/>
    <p:sldId id="7900" r:id="rId15"/>
    <p:sldId id="790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045" autoAdjust="0"/>
    <p:restoredTop sz="94660"/>
  </p:normalViewPr>
  <p:slideViewPr>
    <p:cSldViewPr snapToGrid="0">
      <p:cViewPr varScale="1">
        <p:scale>
          <a:sx n="59" d="100"/>
          <a:sy n="59" d="100"/>
        </p:scale>
        <p:origin x="1075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300273-A75A-40C8-A1BF-43497AA16139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9DD372-930E-48E8-B3B2-DE0E135E26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1707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cse.iitb.ac.in/~biswa/" TargetMode="Externa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864CB-0AC2-496D-B597-B1F243F5BF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23777" y="1122363"/>
            <a:ext cx="10203767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CS683: </a:t>
            </a:r>
            <a:r>
              <a:rPr lang="en-US" dirty="0" err="1"/>
              <a:t>Advancded</a:t>
            </a:r>
            <a:r>
              <a:rPr lang="en-US" dirty="0"/>
              <a:t> Computer Architecture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E45455-008C-4FEE-A9C6-8894363DCE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190CD-44DD-4170-8E27-65C897B7F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fld id="{B8651ABE-1138-46C6-9A43-7FCD4EB2550C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C8CE0C-3100-4BD4-A909-E56C192401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167446" y="71035"/>
            <a:ext cx="2841820" cy="865176"/>
          </a:xfrm>
          <a:prstGeom prst="rect">
            <a:avLst/>
          </a:prstGeom>
        </p:spPr>
      </p:pic>
      <p:pic>
        <p:nvPicPr>
          <p:cNvPr id="1026" name="Picture 2" descr="IIT Bombay | IIT Bombay">
            <a:extLst>
              <a:ext uri="{FF2B5EF4-FFF2-40B4-BE49-F238E27FC236}">
                <a16:creationId xmlns:a16="http://schemas.microsoft.com/office/drawing/2014/main" id="{17C6F939-4954-4EA5-BA91-2B9038A795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82" y="26560"/>
            <a:ext cx="1130218" cy="1101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D6242A2-99C7-43EF-9FF6-5F0AFFFDA1DF}"/>
              </a:ext>
            </a:extLst>
          </p:cNvPr>
          <p:cNvSpPr txBox="1"/>
          <p:nvPr userDrawn="1"/>
        </p:nvSpPr>
        <p:spPr>
          <a:xfrm>
            <a:off x="0" y="6354386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i="1" dirty="0">
                <a:hlinkClick r:id="rId4"/>
              </a:rPr>
              <a:t>https://www.cse.iitb.ac.in/~biswa/</a:t>
            </a:r>
            <a:endParaRPr lang="en-IN" sz="2800" i="1" dirty="0"/>
          </a:p>
          <a:p>
            <a:endParaRPr lang="en-IN" sz="2800" i="1" dirty="0"/>
          </a:p>
        </p:txBody>
      </p:sp>
    </p:spTree>
    <p:extLst>
      <p:ext uri="{BB962C8B-B14F-4D97-AF65-F5344CB8AC3E}">
        <p14:creationId xmlns:p14="http://schemas.microsoft.com/office/powerpoint/2010/main" val="167928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97915-0F56-4288-8471-3449AA530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DA509-FC2C-413C-8D9B-6E84963ADB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6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542D7E-424B-47EC-A6D1-6B6B17845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IN" dirty="0"/>
              <a:t>Advanced Computer Architecture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2FB26-2A3A-4BC7-9A52-336ED922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fld id="{B8651ABE-1138-46C6-9A43-7FCD4EB2550C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5432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D39DFA-22D9-4774-B6B2-CF85A485D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2A882D-3562-4909-BF1E-D5DED97666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BA480-B9BD-4D87-8604-BB9D03C403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26BC3-8D20-4FAA-A821-14CAB47B07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Computer Architecture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6480A1-8C5A-4D78-A697-18D4DCC3C2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651ABE-1138-46C6-9A43-7FCD4EB255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062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9D94-0FEA-4DBE-86DF-3FB8852D3B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CS683: Advanced </a:t>
            </a:r>
            <a:r>
              <a:rPr lang="en-US"/>
              <a:t>Computer Architecture-2025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3676AF-9222-4BBF-BBA7-BED9C767C7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603544" cy="1655762"/>
          </a:xfrm>
        </p:spPr>
        <p:txBody>
          <a:bodyPr>
            <a:normAutofit lnSpcReduction="10000"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L6: Time to Shift the Gears </a:t>
            </a:r>
          </a:p>
          <a:p>
            <a:r>
              <a:rPr lang="en-US" sz="3600" dirty="0">
                <a:solidFill>
                  <a:srgbClr val="C00000"/>
                </a:solidFill>
              </a:rPr>
              <a:t>(Cache Management Techniques) </a:t>
            </a:r>
            <a:r>
              <a:rPr lang="en-US" sz="3600" dirty="0">
                <a:solidFill>
                  <a:srgbClr val="C00000"/>
                </a:solidFill>
                <a:sym typeface="Wingdings" panose="05000000000000000000" pitchFamily="2" charset="2"/>
              </a:rPr>
              <a:t> </a:t>
            </a:r>
            <a:endParaRPr lang="en-US" sz="3600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rgbClr val="C00000"/>
                </a:solidFill>
              </a:rPr>
              <a:t>https://www.cse.iitb.ac.in/~biswa/courses.html</a:t>
            </a:r>
          </a:p>
          <a:p>
            <a:endParaRPr lang="en-IN" sz="3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0788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Mobile device with apps">
            <a:extLst>
              <a:ext uri="{FF2B5EF4-FFF2-40B4-BE49-F238E27FC236}">
                <a16:creationId xmlns:a16="http://schemas.microsoft.com/office/drawing/2014/main" id="{499258FC-0B4F-B55F-8BE7-27FDBBECB2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866" t="9091" r="7497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91FD530-68E2-E9B7-6F08-048EC5C58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0" y="1122363"/>
            <a:ext cx="6654339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Phones (smart/non-smart) on silence plz, Thanks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EC138F-E156-6AB7-33C7-AD41381E8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92321" y="6356350"/>
            <a:ext cx="280901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600"/>
              </a:spcAft>
              <a:defRPr/>
            </a:pPr>
            <a:r>
              <a:rPr lang="en-US" sz="1200" kern="120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/>
                <a:ea typeface="+mn-ea"/>
                <a:cs typeface="+mn-cs"/>
              </a:rPr>
              <a:t>Advanced Computer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ACAD9A-A941-12C0-CA7F-8C702A971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70819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8651ABE-1138-46C6-9A43-7FCD4EB2550C}" type="slidenum">
              <a:rPr lang="en-US" sz="1200">
                <a:solidFill>
                  <a:schemeClr val="bg1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2</a:t>
            </a:fld>
            <a:endParaRPr lang="en-US" sz="1200">
              <a:solidFill>
                <a:schemeClr val="bg1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919857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3137F-750C-35F3-80FC-149DF407F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applications and cache behaviors 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9DD883-BA11-D307-C286-870A4897D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9E221F-24A7-602B-2609-0C291B638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3</a:t>
            </a:fld>
            <a:endParaRPr lang="en-IN" dirty="0"/>
          </a:p>
        </p:txBody>
      </p:sp>
      <p:pic>
        <p:nvPicPr>
          <p:cNvPr id="6" name="object 3">
            <a:extLst>
              <a:ext uri="{FF2B5EF4-FFF2-40B4-BE49-F238E27FC236}">
                <a16:creationId xmlns:a16="http://schemas.microsoft.com/office/drawing/2014/main" id="{03AFE430-087A-8D8C-71BC-192108AA7AE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371600"/>
            <a:ext cx="121920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868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Graph on document with pen">
            <a:extLst>
              <a:ext uri="{FF2B5EF4-FFF2-40B4-BE49-F238E27FC236}">
                <a16:creationId xmlns:a16="http://schemas.microsoft.com/office/drawing/2014/main" id="{BD83B350-44A8-3239-E15F-C260113E4DC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t="1510" b="14220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CC78D9A-2C96-0CAE-E879-A37CF4AE3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dirty="0">
                <a:solidFill>
                  <a:srgbClr val="FFFFFF"/>
                </a:solidFill>
              </a:rPr>
              <a:t>Reducing Miss rate (MPKI)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51B8B1-78F7-9F44-7E3B-FD4DE5922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sz="1200" kern="120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rPr>
              <a:t>Advanced Computer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E5C4F1-7EBE-C38E-0EE6-019392507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8651ABE-1138-46C6-9A43-7FCD4EB2550C}" type="slidenum">
              <a:rPr lang="en-US" sz="1200">
                <a:solidFill>
                  <a:srgbClr val="FFFFFF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4</a:t>
            </a:fld>
            <a:endParaRPr lang="en-US" sz="1200">
              <a:solidFill>
                <a:srgbClr val="FFFFFF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672409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EBAF7-B981-3A84-93C7-883686FA0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Cache Content Management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759772-B1FF-88E6-FB9F-73FA2E603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CCA843-09A1-D912-8DF8-E9BE788CC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5</a:t>
            </a:fld>
            <a:endParaRPr lang="en-IN" dirty="0"/>
          </a:p>
        </p:txBody>
      </p:sp>
      <p:grpSp>
        <p:nvGrpSpPr>
          <p:cNvPr id="6" name="object 2">
            <a:extLst>
              <a:ext uri="{FF2B5EF4-FFF2-40B4-BE49-F238E27FC236}">
                <a16:creationId xmlns:a16="http://schemas.microsoft.com/office/drawing/2014/main" id="{C6120722-D4A0-8BBD-EA31-1D6B93C14621}"/>
              </a:ext>
            </a:extLst>
          </p:cNvPr>
          <p:cNvGrpSpPr/>
          <p:nvPr/>
        </p:nvGrpSpPr>
        <p:grpSpPr>
          <a:xfrm>
            <a:off x="1257301" y="2220100"/>
            <a:ext cx="8153400" cy="1066800"/>
            <a:chOff x="1257301" y="1813572"/>
            <a:chExt cx="8153400" cy="1066800"/>
          </a:xfrm>
        </p:grpSpPr>
        <p:pic>
          <p:nvPicPr>
            <p:cNvPr id="7" name="object 3">
              <a:extLst>
                <a:ext uri="{FF2B5EF4-FFF2-40B4-BE49-F238E27FC236}">
                  <a16:creationId xmlns:a16="http://schemas.microsoft.com/office/drawing/2014/main" id="{09B808F8-CAA4-1964-F7E9-A39C6B9DA5C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7301" y="1813572"/>
              <a:ext cx="8153396" cy="1066774"/>
            </a:xfrm>
            <a:prstGeom prst="rect">
              <a:avLst/>
            </a:prstGeom>
          </p:spPr>
        </p:pic>
        <p:sp>
          <p:nvSpPr>
            <p:cNvPr id="8" name="object 4">
              <a:extLst>
                <a:ext uri="{FF2B5EF4-FFF2-40B4-BE49-F238E27FC236}">
                  <a16:creationId xmlns:a16="http://schemas.microsoft.com/office/drawing/2014/main" id="{05E610CB-3ED7-4B02-EA1F-B82ED62301ED}"/>
                </a:ext>
              </a:extLst>
            </p:cNvPr>
            <p:cNvSpPr/>
            <p:nvPr/>
          </p:nvSpPr>
          <p:spPr>
            <a:xfrm>
              <a:off x="1295400" y="1828799"/>
              <a:ext cx="8077200" cy="990600"/>
            </a:xfrm>
            <a:custGeom>
              <a:avLst/>
              <a:gdLst/>
              <a:ahLst/>
              <a:cxnLst/>
              <a:rect l="l" t="t" r="r" b="b"/>
              <a:pathLst>
                <a:path w="8077200" h="990600">
                  <a:moveTo>
                    <a:pt x="7912100" y="0"/>
                  </a:moveTo>
                  <a:lnTo>
                    <a:pt x="165100" y="0"/>
                  </a:lnTo>
                  <a:lnTo>
                    <a:pt x="121208" y="5897"/>
                  </a:lnTo>
                  <a:lnTo>
                    <a:pt x="81769" y="22540"/>
                  </a:lnTo>
                  <a:lnTo>
                    <a:pt x="48355" y="48355"/>
                  </a:lnTo>
                  <a:lnTo>
                    <a:pt x="22540" y="81769"/>
                  </a:lnTo>
                  <a:lnTo>
                    <a:pt x="5897" y="121208"/>
                  </a:lnTo>
                  <a:lnTo>
                    <a:pt x="0" y="165100"/>
                  </a:lnTo>
                  <a:lnTo>
                    <a:pt x="0" y="825500"/>
                  </a:lnTo>
                  <a:lnTo>
                    <a:pt x="5897" y="869391"/>
                  </a:lnTo>
                  <a:lnTo>
                    <a:pt x="22540" y="908830"/>
                  </a:lnTo>
                  <a:lnTo>
                    <a:pt x="48355" y="942244"/>
                  </a:lnTo>
                  <a:lnTo>
                    <a:pt x="81769" y="968059"/>
                  </a:lnTo>
                  <a:lnTo>
                    <a:pt x="121208" y="984702"/>
                  </a:lnTo>
                  <a:lnTo>
                    <a:pt x="165100" y="990600"/>
                  </a:lnTo>
                  <a:lnTo>
                    <a:pt x="7912100" y="990600"/>
                  </a:lnTo>
                  <a:lnTo>
                    <a:pt x="7955991" y="984702"/>
                  </a:lnTo>
                  <a:lnTo>
                    <a:pt x="7995430" y="968059"/>
                  </a:lnTo>
                  <a:lnTo>
                    <a:pt x="8028844" y="942244"/>
                  </a:lnTo>
                  <a:lnTo>
                    <a:pt x="8054659" y="908830"/>
                  </a:lnTo>
                  <a:lnTo>
                    <a:pt x="8071302" y="869391"/>
                  </a:lnTo>
                  <a:lnTo>
                    <a:pt x="8077200" y="825500"/>
                  </a:lnTo>
                  <a:lnTo>
                    <a:pt x="8077200" y="165100"/>
                  </a:lnTo>
                  <a:lnTo>
                    <a:pt x="8071302" y="121208"/>
                  </a:lnTo>
                  <a:lnTo>
                    <a:pt x="8054659" y="81769"/>
                  </a:lnTo>
                  <a:lnTo>
                    <a:pt x="8028844" y="48355"/>
                  </a:lnTo>
                  <a:lnTo>
                    <a:pt x="7995430" y="22540"/>
                  </a:lnTo>
                  <a:lnTo>
                    <a:pt x="7955991" y="5897"/>
                  </a:lnTo>
                  <a:lnTo>
                    <a:pt x="79121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5">
              <a:extLst>
                <a:ext uri="{FF2B5EF4-FFF2-40B4-BE49-F238E27FC236}">
                  <a16:creationId xmlns:a16="http://schemas.microsoft.com/office/drawing/2014/main" id="{8ACCA8EB-FC09-9F29-44A4-634C92CAABFE}"/>
                </a:ext>
              </a:extLst>
            </p:cNvPr>
            <p:cNvSpPr/>
            <p:nvPr/>
          </p:nvSpPr>
          <p:spPr>
            <a:xfrm>
              <a:off x="1295400" y="1828799"/>
              <a:ext cx="8077200" cy="990600"/>
            </a:xfrm>
            <a:custGeom>
              <a:avLst/>
              <a:gdLst/>
              <a:ahLst/>
              <a:cxnLst/>
              <a:rect l="l" t="t" r="r" b="b"/>
              <a:pathLst>
                <a:path w="8077200" h="990600">
                  <a:moveTo>
                    <a:pt x="0" y="165100"/>
                  </a:moveTo>
                  <a:lnTo>
                    <a:pt x="5897" y="121208"/>
                  </a:lnTo>
                  <a:lnTo>
                    <a:pt x="22540" y="81769"/>
                  </a:lnTo>
                  <a:lnTo>
                    <a:pt x="48355" y="48355"/>
                  </a:lnTo>
                  <a:lnTo>
                    <a:pt x="81769" y="22540"/>
                  </a:lnTo>
                  <a:lnTo>
                    <a:pt x="121208" y="5897"/>
                  </a:lnTo>
                  <a:lnTo>
                    <a:pt x="165100" y="0"/>
                  </a:lnTo>
                  <a:lnTo>
                    <a:pt x="7912100" y="0"/>
                  </a:lnTo>
                  <a:lnTo>
                    <a:pt x="7955991" y="5897"/>
                  </a:lnTo>
                  <a:lnTo>
                    <a:pt x="7995430" y="22540"/>
                  </a:lnTo>
                  <a:lnTo>
                    <a:pt x="8028844" y="48355"/>
                  </a:lnTo>
                  <a:lnTo>
                    <a:pt x="8054659" y="81769"/>
                  </a:lnTo>
                  <a:lnTo>
                    <a:pt x="8071302" y="121208"/>
                  </a:lnTo>
                  <a:lnTo>
                    <a:pt x="8077200" y="165100"/>
                  </a:lnTo>
                  <a:lnTo>
                    <a:pt x="8077200" y="825500"/>
                  </a:lnTo>
                  <a:lnTo>
                    <a:pt x="8071302" y="869391"/>
                  </a:lnTo>
                  <a:lnTo>
                    <a:pt x="8054659" y="908830"/>
                  </a:lnTo>
                  <a:lnTo>
                    <a:pt x="8028844" y="942244"/>
                  </a:lnTo>
                  <a:lnTo>
                    <a:pt x="7995430" y="968059"/>
                  </a:lnTo>
                  <a:lnTo>
                    <a:pt x="7955991" y="984702"/>
                  </a:lnTo>
                  <a:lnTo>
                    <a:pt x="7912100" y="990600"/>
                  </a:lnTo>
                  <a:lnTo>
                    <a:pt x="165100" y="990600"/>
                  </a:lnTo>
                  <a:lnTo>
                    <a:pt x="121208" y="984702"/>
                  </a:lnTo>
                  <a:lnTo>
                    <a:pt x="81769" y="968059"/>
                  </a:lnTo>
                  <a:lnTo>
                    <a:pt x="48355" y="942244"/>
                  </a:lnTo>
                  <a:lnTo>
                    <a:pt x="22540" y="908830"/>
                  </a:lnTo>
                  <a:lnTo>
                    <a:pt x="5897" y="869391"/>
                  </a:lnTo>
                  <a:lnTo>
                    <a:pt x="0" y="825500"/>
                  </a:lnTo>
                  <a:lnTo>
                    <a:pt x="0" y="1651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8">
            <a:extLst>
              <a:ext uri="{FF2B5EF4-FFF2-40B4-BE49-F238E27FC236}">
                <a16:creationId xmlns:a16="http://schemas.microsoft.com/office/drawing/2014/main" id="{1C534A84-DF08-E6E6-3B0C-E0C836685AD6}"/>
              </a:ext>
            </a:extLst>
          </p:cNvPr>
          <p:cNvGrpSpPr/>
          <p:nvPr/>
        </p:nvGrpSpPr>
        <p:grpSpPr>
          <a:xfrm>
            <a:off x="265175" y="1278255"/>
            <a:ext cx="11440795" cy="1216660"/>
            <a:chOff x="265175" y="871727"/>
            <a:chExt cx="11440795" cy="1216660"/>
          </a:xfrm>
        </p:grpSpPr>
        <p:pic>
          <p:nvPicPr>
            <p:cNvPr id="11" name="object 19">
              <a:extLst>
                <a:ext uri="{FF2B5EF4-FFF2-40B4-BE49-F238E27FC236}">
                  <a16:creationId xmlns:a16="http://schemas.microsoft.com/office/drawing/2014/main" id="{888D3645-55F0-0664-E20C-2B02638203B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3755" y="966215"/>
              <a:ext cx="11372088" cy="925067"/>
            </a:xfrm>
            <a:prstGeom prst="rect">
              <a:avLst/>
            </a:prstGeom>
          </p:spPr>
        </p:pic>
        <p:pic>
          <p:nvPicPr>
            <p:cNvPr id="12" name="object 20">
              <a:extLst>
                <a:ext uri="{FF2B5EF4-FFF2-40B4-BE49-F238E27FC236}">
                  <a16:creationId xmlns:a16="http://schemas.microsoft.com/office/drawing/2014/main" id="{985E084B-F103-CE01-5F5B-BFAA84E65A0B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5175" y="871727"/>
              <a:ext cx="10238232" cy="1216152"/>
            </a:xfrm>
            <a:prstGeom prst="rect">
              <a:avLst/>
            </a:prstGeom>
          </p:spPr>
        </p:pic>
        <p:sp>
          <p:nvSpPr>
            <p:cNvPr id="13" name="object 21">
              <a:extLst>
                <a:ext uri="{FF2B5EF4-FFF2-40B4-BE49-F238E27FC236}">
                  <a16:creationId xmlns:a16="http://schemas.microsoft.com/office/drawing/2014/main" id="{980F5961-9272-E242-2EAB-34624772D18A}"/>
                </a:ext>
              </a:extLst>
            </p:cNvPr>
            <p:cNvSpPr/>
            <p:nvPr/>
          </p:nvSpPr>
          <p:spPr>
            <a:xfrm>
              <a:off x="380999" y="990599"/>
              <a:ext cx="11277600" cy="830580"/>
            </a:xfrm>
            <a:custGeom>
              <a:avLst/>
              <a:gdLst/>
              <a:ahLst/>
              <a:cxnLst/>
              <a:rect l="l" t="t" r="r" b="b"/>
              <a:pathLst>
                <a:path w="11277600" h="830580">
                  <a:moveTo>
                    <a:pt x="11139170" y="0"/>
                  </a:moveTo>
                  <a:lnTo>
                    <a:pt x="138379" y="0"/>
                  </a:lnTo>
                  <a:lnTo>
                    <a:pt x="94639" y="7057"/>
                  </a:lnTo>
                  <a:lnTo>
                    <a:pt x="56652" y="26708"/>
                  </a:lnTo>
                  <a:lnTo>
                    <a:pt x="26698" y="56674"/>
                  </a:lnTo>
                  <a:lnTo>
                    <a:pt x="7054" y="94674"/>
                  </a:lnTo>
                  <a:lnTo>
                    <a:pt x="0" y="138429"/>
                  </a:lnTo>
                  <a:lnTo>
                    <a:pt x="0" y="691896"/>
                  </a:lnTo>
                  <a:lnTo>
                    <a:pt x="7054" y="735637"/>
                  </a:lnTo>
                  <a:lnTo>
                    <a:pt x="26698" y="773606"/>
                  </a:lnTo>
                  <a:lnTo>
                    <a:pt x="56652" y="803535"/>
                  </a:lnTo>
                  <a:lnTo>
                    <a:pt x="94639" y="823155"/>
                  </a:lnTo>
                  <a:lnTo>
                    <a:pt x="138379" y="830199"/>
                  </a:lnTo>
                  <a:lnTo>
                    <a:pt x="11139170" y="830199"/>
                  </a:lnTo>
                  <a:lnTo>
                    <a:pt x="11182925" y="823155"/>
                  </a:lnTo>
                  <a:lnTo>
                    <a:pt x="11220925" y="803535"/>
                  </a:lnTo>
                  <a:lnTo>
                    <a:pt x="11250891" y="773606"/>
                  </a:lnTo>
                  <a:lnTo>
                    <a:pt x="11270542" y="735637"/>
                  </a:lnTo>
                  <a:lnTo>
                    <a:pt x="11277600" y="691896"/>
                  </a:lnTo>
                  <a:lnTo>
                    <a:pt x="11277600" y="138429"/>
                  </a:lnTo>
                  <a:lnTo>
                    <a:pt x="11270542" y="94674"/>
                  </a:lnTo>
                  <a:lnTo>
                    <a:pt x="11250891" y="56674"/>
                  </a:lnTo>
                  <a:lnTo>
                    <a:pt x="11220925" y="26708"/>
                  </a:lnTo>
                  <a:lnTo>
                    <a:pt x="11182925" y="7057"/>
                  </a:lnTo>
                  <a:lnTo>
                    <a:pt x="1113917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22">
              <a:extLst>
                <a:ext uri="{FF2B5EF4-FFF2-40B4-BE49-F238E27FC236}">
                  <a16:creationId xmlns:a16="http://schemas.microsoft.com/office/drawing/2014/main" id="{D4C616CF-A9D4-F34B-EE6D-8C816718E22A}"/>
                </a:ext>
              </a:extLst>
            </p:cNvPr>
            <p:cNvSpPr/>
            <p:nvPr/>
          </p:nvSpPr>
          <p:spPr>
            <a:xfrm>
              <a:off x="380999" y="990599"/>
              <a:ext cx="11277600" cy="830580"/>
            </a:xfrm>
            <a:custGeom>
              <a:avLst/>
              <a:gdLst/>
              <a:ahLst/>
              <a:cxnLst/>
              <a:rect l="l" t="t" r="r" b="b"/>
              <a:pathLst>
                <a:path w="11277600" h="830580">
                  <a:moveTo>
                    <a:pt x="0" y="138429"/>
                  </a:moveTo>
                  <a:lnTo>
                    <a:pt x="7054" y="94674"/>
                  </a:lnTo>
                  <a:lnTo>
                    <a:pt x="26698" y="56674"/>
                  </a:lnTo>
                  <a:lnTo>
                    <a:pt x="56652" y="26708"/>
                  </a:lnTo>
                  <a:lnTo>
                    <a:pt x="94639" y="7057"/>
                  </a:lnTo>
                  <a:lnTo>
                    <a:pt x="138379" y="0"/>
                  </a:lnTo>
                  <a:lnTo>
                    <a:pt x="11139170" y="0"/>
                  </a:lnTo>
                  <a:lnTo>
                    <a:pt x="11182925" y="7057"/>
                  </a:lnTo>
                  <a:lnTo>
                    <a:pt x="11220925" y="26708"/>
                  </a:lnTo>
                  <a:lnTo>
                    <a:pt x="11250891" y="56674"/>
                  </a:lnTo>
                  <a:lnTo>
                    <a:pt x="11270542" y="94674"/>
                  </a:lnTo>
                  <a:lnTo>
                    <a:pt x="11277600" y="138429"/>
                  </a:lnTo>
                  <a:lnTo>
                    <a:pt x="11277600" y="691896"/>
                  </a:lnTo>
                  <a:lnTo>
                    <a:pt x="11270542" y="735637"/>
                  </a:lnTo>
                  <a:lnTo>
                    <a:pt x="11250891" y="773606"/>
                  </a:lnTo>
                  <a:lnTo>
                    <a:pt x="11220925" y="803535"/>
                  </a:lnTo>
                  <a:lnTo>
                    <a:pt x="11182925" y="823155"/>
                  </a:lnTo>
                  <a:lnTo>
                    <a:pt x="11139170" y="830199"/>
                  </a:lnTo>
                  <a:lnTo>
                    <a:pt x="138379" y="830199"/>
                  </a:lnTo>
                  <a:lnTo>
                    <a:pt x="94639" y="823155"/>
                  </a:lnTo>
                  <a:lnTo>
                    <a:pt x="56652" y="803535"/>
                  </a:lnTo>
                  <a:lnTo>
                    <a:pt x="26698" y="773606"/>
                  </a:lnTo>
                  <a:lnTo>
                    <a:pt x="7054" y="735637"/>
                  </a:lnTo>
                  <a:lnTo>
                    <a:pt x="0" y="691896"/>
                  </a:lnTo>
                  <a:lnTo>
                    <a:pt x="0" y="138429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23">
            <a:extLst>
              <a:ext uri="{FF2B5EF4-FFF2-40B4-BE49-F238E27FC236}">
                <a16:creationId xmlns:a16="http://schemas.microsoft.com/office/drawing/2014/main" id="{016ECD2A-F4FA-67F5-E63E-23D88C23F9E1}"/>
              </a:ext>
            </a:extLst>
          </p:cNvPr>
          <p:cNvGrpSpPr/>
          <p:nvPr/>
        </p:nvGrpSpPr>
        <p:grpSpPr>
          <a:xfrm>
            <a:off x="265175" y="3294523"/>
            <a:ext cx="11431905" cy="1906905"/>
            <a:chOff x="265175" y="2887995"/>
            <a:chExt cx="11431905" cy="1906905"/>
          </a:xfrm>
        </p:grpSpPr>
        <p:pic>
          <p:nvPicPr>
            <p:cNvPr id="16" name="object 24">
              <a:extLst>
                <a:ext uri="{FF2B5EF4-FFF2-40B4-BE49-F238E27FC236}">
                  <a16:creationId xmlns:a16="http://schemas.microsoft.com/office/drawing/2014/main" id="{FB91E242-E175-54F7-2C26-AFD092D261FE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2901" y="2887995"/>
              <a:ext cx="11353797" cy="906749"/>
            </a:xfrm>
            <a:prstGeom prst="rect">
              <a:avLst/>
            </a:prstGeom>
          </p:spPr>
        </p:pic>
        <p:pic>
          <p:nvPicPr>
            <p:cNvPr id="17" name="object 25">
              <a:extLst>
                <a:ext uri="{FF2B5EF4-FFF2-40B4-BE49-F238E27FC236}">
                  <a16:creationId xmlns:a16="http://schemas.microsoft.com/office/drawing/2014/main" id="{25B5DC56-6A41-6F19-1620-A31423C6228D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5175" y="2991611"/>
              <a:ext cx="9037320" cy="804671"/>
            </a:xfrm>
            <a:prstGeom prst="rect">
              <a:avLst/>
            </a:prstGeom>
          </p:spPr>
        </p:pic>
        <p:sp>
          <p:nvSpPr>
            <p:cNvPr id="18" name="object 26">
              <a:extLst>
                <a:ext uri="{FF2B5EF4-FFF2-40B4-BE49-F238E27FC236}">
                  <a16:creationId xmlns:a16="http://schemas.microsoft.com/office/drawing/2014/main" id="{DA043F5F-CFE6-70D5-E2E6-978F1D21E5F0}"/>
                </a:ext>
              </a:extLst>
            </p:cNvPr>
            <p:cNvSpPr/>
            <p:nvPr/>
          </p:nvSpPr>
          <p:spPr>
            <a:xfrm>
              <a:off x="380999" y="2903600"/>
              <a:ext cx="11277600" cy="830580"/>
            </a:xfrm>
            <a:custGeom>
              <a:avLst/>
              <a:gdLst/>
              <a:ahLst/>
              <a:cxnLst/>
              <a:rect l="l" t="t" r="r" b="b"/>
              <a:pathLst>
                <a:path w="11277600" h="830579">
                  <a:moveTo>
                    <a:pt x="11139170" y="0"/>
                  </a:moveTo>
                  <a:lnTo>
                    <a:pt x="138379" y="0"/>
                  </a:lnTo>
                  <a:lnTo>
                    <a:pt x="94639" y="7043"/>
                  </a:lnTo>
                  <a:lnTo>
                    <a:pt x="56652" y="26663"/>
                  </a:lnTo>
                  <a:lnTo>
                    <a:pt x="26698" y="56592"/>
                  </a:lnTo>
                  <a:lnTo>
                    <a:pt x="7054" y="94561"/>
                  </a:lnTo>
                  <a:lnTo>
                    <a:pt x="0" y="138302"/>
                  </a:lnTo>
                  <a:lnTo>
                    <a:pt x="0" y="691769"/>
                  </a:lnTo>
                  <a:lnTo>
                    <a:pt x="7054" y="735524"/>
                  </a:lnTo>
                  <a:lnTo>
                    <a:pt x="26698" y="773524"/>
                  </a:lnTo>
                  <a:lnTo>
                    <a:pt x="56652" y="803490"/>
                  </a:lnTo>
                  <a:lnTo>
                    <a:pt x="94639" y="823141"/>
                  </a:lnTo>
                  <a:lnTo>
                    <a:pt x="138379" y="830199"/>
                  </a:lnTo>
                  <a:lnTo>
                    <a:pt x="11139170" y="830199"/>
                  </a:lnTo>
                  <a:lnTo>
                    <a:pt x="11182925" y="823141"/>
                  </a:lnTo>
                  <a:lnTo>
                    <a:pt x="11220925" y="803490"/>
                  </a:lnTo>
                  <a:lnTo>
                    <a:pt x="11250891" y="773524"/>
                  </a:lnTo>
                  <a:lnTo>
                    <a:pt x="11270542" y="735524"/>
                  </a:lnTo>
                  <a:lnTo>
                    <a:pt x="11277600" y="691769"/>
                  </a:lnTo>
                  <a:lnTo>
                    <a:pt x="11277600" y="138302"/>
                  </a:lnTo>
                  <a:lnTo>
                    <a:pt x="11270542" y="94561"/>
                  </a:lnTo>
                  <a:lnTo>
                    <a:pt x="11250891" y="56592"/>
                  </a:lnTo>
                  <a:lnTo>
                    <a:pt x="11220925" y="26663"/>
                  </a:lnTo>
                  <a:lnTo>
                    <a:pt x="11182925" y="7043"/>
                  </a:lnTo>
                  <a:lnTo>
                    <a:pt x="1113917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27">
              <a:extLst>
                <a:ext uri="{FF2B5EF4-FFF2-40B4-BE49-F238E27FC236}">
                  <a16:creationId xmlns:a16="http://schemas.microsoft.com/office/drawing/2014/main" id="{CBECAD76-4DF2-83BE-EC8B-130EB2E903D5}"/>
                </a:ext>
              </a:extLst>
            </p:cNvPr>
            <p:cNvSpPr/>
            <p:nvPr/>
          </p:nvSpPr>
          <p:spPr>
            <a:xfrm>
              <a:off x="380999" y="2903600"/>
              <a:ext cx="11277600" cy="830580"/>
            </a:xfrm>
            <a:custGeom>
              <a:avLst/>
              <a:gdLst/>
              <a:ahLst/>
              <a:cxnLst/>
              <a:rect l="l" t="t" r="r" b="b"/>
              <a:pathLst>
                <a:path w="11277600" h="830579">
                  <a:moveTo>
                    <a:pt x="0" y="138302"/>
                  </a:moveTo>
                  <a:lnTo>
                    <a:pt x="7054" y="94561"/>
                  </a:lnTo>
                  <a:lnTo>
                    <a:pt x="26698" y="56592"/>
                  </a:lnTo>
                  <a:lnTo>
                    <a:pt x="56652" y="26663"/>
                  </a:lnTo>
                  <a:lnTo>
                    <a:pt x="94639" y="7043"/>
                  </a:lnTo>
                  <a:lnTo>
                    <a:pt x="138379" y="0"/>
                  </a:lnTo>
                  <a:lnTo>
                    <a:pt x="11139170" y="0"/>
                  </a:lnTo>
                  <a:lnTo>
                    <a:pt x="11182925" y="7043"/>
                  </a:lnTo>
                  <a:lnTo>
                    <a:pt x="11220925" y="26663"/>
                  </a:lnTo>
                  <a:lnTo>
                    <a:pt x="11250891" y="56592"/>
                  </a:lnTo>
                  <a:lnTo>
                    <a:pt x="11270542" y="94561"/>
                  </a:lnTo>
                  <a:lnTo>
                    <a:pt x="11277600" y="138302"/>
                  </a:lnTo>
                  <a:lnTo>
                    <a:pt x="11277600" y="691769"/>
                  </a:lnTo>
                  <a:lnTo>
                    <a:pt x="11270542" y="735524"/>
                  </a:lnTo>
                  <a:lnTo>
                    <a:pt x="11250891" y="773524"/>
                  </a:lnTo>
                  <a:lnTo>
                    <a:pt x="11220925" y="803490"/>
                  </a:lnTo>
                  <a:lnTo>
                    <a:pt x="11182925" y="823141"/>
                  </a:lnTo>
                  <a:lnTo>
                    <a:pt x="11139170" y="830199"/>
                  </a:lnTo>
                  <a:lnTo>
                    <a:pt x="138379" y="830199"/>
                  </a:lnTo>
                  <a:lnTo>
                    <a:pt x="94639" y="823141"/>
                  </a:lnTo>
                  <a:lnTo>
                    <a:pt x="56652" y="803490"/>
                  </a:lnTo>
                  <a:lnTo>
                    <a:pt x="26698" y="773524"/>
                  </a:lnTo>
                  <a:lnTo>
                    <a:pt x="7054" y="735524"/>
                  </a:lnTo>
                  <a:lnTo>
                    <a:pt x="0" y="691769"/>
                  </a:lnTo>
                  <a:lnTo>
                    <a:pt x="0" y="138302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8">
              <a:extLst>
                <a:ext uri="{FF2B5EF4-FFF2-40B4-BE49-F238E27FC236}">
                  <a16:creationId xmlns:a16="http://schemas.microsoft.com/office/drawing/2014/main" id="{8893BFD4-ABCB-5184-E301-B1A2D5ABE029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48156" y="3709415"/>
              <a:ext cx="8171688" cy="1085088"/>
            </a:xfrm>
            <a:prstGeom prst="rect">
              <a:avLst/>
            </a:prstGeom>
          </p:spPr>
        </p:pic>
        <p:sp>
          <p:nvSpPr>
            <p:cNvPr id="21" name="object 29">
              <a:extLst>
                <a:ext uri="{FF2B5EF4-FFF2-40B4-BE49-F238E27FC236}">
                  <a16:creationId xmlns:a16="http://schemas.microsoft.com/office/drawing/2014/main" id="{48FDC895-1AF5-2EB6-FEB4-EA0B15D4BB50}"/>
                </a:ext>
              </a:extLst>
            </p:cNvPr>
            <p:cNvSpPr/>
            <p:nvPr/>
          </p:nvSpPr>
          <p:spPr>
            <a:xfrm>
              <a:off x="1295400" y="3733799"/>
              <a:ext cx="8077200" cy="990600"/>
            </a:xfrm>
            <a:custGeom>
              <a:avLst/>
              <a:gdLst/>
              <a:ahLst/>
              <a:cxnLst/>
              <a:rect l="l" t="t" r="r" b="b"/>
              <a:pathLst>
                <a:path w="8077200" h="990600">
                  <a:moveTo>
                    <a:pt x="7912100" y="0"/>
                  </a:moveTo>
                  <a:lnTo>
                    <a:pt x="165100" y="0"/>
                  </a:lnTo>
                  <a:lnTo>
                    <a:pt x="121208" y="5897"/>
                  </a:lnTo>
                  <a:lnTo>
                    <a:pt x="81769" y="22540"/>
                  </a:lnTo>
                  <a:lnTo>
                    <a:pt x="48355" y="48355"/>
                  </a:lnTo>
                  <a:lnTo>
                    <a:pt x="22540" y="81769"/>
                  </a:lnTo>
                  <a:lnTo>
                    <a:pt x="5897" y="121208"/>
                  </a:lnTo>
                  <a:lnTo>
                    <a:pt x="0" y="165100"/>
                  </a:lnTo>
                  <a:lnTo>
                    <a:pt x="0" y="825500"/>
                  </a:lnTo>
                  <a:lnTo>
                    <a:pt x="5897" y="869391"/>
                  </a:lnTo>
                  <a:lnTo>
                    <a:pt x="22540" y="908830"/>
                  </a:lnTo>
                  <a:lnTo>
                    <a:pt x="48355" y="942244"/>
                  </a:lnTo>
                  <a:lnTo>
                    <a:pt x="81769" y="968059"/>
                  </a:lnTo>
                  <a:lnTo>
                    <a:pt x="121208" y="984702"/>
                  </a:lnTo>
                  <a:lnTo>
                    <a:pt x="165100" y="990600"/>
                  </a:lnTo>
                  <a:lnTo>
                    <a:pt x="7912100" y="990600"/>
                  </a:lnTo>
                  <a:lnTo>
                    <a:pt x="7955991" y="984702"/>
                  </a:lnTo>
                  <a:lnTo>
                    <a:pt x="7995430" y="968059"/>
                  </a:lnTo>
                  <a:lnTo>
                    <a:pt x="8028844" y="942244"/>
                  </a:lnTo>
                  <a:lnTo>
                    <a:pt x="8054659" y="908830"/>
                  </a:lnTo>
                  <a:lnTo>
                    <a:pt x="8071302" y="869391"/>
                  </a:lnTo>
                  <a:lnTo>
                    <a:pt x="8077200" y="825500"/>
                  </a:lnTo>
                  <a:lnTo>
                    <a:pt x="8077200" y="165100"/>
                  </a:lnTo>
                  <a:lnTo>
                    <a:pt x="8071302" y="121208"/>
                  </a:lnTo>
                  <a:lnTo>
                    <a:pt x="8054659" y="81769"/>
                  </a:lnTo>
                  <a:lnTo>
                    <a:pt x="8028844" y="48355"/>
                  </a:lnTo>
                  <a:lnTo>
                    <a:pt x="7995430" y="22540"/>
                  </a:lnTo>
                  <a:lnTo>
                    <a:pt x="7955991" y="5897"/>
                  </a:lnTo>
                  <a:lnTo>
                    <a:pt x="79121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30">
              <a:extLst>
                <a:ext uri="{FF2B5EF4-FFF2-40B4-BE49-F238E27FC236}">
                  <a16:creationId xmlns:a16="http://schemas.microsoft.com/office/drawing/2014/main" id="{4EE450DA-0ECC-508B-1266-2BE9B2FA4029}"/>
                </a:ext>
              </a:extLst>
            </p:cNvPr>
            <p:cNvSpPr/>
            <p:nvPr/>
          </p:nvSpPr>
          <p:spPr>
            <a:xfrm>
              <a:off x="1295400" y="3733799"/>
              <a:ext cx="8077200" cy="990600"/>
            </a:xfrm>
            <a:custGeom>
              <a:avLst/>
              <a:gdLst/>
              <a:ahLst/>
              <a:cxnLst/>
              <a:rect l="l" t="t" r="r" b="b"/>
              <a:pathLst>
                <a:path w="8077200" h="990600">
                  <a:moveTo>
                    <a:pt x="0" y="165100"/>
                  </a:moveTo>
                  <a:lnTo>
                    <a:pt x="5897" y="121208"/>
                  </a:lnTo>
                  <a:lnTo>
                    <a:pt x="22540" y="81769"/>
                  </a:lnTo>
                  <a:lnTo>
                    <a:pt x="48355" y="48355"/>
                  </a:lnTo>
                  <a:lnTo>
                    <a:pt x="81769" y="22540"/>
                  </a:lnTo>
                  <a:lnTo>
                    <a:pt x="121208" y="5897"/>
                  </a:lnTo>
                  <a:lnTo>
                    <a:pt x="165100" y="0"/>
                  </a:lnTo>
                  <a:lnTo>
                    <a:pt x="7912100" y="0"/>
                  </a:lnTo>
                  <a:lnTo>
                    <a:pt x="7955991" y="5897"/>
                  </a:lnTo>
                  <a:lnTo>
                    <a:pt x="7995430" y="22540"/>
                  </a:lnTo>
                  <a:lnTo>
                    <a:pt x="8028844" y="48355"/>
                  </a:lnTo>
                  <a:lnTo>
                    <a:pt x="8054659" y="81769"/>
                  </a:lnTo>
                  <a:lnTo>
                    <a:pt x="8071302" y="121208"/>
                  </a:lnTo>
                  <a:lnTo>
                    <a:pt x="8077200" y="165100"/>
                  </a:lnTo>
                  <a:lnTo>
                    <a:pt x="8077200" y="825500"/>
                  </a:lnTo>
                  <a:lnTo>
                    <a:pt x="8071302" y="869391"/>
                  </a:lnTo>
                  <a:lnTo>
                    <a:pt x="8054659" y="908830"/>
                  </a:lnTo>
                  <a:lnTo>
                    <a:pt x="8028844" y="942244"/>
                  </a:lnTo>
                  <a:lnTo>
                    <a:pt x="7995430" y="968059"/>
                  </a:lnTo>
                  <a:lnTo>
                    <a:pt x="7955991" y="984702"/>
                  </a:lnTo>
                  <a:lnTo>
                    <a:pt x="7912100" y="990600"/>
                  </a:lnTo>
                  <a:lnTo>
                    <a:pt x="165100" y="990600"/>
                  </a:lnTo>
                  <a:lnTo>
                    <a:pt x="121208" y="984702"/>
                  </a:lnTo>
                  <a:lnTo>
                    <a:pt x="81769" y="968059"/>
                  </a:lnTo>
                  <a:lnTo>
                    <a:pt x="48355" y="942244"/>
                  </a:lnTo>
                  <a:lnTo>
                    <a:pt x="22540" y="908830"/>
                  </a:lnTo>
                  <a:lnTo>
                    <a:pt x="5897" y="869391"/>
                  </a:lnTo>
                  <a:lnTo>
                    <a:pt x="0" y="825500"/>
                  </a:lnTo>
                  <a:lnTo>
                    <a:pt x="0" y="1651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31">
            <a:extLst>
              <a:ext uri="{FF2B5EF4-FFF2-40B4-BE49-F238E27FC236}">
                <a16:creationId xmlns:a16="http://schemas.microsoft.com/office/drawing/2014/main" id="{16F3155F-0087-46E1-3B2A-FB69783ED77C}"/>
              </a:ext>
            </a:extLst>
          </p:cNvPr>
          <p:cNvSpPr txBox="1"/>
          <p:nvPr/>
        </p:nvSpPr>
        <p:spPr>
          <a:xfrm>
            <a:off x="500278" y="5170171"/>
            <a:ext cx="10328275" cy="1241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5" dirty="0">
                <a:latin typeface="Cambria"/>
                <a:cs typeface="Cambria"/>
              </a:rPr>
              <a:t>Cache</a:t>
            </a:r>
            <a:r>
              <a:rPr sz="2700" spc="15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Promotion</a:t>
            </a:r>
            <a:r>
              <a:rPr sz="2700" spc="10" dirty="0">
                <a:latin typeface="Cambria"/>
                <a:cs typeface="Cambria"/>
              </a:rPr>
              <a:t> </a:t>
            </a:r>
            <a:r>
              <a:rPr sz="2700" spc="-20" dirty="0">
                <a:latin typeface="Cambria"/>
                <a:cs typeface="Cambria"/>
              </a:rPr>
              <a:t>Policy:</a:t>
            </a:r>
            <a:r>
              <a:rPr sz="2700" spc="25" dirty="0">
                <a:latin typeface="Cambria"/>
                <a:cs typeface="Cambria"/>
              </a:rPr>
              <a:t> </a:t>
            </a:r>
            <a:r>
              <a:rPr sz="2700" spc="-5" dirty="0">
                <a:latin typeface="Cambria"/>
                <a:cs typeface="Cambria"/>
              </a:rPr>
              <a:t>On </a:t>
            </a:r>
            <a:r>
              <a:rPr sz="2700" dirty="0">
                <a:latin typeface="Cambria"/>
                <a:cs typeface="Cambria"/>
              </a:rPr>
              <a:t>a</a:t>
            </a:r>
            <a:r>
              <a:rPr sz="2700" spc="-5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future</a:t>
            </a:r>
            <a:r>
              <a:rPr sz="2700" spc="2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hit</a:t>
            </a:r>
            <a:r>
              <a:rPr sz="2700" spc="10" dirty="0">
                <a:latin typeface="Cambria"/>
                <a:cs typeface="Cambria"/>
              </a:rPr>
              <a:t> </a:t>
            </a:r>
            <a:r>
              <a:rPr sz="2700" spc="-5" dirty="0">
                <a:latin typeface="Cambria"/>
                <a:cs typeface="Cambria"/>
              </a:rPr>
              <a:t>(block</a:t>
            </a:r>
            <a:r>
              <a:rPr sz="2700" spc="35" dirty="0">
                <a:latin typeface="Cambria"/>
                <a:cs typeface="Cambria"/>
              </a:rPr>
              <a:t> </a:t>
            </a:r>
            <a:r>
              <a:rPr sz="2700" i="1" spc="-5" dirty="0">
                <a:latin typeface="Cambria"/>
                <a:cs typeface="Cambria"/>
              </a:rPr>
              <a:t>i</a:t>
            </a:r>
            <a:r>
              <a:rPr sz="2700" spc="-5" dirty="0">
                <a:latin typeface="Cambria"/>
                <a:cs typeface="Cambria"/>
              </a:rPr>
              <a:t>), </a:t>
            </a:r>
            <a:r>
              <a:rPr sz="2700" spc="-20" dirty="0">
                <a:latin typeface="Cambria"/>
                <a:cs typeface="Cambria"/>
              </a:rPr>
              <a:t>promote</a:t>
            </a:r>
            <a:r>
              <a:rPr sz="2700" spc="20" dirty="0">
                <a:latin typeface="Cambria"/>
                <a:cs typeface="Cambria"/>
              </a:rPr>
              <a:t> </a:t>
            </a:r>
            <a:r>
              <a:rPr sz="2700" spc="-20" dirty="0">
                <a:latin typeface="Cambria"/>
                <a:cs typeface="Cambria"/>
              </a:rPr>
              <a:t>to</a:t>
            </a:r>
            <a:r>
              <a:rPr sz="2700" spc="-5" dirty="0">
                <a:latin typeface="Cambria"/>
                <a:cs typeface="Cambria"/>
              </a:rPr>
              <a:t> </a:t>
            </a:r>
            <a:r>
              <a:rPr sz="2700" spc="-30" dirty="0">
                <a:latin typeface="Cambria"/>
                <a:cs typeface="Cambria"/>
              </a:rPr>
              <a:t>MRU</a:t>
            </a:r>
            <a:endParaRPr sz="27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600" dirty="0">
              <a:latin typeface="Cambria"/>
              <a:cs typeface="Cambria"/>
            </a:endParaRPr>
          </a:p>
          <a:p>
            <a:pPr marL="421005">
              <a:lnSpc>
                <a:spcPct val="100000"/>
              </a:lnSpc>
            </a:pPr>
            <a:r>
              <a:rPr sz="2700" spc="-30" dirty="0">
                <a:solidFill>
                  <a:srgbClr val="C00000"/>
                </a:solidFill>
                <a:latin typeface="Cambria"/>
                <a:cs typeface="Cambria"/>
              </a:rPr>
              <a:t>LRU</a:t>
            </a:r>
            <a:r>
              <a:rPr sz="2700" spc="-1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700" spc="-5" dirty="0">
                <a:solidFill>
                  <a:srgbClr val="C00000"/>
                </a:solidFill>
                <a:latin typeface="Cambria"/>
                <a:cs typeface="Cambria"/>
              </a:rPr>
              <a:t>causes</a:t>
            </a:r>
            <a:r>
              <a:rPr sz="2700" spc="2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700" spc="-15" dirty="0">
                <a:solidFill>
                  <a:srgbClr val="C00000"/>
                </a:solidFill>
                <a:latin typeface="Cambria"/>
                <a:cs typeface="Cambria"/>
              </a:rPr>
              <a:t>thrashing</a:t>
            </a:r>
            <a:r>
              <a:rPr sz="2700" spc="1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700" spc="-10" dirty="0">
                <a:solidFill>
                  <a:srgbClr val="C00000"/>
                </a:solidFill>
                <a:latin typeface="Cambria"/>
                <a:cs typeface="Cambria"/>
              </a:rPr>
              <a:t>when</a:t>
            </a:r>
            <a:r>
              <a:rPr sz="2700" spc="-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700" spc="-10" dirty="0">
                <a:solidFill>
                  <a:srgbClr val="C00000"/>
                </a:solidFill>
                <a:latin typeface="Cambria"/>
                <a:cs typeface="Cambria"/>
              </a:rPr>
              <a:t>working</a:t>
            </a:r>
            <a:r>
              <a:rPr sz="2700" spc="-2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700" spc="-5" dirty="0">
                <a:solidFill>
                  <a:srgbClr val="C00000"/>
                </a:solidFill>
                <a:latin typeface="Cambria"/>
                <a:cs typeface="Cambria"/>
              </a:rPr>
              <a:t>set</a:t>
            </a:r>
            <a:r>
              <a:rPr sz="2700" spc="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700" dirty="0">
                <a:solidFill>
                  <a:srgbClr val="C00000"/>
                </a:solidFill>
                <a:latin typeface="Cambria"/>
                <a:cs typeface="Cambria"/>
              </a:rPr>
              <a:t>&gt;</a:t>
            </a:r>
            <a:r>
              <a:rPr sz="2700" spc="-5" dirty="0">
                <a:solidFill>
                  <a:srgbClr val="C00000"/>
                </a:solidFill>
                <a:latin typeface="Cambria"/>
                <a:cs typeface="Cambria"/>
              </a:rPr>
              <a:t> cache</a:t>
            </a:r>
            <a:r>
              <a:rPr sz="2700" spc="2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700" dirty="0">
                <a:solidFill>
                  <a:srgbClr val="C00000"/>
                </a:solidFill>
                <a:latin typeface="Cambria"/>
                <a:cs typeface="Cambria"/>
              </a:rPr>
              <a:t>size</a:t>
            </a:r>
            <a:endParaRPr sz="2700" dirty="0">
              <a:latin typeface="Cambria"/>
              <a:cs typeface="Cambria"/>
            </a:endParaRPr>
          </a:p>
        </p:txBody>
      </p:sp>
      <p:sp>
        <p:nvSpPr>
          <p:cNvPr id="24" name="object 32">
            <a:extLst>
              <a:ext uri="{FF2B5EF4-FFF2-40B4-BE49-F238E27FC236}">
                <a16:creationId xmlns:a16="http://schemas.microsoft.com/office/drawing/2014/main" id="{8AFE2C7B-780F-6ECE-56F5-A81BA7ABA304}"/>
              </a:ext>
            </a:extLst>
          </p:cNvPr>
          <p:cNvSpPr txBox="1"/>
          <p:nvPr/>
        </p:nvSpPr>
        <p:spPr>
          <a:xfrm>
            <a:off x="2925826" y="2768728"/>
            <a:ext cx="533400" cy="381000"/>
          </a:xfrm>
          <a:prstGeom prst="rect">
            <a:avLst/>
          </a:prstGeom>
          <a:solidFill>
            <a:srgbClr val="92D050"/>
          </a:solidFill>
          <a:ln w="12700">
            <a:solidFill>
              <a:srgbClr val="000000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003300"/>
                </a:solidFill>
                <a:latin typeface="Cambria"/>
                <a:cs typeface="Cambria"/>
              </a:rPr>
              <a:t>a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25" name="object 33">
            <a:extLst>
              <a:ext uri="{FF2B5EF4-FFF2-40B4-BE49-F238E27FC236}">
                <a16:creationId xmlns:a16="http://schemas.microsoft.com/office/drawing/2014/main" id="{B335C7CD-8FCA-4312-FD57-5398395CFD8E}"/>
              </a:ext>
            </a:extLst>
          </p:cNvPr>
          <p:cNvSpPr txBox="1"/>
          <p:nvPr/>
        </p:nvSpPr>
        <p:spPr>
          <a:xfrm>
            <a:off x="3687826" y="2768728"/>
            <a:ext cx="533400" cy="381000"/>
          </a:xfrm>
          <a:prstGeom prst="rect">
            <a:avLst/>
          </a:prstGeom>
          <a:solidFill>
            <a:srgbClr val="92D050"/>
          </a:solidFill>
          <a:ln w="12700">
            <a:solidFill>
              <a:srgbClr val="000000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003300"/>
                </a:solidFill>
                <a:latin typeface="Cambria"/>
                <a:cs typeface="Cambria"/>
              </a:rPr>
              <a:t>b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26" name="object 34">
            <a:extLst>
              <a:ext uri="{FF2B5EF4-FFF2-40B4-BE49-F238E27FC236}">
                <a16:creationId xmlns:a16="http://schemas.microsoft.com/office/drawing/2014/main" id="{7BA4C57B-5B31-579A-1D5B-B30551E0CE90}"/>
              </a:ext>
            </a:extLst>
          </p:cNvPr>
          <p:cNvSpPr txBox="1"/>
          <p:nvPr/>
        </p:nvSpPr>
        <p:spPr>
          <a:xfrm>
            <a:off x="4449826" y="2768728"/>
            <a:ext cx="533400" cy="381000"/>
          </a:xfrm>
          <a:prstGeom prst="rect">
            <a:avLst/>
          </a:prstGeom>
          <a:solidFill>
            <a:srgbClr val="92D050"/>
          </a:solidFill>
          <a:ln w="12700">
            <a:solidFill>
              <a:srgbClr val="000000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003300"/>
                </a:solidFill>
                <a:latin typeface="Cambria"/>
                <a:cs typeface="Cambria"/>
              </a:rPr>
              <a:t>c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27" name="object 35">
            <a:extLst>
              <a:ext uri="{FF2B5EF4-FFF2-40B4-BE49-F238E27FC236}">
                <a16:creationId xmlns:a16="http://schemas.microsoft.com/office/drawing/2014/main" id="{44357DCC-2CB0-51D0-BF5A-C09358E7BD70}"/>
              </a:ext>
            </a:extLst>
          </p:cNvPr>
          <p:cNvSpPr txBox="1"/>
          <p:nvPr/>
        </p:nvSpPr>
        <p:spPr>
          <a:xfrm>
            <a:off x="5211826" y="2768728"/>
            <a:ext cx="533400" cy="381000"/>
          </a:xfrm>
          <a:prstGeom prst="rect">
            <a:avLst/>
          </a:prstGeom>
          <a:solidFill>
            <a:srgbClr val="92D050"/>
          </a:solidFill>
          <a:ln w="12700">
            <a:solidFill>
              <a:srgbClr val="000000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003300"/>
                </a:solidFill>
                <a:latin typeface="Cambria"/>
                <a:cs typeface="Cambria"/>
              </a:rPr>
              <a:t>d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28" name="object 36">
            <a:extLst>
              <a:ext uri="{FF2B5EF4-FFF2-40B4-BE49-F238E27FC236}">
                <a16:creationId xmlns:a16="http://schemas.microsoft.com/office/drawing/2014/main" id="{34B4622B-45C4-5FF0-9245-EECBF16DADC8}"/>
              </a:ext>
            </a:extLst>
          </p:cNvPr>
          <p:cNvSpPr txBox="1"/>
          <p:nvPr/>
        </p:nvSpPr>
        <p:spPr>
          <a:xfrm>
            <a:off x="5973826" y="2768728"/>
            <a:ext cx="533400" cy="381000"/>
          </a:xfrm>
          <a:prstGeom prst="rect">
            <a:avLst/>
          </a:prstGeom>
          <a:solidFill>
            <a:srgbClr val="92D050"/>
          </a:solidFill>
          <a:ln w="12700">
            <a:solidFill>
              <a:srgbClr val="000000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003300"/>
                </a:solidFill>
                <a:latin typeface="Cambria"/>
                <a:cs typeface="Cambria"/>
              </a:rPr>
              <a:t>e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29" name="object 37">
            <a:extLst>
              <a:ext uri="{FF2B5EF4-FFF2-40B4-BE49-F238E27FC236}">
                <a16:creationId xmlns:a16="http://schemas.microsoft.com/office/drawing/2014/main" id="{6C647EA0-DA29-0A1E-8E97-14A66D32EF86}"/>
              </a:ext>
            </a:extLst>
          </p:cNvPr>
          <p:cNvSpPr txBox="1"/>
          <p:nvPr/>
        </p:nvSpPr>
        <p:spPr>
          <a:xfrm>
            <a:off x="6735826" y="2768728"/>
            <a:ext cx="533400" cy="381000"/>
          </a:xfrm>
          <a:prstGeom prst="rect">
            <a:avLst/>
          </a:prstGeom>
          <a:solidFill>
            <a:srgbClr val="92D050"/>
          </a:solidFill>
          <a:ln w="12700">
            <a:solidFill>
              <a:srgbClr val="000000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003300"/>
                </a:solidFill>
                <a:latin typeface="Cambria"/>
                <a:cs typeface="Cambria"/>
              </a:rPr>
              <a:t>f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30" name="object 38">
            <a:extLst>
              <a:ext uri="{FF2B5EF4-FFF2-40B4-BE49-F238E27FC236}">
                <a16:creationId xmlns:a16="http://schemas.microsoft.com/office/drawing/2014/main" id="{C46D13F8-A267-D8B1-C5B1-1B75B28BDDB7}"/>
              </a:ext>
            </a:extLst>
          </p:cNvPr>
          <p:cNvSpPr txBox="1"/>
          <p:nvPr/>
        </p:nvSpPr>
        <p:spPr>
          <a:xfrm>
            <a:off x="7497826" y="2768728"/>
            <a:ext cx="533400" cy="381000"/>
          </a:xfrm>
          <a:prstGeom prst="rect">
            <a:avLst/>
          </a:prstGeom>
          <a:solidFill>
            <a:srgbClr val="92D050"/>
          </a:solidFill>
          <a:ln w="12700">
            <a:solidFill>
              <a:srgbClr val="000000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003300"/>
                </a:solidFill>
                <a:latin typeface="Cambria"/>
                <a:cs typeface="Cambria"/>
              </a:rPr>
              <a:t>g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31" name="object 39">
            <a:extLst>
              <a:ext uri="{FF2B5EF4-FFF2-40B4-BE49-F238E27FC236}">
                <a16:creationId xmlns:a16="http://schemas.microsoft.com/office/drawing/2014/main" id="{DFEF284E-924A-818A-3D85-6347F722E832}"/>
              </a:ext>
            </a:extLst>
          </p:cNvPr>
          <p:cNvSpPr txBox="1"/>
          <p:nvPr/>
        </p:nvSpPr>
        <p:spPr>
          <a:xfrm>
            <a:off x="8259826" y="2768728"/>
            <a:ext cx="533400" cy="381000"/>
          </a:xfrm>
          <a:prstGeom prst="rect">
            <a:avLst/>
          </a:prstGeom>
          <a:solidFill>
            <a:srgbClr val="FF0000"/>
          </a:solidFill>
          <a:ln w="12700">
            <a:solidFill>
              <a:srgbClr val="000000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003300"/>
                </a:solidFill>
                <a:latin typeface="Cambria"/>
                <a:cs typeface="Cambria"/>
              </a:rPr>
              <a:t>h</a:t>
            </a:r>
            <a:endParaRPr sz="2400">
              <a:latin typeface="Cambria"/>
              <a:cs typeface="Cambria"/>
            </a:endParaRPr>
          </a:p>
        </p:txBody>
      </p:sp>
      <p:pic>
        <p:nvPicPr>
          <p:cNvPr id="32" name="object 40">
            <a:extLst>
              <a:ext uri="{FF2B5EF4-FFF2-40B4-BE49-F238E27FC236}">
                <a16:creationId xmlns:a16="http://schemas.microsoft.com/office/drawing/2014/main" id="{ADCBE687-0700-FC14-700A-6C8AF59DB878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459098" y="2844928"/>
            <a:ext cx="228600" cy="152400"/>
          </a:xfrm>
          <a:prstGeom prst="rect">
            <a:avLst/>
          </a:prstGeom>
        </p:spPr>
      </p:pic>
      <p:pic>
        <p:nvPicPr>
          <p:cNvPr id="33" name="object 41">
            <a:extLst>
              <a:ext uri="{FF2B5EF4-FFF2-40B4-BE49-F238E27FC236}">
                <a16:creationId xmlns:a16="http://schemas.microsoft.com/office/drawing/2014/main" id="{8F4DC23C-A7F0-A2A3-C7CA-D7AD5A68EC52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221098" y="2844928"/>
            <a:ext cx="228600" cy="152400"/>
          </a:xfrm>
          <a:prstGeom prst="rect">
            <a:avLst/>
          </a:prstGeom>
        </p:spPr>
      </p:pic>
      <p:pic>
        <p:nvPicPr>
          <p:cNvPr id="34" name="object 42">
            <a:extLst>
              <a:ext uri="{FF2B5EF4-FFF2-40B4-BE49-F238E27FC236}">
                <a16:creationId xmlns:a16="http://schemas.microsoft.com/office/drawing/2014/main" id="{11321AFA-A678-F68C-6CC0-39FCB6985BF7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983098" y="2844928"/>
            <a:ext cx="228600" cy="152400"/>
          </a:xfrm>
          <a:prstGeom prst="rect">
            <a:avLst/>
          </a:prstGeom>
        </p:spPr>
      </p:pic>
      <p:pic>
        <p:nvPicPr>
          <p:cNvPr id="35" name="object 43">
            <a:extLst>
              <a:ext uri="{FF2B5EF4-FFF2-40B4-BE49-F238E27FC236}">
                <a16:creationId xmlns:a16="http://schemas.microsoft.com/office/drawing/2014/main" id="{053E3812-4223-179D-79FA-2DD4A261938F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745098" y="2844928"/>
            <a:ext cx="228600" cy="152400"/>
          </a:xfrm>
          <a:prstGeom prst="rect">
            <a:avLst/>
          </a:prstGeom>
        </p:spPr>
      </p:pic>
      <p:pic>
        <p:nvPicPr>
          <p:cNvPr id="36" name="object 44">
            <a:extLst>
              <a:ext uri="{FF2B5EF4-FFF2-40B4-BE49-F238E27FC236}">
                <a16:creationId xmlns:a16="http://schemas.microsoft.com/office/drawing/2014/main" id="{5D8DD185-02CE-234C-6E6A-18C6CC357444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507098" y="2844928"/>
            <a:ext cx="228600" cy="152400"/>
          </a:xfrm>
          <a:prstGeom prst="rect">
            <a:avLst/>
          </a:prstGeom>
        </p:spPr>
      </p:pic>
      <p:pic>
        <p:nvPicPr>
          <p:cNvPr id="37" name="object 45">
            <a:extLst>
              <a:ext uri="{FF2B5EF4-FFF2-40B4-BE49-F238E27FC236}">
                <a16:creationId xmlns:a16="http://schemas.microsoft.com/office/drawing/2014/main" id="{CD4E2A72-FE6F-16CF-7B1D-FDBE80085A3F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269098" y="2844928"/>
            <a:ext cx="228600" cy="152400"/>
          </a:xfrm>
          <a:prstGeom prst="rect">
            <a:avLst/>
          </a:prstGeom>
        </p:spPr>
      </p:pic>
      <p:pic>
        <p:nvPicPr>
          <p:cNvPr id="38" name="object 46">
            <a:extLst>
              <a:ext uri="{FF2B5EF4-FFF2-40B4-BE49-F238E27FC236}">
                <a16:creationId xmlns:a16="http://schemas.microsoft.com/office/drawing/2014/main" id="{417EC53D-5CF0-E38B-7DE4-DD0915091780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031098" y="2844928"/>
            <a:ext cx="228600" cy="152400"/>
          </a:xfrm>
          <a:prstGeom prst="rect">
            <a:avLst/>
          </a:prstGeom>
        </p:spPr>
      </p:pic>
      <p:sp>
        <p:nvSpPr>
          <p:cNvPr id="39" name="object 47">
            <a:extLst>
              <a:ext uri="{FF2B5EF4-FFF2-40B4-BE49-F238E27FC236}">
                <a16:creationId xmlns:a16="http://schemas.microsoft.com/office/drawing/2014/main" id="{30D1AE9C-2EBA-482E-689E-534061FC16A4}"/>
              </a:ext>
            </a:extLst>
          </p:cNvPr>
          <p:cNvSpPr txBox="1"/>
          <p:nvPr/>
        </p:nvSpPr>
        <p:spPr>
          <a:xfrm>
            <a:off x="500278" y="1379220"/>
            <a:ext cx="9688830" cy="1350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700" spc="-5" dirty="0">
                <a:latin typeface="Cambria"/>
                <a:cs typeface="Cambria"/>
              </a:rPr>
              <a:t>Cache</a:t>
            </a:r>
            <a:r>
              <a:rPr sz="2700" spc="10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Eviction</a:t>
            </a:r>
            <a:r>
              <a:rPr sz="2700" spc="15" dirty="0">
                <a:latin typeface="Cambria"/>
                <a:cs typeface="Cambria"/>
              </a:rPr>
              <a:t> </a:t>
            </a:r>
            <a:r>
              <a:rPr sz="2700" spc="-20" dirty="0">
                <a:latin typeface="Cambria"/>
                <a:cs typeface="Cambria"/>
              </a:rPr>
              <a:t>Policy:</a:t>
            </a:r>
            <a:r>
              <a:rPr sz="2700" spc="25" dirty="0">
                <a:latin typeface="Cambria"/>
                <a:cs typeface="Cambria"/>
              </a:rPr>
              <a:t> </a:t>
            </a:r>
            <a:r>
              <a:rPr sz="2700" spc="-5" dirty="0">
                <a:latin typeface="Cambria"/>
                <a:cs typeface="Cambria"/>
              </a:rPr>
              <a:t>On</a:t>
            </a:r>
            <a:r>
              <a:rPr sz="2700" spc="-1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a</a:t>
            </a:r>
            <a:r>
              <a:rPr sz="2700" spc="-5" dirty="0">
                <a:latin typeface="Cambria"/>
                <a:cs typeface="Cambria"/>
              </a:rPr>
              <a:t> miss</a:t>
            </a:r>
            <a:r>
              <a:rPr sz="2700" spc="10" dirty="0">
                <a:latin typeface="Cambria"/>
                <a:cs typeface="Cambria"/>
              </a:rPr>
              <a:t> </a:t>
            </a:r>
            <a:r>
              <a:rPr sz="2700" spc="-5" dirty="0">
                <a:latin typeface="Cambria"/>
                <a:cs typeface="Cambria"/>
              </a:rPr>
              <a:t>(block</a:t>
            </a:r>
            <a:r>
              <a:rPr sz="2700" spc="35" dirty="0">
                <a:latin typeface="Cambria"/>
                <a:cs typeface="Cambria"/>
              </a:rPr>
              <a:t> </a:t>
            </a:r>
            <a:r>
              <a:rPr sz="2700" i="1" spc="-5" dirty="0">
                <a:latin typeface="Cambria"/>
                <a:cs typeface="Cambria"/>
              </a:rPr>
              <a:t>i</a:t>
            </a:r>
            <a:r>
              <a:rPr sz="2700" spc="-5" dirty="0">
                <a:latin typeface="Cambria"/>
                <a:cs typeface="Cambria"/>
              </a:rPr>
              <a:t>),</a:t>
            </a:r>
            <a:r>
              <a:rPr sz="2700" spc="-10" dirty="0">
                <a:latin typeface="Cambria"/>
                <a:cs typeface="Cambria"/>
              </a:rPr>
              <a:t> which</a:t>
            </a:r>
            <a:r>
              <a:rPr sz="2700" spc="-15" dirty="0">
                <a:latin typeface="Cambria"/>
                <a:cs typeface="Cambria"/>
              </a:rPr>
              <a:t> </a:t>
            </a:r>
            <a:r>
              <a:rPr sz="2700" spc="-5" dirty="0">
                <a:latin typeface="Cambria"/>
                <a:cs typeface="Cambria"/>
              </a:rPr>
              <a:t>block</a:t>
            </a:r>
            <a:r>
              <a:rPr sz="2700" spc="15" dirty="0">
                <a:latin typeface="Cambria"/>
                <a:cs typeface="Cambria"/>
              </a:rPr>
              <a:t> </a:t>
            </a:r>
            <a:r>
              <a:rPr sz="2700" spc="-20" dirty="0">
                <a:latin typeface="Cambria"/>
                <a:cs typeface="Cambria"/>
              </a:rPr>
              <a:t>to</a:t>
            </a:r>
            <a:r>
              <a:rPr sz="2700" spc="-5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evict </a:t>
            </a:r>
            <a:r>
              <a:rPr sz="2700" spc="-580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(replace)</a:t>
            </a:r>
            <a:r>
              <a:rPr sz="2700" spc="3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?</a:t>
            </a:r>
            <a:endParaRPr sz="2700">
              <a:latin typeface="Cambria"/>
              <a:cs typeface="Cambria"/>
            </a:endParaRPr>
          </a:p>
          <a:p>
            <a:pPr marL="2401570">
              <a:lnSpc>
                <a:spcPct val="100000"/>
              </a:lnSpc>
              <a:spcBef>
                <a:spcPts val="1065"/>
              </a:spcBef>
              <a:tabLst>
                <a:tab pos="7701280" algn="l"/>
              </a:tabLst>
            </a:pPr>
            <a:r>
              <a:rPr sz="2400" spc="-20" dirty="0">
                <a:latin typeface="Cambria"/>
                <a:cs typeface="Cambria"/>
              </a:rPr>
              <a:t>MRU	LRU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0" name="object 48">
            <a:extLst>
              <a:ext uri="{FF2B5EF4-FFF2-40B4-BE49-F238E27FC236}">
                <a16:creationId xmlns:a16="http://schemas.microsoft.com/office/drawing/2014/main" id="{3E1BFBDE-8E23-3EF3-D345-83CB6A7945E5}"/>
              </a:ext>
            </a:extLst>
          </p:cNvPr>
          <p:cNvSpPr txBox="1"/>
          <p:nvPr/>
        </p:nvSpPr>
        <p:spPr>
          <a:xfrm>
            <a:off x="1526794" y="2650821"/>
            <a:ext cx="91630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Cambria"/>
                <a:cs typeface="Cambria"/>
              </a:rPr>
              <a:t>SET</a:t>
            </a:r>
            <a:r>
              <a:rPr sz="2800" spc="-8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A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41" name="object 49">
            <a:extLst>
              <a:ext uri="{FF2B5EF4-FFF2-40B4-BE49-F238E27FC236}">
                <a16:creationId xmlns:a16="http://schemas.microsoft.com/office/drawing/2014/main" id="{932862BC-8AF6-7277-8CB3-BB01D6215906}"/>
              </a:ext>
            </a:extLst>
          </p:cNvPr>
          <p:cNvSpPr txBox="1"/>
          <p:nvPr/>
        </p:nvSpPr>
        <p:spPr>
          <a:xfrm>
            <a:off x="2925826" y="4597528"/>
            <a:ext cx="533400" cy="381000"/>
          </a:xfrm>
          <a:prstGeom prst="rect">
            <a:avLst/>
          </a:prstGeom>
          <a:solidFill>
            <a:srgbClr val="94B3D6"/>
          </a:solidFill>
          <a:ln w="12700">
            <a:solidFill>
              <a:srgbClr val="000000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sz="2400" dirty="0">
                <a:solidFill>
                  <a:srgbClr val="003300"/>
                </a:solidFill>
                <a:latin typeface="Cambria"/>
                <a:cs typeface="Cambria"/>
              </a:rPr>
              <a:t>i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2" name="object 50">
            <a:extLst>
              <a:ext uri="{FF2B5EF4-FFF2-40B4-BE49-F238E27FC236}">
                <a16:creationId xmlns:a16="http://schemas.microsoft.com/office/drawing/2014/main" id="{0EDF6A8E-22A7-428D-5449-0C3A42A2B695}"/>
              </a:ext>
            </a:extLst>
          </p:cNvPr>
          <p:cNvSpPr txBox="1"/>
          <p:nvPr/>
        </p:nvSpPr>
        <p:spPr>
          <a:xfrm>
            <a:off x="3687826" y="4597528"/>
            <a:ext cx="533400" cy="381000"/>
          </a:xfrm>
          <a:prstGeom prst="rect">
            <a:avLst/>
          </a:prstGeom>
          <a:solidFill>
            <a:srgbClr val="92D050"/>
          </a:solidFill>
          <a:ln w="12700">
            <a:solidFill>
              <a:srgbClr val="000000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sz="2400" dirty="0">
                <a:solidFill>
                  <a:srgbClr val="003300"/>
                </a:solidFill>
                <a:latin typeface="Cambria"/>
                <a:cs typeface="Cambria"/>
              </a:rPr>
              <a:t>a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3" name="object 51">
            <a:extLst>
              <a:ext uri="{FF2B5EF4-FFF2-40B4-BE49-F238E27FC236}">
                <a16:creationId xmlns:a16="http://schemas.microsoft.com/office/drawing/2014/main" id="{6FB6DE8F-4C60-A0B8-1532-955ABB00964C}"/>
              </a:ext>
            </a:extLst>
          </p:cNvPr>
          <p:cNvSpPr txBox="1"/>
          <p:nvPr/>
        </p:nvSpPr>
        <p:spPr>
          <a:xfrm>
            <a:off x="4449826" y="4597528"/>
            <a:ext cx="533400" cy="381000"/>
          </a:xfrm>
          <a:prstGeom prst="rect">
            <a:avLst/>
          </a:prstGeom>
          <a:solidFill>
            <a:srgbClr val="92D050"/>
          </a:solidFill>
          <a:ln w="12700">
            <a:solidFill>
              <a:srgbClr val="000000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"/>
              </a:spcBef>
            </a:pPr>
            <a:r>
              <a:rPr sz="2400" dirty="0">
                <a:solidFill>
                  <a:srgbClr val="003300"/>
                </a:solidFill>
                <a:latin typeface="Cambria"/>
                <a:cs typeface="Cambria"/>
              </a:rPr>
              <a:t>b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4" name="object 52">
            <a:extLst>
              <a:ext uri="{FF2B5EF4-FFF2-40B4-BE49-F238E27FC236}">
                <a16:creationId xmlns:a16="http://schemas.microsoft.com/office/drawing/2014/main" id="{DDCE6DB1-8002-7810-2B29-76598EF42ED8}"/>
              </a:ext>
            </a:extLst>
          </p:cNvPr>
          <p:cNvSpPr txBox="1"/>
          <p:nvPr/>
        </p:nvSpPr>
        <p:spPr>
          <a:xfrm>
            <a:off x="5211826" y="4597528"/>
            <a:ext cx="533400" cy="381000"/>
          </a:xfrm>
          <a:prstGeom prst="rect">
            <a:avLst/>
          </a:prstGeom>
          <a:solidFill>
            <a:srgbClr val="92D050"/>
          </a:solidFill>
          <a:ln w="12700">
            <a:solidFill>
              <a:srgbClr val="000000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sz="2400" dirty="0">
                <a:solidFill>
                  <a:srgbClr val="003300"/>
                </a:solidFill>
                <a:latin typeface="Cambria"/>
                <a:cs typeface="Cambria"/>
              </a:rPr>
              <a:t>c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5" name="object 53">
            <a:extLst>
              <a:ext uri="{FF2B5EF4-FFF2-40B4-BE49-F238E27FC236}">
                <a16:creationId xmlns:a16="http://schemas.microsoft.com/office/drawing/2014/main" id="{B7871F53-2D0D-A31C-9A3D-976D5AA92CC7}"/>
              </a:ext>
            </a:extLst>
          </p:cNvPr>
          <p:cNvSpPr txBox="1"/>
          <p:nvPr/>
        </p:nvSpPr>
        <p:spPr>
          <a:xfrm>
            <a:off x="5973826" y="4597528"/>
            <a:ext cx="533400" cy="381000"/>
          </a:xfrm>
          <a:prstGeom prst="rect">
            <a:avLst/>
          </a:prstGeom>
          <a:solidFill>
            <a:srgbClr val="92D050"/>
          </a:solidFill>
          <a:ln w="12700">
            <a:solidFill>
              <a:srgbClr val="000000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"/>
              </a:spcBef>
            </a:pPr>
            <a:r>
              <a:rPr sz="2400" dirty="0">
                <a:solidFill>
                  <a:srgbClr val="003300"/>
                </a:solidFill>
                <a:latin typeface="Cambria"/>
                <a:cs typeface="Cambria"/>
              </a:rPr>
              <a:t>d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6" name="object 54">
            <a:extLst>
              <a:ext uri="{FF2B5EF4-FFF2-40B4-BE49-F238E27FC236}">
                <a16:creationId xmlns:a16="http://schemas.microsoft.com/office/drawing/2014/main" id="{AD4B8EB1-A396-4F85-843C-7E563C0696C4}"/>
              </a:ext>
            </a:extLst>
          </p:cNvPr>
          <p:cNvSpPr txBox="1"/>
          <p:nvPr/>
        </p:nvSpPr>
        <p:spPr>
          <a:xfrm>
            <a:off x="6735826" y="4597528"/>
            <a:ext cx="533400" cy="381000"/>
          </a:xfrm>
          <a:prstGeom prst="rect">
            <a:avLst/>
          </a:prstGeom>
          <a:solidFill>
            <a:srgbClr val="92D050"/>
          </a:solidFill>
          <a:ln w="12700">
            <a:solidFill>
              <a:srgbClr val="000000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sz="2400" dirty="0">
                <a:solidFill>
                  <a:srgbClr val="003300"/>
                </a:solidFill>
                <a:latin typeface="Cambria"/>
                <a:cs typeface="Cambria"/>
              </a:rPr>
              <a:t>e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7" name="object 55">
            <a:extLst>
              <a:ext uri="{FF2B5EF4-FFF2-40B4-BE49-F238E27FC236}">
                <a16:creationId xmlns:a16="http://schemas.microsoft.com/office/drawing/2014/main" id="{CFEA5B84-9910-0B5C-5004-D68DD46488F5}"/>
              </a:ext>
            </a:extLst>
          </p:cNvPr>
          <p:cNvSpPr txBox="1"/>
          <p:nvPr/>
        </p:nvSpPr>
        <p:spPr>
          <a:xfrm>
            <a:off x="7497826" y="4597528"/>
            <a:ext cx="533400" cy="381000"/>
          </a:xfrm>
          <a:prstGeom prst="rect">
            <a:avLst/>
          </a:prstGeom>
          <a:solidFill>
            <a:srgbClr val="92D050"/>
          </a:solidFill>
          <a:ln w="12700">
            <a:solidFill>
              <a:srgbClr val="000000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"/>
              </a:spcBef>
            </a:pPr>
            <a:r>
              <a:rPr sz="2400" dirty="0">
                <a:solidFill>
                  <a:srgbClr val="003300"/>
                </a:solidFill>
                <a:latin typeface="Cambria"/>
                <a:cs typeface="Cambria"/>
              </a:rPr>
              <a:t>f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8" name="object 56">
            <a:extLst>
              <a:ext uri="{FF2B5EF4-FFF2-40B4-BE49-F238E27FC236}">
                <a16:creationId xmlns:a16="http://schemas.microsoft.com/office/drawing/2014/main" id="{6328949A-31CA-A3D7-5D01-48450E00F27C}"/>
              </a:ext>
            </a:extLst>
          </p:cNvPr>
          <p:cNvSpPr txBox="1"/>
          <p:nvPr/>
        </p:nvSpPr>
        <p:spPr>
          <a:xfrm>
            <a:off x="8259826" y="4597528"/>
            <a:ext cx="533400" cy="381000"/>
          </a:xfrm>
          <a:prstGeom prst="rect">
            <a:avLst/>
          </a:prstGeom>
          <a:solidFill>
            <a:srgbClr val="92D050"/>
          </a:solidFill>
          <a:ln w="12700">
            <a:solidFill>
              <a:srgbClr val="000000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"/>
              </a:spcBef>
            </a:pPr>
            <a:r>
              <a:rPr sz="2400" dirty="0">
                <a:solidFill>
                  <a:srgbClr val="003300"/>
                </a:solidFill>
                <a:latin typeface="Cambria"/>
                <a:cs typeface="Cambria"/>
              </a:rPr>
              <a:t>g</a:t>
            </a:r>
            <a:endParaRPr sz="2400">
              <a:latin typeface="Cambria"/>
              <a:cs typeface="Cambria"/>
            </a:endParaRPr>
          </a:p>
        </p:txBody>
      </p:sp>
      <p:grpSp>
        <p:nvGrpSpPr>
          <p:cNvPr id="49" name="object 57">
            <a:extLst>
              <a:ext uri="{FF2B5EF4-FFF2-40B4-BE49-F238E27FC236}">
                <a16:creationId xmlns:a16="http://schemas.microsoft.com/office/drawing/2014/main" id="{D6B25437-1478-02CE-E033-CAA337287B2C}"/>
              </a:ext>
            </a:extLst>
          </p:cNvPr>
          <p:cNvGrpSpPr/>
          <p:nvPr/>
        </p:nvGrpSpPr>
        <p:grpSpPr>
          <a:xfrm>
            <a:off x="3459098" y="4673728"/>
            <a:ext cx="4800600" cy="152400"/>
            <a:chOff x="3459098" y="4267200"/>
            <a:chExt cx="4800600" cy="152400"/>
          </a:xfrm>
        </p:grpSpPr>
        <p:pic>
          <p:nvPicPr>
            <p:cNvPr id="50" name="object 58">
              <a:extLst>
                <a:ext uri="{FF2B5EF4-FFF2-40B4-BE49-F238E27FC236}">
                  <a16:creationId xmlns:a16="http://schemas.microsoft.com/office/drawing/2014/main" id="{698BE73B-09CF-9C8D-A169-294234727BD2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459098" y="4267200"/>
              <a:ext cx="228600" cy="152400"/>
            </a:xfrm>
            <a:prstGeom prst="rect">
              <a:avLst/>
            </a:prstGeom>
          </p:spPr>
        </p:pic>
        <p:pic>
          <p:nvPicPr>
            <p:cNvPr id="51" name="object 59">
              <a:extLst>
                <a:ext uri="{FF2B5EF4-FFF2-40B4-BE49-F238E27FC236}">
                  <a16:creationId xmlns:a16="http://schemas.microsoft.com/office/drawing/2014/main" id="{D2D9F6D9-46C1-6AD9-A6C7-4F3AEA8481B1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221098" y="4267200"/>
              <a:ext cx="228600" cy="152400"/>
            </a:xfrm>
            <a:prstGeom prst="rect">
              <a:avLst/>
            </a:prstGeom>
          </p:spPr>
        </p:pic>
        <p:pic>
          <p:nvPicPr>
            <p:cNvPr id="52" name="object 60">
              <a:extLst>
                <a:ext uri="{FF2B5EF4-FFF2-40B4-BE49-F238E27FC236}">
                  <a16:creationId xmlns:a16="http://schemas.microsoft.com/office/drawing/2014/main" id="{CEBB3233-9D2E-0C87-2F81-12F8F57A47AD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983098" y="4267200"/>
              <a:ext cx="228600" cy="152400"/>
            </a:xfrm>
            <a:prstGeom prst="rect">
              <a:avLst/>
            </a:prstGeom>
          </p:spPr>
        </p:pic>
        <p:pic>
          <p:nvPicPr>
            <p:cNvPr id="53" name="object 61">
              <a:extLst>
                <a:ext uri="{FF2B5EF4-FFF2-40B4-BE49-F238E27FC236}">
                  <a16:creationId xmlns:a16="http://schemas.microsoft.com/office/drawing/2014/main" id="{2310F9E3-FB41-12E2-1156-4991EFEBFE74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745098" y="4267200"/>
              <a:ext cx="228600" cy="152400"/>
            </a:xfrm>
            <a:prstGeom prst="rect">
              <a:avLst/>
            </a:prstGeom>
          </p:spPr>
        </p:pic>
        <p:pic>
          <p:nvPicPr>
            <p:cNvPr id="54" name="object 62">
              <a:extLst>
                <a:ext uri="{FF2B5EF4-FFF2-40B4-BE49-F238E27FC236}">
                  <a16:creationId xmlns:a16="http://schemas.microsoft.com/office/drawing/2014/main" id="{7DD45EA9-BA83-ED26-4984-6F351257798A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507098" y="4267200"/>
              <a:ext cx="228600" cy="152400"/>
            </a:xfrm>
            <a:prstGeom prst="rect">
              <a:avLst/>
            </a:prstGeom>
          </p:spPr>
        </p:pic>
        <p:pic>
          <p:nvPicPr>
            <p:cNvPr id="55" name="object 63">
              <a:extLst>
                <a:ext uri="{FF2B5EF4-FFF2-40B4-BE49-F238E27FC236}">
                  <a16:creationId xmlns:a16="http://schemas.microsoft.com/office/drawing/2014/main" id="{749D50BB-767E-B428-3F2C-917455445972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69098" y="4267200"/>
              <a:ext cx="228600" cy="152400"/>
            </a:xfrm>
            <a:prstGeom prst="rect">
              <a:avLst/>
            </a:prstGeom>
          </p:spPr>
        </p:pic>
        <p:pic>
          <p:nvPicPr>
            <p:cNvPr id="56" name="object 64">
              <a:extLst>
                <a:ext uri="{FF2B5EF4-FFF2-40B4-BE49-F238E27FC236}">
                  <a16:creationId xmlns:a16="http://schemas.microsoft.com/office/drawing/2014/main" id="{83D71767-9E0E-5C27-5A5C-5762F6428477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031098" y="4267200"/>
              <a:ext cx="228600" cy="152400"/>
            </a:xfrm>
            <a:prstGeom prst="rect">
              <a:avLst/>
            </a:prstGeom>
          </p:spPr>
        </p:pic>
      </p:grpSp>
      <p:sp>
        <p:nvSpPr>
          <p:cNvPr id="57" name="object 65">
            <a:extLst>
              <a:ext uri="{FF2B5EF4-FFF2-40B4-BE49-F238E27FC236}">
                <a16:creationId xmlns:a16="http://schemas.microsoft.com/office/drawing/2014/main" id="{D26A52BA-5BF1-0F53-3D02-F267A0EE8B6F}"/>
              </a:ext>
            </a:extLst>
          </p:cNvPr>
          <p:cNvSpPr txBox="1"/>
          <p:nvPr/>
        </p:nvSpPr>
        <p:spPr>
          <a:xfrm>
            <a:off x="500278" y="3498469"/>
            <a:ext cx="8488680" cy="1059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5" dirty="0">
                <a:latin typeface="Cambria"/>
                <a:cs typeface="Cambria"/>
              </a:rPr>
              <a:t>Cache</a:t>
            </a:r>
            <a:r>
              <a:rPr sz="2700" spc="1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Insertion</a:t>
            </a:r>
            <a:r>
              <a:rPr sz="2700" spc="15" dirty="0">
                <a:latin typeface="Cambria"/>
                <a:cs typeface="Cambria"/>
              </a:rPr>
              <a:t> </a:t>
            </a:r>
            <a:r>
              <a:rPr sz="2700" spc="-20" dirty="0">
                <a:latin typeface="Cambria"/>
                <a:cs typeface="Cambria"/>
              </a:rPr>
              <a:t>Policy:</a:t>
            </a:r>
            <a:r>
              <a:rPr sz="2700" spc="25" dirty="0">
                <a:latin typeface="Cambria"/>
                <a:cs typeface="Cambria"/>
              </a:rPr>
              <a:t> </a:t>
            </a:r>
            <a:r>
              <a:rPr sz="2700" spc="-15" dirty="0">
                <a:latin typeface="Cambria"/>
                <a:cs typeface="Cambria"/>
              </a:rPr>
              <a:t>New</a:t>
            </a:r>
            <a:r>
              <a:rPr sz="2700" spc="5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block</a:t>
            </a:r>
            <a:r>
              <a:rPr sz="2700" spc="30" dirty="0">
                <a:latin typeface="Cambria"/>
                <a:cs typeface="Cambria"/>
              </a:rPr>
              <a:t> </a:t>
            </a:r>
            <a:r>
              <a:rPr sz="2700" i="1" dirty="0">
                <a:latin typeface="Cambria"/>
                <a:cs typeface="Cambria"/>
              </a:rPr>
              <a:t>i</a:t>
            </a:r>
            <a:r>
              <a:rPr sz="2700" i="1" spc="-10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inserted</a:t>
            </a:r>
            <a:r>
              <a:rPr sz="2700" spc="15" dirty="0">
                <a:latin typeface="Cambria"/>
                <a:cs typeface="Cambria"/>
              </a:rPr>
              <a:t> </a:t>
            </a:r>
            <a:r>
              <a:rPr sz="2700" spc="-15" dirty="0">
                <a:latin typeface="Cambria"/>
                <a:cs typeface="Cambria"/>
              </a:rPr>
              <a:t>into</a:t>
            </a:r>
            <a:r>
              <a:rPr sz="2700" spc="-5" dirty="0">
                <a:latin typeface="Cambria"/>
                <a:cs typeface="Cambria"/>
              </a:rPr>
              <a:t> </a:t>
            </a:r>
            <a:r>
              <a:rPr sz="2700" spc="-45" dirty="0">
                <a:latin typeface="Cambria"/>
                <a:cs typeface="Cambria"/>
              </a:rPr>
              <a:t>MRU.</a:t>
            </a:r>
            <a:endParaRPr sz="2700">
              <a:latin typeface="Cambria"/>
              <a:cs typeface="Cambria"/>
            </a:endParaRPr>
          </a:p>
          <a:p>
            <a:pPr marL="2401570">
              <a:lnSpc>
                <a:spcPct val="100000"/>
              </a:lnSpc>
              <a:spcBef>
                <a:spcPts val="2020"/>
              </a:spcBef>
              <a:tabLst>
                <a:tab pos="7701280" algn="l"/>
              </a:tabLst>
            </a:pPr>
            <a:r>
              <a:rPr sz="2400" spc="-20" dirty="0">
                <a:latin typeface="Cambria"/>
                <a:cs typeface="Cambria"/>
              </a:rPr>
              <a:t>MRU	LRU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58" name="object 66">
            <a:extLst>
              <a:ext uri="{FF2B5EF4-FFF2-40B4-BE49-F238E27FC236}">
                <a16:creationId xmlns:a16="http://schemas.microsoft.com/office/drawing/2014/main" id="{4CDA609D-AE3C-1038-8953-9E7D3CED432F}"/>
              </a:ext>
            </a:extLst>
          </p:cNvPr>
          <p:cNvSpPr txBox="1"/>
          <p:nvPr/>
        </p:nvSpPr>
        <p:spPr>
          <a:xfrm>
            <a:off x="1526794" y="4480306"/>
            <a:ext cx="91694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Cambria"/>
                <a:cs typeface="Cambria"/>
              </a:rPr>
              <a:t>SET</a:t>
            </a:r>
            <a:r>
              <a:rPr sz="2800" spc="-7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A</a:t>
            </a:r>
            <a:endParaRPr sz="280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998468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0CDD6-343C-F574-79B2-0BF375B89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Cache Access Patterns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6F66C1-ED8E-E6A7-6699-43EEBA97B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70824B-7B02-3346-A7BD-5C0A34FD5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6</a:t>
            </a:fld>
            <a:endParaRPr lang="en-IN" dirty="0"/>
          </a:p>
        </p:txBody>
      </p:sp>
      <p:grpSp>
        <p:nvGrpSpPr>
          <p:cNvPr id="6" name="object 3">
            <a:extLst>
              <a:ext uri="{FF2B5EF4-FFF2-40B4-BE49-F238E27FC236}">
                <a16:creationId xmlns:a16="http://schemas.microsoft.com/office/drawing/2014/main" id="{EE3C5BDA-6E84-80C5-6148-4BBEE9F0E802}"/>
              </a:ext>
            </a:extLst>
          </p:cNvPr>
          <p:cNvGrpSpPr/>
          <p:nvPr/>
        </p:nvGrpSpPr>
        <p:grpSpPr>
          <a:xfrm>
            <a:off x="108204" y="1557544"/>
            <a:ext cx="7931150" cy="873760"/>
            <a:chOff x="108204" y="1203976"/>
            <a:chExt cx="7931150" cy="873760"/>
          </a:xfrm>
        </p:grpSpPr>
        <p:pic>
          <p:nvPicPr>
            <p:cNvPr id="7" name="object 4">
              <a:extLst>
                <a:ext uri="{FF2B5EF4-FFF2-40B4-BE49-F238E27FC236}">
                  <a16:creationId xmlns:a16="http://schemas.microsoft.com/office/drawing/2014/main" id="{1595FEB6-1DC4-7E53-FC2C-5FE44232027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0498" y="1203976"/>
              <a:ext cx="7848603" cy="838167"/>
            </a:xfrm>
            <a:prstGeom prst="rect">
              <a:avLst/>
            </a:prstGeom>
          </p:spPr>
        </p:pic>
        <p:pic>
          <p:nvPicPr>
            <p:cNvPr id="8" name="object 5">
              <a:extLst>
                <a:ext uri="{FF2B5EF4-FFF2-40B4-BE49-F238E27FC236}">
                  <a16:creationId xmlns:a16="http://schemas.microsoft.com/office/drawing/2014/main" id="{7DD08483-CAC1-36A2-2694-B850784BF42E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204" y="1272540"/>
              <a:ext cx="7114032" cy="804672"/>
            </a:xfrm>
            <a:prstGeom prst="rect">
              <a:avLst/>
            </a:prstGeom>
          </p:spPr>
        </p:pic>
        <p:sp>
          <p:nvSpPr>
            <p:cNvPr id="9" name="object 6">
              <a:extLst>
                <a:ext uri="{FF2B5EF4-FFF2-40B4-BE49-F238E27FC236}">
                  <a16:creationId xmlns:a16="http://schemas.microsoft.com/office/drawing/2014/main" id="{57F95176-1355-16B7-2616-DF8EE4564A26}"/>
                </a:ext>
              </a:extLst>
            </p:cNvPr>
            <p:cNvSpPr/>
            <p:nvPr/>
          </p:nvSpPr>
          <p:spPr>
            <a:xfrm>
              <a:off x="228600" y="1219200"/>
              <a:ext cx="7772400" cy="762000"/>
            </a:xfrm>
            <a:custGeom>
              <a:avLst/>
              <a:gdLst/>
              <a:ahLst/>
              <a:cxnLst/>
              <a:rect l="l" t="t" r="r" b="b"/>
              <a:pathLst>
                <a:path w="7772400" h="762000">
                  <a:moveTo>
                    <a:pt x="7645400" y="0"/>
                  </a:moveTo>
                  <a:lnTo>
                    <a:pt x="127000" y="0"/>
                  </a:lnTo>
                  <a:lnTo>
                    <a:pt x="77565" y="9985"/>
                  </a:lnTo>
                  <a:lnTo>
                    <a:pt x="37196" y="37211"/>
                  </a:lnTo>
                  <a:lnTo>
                    <a:pt x="9980" y="77581"/>
                  </a:lnTo>
                  <a:lnTo>
                    <a:pt x="0" y="127000"/>
                  </a:lnTo>
                  <a:lnTo>
                    <a:pt x="0" y="635000"/>
                  </a:lnTo>
                  <a:lnTo>
                    <a:pt x="9980" y="684418"/>
                  </a:lnTo>
                  <a:lnTo>
                    <a:pt x="37196" y="724788"/>
                  </a:lnTo>
                  <a:lnTo>
                    <a:pt x="77565" y="752014"/>
                  </a:lnTo>
                  <a:lnTo>
                    <a:pt x="127000" y="762000"/>
                  </a:lnTo>
                  <a:lnTo>
                    <a:pt x="7645400" y="762000"/>
                  </a:lnTo>
                  <a:lnTo>
                    <a:pt x="7694818" y="752014"/>
                  </a:lnTo>
                  <a:lnTo>
                    <a:pt x="7735189" y="724788"/>
                  </a:lnTo>
                  <a:lnTo>
                    <a:pt x="7762414" y="684418"/>
                  </a:lnTo>
                  <a:lnTo>
                    <a:pt x="7772400" y="635000"/>
                  </a:lnTo>
                  <a:lnTo>
                    <a:pt x="7772400" y="127000"/>
                  </a:lnTo>
                  <a:lnTo>
                    <a:pt x="7762414" y="77581"/>
                  </a:lnTo>
                  <a:lnTo>
                    <a:pt x="7735189" y="37211"/>
                  </a:lnTo>
                  <a:lnTo>
                    <a:pt x="7694818" y="9985"/>
                  </a:lnTo>
                  <a:lnTo>
                    <a:pt x="764540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BE5A05A9-3D9E-035F-588B-5219E080EC34}"/>
                </a:ext>
              </a:extLst>
            </p:cNvPr>
            <p:cNvSpPr/>
            <p:nvPr/>
          </p:nvSpPr>
          <p:spPr>
            <a:xfrm>
              <a:off x="228600" y="1219200"/>
              <a:ext cx="7772400" cy="762000"/>
            </a:xfrm>
            <a:custGeom>
              <a:avLst/>
              <a:gdLst/>
              <a:ahLst/>
              <a:cxnLst/>
              <a:rect l="l" t="t" r="r" b="b"/>
              <a:pathLst>
                <a:path w="7772400" h="762000">
                  <a:moveTo>
                    <a:pt x="0" y="127000"/>
                  </a:moveTo>
                  <a:lnTo>
                    <a:pt x="9980" y="77581"/>
                  </a:lnTo>
                  <a:lnTo>
                    <a:pt x="37196" y="37211"/>
                  </a:lnTo>
                  <a:lnTo>
                    <a:pt x="77565" y="9985"/>
                  </a:lnTo>
                  <a:lnTo>
                    <a:pt x="127000" y="0"/>
                  </a:lnTo>
                  <a:lnTo>
                    <a:pt x="7645400" y="0"/>
                  </a:lnTo>
                  <a:lnTo>
                    <a:pt x="7694818" y="9985"/>
                  </a:lnTo>
                  <a:lnTo>
                    <a:pt x="7735189" y="37211"/>
                  </a:lnTo>
                  <a:lnTo>
                    <a:pt x="7762414" y="77581"/>
                  </a:lnTo>
                  <a:lnTo>
                    <a:pt x="7772400" y="127000"/>
                  </a:lnTo>
                  <a:lnTo>
                    <a:pt x="7772400" y="635000"/>
                  </a:lnTo>
                  <a:lnTo>
                    <a:pt x="7762414" y="684418"/>
                  </a:lnTo>
                  <a:lnTo>
                    <a:pt x="7735189" y="724788"/>
                  </a:lnTo>
                  <a:lnTo>
                    <a:pt x="7694818" y="752014"/>
                  </a:lnTo>
                  <a:lnTo>
                    <a:pt x="7645400" y="762000"/>
                  </a:lnTo>
                  <a:lnTo>
                    <a:pt x="127000" y="762000"/>
                  </a:lnTo>
                  <a:lnTo>
                    <a:pt x="77565" y="752014"/>
                  </a:lnTo>
                  <a:lnTo>
                    <a:pt x="37196" y="724788"/>
                  </a:lnTo>
                  <a:lnTo>
                    <a:pt x="9980" y="684418"/>
                  </a:lnTo>
                  <a:lnTo>
                    <a:pt x="0" y="635000"/>
                  </a:lnTo>
                  <a:lnTo>
                    <a:pt x="0" y="1270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8">
            <a:extLst>
              <a:ext uri="{FF2B5EF4-FFF2-40B4-BE49-F238E27FC236}">
                <a16:creationId xmlns:a16="http://schemas.microsoft.com/office/drawing/2014/main" id="{99AE0D57-FC35-4043-6480-1FC0A871A07C}"/>
              </a:ext>
            </a:extLst>
          </p:cNvPr>
          <p:cNvSpPr txBox="1"/>
          <p:nvPr/>
        </p:nvSpPr>
        <p:spPr>
          <a:xfrm>
            <a:off x="319125" y="1726438"/>
            <a:ext cx="6712584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15" dirty="0">
                <a:latin typeface="Cambria"/>
                <a:cs typeface="Cambria"/>
              </a:rPr>
              <a:t>Recency</a:t>
            </a:r>
            <a:r>
              <a:rPr sz="2700" spc="20" dirty="0">
                <a:latin typeface="Cambria"/>
                <a:cs typeface="Cambria"/>
              </a:rPr>
              <a:t> </a:t>
            </a:r>
            <a:r>
              <a:rPr sz="2700" spc="-15" dirty="0">
                <a:latin typeface="Cambria"/>
                <a:cs typeface="Cambria"/>
              </a:rPr>
              <a:t>friendly</a:t>
            </a:r>
            <a:r>
              <a:rPr sz="2700" spc="20" dirty="0">
                <a:latin typeface="Cambria"/>
                <a:cs typeface="Cambria"/>
              </a:rPr>
              <a:t> </a:t>
            </a:r>
            <a:r>
              <a:rPr sz="2700" spc="-5" dirty="0">
                <a:solidFill>
                  <a:srgbClr val="C00000"/>
                </a:solidFill>
                <a:latin typeface="Cambria"/>
                <a:cs typeface="Cambria"/>
              </a:rPr>
              <a:t>(a</a:t>
            </a:r>
            <a:r>
              <a:rPr sz="2400" spc="-7" baseline="-20833" dirty="0">
                <a:solidFill>
                  <a:srgbClr val="C00000"/>
                </a:solidFill>
                <a:latin typeface="Cambria"/>
                <a:cs typeface="Cambria"/>
              </a:rPr>
              <a:t>1</a:t>
            </a:r>
            <a:r>
              <a:rPr sz="2700" spc="-5" dirty="0">
                <a:solidFill>
                  <a:srgbClr val="C00000"/>
                </a:solidFill>
                <a:latin typeface="Cambria"/>
                <a:cs typeface="Cambria"/>
              </a:rPr>
              <a:t>,</a:t>
            </a:r>
            <a:r>
              <a:rPr sz="2700" spc="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700" spc="-5" dirty="0">
                <a:solidFill>
                  <a:srgbClr val="C00000"/>
                </a:solidFill>
                <a:latin typeface="Cambria"/>
                <a:cs typeface="Cambria"/>
              </a:rPr>
              <a:t>a</a:t>
            </a:r>
            <a:r>
              <a:rPr sz="2700" spc="-7" baseline="-20061" dirty="0">
                <a:solidFill>
                  <a:srgbClr val="C00000"/>
                </a:solidFill>
                <a:latin typeface="Cambria"/>
                <a:cs typeface="Cambria"/>
              </a:rPr>
              <a:t>2</a:t>
            </a:r>
            <a:r>
              <a:rPr sz="2700" spc="-5" dirty="0">
                <a:solidFill>
                  <a:srgbClr val="C00000"/>
                </a:solidFill>
                <a:latin typeface="Cambria"/>
                <a:cs typeface="Cambria"/>
              </a:rPr>
              <a:t>,….a</a:t>
            </a:r>
            <a:r>
              <a:rPr sz="2700" spc="-7" baseline="-20061" dirty="0">
                <a:solidFill>
                  <a:srgbClr val="C00000"/>
                </a:solidFill>
                <a:latin typeface="Cambria"/>
                <a:cs typeface="Cambria"/>
              </a:rPr>
              <a:t>k</a:t>
            </a:r>
            <a:r>
              <a:rPr sz="2700" spc="-5" dirty="0">
                <a:solidFill>
                  <a:srgbClr val="C00000"/>
                </a:solidFill>
                <a:latin typeface="Cambria"/>
                <a:cs typeface="Cambria"/>
              </a:rPr>
              <a:t>,</a:t>
            </a:r>
            <a:r>
              <a:rPr sz="2700" spc="1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700" dirty="0">
                <a:solidFill>
                  <a:srgbClr val="C00000"/>
                </a:solidFill>
                <a:latin typeface="Cambria"/>
                <a:cs typeface="Cambria"/>
              </a:rPr>
              <a:t>a</a:t>
            </a:r>
            <a:r>
              <a:rPr sz="2700" baseline="-20061" dirty="0">
                <a:solidFill>
                  <a:srgbClr val="C00000"/>
                </a:solidFill>
                <a:latin typeface="Cambria"/>
                <a:cs typeface="Cambria"/>
              </a:rPr>
              <a:t>k-1</a:t>
            </a:r>
            <a:r>
              <a:rPr sz="2700" dirty="0">
                <a:solidFill>
                  <a:srgbClr val="C00000"/>
                </a:solidFill>
                <a:latin typeface="Cambria"/>
                <a:cs typeface="Cambria"/>
              </a:rPr>
              <a:t>,</a:t>
            </a:r>
            <a:r>
              <a:rPr sz="2700" spc="-1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700" spc="-5" dirty="0">
                <a:solidFill>
                  <a:srgbClr val="C00000"/>
                </a:solidFill>
                <a:latin typeface="Cambria"/>
                <a:cs typeface="Cambria"/>
              </a:rPr>
              <a:t>….a</a:t>
            </a:r>
            <a:r>
              <a:rPr sz="2700" spc="-7" baseline="-20061" dirty="0">
                <a:solidFill>
                  <a:srgbClr val="C00000"/>
                </a:solidFill>
                <a:latin typeface="Cambria"/>
                <a:cs typeface="Cambria"/>
              </a:rPr>
              <a:t>2</a:t>
            </a:r>
            <a:r>
              <a:rPr sz="2700" spc="-5" dirty="0">
                <a:solidFill>
                  <a:srgbClr val="C00000"/>
                </a:solidFill>
                <a:latin typeface="Cambria"/>
                <a:cs typeface="Cambria"/>
              </a:rPr>
              <a:t>,</a:t>
            </a:r>
            <a:r>
              <a:rPr sz="2700" spc="-1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700" dirty="0">
                <a:solidFill>
                  <a:srgbClr val="C00000"/>
                </a:solidFill>
                <a:latin typeface="Cambria"/>
                <a:cs typeface="Cambria"/>
              </a:rPr>
              <a:t>a</a:t>
            </a:r>
            <a:r>
              <a:rPr sz="2700" baseline="-20061" dirty="0">
                <a:solidFill>
                  <a:srgbClr val="C00000"/>
                </a:solidFill>
                <a:latin typeface="Cambria"/>
                <a:cs typeface="Cambria"/>
              </a:rPr>
              <a:t>1</a:t>
            </a:r>
            <a:r>
              <a:rPr sz="2700" dirty="0">
                <a:solidFill>
                  <a:srgbClr val="C00000"/>
                </a:solidFill>
                <a:latin typeface="Cambria"/>
                <a:cs typeface="Cambria"/>
              </a:rPr>
              <a:t>)</a:t>
            </a:r>
            <a:r>
              <a:rPr sz="2700" baseline="24691" dirty="0">
                <a:solidFill>
                  <a:srgbClr val="C00000"/>
                </a:solidFill>
                <a:latin typeface="Cambria"/>
                <a:cs typeface="Cambria"/>
              </a:rPr>
              <a:t>N</a:t>
            </a:r>
            <a:endParaRPr sz="2700" baseline="24691">
              <a:latin typeface="Cambria"/>
              <a:cs typeface="Cambria"/>
            </a:endParaRPr>
          </a:p>
        </p:txBody>
      </p:sp>
      <p:grpSp>
        <p:nvGrpSpPr>
          <p:cNvPr id="12" name="object 9">
            <a:extLst>
              <a:ext uri="{FF2B5EF4-FFF2-40B4-BE49-F238E27FC236}">
                <a16:creationId xmlns:a16="http://schemas.microsoft.com/office/drawing/2014/main" id="{EA5D9DDC-89D6-58D3-3980-C58BF3DAAB9E}"/>
              </a:ext>
            </a:extLst>
          </p:cNvPr>
          <p:cNvGrpSpPr/>
          <p:nvPr/>
        </p:nvGrpSpPr>
        <p:grpSpPr>
          <a:xfrm>
            <a:off x="108205" y="2776744"/>
            <a:ext cx="7931150" cy="873760"/>
            <a:chOff x="108205" y="2423176"/>
            <a:chExt cx="7931150" cy="873760"/>
          </a:xfrm>
        </p:grpSpPr>
        <p:pic>
          <p:nvPicPr>
            <p:cNvPr id="13" name="object 10">
              <a:extLst>
                <a:ext uri="{FF2B5EF4-FFF2-40B4-BE49-F238E27FC236}">
                  <a16:creationId xmlns:a16="http://schemas.microsoft.com/office/drawing/2014/main" id="{CA900568-AE7E-D1B3-1354-9D96C2A0317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0498" y="2423176"/>
              <a:ext cx="7848603" cy="838167"/>
            </a:xfrm>
            <a:prstGeom prst="rect">
              <a:avLst/>
            </a:prstGeom>
          </p:spPr>
        </p:pic>
        <p:pic>
          <p:nvPicPr>
            <p:cNvPr id="14" name="object 11">
              <a:extLst>
                <a:ext uri="{FF2B5EF4-FFF2-40B4-BE49-F238E27FC236}">
                  <a16:creationId xmlns:a16="http://schemas.microsoft.com/office/drawing/2014/main" id="{620E975C-C56D-B591-0C3B-CB0A00906587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205" y="2491740"/>
              <a:ext cx="7101840" cy="804672"/>
            </a:xfrm>
            <a:prstGeom prst="rect">
              <a:avLst/>
            </a:prstGeom>
          </p:spPr>
        </p:pic>
        <p:sp>
          <p:nvSpPr>
            <p:cNvPr id="15" name="object 12">
              <a:extLst>
                <a:ext uri="{FF2B5EF4-FFF2-40B4-BE49-F238E27FC236}">
                  <a16:creationId xmlns:a16="http://schemas.microsoft.com/office/drawing/2014/main" id="{2E2210CA-AB65-9266-B54E-E1639E6C0426}"/>
                </a:ext>
              </a:extLst>
            </p:cNvPr>
            <p:cNvSpPr/>
            <p:nvPr/>
          </p:nvSpPr>
          <p:spPr>
            <a:xfrm>
              <a:off x="228600" y="2438400"/>
              <a:ext cx="7772400" cy="762000"/>
            </a:xfrm>
            <a:custGeom>
              <a:avLst/>
              <a:gdLst/>
              <a:ahLst/>
              <a:cxnLst/>
              <a:rect l="l" t="t" r="r" b="b"/>
              <a:pathLst>
                <a:path w="7772400" h="762000">
                  <a:moveTo>
                    <a:pt x="7645400" y="0"/>
                  </a:moveTo>
                  <a:lnTo>
                    <a:pt x="127000" y="0"/>
                  </a:lnTo>
                  <a:lnTo>
                    <a:pt x="77565" y="9985"/>
                  </a:lnTo>
                  <a:lnTo>
                    <a:pt x="37196" y="37211"/>
                  </a:lnTo>
                  <a:lnTo>
                    <a:pt x="9980" y="77581"/>
                  </a:lnTo>
                  <a:lnTo>
                    <a:pt x="0" y="127000"/>
                  </a:lnTo>
                  <a:lnTo>
                    <a:pt x="0" y="635000"/>
                  </a:lnTo>
                  <a:lnTo>
                    <a:pt x="9980" y="684418"/>
                  </a:lnTo>
                  <a:lnTo>
                    <a:pt x="37196" y="724788"/>
                  </a:lnTo>
                  <a:lnTo>
                    <a:pt x="77565" y="752014"/>
                  </a:lnTo>
                  <a:lnTo>
                    <a:pt x="127000" y="762000"/>
                  </a:lnTo>
                  <a:lnTo>
                    <a:pt x="7645400" y="762000"/>
                  </a:lnTo>
                  <a:lnTo>
                    <a:pt x="7694818" y="752014"/>
                  </a:lnTo>
                  <a:lnTo>
                    <a:pt x="7735189" y="724788"/>
                  </a:lnTo>
                  <a:lnTo>
                    <a:pt x="7762414" y="684418"/>
                  </a:lnTo>
                  <a:lnTo>
                    <a:pt x="7772400" y="635000"/>
                  </a:lnTo>
                  <a:lnTo>
                    <a:pt x="7772400" y="127000"/>
                  </a:lnTo>
                  <a:lnTo>
                    <a:pt x="7762414" y="77581"/>
                  </a:lnTo>
                  <a:lnTo>
                    <a:pt x="7735189" y="37211"/>
                  </a:lnTo>
                  <a:lnTo>
                    <a:pt x="7694818" y="9985"/>
                  </a:lnTo>
                  <a:lnTo>
                    <a:pt x="764540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3">
              <a:extLst>
                <a:ext uri="{FF2B5EF4-FFF2-40B4-BE49-F238E27FC236}">
                  <a16:creationId xmlns:a16="http://schemas.microsoft.com/office/drawing/2014/main" id="{4157C570-149E-8E5D-B0AE-71B469E9B5F4}"/>
                </a:ext>
              </a:extLst>
            </p:cNvPr>
            <p:cNvSpPr/>
            <p:nvPr/>
          </p:nvSpPr>
          <p:spPr>
            <a:xfrm>
              <a:off x="228600" y="2438400"/>
              <a:ext cx="7772400" cy="762000"/>
            </a:xfrm>
            <a:custGeom>
              <a:avLst/>
              <a:gdLst/>
              <a:ahLst/>
              <a:cxnLst/>
              <a:rect l="l" t="t" r="r" b="b"/>
              <a:pathLst>
                <a:path w="7772400" h="762000">
                  <a:moveTo>
                    <a:pt x="0" y="127000"/>
                  </a:moveTo>
                  <a:lnTo>
                    <a:pt x="9980" y="77581"/>
                  </a:lnTo>
                  <a:lnTo>
                    <a:pt x="37196" y="37211"/>
                  </a:lnTo>
                  <a:lnTo>
                    <a:pt x="77565" y="9985"/>
                  </a:lnTo>
                  <a:lnTo>
                    <a:pt x="127000" y="0"/>
                  </a:lnTo>
                  <a:lnTo>
                    <a:pt x="7645400" y="0"/>
                  </a:lnTo>
                  <a:lnTo>
                    <a:pt x="7694818" y="9985"/>
                  </a:lnTo>
                  <a:lnTo>
                    <a:pt x="7735189" y="37211"/>
                  </a:lnTo>
                  <a:lnTo>
                    <a:pt x="7762414" y="77581"/>
                  </a:lnTo>
                  <a:lnTo>
                    <a:pt x="7772400" y="127000"/>
                  </a:lnTo>
                  <a:lnTo>
                    <a:pt x="7772400" y="635000"/>
                  </a:lnTo>
                  <a:lnTo>
                    <a:pt x="7762414" y="684418"/>
                  </a:lnTo>
                  <a:lnTo>
                    <a:pt x="7735189" y="724788"/>
                  </a:lnTo>
                  <a:lnTo>
                    <a:pt x="7694818" y="752014"/>
                  </a:lnTo>
                  <a:lnTo>
                    <a:pt x="7645400" y="762000"/>
                  </a:lnTo>
                  <a:lnTo>
                    <a:pt x="127000" y="762000"/>
                  </a:lnTo>
                  <a:lnTo>
                    <a:pt x="77565" y="752014"/>
                  </a:lnTo>
                  <a:lnTo>
                    <a:pt x="37196" y="724788"/>
                  </a:lnTo>
                  <a:lnTo>
                    <a:pt x="9980" y="684418"/>
                  </a:lnTo>
                  <a:lnTo>
                    <a:pt x="0" y="635000"/>
                  </a:lnTo>
                  <a:lnTo>
                    <a:pt x="0" y="1270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4">
            <a:extLst>
              <a:ext uri="{FF2B5EF4-FFF2-40B4-BE49-F238E27FC236}">
                <a16:creationId xmlns:a16="http://schemas.microsoft.com/office/drawing/2014/main" id="{4A1EBF45-EBD8-A0AE-7E2F-DAD4BCC75562}"/>
              </a:ext>
            </a:extLst>
          </p:cNvPr>
          <p:cNvSpPr txBox="1"/>
          <p:nvPr/>
        </p:nvSpPr>
        <p:spPr>
          <a:xfrm>
            <a:off x="319125" y="2946019"/>
            <a:ext cx="372364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15" dirty="0">
                <a:latin typeface="Cambria"/>
                <a:cs typeface="Cambria"/>
              </a:rPr>
              <a:t>Thrashing</a:t>
            </a:r>
            <a:r>
              <a:rPr sz="2700" spc="15" dirty="0">
                <a:latin typeface="Cambria"/>
                <a:cs typeface="Cambria"/>
              </a:rPr>
              <a:t> </a:t>
            </a:r>
            <a:r>
              <a:rPr sz="2700" spc="-5" dirty="0">
                <a:solidFill>
                  <a:srgbClr val="C00000"/>
                </a:solidFill>
                <a:latin typeface="Cambria"/>
                <a:cs typeface="Cambria"/>
              </a:rPr>
              <a:t>(a</a:t>
            </a:r>
            <a:r>
              <a:rPr sz="2400" spc="-7" baseline="-20833" dirty="0">
                <a:solidFill>
                  <a:srgbClr val="C00000"/>
                </a:solidFill>
                <a:latin typeface="Cambria"/>
                <a:cs typeface="Cambria"/>
              </a:rPr>
              <a:t>1</a:t>
            </a:r>
            <a:r>
              <a:rPr sz="2700" spc="-5" dirty="0">
                <a:solidFill>
                  <a:srgbClr val="C00000"/>
                </a:solidFill>
                <a:latin typeface="Cambria"/>
                <a:cs typeface="Cambria"/>
              </a:rPr>
              <a:t>,</a:t>
            </a:r>
            <a:r>
              <a:rPr sz="2700" spc="-1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700" spc="-5" dirty="0">
                <a:solidFill>
                  <a:srgbClr val="C00000"/>
                </a:solidFill>
                <a:latin typeface="Cambria"/>
                <a:cs typeface="Cambria"/>
              </a:rPr>
              <a:t>a</a:t>
            </a:r>
            <a:r>
              <a:rPr sz="2700" spc="-7" baseline="-20061" dirty="0">
                <a:solidFill>
                  <a:srgbClr val="C00000"/>
                </a:solidFill>
                <a:latin typeface="Cambria"/>
                <a:cs typeface="Cambria"/>
              </a:rPr>
              <a:t>2</a:t>
            </a:r>
            <a:r>
              <a:rPr sz="2700" spc="-5" dirty="0">
                <a:solidFill>
                  <a:srgbClr val="C00000"/>
                </a:solidFill>
                <a:latin typeface="Cambria"/>
                <a:cs typeface="Cambria"/>
              </a:rPr>
              <a:t>,….a</a:t>
            </a:r>
            <a:r>
              <a:rPr sz="2700" spc="-7" baseline="-20061" dirty="0">
                <a:solidFill>
                  <a:srgbClr val="C00000"/>
                </a:solidFill>
                <a:latin typeface="Cambria"/>
                <a:cs typeface="Cambria"/>
              </a:rPr>
              <a:t>k</a:t>
            </a:r>
            <a:r>
              <a:rPr sz="2700" spc="-5" dirty="0">
                <a:solidFill>
                  <a:srgbClr val="C00000"/>
                </a:solidFill>
                <a:latin typeface="Cambria"/>
                <a:cs typeface="Cambria"/>
              </a:rPr>
              <a:t>)</a:t>
            </a:r>
            <a:r>
              <a:rPr sz="2700" spc="-7" baseline="24691" dirty="0">
                <a:solidFill>
                  <a:srgbClr val="C00000"/>
                </a:solidFill>
                <a:latin typeface="Cambria"/>
                <a:cs typeface="Cambria"/>
              </a:rPr>
              <a:t>N</a:t>
            </a:r>
            <a:endParaRPr sz="2700" baseline="24691">
              <a:latin typeface="Cambria"/>
              <a:cs typeface="Cambria"/>
            </a:endParaRPr>
          </a:p>
        </p:txBody>
      </p:sp>
      <p:sp>
        <p:nvSpPr>
          <p:cNvPr id="18" name="object 15">
            <a:extLst>
              <a:ext uri="{FF2B5EF4-FFF2-40B4-BE49-F238E27FC236}">
                <a16:creationId xmlns:a16="http://schemas.microsoft.com/office/drawing/2014/main" id="{CE394044-5DCB-1B22-93D5-919FD14A9B6E}"/>
              </a:ext>
            </a:extLst>
          </p:cNvPr>
          <p:cNvSpPr txBox="1"/>
          <p:nvPr/>
        </p:nvSpPr>
        <p:spPr>
          <a:xfrm>
            <a:off x="5374385" y="2956687"/>
            <a:ext cx="16198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C00000"/>
                </a:solidFill>
                <a:latin typeface="Cambria"/>
                <a:cs typeface="Cambria"/>
              </a:rPr>
              <a:t>[k</a:t>
            </a:r>
            <a:r>
              <a:rPr sz="1800" spc="-2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C00000"/>
                </a:solidFill>
                <a:latin typeface="Cambria"/>
                <a:cs typeface="Cambria"/>
              </a:rPr>
              <a:t>&gt;</a:t>
            </a:r>
            <a:r>
              <a:rPr sz="1800" spc="-3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800" spc="-5" dirty="0">
                <a:solidFill>
                  <a:srgbClr val="C00000"/>
                </a:solidFill>
                <a:latin typeface="Cambria"/>
                <a:cs typeface="Cambria"/>
              </a:rPr>
              <a:t>cache</a:t>
            </a:r>
            <a:r>
              <a:rPr sz="1800" spc="-1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C00000"/>
                </a:solidFill>
                <a:latin typeface="Cambria"/>
                <a:cs typeface="Cambria"/>
              </a:rPr>
              <a:t>size]</a:t>
            </a:r>
            <a:endParaRPr sz="1800">
              <a:latin typeface="Cambria"/>
              <a:cs typeface="Cambria"/>
            </a:endParaRPr>
          </a:p>
        </p:txBody>
      </p:sp>
      <p:grpSp>
        <p:nvGrpSpPr>
          <p:cNvPr id="19" name="object 16">
            <a:extLst>
              <a:ext uri="{FF2B5EF4-FFF2-40B4-BE49-F238E27FC236}">
                <a16:creationId xmlns:a16="http://schemas.microsoft.com/office/drawing/2014/main" id="{D0AAFE5F-851B-139C-2A57-91E3B2528B44}"/>
              </a:ext>
            </a:extLst>
          </p:cNvPr>
          <p:cNvGrpSpPr/>
          <p:nvPr/>
        </p:nvGrpSpPr>
        <p:grpSpPr>
          <a:xfrm>
            <a:off x="108204" y="3995944"/>
            <a:ext cx="7931150" cy="873760"/>
            <a:chOff x="108204" y="3642376"/>
            <a:chExt cx="7931150" cy="873760"/>
          </a:xfrm>
        </p:grpSpPr>
        <p:pic>
          <p:nvPicPr>
            <p:cNvPr id="20" name="object 17">
              <a:extLst>
                <a:ext uri="{FF2B5EF4-FFF2-40B4-BE49-F238E27FC236}">
                  <a16:creationId xmlns:a16="http://schemas.microsoft.com/office/drawing/2014/main" id="{888A0D1E-0F71-3B3E-059F-AC648CDB6E8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0498" y="3642376"/>
              <a:ext cx="7848603" cy="838167"/>
            </a:xfrm>
            <a:prstGeom prst="rect">
              <a:avLst/>
            </a:prstGeom>
          </p:spPr>
        </p:pic>
        <p:pic>
          <p:nvPicPr>
            <p:cNvPr id="21" name="object 18">
              <a:extLst>
                <a:ext uri="{FF2B5EF4-FFF2-40B4-BE49-F238E27FC236}">
                  <a16:creationId xmlns:a16="http://schemas.microsoft.com/office/drawing/2014/main" id="{B4372025-8449-D326-3CB2-124CE7D392A7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8204" y="3710939"/>
              <a:ext cx="5507736" cy="804672"/>
            </a:xfrm>
            <a:prstGeom prst="rect">
              <a:avLst/>
            </a:prstGeom>
          </p:spPr>
        </p:pic>
        <p:sp>
          <p:nvSpPr>
            <p:cNvPr id="22" name="object 19">
              <a:extLst>
                <a:ext uri="{FF2B5EF4-FFF2-40B4-BE49-F238E27FC236}">
                  <a16:creationId xmlns:a16="http://schemas.microsoft.com/office/drawing/2014/main" id="{1C80E129-8BDC-42AE-FDA2-001877FCA8CE}"/>
                </a:ext>
              </a:extLst>
            </p:cNvPr>
            <p:cNvSpPr/>
            <p:nvPr/>
          </p:nvSpPr>
          <p:spPr>
            <a:xfrm>
              <a:off x="228600" y="3657599"/>
              <a:ext cx="7772400" cy="762000"/>
            </a:xfrm>
            <a:custGeom>
              <a:avLst/>
              <a:gdLst/>
              <a:ahLst/>
              <a:cxnLst/>
              <a:rect l="l" t="t" r="r" b="b"/>
              <a:pathLst>
                <a:path w="7772400" h="762000">
                  <a:moveTo>
                    <a:pt x="7645400" y="0"/>
                  </a:moveTo>
                  <a:lnTo>
                    <a:pt x="127000" y="0"/>
                  </a:lnTo>
                  <a:lnTo>
                    <a:pt x="77565" y="9985"/>
                  </a:lnTo>
                  <a:lnTo>
                    <a:pt x="37196" y="37210"/>
                  </a:lnTo>
                  <a:lnTo>
                    <a:pt x="9980" y="77581"/>
                  </a:lnTo>
                  <a:lnTo>
                    <a:pt x="0" y="127000"/>
                  </a:lnTo>
                  <a:lnTo>
                    <a:pt x="0" y="635000"/>
                  </a:lnTo>
                  <a:lnTo>
                    <a:pt x="9980" y="684418"/>
                  </a:lnTo>
                  <a:lnTo>
                    <a:pt x="37196" y="724788"/>
                  </a:lnTo>
                  <a:lnTo>
                    <a:pt x="77565" y="752014"/>
                  </a:lnTo>
                  <a:lnTo>
                    <a:pt x="127000" y="762000"/>
                  </a:lnTo>
                  <a:lnTo>
                    <a:pt x="7645400" y="762000"/>
                  </a:lnTo>
                  <a:lnTo>
                    <a:pt x="7694818" y="752014"/>
                  </a:lnTo>
                  <a:lnTo>
                    <a:pt x="7735189" y="724789"/>
                  </a:lnTo>
                  <a:lnTo>
                    <a:pt x="7762414" y="684418"/>
                  </a:lnTo>
                  <a:lnTo>
                    <a:pt x="7772400" y="635000"/>
                  </a:lnTo>
                  <a:lnTo>
                    <a:pt x="7772400" y="127000"/>
                  </a:lnTo>
                  <a:lnTo>
                    <a:pt x="7762414" y="77581"/>
                  </a:lnTo>
                  <a:lnTo>
                    <a:pt x="7735189" y="37211"/>
                  </a:lnTo>
                  <a:lnTo>
                    <a:pt x="7694818" y="9985"/>
                  </a:lnTo>
                  <a:lnTo>
                    <a:pt x="764540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0">
              <a:extLst>
                <a:ext uri="{FF2B5EF4-FFF2-40B4-BE49-F238E27FC236}">
                  <a16:creationId xmlns:a16="http://schemas.microsoft.com/office/drawing/2014/main" id="{E7336688-75C4-88C8-BBC7-6D47AB4BFDD3}"/>
                </a:ext>
              </a:extLst>
            </p:cNvPr>
            <p:cNvSpPr/>
            <p:nvPr/>
          </p:nvSpPr>
          <p:spPr>
            <a:xfrm>
              <a:off x="228600" y="3657599"/>
              <a:ext cx="7772400" cy="762000"/>
            </a:xfrm>
            <a:custGeom>
              <a:avLst/>
              <a:gdLst/>
              <a:ahLst/>
              <a:cxnLst/>
              <a:rect l="l" t="t" r="r" b="b"/>
              <a:pathLst>
                <a:path w="7772400" h="762000">
                  <a:moveTo>
                    <a:pt x="0" y="127000"/>
                  </a:moveTo>
                  <a:lnTo>
                    <a:pt x="9980" y="77581"/>
                  </a:lnTo>
                  <a:lnTo>
                    <a:pt x="37196" y="37210"/>
                  </a:lnTo>
                  <a:lnTo>
                    <a:pt x="77565" y="9985"/>
                  </a:lnTo>
                  <a:lnTo>
                    <a:pt x="127000" y="0"/>
                  </a:lnTo>
                  <a:lnTo>
                    <a:pt x="7645400" y="0"/>
                  </a:lnTo>
                  <a:lnTo>
                    <a:pt x="7694818" y="9985"/>
                  </a:lnTo>
                  <a:lnTo>
                    <a:pt x="7735189" y="37211"/>
                  </a:lnTo>
                  <a:lnTo>
                    <a:pt x="7762414" y="77581"/>
                  </a:lnTo>
                  <a:lnTo>
                    <a:pt x="7772400" y="127000"/>
                  </a:lnTo>
                  <a:lnTo>
                    <a:pt x="7772400" y="635000"/>
                  </a:lnTo>
                  <a:lnTo>
                    <a:pt x="7762414" y="684418"/>
                  </a:lnTo>
                  <a:lnTo>
                    <a:pt x="7735189" y="724789"/>
                  </a:lnTo>
                  <a:lnTo>
                    <a:pt x="7694818" y="752014"/>
                  </a:lnTo>
                  <a:lnTo>
                    <a:pt x="7645400" y="762000"/>
                  </a:lnTo>
                  <a:lnTo>
                    <a:pt x="127000" y="762000"/>
                  </a:lnTo>
                  <a:lnTo>
                    <a:pt x="77565" y="752014"/>
                  </a:lnTo>
                  <a:lnTo>
                    <a:pt x="37196" y="724788"/>
                  </a:lnTo>
                  <a:lnTo>
                    <a:pt x="9980" y="684418"/>
                  </a:lnTo>
                  <a:lnTo>
                    <a:pt x="0" y="635000"/>
                  </a:lnTo>
                  <a:lnTo>
                    <a:pt x="0" y="1270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1">
            <a:extLst>
              <a:ext uri="{FF2B5EF4-FFF2-40B4-BE49-F238E27FC236}">
                <a16:creationId xmlns:a16="http://schemas.microsoft.com/office/drawing/2014/main" id="{A7527E2C-6D29-E61C-9DA8-D3BD344C52FF}"/>
              </a:ext>
            </a:extLst>
          </p:cNvPr>
          <p:cNvGrpSpPr/>
          <p:nvPr/>
        </p:nvGrpSpPr>
        <p:grpSpPr>
          <a:xfrm>
            <a:off x="108204" y="5291344"/>
            <a:ext cx="7931150" cy="873760"/>
            <a:chOff x="108204" y="4937776"/>
            <a:chExt cx="7931150" cy="873760"/>
          </a:xfrm>
        </p:grpSpPr>
        <p:pic>
          <p:nvPicPr>
            <p:cNvPr id="25" name="object 22">
              <a:extLst>
                <a:ext uri="{FF2B5EF4-FFF2-40B4-BE49-F238E27FC236}">
                  <a16:creationId xmlns:a16="http://schemas.microsoft.com/office/drawing/2014/main" id="{141C7569-315A-0F66-B5D0-70C8030820D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0498" y="4937776"/>
              <a:ext cx="7848603" cy="838167"/>
            </a:xfrm>
            <a:prstGeom prst="rect">
              <a:avLst/>
            </a:prstGeom>
          </p:spPr>
        </p:pic>
        <p:pic>
          <p:nvPicPr>
            <p:cNvPr id="26" name="object 23">
              <a:extLst>
                <a:ext uri="{FF2B5EF4-FFF2-40B4-BE49-F238E27FC236}">
                  <a16:creationId xmlns:a16="http://schemas.microsoft.com/office/drawing/2014/main" id="{D2A52B92-F472-41ED-B211-749290E205ED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8204" y="5006339"/>
              <a:ext cx="4840224" cy="804672"/>
            </a:xfrm>
            <a:prstGeom prst="rect">
              <a:avLst/>
            </a:prstGeom>
          </p:spPr>
        </p:pic>
        <p:sp>
          <p:nvSpPr>
            <p:cNvPr id="27" name="object 24">
              <a:extLst>
                <a:ext uri="{FF2B5EF4-FFF2-40B4-BE49-F238E27FC236}">
                  <a16:creationId xmlns:a16="http://schemas.microsoft.com/office/drawing/2014/main" id="{797A1A70-205C-2CC7-73AA-4A92FB89BD9D}"/>
                </a:ext>
              </a:extLst>
            </p:cNvPr>
            <p:cNvSpPr/>
            <p:nvPr/>
          </p:nvSpPr>
          <p:spPr>
            <a:xfrm>
              <a:off x="228600" y="4952999"/>
              <a:ext cx="7772400" cy="762000"/>
            </a:xfrm>
            <a:custGeom>
              <a:avLst/>
              <a:gdLst/>
              <a:ahLst/>
              <a:cxnLst/>
              <a:rect l="l" t="t" r="r" b="b"/>
              <a:pathLst>
                <a:path w="7772400" h="762000">
                  <a:moveTo>
                    <a:pt x="7645400" y="0"/>
                  </a:moveTo>
                  <a:lnTo>
                    <a:pt x="127000" y="0"/>
                  </a:lnTo>
                  <a:lnTo>
                    <a:pt x="77565" y="9985"/>
                  </a:lnTo>
                  <a:lnTo>
                    <a:pt x="37196" y="37210"/>
                  </a:lnTo>
                  <a:lnTo>
                    <a:pt x="9980" y="77581"/>
                  </a:lnTo>
                  <a:lnTo>
                    <a:pt x="0" y="127000"/>
                  </a:lnTo>
                  <a:lnTo>
                    <a:pt x="0" y="635000"/>
                  </a:lnTo>
                  <a:lnTo>
                    <a:pt x="9980" y="684434"/>
                  </a:lnTo>
                  <a:lnTo>
                    <a:pt x="37196" y="724803"/>
                  </a:lnTo>
                  <a:lnTo>
                    <a:pt x="77565" y="752019"/>
                  </a:lnTo>
                  <a:lnTo>
                    <a:pt x="127000" y="762000"/>
                  </a:lnTo>
                  <a:lnTo>
                    <a:pt x="7645400" y="762000"/>
                  </a:lnTo>
                  <a:lnTo>
                    <a:pt x="7694818" y="752019"/>
                  </a:lnTo>
                  <a:lnTo>
                    <a:pt x="7735189" y="724803"/>
                  </a:lnTo>
                  <a:lnTo>
                    <a:pt x="7762414" y="684434"/>
                  </a:lnTo>
                  <a:lnTo>
                    <a:pt x="7772400" y="635000"/>
                  </a:lnTo>
                  <a:lnTo>
                    <a:pt x="7772400" y="127000"/>
                  </a:lnTo>
                  <a:lnTo>
                    <a:pt x="7762414" y="77581"/>
                  </a:lnTo>
                  <a:lnTo>
                    <a:pt x="7735189" y="37211"/>
                  </a:lnTo>
                  <a:lnTo>
                    <a:pt x="7694818" y="9985"/>
                  </a:lnTo>
                  <a:lnTo>
                    <a:pt x="764540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5">
              <a:extLst>
                <a:ext uri="{FF2B5EF4-FFF2-40B4-BE49-F238E27FC236}">
                  <a16:creationId xmlns:a16="http://schemas.microsoft.com/office/drawing/2014/main" id="{DAC2B0EA-637F-59E8-CF86-8F81B48DED75}"/>
                </a:ext>
              </a:extLst>
            </p:cNvPr>
            <p:cNvSpPr/>
            <p:nvPr/>
          </p:nvSpPr>
          <p:spPr>
            <a:xfrm>
              <a:off x="228600" y="4952999"/>
              <a:ext cx="7772400" cy="762000"/>
            </a:xfrm>
            <a:custGeom>
              <a:avLst/>
              <a:gdLst/>
              <a:ahLst/>
              <a:cxnLst/>
              <a:rect l="l" t="t" r="r" b="b"/>
              <a:pathLst>
                <a:path w="7772400" h="762000">
                  <a:moveTo>
                    <a:pt x="0" y="127000"/>
                  </a:moveTo>
                  <a:lnTo>
                    <a:pt x="9980" y="77581"/>
                  </a:lnTo>
                  <a:lnTo>
                    <a:pt x="37196" y="37210"/>
                  </a:lnTo>
                  <a:lnTo>
                    <a:pt x="77565" y="9985"/>
                  </a:lnTo>
                  <a:lnTo>
                    <a:pt x="127000" y="0"/>
                  </a:lnTo>
                  <a:lnTo>
                    <a:pt x="7645400" y="0"/>
                  </a:lnTo>
                  <a:lnTo>
                    <a:pt x="7694818" y="9985"/>
                  </a:lnTo>
                  <a:lnTo>
                    <a:pt x="7735189" y="37211"/>
                  </a:lnTo>
                  <a:lnTo>
                    <a:pt x="7762414" y="77581"/>
                  </a:lnTo>
                  <a:lnTo>
                    <a:pt x="7772400" y="127000"/>
                  </a:lnTo>
                  <a:lnTo>
                    <a:pt x="7772400" y="635000"/>
                  </a:lnTo>
                  <a:lnTo>
                    <a:pt x="7762414" y="684434"/>
                  </a:lnTo>
                  <a:lnTo>
                    <a:pt x="7735189" y="724803"/>
                  </a:lnTo>
                  <a:lnTo>
                    <a:pt x="7694818" y="752019"/>
                  </a:lnTo>
                  <a:lnTo>
                    <a:pt x="7645400" y="762000"/>
                  </a:lnTo>
                  <a:lnTo>
                    <a:pt x="127000" y="762000"/>
                  </a:lnTo>
                  <a:lnTo>
                    <a:pt x="77565" y="752019"/>
                  </a:lnTo>
                  <a:lnTo>
                    <a:pt x="37196" y="724803"/>
                  </a:lnTo>
                  <a:lnTo>
                    <a:pt x="9980" y="684434"/>
                  </a:lnTo>
                  <a:lnTo>
                    <a:pt x="0" y="635000"/>
                  </a:lnTo>
                  <a:lnTo>
                    <a:pt x="0" y="1270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6">
            <a:extLst>
              <a:ext uri="{FF2B5EF4-FFF2-40B4-BE49-F238E27FC236}">
                <a16:creationId xmlns:a16="http://schemas.microsoft.com/office/drawing/2014/main" id="{D5F5B799-577D-BFD3-3CF2-587169467F18}"/>
              </a:ext>
            </a:extLst>
          </p:cNvPr>
          <p:cNvSpPr txBox="1"/>
          <p:nvPr/>
        </p:nvSpPr>
        <p:spPr>
          <a:xfrm>
            <a:off x="306425" y="4165472"/>
            <a:ext cx="4418330" cy="17329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2700" spc="-10" dirty="0">
                <a:latin typeface="Cambria"/>
                <a:cs typeface="Cambria"/>
              </a:rPr>
              <a:t>Streaming</a:t>
            </a:r>
            <a:r>
              <a:rPr sz="2700" dirty="0">
                <a:latin typeface="Cambria"/>
                <a:cs typeface="Cambria"/>
              </a:rPr>
              <a:t> </a:t>
            </a:r>
            <a:r>
              <a:rPr sz="2700" spc="-5" dirty="0">
                <a:solidFill>
                  <a:srgbClr val="C00000"/>
                </a:solidFill>
                <a:latin typeface="Cambria"/>
                <a:cs typeface="Cambria"/>
              </a:rPr>
              <a:t>(a</a:t>
            </a:r>
            <a:r>
              <a:rPr sz="2400" spc="-7" baseline="-20833" dirty="0">
                <a:solidFill>
                  <a:srgbClr val="C00000"/>
                </a:solidFill>
                <a:latin typeface="Cambria"/>
                <a:cs typeface="Cambria"/>
              </a:rPr>
              <a:t>1</a:t>
            </a:r>
            <a:r>
              <a:rPr sz="2700" spc="-5" dirty="0">
                <a:solidFill>
                  <a:srgbClr val="C00000"/>
                </a:solidFill>
                <a:latin typeface="Cambria"/>
                <a:cs typeface="Cambria"/>
              </a:rPr>
              <a:t>, a</a:t>
            </a:r>
            <a:r>
              <a:rPr sz="2700" spc="-7" baseline="-20061" dirty="0">
                <a:solidFill>
                  <a:srgbClr val="C00000"/>
                </a:solidFill>
                <a:latin typeface="Cambria"/>
                <a:cs typeface="Cambria"/>
              </a:rPr>
              <a:t>2</a:t>
            </a:r>
            <a:r>
              <a:rPr sz="2700" spc="-5" dirty="0">
                <a:solidFill>
                  <a:srgbClr val="C00000"/>
                </a:solidFill>
                <a:latin typeface="Cambria"/>
                <a:cs typeface="Cambria"/>
              </a:rPr>
              <a:t>,….a</a:t>
            </a:r>
            <a:r>
              <a:rPr sz="2700" spc="-7" baseline="-20061" dirty="0">
                <a:solidFill>
                  <a:srgbClr val="C00000"/>
                </a:solidFill>
                <a:latin typeface="Cambria"/>
                <a:cs typeface="Cambria"/>
              </a:rPr>
              <a:t>∞</a:t>
            </a:r>
            <a:r>
              <a:rPr sz="2700" spc="-5" dirty="0">
                <a:solidFill>
                  <a:srgbClr val="C00000"/>
                </a:solidFill>
                <a:latin typeface="Cambria"/>
                <a:cs typeface="Cambria"/>
              </a:rPr>
              <a:t>)</a:t>
            </a:r>
            <a:r>
              <a:rPr sz="2700" spc="-7" baseline="24691" dirty="0">
                <a:solidFill>
                  <a:srgbClr val="C00000"/>
                </a:solidFill>
                <a:latin typeface="Cambria"/>
                <a:cs typeface="Cambria"/>
              </a:rPr>
              <a:t>N</a:t>
            </a:r>
            <a:endParaRPr sz="2700" baseline="24691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3600">
              <a:latin typeface="Cambria"/>
              <a:cs typeface="Cambria"/>
            </a:endParaRPr>
          </a:p>
          <a:p>
            <a:pPr marL="50800">
              <a:lnSpc>
                <a:spcPct val="100000"/>
              </a:lnSpc>
              <a:spcBef>
                <a:spcPts val="2740"/>
              </a:spcBef>
            </a:pPr>
            <a:r>
              <a:rPr sz="2700" spc="-10" dirty="0">
                <a:latin typeface="Cambria"/>
                <a:cs typeface="Cambria"/>
              </a:rPr>
              <a:t>Combination</a:t>
            </a:r>
            <a:r>
              <a:rPr sz="2700" spc="-5" dirty="0">
                <a:latin typeface="Cambria"/>
                <a:cs typeface="Cambria"/>
              </a:rPr>
              <a:t> of</a:t>
            </a:r>
            <a:r>
              <a:rPr sz="2700" spc="-10" dirty="0">
                <a:latin typeface="Cambria"/>
                <a:cs typeface="Cambria"/>
              </a:rPr>
              <a:t> </a:t>
            </a:r>
            <a:r>
              <a:rPr sz="2700" spc="-35" dirty="0">
                <a:latin typeface="Cambria"/>
                <a:cs typeface="Cambria"/>
              </a:rPr>
              <a:t>above</a:t>
            </a:r>
            <a:r>
              <a:rPr sz="2700" spc="15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three</a:t>
            </a:r>
            <a:endParaRPr sz="270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233200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948D9-6522-36AE-0DAC-59DD9D400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LRU limitations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B78684-4842-7F5A-A3ED-CF138934D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2B9314-15E6-FB70-B965-35EF019CB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7</a:t>
            </a:fld>
            <a:endParaRPr lang="en-IN" dirty="0"/>
          </a:p>
        </p:txBody>
      </p:sp>
      <p:grpSp>
        <p:nvGrpSpPr>
          <p:cNvPr id="6" name="object 3">
            <a:extLst>
              <a:ext uri="{FF2B5EF4-FFF2-40B4-BE49-F238E27FC236}">
                <a16:creationId xmlns:a16="http://schemas.microsoft.com/office/drawing/2014/main" id="{8D5ADBD2-FCE0-769B-7674-D88BB78FB802}"/>
              </a:ext>
            </a:extLst>
          </p:cNvPr>
          <p:cNvGrpSpPr/>
          <p:nvPr/>
        </p:nvGrpSpPr>
        <p:grpSpPr>
          <a:xfrm>
            <a:off x="443483" y="1245249"/>
            <a:ext cx="5387340" cy="1066800"/>
            <a:chOff x="272795" y="975372"/>
            <a:chExt cx="5387340" cy="1066800"/>
          </a:xfrm>
        </p:grpSpPr>
        <p:pic>
          <p:nvPicPr>
            <p:cNvPr id="7" name="object 4">
              <a:extLst>
                <a:ext uri="{FF2B5EF4-FFF2-40B4-BE49-F238E27FC236}">
                  <a16:creationId xmlns:a16="http://schemas.microsoft.com/office/drawing/2014/main" id="{370B6AA1-5D54-0D5F-1017-44A972FF32C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2899" y="975372"/>
              <a:ext cx="5257800" cy="1066774"/>
            </a:xfrm>
            <a:prstGeom prst="rect">
              <a:avLst/>
            </a:prstGeom>
          </p:spPr>
        </p:pic>
        <p:pic>
          <p:nvPicPr>
            <p:cNvPr id="8" name="object 5">
              <a:extLst>
                <a:ext uri="{FF2B5EF4-FFF2-40B4-BE49-F238E27FC236}">
                  <a16:creationId xmlns:a16="http://schemas.microsoft.com/office/drawing/2014/main" id="{2D565FDB-362B-4F5E-639F-1A755A6867C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2795" y="1158239"/>
              <a:ext cx="5387340" cy="804672"/>
            </a:xfrm>
            <a:prstGeom prst="rect">
              <a:avLst/>
            </a:prstGeom>
          </p:spPr>
        </p:pic>
        <p:sp>
          <p:nvSpPr>
            <p:cNvPr id="9" name="object 6">
              <a:extLst>
                <a:ext uri="{FF2B5EF4-FFF2-40B4-BE49-F238E27FC236}">
                  <a16:creationId xmlns:a16="http://schemas.microsoft.com/office/drawing/2014/main" id="{C2367159-9635-5CBA-245D-F134743C7115}"/>
                </a:ext>
              </a:extLst>
            </p:cNvPr>
            <p:cNvSpPr/>
            <p:nvPr/>
          </p:nvSpPr>
          <p:spPr>
            <a:xfrm>
              <a:off x="381000" y="990599"/>
              <a:ext cx="5181600" cy="990600"/>
            </a:xfrm>
            <a:custGeom>
              <a:avLst/>
              <a:gdLst/>
              <a:ahLst/>
              <a:cxnLst/>
              <a:rect l="l" t="t" r="r" b="b"/>
              <a:pathLst>
                <a:path w="5181600" h="990600">
                  <a:moveTo>
                    <a:pt x="5016500" y="0"/>
                  </a:moveTo>
                  <a:lnTo>
                    <a:pt x="165100" y="0"/>
                  </a:lnTo>
                  <a:lnTo>
                    <a:pt x="121208" y="5897"/>
                  </a:lnTo>
                  <a:lnTo>
                    <a:pt x="81769" y="22540"/>
                  </a:lnTo>
                  <a:lnTo>
                    <a:pt x="48355" y="48355"/>
                  </a:lnTo>
                  <a:lnTo>
                    <a:pt x="22540" y="81769"/>
                  </a:lnTo>
                  <a:lnTo>
                    <a:pt x="5897" y="121208"/>
                  </a:lnTo>
                  <a:lnTo>
                    <a:pt x="0" y="165100"/>
                  </a:lnTo>
                  <a:lnTo>
                    <a:pt x="0" y="825500"/>
                  </a:lnTo>
                  <a:lnTo>
                    <a:pt x="5897" y="869391"/>
                  </a:lnTo>
                  <a:lnTo>
                    <a:pt x="22540" y="908830"/>
                  </a:lnTo>
                  <a:lnTo>
                    <a:pt x="48355" y="942244"/>
                  </a:lnTo>
                  <a:lnTo>
                    <a:pt x="81769" y="968059"/>
                  </a:lnTo>
                  <a:lnTo>
                    <a:pt x="121208" y="984702"/>
                  </a:lnTo>
                  <a:lnTo>
                    <a:pt x="165100" y="990600"/>
                  </a:lnTo>
                  <a:lnTo>
                    <a:pt x="5016500" y="990600"/>
                  </a:lnTo>
                  <a:lnTo>
                    <a:pt x="5060391" y="984702"/>
                  </a:lnTo>
                  <a:lnTo>
                    <a:pt x="5099830" y="968059"/>
                  </a:lnTo>
                  <a:lnTo>
                    <a:pt x="5133244" y="942244"/>
                  </a:lnTo>
                  <a:lnTo>
                    <a:pt x="5159059" y="908830"/>
                  </a:lnTo>
                  <a:lnTo>
                    <a:pt x="5175702" y="869391"/>
                  </a:lnTo>
                  <a:lnTo>
                    <a:pt x="5181600" y="825500"/>
                  </a:lnTo>
                  <a:lnTo>
                    <a:pt x="5181600" y="165100"/>
                  </a:lnTo>
                  <a:lnTo>
                    <a:pt x="5175702" y="121208"/>
                  </a:lnTo>
                  <a:lnTo>
                    <a:pt x="5159059" y="81769"/>
                  </a:lnTo>
                  <a:lnTo>
                    <a:pt x="5133244" y="48355"/>
                  </a:lnTo>
                  <a:lnTo>
                    <a:pt x="5099830" y="22540"/>
                  </a:lnTo>
                  <a:lnTo>
                    <a:pt x="5060391" y="5897"/>
                  </a:lnTo>
                  <a:lnTo>
                    <a:pt x="501650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62E80300-307D-26C3-1393-3711790E12BB}"/>
                </a:ext>
              </a:extLst>
            </p:cNvPr>
            <p:cNvSpPr/>
            <p:nvPr/>
          </p:nvSpPr>
          <p:spPr>
            <a:xfrm>
              <a:off x="381000" y="990599"/>
              <a:ext cx="5181600" cy="990600"/>
            </a:xfrm>
            <a:custGeom>
              <a:avLst/>
              <a:gdLst/>
              <a:ahLst/>
              <a:cxnLst/>
              <a:rect l="l" t="t" r="r" b="b"/>
              <a:pathLst>
                <a:path w="5181600" h="990600">
                  <a:moveTo>
                    <a:pt x="0" y="165100"/>
                  </a:moveTo>
                  <a:lnTo>
                    <a:pt x="5897" y="121208"/>
                  </a:lnTo>
                  <a:lnTo>
                    <a:pt x="22540" y="81769"/>
                  </a:lnTo>
                  <a:lnTo>
                    <a:pt x="48355" y="48355"/>
                  </a:lnTo>
                  <a:lnTo>
                    <a:pt x="81769" y="22540"/>
                  </a:lnTo>
                  <a:lnTo>
                    <a:pt x="121208" y="5897"/>
                  </a:lnTo>
                  <a:lnTo>
                    <a:pt x="165100" y="0"/>
                  </a:lnTo>
                  <a:lnTo>
                    <a:pt x="5016500" y="0"/>
                  </a:lnTo>
                  <a:lnTo>
                    <a:pt x="5060391" y="5897"/>
                  </a:lnTo>
                  <a:lnTo>
                    <a:pt x="5099830" y="22540"/>
                  </a:lnTo>
                  <a:lnTo>
                    <a:pt x="5133244" y="48355"/>
                  </a:lnTo>
                  <a:lnTo>
                    <a:pt x="5159059" y="81769"/>
                  </a:lnTo>
                  <a:lnTo>
                    <a:pt x="5175702" y="121208"/>
                  </a:lnTo>
                  <a:lnTo>
                    <a:pt x="5181600" y="165100"/>
                  </a:lnTo>
                  <a:lnTo>
                    <a:pt x="5181600" y="825500"/>
                  </a:lnTo>
                  <a:lnTo>
                    <a:pt x="5175702" y="869391"/>
                  </a:lnTo>
                  <a:lnTo>
                    <a:pt x="5159059" y="908830"/>
                  </a:lnTo>
                  <a:lnTo>
                    <a:pt x="5133244" y="942244"/>
                  </a:lnTo>
                  <a:lnTo>
                    <a:pt x="5099830" y="968059"/>
                  </a:lnTo>
                  <a:lnTo>
                    <a:pt x="5060391" y="984702"/>
                  </a:lnTo>
                  <a:lnTo>
                    <a:pt x="5016500" y="990600"/>
                  </a:lnTo>
                  <a:lnTo>
                    <a:pt x="165100" y="990600"/>
                  </a:lnTo>
                  <a:lnTo>
                    <a:pt x="121208" y="984702"/>
                  </a:lnTo>
                  <a:lnTo>
                    <a:pt x="81769" y="968059"/>
                  </a:lnTo>
                  <a:lnTo>
                    <a:pt x="48355" y="942244"/>
                  </a:lnTo>
                  <a:lnTo>
                    <a:pt x="22540" y="908830"/>
                  </a:lnTo>
                  <a:lnTo>
                    <a:pt x="5897" y="869391"/>
                  </a:lnTo>
                  <a:lnTo>
                    <a:pt x="0" y="825500"/>
                  </a:lnTo>
                  <a:lnTo>
                    <a:pt x="0" y="1651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8">
            <a:extLst>
              <a:ext uri="{FF2B5EF4-FFF2-40B4-BE49-F238E27FC236}">
                <a16:creationId xmlns:a16="http://schemas.microsoft.com/office/drawing/2014/main" id="{B089A5B7-7F84-BD92-D41F-020710454B74}"/>
              </a:ext>
            </a:extLst>
          </p:cNvPr>
          <p:cNvGrpSpPr/>
          <p:nvPr/>
        </p:nvGrpSpPr>
        <p:grpSpPr>
          <a:xfrm>
            <a:off x="461772" y="2731137"/>
            <a:ext cx="6224270" cy="1628139"/>
            <a:chOff x="291084" y="2461260"/>
            <a:chExt cx="6224270" cy="1628139"/>
          </a:xfrm>
        </p:grpSpPr>
        <p:pic>
          <p:nvPicPr>
            <p:cNvPr id="12" name="object 9">
              <a:extLst>
                <a:ext uri="{FF2B5EF4-FFF2-40B4-BE49-F238E27FC236}">
                  <a16:creationId xmlns:a16="http://schemas.microsoft.com/office/drawing/2014/main" id="{EBD7D8DC-0D83-D659-E004-F30953432FAD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2900" y="2499350"/>
              <a:ext cx="6172200" cy="1447818"/>
            </a:xfrm>
            <a:prstGeom prst="rect">
              <a:avLst/>
            </a:prstGeom>
          </p:spPr>
        </p:pic>
        <p:pic>
          <p:nvPicPr>
            <p:cNvPr id="13" name="object 10">
              <a:extLst>
                <a:ext uri="{FF2B5EF4-FFF2-40B4-BE49-F238E27FC236}">
                  <a16:creationId xmlns:a16="http://schemas.microsoft.com/office/drawing/2014/main" id="{ED406C5E-8827-D920-FABD-ABE59943190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1084" y="2461260"/>
              <a:ext cx="5568696" cy="1627632"/>
            </a:xfrm>
            <a:prstGeom prst="rect">
              <a:avLst/>
            </a:prstGeom>
          </p:spPr>
        </p:pic>
        <p:sp>
          <p:nvSpPr>
            <p:cNvPr id="14" name="object 11">
              <a:extLst>
                <a:ext uri="{FF2B5EF4-FFF2-40B4-BE49-F238E27FC236}">
                  <a16:creationId xmlns:a16="http://schemas.microsoft.com/office/drawing/2014/main" id="{93FDBF36-6F55-E533-F9C7-6CB3A36C8616}"/>
                </a:ext>
              </a:extLst>
            </p:cNvPr>
            <p:cNvSpPr/>
            <p:nvPr/>
          </p:nvSpPr>
          <p:spPr>
            <a:xfrm>
              <a:off x="381000" y="2514600"/>
              <a:ext cx="6096000" cy="1371600"/>
            </a:xfrm>
            <a:custGeom>
              <a:avLst/>
              <a:gdLst/>
              <a:ahLst/>
              <a:cxnLst/>
              <a:rect l="l" t="t" r="r" b="b"/>
              <a:pathLst>
                <a:path w="6096000" h="1371600">
                  <a:moveTo>
                    <a:pt x="5867400" y="0"/>
                  </a:moveTo>
                  <a:lnTo>
                    <a:pt x="228600" y="0"/>
                  </a:lnTo>
                  <a:lnTo>
                    <a:pt x="182529" y="4644"/>
                  </a:lnTo>
                  <a:lnTo>
                    <a:pt x="139619" y="17966"/>
                  </a:lnTo>
                  <a:lnTo>
                    <a:pt x="100788" y="39045"/>
                  </a:lnTo>
                  <a:lnTo>
                    <a:pt x="66955" y="66960"/>
                  </a:lnTo>
                  <a:lnTo>
                    <a:pt x="39041" y="100793"/>
                  </a:lnTo>
                  <a:lnTo>
                    <a:pt x="17964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0" y="1143000"/>
                  </a:lnTo>
                  <a:lnTo>
                    <a:pt x="4644" y="1189066"/>
                  </a:lnTo>
                  <a:lnTo>
                    <a:pt x="17964" y="1231975"/>
                  </a:lnTo>
                  <a:lnTo>
                    <a:pt x="39041" y="1270806"/>
                  </a:lnTo>
                  <a:lnTo>
                    <a:pt x="66955" y="1304639"/>
                  </a:lnTo>
                  <a:lnTo>
                    <a:pt x="100788" y="1332554"/>
                  </a:lnTo>
                  <a:lnTo>
                    <a:pt x="139619" y="1353633"/>
                  </a:lnTo>
                  <a:lnTo>
                    <a:pt x="182529" y="1366955"/>
                  </a:lnTo>
                  <a:lnTo>
                    <a:pt x="228600" y="1371600"/>
                  </a:lnTo>
                  <a:lnTo>
                    <a:pt x="5867400" y="1371600"/>
                  </a:lnTo>
                  <a:lnTo>
                    <a:pt x="5913466" y="1366955"/>
                  </a:lnTo>
                  <a:lnTo>
                    <a:pt x="5956375" y="1353633"/>
                  </a:lnTo>
                  <a:lnTo>
                    <a:pt x="5995206" y="1332554"/>
                  </a:lnTo>
                  <a:lnTo>
                    <a:pt x="6029039" y="1304639"/>
                  </a:lnTo>
                  <a:lnTo>
                    <a:pt x="6056954" y="1270806"/>
                  </a:lnTo>
                  <a:lnTo>
                    <a:pt x="6078033" y="1231975"/>
                  </a:lnTo>
                  <a:lnTo>
                    <a:pt x="6091355" y="1189066"/>
                  </a:lnTo>
                  <a:lnTo>
                    <a:pt x="6096000" y="1143000"/>
                  </a:lnTo>
                  <a:lnTo>
                    <a:pt x="6096000" y="228600"/>
                  </a:lnTo>
                  <a:lnTo>
                    <a:pt x="6091355" y="182533"/>
                  </a:lnTo>
                  <a:lnTo>
                    <a:pt x="6078033" y="139624"/>
                  </a:lnTo>
                  <a:lnTo>
                    <a:pt x="6056954" y="100793"/>
                  </a:lnTo>
                  <a:lnTo>
                    <a:pt x="6029039" y="66960"/>
                  </a:lnTo>
                  <a:lnTo>
                    <a:pt x="5995206" y="39045"/>
                  </a:lnTo>
                  <a:lnTo>
                    <a:pt x="5956375" y="17966"/>
                  </a:lnTo>
                  <a:lnTo>
                    <a:pt x="5913466" y="4644"/>
                  </a:lnTo>
                  <a:lnTo>
                    <a:pt x="586740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2">
              <a:extLst>
                <a:ext uri="{FF2B5EF4-FFF2-40B4-BE49-F238E27FC236}">
                  <a16:creationId xmlns:a16="http://schemas.microsoft.com/office/drawing/2014/main" id="{3F6513B5-92AD-8D1F-7466-6ED99E152CD3}"/>
                </a:ext>
              </a:extLst>
            </p:cNvPr>
            <p:cNvSpPr/>
            <p:nvPr/>
          </p:nvSpPr>
          <p:spPr>
            <a:xfrm>
              <a:off x="381000" y="2514600"/>
              <a:ext cx="6096000" cy="1371600"/>
            </a:xfrm>
            <a:custGeom>
              <a:avLst/>
              <a:gdLst/>
              <a:ahLst/>
              <a:cxnLst/>
              <a:rect l="l" t="t" r="r" b="b"/>
              <a:pathLst>
                <a:path w="6096000" h="1371600">
                  <a:moveTo>
                    <a:pt x="0" y="228600"/>
                  </a:moveTo>
                  <a:lnTo>
                    <a:pt x="4644" y="182533"/>
                  </a:lnTo>
                  <a:lnTo>
                    <a:pt x="17964" y="139624"/>
                  </a:lnTo>
                  <a:lnTo>
                    <a:pt x="39041" y="100793"/>
                  </a:lnTo>
                  <a:lnTo>
                    <a:pt x="66955" y="66960"/>
                  </a:lnTo>
                  <a:lnTo>
                    <a:pt x="100788" y="39045"/>
                  </a:lnTo>
                  <a:lnTo>
                    <a:pt x="139619" y="17966"/>
                  </a:lnTo>
                  <a:lnTo>
                    <a:pt x="182529" y="4644"/>
                  </a:lnTo>
                  <a:lnTo>
                    <a:pt x="228600" y="0"/>
                  </a:lnTo>
                  <a:lnTo>
                    <a:pt x="5867400" y="0"/>
                  </a:lnTo>
                  <a:lnTo>
                    <a:pt x="5913466" y="4644"/>
                  </a:lnTo>
                  <a:lnTo>
                    <a:pt x="5956375" y="17966"/>
                  </a:lnTo>
                  <a:lnTo>
                    <a:pt x="5995206" y="39045"/>
                  </a:lnTo>
                  <a:lnTo>
                    <a:pt x="6029039" y="66960"/>
                  </a:lnTo>
                  <a:lnTo>
                    <a:pt x="6056954" y="100793"/>
                  </a:lnTo>
                  <a:lnTo>
                    <a:pt x="6078033" y="139624"/>
                  </a:lnTo>
                  <a:lnTo>
                    <a:pt x="6091355" y="182533"/>
                  </a:lnTo>
                  <a:lnTo>
                    <a:pt x="6096000" y="228600"/>
                  </a:lnTo>
                  <a:lnTo>
                    <a:pt x="6096000" y="1143000"/>
                  </a:lnTo>
                  <a:lnTo>
                    <a:pt x="6091355" y="1189066"/>
                  </a:lnTo>
                  <a:lnTo>
                    <a:pt x="6078033" y="1231975"/>
                  </a:lnTo>
                  <a:lnTo>
                    <a:pt x="6056954" y="1270806"/>
                  </a:lnTo>
                  <a:lnTo>
                    <a:pt x="6029039" y="1304639"/>
                  </a:lnTo>
                  <a:lnTo>
                    <a:pt x="5995206" y="1332554"/>
                  </a:lnTo>
                  <a:lnTo>
                    <a:pt x="5956375" y="1353633"/>
                  </a:lnTo>
                  <a:lnTo>
                    <a:pt x="5913466" y="1366955"/>
                  </a:lnTo>
                  <a:lnTo>
                    <a:pt x="5867400" y="1371600"/>
                  </a:lnTo>
                  <a:lnTo>
                    <a:pt x="228600" y="1371600"/>
                  </a:lnTo>
                  <a:lnTo>
                    <a:pt x="182529" y="1366955"/>
                  </a:lnTo>
                  <a:lnTo>
                    <a:pt x="139619" y="1353633"/>
                  </a:lnTo>
                  <a:lnTo>
                    <a:pt x="100788" y="1332554"/>
                  </a:lnTo>
                  <a:lnTo>
                    <a:pt x="66955" y="1304639"/>
                  </a:lnTo>
                  <a:lnTo>
                    <a:pt x="39041" y="1270806"/>
                  </a:lnTo>
                  <a:lnTo>
                    <a:pt x="17964" y="1231975"/>
                  </a:lnTo>
                  <a:lnTo>
                    <a:pt x="4644" y="1189066"/>
                  </a:lnTo>
                  <a:lnTo>
                    <a:pt x="0" y="1143000"/>
                  </a:lnTo>
                  <a:lnTo>
                    <a:pt x="0" y="2286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3">
            <a:extLst>
              <a:ext uri="{FF2B5EF4-FFF2-40B4-BE49-F238E27FC236}">
                <a16:creationId xmlns:a16="http://schemas.microsoft.com/office/drawing/2014/main" id="{3FC1AA06-7162-EDC4-0A1E-FFC6B61342FB}"/>
              </a:ext>
            </a:extLst>
          </p:cNvPr>
          <p:cNvGrpSpPr/>
          <p:nvPr/>
        </p:nvGrpSpPr>
        <p:grpSpPr>
          <a:xfrm>
            <a:off x="461772" y="4864736"/>
            <a:ext cx="6833870" cy="1628139"/>
            <a:chOff x="291084" y="4594859"/>
            <a:chExt cx="6833870" cy="1628139"/>
          </a:xfrm>
        </p:grpSpPr>
        <p:pic>
          <p:nvPicPr>
            <p:cNvPr id="17" name="object 14">
              <a:extLst>
                <a:ext uri="{FF2B5EF4-FFF2-40B4-BE49-F238E27FC236}">
                  <a16:creationId xmlns:a16="http://schemas.microsoft.com/office/drawing/2014/main" id="{45753F91-1A76-9C9F-4D72-728EAEE3EFA6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2902" y="4632950"/>
              <a:ext cx="6781795" cy="1447818"/>
            </a:xfrm>
            <a:prstGeom prst="rect">
              <a:avLst/>
            </a:prstGeom>
          </p:spPr>
        </p:pic>
        <p:pic>
          <p:nvPicPr>
            <p:cNvPr id="18" name="object 15">
              <a:extLst>
                <a:ext uri="{FF2B5EF4-FFF2-40B4-BE49-F238E27FC236}">
                  <a16:creationId xmlns:a16="http://schemas.microsoft.com/office/drawing/2014/main" id="{DF429A17-AFF3-17EA-67C4-75017CF1F4A9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1084" y="4594859"/>
              <a:ext cx="6623304" cy="1627632"/>
            </a:xfrm>
            <a:prstGeom prst="rect">
              <a:avLst/>
            </a:prstGeom>
          </p:spPr>
        </p:pic>
        <p:sp>
          <p:nvSpPr>
            <p:cNvPr id="19" name="object 16">
              <a:extLst>
                <a:ext uri="{FF2B5EF4-FFF2-40B4-BE49-F238E27FC236}">
                  <a16:creationId xmlns:a16="http://schemas.microsoft.com/office/drawing/2014/main" id="{7F7C9911-67C5-3105-5DDC-7BC72B4C7302}"/>
                </a:ext>
              </a:extLst>
            </p:cNvPr>
            <p:cNvSpPr/>
            <p:nvPr/>
          </p:nvSpPr>
          <p:spPr>
            <a:xfrm>
              <a:off x="381000" y="4648199"/>
              <a:ext cx="6705600" cy="1371600"/>
            </a:xfrm>
            <a:custGeom>
              <a:avLst/>
              <a:gdLst/>
              <a:ahLst/>
              <a:cxnLst/>
              <a:rect l="l" t="t" r="r" b="b"/>
              <a:pathLst>
                <a:path w="6705600" h="1371600">
                  <a:moveTo>
                    <a:pt x="6477000" y="0"/>
                  </a:moveTo>
                  <a:lnTo>
                    <a:pt x="228600" y="0"/>
                  </a:lnTo>
                  <a:lnTo>
                    <a:pt x="182529" y="4644"/>
                  </a:lnTo>
                  <a:lnTo>
                    <a:pt x="139619" y="17966"/>
                  </a:lnTo>
                  <a:lnTo>
                    <a:pt x="100788" y="39045"/>
                  </a:lnTo>
                  <a:lnTo>
                    <a:pt x="66955" y="66960"/>
                  </a:lnTo>
                  <a:lnTo>
                    <a:pt x="39041" y="100793"/>
                  </a:lnTo>
                  <a:lnTo>
                    <a:pt x="17964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0" y="1143000"/>
                  </a:lnTo>
                  <a:lnTo>
                    <a:pt x="4644" y="1189070"/>
                  </a:lnTo>
                  <a:lnTo>
                    <a:pt x="17964" y="1231980"/>
                  </a:lnTo>
                  <a:lnTo>
                    <a:pt x="39041" y="1270811"/>
                  </a:lnTo>
                  <a:lnTo>
                    <a:pt x="66955" y="1304644"/>
                  </a:lnTo>
                  <a:lnTo>
                    <a:pt x="100788" y="1332558"/>
                  </a:lnTo>
                  <a:lnTo>
                    <a:pt x="139619" y="1353635"/>
                  </a:lnTo>
                  <a:lnTo>
                    <a:pt x="182529" y="1366955"/>
                  </a:lnTo>
                  <a:lnTo>
                    <a:pt x="228600" y="1371600"/>
                  </a:lnTo>
                  <a:lnTo>
                    <a:pt x="6477000" y="1371600"/>
                  </a:lnTo>
                  <a:lnTo>
                    <a:pt x="6523066" y="1366955"/>
                  </a:lnTo>
                  <a:lnTo>
                    <a:pt x="6565975" y="1353635"/>
                  </a:lnTo>
                  <a:lnTo>
                    <a:pt x="6604806" y="1332558"/>
                  </a:lnTo>
                  <a:lnTo>
                    <a:pt x="6638639" y="1304644"/>
                  </a:lnTo>
                  <a:lnTo>
                    <a:pt x="6666554" y="1270811"/>
                  </a:lnTo>
                  <a:lnTo>
                    <a:pt x="6687633" y="1231980"/>
                  </a:lnTo>
                  <a:lnTo>
                    <a:pt x="6700955" y="1189070"/>
                  </a:lnTo>
                  <a:lnTo>
                    <a:pt x="6705600" y="1143000"/>
                  </a:lnTo>
                  <a:lnTo>
                    <a:pt x="6705600" y="228600"/>
                  </a:lnTo>
                  <a:lnTo>
                    <a:pt x="6700955" y="182533"/>
                  </a:lnTo>
                  <a:lnTo>
                    <a:pt x="6687633" y="139624"/>
                  </a:lnTo>
                  <a:lnTo>
                    <a:pt x="6666554" y="100793"/>
                  </a:lnTo>
                  <a:lnTo>
                    <a:pt x="6638639" y="66960"/>
                  </a:lnTo>
                  <a:lnTo>
                    <a:pt x="6604806" y="39045"/>
                  </a:lnTo>
                  <a:lnTo>
                    <a:pt x="6565975" y="17966"/>
                  </a:lnTo>
                  <a:lnTo>
                    <a:pt x="6523066" y="4644"/>
                  </a:lnTo>
                  <a:lnTo>
                    <a:pt x="647700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17">
              <a:extLst>
                <a:ext uri="{FF2B5EF4-FFF2-40B4-BE49-F238E27FC236}">
                  <a16:creationId xmlns:a16="http://schemas.microsoft.com/office/drawing/2014/main" id="{603B7785-B681-3406-1D13-6E19718841E1}"/>
                </a:ext>
              </a:extLst>
            </p:cNvPr>
            <p:cNvSpPr/>
            <p:nvPr/>
          </p:nvSpPr>
          <p:spPr>
            <a:xfrm>
              <a:off x="381000" y="4648199"/>
              <a:ext cx="6705600" cy="1371600"/>
            </a:xfrm>
            <a:custGeom>
              <a:avLst/>
              <a:gdLst/>
              <a:ahLst/>
              <a:cxnLst/>
              <a:rect l="l" t="t" r="r" b="b"/>
              <a:pathLst>
                <a:path w="6705600" h="1371600">
                  <a:moveTo>
                    <a:pt x="0" y="228600"/>
                  </a:moveTo>
                  <a:lnTo>
                    <a:pt x="4644" y="182533"/>
                  </a:lnTo>
                  <a:lnTo>
                    <a:pt x="17964" y="139624"/>
                  </a:lnTo>
                  <a:lnTo>
                    <a:pt x="39041" y="100793"/>
                  </a:lnTo>
                  <a:lnTo>
                    <a:pt x="66955" y="66960"/>
                  </a:lnTo>
                  <a:lnTo>
                    <a:pt x="100788" y="39045"/>
                  </a:lnTo>
                  <a:lnTo>
                    <a:pt x="139619" y="17966"/>
                  </a:lnTo>
                  <a:lnTo>
                    <a:pt x="182529" y="4644"/>
                  </a:lnTo>
                  <a:lnTo>
                    <a:pt x="228600" y="0"/>
                  </a:lnTo>
                  <a:lnTo>
                    <a:pt x="6477000" y="0"/>
                  </a:lnTo>
                  <a:lnTo>
                    <a:pt x="6523066" y="4644"/>
                  </a:lnTo>
                  <a:lnTo>
                    <a:pt x="6565975" y="17966"/>
                  </a:lnTo>
                  <a:lnTo>
                    <a:pt x="6604806" y="39045"/>
                  </a:lnTo>
                  <a:lnTo>
                    <a:pt x="6638639" y="66960"/>
                  </a:lnTo>
                  <a:lnTo>
                    <a:pt x="6666554" y="100793"/>
                  </a:lnTo>
                  <a:lnTo>
                    <a:pt x="6687633" y="139624"/>
                  </a:lnTo>
                  <a:lnTo>
                    <a:pt x="6700955" y="182533"/>
                  </a:lnTo>
                  <a:lnTo>
                    <a:pt x="6705600" y="228600"/>
                  </a:lnTo>
                  <a:lnTo>
                    <a:pt x="6705600" y="1143000"/>
                  </a:lnTo>
                  <a:lnTo>
                    <a:pt x="6700955" y="1189070"/>
                  </a:lnTo>
                  <a:lnTo>
                    <a:pt x="6687633" y="1231980"/>
                  </a:lnTo>
                  <a:lnTo>
                    <a:pt x="6666554" y="1270811"/>
                  </a:lnTo>
                  <a:lnTo>
                    <a:pt x="6638639" y="1304644"/>
                  </a:lnTo>
                  <a:lnTo>
                    <a:pt x="6604806" y="1332558"/>
                  </a:lnTo>
                  <a:lnTo>
                    <a:pt x="6565975" y="1353635"/>
                  </a:lnTo>
                  <a:lnTo>
                    <a:pt x="6523066" y="1366955"/>
                  </a:lnTo>
                  <a:lnTo>
                    <a:pt x="6477000" y="1371600"/>
                  </a:lnTo>
                  <a:lnTo>
                    <a:pt x="228600" y="1371600"/>
                  </a:lnTo>
                  <a:lnTo>
                    <a:pt x="182529" y="1366955"/>
                  </a:lnTo>
                  <a:lnTo>
                    <a:pt x="139619" y="1353635"/>
                  </a:lnTo>
                  <a:lnTo>
                    <a:pt x="100788" y="1332558"/>
                  </a:lnTo>
                  <a:lnTo>
                    <a:pt x="66955" y="1304644"/>
                  </a:lnTo>
                  <a:lnTo>
                    <a:pt x="39041" y="1270811"/>
                  </a:lnTo>
                  <a:lnTo>
                    <a:pt x="17964" y="1231980"/>
                  </a:lnTo>
                  <a:lnTo>
                    <a:pt x="4644" y="1189070"/>
                  </a:lnTo>
                  <a:lnTo>
                    <a:pt x="0" y="1143000"/>
                  </a:lnTo>
                  <a:lnTo>
                    <a:pt x="0" y="2286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18">
            <a:extLst>
              <a:ext uri="{FF2B5EF4-FFF2-40B4-BE49-F238E27FC236}">
                <a16:creationId xmlns:a16="http://schemas.microsoft.com/office/drawing/2014/main" id="{3F35C514-F227-6E1F-BB8F-80D17D50C845}"/>
              </a:ext>
            </a:extLst>
          </p:cNvPr>
          <p:cNvSpPr txBox="1"/>
          <p:nvPr/>
        </p:nvSpPr>
        <p:spPr>
          <a:xfrm>
            <a:off x="646683" y="1528447"/>
            <a:ext cx="6162675" cy="47602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100"/>
              </a:spcBef>
            </a:pPr>
            <a:r>
              <a:rPr sz="2700" spc="-30" dirty="0">
                <a:latin typeface="Cambria"/>
                <a:cs typeface="Cambria"/>
              </a:rPr>
              <a:t>LRU</a:t>
            </a:r>
            <a:r>
              <a:rPr sz="2700" spc="-15" dirty="0">
                <a:latin typeface="Cambria"/>
                <a:cs typeface="Cambria"/>
              </a:rPr>
              <a:t> exploits</a:t>
            </a:r>
            <a:r>
              <a:rPr sz="2700" spc="30" dirty="0">
                <a:latin typeface="Cambria"/>
                <a:cs typeface="Cambria"/>
              </a:rPr>
              <a:t> </a:t>
            </a:r>
            <a:r>
              <a:rPr sz="2700" spc="-15" dirty="0">
                <a:solidFill>
                  <a:srgbClr val="C00000"/>
                </a:solidFill>
                <a:latin typeface="Cambria"/>
                <a:cs typeface="Cambria"/>
              </a:rPr>
              <a:t>temporal</a:t>
            </a:r>
            <a:r>
              <a:rPr sz="2700" spc="2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700" spc="-10" dirty="0">
                <a:solidFill>
                  <a:srgbClr val="C00000"/>
                </a:solidFill>
                <a:latin typeface="Cambria"/>
                <a:cs typeface="Cambria"/>
              </a:rPr>
              <a:t>locality</a:t>
            </a:r>
            <a:endParaRPr sz="27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3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850">
              <a:latin typeface="Cambria"/>
              <a:cs typeface="Cambria"/>
            </a:endParaRPr>
          </a:p>
          <a:p>
            <a:pPr marL="63500" marR="1172845">
              <a:lnSpc>
                <a:spcPct val="100000"/>
              </a:lnSpc>
            </a:pPr>
            <a:r>
              <a:rPr sz="2700" spc="-10" dirty="0">
                <a:solidFill>
                  <a:srgbClr val="C00000"/>
                </a:solidFill>
                <a:latin typeface="Cambria"/>
                <a:cs typeface="Cambria"/>
              </a:rPr>
              <a:t>Streaming </a:t>
            </a:r>
            <a:r>
              <a:rPr sz="2700" spc="-5" dirty="0">
                <a:solidFill>
                  <a:srgbClr val="C00000"/>
                </a:solidFill>
                <a:latin typeface="Cambria"/>
                <a:cs typeface="Cambria"/>
              </a:rPr>
              <a:t>data </a:t>
            </a:r>
            <a:r>
              <a:rPr sz="2700" dirty="0">
                <a:solidFill>
                  <a:srgbClr val="C00000"/>
                </a:solidFill>
                <a:latin typeface="Cambria"/>
                <a:cs typeface="Cambria"/>
              </a:rPr>
              <a:t>(a</a:t>
            </a:r>
            <a:r>
              <a:rPr sz="2700" baseline="-20061" dirty="0">
                <a:solidFill>
                  <a:srgbClr val="C00000"/>
                </a:solidFill>
                <a:latin typeface="Cambria"/>
                <a:cs typeface="Cambria"/>
              </a:rPr>
              <a:t>1</a:t>
            </a:r>
            <a:r>
              <a:rPr sz="2700" dirty="0">
                <a:solidFill>
                  <a:srgbClr val="C00000"/>
                </a:solidFill>
                <a:latin typeface="Cambria"/>
                <a:cs typeface="Cambria"/>
              </a:rPr>
              <a:t>, </a:t>
            </a:r>
            <a:r>
              <a:rPr sz="2700" spc="-5" dirty="0">
                <a:solidFill>
                  <a:srgbClr val="C00000"/>
                </a:solidFill>
                <a:latin typeface="Cambria"/>
                <a:cs typeface="Cambria"/>
              </a:rPr>
              <a:t>a</a:t>
            </a:r>
            <a:r>
              <a:rPr sz="2700" spc="-7" baseline="-20061" dirty="0">
                <a:solidFill>
                  <a:srgbClr val="C00000"/>
                </a:solidFill>
                <a:latin typeface="Cambria"/>
                <a:cs typeface="Cambria"/>
              </a:rPr>
              <a:t>2</a:t>
            </a:r>
            <a:r>
              <a:rPr sz="2700" spc="-5" dirty="0">
                <a:solidFill>
                  <a:srgbClr val="C00000"/>
                </a:solidFill>
                <a:latin typeface="Cambria"/>
                <a:cs typeface="Cambria"/>
              </a:rPr>
              <a:t>, a</a:t>
            </a:r>
            <a:r>
              <a:rPr sz="2700" spc="-7" baseline="-20061" dirty="0">
                <a:solidFill>
                  <a:srgbClr val="C00000"/>
                </a:solidFill>
                <a:latin typeface="Cambria"/>
                <a:cs typeface="Cambria"/>
              </a:rPr>
              <a:t>3</a:t>
            </a:r>
            <a:r>
              <a:rPr sz="2700" spc="-5" dirty="0">
                <a:solidFill>
                  <a:srgbClr val="C00000"/>
                </a:solidFill>
                <a:latin typeface="Cambria"/>
                <a:cs typeface="Cambria"/>
              </a:rPr>
              <a:t>,….a</a:t>
            </a:r>
            <a:r>
              <a:rPr sz="2700" spc="-7" baseline="-20061" dirty="0">
                <a:solidFill>
                  <a:srgbClr val="C00000"/>
                </a:solidFill>
                <a:latin typeface="Cambria"/>
                <a:cs typeface="Cambria"/>
              </a:rPr>
              <a:t>∞</a:t>
            </a:r>
            <a:r>
              <a:rPr sz="2700" spc="-5" dirty="0">
                <a:solidFill>
                  <a:srgbClr val="C00000"/>
                </a:solidFill>
                <a:latin typeface="Cambria"/>
                <a:cs typeface="Cambria"/>
              </a:rPr>
              <a:t>): </a:t>
            </a:r>
            <a:r>
              <a:rPr sz="2700" spc="-58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700" spc="-5" dirty="0">
                <a:latin typeface="Cambria"/>
                <a:cs typeface="Cambria"/>
              </a:rPr>
              <a:t>No</a:t>
            </a:r>
            <a:r>
              <a:rPr sz="2700" spc="-10" dirty="0">
                <a:latin typeface="Cambria"/>
                <a:cs typeface="Cambria"/>
              </a:rPr>
              <a:t> </a:t>
            </a:r>
            <a:r>
              <a:rPr sz="2700" spc="-15" dirty="0">
                <a:latin typeface="Cambria"/>
                <a:cs typeface="Cambria"/>
              </a:rPr>
              <a:t>temporal</a:t>
            </a:r>
            <a:r>
              <a:rPr sz="2700" spc="35" dirty="0">
                <a:latin typeface="Cambria"/>
                <a:cs typeface="Cambria"/>
              </a:rPr>
              <a:t> </a:t>
            </a:r>
            <a:r>
              <a:rPr sz="2700" spc="-35" dirty="0">
                <a:latin typeface="Cambria"/>
                <a:cs typeface="Cambria"/>
              </a:rPr>
              <a:t>locality,</a:t>
            </a:r>
            <a:endParaRPr sz="2700">
              <a:latin typeface="Cambria"/>
              <a:cs typeface="Cambria"/>
            </a:endParaRPr>
          </a:p>
          <a:p>
            <a:pPr marL="63500">
              <a:lnSpc>
                <a:spcPct val="100000"/>
              </a:lnSpc>
              <a:spcBef>
                <a:spcPts val="5"/>
              </a:spcBef>
            </a:pPr>
            <a:r>
              <a:rPr sz="2700" spc="-5" dirty="0">
                <a:latin typeface="Cambria"/>
                <a:cs typeface="Cambria"/>
              </a:rPr>
              <a:t>No</a:t>
            </a:r>
            <a:r>
              <a:rPr sz="2700" spc="-30" dirty="0">
                <a:latin typeface="Cambria"/>
                <a:cs typeface="Cambria"/>
              </a:rPr>
              <a:t> </a:t>
            </a:r>
            <a:r>
              <a:rPr sz="2700" spc="-15" dirty="0">
                <a:latin typeface="Cambria"/>
                <a:cs typeface="Cambria"/>
              </a:rPr>
              <a:t>temporal</a:t>
            </a:r>
            <a:r>
              <a:rPr sz="2700" spc="15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reuse</a:t>
            </a:r>
            <a:endParaRPr sz="27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3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900">
              <a:latin typeface="Cambria"/>
              <a:cs typeface="Cambria"/>
            </a:endParaRPr>
          </a:p>
          <a:p>
            <a:pPr marL="63500" marR="43180">
              <a:lnSpc>
                <a:spcPct val="100000"/>
              </a:lnSpc>
            </a:pPr>
            <a:r>
              <a:rPr sz="2700" spc="-15" dirty="0">
                <a:solidFill>
                  <a:srgbClr val="C00000"/>
                </a:solidFill>
                <a:latin typeface="Cambria"/>
                <a:cs typeface="Cambria"/>
              </a:rPr>
              <a:t>Thrashing</a:t>
            </a:r>
            <a:r>
              <a:rPr sz="2700" spc="1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700" spc="-5" dirty="0">
                <a:solidFill>
                  <a:srgbClr val="C00000"/>
                </a:solidFill>
                <a:latin typeface="Cambria"/>
                <a:cs typeface="Cambria"/>
              </a:rPr>
              <a:t>data</a:t>
            </a:r>
            <a:r>
              <a:rPr sz="2700" spc="1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700" dirty="0">
                <a:solidFill>
                  <a:srgbClr val="C00000"/>
                </a:solidFill>
                <a:latin typeface="Cambria"/>
                <a:cs typeface="Cambria"/>
              </a:rPr>
              <a:t>(a</a:t>
            </a:r>
            <a:r>
              <a:rPr sz="2700" baseline="-20061" dirty="0">
                <a:solidFill>
                  <a:srgbClr val="C00000"/>
                </a:solidFill>
                <a:latin typeface="Cambria"/>
                <a:cs typeface="Cambria"/>
              </a:rPr>
              <a:t>1</a:t>
            </a:r>
            <a:r>
              <a:rPr sz="2700" dirty="0">
                <a:solidFill>
                  <a:srgbClr val="C00000"/>
                </a:solidFill>
                <a:latin typeface="Cambria"/>
                <a:cs typeface="Cambria"/>
              </a:rPr>
              <a:t>,</a:t>
            </a:r>
            <a:r>
              <a:rPr sz="2700" spc="-5" dirty="0">
                <a:solidFill>
                  <a:srgbClr val="C00000"/>
                </a:solidFill>
                <a:latin typeface="Cambria"/>
                <a:cs typeface="Cambria"/>
              </a:rPr>
              <a:t> a</a:t>
            </a:r>
            <a:r>
              <a:rPr sz="2700" spc="-7" baseline="-20061" dirty="0">
                <a:solidFill>
                  <a:srgbClr val="C00000"/>
                </a:solidFill>
                <a:latin typeface="Cambria"/>
                <a:cs typeface="Cambria"/>
              </a:rPr>
              <a:t>2</a:t>
            </a:r>
            <a:r>
              <a:rPr sz="2700" spc="-5" dirty="0">
                <a:solidFill>
                  <a:srgbClr val="C00000"/>
                </a:solidFill>
                <a:latin typeface="Cambria"/>
                <a:cs typeface="Cambria"/>
              </a:rPr>
              <a:t>,</a:t>
            </a:r>
            <a:r>
              <a:rPr sz="2700" spc="1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700" spc="-5" dirty="0">
                <a:solidFill>
                  <a:srgbClr val="C00000"/>
                </a:solidFill>
                <a:latin typeface="Cambria"/>
                <a:cs typeface="Cambria"/>
              </a:rPr>
              <a:t>a</a:t>
            </a:r>
            <a:r>
              <a:rPr sz="2700" spc="-7" baseline="-20061" dirty="0">
                <a:solidFill>
                  <a:srgbClr val="C00000"/>
                </a:solidFill>
                <a:latin typeface="Cambria"/>
                <a:cs typeface="Cambria"/>
              </a:rPr>
              <a:t>3</a:t>
            </a:r>
            <a:r>
              <a:rPr sz="2700" spc="-5" dirty="0">
                <a:solidFill>
                  <a:srgbClr val="C00000"/>
                </a:solidFill>
                <a:latin typeface="Cambria"/>
                <a:cs typeface="Cambria"/>
              </a:rPr>
              <a:t>,….a</a:t>
            </a:r>
            <a:r>
              <a:rPr sz="2700" spc="-7" baseline="-20061" dirty="0">
                <a:solidFill>
                  <a:srgbClr val="C00000"/>
                </a:solidFill>
                <a:latin typeface="Cambria"/>
                <a:cs typeface="Cambria"/>
              </a:rPr>
              <a:t>n</a:t>
            </a:r>
            <a:r>
              <a:rPr sz="2700" spc="-5" dirty="0">
                <a:solidFill>
                  <a:srgbClr val="C00000"/>
                </a:solidFill>
                <a:latin typeface="Cambria"/>
                <a:cs typeface="Cambria"/>
              </a:rPr>
              <a:t>)</a:t>
            </a:r>
            <a:r>
              <a:rPr sz="2700" dirty="0">
                <a:solidFill>
                  <a:srgbClr val="C00000"/>
                </a:solidFill>
                <a:latin typeface="Cambria"/>
                <a:cs typeface="Cambria"/>
              </a:rPr>
              <a:t> [n&gt;c] </a:t>
            </a:r>
            <a:r>
              <a:rPr sz="2700" spc="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700" spc="-40" dirty="0">
                <a:latin typeface="Cambria"/>
                <a:cs typeface="Cambria"/>
              </a:rPr>
              <a:t>Temporal</a:t>
            </a:r>
            <a:r>
              <a:rPr sz="2700" spc="25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locality</a:t>
            </a:r>
            <a:r>
              <a:rPr sz="2700" spc="45" dirty="0">
                <a:latin typeface="Cambria"/>
                <a:cs typeface="Cambria"/>
              </a:rPr>
              <a:t> </a:t>
            </a:r>
            <a:r>
              <a:rPr sz="2700" spc="-15" dirty="0">
                <a:latin typeface="Cambria"/>
                <a:cs typeface="Cambria"/>
              </a:rPr>
              <a:t>exists.</a:t>
            </a:r>
            <a:r>
              <a:rPr sz="2700" spc="-5" dirty="0">
                <a:latin typeface="Cambria"/>
                <a:cs typeface="Cambria"/>
              </a:rPr>
              <a:t> </a:t>
            </a:r>
            <a:r>
              <a:rPr sz="2700" spc="-70" dirty="0">
                <a:latin typeface="Cambria"/>
                <a:cs typeface="Cambria"/>
              </a:rPr>
              <a:t>However,</a:t>
            </a:r>
            <a:r>
              <a:rPr sz="2700" spc="35" dirty="0">
                <a:latin typeface="Cambria"/>
                <a:cs typeface="Cambria"/>
              </a:rPr>
              <a:t> </a:t>
            </a:r>
            <a:r>
              <a:rPr sz="2700" spc="-30" dirty="0">
                <a:latin typeface="Cambria"/>
                <a:cs typeface="Cambria"/>
              </a:rPr>
              <a:t>LRU </a:t>
            </a:r>
            <a:r>
              <a:rPr sz="2700" spc="-580" dirty="0">
                <a:latin typeface="Cambria"/>
                <a:cs typeface="Cambria"/>
              </a:rPr>
              <a:t> </a:t>
            </a:r>
            <a:r>
              <a:rPr sz="2700" spc="-5" dirty="0">
                <a:latin typeface="Cambria"/>
                <a:cs typeface="Cambria"/>
              </a:rPr>
              <a:t>fails</a:t>
            </a:r>
            <a:r>
              <a:rPr sz="2700" spc="5" dirty="0">
                <a:latin typeface="Cambria"/>
                <a:cs typeface="Cambria"/>
              </a:rPr>
              <a:t> </a:t>
            </a:r>
            <a:r>
              <a:rPr sz="2700" spc="-20" dirty="0">
                <a:latin typeface="Cambria"/>
                <a:cs typeface="Cambria"/>
              </a:rPr>
              <a:t>to</a:t>
            </a:r>
            <a:r>
              <a:rPr sz="2700" spc="10" dirty="0">
                <a:latin typeface="Cambria"/>
                <a:cs typeface="Cambria"/>
              </a:rPr>
              <a:t> </a:t>
            </a:r>
            <a:r>
              <a:rPr sz="2700" spc="-15" dirty="0">
                <a:latin typeface="Cambria"/>
                <a:cs typeface="Cambria"/>
              </a:rPr>
              <a:t>capture.</a:t>
            </a:r>
            <a:endParaRPr sz="270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42101930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0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6" descr="Machine in a laboratory">
            <a:extLst>
              <a:ext uri="{FF2B5EF4-FFF2-40B4-BE49-F238E27FC236}">
                <a16:creationId xmlns:a16="http://schemas.microsoft.com/office/drawing/2014/main" id="{453ADFBD-5D30-78B7-ABE4-C413FD8A69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5627" b="-1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0" name="Rectangle 12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47B124-E22A-3D3B-EE6D-2BDE7B553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BTW, LRU is not implemented</a:t>
            </a:r>
            <a:br>
              <a:rPr lang="en-US" sz="4800">
                <a:solidFill>
                  <a:schemeClr val="bg1"/>
                </a:solidFill>
              </a:rPr>
            </a:br>
            <a:r>
              <a:rPr lang="en-US" sz="4800">
                <a:solidFill>
                  <a:schemeClr val="bg1"/>
                </a:solidFill>
              </a:rPr>
              <a:t>@commercial machines</a:t>
            </a:r>
          </a:p>
        </p:txBody>
      </p:sp>
      <p:sp>
        <p:nvSpPr>
          <p:cNvPr id="21" name="Rectangle 1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0FDFC1-AF16-FA23-1A9F-0413FE692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92321" y="6356350"/>
            <a:ext cx="280901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600"/>
              </a:spcAft>
              <a:defRPr/>
            </a:pPr>
            <a:r>
              <a:rPr lang="en-US" sz="1200" kern="1200">
                <a:solidFill>
                  <a:schemeClr val="bg1"/>
                </a:solidFill>
                <a:latin typeface="Calibri" panose="020F0502020204030204"/>
                <a:ea typeface="+mn-ea"/>
                <a:cs typeface="+mn-cs"/>
              </a:rPr>
              <a:t>Advanced Computer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C3DA5B-3EEB-B475-AD5F-B3F6DB91B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70819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8651ABE-1138-46C6-9A43-7FCD4EB2550C}" type="slidenum">
              <a:rPr lang="en-US" sz="1200">
                <a:solidFill>
                  <a:schemeClr val="bg1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8</a:t>
            </a:fld>
            <a:endParaRPr lang="en-US" sz="1200">
              <a:solidFill>
                <a:schemeClr val="bg1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6286652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C49F6-D673-F2DA-B826-F0DF627BF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F44C3-54C8-C7A7-A480-CFC9DBC9BC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Implementation complexity </a:t>
            </a:r>
          </a:p>
          <a:p>
            <a:endParaRPr lang="en-US" dirty="0"/>
          </a:p>
          <a:p>
            <a:r>
              <a:rPr lang="en-US"/>
              <a:t>Power overhead </a:t>
            </a:r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68426-D7CF-DAFE-ECE9-468898E05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214AF0-902D-D7F6-54F2-294C23407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3863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5B0A0-F2E8-F794-64D4-1286878D8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Bimodal Policy [ISCA ‘07]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1DDC91-BFA1-C320-D538-F341836B6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406F29-BE8F-2D77-214D-9B56D50A3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10</a:t>
            </a:fld>
            <a:endParaRPr lang="en-IN" dirty="0"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27F38797-64DA-C6B2-BCE4-77EB111105D5}"/>
              </a:ext>
            </a:extLst>
          </p:cNvPr>
          <p:cNvSpPr txBox="1"/>
          <p:nvPr/>
        </p:nvSpPr>
        <p:spPr>
          <a:xfrm>
            <a:off x="1371600" y="1566672"/>
            <a:ext cx="6359525" cy="1765300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txBody>
          <a:bodyPr vert="horz" wrap="square" lIns="0" tIns="21590" rIns="0" bIns="0" rtlCol="0">
            <a:spAutoFit/>
          </a:bodyPr>
          <a:lstStyle/>
          <a:p>
            <a:pPr marL="91440">
              <a:lnSpc>
                <a:spcPts val="3354"/>
              </a:lnSpc>
              <a:spcBef>
                <a:spcPts val="170"/>
              </a:spcBef>
              <a:tabLst>
                <a:tab pos="452755" algn="l"/>
              </a:tabLst>
            </a:pPr>
            <a:r>
              <a:rPr sz="2800" spc="-5" dirty="0">
                <a:latin typeface="Cambria"/>
                <a:cs typeface="Cambria"/>
              </a:rPr>
              <a:t>if	(</a:t>
            </a:r>
            <a:r>
              <a:rPr sz="2800" spc="-10" dirty="0">
                <a:latin typeface="Cambria"/>
                <a:cs typeface="Cambria"/>
              </a:rPr>
              <a:t> </a:t>
            </a:r>
            <a:r>
              <a:rPr sz="2800" spc="-15" dirty="0">
                <a:solidFill>
                  <a:srgbClr val="C00000"/>
                </a:solidFill>
                <a:latin typeface="Cambria"/>
                <a:cs typeface="Cambria"/>
              </a:rPr>
              <a:t>rand()</a:t>
            </a:r>
            <a:r>
              <a:rPr sz="280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800" spc="-5" dirty="0">
                <a:solidFill>
                  <a:srgbClr val="C00000"/>
                </a:solidFill>
                <a:latin typeface="Cambria"/>
                <a:cs typeface="Cambria"/>
              </a:rPr>
              <a:t>&lt; </a:t>
            </a:r>
            <a:r>
              <a:rPr sz="2800" spc="-5" dirty="0">
                <a:latin typeface="Symbol"/>
                <a:cs typeface="Symbol"/>
              </a:rPr>
              <a:t>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Cambria"/>
                <a:cs typeface="Cambria"/>
              </a:rPr>
              <a:t>) </a:t>
            </a:r>
            <a:r>
              <a:rPr sz="2800" dirty="0">
                <a:latin typeface="Symbol"/>
                <a:cs typeface="Symbol"/>
              </a:rPr>
              <a:t></a:t>
            </a:r>
            <a:endParaRPr sz="2800">
              <a:latin typeface="Symbol"/>
              <a:cs typeface="Symbol"/>
            </a:endParaRPr>
          </a:p>
          <a:p>
            <a:pPr marL="91440" marR="2298065" indent="457200">
              <a:lnSpc>
                <a:spcPts val="3360"/>
              </a:lnSpc>
              <a:spcBef>
                <a:spcPts val="105"/>
              </a:spcBef>
            </a:pPr>
            <a:r>
              <a:rPr sz="2800" spc="-10" dirty="0">
                <a:latin typeface="Cambria"/>
                <a:cs typeface="Cambria"/>
              </a:rPr>
              <a:t>Insert </a:t>
            </a:r>
            <a:r>
              <a:rPr sz="2800" spc="-5" dirty="0">
                <a:latin typeface="Cambria"/>
                <a:cs typeface="Cambria"/>
              </a:rPr>
              <a:t>at </a:t>
            </a:r>
            <a:r>
              <a:rPr sz="2800" spc="-25" dirty="0">
                <a:latin typeface="Cambria"/>
                <a:cs typeface="Cambria"/>
              </a:rPr>
              <a:t>MRU </a:t>
            </a:r>
            <a:r>
              <a:rPr sz="2800" spc="-5" dirty="0">
                <a:latin typeface="Cambria"/>
                <a:cs typeface="Cambria"/>
              </a:rPr>
              <a:t>position; </a:t>
            </a:r>
            <a:r>
              <a:rPr sz="2800" spc="-60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else</a:t>
            </a:r>
            <a:endParaRPr sz="2800">
              <a:latin typeface="Cambria"/>
              <a:cs typeface="Cambria"/>
            </a:endParaRPr>
          </a:p>
          <a:p>
            <a:pPr marL="548640">
              <a:lnSpc>
                <a:spcPts val="3250"/>
              </a:lnSpc>
            </a:pPr>
            <a:r>
              <a:rPr sz="2800" spc="-10" dirty="0">
                <a:latin typeface="Cambria"/>
                <a:cs typeface="Cambria"/>
              </a:rPr>
              <a:t>Insert</a:t>
            </a:r>
            <a:r>
              <a:rPr sz="2800" spc="-5" dirty="0">
                <a:latin typeface="Cambria"/>
                <a:cs typeface="Cambria"/>
              </a:rPr>
              <a:t> at</a:t>
            </a:r>
            <a:r>
              <a:rPr sz="2800" spc="-15" dirty="0">
                <a:latin typeface="Cambria"/>
                <a:cs typeface="Cambria"/>
              </a:rPr>
              <a:t> </a:t>
            </a:r>
            <a:r>
              <a:rPr sz="2800" spc="-25" dirty="0">
                <a:latin typeface="Cambria"/>
                <a:cs typeface="Cambria"/>
              </a:rPr>
              <a:t>LRU </a:t>
            </a:r>
            <a:r>
              <a:rPr sz="2800" spc="-5" dirty="0">
                <a:latin typeface="Cambria"/>
                <a:cs typeface="Cambria"/>
              </a:rPr>
              <a:t>position;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7" name="object 13">
            <a:extLst>
              <a:ext uri="{FF2B5EF4-FFF2-40B4-BE49-F238E27FC236}">
                <a16:creationId xmlns:a16="http://schemas.microsoft.com/office/drawing/2014/main" id="{C7E15CC2-BE7B-4B5A-B13C-96A4213C9842}"/>
              </a:ext>
            </a:extLst>
          </p:cNvPr>
          <p:cNvSpPr txBox="1"/>
          <p:nvPr/>
        </p:nvSpPr>
        <p:spPr>
          <a:xfrm>
            <a:off x="638048" y="4069206"/>
            <a:ext cx="10328275" cy="1559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2865">
              <a:lnSpc>
                <a:spcPct val="100000"/>
              </a:lnSpc>
              <a:spcBef>
                <a:spcPts val="95"/>
              </a:spcBef>
            </a:pPr>
            <a:r>
              <a:rPr sz="2800" spc="-40" dirty="0">
                <a:latin typeface="Cambria"/>
                <a:cs typeface="Cambria"/>
              </a:rPr>
              <a:t>For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small </a:t>
            </a:r>
            <a:r>
              <a:rPr sz="2800" spc="-5" dirty="0">
                <a:latin typeface="Symbol"/>
                <a:cs typeface="Symbol"/>
              </a:rPr>
              <a:t></a:t>
            </a:r>
            <a:r>
              <a:rPr sz="2800" spc="-5" dirty="0">
                <a:latin typeface="Cambria"/>
                <a:cs typeface="Cambria"/>
              </a:rPr>
              <a:t>:</a:t>
            </a:r>
            <a:r>
              <a:rPr sz="2800" spc="1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BIP</a:t>
            </a:r>
            <a:r>
              <a:rPr sz="2800" spc="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retains </a:t>
            </a:r>
            <a:r>
              <a:rPr sz="2800" spc="-15" dirty="0">
                <a:latin typeface="Cambria"/>
                <a:cs typeface="Cambria"/>
              </a:rPr>
              <a:t>thrashing</a:t>
            </a:r>
            <a:r>
              <a:rPr sz="2800" spc="2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protection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of</a:t>
            </a:r>
            <a:r>
              <a:rPr sz="2800" spc="15" dirty="0">
                <a:latin typeface="Cambria"/>
                <a:cs typeface="Cambria"/>
              </a:rPr>
              <a:t> </a:t>
            </a:r>
            <a:r>
              <a:rPr sz="2800" spc="-25" dirty="0">
                <a:latin typeface="Cambria"/>
                <a:cs typeface="Cambria"/>
              </a:rPr>
              <a:t>LRU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insertion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40" dirty="0">
                <a:latin typeface="Cambria"/>
                <a:cs typeface="Cambria"/>
              </a:rPr>
              <a:t>policy.</a:t>
            </a:r>
            <a:endParaRPr sz="2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45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800" spc="-15" dirty="0">
                <a:latin typeface="Cambria"/>
                <a:cs typeface="Cambria"/>
              </a:rPr>
              <a:t>Infrequently</a:t>
            </a:r>
            <a:r>
              <a:rPr sz="2800" spc="2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insert </a:t>
            </a:r>
            <a:r>
              <a:rPr sz="2800" spc="-10" dirty="0">
                <a:latin typeface="Cambria"/>
                <a:cs typeface="Cambria"/>
              </a:rPr>
              <a:t>lines</a:t>
            </a:r>
            <a:r>
              <a:rPr sz="2800" spc="-5" dirty="0">
                <a:latin typeface="Cambria"/>
                <a:cs typeface="Cambria"/>
              </a:rPr>
              <a:t> in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25" dirty="0">
                <a:latin typeface="Cambria"/>
                <a:cs typeface="Cambria"/>
              </a:rPr>
              <a:t>MRU</a:t>
            </a:r>
            <a:r>
              <a:rPr sz="2800" spc="-5" dirty="0">
                <a:latin typeface="Cambria"/>
                <a:cs typeface="Cambria"/>
              </a:rPr>
              <a:t> position</a:t>
            </a:r>
            <a:endParaRPr sz="280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4148098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F3780-6DE5-3108-DE5C-A40325BAF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Insertion Policy (DIP): Celebrated technique in the community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349F1D-3BB9-F9C5-8167-A437811ED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F48BE0-C1A1-5643-B517-CA9325F30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11</a:t>
            </a:fld>
            <a:endParaRPr lang="en-IN" dirty="0"/>
          </a:p>
        </p:txBody>
      </p:sp>
      <p:graphicFrame>
        <p:nvGraphicFramePr>
          <p:cNvPr id="8" name="object 3">
            <a:extLst>
              <a:ext uri="{FF2B5EF4-FFF2-40B4-BE49-F238E27FC236}">
                <a16:creationId xmlns:a16="http://schemas.microsoft.com/office/drawing/2014/main" id="{186B9B7B-ABD6-AF2C-CB7B-E7F2C94626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1139602"/>
              </p:ext>
            </p:extLst>
          </p:nvPr>
        </p:nvGraphicFramePr>
        <p:xfrm>
          <a:off x="1197610" y="2585974"/>
          <a:ext cx="2095500" cy="31749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7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3300"/>
                      </a:solidFill>
                      <a:prstDash val="solid"/>
                    </a:lnL>
                    <a:lnR w="12700">
                      <a:solidFill>
                        <a:srgbClr val="003300"/>
                      </a:solidFill>
                      <a:prstDash val="solid"/>
                    </a:lnR>
                    <a:lnT w="12700">
                      <a:solidFill>
                        <a:srgbClr val="003300"/>
                      </a:solidFill>
                      <a:prstDash val="solid"/>
                    </a:lnT>
                    <a:lnB w="12700">
                      <a:solidFill>
                        <a:srgbClr val="003300"/>
                      </a:solidFill>
                      <a:prstDash val="solid"/>
                    </a:lnB>
                    <a:solidFill>
                      <a:srgbClr val="D4D3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3300"/>
                      </a:solidFill>
                      <a:prstDash val="solid"/>
                    </a:lnL>
                    <a:lnR w="12700">
                      <a:solidFill>
                        <a:srgbClr val="003300"/>
                      </a:solidFill>
                      <a:prstDash val="solid"/>
                    </a:lnR>
                    <a:lnT w="12700">
                      <a:solidFill>
                        <a:srgbClr val="003300"/>
                      </a:solidFill>
                      <a:prstDash val="solid"/>
                    </a:lnT>
                    <a:lnB w="12700">
                      <a:solidFill>
                        <a:srgbClr val="003300"/>
                      </a:solidFill>
                      <a:prstDash val="solid"/>
                    </a:lnB>
                    <a:solidFill>
                      <a:srgbClr val="D4D3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3300"/>
                      </a:solidFill>
                      <a:prstDash val="solid"/>
                    </a:lnL>
                    <a:lnR w="12700">
                      <a:solidFill>
                        <a:srgbClr val="003300"/>
                      </a:solidFill>
                      <a:prstDash val="solid"/>
                    </a:lnR>
                    <a:lnT w="12700">
                      <a:solidFill>
                        <a:srgbClr val="003300"/>
                      </a:solidFill>
                      <a:prstDash val="solid"/>
                    </a:lnT>
                    <a:lnB w="12700">
                      <a:solidFill>
                        <a:srgbClr val="003300"/>
                      </a:solidFill>
                      <a:prstDash val="solid"/>
                    </a:lnB>
                    <a:solidFill>
                      <a:srgbClr val="D4D3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3300"/>
                      </a:solidFill>
                      <a:prstDash val="solid"/>
                    </a:lnL>
                    <a:lnR w="12700">
                      <a:solidFill>
                        <a:srgbClr val="003300"/>
                      </a:solidFill>
                      <a:prstDash val="solid"/>
                    </a:lnR>
                    <a:lnT w="12700">
                      <a:solidFill>
                        <a:srgbClr val="003300"/>
                      </a:solidFill>
                      <a:prstDash val="solid"/>
                    </a:lnT>
                    <a:lnB w="12700">
                      <a:solidFill>
                        <a:srgbClr val="003300"/>
                      </a:solidFill>
                      <a:prstDash val="solid"/>
                    </a:lnB>
                    <a:solidFill>
                      <a:srgbClr val="D4D3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3300"/>
                      </a:solidFill>
                      <a:prstDash val="solid"/>
                    </a:lnL>
                    <a:lnR w="12700">
                      <a:solidFill>
                        <a:srgbClr val="003300"/>
                      </a:solidFill>
                      <a:prstDash val="solid"/>
                    </a:lnR>
                    <a:lnT w="12700">
                      <a:solidFill>
                        <a:srgbClr val="003300"/>
                      </a:solidFill>
                      <a:prstDash val="solid"/>
                    </a:lnT>
                    <a:lnB w="12700">
                      <a:solidFill>
                        <a:srgbClr val="003300"/>
                      </a:solidFill>
                      <a:prstDash val="solid"/>
                    </a:lnB>
                    <a:solidFill>
                      <a:srgbClr val="D4D3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3300"/>
                      </a:solidFill>
                      <a:prstDash val="solid"/>
                    </a:lnL>
                    <a:lnR w="12700">
                      <a:solidFill>
                        <a:srgbClr val="003300"/>
                      </a:solidFill>
                      <a:prstDash val="solid"/>
                    </a:lnR>
                    <a:lnT w="12700">
                      <a:solidFill>
                        <a:srgbClr val="003300"/>
                      </a:solidFill>
                      <a:prstDash val="solid"/>
                    </a:lnT>
                    <a:lnB w="12700">
                      <a:solidFill>
                        <a:srgbClr val="003300"/>
                      </a:solidFill>
                      <a:prstDash val="solid"/>
                    </a:lnB>
                    <a:solidFill>
                      <a:srgbClr val="D4D3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3300"/>
                      </a:solidFill>
                      <a:prstDash val="solid"/>
                    </a:lnL>
                    <a:lnR w="12700">
                      <a:solidFill>
                        <a:srgbClr val="003300"/>
                      </a:solidFill>
                      <a:prstDash val="solid"/>
                    </a:lnR>
                    <a:lnT w="12700">
                      <a:solidFill>
                        <a:srgbClr val="003300"/>
                      </a:solidFill>
                      <a:prstDash val="solid"/>
                    </a:lnT>
                    <a:lnB w="12700">
                      <a:solidFill>
                        <a:srgbClr val="003300"/>
                      </a:solidFill>
                      <a:prstDash val="solid"/>
                    </a:lnB>
                    <a:solidFill>
                      <a:srgbClr val="D4D3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3300"/>
                      </a:solidFill>
                      <a:prstDash val="solid"/>
                    </a:lnL>
                    <a:lnR w="12700">
                      <a:solidFill>
                        <a:srgbClr val="003300"/>
                      </a:solidFill>
                      <a:prstDash val="solid"/>
                    </a:lnR>
                    <a:lnT w="12700">
                      <a:solidFill>
                        <a:srgbClr val="003300"/>
                      </a:solidFill>
                      <a:prstDash val="solid"/>
                    </a:lnT>
                    <a:lnB w="12700">
                      <a:solidFill>
                        <a:srgbClr val="003300"/>
                      </a:solidFill>
                      <a:prstDash val="solid"/>
                    </a:lnB>
                    <a:solidFill>
                      <a:srgbClr val="D4D3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3300"/>
                      </a:solidFill>
                      <a:prstDash val="solid"/>
                    </a:lnL>
                    <a:lnR w="12700">
                      <a:solidFill>
                        <a:srgbClr val="003300"/>
                      </a:solidFill>
                      <a:prstDash val="solid"/>
                    </a:lnR>
                    <a:lnT w="12700">
                      <a:solidFill>
                        <a:srgbClr val="003300"/>
                      </a:solidFill>
                      <a:prstDash val="solid"/>
                    </a:lnT>
                    <a:lnB w="12700">
                      <a:solidFill>
                        <a:srgbClr val="003300"/>
                      </a:solidFill>
                      <a:prstDash val="solid"/>
                    </a:lnB>
                    <a:solidFill>
                      <a:srgbClr val="D4D3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3300"/>
                      </a:solidFill>
                      <a:prstDash val="solid"/>
                    </a:lnL>
                    <a:lnR w="12700">
                      <a:solidFill>
                        <a:srgbClr val="003300"/>
                      </a:solidFill>
                      <a:prstDash val="solid"/>
                    </a:lnR>
                    <a:lnT w="12700">
                      <a:solidFill>
                        <a:srgbClr val="003300"/>
                      </a:solidFill>
                      <a:prstDash val="solid"/>
                    </a:lnT>
                    <a:lnB w="12700">
                      <a:solidFill>
                        <a:srgbClr val="003300"/>
                      </a:solidFill>
                      <a:prstDash val="solid"/>
                    </a:lnB>
                    <a:solidFill>
                      <a:srgbClr val="D4D3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3300"/>
                      </a:solidFill>
                      <a:prstDash val="solid"/>
                    </a:lnL>
                    <a:lnR w="12700">
                      <a:solidFill>
                        <a:srgbClr val="003300"/>
                      </a:solidFill>
                      <a:prstDash val="solid"/>
                    </a:lnR>
                    <a:lnT w="12700">
                      <a:solidFill>
                        <a:srgbClr val="003300"/>
                      </a:solidFill>
                      <a:prstDash val="solid"/>
                    </a:lnT>
                    <a:lnB w="12700">
                      <a:solidFill>
                        <a:srgbClr val="003300"/>
                      </a:solidFill>
                      <a:prstDash val="solid"/>
                    </a:lnB>
                    <a:solidFill>
                      <a:srgbClr val="D4D3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3300"/>
                      </a:solidFill>
                      <a:prstDash val="solid"/>
                    </a:lnL>
                    <a:lnR w="12700">
                      <a:solidFill>
                        <a:srgbClr val="003300"/>
                      </a:solidFill>
                      <a:prstDash val="solid"/>
                    </a:lnR>
                    <a:lnT w="12700">
                      <a:solidFill>
                        <a:srgbClr val="003300"/>
                      </a:solidFill>
                      <a:prstDash val="solid"/>
                    </a:lnT>
                    <a:lnB w="12700">
                      <a:solidFill>
                        <a:srgbClr val="003300"/>
                      </a:solidFill>
                      <a:prstDash val="solid"/>
                    </a:lnB>
                    <a:solidFill>
                      <a:srgbClr val="D4D3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3300"/>
                      </a:solidFill>
                      <a:prstDash val="solid"/>
                    </a:lnL>
                    <a:lnR w="12700">
                      <a:solidFill>
                        <a:srgbClr val="003300"/>
                      </a:solidFill>
                      <a:prstDash val="solid"/>
                    </a:lnR>
                    <a:lnT w="12700">
                      <a:solidFill>
                        <a:srgbClr val="003300"/>
                      </a:solidFill>
                      <a:prstDash val="solid"/>
                    </a:lnT>
                    <a:lnB w="12700">
                      <a:solidFill>
                        <a:srgbClr val="003300"/>
                      </a:solidFill>
                      <a:prstDash val="solid"/>
                    </a:lnB>
                    <a:solidFill>
                      <a:srgbClr val="D4D3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3300"/>
                      </a:solidFill>
                      <a:prstDash val="solid"/>
                    </a:lnL>
                    <a:lnR w="12700">
                      <a:solidFill>
                        <a:srgbClr val="003300"/>
                      </a:solidFill>
                      <a:prstDash val="solid"/>
                    </a:lnR>
                    <a:lnT w="12700">
                      <a:solidFill>
                        <a:srgbClr val="003300"/>
                      </a:solidFill>
                      <a:prstDash val="solid"/>
                    </a:lnT>
                    <a:lnB w="19050">
                      <a:solidFill>
                        <a:srgbClr val="003300"/>
                      </a:solidFill>
                      <a:prstDash val="solid"/>
                    </a:lnB>
                    <a:solidFill>
                      <a:srgbClr val="D4D3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269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3300"/>
                      </a:solidFill>
                      <a:prstDash val="solid"/>
                    </a:lnL>
                    <a:lnR w="12700">
                      <a:solidFill>
                        <a:srgbClr val="003300"/>
                      </a:solidFill>
                      <a:prstDash val="solid"/>
                    </a:lnR>
                    <a:lnT w="19050">
                      <a:solidFill>
                        <a:srgbClr val="003300"/>
                      </a:solidFill>
                      <a:prstDash val="solid"/>
                    </a:lnT>
                    <a:lnB w="12700">
                      <a:solidFill>
                        <a:srgbClr val="003300"/>
                      </a:solidFill>
                      <a:prstDash val="solid"/>
                    </a:lnB>
                    <a:solidFill>
                      <a:srgbClr val="D4D3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3300"/>
                      </a:solidFill>
                      <a:prstDash val="solid"/>
                    </a:lnL>
                    <a:lnR w="12700">
                      <a:solidFill>
                        <a:srgbClr val="003300"/>
                      </a:solidFill>
                      <a:prstDash val="solid"/>
                    </a:lnR>
                    <a:lnT w="12700">
                      <a:solidFill>
                        <a:srgbClr val="003300"/>
                      </a:solidFill>
                      <a:prstDash val="solid"/>
                    </a:lnT>
                    <a:lnB w="12700">
                      <a:solidFill>
                        <a:srgbClr val="003300"/>
                      </a:solidFill>
                      <a:prstDash val="solid"/>
                    </a:lnB>
                    <a:solidFill>
                      <a:srgbClr val="D4D3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3300"/>
                      </a:solidFill>
                      <a:prstDash val="solid"/>
                    </a:lnL>
                    <a:lnR w="12700">
                      <a:solidFill>
                        <a:srgbClr val="003300"/>
                      </a:solidFill>
                      <a:prstDash val="solid"/>
                    </a:lnR>
                    <a:lnT w="12700">
                      <a:solidFill>
                        <a:srgbClr val="003300"/>
                      </a:solidFill>
                      <a:prstDash val="solid"/>
                    </a:lnT>
                    <a:lnB w="12700">
                      <a:solidFill>
                        <a:srgbClr val="003300"/>
                      </a:solidFill>
                      <a:prstDash val="solid"/>
                    </a:lnB>
                    <a:solidFill>
                      <a:srgbClr val="D4D3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3300"/>
                      </a:solidFill>
                      <a:prstDash val="solid"/>
                    </a:lnL>
                    <a:lnR w="12700">
                      <a:solidFill>
                        <a:srgbClr val="003300"/>
                      </a:solidFill>
                      <a:prstDash val="solid"/>
                    </a:lnR>
                    <a:lnT w="12700">
                      <a:solidFill>
                        <a:srgbClr val="003300"/>
                      </a:solidFill>
                      <a:prstDash val="solid"/>
                    </a:lnT>
                    <a:lnB w="12700">
                      <a:solidFill>
                        <a:srgbClr val="003300"/>
                      </a:solidFill>
                      <a:prstDash val="solid"/>
                    </a:lnB>
                    <a:solidFill>
                      <a:srgbClr val="D4D3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3300"/>
                      </a:solidFill>
                      <a:prstDash val="solid"/>
                    </a:lnL>
                    <a:lnR w="12700">
                      <a:solidFill>
                        <a:srgbClr val="003300"/>
                      </a:solidFill>
                      <a:prstDash val="solid"/>
                    </a:lnR>
                    <a:lnT w="12700">
                      <a:solidFill>
                        <a:srgbClr val="003300"/>
                      </a:solidFill>
                      <a:prstDash val="solid"/>
                    </a:lnT>
                    <a:lnB w="12700">
                      <a:solidFill>
                        <a:srgbClr val="003300"/>
                      </a:solidFill>
                      <a:prstDash val="solid"/>
                    </a:lnB>
                    <a:solidFill>
                      <a:srgbClr val="D4D3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3300"/>
                      </a:solidFill>
                      <a:prstDash val="solid"/>
                    </a:lnL>
                    <a:lnR w="12700">
                      <a:solidFill>
                        <a:srgbClr val="003300"/>
                      </a:solidFill>
                      <a:prstDash val="solid"/>
                    </a:lnR>
                    <a:lnT w="12700">
                      <a:solidFill>
                        <a:srgbClr val="003300"/>
                      </a:solidFill>
                      <a:prstDash val="solid"/>
                    </a:lnT>
                    <a:lnB w="12700">
                      <a:solidFill>
                        <a:srgbClr val="003300"/>
                      </a:solidFill>
                      <a:prstDash val="solid"/>
                    </a:lnB>
                    <a:solidFill>
                      <a:srgbClr val="D4D3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3300"/>
                      </a:solidFill>
                      <a:prstDash val="solid"/>
                    </a:lnL>
                    <a:lnR w="12700">
                      <a:solidFill>
                        <a:srgbClr val="003300"/>
                      </a:solidFill>
                      <a:prstDash val="solid"/>
                    </a:lnR>
                    <a:lnT w="12700">
                      <a:solidFill>
                        <a:srgbClr val="003300"/>
                      </a:solidFill>
                      <a:prstDash val="solid"/>
                    </a:lnT>
                    <a:lnB w="12700">
                      <a:solidFill>
                        <a:srgbClr val="003300"/>
                      </a:solidFill>
                      <a:prstDash val="solid"/>
                    </a:lnB>
                    <a:solidFill>
                      <a:srgbClr val="D4D3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3300"/>
                      </a:solidFill>
                      <a:prstDash val="solid"/>
                    </a:lnL>
                    <a:lnR w="12700">
                      <a:solidFill>
                        <a:srgbClr val="003300"/>
                      </a:solidFill>
                      <a:prstDash val="solid"/>
                    </a:lnR>
                    <a:lnT w="12700">
                      <a:solidFill>
                        <a:srgbClr val="003300"/>
                      </a:solidFill>
                      <a:prstDash val="solid"/>
                    </a:lnT>
                    <a:lnB w="12700">
                      <a:solidFill>
                        <a:srgbClr val="003300"/>
                      </a:solidFill>
                      <a:prstDash val="solid"/>
                    </a:lnB>
                    <a:solidFill>
                      <a:srgbClr val="D4D3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3300"/>
                      </a:solidFill>
                      <a:prstDash val="solid"/>
                    </a:lnL>
                    <a:lnR w="12700">
                      <a:solidFill>
                        <a:srgbClr val="003300"/>
                      </a:solidFill>
                      <a:prstDash val="solid"/>
                    </a:lnR>
                    <a:lnT w="12700">
                      <a:solidFill>
                        <a:srgbClr val="003300"/>
                      </a:solidFill>
                      <a:prstDash val="solid"/>
                    </a:lnT>
                    <a:lnB w="12700">
                      <a:solidFill>
                        <a:srgbClr val="003300"/>
                      </a:solidFill>
                      <a:prstDash val="solid"/>
                    </a:lnB>
                    <a:solidFill>
                      <a:srgbClr val="D4D3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3300"/>
                      </a:solidFill>
                      <a:prstDash val="solid"/>
                    </a:lnL>
                    <a:lnR w="12700">
                      <a:solidFill>
                        <a:srgbClr val="003300"/>
                      </a:solidFill>
                      <a:prstDash val="solid"/>
                    </a:lnR>
                    <a:lnT w="12700">
                      <a:solidFill>
                        <a:srgbClr val="003300"/>
                      </a:solidFill>
                      <a:prstDash val="solid"/>
                    </a:lnT>
                    <a:lnB w="12700">
                      <a:solidFill>
                        <a:srgbClr val="003300"/>
                      </a:solidFill>
                      <a:prstDash val="solid"/>
                    </a:lnB>
                    <a:solidFill>
                      <a:srgbClr val="D4D3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3300"/>
                      </a:solidFill>
                      <a:prstDash val="solid"/>
                    </a:lnL>
                    <a:lnR w="12700">
                      <a:solidFill>
                        <a:srgbClr val="003300"/>
                      </a:solidFill>
                      <a:prstDash val="solid"/>
                    </a:lnR>
                    <a:lnT w="12700">
                      <a:solidFill>
                        <a:srgbClr val="003300"/>
                      </a:solidFill>
                      <a:prstDash val="solid"/>
                    </a:lnT>
                    <a:lnB w="12700">
                      <a:solidFill>
                        <a:srgbClr val="003300"/>
                      </a:solidFill>
                      <a:prstDash val="solid"/>
                    </a:lnB>
                    <a:solidFill>
                      <a:srgbClr val="D4D3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</a:tbl>
          </a:graphicData>
        </a:graphic>
      </p:graphicFrame>
      <p:sp>
        <p:nvSpPr>
          <p:cNvPr id="9" name="object 4">
            <a:extLst>
              <a:ext uri="{FF2B5EF4-FFF2-40B4-BE49-F238E27FC236}">
                <a16:creationId xmlns:a16="http://schemas.microsoft.com/office/drawing/2014/main" id="{CFFDCA1F-78EB-CEE2-0A01-5EC201F9BA9B}"/>
              </a:ext>
            </a:extLst>
          </p:cNvPr>
          <p:cNvSpPr/>
          <p:nvPr/>
        </p:nvSpPr>
        <p:spPr>
          <a:xfrm>
            <a:off x="4061460" y="2573782"/>
            <a:ext cx="2095500" cy="571500"/>
          </a:xfrm>
          <a:custGeom>
            <a:avLst/>
            <a:gdLst/>
            <a:ahLst/>
            <a:cxnLst/>
            <a:rect l="l" t="t" r="r" b="b"/>
            <a:pathLst>
              <a:path w="2095500" h="571500">
                <a:moveTo>
                  <a:pt x="2095500" y="0"/>
                </a:moveTo>
                <a:lnTo>
                  <a:pt x="0" y="0"/>
                </a:lnTo>
                <a:lnTo>
                  <a:pt x="0" y="571500"/>
                </a:lnTo>
                <a:lnTo>
                  <a:pt x="2095500" y="571500"/>
                </a:lnTo>
                <a:lnTo>
                  <a:pt x="2095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5">
            <a:extLst>
              <a:ext uri="{FF2B5EF4-FFF2-40B4-BE49-F238E27FC236}">
                <a16:creationId xmlns:a16="http://schemas.microsoft.com/office/drawing/2014/main" id="{F079D96A-0990-362A-5598-70600D8D87C3}"/>
              </a:ext>
            </a:extLst>
          </p:cNvPr>
          <p:cNvSpPr txBox="1"/>
          <p:nvPr/>
        </p:nvSpPr>
        <p:spPr>
          <a:xfrm>
            <a:off x="4061460" y="2573782"/>
            <a:ext cx="2095500" cy="571500"/>
          </a:xfrm>
          <a:prstGeom prst="rect">
            <a:avLst/>
          </a:prstGeom>
          <a:ln w="12700">
            <a:solidFill>
              <a:srgbClr val="003300"/>
            </a:solidFill>
          </a:ln>
        </p:spPr>
        <p:txBody>
          <a:bodyPr vert="horz" wrap="square" lIns="0" tIns="151130" rIns="0" bIns="0" rtlCol="0">
            <a:spAutoFit/>
          </a:bodyPr>
          <a:lstStyle/>
          <a:p>
            <a:pPr marL="318770">
              <a:lnSpc>
                <a:spcPct val="100000"/>
              </a:lnSpc>
              <a:spcBef>
                <a:spcPts val="1190"/>
              </a:spcBef>
            </a:pPr>
            <a:r>
              <a:rPr sz="1700" spc="-5" dirty="0">
                <a:latin typeface="Cambria"/>
                <a:cs typeface="Cambria"/>
              </a:rPr>
              <a:t>SDM</a:t>
            </a:r>
            <a:r>
              <a:rPr sz="1700" spc="-50" dirty="0">
                <a:latin typeface="Cambria"/>
                <a:cs typeface="Cambria"/>
              </a:rPr>
              <a:t> </a:t>
            </a:r>
            <a:r>
              <a:rPr sz="1700" spc="-5" dirty="0">
                <a:latin typeface="Cambria"/>
                <a:cs typeface="Cambria"/>
              </a:rPr>
              <a:t>(LRU-sets)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11" name="object 6">
            <a:extLst>
              <a:ext uri="{FF2B5EF4-FFF2-40B4-BE49-F238E27FC236}">
                <a16:creationId xmlns:a16="http://schemas.microsoft.com/office/drawing/2014/main" id="{7DB52D78-0502-DE6E-8AC8-8538E52BF620}"/>
              </a:ext>
            </a:extLst>
          </p:cNvPr>
          <p:cNvSpPr txBox="1"/>
          <p:nvPr/>
        </p:nvSpPr>
        <p:spPr>
          <a:xfrm>
            <a:off x="4061460" y="3716782"/>
            <a:ext cx="2095500" cy="2095500"/>
          </a:xfrm>
          <a:prstGeom prst="rect">
            <a:avLst/>
          </a:prstGeom>
          <a:solidFill>
            <a:srgbClr val="D4D3D5"/>
          </a:solidFill>
          <a:ln w="12700">
            <a:solidFill>
              <a:srgbClr val="0033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250">
              <a:latin typeface="Times New Roman"/>
              <a:cs typeface="Times New Roman"/>
            </a:endParaRPr>
          </a:p>
          <a:p>
            <a:pPr marL="429895">
              <a:lnSpc>
                <a:spcPct val="100000"/>
              </a:lnSpc>
            </a:pPr>
            <a:r>
              <a:rPr sz="1700" spc="-15" dirty="0">
                <a:solidFill>
                  <a:srgbClr val="003300"/>
                </a:solidFill>
                <a:latin typeface="Cambria"/>
                <a:cs typeface="Cambria"/>
              </a:rPr>
              <a:t>Follower</a:t>
            </a:r>
            <a:r>
              <a:rPr sz="1700" spc="-40" dirty="0">
                <a:solidFill>
                  <a:srgbClr val="003300"/>
                </a:solidFill>
                <a:latin typeface="Cambria"/>
                <a:cs typeface="Cambria"/>
              </a:rPr>
              <a:t> </a:t>
            </a:r>
            <a:r>
              <a:rPr sz="1700" spc="-5" dirty="0">
                <a:solidFill>
                  <a:srgbClr val="003300"/>
                </a:solidFill>
                <a:latin typeface="Cambria"/>
                <a:cs typeface="Cambria"/>
              </a:rPr>
              <a:t>Sets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12" name="object 7">
            <a:extLst>
              <a:ext uri="{FF2B5EF4-FFF2-40B4-BE49-F238E27FC236}">
                <a16:creationId xmlns:a16="http://schemas.microsoft.com/office/drawing/2014/main" id="{EAEC1A21-0A2C-D57F-4E31-9863B5E34F96}"/>
              </a:ext>
            </a:extLst>
          </p:cNvPr>
          <p:cNvSpPr txBox="1"/>
          <p:nvPr/>
        </p:nvSpPr>
        <p:spPr>
          <a:xfrm>
            <a:off x="4061460" y="3145282"/>
            <a:ext cx="2095500" cy="571500"/>
          </a:xfrm>
          <a:prstGeom prst="rect">
            <a:avLst/>
          </a:prstGeom>
          <a:solidFill>
            <a:srgbClr val="92D050"/>
          </a:solidFill>
          <a:ln w="12700">
            <a:solidFill>
              <a:srgbClr val="003300"/>
            </a:solidFill>
          </a:ln>
        </p:spPr>
        <p:txBody>
          <a:bodyPr vert="horz" wrap="square" lIns="0" tIns="151130" rIns="0" bIns="0" rtlCol="0">
            <a:spAutoFit/>
          </a:bodyPr>
          <a:lstStyle/>
          <a:p>
            <a:pPr marL="347980">
              <a:lnSpc>
                <a:spcPct val="100000"/>
              </a:lnSpc>
              <a:spcBef>
                <a:spcPts val="1190"/>
              </a:spcBef>
            </a:pPr>
            <a:r>
              <a:rPr sz="1700" spc="-5" dirty="0">
                <a:latin typeface="Cambria"/>
                <a:cs typeface="Cambria"/>
              </a:rPr>
              <a:t>SDM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(BIP-sets)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13" name="object 8">
            <a:extLst>
              <a:ext uri="{FF2B5EF4-FFF2-40B4-BE49-F238E27FC236}">
                <a16:creationId xmlns:a16="http://schemas.microsoft.com/office/drawing/2014/main" id="{8C59BC47-7F44-01DA-ABBF-45C0F35A5407}"/>
              </a:ext>
            </a:extLst>
          </p:cNvPr>
          <p:cNvSpPr txBox="1"/>
          <p:nvPr/>
        </p:nvSpPr>
        <p:spPr>
          <a:xfrm>
            <a:off x="7280910" y="2903982"/>
            <a:ext cx="1314450" cy="381000"/>
          </a:xfrm>
          <a:prstGeom prst="rect">
            <a:avLst/>
          </a:prstGeom>
          <a:solidFill>
            <a:srgbClr val="FF0000"/>
          </a:solidFill>
          <a:ln w="12700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45"/>
              </a:spcBef>
            </a:pPr>
            <a:r>
              <a:rPr sz="2000" spc="-10" dirty="0">
                <a:latin typeface="Cambria"/>
                <a:cs typeface="Cambria"/>
              </a:rPr>
              <a:t>n-bit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PSEL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14" name="object 9">
            <a:extLst>
              <a:ext uri="{FF2B5EF4-FFF2-40B4-BE49-F238E27FC236}">
                <a16:creationId xmlns:a16="http://schemas.microsoft.com/office/drawing/2014/main" id="{D7A28234-FB0F-5E52-187C-663FBD73AFA4}"/>
              </a:ext>
            </a:extLst>
          </p:cNvPr>
          <p:cNvGrpSpPr/>
          <p:nvPr/>
        </p:nvGrpSpPr>
        <p:grpSpPr>
          <a:xfrm>
            <a:off x="6142672" y="2688208"/>
            <a:ext cx="897255" cy="368300"/>
            <a:chOff x="6081712" y="1822576"/>
            <a:chExt cx="897255" cy="368300"/>
          </a:xfrm>
        </p:grpSpPr>
        <p:sp>
          <p:nvSpPr>
            <p:cNvPr id="15" name="object 10">
              <a:extLst>
                <a:ext uri="{FF2B5EF4-FFF2-40B4-BE49-F238E27FC236}">
                  <a16:creationId xmlns:a16="http://schemas.microsoft.com/office/drawing/2014/main" id="{ABA93390-5A11-109A-5515-1747AAC0E5F0}"/>
                </a:ext>
              </a:extLst>
            </p:cNvPr>
            <p:cNvSpPr/>
            <p:nvPr/>
          </p:nvSpPr>
          <p:spPr>
            <a:xfrm>
              <a:off x="6096000" y="2038476"/>
              <a:ext cx="714375" cy="0"/>
            </a:xfrm>
            <a:custGeom>
              <a:avLst/>
              <a:gdLst/>
              <a:ahLst/>
              <a:cxnLst/>
              <a:rect l="l" t="t" r="r" b="b"/>
              <a:pathLst>
                <a:path w="714375">
                  <a:moveTo>
                    <a:pt x="0" y="0"/>
                  </a:moveTo>
                  <a:lnTo>
                    <a:pt x="714375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1">
              <a:extLst>
                <a:ext uri="{FF2B5EF4-FFF2-40B4-BE49-F238E27FC236}">
                  <a16:creationId xmlns:a16="http://schemas.microsoft.com/office/drawing/2014/main" id="{803E433A-F926-EFDA-E6B0-C72C1E5C4D81}"/>
                </a:ext>
              </a:extLst>
            </p:cNvPr>
            <p:cNvSpPr/>
            <p:nvPr/>
          </p:nvSpPr>
          <p:spPr>
            <a:xfrm>
              <a:off x="6667500" y="1847976"/>
              <a:ext cx="285750" cy="317500"/>
            </a:xfrm>
            <a:custGeom>
              <a:avLst/>
              <a:gdLst/>
              <a:ahLst/>
              <a:cxnLst/>
              <a:rect l="l" t="t" r="r" b="b"/>
              <a:pathLst>
                <a:path w="285750" h="317500">
                  <a:moveTo>
                    <a:pt x="142875" y="0"/>
                  </a:moveTo>
                  <a:lnTo>
                    <a:pt x="97731" y="8097"/>
                  </a:lnTo>
                  <a:lnTo>
                    <a:pt x="58512" y="30642"/>
                  </a:lnTo>
                  <a:lnTo>
                    <a:pt x="27578" y="65013"/>
                  </a:lnTo>
                  <a:lnTo>
                    <a:pt x="7287" y="108590"/>
                  </a:lnTo>
                  <a:lnTo>
                    <a:pt x="0" y="158750"/>
                  </a:lnTo>
                  <a:lnTo>
                    <a:pt x="7287" y="208896"/>
                  </a:lnTo>
                  <a:lnTo>
                    <a:pt x="27578" y="252441"/>
                  </a:lnTo>
                  <a:lnTo>
                    <a:pt x="58512" y="286775"/>
                  </a:lnTo>
                  <a:lnTo>
                    <a:pt x="97731" y="309288"/>
                  </a:lnTo>
                  <a:lnTo>
                    <a:pt x="142875" y="317373"/>
                  </a:lnTo>
                  <a:lnTo>
                    <a:pt x="188018" y="309288"/>
                  </a:lnTo>
                  <a:lnTo>
                    <a:pt x="227237" y="286775"/>
                  </a:lnTo>
                  <a:lnTo>
                    <a:pt x="258171" y="252441"/>
                  </a:lnTo>
                  <a:lnTo>
                    <a:pt x="278462" y="208896"/>
                  </a:lnTo>
                  <a:lnTo>
                    <a:pt x="285750" y="158750"/>
                  </a:lnTo>
                  <a:lnTo>
                    <a:pt x="278462" y="108590"/>
                  </a:lnTo>
                  <a:lnTo>
                    <a:pt x="258171" y="65013"/>
                  </a:lnTo>
                  <a:lnTo>
                    <a:pt x="227237" y="30642"/>
                  </a:lnTo>
                  <a:lnTo>
                    <a:pt x="188018" y="8097"/>
                  </a:lnTo>
                  <a:lnTo>
                    <a:pt x="1428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2">
              <a:extLst>
                <a:ext uri="{FF2B5EF4-FFF2-40B4-BE49-F238E27FC236}">
                  <a16:creationId xmlns:a16="http://schemas.microsoft.com/office/drawing/2014/main" id="{A79E0D73-9180-B41B-AE06-E6D7406CA40A}"/>
                </a:ext>
              </a:extLst>
            </p:cNvPr>
            <p:cNvSpPr/>
            <p:nvPr/>
          </p:nvSpPr>
          <p:spPr>
            <a:xfrm>
              <a:off x="6667500" y="1847976"/>
              <a:ext cx="285750" cy="317500"/>
            </a:xfrm>
            <a:custGeom>
              <a:avLst/>
              <a:gdLst/>
              <a:ahLst/>
              <a:cxnLst/>
              <a:rect l="l" t="t" r="r" b="b"/>
              <a:pathLst>
                <a:path w="285750" h="317500">
                  <a:moveTo>
                    <a:pt x="0" y="158750"/>
                  </a:moveTo>
                  <a:lnTo>
                    <a:pt x="7287" y="108590"/>
                  </a:lnTo>
                  <a:lnTo>
                    <a:pt x="27578" y="65013"/>
                  </a:lnTo>
                  <a:lnTo>
                    <a:pt x="58512" y="30642"/>
                  </a:lnTo>
                  <a:lnTo>
                    <a:pt x="97731" y="8097"/>
                  </a:lnTo>
                  <a:lnTo>
                    <a:pt x="142875" y="0"/>
                  </a:lnTo>
                  <a:lnTo>
                    <a:pt x="188018" y="8097"/>
                  </a:lnTo>
                  <a:lnTo>
                    <a:pt x="227237" y="30642"/>
                  </a:lnTo>
                  <a:lnTo>
                    <a:pt x="258171" y="65013"/>
                  </a:lnTo>
                  <a:lnTo>
                    <a:pt x="278462" y="108590"/>
                  </a:lnTo>
                  <a:lnTo>
                    <a:pt x="285750" y="158750"/>
                  </a:lnTo>
                  <a:lnTo>
                    <a:pt x="278462" y="208896"/>
                  </a:lnTo>
                  <a:lnTo>
                    <a:pt x="258171" y="252441"/>
                  </a:lnTo>
                  <a:lnTo>
                    <a:pt x="227237" y="286775"/>
                  </a:lnTo>
                  <a:lnTo>
                    <a:pt x="188018" y="309288"/>
                  </a:lnTo>
                  <a:lnTo>
                    <a:pt x="142875" y="317373"/>
                  </a:lnTo>
                  <a:lnTo>
                    <a:pt x="97731" y="309288"/>
                  </a:lnTo>
                  <a:lnTo>
                    <a:pt x="58512" y="286775"/>
                  </a:lnTo>
                  <a:lnTo>
                    <a:pt x="27578" y="252441"/>
                  </a:lnTo>
                  <a:lnTo>
                    <a:pt x="7287" y="208896"/>
                  </a:lnTo>
                  <a:lnTo>
                    <a:pt x="0" y="158750"/>
                  </a:lnTo>
                  <a:close/>
                </a:path>
              </a:pathLst>
            </a:custGeom>
            <a:ln w="508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3">
            <a:extLst>
              <a:ext uri="{FF2B5EF4-FFF2-40B4-BE49-F238E27FC236}">
                <a16:creationId xmlns:a16="http://schemas.microsoft.com/office/drawing/2014/main" id="{CE47F30E-A336-EEAC-5305-9D03A9A932C5}"/>
              </a:ext>
            </a:extLst>
          </p:cNvPr>
          <p:cNvSpPr txBox="1"/>
          <p:nvPr/>
        </p:nvSpPr>
        <p:spPr>
          <a:xfrm>
            <a:off x="6789166" y="2700020"/>
            <a:ext cx="16637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ambria"/>
                <a:cs typeface="Cambria"/>
              </a:rPr>
              <a:t>+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9" name="object 14">
            <a:extLst>
              <a:ext uri="{FF2B5EF4-FFF2-40B4-BE49-F238E27FC236}">
                <a16:creationId xmlns:a16="http://schemas.microsoft.com/office/drawing/2014/main" id="{A8ADDF85-BB4F-E72C-DB8B-C98A3E640054}"/>
              </a:ext>
            </a:extLst>
          </p:cNvPr>
          <p:cNvSpPr txBox="1"/>
          <p:nvPr/>
        </p:nvSpPr>
        <p:spPr>
          <a:xfrm>
            <a:off x="6214110" y="2481198"/>
            <a:ext cx="52705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Cambria"/>
                <a:cs typeface="Cambria"/>
              </a:rPr>
              <a:t>miss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20" name="object 15">
            <a:extLst>
              <a:ext uri="{FF2B5EF4-FFF2-40B4-BE49-F238E27FC236}">
                <a16:creationId xmlns:a16="http://schemas.microsoft.com/office/drawing/2014/main" id="{9E03D0D7-B6C9-C169-8D3F-50FFF88ABE2C}"/>
              </a:ext>
            </a:extLst>
          </p:cNvPr>
          <p:cNvGrpSpPr/>
          <p:nvPr/>
        </p:nvGrpSpPr>
        <p:grpSpPr>
          <a:xfrm>
            <a:off x="6142672" y="3196082"/>
            <a:ext cx="897255" cy="368300"/>
            <a:chOff x="6081712" y="2330450"/>
            <a:chExt cx="897255" cy="368300"/>
          </a:xfrm>
        </p:grpSpPr>
        <p:sp>
          <p:nvSpPr>
            <p:cNvPr id="21" name="object 16">
              <a:extLst>
                <a:ext uri="{FF2B5EF4-FFF2-40B4-BE49-F238E27FC236}">
                  <a16:creationId xmlns:a16="http://schemas.microsoft.com/office/drawing/2014/main" id="{AEFB5D62-453F-A15B-CF6B-953C78EAB4EB}"/>
                </a:ext>
              </a:extLst>
            </p:cNvPr>
            <p:cNvSpPr/>
            <p:nvPr/>
          </p:nvSpPr>
          <p:spPr>
            <a:xfrm>
              <a:off x="6096000" y="2546222"/>
              <a:ext cx="714375" cy="0"/>
            </a:xfrm>
            <a:custGeom>
              <a:avLst/>
              <a:gdLst/>
              <a:ahLst/>
              <a:cxnLst/>
              <a:rect l="l" t="t" r="r" b="b"/>
              <a:pathLst>
                <a:path w="714375">
                  <a:moveTo>
                    <a:pt x="0" y="0"/>
                  </a:moveTo>
                  <a:lnTo>
                    <a:pt x="714375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17">
              <a:extLst>
                <a:ext uri="{FF2B5EF4-FFF2-40B4-BE49-F238E27FC236}">
                  <a16:creationId xmlns:a16="http://schemas.microsoft.com/office/drawing/2014/main" id="{E0348B1C-4A3A-8F2F-6510-BC9A4113F4E3}"/>
                </a:ext>
              </a:extLst>
            </p:cNvPr>
            <p:cNvSpPr/>
            <p:nvPr/>
          </p:nvSpPr>
          <p:spPr>
            <a:xfrm>
              <a:off x="6667500" y="2355850"/>
              <a:ext cx="285750" cy="317500"/>
            </a:xfrm>
            <a:custGeom>
              <a:avLst/>
              <a:gdLst/>
              <a:ahLst/>
              <a:cxnLst/>
              <a:rect l="l" t="t" r="r" b="b"/>
              <a:pathLst>
                <a:path w="285750" h="317500">
                  <a:moveTo>
                    <a:pt x="142875" y="0"/>
                  </a:moveTo>
                  <a:lnTo>
                    <a:pt x="97731" y="8084"/>
                  </a:lnTo>
                  <a:lnTo>
                    <a:pt x="58512" y="30597"/>
                  </a:lnTo>
                  <a:lnTo>
                    <a:pt x="27578" y="64931"/>
                  </a:lnTo>
                  <a:lnTo>
                    <a:pt x="7287" y="108476"/>
                  </a:lnTo>
                  <a:lnTo>
                    <a:pt x="0" y="158623"/>
                  </a:lnTo>
                  <a:lnTo>
                    <a:pt x="7287" y="208782"/>
                  </a:lnTo>
                  <a:lnTo>
                    <a:pt x="27578" y="252359"/>
                  </a:lnTo>
                  <a:lnTo>
                    <a:pt x="58512" y="286730"/>
                  </a:lnTo>
                  <a:lnTo>
                    <a:pt x="97731" y="309275"/>
                  </a:lnTo>
                  <a:lnTo>
                    <a:pt x="142875" y="317373"/>
                  </a:lnTo>
                  <a:lnTo>
                    <a:pt x="188018" y="309275"/>
                  </a:lnTo>
                  <a:lnTo>
                    <a:pt x="227237" y="286730"/>
                  </a:lnTo>
                  <a:lnTo>
                    <a:pt x="258171" y="252359"/>
                  </a:lnTo>
                  <a:lnTo>
                    <a:pt x="278462" y="208782"/>
                  </a:lnTo>
                  <a:lnTo>
                    <a:pt x="285750" y="158623"/>
                  </a:lnTo>
                  <a:lnTo>
                    <a:pt x="278462" y="108476"/>
                  </a:lnTo>
                  <a:lnTo>
                    <a:pt x="258171" y="64931"/>
                  </a:lnTo>
                  <a:lnTo>
                    <a:pt x="227237" y="30597"/>
                  </a:lnTo>
                  <a:lnTo>
                    <a:pt x="188018" y="8084"/>
                  </a:lnTo>
                  <a:lnTo>
                    <a:pt x="1428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18">
              <a:extLst>
                <a:ext uri="{FF2B5EF4-FFF2-40B4-BE49-F238E27FC236}">
                  <a16:creationId xmlns:a16="http://schemas.microsoft.com/office/drawing/2014/main" id="{74AB119A-CA59-4146-041F-62FCC496F929}"/>
                </a:ext>
              </a:extLst>
            </p:cNvPr>
            <p:cNvSpPr/>
            <p:nvPr/>
          </p:nvSpPr>
          <p:spPr>
            <a:xfrm>
              <a:off x="6667500" y="2355850"/>
              <a:ext cx="285750" cy="317500"/>
            </a:xfrm>
            <a:custGeom>
              <a:avLst/>
              <a:gdLst/>
              <a:ahLst/>
              <a:cxnLst/>
              <a:rect l="l" t="t" r="r" b="b"/>
              <a:pathLst>
                <a:path w="285750" h="317500">
                  <a:moveTo>
                    <a:pt x="0" y="158623"/>
                  </a:moveTo>
                  <a:lnTo>
                    <a:pt x="7287" y="108476"/>
                  </a:lnTo>
                  <a:lnTo>
                    <a:pt x="27578" y="64931"/>
                  </a:lnTo>
                  <a:lnTo>
                    <a:pt x="58512" y="30597"/>
                  </a:lnTo>
                  <a:lnTo>
                    <a:pt x="97731" y="8084"/>
                  </a:lnTo>
                  <a:lnTo>
                    <a:pt x="142875" y="0"/>
                  </a:lnTo>
                  <a:lnTo>
                    <a:pt x="188018" y="8084"/>
                  </a:lnTo>
                  <a:lnTo>
                    <a:pt x="227237" y="30597"/>
                  </a:lnTo>
                  <a:lnTo>
                    <a:pt x="258171" y="64931"/>
                  </a:lnTo>
                  <a:lnTo>
                    <a:pt x="278462" y="108476"/>
                  </a:lnTo>
                  <a:lnTo>
                    <a:pt x="285750" y="158623"/>
                  </a:lnTo>
                  <a:lnTo>
                    <a:pt x="278462" y="208782"/>
                  </a:lnTo>
                  <a:lnTo>
                    <a:pt x="258171" y="252359"/>
                  </a:lnTo>
                  <a:lnTo>
                    <a:pt x="227237" y="286730"/>
                  </a:lnTo>
                  <a:lnTo>
                    <a:pt x="188018" y="309275"/>
                  </a:lnTo>
                  <a:lnTo>
                    <a:pt x="142875" y="317373"/>
                  </a:lnTo>
                  <a:lnTo>
                    <a:pt x="97731" y="309275"/>
                  </a:lnTo>
                  <a:lnTo>
                    <a:pt x="58512" y="286730"/>
                  </a:lnTo>
                  <a:lnTo>
                    <a:pt x="27578" y="252359"/>
                  </a:lnTo>
                  <a:lnTo>
                    <a:pt x="7287" y="208782"/>
                  </a:lnTo>
                  <a:lnTo>
                    <a:pt x="0" y="158623"/>
                  </a:lnTo>
                  <a:close/>
                </a:path>
              </a:pathLst>
            </a:custGeom>
            <a:ln w="508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19">
            <a:extLst>
              <a:ext uri="{FF2B5EF4-FFF2-40B4-BE49-F238E27FC236}">
                <a16:creationId xmlns:a16="http://schemas.microsoft.com/office/drawing/2014/main" id="{F401F5C1-F914-E2E2-D86B-8F5F2BBF9688}"/>
              </a:ext>
            </a:extLst>
          </p:cNvPr>
          <p:cNvSpPr txBox="1"/>
          <p:nvPr/>
        </p:nvSpPr>
        <p:spPr>
          <a:xfrm>
            <a:off x="6795642" y="3208146"/>
            <a:ext cx="1530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ambria"/>
                <a:cs typeface="Cambria"/>
              </a:rPr>
              <a:t>–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25" name="object 20">
            <a:extLst>
              <a:ext uri="{FF2B5EF4-FFF2-40B4-BE49-F238E27FC236}">
                <a16:creationId xmlns:a16="http://schemas.microsoft.com/office/drawing/2014/main" id="{0571DCBB-68BF-89FC-6C24-552ABC721A9A}"/>
              </a:ext>
            </a:extLst>
          </p:cNvPr>
          <p:cNvSpPr txBox="1"/>
          <p:nvPr/>
        </p:nvSpPr>
        <p:spPr>
          <a:xfrm>
            <a:off x="6214110" y="3433318"/>
            <a:ext cx="52705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Cambria"/>
                <a:cs typeface="Cambria"/>
              </a:rPr>
              <a:t>miss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26" name="object 21">
            <a:extLst>
              <a:ext uri="{FF2B5EF4-FFF2-40B4-BE49-F238E27FC236}">
                <a16:creationId xmlns:a16="http://schemas.microsoft.com/office/drawing/2014/main" id="{25EAFF88-CFB3-BF43-68FF-FBA6752D84B5}"/>
              </a:ext>
            </a:extLst>
          </p:cNvPr>
          <p:cNvGrpSpPr/>
          <p:nvPr/>
        </p:nvGrpSpPr>
        <p:grpSpPr>
          <a:xfrm>
            <a:off x="7003795" y="2829433"/>
            <a:ext cx="248920" cy="528955"/>
            <a:chOff x="6942835" y="1963801"/>
            <a:chExt cx="248920" cy="528955"/>
          </a:xfrm>
        </p:grpSpPr>
        <p:pic>
          <p:nvPicPr>
            <p:cNvPr id="27" name="object 22">
              <a:extLst>
                <a:ext uri="{FF2B5EF4-FFF2-40B4-BE49-F238E27FC236}">
                  <a16:creationId xmlns:a16="http://schemas.microsoft.com/office/drawing/2014/main" id="{042F1017-5931-E743-7502-5CE6D9EA978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44359" y="1963801"/>
              <a:ext cx="247015" cy="201549"/>
            </a:xfrm>
            <a:prstGeom prst="rect">
              <a:avLst/>
            </a:prstGeom>
          </p:spPr>
        </p:pic>
        <p:sp>
          <p:nvSpPr>
            <p:cNvPr id="28" name="object 23">
              <a:extLst>
                <a:ext uri="{FF2B5EF4-FFF2-40B4-BE49-F238E27FC236}">
                  <a16:creationId xmlns:a16="http://schemas.microsoft.com/office/drawing/2014/main" id="{0C44291C-72D6-E17C-009A-47D7D4666128}"/>
                </a:ext>
              </a:extLst>
            </p:cNvPr>
            <p:cNvSpPr/>
            <p:nvPr/>
          </p:nvSpPr>
          <p:spPr>
            <a:xfrm>
              <a:off x="6942835" y="2228850"/>
              <a:ext cx="248920" cy="264160"/>
            </a:xfrm>
            <a:custGeom>
              <a:avLst/>
              <a:gdLst/>
              <a:ahLst/>
              <a:cxnLst/>
              <a:rect l="l" t="t" r="r" b="b"/>
              <a:pathLst>
                <a:path w="248920" h="264160">
                  <a:moveTo>
                    <a:pt x="179416" y="52756"/>
                  </a:moveTo>
                  <a:lnTo>
                    <a:pt x="0" y="244094"/>
                  </a:lnTo>
                  <a:lnTo>
                    <a:pt x="20828" y="263651"/>
                  </a:lnTo>
                  <a:lnTo>
                    <a:pt x="200265" y="72292"/>
                  </a:lnTo>
                  <a:lnTo>
                    <a:pt x="179416" y="52756"/>
                  </a:lnTo>
                  <a:close/>
                </a:path>
                <a:path w="248920" h="264160">
                  <a:moveTo>
                    <a:pt x="235904" y="42290"/>
                  </a:moveTo>
                  <a:lnTo>
                    <a:pt x="189230" y="42290"/>
                  </a:lnTo>
                  <a:lnTo>
                    <a:pt x="210058" y="61849"/>
                  </a:lnTo>
                  <a:lnTo>
                    <a:pt x="200265" y="72292"/>
                  </a:lnTo>
                  <a:lnTo>
                    <a:pt x="221107" y="91821"/>
                  </a:lnTo>
                  <a:lnTo>
                    <a:pt x="235904" y="42290"/>
                  </a:lnTo>
                  <a:close/>
                </a:path>
                <a:path w="248920" h="264160">
                  <a:moveTo>
                    <a:pt x="189230" y="42290"/>
                  </a:moveTo>
                  <a:lnTo>
                    <a:pt x="179416" y="52756"/>
                  </a:lnTo>
                  <a:lnTo>
                    <a:pt x="200265" y="72292"/>
                  </a:lnTo>
                  <a:lnTo>
                    <a:pt x="210058" y="61849"/>
                  </a:lnTo>
                  <a:lnTo>
                    <a:pt x="189230" y="42290"/>
                  </a:lnTo>
                  <a:close/>
                </a:path>
                <a:path w="248920" h="264160">
                  <a:moveTo>
                    <a:pt x="248539" y="0"/>
                  </a:moveTo>
                  <a:lnTo>
                    <a:pt x="158623" y="33274"/>
                  </a:lnTo>
                  <a:lnTo>
                    <a:pt x="179416" y="52756"/>
                  </a:lnTo>
                  <a:lnTo>
                    <a:pt x="189230" y="42290"/>
                  </a:lnTo>
                  <a:lnTo>
                    <a:pt x="235904" y="42290"/>
                  </a:lnTo>
                  <a:lnTo>
                    <a:pt x="24853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4">
            <a:extLst>
              <a:ext uri="{FF2B5EF4-FFF2-40B4-BE49-F238E27FC236}">
                <a16:creationId xmlns:a16="http://schemas.microsoft.com/office/drawing/2014/main" id="{6AE1A251-764F-A76D-CB36-41D22A5D6361}"/>
              </a:ext>
            </a:extLst>
          </p:cNvPr>
          <p:cNvSpPr txBox="1"/>
          <p:nvPr/>
        </p:nvSpPr>
        <p:spPr>
          <a:xfrm>
            <a:off x="7641113" y="3433318"/>
            <a:ext cx="15386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525270" algn="l"/>
              </a:tabLst>
            </a:pPr>
            <a:r>
              <a:rPr sz="2000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	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30" name="object 25">
            <a:extLst>
              <a:ext uri="{FF2B5EF4-FFF2-40B4-BE49-F238E27FC236}">
                <a16:creationId xmlns:a16="http://schemas.microsoft.com/office/drawing/2014/main" id="{27611B2E-187B-0A63-8037-57EACFE4B3D1}"/>
              </a:ext>
            </a:extLst>
          </p:cNvPr>
          <p:cNvSpPr/>
          <p:nvPr/>
        </p:nvSpPr>
        <p:spPr>
          <a:xfrm>
            <a:off x="7909305" y="3278632"/>
            <a:ext cx="152400" cy="381000"/>
          </a:xfrm>
          <a:custGeom>
            <a:avLst/>
            <a:gdLst/>
            <a:ahLst/>
            <a:cxnLst/>
            <a:rect l="l" t="t" r="r" b="b"/>
            <a:pathLst>
              <a:path w="152400" h="381000">
                <a:moveTo>
                  <a:pt x="50800" y="228600"/>
                </a:moveTo>
                <a:lnTo>
                  <a:pt x="0" y="228600"/>
                </a:lnTo>
                <a:lnTo>
                  <a:pt x="76200" y="381000"/>
                </a:lnTo>
                <a:lnTo>
                  <a:pt x="139700" y="254000"/>
                </a:lnTo>
                <a:lnTo>
                  <a:pt x="50800" y="254000"/>
                </a:lnTo>
                <a:lnTo>
                  <a:pt x="50800" y="228600"/>
                </a:lnTo>
                <a:close/>
              </a:path>
              <a:path w="152400" h="381000">
                <a:moveTo>
                  <a:pt x="101600" y="0"/>
                </a:moveTo>
                <a:lnTo>
                  <a:pt x="50800" y="0"/>
                </a:lnTo>
                <a:lnTo>
                  <a:pt x="50800" y="254000"/>
                </a:lnTo>
                <a:lnTo>
                  <a:pt x="101600" y="254000"/>
                </a:lnTo>
                <a:lnTo>
                  <a:pt x="101600" y="0"/>
                </a:lnTo>
                <a:close/>
              </a:path>
              <a:path w="152400" h="381000">
                <a:moveTo>
                  <a:pt x="152400" y="228600"/>
                </a:moveTo>
                <a:lnTo>
                  <a:pt x="101600" y="228600"/>
                </a:lnTo>
                <a:lnTo>
                  <a:pt x="101600" y="254000"/>
                </a:lnTo>
                <a:lnTo>
                  <a:pt x="139700" y="254000"/>
                </a:lnTo>
                <a:lnTo>
                  <a:pt x="152400" y="2286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26">
            <a:extLst>
              <a:ext uri="{FF2B5EF4-FFF2-40B4-BE49-F238E27FC236}">
                <a16:creationId xmlns:a16="http://schemas.microsoft.com/office/drawing/2014/main" id="{785D4AAC-3ED9-BCB3-0D03-A437D7711DBD}"/>
              </a:ext>
            </a:extLst>
          </p:cNvPr>
          <p:cNvSpPr/>
          <p:nvPr/>
        </p:nvSpPr>
        <p:spPr>
          <a:xfrm>
            <a:off x="7638288" y="3723132"/>
            <a:ext cx="1490980" cy="317500"/>
          </a:xfrm>
          <a:custGeom>
            <a:avLst/>
            <a:gdLst/>
            <a:ahLst/>
            <a:cxnLst/>
            <a:rect l="l" t="t" r="r" b="b"/>
            <a:pathLst>
              <a:path w="1490979" h="317500">
                <a:moveTo>
                  <a:pt x="1437513" y="0"/>
                </a:moveTo>
                <a:lnTo>
                  <a:pt x="52958" y="0"/>
                </a:lnTo>
                <a:lnTo>
                  <a:pt x="32361" y="4167"/>
                </a:lnTo>
                <a:lnTo>
                  <a:pt x="15525" y="15525"/>
                </a:lnTo>
                <a:lnTo>
                  <a:pt x="4167" y="32361"/>
                </a:lnTo>
                <a:lnTo>
                  <a:pt x="0" y="52959"/>
                </a:lnTo>
                <a:lnTo>
                  <a:pt x="0" y="264540"/>
                </a:lnTo>
                <a:lnTo>
                  <a:pt x="4167" y="285138"/>
                </a:lnTo>
                <a:lnTo>
                  <a:pt x="15525" y="301974"/>
                </a:lnTo>
                <a:lnTo>
                  <a:pt x="32361" y="313332"/>
                </a:lnTo>
                <a:lnTo>
                  <a:pt x="52958" y="317500"/>
                </a:lnTo>
                <a:lnTo>
                  <a:pt x="1437513" y="317500"/>
                </a:lnTo>
                <a:lnTo>
                  <a:pt x="1458110" y="313332"/>
                </a:lnTo>
                <a:lnTo>
                  <a:pt x="1474946" y="301974"/>
                </a:lnTo>
                <a:lnTo>
                  <a:pt x="1486304" y="285138"/>
                </a:lnTo>
                <a:lnTo>
                  <a:pt x="1490472" y="264540"/>
                </a:lnTo>
                <a:lnTo>
                  <a:pt x="1490472" y="52959"/>
                </a:lnTo>
                <a:lnTo>
                  <a:pt x="1486304" y="32361"/>
                </a:lnTo>
                <a:lnTo>
                  <a:pt x="1474946" y="15525"/>
                </a:lnTo>
                <a:lnTo>
                  <a:pt x="1458110" y="4167"/>
                </a:lnTo>
                <a:lnTo>
                  <a:pt x="143751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27">
            <a:extLst>
              <a:ext uri="{FF2B5EF4-FFF2-40B4-BE49-F238E27FC236}">
                <a16:creationId xmlns:a16="http://schemas.microsoft.com/office/drawing/2014/main" id="{74C5A4A7-19B1-CA89-5D76-540A6F34076D}"/>
              </a:ext>
            </a:extLst>
          </p:cNvPr>
          <p:cNvSpPr txBox="1"/>
          <p:nvPr/>
        </p:nvSpPr>
        <p:spPr>
          <a:xfrm>
            <a:off x="7976362" y="3743324"/>
            <a:ext cx="8159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ambria"/>
                <a:cs typeface="Cambria"/>
              </a:rPr>
              <a:t>MSB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spc="-5" dirty="0">
                <a:latin typeface="Cambria"/>
                <a:cs typeface="Cambria"/>
              </a:rPr>
              <a:t>=</a:t>
            </a:r>
            <a:r>
              <a:rPr sz="1600" spc="-25" dirty="0">
                <a:latin typeface="Cambria"/>
                <a:cs typeface="Cambria"/>
              </a:rPr>
              <a:t> </a:t>
            </a:r>
            <a:r>
              <a:rPr sz="1600" spc="-5" dirty="0">
                <a:latin typeface="Cambria"/>
                <a:cs typeface="Cambria"/>
              </a:rPr>
              <a:t>0?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33" name="object 28">
            <a:extLst>
              <a:ext uri="{FF2B5EF4-FFF2-40B4-BE49-F238E27FC236}">
                <a16:creationId xmlns:a16="http://schemas.microsoft.com/office/drawing/2014/main" id="{28D66CC8-20D9-F087-BB6B-8AE0CDA74726}"/>
              </a:ext>
            </a:extLst>
          </p:cNvPr>
          <p:cNvSpPr/>
          <p:nvPr/>
        </p:nvSpPr>
        <p:spPr>
          <a:xfrm>
            <a:off x="8375015" y="4104132"/>
            <a:ext cx="152400" cy="698500"/>
          </a:xfrm>
          <a:custGeom>
            <a:avLst/>
            <a:gdLst/>
            <a:ahLst/>
            <a:cxnLst/>
            <a:rect l="l" t="t" r="r" b="b"/>
            <a:pathLst>
              <a:path w="152400" h="698500">
                <a:moveTo>
                  <a:pt x="50800" y="546100"/>
                </a:moveTo>
                <a:lnTo>
                  <a:pt x="0" y="546100"/>
                </a:lnTo>
                <a:lnTo>
                  <a:pt x="76200" y="698500"/>
                </a:lnTo>
                <a:lnTo>
                  <a:pt x="139700" y="571500"/>
                </a:lnTo>
                <a:lnTo>
                  <a:pt x="50800" y="571500"/>
                </a:lnTo>
                <a:lnTo>
                  <a:pt x="50800" y="546100"/>
                </a:lnTo>
                <a:close/>
              </a:path>
              <a:path w="152400" h="698500">
                <a:moveTo>
                  <a:pt x="101600" y="0"/>
                </a:moveTo>
                <a:lnTo>
                  <a:pt x="50800" y="0"/>
                </a:lnTo>
                <a:lnTo>
                  <a:pt x="50800" y="571500"/>
                </a:lnTo>
                <a:lnTo>
                  <a:pt x="101600" y="571500"/>
                </a:lnTo>
                <a:lnTo>
                  <a:pt x="101600" y="0"/>
                </a:lnTo>
                <a:close/>
              </a:path>
              <a:path w="152400" h="698500">
                <a:moveTo>
                  <a:pt x="152400" y="546100"/>
                </a:moveTo>
                <a:lnTo>
                  <a:pt x="101600" y="546100"/>
                </a:lnTo>
                <a:lnTo>
                  <a:pt x="101600" y="571500"/>
                </a:lnTo>
                <a:lnTo>
                  <a:pt x="139700" y="571500"/>
                </a:lnTo>
                <a:lnTo>
                  <a:pt x="152400" y="546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29">
            <a:extLst>
              <a:ext uri="{FF2B5EF4-FFF2-40B4-BE49-F238E27FC236}">
                <a16:creationId xmlns:a16="http://schemas.microsoft.com/office/drawing/2014/main" id="{CDB46337-0C25-F86A-2EF5-E74936712AB7}"/>
              </a:ext>
            </a:extLst>
          </p:cNvPr>
          <p:cNvSpPr txBox="1"/>
          <p:nvPr/>
        </p:nvSpPr>
        <p:spPr>
          <a:xfrm>
            <a:off x="7053453" y="4126179"/>
            <a:ext cx="748665" cy="523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13335" algn="r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ambria"/>
                <a:cs typeface="Cambria"/>
              </a:rPr>
              <a:t>YES</a:t>
            </a:r>
            <a:endParaRPr sz="1600">
              <a:latin typeface="Cambria"/>
              <a:cs typeface="Cambria"/>
            </a:endParaRPr>
          </a:p>
          <a:p>
            <a:pPr marR="5080" algn="r">
              <a:lnSpc>
                <a:spcPct val="100000"/>
              </a:lnSpc>
              <a:spcBef>
                <a:spcPts val="80"/>
              </a:spcBef>
            </a:pPr>
            <a:r>
              <a:rPr sz="1600" spc="-5" dirty="0">
                <a:latin typeface="Cambria"/>
                <a:cs typeface="Cambria"/>
              </a:rPr>
              <a:t>Use</a:t>
            </a:r>
            <a:r>
              <a:rPr sz="1600" spc="-10" dirty="0">
                <a:latin typeface="Cambria"/>
                <a:cs typeface="Cambria"/>
              </a:rPr>
              <a:t> L</a:t>
            </a:r>
            <a:r>
              <a:rPr sz="1600" spc="-40" dirty="0">
                <a:latin typeface="Cambria"/>
                <a:cs typeface="Cambria"/>
              </a:rPr>
              <a:t>R</a:t>
            </a:r>
            <a:r>
              <a:rPr sz="1600" spc="-5" dirty="0">
                <a:latin typeface="Cambria"/>
                <a:cs typeface="Cambria"/>
              </a:rPr>
              <a:t>U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35" name="object 30">
            <a:extLst>
              <a:ext uri="{FF2B5EF4-FFF2-40B4-BE49-F238E27FC236}">
                <a16:creationId xmlns:a16="http://schemas.microsoft.com/office/drawing/2014/main" id="{108B94BD-A00A-41E7-9ED9-74D63D9C119A}"/>
              </a:ext>
            </a:extLst>
          </p:cNvPr>
          <p:cNvSpPr txBox="1"/>
          <p:nvPr/>
        </p:nvSpPr>
        <p:spPr>
          <a:xfrm>
            <a:off x="8496427" y="4090441"/>
            <a:ext cx="692785" cy="570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0170">
              <a:lnSpc>
                <a:spcPct val="111800"/>
              </a:lnSpc>
              <a:spcBef>
                <a:spcPts val="100"/>
              </a:spcBef>
            </a:pPr>
            <a:r>
              <a:rPr sz="1600" dirty="0">
                <a:latin typeface="Cambria"/>
                <a:cs typeface="Cambria"/>
              </a:rPr>
              <a:t>No </a:t>
            </a:r>
            <a:r>
              <a:rPr sz="1600" spc="5" dirty="0">
                <a:latin typeface="Cambria"/>
                <a:cs typeface="Cambria"/>
              </a:rPr>
              <a:t> </a:t>
            </a:r>
            <a:r>
              <a:rPr sz="1600" spc="-5" dirty="0">
                <a:latin typeface="Cambria"/>
                <a:cs typeface="Cambria"/>
              </a:rPr>
              <a:t>Use</a:t>
            </a:r>
            <a:r>
              <a:rPr sz="1600" spc="-8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BIP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36" name="object 31">
            <a:extLst>
              <a:ext uri="{FF2B5EF4-FFF2-40B4-BE49-F238E27FC236}">
                <a16:creationId xmlns:a16="http://schemas.microsoft.com/office/drawing/2014/main" id="{61541B37-D62F-8CB7-A78E-6A1030641103}"/>
              </a:ext>
            </a:extLst>
          </p:cNvPr>
          <p:cNvSpPr/>
          <p:nvPr/>
        </p:nvSpPr>
        <p:spPr>
          <a:xfrm>
            <a:off x="7900796" y="4104132"/>
            <a:ext cx="152400" cy="698500"/>
          </a:xfrm>
          <a:custGeom>
            <a:avLst/>
            <a:gdLst/>
            <a:ahLst/>
            <a:cxnLst/>
            <a:rect l="l" t="t" r="r" b="b"/>
            <a:pathLst>
              <a:path w="152400" h="698500">
                <a:moveTo>
                  <a:pt x="50800" y="546100"/>
                </a:moveTo>
                <a:lnTo>
                  <a:pt x="0" y="546100"/>
                </a:lnTo>
                <a:lnTo>
                  <a:pt x="76200" y="698500"/>
                </a:lnTo>
                <a:lnTo>
                  <a:pt x="139700" y="571500"/>
                </a:lnTo>
                <a:lnTo>
                  <a:pt x="50800" y="571500"/>
                </a:lnTo>
                <a:lnTo>
                  <a:pt x="50800" y="546100"/>
                </a:lnTo>
                <a:close/>
              </a:path>
              <a:path w="152400" h="698500">
                <a:moveTo>
                  <a:pt x="101600" y="0"/>
                </a:moveTo>
                <a:lnTo>
                  <a:pt x="50800" y="0"/>
                </a:lnTo>
                <a:lnTo>
                  <a:pt x="50800" y="571500"/>
                </a:lnTo>
                <a:lnTo>
                  <a:pt x="101600" y="571500"/>
                </a:lnTo>
                <a:lnTo>
                  <a:pt x="101600" y="0"/>
                </a:lnTo>
                <a:close/>
              </a:path>
              <a:path w="152400" h="698500">
                <a:moveTo>
                  <a:pt x="152400" y="546100"/>
                </a:moveTo>
                <a:lnTo>
                  <a:pt x="101600" y="546100"/>
                </a:lnTo>
                <a:lnTo>
                  <a:pt x="101600" y="571500"/>
                </a:lnTo>
                <a:lnTo>
                  <a:pt x="139700" y="571500"/>
                </a:lnTo>
                <a:lnTo>
                  <a:pt x="152400" y="546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7" name="object 32">
            <a:extLst>
              <a:ext uri="{FF2B5EF4-FFF2-40B4-BE49-F238E27FC236}">
                <a16:creationId xmlns:a16="http://schemas.microsoft.com/office/drawing/2014/main" id="{434516F6-D76F-C822-B075-5BB59136E5CD}"/>
              </a:ext>
            </a:extLst>
          </p:cNvPr>
          <p:cNvGrpSpPr/>
          <p:nvPr/>
        </p:nvGrpSpPr>
        <p:grpSpPr>
          <a:xfrm>
            <a:off x="6206236" y="3777107"/>
            <a:ext cx="2458085" cy="2051050"/>
            <a:chOff x="6145276" y="2911475"/>
            <a:chExt cx="2458085" cy="2051050"/>
          </a:xfrm>
        </p:grpSpPr>
        <p:sp>
          <p:nvSpPr>
            <p:cNvPr id="38" name="object 33">
              <a:extLst>
                <a:ext uri="{FF2B5EF4-FFF2-40B4-BE49-F238E27FC236}">
                  <a16:creationId xmlns:a16="http://schemas.microsoft.com/office/drawing/2014/main" id="{B2382894-BC2D-DD0F-245B-B19FA7AA9349}"/>
                </a:ext>
              </a:extLst>
            </p:cNvPr>
            <p:cNvSpPr/>
            <p:nvPr/>
          </p:nvSpPr>
          <p:spPr>
            <a:xfrm>
              <a:off x="6154801" y="2921000"/>
              <a:ext cx="2032635" cy="2032000"/>
            </a:xfrm>
            <a:custGeom>
              <a:avLst/>
              <a:gdLst/>
              <a:ahLst/>
              <a:cxnLst/>
              <a:rect l="l" t="t" r="r" b="b"/>
              <a:pathLst>
                <a:path w="2032634" h="2032000">
                  <a:moveTo>
                    <a:pt x="0" y="0"/>
                  </a:moveTo>
                  <a:lnTo>
                    <a:pt x="42804" y="8632"/>
                  </a:lnTo>
                  <a:lnTo>
                    <a:pt x="79969" y="32670"/>
                  </a:lnTo>
                  <a:lnTo>
                    <a:pt x="109270" y="69320"/>
                  </a:lnTo>
                  <a:lnTo>
                    <a:pt x="128483" y="115791"/>
                  </a:lnTo>
                  <a:lnTo>
                    <a:pt x="135382" y="169290"/>
                  </a:lnTo>
                  <a:lnTo>
                    <a:pt x="135382" y="1524000"/>
                  </a:lnTo>
                  <a:lnTo>
                    <a:pt x="142293" y="1577499"/>
                  </a:lnTo>
                  <a:lnTo>
                    <a:pt x="161537" y="1623970"/>
                  </a:lnTo>
                  <a:lnTo>
                    <a:pt x="190876" y="1660620"/>
                  </a:lnTo>
                  <a:lnTo>
                    <a:pt x="228073" y="1684658"/>
                  </a:lnTo>
                  <a:lnTo>
                    <a:pt x="270890" y="1693291"/>
                  </a:lnTo>
                  <a:lnTo>
                    <a:pt x="228073" y="1701924"/>
                  </a:lnTo>
                  <a:lnTo>
                    <a:pt x="190876" y="1725969"/>
                  </a:lnTo>
                  <a:lnTo>
                    <a:pt x="161537" y="1762639"/>
                  </a:lnTo>
                  <a:lnTo>
                    <a:pt x="142293" y="1809147"/>
                  </a:lnTo>
                  <a:lnTo>
                    <a:pt x="135382" y="1862708"/>
                  </a:lnTo>
                  <a:lnTo>
                    <a:pt x="128483" y="1916208"/>
                  </a:lnTo>
                  <a:lnTo>
                    <a:pt x="109270" y="1962679"/>
                  </a:lnTo>
                  <a:lnTo>
                    <a:pt x="79969" y="1999329"/>
                  </a:lnTo>
                  <a:lnTo>
                    <a:pt x="42804" y="2023367"/>
                  </a:lnTo>
                  <a:lnTo>
                    <a:pt x="0" y="2032000"/>
                  </a:lnTo>
                </a:path>
                <a:path w="2032634" h="2032000">
                  <a:moveTo>
                    <a:pt x="270890" y="1714500"/>
                  </a:moveTo>
                  <a:lnTo>
                    <a:pt x="2032253" y="171450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4">
              <a:extLst>
                <a:ext uri="{FF2B5EF4-FFF2-40B4-BE49-F238E27FC236}">
                  <a16:creationId xmlns:a16="http://schemas.microsoft.com/office/drawing/2014/main" id="{CAD123A8-B79B-F0D5-DEB2-AF02EEA05A04}"/>
                </a:ext>
              </a:extLst>
            </p:cNvPr>
            <p:cNvSpPr/>
            <p:nvPr/>
          </p:nvSpPr>
          <p:spPr>
            <a:xfrm>
              <a:off x="7780655" y="4000500"/>
              <a:ext cx="813435" cy="127000"/>
            </a:xfrm>
            <a:custGeom>
              <a:avLst/>
              <a:gdLst/>
              <a:ahLst/>
              <a:cxnLst/>
              <a:rect l="l" t="t" r="r" b="b"/>
              <a:pathLst>
                <a:path w="813434" h="127000">
                  <a:moveTo>
                    <a:pt x="0" y="0"/>
                  </a:moveTo>
                  <a:lnTo>
                    <a:pt x="4974" y="24709"/>
                  </a:lnTo>
                  <a:lnTo>
                    <a:pt x="18557" y="44894"/>
                  </a:lnTo>
                  <a:lnTo>
                    <a:pt x="38736" y="58507"/>
                  </a:lnTo>
                  <a:lnTo>
                    <a:pt x="63500" y="63500"/>
                  </a:lnTo>
                  <a:lnTo>
                    <a:pt x="342900" y="63500"/>
                  </a:lnTo>
                  <a:lnTo>
                    <a:pt x="367609" y="68492"/>
                  </a:lnTo>
                  <a:lnTo>
                    <a:pt x="387794" y="82105"/>
                  </a:lnTo>
                  <a:lnTo>
                    <a:pt x="401407" y="102290"/>
                  </a:lnTo>
                  <a:lnTo>
                    <a:pt x="406400" y="127000"/>
                  </a:lnTo>
                  <a:lnTo>
                    <a:pt x="411392" y="102290"/>
                  </a:lnTo>
                  <a:lnTo>
                    <a:pt x="425005" y="82105"/>
                  </a:lnTo>
                  <a:lnTo>
                    <a:pt x="445190" y="68492"/>
                  </a:lnTo>
                  <a:lnTo>
                    <a:pt x="469900" y="63500"/>
                  </a:lnTo>
                  <a:lnTo>
                    <a:pt x="749426" y="63500"/>
                  </a:lnTo>
                  <a:lnTo>
                    <a:pt x="774136" y="58507"/>
                  </a:lnTo>
                  <a:lnTo>
                    <a:pt x="794321" y="44894"/>
                  </a:lnTo>
                  <a:lnTo>
                    <a:pt x="807934" y="24709"/>
                  </a:lnTo>
                  <a:lnTo>
                    <a:pt x="812926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35">
              <a:extLst>
                <a:ext uri="{FF2B5EF4-FFF2-40B4-BE49-F238E27FC236}">
                  <a16:creationId xmlns:a16="http://schemas.microsoft.com/office/drawing/2014/main" id="{13F9CE41-1F0B-D84C-C681-D643CC73235C}"/>
                </a:ext>
              </a:extLst>
            </p:cNvPr>
            <p:cNvSpPr/>
            <p:nvPr/>
          </p:nvSpPr>
          <p:spPr>
            <a:xfrm>
              <a:off x="8187055" y="4127500"/>
              <a:ext cx="0" cy="508000"/>
            </a:xfrm>
            <a:custGeom>
              <a:avLst/>
              <a:gdLst/>
              <a:ahLst/>
              <a:cxnLst/>
              <a:rect l="l" t="t" r="r" b="b"/>
              <a:pathLst>
                <a:path h="508000">
                  <a:moveTo>
                    <a:pt x="0" y="0"/>
                  </a:moveTo>
                  <a:lnTo>
                    <a:pt x="0" y="50800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36">
            <a:extLst>
              <a:ext uri="{FF2B5EF4-FFF2-40B4-BE49-F238E27FC236}">
                <a16:creationId xmlns:a16="http://schemas.microsoft.com/office/drawing/2014/main" id="{A1D55E33-79EF-D2E7-4894-71ACFE13132A}"/>
              </a:ext>
            </a:extLst>
          </p:cNvPr>
          <p:cNvSpPr txBox="1"/>
          <p:nvPr/>
        </p:nvSpPr>
        <p:spPr>
          <a:xfrm>
            <a:off x="1971293" y="1798066"/>
            <a:ext cx="79971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139440" algn="l"/>
              </a:tabLst>
            </a:pPr>
            <a:r>
              <a:rPr sz="1800" spc="-5" dirty="0">
                <a:latin typeface="Calibri"/>
                <a:cs typeface="Calibri"/>
              </a:rPr>
              <a:t>SDM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– </a:t>
            </a:r>
            <a:r>
              <a:rPr sz="1800" spc="-5" dirty="0">
                <a:latin typeface="Calibri"/>
                <a:cs typeface="Calibri"/>
              </a:rPr>
              <a:t>Set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Dueling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monitors	</a:t>
            </a:r>
            <a:r>
              <a:rPr sz="1800" spc="-5" dirty="0">
                <a:latin typeface="Calibri"/>
                <a:cs typeface="Calibri"/>
              </a:rPr>
              <a:t>PSEL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–</a:t>
            </a:r>
            <a:r>
              <a:rPr sz="1800" spc="-5" dirty="0">
                <a:latin typeface="Calibri"/>
                <a:cs typeface="Calibri"/>
              </a:rPr>
              <a:t> n-bit </a:t>
            </a:r>
            <a:r>
              <a:rPr sz="1800" spc="-10" dirty="0">
                <a:latin typeface="Calibri"/>
                <a:cs typeface="Calibri"/>
              </a:rPr>
              <a:t>saturating</a:t>
            </a:r>
            <a:r>
              <a:rPr sz="1800" spc="-15" dirty="0">
                <a:latin typeface="Calibri"/>
                <a:cs typeface="Calibri"/>
              </a:rPr>
              <a:t> counters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for</a:t>
            </a:r>
            <a:r>
              <a:rPr sz="1800" spc="-5" dirty="0">
                <a:latin typeface="Calibri"/>
                <a:cs typeface="Calibri"/>
              </a:rPr>
              <a:t> deciding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policy</a:t>
            </a:r>
            <a:endParaRPr sz="18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580153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2CFD7-E25A-D55A-A6CF-6749DA2F0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RRIP [ISCA ‘10]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782FEE-D055-4B6F-D3CB-B500A6ACC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4BC1F2-D889-A428-410E-E99FE67D7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12</a:t>
            </a:fld>
            <a:endParaRPr lang="en-IN" dirty="0"/>
          </a:p>
        </p:txBody>
      </p:sp>
      <p:grpSp>
        <p:nvGrpSpPr>
          <p:cNvPr id="6" name="object 2">
            <a:extLst>
              <a:ext uri="{FF2B5EF4-FFF2-40B4-BE49-F238E27FC236}">
                <a16:creationId xmlns:a16="http://schemas.microsoft.com/office/drawing/2014/main" id="{D8AFEEB8-4554-04BF-8FE9-61CB052EF351}"/>
              </a:ext>
            </a:extLst>
          </p:cNvPr>
          <p:cNvGrpSpPr/>
          <p:nvPr/>
        </p:nvGrpSpPr>
        <p:grpSpPr>
          <a:xfrm>
            <a:off x="291084" y="3427600"/>
            <a:ext cx="11795760" cy="3171444"/>
            <a:chOff x="291084" y="3523488"/>
            <a:chExt cx="11795760" cy="3171444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93B9FD90-7AC3-878B-A36A-0C0B72A1B40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1084" y="3633216"/>
              <a:ext cx="10024872" cy="932688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33A40710-3027-9AD8-AF6A-B6F3C3AFDE3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29283" y="3523488"/>
              <a:ext cx="9323832" cy="1258824"/>
            </a:xfrm>
            <a:prstGeom prst="rect">
              <a:avLst/>
            </a:prstGeom>
          </p:spPr>
        </p:pic>
        <p:sp>
          <p:nvSpPr>
            <p:cNvPr id="10" name="object 6">
              <a:extLst>
                <a:ext uri="{FF2B5EF4-FFF2-40B4-BE49-F238E27FC236}">
                  <a16:creationId xmlns:a16="http://schemas.microsoft.com/office/drawing/2014/main" id="{6DD5D145-DFF6-313B-3F76-12A94C01C876}"/>
                </a:ext>
              </a:extLst>
            </p:cNvPr>
            <p:cNvSpPr/>
            <p:nvPr/>
          </p:nvSpPr>
          <p:spPr>
            <a:xfrm>
              <a:off x="338924" y="3657600"/>
              <a:ext cx="9930765" cy="838200"/>
            </a:xfrm>
            <a:custGeom>
              <a:avLst/>
              <a:gdLst/>
              <a:ahLst/>
              <a:cxnLst/>
              <a:rect l="l" t="t" r="r" b="b"/>
              <a:pathLst>
                <a:path w="9930765" h="838200">
                  <a:moveTo>
                    <a:pt x="9790468" y="0"/>
                  </a:moveTo>
                  <a:lnTo>
                    <a:pt x="139699" y="0"/>
                  </a:lnTo>
                  <a:lnTo>
                    <a:pt x="95544" y="7116"/>
                  </a:lnTo>
                  <a:lnTo>
                    <a:pt x="57195" y="26936"/>
                  </a:lnTo>
                  <a:lnTo>
                    <a:pt x="26954" y="57168"/>
                  </a:lnTo>
                  <a:lnTo>
                    <a:pt x="7122" y="95520"/>
                  </a:lnTo>
                  <a:lnTo>
                    <a:pt x="0" y="139700"/>
                  </a:lnTo>
                  <a:lnTo>
                    <a:pt x="0" y="698500"/>
                  </a:lnTo>
                  <a:lnTo>
                    <a:pt x="7122" y="742630"/>
                  </a:lnTo>
                  <a:lnTo>
                    <a:pt x="26954" y="780976"/>
                  </a:lnTo>
                  <a:lnTo>
                    <a:pt x="57195" y="811227"/>
                  </a:lnTo>
                  <a:lnTo>
                    <a:pt x="95544" y="831071"/>
                  </a:lnTo>
                  <a:lnTo>
                    <a:pt x="139699" y="838200"/>
                  </a:lnTo>
                  <a:lnTo>
                    <a:pt x="9790468" y="838200"/>
                  </a:lnTo>
                  <a:lnTo>
                    <a:pt x="9834647" y="831071"/>
                  </a:lnTo>
                  <a:lnTo>
                    <a:pt x="9872999" y="811227"/>
                  </a:lnTo>
                  <a:lnTo>
                    <a:pt x="9903231" y="780976"/>
                  </a:lnTo>
                  <a:lnTo>
                    <a:pt x="9923052" y="742630"/>
                  </a:lnTo>
                  <a:lnTo>
                    <a:pt x="9930168" y="698500"/>
                  </a:lnTo>
                  <a:lnTo>
                    <a:pt x="9930168" y="139700"/>
                  </a:lnTo>
                  <a:lnTo>
                    <a:pt x="9923052" y="95520"/>
                  </a:lnTo>
                  <a:lnTo>
                    <a:pt x="9903231" y="57168"/>
                  </a:lnTo>
                  <a:lnTo>
                    <a:pt x="9872999" y="26936"/>
                  </a:lnTo>
                  <a:lnTo>
                    <a:pt x="9834647" y="7116"/>
                  </a:lnTo>
                  <a:lnTo>
                    <a:pt x="979046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04EA9672-EFD7-ACE6-31D6-B8209D245E31}"/>
                </a:ext>
              </a:extLst>
            </p:cNvPr>
            <p:cNvSpPr/>
            <p:nvPr/>
          </p:nvSpPr>
          <p:spPr>
            <a:xfrm>
              <a:off x="338924" y="3657600"/>
              <a:ext cx="9930765" cy="838200"/>
            </a:xfrm>
            <a:custGeom>
              <a:avLst/>
              <a:gdLst/>
              <a:ahLst/>
              <a:cxnLst/>
              <a:rect l="l" t="t" r="r" b="b"/>
              <a:pathLst>
                <a:path w="9930765" h="838200">
                  <a:moveTo>
                    <a:pt x="0" y="139700"/>
                  </a:moveTo>
                  <a:lnTo>
                    <a:pt x="7122" y="95520"/>
                  </a:lnTo>
                  <a:lnTo>
                    <a:pt x="26954" y="57168"/>
                  </a:lnTo>
                  <a:lnTo>
                    <a:pt x="57195" y="26936"/>
                  </a:lnTo>
                  <a:lnTo>
                    <a:pt x="95544" y="7116"/>
                  </a:lnTo>
                  <a:lnTo>
                    <a:pt x="139699" y="0"/>
                  </a:lnTo>
                  <a:lnTo>
                    <a:pt x="9790468" y="0"/>
                  </a:lnTo>
                  <a:lnTo>
                    <a:pt x="9834647" y="7116"/>
                  </a:lnTo>
                  <a:lnTo>
                    <a:pt x="9872999" y="26936"/>
                  </a:lnTo>
                  <a:lnTo>
                    <a:pt x="9903231" y="57168"/>
                  </a:lnTo>
                  <a:lnTo>
                    <a:pt x="9923052" y="95520"/>
                  </a:lnTo>
                  <a:lnTo>
                    <a:pt x="9930168" y="139700"/>
                  </a:lnTo>
                  <a:lnTo>
                    <a:pt x="9930168" y="698500"/>
                  </a:lnTo>
                  <a:lnTo>
                    <a:pt x="9923052" y="742630"/>
                  </a:lnTo>
                  <a:lnTo>
                    <a:pt x="9903231" y="780976"/>
                  </a:lnTo>
                  <a:lnTo>
                    <a:pt x="9872999" y="811227"/>
                  </a:lnTo>
                  <a:lnTo>
                    <a:pt x="9834647" y="831071"/>
                  </a:lnTo>
                  <a:lnTo>
                    <a:pt x="9790468" y="838200"/>
                  </a:lnTo>
                  <a:lnTo>
                    <a:pt x="139699" y="838200"/>
                  </a:lnTo>
                  <a:lnTo>
                    <a:pt x="95544" y="831071"/>
                  </a:lnTo>
                  <a:lnTo>
                    <a:pt x="57195" y="811227"/>
                  </a:lnTo>
                  <a:lnTo>
                    <a:pt x="26954" y="780976"/>
                  </a:lnTo>
                  <a:lnTo>
                    <a:pt x="7122" y="742630"/>
                  </a:lnTo>
                  <a:lnTo>
                    <a:pt x="0" y="698500"/>
                  </a:lnTo>
                  <a:lnTo>
                    <a:pt x="0" y="1397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8">
              <a:extLst>
                <a:ext uri="{FF2B5EF4-FFF2-40B4-BE49-F238E27FC236}">
                  <a16:creationId xmlns:a16="http://schemas.microsoft.com/office/drawing/2014/main" id="{B3D7E244-8811-DEA0-3AA1-DE9F566735AF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1084" y="4547616"/>
              <a:ext cx="8584692" cy="856488"/>
            </a:xfrm>
            <a:prstGeom prst="rect">
              <a:avLst/>
            </a:prstGeom>
          </p:spPr>
        </p:pic>
        <p:pic>
          <p:nvPicPr>
            <p:cNvPr id="13" name="object 9">
              <a:extLst>
                <a:ext uri="{FF2B5EF4-FFF2-40B4-BE49-F238E27FC236}">
                  <a16:creationId xmlns:a16="http://schemas.microsoft.com/office/drawing/2014/main" id="{3BD33B57-6E14-874F-20BD-E1B8F8365C2A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26236" y="4399788"/>
              <a:ext cx="6595871" cy="1258824"/>
            </a:xfrm>
            <a:prstGeom prst="rect">
              <a:avLst/>
            </a:prstGeom>
          </p:spPr>
        </p:pic>
        <p:sp>
          <p:nvSpPr>
            <p:cNvPr id="14" name="object 10">
              <a:extLst>
                <a:ext uri="{FF2B5EF4-FFF2-40B4-BE49-F238E27FC236}">
                  <a16:creationId xmlns:a16="http://schemas.microsoft.com/office/drawing/2014/main" id="{A8885E71-FBD7-5C9F-D3A2-429394EBF53E}"/>
                </a:ext>
              </a:extLst>
            </p:cNvPr>
            <p:cNvSpPr/>
            <p:nvPr/>
          </p:nvSpPr>
          <p:spPr>
            <a:xfrm>
              <a:off x="338924" y="4572000"/>
              <a:ext cx="8489950" cy="762000"/>
            </a:xfrm>
            <a:custGeom>
              <a:avLst/>
              <a:gdLst/>
              <a:ahLst/>
              <a:cxnLst/>
              <a:rect l="l" t="t" r="r" b="b"/>
              <a:pathLst>
                <a:path w="8489950" h="762000">
                  <a:moveTo>
                    <a:pt x="8362353" y="0"/>
                  </a:moveTo>
                  <a:lnTo>
                    <a:pt x="126999" y="0"/>
                  </a:lnTo>
                  <a:lnTo>
                    <a:pt x="77565" y="9985"/>
                  </a:lnTo>
                  <a:lnTo>
                    <a:pt x="37196" y="37210"/>
                  </a:lnTo>
                  <a:lnTo>
                    <a:pt x="9980" y="77581"/>
                  </a:lnTo>
                  <a:lnTo>
                    <a:pt x="0" y="127000"/>
                  </a:lnTo>
                  <a:lnTo>
                    <a:pt x="0" y="635000"/>
                  </a:lnTo>
                  <a:lnTo>
                    <a:pt x="9980" y="684418"/>
                  </a:lnTo>
                  <a:lnTo>
                    <a:pt x="37196" y="724789"/>
                  </a:lnTo>
                  <a:lnTo>
                    <a:pt x="77565" y="752014"/>
                  </a:lnTo>
                  <a:lnTo>
                    <a:pt x="126999" y="762000"/>
                  </a:lnTo>
                  <a:lnTo>
                    <a:pt x="8362353" y="762000"/>
                  </a:lnTo>
                  <a:lnTo>
                    <a:pt x="8411825" y="752014"/>
                  </a:lnTo>
                  <a:lnTo>
                    <a:pt x="8452189" y="724788"/>
                  </a:lnTo>
                  <a:lnTo>
                    <a:pt x="8479385" y="684418"/>
                  </a:lnTo>
                  <a:lnTo>
                    <a:pt x="8489353" y="635000"/>
                  </a:lnTo>
                  <a:lnTo>
                    <a:pt x="8489353" y="127000"/>
                  </a:lnTo>
                  <a:lnTo>
                    <a:pt x="8479385" y="77581"/>
                  </a:lnTo>
                  <a:lnTo>
                    <a:pt x="8452189" y="37211"/>
                  </a:lnTo>
                  <a:lnTo>
                    <a:pt x="8411825" y="9985"/>
                  </a:lnTo>
                  <a:lnTo>
                    <a:pt x="8362353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1">
              <a:extLst>
                <a:ext uri="{FF2B5EF4-FFF2-40B4-BE49-F238E27FC236}">
                  <a16:creationId xmlns:a16="http://schemas.microsoft.com/office/drawing/2014/main" id="{784D5303-4506-D48B-D63B-98170BBF24DE}"/>
                </a:ext>
              </a:extLst>
            </p:cNvPr>
            <p:cNvSpPr/>
            <p:nvPr/>
          </p:nvSpPr>
          <p:spPr>
            <a:xfrm>
              <a:off x="338924" y="4572000"/>
              <a:ext cx="8489950" cy="762000"/>
            </a:xfrm>
            <a:custGeom>
              <a:avLst/>
              <a:gdLst/>
              <a:ahLst/>
              <a:cxnLst/>
              <a:rect l="l" t="t" r="r" b="b"/>
              <a:pathLst>
                <a:path w="8489950" h="762000">
                  <a:moveTo>
                    <a:pt x="0" y="127000"/>
                  </a:moveTo>
                  <a:lnTo>
                    <a:pt x="9980" y="77581"/>
                  </a:lnTo>
                  <a:lnTo>
                    <a:pt x="37196" y="37210"/>
                  </a:lnTo>
                  <a:lnTo>
                    <a:pt x="77565" y="9985"/>
                  </a:lnTo>
                  <a:lnTo>
                    <a:pt x="126999" y="0"/>
                  </a:lnTo>
                  <a:lnTo>
                    <a:pt x="8362353" y="0"/>
                  </a:lnTo>
                  <a:lnTo>
                    <a:pt x="8411825" y="9985"/>
                  </a:lnTo>
                  <a:lnTo>
                    <a:pt x="8452189" y="37211"/>
                  </a:lnTo>
                  <a:lnTo>
                    <a:pt x="8479385" y="77581"/>
                  </a:lnTo>
                  <a:lnTo>
                    <a:pt x="8489353" y="127000"/>
                  </a:lnTo>
                  <a:lnTo>
                    <a:pt x="8489353" y="635000"/>
                  </a:lnTo>
                  <a:lnTo>
                    <a:pt x="8479385" y="684418"/>
                  </a:lnTo>
                  <a:lnTo>
                    <a:pt x="8452189" y="724788"/>
                  </a:lnTo>
                  <a:lnTo>
                    <a:pt x="8411825" y="752014"/>
                  </a:lnTo>
                  <a:lnTo>
                    <a:pt x="8362353" y="762000"/>
                  </a:lnTo>
                  <a:lnTo>
                    <a:pt x="126999" y="762000"/>
                  </a:lnTo>
                  <a:lnTo>
                    <a:pt x="77565" y="752014"/>
                  </a:lnTo>
                  <a:lnTo>
                    <a:pt x="37196" y="724789"/>
                  </a:lnTo>
                  <a:lnTo>
                    <a:pt x="9980" y="684418"/>
                  </a:lnTo>
                  <a:lnTo>
                    <a:pt x="0" y="635000"/>
                  </a:lnTo>
                  <a:lnTo>
                    <a:pt x="0" y="1270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2">
              <a:extLst>
                <a:ext uri="{FF2B5EF4-FFF2-40B4-BE49-F238E27FC236}">
                  <a16:creationId xmlns:a16="http://schemas.microsoft.com/office/drawing/2014/main" id="{7CB06946-05F9-1135-51D5-8A1959E5EEBF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1084" y="5462016"/>
              <a:ext cx="11795760" cy="1101852"/>
            </a:xfrm>
            <a:prstGeom prst="rect">
              <a:avLst/>
            </a:prstGeom>
          </p:spPr>
        </p:pic>
        <p:pic>
          <p:nvPicPr>
            <p:cNvPr id="17" name="object 13">
              <a:extLst>
                <a:ext uri="{FF2B5EF4-FFF2-40B4-BE49-F238E27FC236}">
                  <a16:creationId xmlns:a16="http://schemas.microsoft.com/office/drawing/2014/main" id="{E33A6E38-B4AF-B6DF-7189-BBDDF78B2D4D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38427" y="5436108"/>
              <a:ext cx="9509760" cy="1258824"/>
            </a:xfrm>
            <a:prstGeom prst="rect">
              <a:avLst/>
            </a:prstGeom>
          </p:spPr>
        </p:pic>
        <p:sp>
          <p:nvSpPr>
            <p:cNvPr id="18" name="object 14">
              <a:extLst>
                <a:ext uri="{FF2B5EF4-FFF2-40B4-BE49-F238E27FC236}">
                  <a16:creationId xmlns:a16="http://schemas.microsoft.com/office/drawing/2014/main" id="{3EE07207-3B10-F12E-A0AF-2150F4C31494}"/>
                </a:ext>
              </a:extLst>
            </p:cNvPr>
            <p:cNvSpPr/>
            <p:nvPr/>
          </p:nvSpPr>
          <p:spPr>
            <a:xfrm>
              <a:off x="338924" y="5486400"/>
              <a:ext cx="11701145" cy="1006475"/>
            </a:xfrm>
            <a:custGeom>
              <a:avLst/>
              <a:gdLst/>
              <a:ahLst/>
              <a:cxnLst/>
              <a:rect l="l" t="t" r="r" b="b"/>
              <a:pathLst>
                <a:path w="11701145" h="1006475">
                  <a:moveTo>
                    <a:pt x="11532908" y="0"/>
                  </a:moveTo>
                  <a:lnTo>
                    <a:pt x="167754" y="0"/>
                  </a:lnTo>
                  <a:lnTo>
                    <a:pt x="123159" y="5988"/>
                  </a:lnTo>
                  <a:lnTo>
                    <a:pt x="83086" y="22892"/>
                  </a:lnTo>
                  <a:lnTo>
                    <a:pt x="49134" y="49115"/>
                  </a:lnTo>
                  <a:lnTo>
                    <a:pt x="22903" y="83063"/>
                  </a:lnTo>
                  <a:lnTo>
                    <a:pt x="5992" y="123141"/>
                  </a:lnTo>
                  <a:lnTo>
                    <a:pt x="0" y="167754"/>
                  </a:lnTo>
                  <a:lnTo>
                    <a:pt x="0" y="838733"/>
                  </a:lnTo>
                  <a:lnTo>
                    <a:pt x="5992" y="883327"/>
                  </a:lnTo>
                  <a:lnTo>
                    <a:pt x="22903" y="923398"/>
                  </a:lnTo>
                  <a:lnTo>
                    <a:pt x="49134" y="957346"/>
                  </a:lnTo>
                  <a:lnTo>
                    <a:pt x="83086" y="983574"/>
                  </a:lnTo>
                  <a:lnTo>
                    <a:pt x="123159" y="1000483"/>
                  </a:lnTo>
                  <a:lnTo>
                    <a:pt x="167754" y="1006475"/>
                  </a:lnTo>
                  <a:lnTo>
                    <a:pt x="11532908" y="1006475"/>
                  </a:lnTo>
                  <a:lnTo>
                    <a:pt x="11577526" y="1000483"/>
                  </a:lnTo>
                  <a:lnTo>
                    <a:pt x="11617607" y="983574"/>
                  </a:lnTo>
                  <a:lnTo>
                    <a:pt x="11651557" y="957346"/>
                  </a:lnTo>
                  <a:lnTo>
                    <a:pt x="11677782" y="923398"/>
                  </a:lnTo>
                  <a:lnTo>
                    <a:pt x="11694686" y="883327"/>
                  </a:lnTo>
                  <a:lnTo>
                    <a:pt x="11700675" y="838733"/>
                  </a:lnTo>
                  <a:lnTo>
                    <a:pt x="11700675" y="167754"/>
                  </a:lnTo>
                  <a:lnTo>
                    <a:pt x="11694686" y="123141"/>
                  </a:lnTo>
                  <a:lnTo>
                    <a:pt x="11677782" y="83063"/>
                  </a:lnTo>
                  <a:lnTo>
                    <a:pt x="11651557" y="49115"/>
                  </a:lnTo>
                  <a:lnTo>
                    <a:pt x="11617607" y="22892"/>
                  </a:lnTo>
                  <a:lnTo>
                    <a:pt x="11577526" y="5988"/>
                  </a:lnTo>
                  <a:lnTo>
                    <a:pt x="1153290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5">
              <a:extLst>
                <a:ext uri="{FF2B5EF4-FFF2-40B4-BE49-F238E27FC236}">
                  <a16:creationId xmlns:a16="http://schemas.microsoft.com/office/drawing/2014/main" id="{4D708472-3112-2D61-F29C-11D36C1B82CF}"/>
                </a:ext>
              </a:extLst>
            </p:cNvPr>
            <p:cNvSpPr/>
            <p:nvPr/>
          </p:nvSpPr>
          <p:spPr>
            <a:xfrm>
              <a:off x="338924" y="5486400"/>
              <a:ext cx="11701145" cy="1006475"/>
            </a:xfrm>
            <a:custGeom>
              <a:avLst/>
              <a:gdLst/>
              <a:ahLst/>
              <a:cxnLst/>
              <a:rect l="l" t="t" r="r" b="b"/>
              <a:pathLst>
                <a:path w="11701145" h="1006475">
                  <a:moveTo>
                    <a:pt x="0" y="167754"/>
                  </a:moveTo>
                  <a:lnTo>
                    <a:pt x="5992" y="123141"/>
                  </a:lnTo>
                  <a:lnTo>
                    <a:pt x="22903" y="83063"/>
                  </a:lnTo>
                  <a:lnTo>
                    <a:pt x="49134" y="49115"/>
                  </a:lnTo>
                  <a:lnTo>
                    <a:pt x="83086" y="22892"/>
                  </a:lnTo>
                  <a:lnTo>
                    <a:pt x="123159" y="5988"/>
                  </a:lnTo>
                  <a:lnTo>
                    <a:pt x="167754" y="0"/>
                  </a:lnTo>
                  <a:lnTo>
                    <a:pt x="11532908" y="0"/>
                  </a:lnTo>
                  <a:lnTo>
                    <a:pt x="11577526" y="5988"/>
                  </a:lnTo>
                  <a:lnTo>
                    <a:pt x="11617607" y="22892"/>
                  </a:lnTo>
                  <a:lnTo>
                    <a:pt x="11651557" y="49115"/>
                  </a:lnTo>
                  <a:lnTo>
                    <a:pt x="11677782" y="83063"/>
                  </a:lnTo>
                  <a:lnTo>
                    <a:pt x="11694686" y="123141"/>
                  </a:lnTo>
                  <a:lnTo>
                    <a:pt x="11700675" y="167754"/>
                  </a:lnTo>
                  <a:lnTo>
                    <a:pt x="11700675" y="838733"/>
                  </a:lnTo>
                  <a:lnTo>
                    <a:pt x="11694686" y="883327"/>
                  </a:lnTo>
                  <a:lnTo>
                    <a:pt x="11677782" y="923398"/>
                  </a:lnTo>
                  <a:lnTo>
                    <a:pt x="11651557" y="957346"/>
                  </a:lnTo>
                  <a:lnTo>
                    <a:pt x="11617607" y="983574"/>
                  </a:lnTo>
                  <a:lnTo>
                    <a:pt x="11577526" y="1000483"/>
                  </a:lnTo>
                  <a:lnTo>
                    <a:pt x="11532908" y="1006475"/>
                  </a:lnTo>
                  <a:lnTo>
                    <a:pt x="167754" y="1006475"/>
                  </a:lnTo>
                  <a:lnTo>
                    <a:pt x="123159" y="1000483"/>
                  </a:lnTo>
                  <a:lnTo>
                    <a:pt x="83086" y="983574"/>
                  </a:lnTo>
                  <a:lnTo>
                    <a:pt x="49134" y="957346"/>
                  </a:lnTo>
                  <a:lnTo>
                    <a:pt x="22903" y="923398"/>
                  </a:lnTo>
                  <a:lnTo>
                    <a:pt x="5992" y="883327"/>
                  </a:lnTo>
                  <a:lnTo>
                    <a:pt x="0" y="838733"/>
                  </a:lnTo>
                  <a:lnTo>
                    <a:pt x="0" y="167754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18">
            <a:extLst>
              <a:ext uri="{FF2B5EF4-FFF2-40B4-BE49-F238E27FC236}">
                <a16:creationId xmlns:a16="http://schemas.microsoft.com/office/drawing/2014/main" id="{E38C383F-6CDA-D92E-80B5-2FBD877D81A6}"/>
              </a:ext>
            </a:extLst>
          </p:cNvPr>
          <p:cNvSpPr/>
          <p:nvPr/>
        </p:nvSpPr>
        <p:spPr>
          <a:xfrm>
            <a:off x="4484840" y="1418209"/>
            <a:ext cx="228600" cy="435609"/>
          </a:xfrm>
          <a:custGeom>
            <a:avLst/>
            <a:gdLst/>
            <a:ahLst/>
            <a:cxnLst/>
            <a:rect l="l" t="t" r="r" b="b"/>
            <a:pathLst>
              <a:path w="228600" h="435610">
                <a:moveTo>
                  <a:pt x="22062" y="206736"/>
                </a:moveTo>
                <a:lnTo>
                  <a:pt x="12483" y="209930"/>
                </a:lnTo>
                <a:lnTo>
                  <a:pt x="4909" y="216654"/>
                </a:lnTo>
                <a:lnTo>
                  <a:pt x="656" y="225425"/>
                </a:lnTo>
                <a:lnTo>
                  <a:pt x="0" y="235148"/>
                </a:lnTo>
                <a:lnTo>
                  <a:pt x="3212" y="244728"/>
                </a:lnTo>
                <a:lnTo>
                  <a:pt x="113321" y="435101"/>
                </a:lnTo>
                <a:lnTo>
                  <a:pt x="142897" y="384810"/>
                </a:lnTo>
                <a:lnTo>
                  <a:pt x="138975" y="384810"/>
                </a:lnTo>
                <a:lnTo>
                  <a:pt x="88175" y="384555"/>
                </a:lnTo>
                <a:lnTo>
                  <a:pt x="88516" y="290694"/>
                </a:lnTo>
                <a:lnTo>
                  <a:pt x="47154" y="219201"/>
                </a:lnTo>
                <a:lnTo>
                  <a:pt x="40505" y="211681"/>
                </a:lnTo>
                <a:lnTo>
                  <a:pt x="31771" y="207422"/>
                </a:lnTo>
                <a:lnTo>
                  <a:pt x="22062" y="206736"/>
                </a:lnTo>
                <a:close/>
              </a:path>
              <a:path w="228600" h="435610">
                <a:moveTo>
                  <a:pt x="88516" y="290694"/>
                </a:moveTo>
                <a:lnTo>
                  <a:pt x="88175" y="384555"/>
                </a:lnTo>
                <a:lnTo>
                  <a:pt x="138975" y="384810"/>
                </a:lnTo>
                <a:lnTo>
                  <a:pt x="139022" y="371983"/>
                </a:lnTo>
                <a:lnTo>
                  <a:pt x="91604" y="371855"/>
                </a:lnTo>
                <a:lnTo>
                  <a:pt x="113725" y="334266"/>
                </a:lnTo>
                <a:lnTo>
                  <a:pt x="88516" y="290694"/>
                </a:lnTo>
                <a:close/>
              </a:path>
              <a:path w="228600" h="435610">
                <a:moveTo>
                  <a:pt x="206357" y="207404"/>
                </a:moveTo>
                <a:lnTo>
                  <a:pt x="139317" y="290778"/>
                </a:lnTo>
                <a:lnTo>
                  <a:pt x="138975" y="384810"/>
                </a:lnTo>
                <a:lnTo>
                  <a:pt x="142897" y="384810"/>
                </a:lnTo>
                <a:lnTo>
                  <a:pt x="224827" y="245490"/>
                </a:lnTo>
                <a:lnTo>
                  <a:pt x="228189" y="235964"/>
                </a:lnTo>
                <a:lnTo>
                  <a:pt x="227621" y="226234"/>
                </a:lnTo>
                <a:lnTo>
                  <a:pt x="223434" y="217433"/>
                </a:lnTo>
                <a:lnTo>
                  <a:pt x="215937" y="210692"/>
                </a:lnTo>
                <a:lnTo>
                  <a:pt x="206357" y="207404"/>
                </a:lnTo>
                <a:close/>
              </a:path>
              <a:path w="228600" h="435610">
                <a:moveTo>
                  <a:pt x="113725" y="334266"/>
                </a:moveTo>
                <a:lnTo>
                  <a:pt x="91604" y="371855"/>
                </a:lnTo>
                <a:lnTo>
                  <a:pt x="135546" y="371983"/>
                </a:lnTo>
                <a:lnTo>
                  <a:pt x="113725" y="334266"/>
                </a:lnTo>
                <a:close/>
              </a:path>
              <a:path w="228600" h="435610">
                <a:moveTo>
                  <a:pt x="139317" y="290778"/>
                </a:moveTo>
                <a:lnTo>
                  <a:pt x="113725" y="334266"/>
                </a:lnTo>
                <a:lnTo>
                  <a:pt x="135546" y="371983"/>
                </a:lnTo>
                <a:lnTo>
                  <a:pt x="139022" y="371983"/>
                </a:lnTo>
                <a:lnTo>
                  <a:pt x="139317" y="290778"/>
                </a:lnTo>
                <a:close/>
              </a:path>
              <a:path w="228600" h="435610">
                <a:moveTo>
                  <a:pt x="89572" y="0"/>
                </a:moveTo>
                <a:lnTo>
                  <a:pt x="88683" y="244728"/>
                </a:lnTo>
                <a:lnTo>
                  <a:pt x="88565" y="290778"/>
                </a:lnTo>
                <a:lnTo>
                  <a:pt x="113725" y="334266"/>
                </a:lnTo>
                <a:lnTo>
                  <a:pt x="139317" y="290778"/>
                </a:lnTo>
                <a:lnTo>
                  <a:pt x="140372" y="126"/>
                </a:lnTo>
                <a:lnTo>
                  <a:pt x="895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9">
            <a:extLst>
              <a:ext uri="{FF2B5EF4-FFF2-40B4-BE49-F238E27FC236}">
                <a16:creationId xmlns:a16="http://schemas.microsoft.com/office/drawing/2014/main" id="{78B2700E-3AA1-625E-1227-C719A9625E26}"/>
              </a:ext>
            </a:extLst>
          </p:cNvPr>
          <p:cNvSpPr txBox="1"/>
          <p:nvPr/>
        </p:nvSpPr>
        <p:spPr>
          <a:xfrm>
            <a:off x="9389491" y="1097737"/>
            <a:ext cx="111696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ambria"/>
                <a:cs typeface="Cambria"/>
              </a:rPr>
              <a:t>RRP</a:t>
            </a:r>
            <a:r>
              <a:rPr sz="2400" spc="-85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Tail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22" name="object 20">
            <a:extLst>
              <a:ext uri="{FF2B5EF4-FFF2-40B4-BE49-F238E27FC236}">
                <a16:creationId xmlns:a16="http://schemas.microsoft.com/office/drawing/2014/main" id="{2E83CAE7-FCF4-5D2F-CCB6-E9320A28C63A}"/>
              </a:ext>
            </a:extLst>
          </p:cNvPr>
          <p:cNvSpPr/>
          <p:nvPr/>
        </p:nvSpPr>
        <p:spPr>
          <a:xfrm>
            <a:off x="9792624" y="1418209"/>
            <a:ext cx="228600" cy="435609"/>
          </a:xfrm>
          <a:custGeom>
            <a:avLst/>
            <a:gdLst/>
            <a:ahLst/>
            <a:cxnLst/>
            <a:rect l="l" t="t" r="r" b="b"/>
            <a:pathLst>
              <a:path w="228600" h="435610">
                <a:moveTo>
                  <a:pt x="22062" y="206736"/>
                </a:moveTo>
                <a:lnTo>
                  <a:pt x="12537" y="209930"/>
                </a:lnTo>
                <a:lnTo>
                  <a:pt x="4945" y="216654"/>
                </a:lnTo>
                <a:lnTo>
                  <a:pt x="662" y="225425"/>
                </a:lnTo>
                <a:lnTo>
                  <a:pt x="0" y="235148"/>
                </a:lnTo>
                <a:lnTo>
                  <a:pt x="3266" y="244728"/>
                </a:lnTo>
                <a:lnTo>
                  <a:pt x="113375" y="435101"/>
                </a:lnTo>
                <a:lnTo>
                  <a:pt x="142950" y="384810"/>
                </a:lnTo>
                <a:lnTo>
                  <a:pt x="138902" y="384810"/>
                </a:lnTo>
                <a:lnTo>
                  <a:pt x="88102" y="384555"/>
                </a:lnTo>
                <a:lnTo>
                  <a:pt x="88444" y="290475"/>
                </a:lnTo>
                <a:lnTo>
                  <a:pt x="47208" y="219201"/>
                </a:lnTo>
                <a:lnTo>
                  <a:pt x="40540" y="211681"/>
                </a:lnTo>
                <a:lnTo>
                  <a:pt x="31777" y="207422"/>
                </a:lnTo>
                <a:lnTo>
                  <a:pt x="22062" y="206736"/>
                </a:lnTo>
                <a:close/>
              </a:path>
              <a:path w="228600" h="435610">
                <a:moveTo>
                  <a:pt x="88444" y="290475"/>
                </a:moveTo>
                <a:lnTo>
                  <a:pt x="88102" y="384555"/>
                </a:lnTo>
                <a:lnTo>
                  <a:pt x="138902" y="384810"/>
                </a:lnTo>
                <a:lnTo>
                  <a:pt x="138948" y="371983"/>
                </a:lnTo>
                <a:lnTo>
                  <a:pt x="91658" y="371855"/>
                </a:lnTo>
                <a:lnTo>
                  <a:pt x="113763" y="334239"/>
                </a:lnTo>
                <a:lnTo>
                  <a:pt x="88444" y="290475"/>
                </a:lnTo>
                <a:close/>
              </a:path>
              <a:path w="228600" h="435610">
                <a:moveTo>
                  <a:pt x="206337" y="207404"/>
                </a:moveTo>
                <a:lnTo>
                  <a:pt x="139243" y="290880"/>
                </a:lnTo>
                <a:lnTo>
                  <a:pt x="138902" y="384810"/>
                </a:lnTo>
                <a:lnTo>
                  <a:pt x="142950" y="384810"/>
                </a:lnTo>
                <a:lnTo>
                  <a:pt x="224881" y="245490"/>
                </a:lnTo>
                <a:lnTo>
                  <a:pt x="228169" y="235964"/>
                </a:lnTo>
                <a:lnTo>
                  <a:pt x="227564" y="226234"/>
                </a:lnTo>
                <a:lnTo>
                  <a:pt x="223363" y="217433"/>
                </a:lnTo>
                <a:lnTo>
                  <a:pt x="215864" y="210692"/>
                </a:lnTo>
                <a:lnTo>
                  <a:pt x="206337" y="207404"/>
                </a:lnTo>
                <a:close/>
              </a:path>
              <a:path w="228600" h="435610">
                <a:moveTo>
                  <a:pt x="113763" y="334239"/>
                </a:moveTo>
                <a:lnTo>
                  <a:pt x="91658" y="371855"/>
                </a:lnTo>
                <a:lnTo>
                  <a:pt x="135600" y="371983"/>
                </a:lnTo>
                <a:lnTo>
                  <a:pt x="113763" y="334239"/>
                </a:lnTo>
                <a:close/>
              </a:path>
              <a:path w="228600" h="435610">
                <a:moveTo>
                  <a:pt x="139243" y="290880"/>
                </a:moveTo>
                <a:lnTo>
                  <a:pt x="113763" y="334239"/>
                </a:lnTo>
                <a:lnTo>
                  <a:pt x="135600" y="371983"/>
                </a:lnTo>
                <a:lnTo>
                  <a:pt x="138948" y="371983"/>
                </a:lnTo>
                <a:lnTo>
                  <a:pt x="139243" y="290880"/>
                </a:lnTo>
                <a:close/>
              </a:path>
              <a:path w="228600" h="435610">
                <a:moveTo>
                  <a:pt x="89499" y="0"/>
                </a:moveTo>
                <a:lnTo>
                  <a:pt x="88444" y="290475"/>
                </a:lnTo>
                <a:lnTo>
                  <a:pt x="113763" y="334239"/>
                </a:lnTo>
                <a:lnTo>
                  <a:pt x="139243" y="290880"/>
                </a:lnTo>
                <a:lnTo>
                  <a:pt x="140299" y="126"/>
                </a:lnTo>
                <a:lnTo>
                  <a:pt x="894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1">
            <a:extLst>
              <a:ext uri="{FF2B5EF4-FFF2-40B4-BE49-F238E27FC236}">
                <a16:creationId xmlns:a16="http://schemas.microsoft.com/office/drawing/2014/main" id="{594ED12C-A760-6B9D-449C-3DD16EB69579}"/>
              </a:ext>
            </a:extLst>
          </p:cNvPr>
          <p:cNvSpPr txBox="1"/>
          <p:nvPr/>
        </p:nvSpPr>
        <p:spPr>
          <a:xfrm>
            <a:off x="9414509" y="2488818"/>
            <a:ext cx="194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"/>
                <a:cs typeface="Cambria"/>
              </a:rPr>
              <a:t>3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24" name="object 22">
            <a:extLst>
              <a:ext uri="{FF2B5EF4-FFF2-40B4-BE49-F238E27FC236}">
                <a16:creationId xmlns:a16="http://schemas.microsoft.com/office/drawing/2014/main" id="{DA85DB38-3717-0E73-73DF-026B06854437}"/>
              </a:ext>
            </a:extLst>
          </p:cNvPr>
          <p:cNvSpPr txBox="1"/>
          <p:nvPr/>
        </p:nvSpPr>
        <p:spPr>
          <a:xfrm>
            <a:off x="8298306" y="2488818"/>
            <a:ext cx="194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"/>
                <a:cs typeface="Cambria"/>
              </a:rPr>
              <a:t>2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25" name="object 23">
            <a:extLst>
              <a:ext uri="{FF2B5EF4-FFF2-40B4-BE49-F238E27FC236}">
                <a16:creationId xmlns:a16="http://schemas.microsoft.com/office/drawing/2014/main" id="{4ADEA980-07F9-1DB5-B408-2422EC6CD2F4}"/>
              </a:ext>
            </a:extLst>
          </p:cNvPr>
          <p:cNvSpPr txBox="1"/>
          <p:nvPr/>
        </p:nvSpPr>
        <p:spPr>
          <a:xfrm>
            <a:off x="6785229" y="2488818"/>
            <a:ext cx="194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"/>
                <a:cs typeface="Cambria"/>
              </a:rPr>
              <a:t>1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26" name="object 24">
            <a:extLst>
              <a:ext uri="{FF2B5EF4-FFF2-40B4-BE49-F238E27FC236}">
                <a16:creationId xmlns:a16="http://schemas.microsoft.com/office/drawing/2014/main" id="{34412822-2BDF-27BF-5B3C-7740AFAF8FF6}"/>
              </a:ext>
            </a:extLst>
          </p:cNvPr>
          <p:cNvSpPr txBox="1"/>
          <p:nvPr/>
        </p:nvSpPr>
        <p:spPr>
          <a:xfrm>
            <a:off x="6071108" y="3022854"/>
            <a:ext cx="41154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64080" algn="l"/>
                <a:tab pos="3055620" algn="l"/>
              </a:tabLst>
            </a:pPr>
            <a:r>
              <a:rPr sz="2400" spc="-5" dirty="0">
                <a:latin typeface="Cambria"/>
                <a:cs typeface="Cambria"/>
              </a:rPr>
              <a:t>‘intermediate’	</a:t>
            </a:r>
            <a:r>
              <a:rPr sz="2400" spc="-10" dirty="0">
                <a:latin typeface="Cambria"/>
                <a:cs typeface="Cambria"/>
              </a:rPr>
              <a:t>‘far’	</a:t>
            </a:r>
            <a:r>
              <a:rPr sz="2400" spc="-5" dirty="0">
                <a:latin typeface="Cambria"/>
                <a:cs typeface="Cambria"/>
              </a:rPr>
              <a:t>‘distant’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27" name="object 25">
            <a:extLst>
              <a:ext uri="{FF2B5EF4-FFF2-40B4-BE49-F238E27FC236}">
                <a16:creationId xmlns:a16="http://schemas.microsoft.com/office/drawing/2014/main" id="{0CA0182C-33CD-F300-1A69-B6A52E99B8DD}"/>
              </a:ext>
            </a:extLst>
          </p:cNvPr>
          <p:cNvSpPr txBox="1"/>
          <p:nvPr/>
        </p:nvSpPr>
        <p:spPr>
          <a:xfrm>
            <a:off x="4803775" y="2488818"/>
            <a:ext cx="194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"/>
                <a:cs typeface="Cambria"/>
              </a:rPr>
              <a:t>0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28" name="object 26">
            <a:extLst>
              <a:ext uri="{FF2B5EF4-FFF2-40B4-BE49-F238E27FC236}">
                <a16:creationId xmlns:a16="http://schemas.microsoft.com/office/drawing/2014/main" id="{8F67782A-73F0-1F38-FDF8-B90DEB9F8A45}"/>
              </a:ext>
            </a:extLst>
          </p:cNvPr>
          <p:cNvSpPr txBox="1"/>
          <p:nvPr/>
        </p:nvSpPr>
        <p:spPr>
          <a:xfrm>
            <a:off x="4627245" y="2952749"/>
            <a:ext cx="7899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ambria"/>
                <a:cs typeface="Cambria"/>
              </a:rPr>
              <a:t>‘near-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29" name="object 27">
            <a:extLst>
              <a:ext uri="{FF2B5EF4-FFF2-40B4-BE49-F238E27FC236}">
                <a16:creationId xmlns:a16="http://schemas.microsoft.com/office/drawing/2014/main" id="{372D4B50-641F-CD88-28DC-3F912CD3C0E4}"/>
              </a:ext>
            </a:extLst>
          </p:cNvPr>
          <p:cNvSpPr txBox="1"/>
          <p:nvPr/>
        </p:nvSpPr>
        <p:spPr>
          <a:xfrm>
            <a:off x="78739" y="2225801"/>
            <a:ext cx="3889375" cy="1169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15" dirty="0">
                <a:latin typeface="Cambria"/>
                <a:cs typeface="Cambria"/>
              </a:rPr>
              <a:t>Re-reference </a:t>
            </a:r>
            <a:r>
              <a:rPr sz="2400" spc="-5" dirty="0">
                <a:latin typeface="Cambria"/>
                <a:cs typeface="Cambria"/>
              </a:rPr>
              <a:t>Prediction </a:t>
            </a:r>
            <a:r>
              <a:rPr sz="2400" spc="-35" dirty="0">
                <a:latin typeface="Cambria"/>
                <a:cs typeface="Cambria"/>
              </a:rPr>
              <a:t>Value </a:t>
            </a:r>
            <a:r>
              <a:rPr sz="2400" spc="-52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RRPV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(n=2):</a:t>
            </a:r>
            <a:endParaRPr sz="2400">
              <a:latin typeface="Cambria"/>
              <a:cs typeface="Cambria"/>
            </a:endParaRPr>
          </a:p>
          <a:p>
            <a:pPr marL="573405" algn="ctr">
              <a:lnSpc>
                <a:spcPct val="100000"/>
              </a:lnSpc>
              <a:spcBef>
                <a:spcPts val="360"/>
              </a:spcBef>
            </a:pPr>
            <a:r>
              <a:rPr sz="2400" spc="-15" dirty="0">
                <a:latin typeface="Cambria"/>
                <a:cs typeface="Cambria"/>
              </a:rPr>
              <a:t>Qualitative</a:t>
            </a:r>
            <a:r>
              <a:rPr sz="2400" spc="-45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Prediction:</a:t>
            </a:r>
            <a:endParaRPr sz="2400">
              <a:latin typeface="Cambria"/>
              <a:cs typeface="Cambria"/>
            </a:endParaRPr>
          </a:p>
        </p:txBody>
      </p:sp>
      <p:grpSp>
        <p:nvGrpSpPr>
          <p:cNvPr id="30" name="object 28">
            <a:extLst>
              <a:ext uri="{FF2B5EF4-FFF2-40B4-BE49-F238E27FC236}">
                <a16:creationId xmlns:a16="http://schemas.microsoft.com/office/drawing/2014/main" id="{E3B8BCA8-D549-44DF-C69E-DE01856F5413}"/>
              </a:ext>
            </a:extLst>
          </p:cNvPr>
          <p:cNvGrpSpPr/>
          <p:nvPr/>
        </p:nvGrpSpPr>
        <p:grpSpPr>
          <a:xfrm>
            <a:off x="4302125" y="1919859"/>
            <a:ext cx="5886450" cy="400050"/>
            <a:chOff x="4302125" y="1895475"/>
            <a:chExt cx="5886450" cy="400050"/>
          </a:xfrm>
        </p:grpSpPr>
        <p:sp>
          <p:nvSpPr>
            <p:cNvPr id="31" name="object 29">
              <a:extLst>
                <a:ext uri="{FF2B5EF4-FFF2-40B4-BE49-F238E27FC236}">
                  <a16:creationId xmlns:a16="http://schemas.microsoft.com/office/drawing/2014/main" id="{6F414250-C094-B34B-69C8-66CD647F3599}"/>
                </a:ext>
              </a:extLst>
            </p:cNvPr>
            <p:cNvSpPr/>
            <p:nvPr/>
          </p:nvSpPr>
          <p:spPr>
            <a:xfrm>
              <a:off x="4311650" y="1905000"/>
              <a:ext cx="533400" cy="381000"/>
            </a:xfrm>
            <a:custGeom>
              <a:avLst/>
              <a:gdLst/>
              <a:ahLst/>
              <a:cxnLst/>
              <a:rect l="l" t="t" r="r" b="b"/>
              <a:pathLst>
                <a:path w="533400" h="381000">
                  <a:moveTo>
                    <a:pt x="533400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533400" y="381000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66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0">
              <a:extLst>
                <a:ext uri="{FF2B5EF4-FFF2-40B4-BE49-F238E27FC236}">
                  <a16:creationId xmlns:a16="http://schemas.microsoft.com/office/drawing/2014/main" id="{5799705C-9A5C-EDE1-7559-3DC9144362E2}"/>
                </a:ext>
              </a:extLst>
            </p:cNvPr>
            <p:cNvSpPr/>
            <p:nvPr/>
          </p:nvSpPr>
          <p:spPr>
            <a:xfrm>
              <a:off x="4311650" y="1905000"/>
              <a:ext cx="533400" cy="381000"/>
            </a:xfrm>
            <a:custGeom>
              <a:avLst/>
              <a:gdLst/>
              <a:ahLst/>
              <a:cxnLst/>
              <a:rect l="l" t="t" r="r" b="b"/>
              <a:pathLst>
                <a:path w="533400" h="381000">
                  <a:moveTo>
                    <a:pt x="0" y="381000"/>
                  </a:moveTo>
                  <a:lnTo>
                    <a:pt x="533400" y="381000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1">
              <a:extLst>
                <a:ext uri="{FF2B5EF4-FFF2-40B4-BE49-F238E27FC236}">
                  <a16:creationId xmlns:a16="http://schemas.microsoft.com/office/drawing/2014/main" id="{D0516BC2-A74E-7039-D48B-16B05ED8E802}"/>
                </a:ext>
              </a:extLst>
            </p:cNvPr>
            <p:cNvSpPr/>
            <p:nvPr/>
          </p:nvSpPr>
          <p:spPr>
            <a:xfrm>
              <a:off x="5073650" y="1905000"/>
              <a:ext cx="533400" cy="381000"/>
            </a:xfrm>
            <a:custGeom>
              <a:avLst/>
              <a:gdLst/>
              <a:ahLst/>
              <a:cxnLst/>
              <a:rect l="l" t="t" r="r" b="b"/>
              <a:pathLst>
                <a:path w="533400" h="381000">
                  <a:moveTo>
                    <a:pt x="533400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533400" y="381000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66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2">
              <a:extLst>
                <a:ext uri="{FF2B5EF4-FFF2-40B4-BE49-F238E27FC236}">
                  <a16:creationId xmlns:a16="http://schemas.microsoft.com/office/drawing/2014/main" id="{885EBF49-48BB-3AAD-A78F-86100FBCBE61}"/>
                </a:ext>
              </a:extLst>
            </p:cNvPr>
            <p:cNvSpPr/>
            <p:nvPr/>
          </p:nvSpPr>
          <p:spPr>
            <a:xfrm>
              <a:off x="5073650" y="1905000"/>
              <a:ext cx="533400" cy="381000"/>
            </a:xfrm>
            <a:custGeom>
              <a:avLst/>
              <a:gdLst/>
              <a:ahLst/>
              <a:cxnLst/>
              <a:rect l="l" t="t" r="r" b="b"/>
              <a:pathLst>
                <a:path w="533400" h="381000">
                  <a:moveTo>
                    <a:pt x="0" y="381000"/>
                  </a:moveTo>
                  <a:lnTo>
                    <a:pt x="533400" y="381000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3">
              <a:extLst>
                <a:ext uri="{FF2B5EF4-FFF2-40B4-BE49-F238E27FC236}">
                  <a16:creationId xmlns:a16="http://schemas.microsoft.com/office/drawing/2014/main" id="{18F7EDF5-179E-DE80-D4F5-1BDEB88F0E01}"/>
                </a:ext>
              </a:extLst>
            </p:cNvPr>
            <p:cNvSpPr/>
            <p:nvPr/>
          </p:nvSpPr>
          <p:spPr>
            <a:xfrm>
              <a:off x="5835650" y="1905000"/>
              <a:ext cx="533400" cy="381000"/>
            </a:xfrm>
            <a:custGeom>
              <a:avLst/>
              <a:gdLst/>
              <a:ahLst/>
              <a:cxnLst/>
              <a:rect l="l" t="t" r="r" b="b"/>
              <a:pathLst>
                <a:path w="533400" h="381000">
                  <a:moveTo>
                    <a:pt x="533400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533400" y="381000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66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4">
              <a:extLst>
                <a:ext uri="{FF2B5EF4-FFF2-40B4-BE49-F238E27FC236}">
                  <a16:creationId xmlns:a16="http://schemas.microsoft.com/office/drawing/2014/main" id="{931E8FA0-5F8D-EC12-81A8-C2F5FABB4B65}"/>
                </a:ext>
              </a:extLst>
            </p:cNvPr>
            <p:cNvSpPr/>
            <p:nvPr/>
          </p:nvSpPr>
          <p:spPr>
            <a:xfrm>
              <a:off x="5835650" y="1905000"/>
              <a:ext cx="533400" cy="381000"/>
            </a:xfrm>
            <a:custGeom>
              <a:avLst/>
              <a:gdLst/>
              <a:ahLst/>
              <a:cxnLst/>
              <a:rect l="l" t="t" r="r" b="b"/>
              <a:pathLst>
                <a:path w="533400" h="381000">
                  <a:moveTo>
                    <a:pt x="0" y="381000"/>
                  </a:moveTo>
                  <a:lnTo>
                    <a:pt x="533400" y="381000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5">
              <a:extLst>
                <a:ext uri="{FF2B5EF4-FFF2-40B4-BE49-F238E27FC236}">
                  <a16:creationId xmlns:a16="http://schemas.microsoft.com/office/drawing/2014/main" id="{2C88BD98-288C-BA6A-0C95-0FFAA91C351A}"/>
                </a:ext>
              </a:extLst>
            </p:cNvPr>
            <p:cNvSpPr/>
            <p:nvPr/>
          </p:nvSpPr>
          <p:spPr>
            <a:xfrm>
              <a:off x="6597650" y="1905000"/>
              <a:ext cx="533400" cy="381000"/>
            </a:xfrm>
            <a:custGeom>
              <a:avLst/>
              <a:gdLst/>
              <a:ahLst/>
              <a:cxnLst/>
              <a:rect l="l" t="t" r="r" b="b"/>
              <a:pathLst>
                <a:path w="533400" h="381000">
                  <a:moveTo>
                    <a:pt x="533400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533400" y="381000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66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6">
              <a:extLst>
                <a:ext uri="{FF2B5EF4-FFF2-40B4-BE49-F238E27FC236}">
                  <a16:creationId xmlns:a16="http://schemas.microsoft.com/office/drawing/2014/main" id="{8C643594-F7F4-103C-F58C-E00F512726DF}"/>
                </a:ext>
              </a:extLst>
            </p:cNvPr>
            <p:cNvSpPr/>
            <p:nvPr/>
          </p:nvSpPr>
          <p:spPr>
            <a:xfrm>
              <a:off x="6597650" y="1905000"/>
              <a:ext cx="533400" cy="381000"/>
            </a:xfrm>
            <a:custGeom>
              <a:avLst/>
              <a:gdLst/>
              <a:ahLst/>
              <a:cxnLst/>
              <a:rect l="l" t="t" r="r" b="b"/>
              <a:pathLst>
                <a:path w="533400" h="381000">
                  <a:moveTo>
                    <a:pt x="0" y="381000"/>
                  </a:moveTo>
                  <a:lnTo>
                    <a:pt x="533400" y="381000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7">
              <a:extLst>
                <a:ext uri="{FF2B5EF4-FFF2-40B4-BE49-F238E27FC236}">
                  <a16:creationId xmlns:a16="http://schemas.microsoft.com/office/drawing/2014/main" id="{783E8A53-304E-2E2E-B3DC-591708735320}"/>
                </a:ext>
              </a:extLst>
            </p:cNvPr>
            <p:cNvSpPr/>
            <p:nvPr/>
          </p:nvSpPr>
          <p:spPr>
            <a:xfrm>
              <a:off x="7359650" y="1905000"/>
              <a:ext cx="533400" cy="381000"/>
            </a:xfrm>
            <a:custGeom>
              <a:avLst/>
              <a:gdLst/>
              <a:ahLst/>
              <a:cxnLst/>
              <a:rect l="l" t="t" r="r" b="b"/>
              <a:pathLst>
                <a:path w="533400" h="381000">
                  <a:moveTo>
                    <a:pt x="533400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533400" y="381000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66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38">
              <a:extLst>
                <a:ext uri="{FF2B5EF4-FFF2-40B4-BE49-F238E27FC236}">
                  <a16:creationId xmlns:a16="http://schemas.microsoft.com/office/drawing/2014/main" id="{BBDAE14C-C540-EAF7-62E9-7A14A61BC3D4}"/>
                </a:ext>
              </a:extLst>
            </p:cNvPr>
            <p:cNvSpPr/>
            <p:nvPr/>
          </p:nvSpPr>
          <p:spPr>
            <a:xfrm>
              <a:off x="7359650" y="1905000"/>
              <a:ext cx="533400" cy="381000"/>
            </a:xfrm>
            <a:custGeom>
              <a:avLst/>
              <a:gdLst/>
              <a:ahLst/>
              <a:cxnLst/>
              <a:rect l="l" t="t" r="r" b="b"/>
              <a:pathLst>
                <a:path w="533400" h="381000">
                  <a:moveTo>
                    <a:pt x="0" y="381000"/>
                  </a:moveTo>
                  <a:lnTo>
                    <a:pt x="533400" y="381000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39">
              <a:extLst>
                <a:ext uri="{FF2B5EF4-FFF2-40B4-BE49-F238E27FC236}">
                  <a16:creationId xmlns:a16="http://schemas.microsoft.com/office/drawing/2014/main" id="{7BD3C0B7-CA57-8215-880E-E5BEBBACCC09}"/>
                </a:ext>
              </a:extLst>
            </p:cNvPr>
            <p:cNvSpPr/>
            <p:nvPr/>
          </p:nvSpPr>
          <p:spPr>
            <a:xfrm>
              <a:off x="8121650" y="1905000"/>
              <a:ext cx="533400" cy="381000"/>
            </a:xfrm>
            <a:custGeom>
              <a:avLst/>
              <a:gdLst/>
              <a:ahLst/>
              <a:cxnLst/>
              <a:rect l="l" t="t" r="r" b="b"/>
              <a:pathLst>
                <a:path w="533400" h="381000">
                  <a:moveTo>
                    <a:pt x="533400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533400" y="381000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66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0">
              <a:extLst>
                <a:ext uri="{FF2B5EF4-FFF2-40B4-BE49-F238E27FC236}">
                  <a16:creationId xmlns:a16="http://schemas.microsoft.com/office/drawing/2014/main" id="{31A904D2-B838-1120-A64F-69B37A493DEE}"/>
                </a:ext>
              </a:extLst>
            </p:cNvPr>
            <p:cNvSpPr/>
            <p:nvPr/>
          </p:nvSpPr>
          <p:spPr>
            <a:xfrm>
              <a:off x="8121650" y="1905000"/>
              <a:ext cx="533400" cy="381000"/>
            </a:xfrm>
            <a:custGeom>
              <a:avLst/>
              <a:gdLst/>
              <a:ahLst/>
              <a:cxnLst/>
              <a:rect l="l" t="t" r="r" b="b"/>
              <a:pathLst>
                <a:path w="533400" h="381000">
                  <a:moveTo>
                    <a:pt x="0" y="381000"/>
                  </a:moveTo>
                  <a:lnTo>
                    <a:pt x="533400" y="381000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1">
              <a:extLst>
                <a:ext uri="{FF2B5EF4-FFF2-40B4-BE49-F238E27FC236}">
                  <a16:creationId xmlns:a16="http://schemas.microsoft.com/office/drawing/2014/main" id="{CA6F6309-93FA-5C45-B0BC-CD909B54B516}"/>
                </a:ext>
              </a:extLst>
            </p:cNvPr>
            <p:cNvSpPr/>
            <p:nvPr/>
          </p:nvSpPr>
          <p:spPr>
            <a:xfrm>
              <a:off x="8883650" y="1905000"/>
              <a:ext cx="533400" cy="381000"/>
            </a:xfrm>
            <a:custGeom>
              <a:avLst/>
              <a:gdLst/>
              <a:ahLst/>
              <a:cxnLst/>
              <a:rect l="l" t="t" r="r" b="b"/>
              <a:pathLst>
                <a:path w="533400" h="381000">
                  <a:moveTo>
                    <a:pt x="533400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533400" y="381000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66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2">
              <a:extLst>
                <a:ext uri="{FF2B5EF4-FFF2-40B4-BE49-F238E27FC236}">
                  <a16:creationId xmlns:a16="http://schemas.microsoft.com/office/drawing/2014/main" id="{D27E6E18-97F2-E935-025F-B71E4021FE5B}"/>
                </a:ext>
              </a:extLst>
            </p:cNvPr>
            <p:cNvSpPr/>
            <p:nvPr/>
          </p:nvSpPr>
          <p:spPr>
            <a:xfrm>
              <a:off x="8883650" y="1905000"/>
              <a:ext cx="533400" cy="381000"/>
            </a:xfrm>
            <a:custGeom>
              <a:avLst/>
              <a:gdLst/>
              <a:ahLst/>
              <a:cxnLst/>
              <a:rect l="l" t="t" r="r" b="b"/>
              <a:pathLst>
                <a:path w="533400" h="381000">
                  <a:moveTo>
                    <a:pt x="0" y="381000"/>
                  </a:moveTo>
                  <a:lnTo>
                    <a:pt x="533400" y="381000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3">
              <a:extLst>
                <a:ext uri="{FF2B5EF4-FFF2-40B4-BE49-F238E27FC236}">
                  <a16:creationId xmlns:a16="http://schemas.microsoft.com/office/drawing/2014/main" id="{EBCC7EDB-89FD-C6EA-F559-D4646DAD08BB}"/>
                </a:ext>
              </a:extLst>
            </p:cNvPr>
            <p:cNvSpPr/>
            <p:nvPr/>
          </p:nvSpPr>
          <p:spPr>
            <a:xfrm>
              <a:off x="9645650" y="1905000"/>
              <a:ext cx="533400" cy="381000"/>
            </a:xfrm>
            <a:custGeom>
              <a:avLst/>
              <a:gdLst/>
              <a:ahLst/>
              <a:cxnLst/>
              <a:rect l="l" t="t" r="r" b="b"/>
              <a:pathLst>
                <a:path w="533400" h="381000">
                  <a:moveTo>
                    <a:pt x="533400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533400" y="381000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66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4">
              <a:extLst>
                <a:ext uri="{FF2B5EF4-FFF2-40B4-BE49-F238E27FC236}">
                  <a16:creationId xmlns:a16="http://schemas.microsoft.com/office/drawing/2014/main" id="{3E03F5EE-73CB-E9B4-1C94-8BD0B1A97009}"/>
                </a:ext>
              </a:extLst>
            </p:cNvPr>
            <p:cNvSpPr/>
            <p:nvPr/>
          </p:nvSpPr>
          <p:spPr>
            <a:xfrm>
              <a:off x="9645650" y="1905000"/>
              <a:ext cx="533400" cy="381000"/>
            </a:xfrm>
            <a:custGeom>
              <a:avLst/>
              <a:gdLst/>
              <a:ahLst/>
              <a:cxnLst/>
              <a:rect l="l" t="t" r="r" b="b"/>
              <a:pathLst>
                <a:path w="533400" h="381000">
                  <a:moveTo>
                    <a:pt x="0" y="381000"/>
                  </a:moveTo>
                  <a:lnTo>
                    <a:pt x="533400" y="381000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5">
            <a:extLst>
              <a:ext uri="{FF2B5EF4-FFF2-40B4-BE49-F238E27FC236}">
                <a16:creationId xmlns:a16="http://schemas.microsoft.com/office/drawing/2014/main" id="{653AB39D-CBF7-BEE7-99DB-2BA2835BBD61}"/>
              </a:ext>
            </a:extLst>
          </p:cNvPr>
          <p:cNvSpPr txBox="1"/>
          <p:nvPr/>
        </p:nvSpPr>
        <p:spPr>
          <a:xfrm>
            <a:off x="3964940" y="1097737"/>
            <a:ext cx="6035040" cy="1210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ambria"/>
                <a:cs typeface="Cambria"/>
              </a:rPr>
              <a:t>RRP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Head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000">
              <a:latin typeface="Cambria"/>
              <a:cs typeface="Cambria"/>
            </a:endParaRPr>
          </a:p>
          <a:p>
            <a:pPr marL="528955">
              <a:lnSpc>
                <a:spcPct val="100000"/>
              </a:lnSpc>
              <a:tabLst>
                <a:tab pos="1299845" algn="l"/>
                <a:tab pos="2091055" algn="l"/>
                <a:tab pos="2823845" algn="l"/>
                <a:tab pos="3576954" algn="l"/>
                <a:tab pos="4356100" algn="l"/>
                <a:tab pos="5102860" algn="l"/>
                <a:tab pos="5872480" algn="l"/>
              </a:tabLst>
            </a:pPr>
            <a:r>
              <a:rPr sz="2400" dirty="0">
                <a:solidFill>
                  <a:srgbClr val="003300"/>
                </a:solidFill>
                <a:latin typeface="Cambria"/>
                <a:cs typeface="Cambria"/>
              </a:rPr>
              <a:t>h	g	f	e	d	c	b	a</a:t>
            </a:r>
            <a:endParaRPr sz="2400">
              <a:latin typeface="Cambria"/>
              <a:cs typeface="Cambria"/>
            </a:endParaRPr>
          </a:p>
        </p:txBody>
      </p:sp>
      <p:grpSp>
        <p:nvGrpSpPr>
          <p:cNvPr id="48" name="object 46">
            <a:extLst>
              <a:ext uri="{FF2B5EF4-FFF2-40B4-BE49-F238E27FC236}">
                <a16:creationId xmlns:a16="http://schemas.microsoft.com/office/drawing/2014/main" id="{6661DAEB-13B8-B7F7-87BC-D96EB2D99FE6}"/>
              </a:ext>
            </a:extLst>
          </p:cNvPr>
          <p:cNvGrpSpPr/>
          <p:nvPr/>
        </p:nvGrpSpPr>
        <p:grpSpPr>
          <a:xfrm>
            <a:off x="4845050" y="2005584"/>
            <a:ext cx="5562600" cy="152400"/>
            <a:chOff x="4845050" y="1981200"/>
            <a:chExt cx="5562600" cy="152400"/>
          </a:xfrm>
        </p:grpSpPr>
        <p:pic>
          <p:nvPicPr>
            <p:cNvPr id="49" name="object 47">
              <a:extLst>
                <a:ext uri="{FF2B5EF4-FFF2-40B4-BE49-F238E27FC236}">
                  <a16:creationId xmlns:a16="http://schemas.microsoft.com/office/drawing/2014/main" id="{B123F305-3480-0BB7-900E-EA15D07A55F4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845050" y="1981200"/>
              <a:ext cx="228600" cy="152400"/>
            </a:xfrm>
            <a:prstGeom prst="rect">
              <a:avLst/>
            </a:prstGeom>
          </p:spPr>
        </p:pic>
        <p:pic>
          <p:nvPicPr>
            <p:cNvPr id="50" name="object 48">
              <a:extLst>
                <a:ext uri="{FF2B5EF4-FFF2-40B4-BE49-F238E27FC236}">
                  <a16:creationId xmlns:a16="http://schemas.microsoft.com/office/drawing/2014/main" id="{17BCFD48-243E-A134-612F-68749BB0A755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607050" y="1981200"/>
              <a:ext cx="228600" cy="152400"/>
            </a:xfrm>
            <a:prstGeom prst="rect">
              <a:avLst/>
            </a:prstGeom>
          </p:spPr>
        </p:pic>
        <p:pic>
          <p:nvPicPr>
            <p:cNvPr id="51" name="object 49">
              <a:extLst>
                <a:ext uri="{FF2B5EF4-FFF2-40B4-BE49-F238E27FC236}">
                  <a16:creationId xmlns:a16="http://schemas.microsoft.com/office/drawing/2014/main" id="{D6F77B1C-29CB-31BD-09EF-711B5831AA9C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369050" y="1981200"/>
              <a:ext cx="228600" cy="152400"/>
            </a:xfrm>
            <a:prstGeom prst="rect">
              <a:avLst/>
            </a:prstGeom>
          </p:spPr>
        </p:pic>
        <p:pic>
          <p:nvPicPr>
            <p:cNvPr id="52" name="object 50">
              <a:extLst>
                <a:ext uri="{FF2B5EF4-FFF2-40B4-BE49-F238E27FC236}">
                  <a16:creationId xmlns:a16="http://schemas.microsoft.com/office/drawing/2014/main" id="{9DD0A074-164C-7D20-83AD-FFD3C8D3678A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131050" y="1981200"/>
              <a:ext cx="228600" cy="152400"/>
            </a:xfrm>
            <a:prstGeom prst="rect">
              <a:avLst/>
            </a:prstGeom>
          </p:spPr>
        </p:pic>
        <p:pic>
          <p:nvPicPr>
            <p:cNvPr id="53" name="object 51">
              <a:extLst>
                <a:ext uri="{FF2B5EF4-FFF2-40B4-BE49-F238E27FC236}">
                  <a16:creationId xmlns:a16="http://schemas.microsoft.com/office/drawing/2014/main" id="{B14A0C7B-F5CB-151E-563B-3B37654101E7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93050" y="1981200"/>
              <a:ext cx="228600" cy="152400"/>
            </a:xfrm>
            <a:prstGeom prst="rect">
              <a:avLst/>
            </a:prstGeom>
          </p:spPr>
        </p:pic>
        <p:pic>
          <p:nvPicPr>
            <p:cNvPr id="54" name="object 52">
              <a:extLst>
                <a:ext uri="{FF2B5EF4-FFF2-40B4-BE49-F238E27FC236}">
                  <a16:creationId xmlns:a16="http://schemas.microsoft.com/office/drawing/2014/main" id="{7BEE0032-68C4-B0F5-0914-84218FA0B225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55050" y="1981200"/>
              <a:ext cx="228600" cy="152400"/>
            </a:xfrm>
            <a:prstGeom prst="rect">
              <a:avLst/>
            </a:prstGeom>
          </p:spPr>
        </p:pic>
        <p:pic>
          <p:nvPicPr>
            <p:cNvPr id="55" name="object 53">
              <a:extLst>
                <a:ext uri="{FF2B5EF4-FFF2-40B4-BE49-F238E27FC236}">
                  <a16:creationId xmlns:a16="http://schemas.microsoft.com/office/drawing/2014/main" id="{D0464D63-E8B4-4A55-5AC2-67D73412EE42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417050" y="1981200"/>
              <a:ext cx="228600" cy="152400"/>
            </a:xfrm>
            <a:prstGeom prst="rect">
              <a:avLst/>
            </a:prstGeom>
          </p:spPr>
        </p:pic>
        <p:pic>
          <p:nvPicPr>
            <p:cNvPr id="56" name="object 54">
              <a:extLst>
                <a:ext uri="{FF2B5EF4-FFF2-40B4-BE49-F238E27FC236}">
                  <a16:creationId xmlns:a16="http://schemas.microsoft.com/office/drawing/2014/main" id="{2A3EC8E6-8716-EA87-3C42-711A8313BC9F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179050" y="1981200"/>
              <a:ext cx="228600" cy="152400"/>
            </a:xfrm>
            <a:prstGeom prst="rect">
              <a:avLst/>
            </a:prstGeom>
          </p:spPr>
        </p:pic>
      </p:grpSp>
      <p:grpSp>
        <p:nvGrpSpPr>
          <p:cNvPr id="57" name="object 55">
            <a:extLst>
              <a:ext uri="{FF2B5EF4-FFF2-40B4-BE49-F238E27FC236}">
                <a16:creationId xmlns:a16="http://schemas.microsoft.com/office/drawing/2014/main" id="{CED460A6-46B5-88A5-34B5-96DE03B307EC}"/>
              </a:ext>
            </a:extLst>
          </p:cNvPr>
          <p:cNvGrpSpPr/>
          <p:nvPr/>
        </p:nvGrpSpPr>
        <p:grpSpPr>
          <a:xfrm>
            <a:off x="4191000" y="2615184"/>
            <a:ext cx="6216650" cy="606425"/>
            <a:chOff x="4191000" y="2590800"/>
            <a:chExt cx="6216650" cy="606425"/>
          </a:xfrm>
        </p:grpSpPr>
        <p:sp>
          <p:nvSpPr>
            <p:cNvPr id="58" name="object 56">
              <a:extLst>
                <a:ext uri="{FF2B5EF4-FFF2-40B4-BE49-F238E27FC236}">
                  <a16:creationId xmlns:a16="http://schemas.microsoft.com/office/drawing/2014/main" id="{1068020A-37FD-9779-B510-6A96C0AB4C46}"/>
                </a:ext>
              </a:extLst>
            </p:cNvPr>
            <p:cNvSpPr/>
            <p:nvPr/>
          </p:nvSpPr>
          <p:spPr>
            <a:xfrm>
              <a:off x="5716650" y="2590800"/>
              <a:ext cx="3075305" cy="606425"/>
            </a:xfrm>
            <a:custGeom>
              <a:avLst/>
              <a:gdLst/>
              <a:ahLst/>
              <a:cxnLst/>
              <a:rect l="l" t="t" r="r" b="b"/>
              <a:pathLst>
                <a:path w="3075304" h="606425">
                  <a:moveTo>
                    <a:pt x="0" y="0"/>
                  </a:moveTo>
                  <a:lnTo>
                    <a:pt x="0" y="606425"/>
                  </a:lnTo>
                </a:path>
                <a:path w="3075304" h="606425">
                  <a:moveTo>
                    <a:pt x="2284349" y="0"/>
                  </a:moveTo>
                  <a:lnTo>
                    <a:pt x="2284349" y="606425"/>
                  </a:lnTo>
                </a:path>
                <a:path w="3075304" h="606425">
                  <a:moveTo>
                    <a:pt x="3074924" y="0"/>
                  </a:moveTo>
                  <a:lnTo>
                    <a:pt x="3074924" y="606425"/>
                  </a:lnTo>
                </a:path>
              </a:pathLst>
            </a:custGeom>
            <a:ln w="5080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7">
              <a:extLst>
                <a:ext uri="{FF2B5EF4-FFF2-40B4-BE49-F238E27FC236}">
                  <a16:creationId xmlns:a16="http://schemas.microsoft.com/office/drawing/2014/main" id="{A5C81D98-7E5D-AA00-AA41-9B3FF8B02128}"/>
                </a:ext>
              </a:extLst>
            </p:cNvPr>
            <p:cNvSpPr/>
            <p:nvPr/>
          </p:nvSpPr>
          <p:spPr>
            <a:xfrm>
              <a:off x="4191000" y="2895600"/>
              <a:ext cx="6216650" cy="0"/>
            </a:xfrm>
            <a:custGeom>
              <a:avLst/>
              <a:gdLst/>
              <a:ahLst/>
              <a:cxnLst/>
              <a:rect l="l" t="t" r="r" b="b"/>
              <a:pathLst>
                <a:path w="6216650">
                  <a:moveTo>
                    <a:pt x="0" y="0"/>
                  </a:moveTo>
                  <a:lnTo>
                    <a:pt x="6216650" y="0"/>
                  </a:lnTo>
                </a:path>
              </a:pathLst>
            </a:custGeom>
            <a:ln w="508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58">
            <a:extLst>
              <a:ext uri="{FF2B5EF4-FFF2-40B4-BE49-F238E27FC236}">
                <a16:creationId xmlns:a16="http://schemas.microsoft.com/office/drawing/2014/main" id="{3E2A47B5-7FF4-D309-7D5E-D355C780DCE7}"/>
              </a:ext>
            </a:extLst>
          </p:cNvPr>
          <p:cNvSpPr txBox="1"/>
          <p:nvPr/>
        </p:nvSpPr>
        <p:spPr>
          <a:xfrm>
            <a:off x="1350326" y="3224785"/>
            <a:ext cx="8881745" cy="3126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21000">
              <a:lnSpc>
                <a:spcPts val="2755"/>
              </a:lnSpc>
              <a:spcBef>
                <a:spcPts val="100"/>
              </a:spcBef>
            </a:pPr>
            <a:r>
              <a:rPr sz="2400" spc="-5" dirty="0">
                <a:latin typeface="Cambria"/>
                <a:cs typeface="Cambria"/>
              </a:rPr>
              <a:t>immediate’</a:t>
            </a:r>
            <a:endParaRPr sz="2400" dirty="0">
              <a:latin typeface="Cambria"/>
              <a:cs typeface="Cambria"/>
            </a:endParaRPr>
          </a:p>
          <a:p>
            <a:pPr marL="15875">
              <a:lnSpc>
                <a:spcPts val="3235"/>
              </a:lnSpc>
            </a:pPr>
            <a:r>
              <a:rPr sz="2800" spc="-5" dirty="0">
                <a:latin typeface="Cambria"/>
                <a:cs typeface="Cambria"/>
              </a:rPr>
              <a:t>Intuition:</a:t>
            </a:r>
            <a:r>
              <a:rPr sz="2800" spc="1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New</a:t>
            </a:r>
            <a:r>
              <a:rPr sz="2800" spc="-1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cache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block</a:t>
            </a:r>
            <a:r>
              <a:rPr sz="2800" spc="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will</a:t>
            </a:r>
            <a:r>
              <a:rPr sz="2800" spc="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not</a:t>
            </a:r>
            <a:r>
              <a:rPr sz="2800" spc="1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be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15" dirty="0">
                <a:latin typeface="Cambria"/>
                <a:cs typeface="Cambria"/>
              </a:rPr>
              <a:t>re-referenced</a:t>
            </a:r>
            <a:r>
              <a:rPr sz="2800" spc="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soon.</a:t>
            </a:r>
            <a:endParaRPr sz="2800" dirty="0">
              <a:latin typeface="Cambria"/>
              <a:cs typeface="Cambria"/>
            </a:endParaRPr>
          </a:p>
          <a:p>
            <a:pPr marL="15875">
              <a:lnSpc>
                <a:spcPct val="100000"/>
              </a:lnSpc>
            </a:pPr>
            <a:r>
              <a:rPr sz="2800" spc="-10" dirty="0">
                <a:latin typeface="Cambria"/>
                <a:cs typeface="Cambria"/>
              </a:rPr>
              <a:t>Replaces</a:t>
            </a:r>
            <a:r>
              <a:rPr sz="2800" spc="-3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block with</a:t>
            </a:r>
            <a:r>
              <a:rPr sz="2800" spc="-1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distant</a:t>
            </a:r>
            <a:r>
              <a:rPr sz="2800" spc="-15" dirty="0">
                <a:latin typeface="Cambria"/>
                <a:cs typeface="Cambria"/>
              </a:rPr>
              <a:t> </a:t>
            </a:r>
            <a:r>
              <a:rPr sz="2800" spc="-65" dirty="0">
                <a:latin typeface="Cambria"/>
                <a:cs typeface="Cambria"/>
              </a:rPr>
              <a:t>RRPV.</a:t>
            </a:r>
            <a:endParaRPr sz="2800" dirty="0">
              <a:latin typeface="Cambria"/>
              <a:cs typeface="Cambria"/>
            </a:endParaRPr>
          </a:p>
          <a:p>
            <a:pPr marL="12700" marR="2858135">
              <a:lnSpc>
                <a:spcPct val="100000"/>
              </a:lnSpc>
              <a:spcBef>
                <a:spcPts val="180"/>
              </a:spcBef>
            </a:pPr>
            <a:r>
              <a:rPr sz="2800" spc="-10" dirty="0">
                <a:latin typeface="Cambria"/>
                <a:cs typeface="Cambria"/>
              </a:rPr>
              <a:t>Insert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with</a:t>
            </a:r>
            <a:r>
              <a:rPr sz="2800" spc="-5" dirty="0">
                <a:latin typeface="Cambria"/>
                <a:cs typeface="Cambria"/>
              </a:rPr>
              <a:t> RRPV=2, </a:t>
            </a:r>
            <a:r>
              <a:rPr sz="2800" spc="-15" dirty="0">
                <a:latin typeface="Cambria"/>
                <a:cs typeface="Cambria"/>
              </a:rPr>
              <a:t>Evict</a:t>
            </a:r>
            <a:r>
              <a:rPr sz="2800" spc="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with</a:t>
            </a:r>
            <a:r>
              <a:rPr sz="2800" spc="-5" dirty="0">
                <a:latin typeface="Cambria"/>
                <a:cs typeface="Cambria"/>
              </a:rPr>
              <a:t> RRPV=3 </a:t>
            </a:r>
            <a:r>
              <a:rPr sz="2800" spc="-600" dirty="0">
                <a:latin typeface="Cambria"/>
                <a:cs typeface="Cambria"/>
              </a:rPr>
              <a:t> </a:t>
            </a:r>
            <a:r>
              <a:rPr sz="2800" spc="-15" dirty="0">
                <a:latin typeface="Cambria"/>
                <a:cs typeface="Cambria"/>
              </a:rPr>
              <a:t>promote</a:t>
            </a:r>
            <a:r>
              <a:rPr sz="2800" spc="-10" dirty="0">
                <a:latin typeface="Cambria"/>
                <a:cs typeface="Cambria"/>
              </a:rPr>
              <a:t> blocks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with</a:t>
            </a:r>
            <a:r>
              <a:rPr sz="2800" spc="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RRPV=0.</a:t>
            </a:r>
            <a:endParaRPr sz="2800" dirty="0">
              <a:latin typeface="Cambria"/>
              <a:cs typeface="Cambria"/>
            </a:endParaRPr>
          </a:p>
          <a:p>
            <a:pPr marL="24130" marR="5080">
              <a:lnSpc>
                <a:spcPct val="100000"/>
              </a:lnSpc>
              <a:spcBef>
                <a:spcPts val="1445"/>
              </a:spcBef>
            </a:pPr>
            <a:r>
              <a:rPr sz="2800" spc="-5" dirty="0">
                <a:latin typeface="Cambria"/>
                <a:cs typeface="Cambria"/>
              </a:rPr>
              <a:t>Static</a:t>
            </a:r>
            <a:r>
              <a:rPr sz="2800" spc="-1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RRIP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(Single</a:t>
            </a:r>
            <a:r>
              <a:rPr sz="2800" spc="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core)</a:t>
            </a:r>
            <a:r>
              <a:rPr sz="2800" spc="1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and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25" dirty="0">
                <a:latin typeface="Cambria"/>
                <a:cs typeface="Cambria"/>
              </a:rPr>
              <a:t>Thread-Aware</a:t>
            </a:r>
            <a:r>
              <a:rPr sz="2800" spc="1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Dynamic</a:t>
            </a:r>
            <a:r>
              <a:rPr sz="2800" spc="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RRIP </a:t>
            </a:r>
            <a:r>
              <a:rPr sz="2800" spc="-600" dirty="0">
                <a:latin typeface="Cambria"/>
                <a:cs typeface="Cambria"/>
              </a:rPr>
              <a:t> </a:t>
            </a:r>
            <a:r>
              <a:rPr sz="2800" spc="-35" dirty="0">
                <a:latin typeface="Cambria"/>
                <a:cs typeface="Cambria"/>
              </a:rPr>
              <a:t>(SRRIP+BRRIP,</a:t>
            </a:r>
            <a:r>
              <a:rPr sz="2800" spc="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multi-core,</a:t>
            </a:r>
            <a:r>
              <a:rPr sz="2800" spc="1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based</a:t>
            </a:r>
            <a:r>
              <a:rPr sz="2800" spc="-2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on </a:t>
            </a:r>
            <a:r>
              <a:rPr sz="2800" spc="-10" dirty="0">
                <a:latin typeface="Cambria"/>
                <a:cs typeface="Cambria"/>
              </a:rPr>
              <a:t>SDMs).</a:t>
            </a:r>
            <a:endParaRPr sz="2800" dirty="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3938867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DC4E0-FD92-91D7-D6F3-03B284662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2-bit state machine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716C4A-E145-4634-36A4-4F497BB44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ACBFF9-5191-A216-EACD-0421E47C2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13</a:t>
            </a:fld>
            <a:endParaRPr lang="en-IN" dirty="0"/>
          </a:p>
        </p:txBody>
      </p:sp>
      <p:pic>
        <p:nvPicPr>
          <p:cNvPr id="6" name="object 3">
            <a:extLst>
              <a:ext uri="{FF2B5EF4-FFF2-40B4-BE49-F238E27FC236}">
                <a16:creationId xmlns:a16="http://schemas.microsoft.com/office/drawing/2014/main" id="{1AFB0186-90B4-25D8-41F6-C0665C51E03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9525" y="1976627"/>
            <a:ext cx="11871198" cy="2820924"/>
          </a:xfrm>
          <a:prstGeom prst="rect">
            <a:avLst/>
          </a:prstGeom>
        </p:spPr>
      </p:pic>
      <p:sp>
        <p:nvSpPr>
          <p:cNvPr id="7" name="object 4">
            <a:extLst>
              <a:ext uri="{FF2B5EF4-FFF2-40B4-BE49-F238E27FC236}">
                <a16:creationId xmlns:a16="http://schemas.microsoft.com/office/drawing/2014/main" id="{056059B8-E6C9-3522-DE64-66EC9FD254A2}"/>
              </a:ext>
            </a:extLst>
          </p:cNvPr>
          <p:cNvSpPr txBox="1"/>
          <p:nvPr/>
        </p:nvSpPr>
        <p:spPr>
          <a:xfrm>
            <a:off x="406704" y="3174238"/>
            <a:ext cx="93916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mbria"/>
                <a:cs typeface="Cambria"/>
              </a:rPr>
              <a:t>0</a:t>
            </a:r>
            <a:endParaRPr sz="2400">
              <a:latin typeface="Cambria"/>
              <a:cs typeface="Cambria"/>
            </a:endParaRPr>
          </a:p>
          <a:p>
            <a:pPr marL="12700" marR="5080" algn="ctr">
              <a:lnSpc>
                <a:spcPct val="100000"/>
              </a:lnSpc>
            </a:pPr>
            <a:r>
              <a:rPr sz="2400" b="1" dirty="0">
                <a:latin typeface="Cambria"/>
                <a:cs typeface="Cambria"/>
              </a:rPr>
              <a:t>Imm</a:t>
            </a:r>
            <a:r>
              <a:rPr sz="2400" b="1" spc="-5" dirty="0">
                <a:latin typeface="Cambria"/>
                <a:cs typeface="Cambria"/>
              </a:rPr>
              <a:t>e</a:t>
            </a:r>
            <a:r>
              <a:rPr sz="2400" b="1" dirty="0">
                <a:latin typeface="Cambria"/>
                <a:cs typeface="Cambria"/>
              </a:rPr>
              <a:t>-  </a:t>
            </a:r>
            <a:r>
              <a:rPr sz="2400" b="1" spc="-15" dirty="0">
                <a:latin typeface="Cambria"/>
                <a:cs typeface="Cambria"/>
              </a:rPr>
              <a:t>diate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5630E1E7-2D5D-DF2D-9DDF-0C49B4DC11D4}"/>
              </a:ext>
            </a:extLst>
          </p:cNvPr>
          <p:cNvSpPr txBox="1"/>
          <p:nvPr/>
        </p:nvSpPr>
        <p:spPr>
          <a:xfrm>
            <a:off x="3947286" y="3174238"/>
            <a:ext cx="116713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mbria"/>
                <a:cs typeface="Cambria"/>
              </a:rPr>
              <a:t>1</a:t>
            </a:r>
            <a:endParaRPr sz="2400">
              <a:latin typeface="Cambria"/>
              <a:cs typeface="Cambria"/>
            </a:endParaRPr>
          </a:p>
          <a:p>
            <a:pPr marL="12065" marR="5080" indent="1905" algn="ctr">
              <a:lnSpc>
                <a:spcPct val="100000"/>
              </a:lnSpc>
            </a:pPr>
            <a:r>
              <a:rPr sz="2400" b="1" spc="-10" dirty="0">
                <a:latin typeface="Cambria"/>
                <a:cs typeface="Cambria"/>
              </a:rPr>
              <a:t>Inter- </a:t>
            </a:r>
            <a:r>
              <a:rPr sz="2400" b="1" spc="-5" dirty="0">
                <a:latin typeface="Cambria"/>
                <a:cs typeface="Cambria"/>
              </a:rPr>
              <a:t> me</a:t>
            </a:r>
            <a:r>
              <a:rPr sz="2400" b="1" spc="-15" dirty="0">
                <a:latin typeface="Cambria"/>
                <a:cs typeface="Cambria"/>
              </a:rPr>
              <a:t>d</a:t>
            </a:r>
            <a:r>
              <a:rPr sz="2400" b="1" spc="-5" dirty="0">
                <a:latin typeface="Cambria"/>
                <a:cs typeface="Cambria"/>
              </a:rPr>
              <a:t>ia</a:t>
            </a:r>
            <a:r>
              <a:rPr sz="2400" b="1" spc="-40" dirty="0">
                <a:latin typeface="Cambria"/>
                <a:cs typeface="Cambria"/>
              </a:rPr>
              <a:t>t</a:t>
            </a:r>
            <a:r>
              <a:rPr sz="2400" b="1" dirty="0">
                <a:latin typeface="Cambria"/>
                <a:cs typeface="Cambria"/>
              </a:rPr>
              <a:t>e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40B1C257-1D9F-BA83-FDD6-F8CD7810B0D8}"/>
              </a:ext>
            </a:extLst>
          </p:cNvPr>
          <p:cNvSpPr txBox="1"/>
          <p:nvPr/>
        </p:nvSpPr>
        <p:spPr>
          <a:xfrm>
            <a:off x="9963150" y="3357117"/>
            <a:ext cx="101282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mbria"/>
                <a:cs typeface="Cambria"/>
              </a:rPr>
              <a:t>3</a:t>
            </a:r>
            <a:endParaRPr sz="24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</a:pPr>
            <a:r>
              <a:rPr sz="2400" b="1" spc="-5" dirty="0">
                <a:latin typeface="Cambria"/>
                <a:cs typeface="Cambria"/>
              </a:rPr>
              <a:t>distant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1CD24B72-B80F-6973-779D-315A25FE26FD}"/>
              </a:ext>
            </a:extLst>
          </p:cNvPr>
          <p:cNvSpPr txBox="1"/>
          <p:nvPr/>
        </p:nvSpPr>
        <p:spPr>
          <a:xfrm>
            <a:off x="2071242" y="4745863"/>
            <a:ext cx="17056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spc="-10" dirty="0">
                <a:latin typeface="Cambria"/>
                <a:cs typeface="Cambria"/>
              </a:rPr>
              <a:t>re-reference</a:t>
            </a:r>
            <a:endParaRPr sz="2400" dirty="0">
              <a:latin typeface="Cambria"/>
              <a:cs typeface="Cambria"/>
            </a:endParaRPr>
          </a:p>
        </p:txBody>
      </p:sp>
      <p:sp>
        <p:nvSpPr>
          <p:cNvPr id="11" name="object 8">
            <a:extLst>
              <a:ext uri="{FF2B5EF4-FFF2-40B4-BE49-F238E27FC236}">
                <a16:creationId xmlns:a16="http://schemas.microsoft.com/office/drawing/2014/main" id="{E61BDCE5-8127-8D36-239D-B5B05670EA9B}"/>
              </a:ext>
            </a:extLst>
          </p:cNvPr>
          <p:cNvSpPr txBox="1"/>
          <p:nvPr/>
        </p:nvSpPr>
        <p:spPr>
          <a:xfrm>
            <a:off x="2147442" y="3398646"/>
            <a:ext cx="87249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3876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ambria"/>
                <a:cs typeface="Cambria"/>
              </a:rPr>
              <a:t>No </a:t>
            </a:r>
            <a:r>
              <a:rPr sz="2400" dirty="0">
                <a:latin typeface="Cambria"/>
                <a:cs typeface="Cambria"/>
              </a:rPr>
              <a:t> Vict</a:t>
            </a:r>
            <a:r>
              <a:rPr sz="2400" spc="5" dirty="0">
                <a:latin typeface="Cambria"/>
                <a:cs typeface="Cambria"/>
              </a:rPr>
              <a:t>i</a:t>
            </a:r>
            <a:r>
              <a:rPr sz="2400" dirty="0">
                <a:latin typeface="Cambria"/>
                <a:cs typeface="Cambria"/>
              </a:rPr>
              <a:t>m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12" name="object 9">
            <a:extLst>
              <a:ext uri="{FF2B5EF4-FFF2-40B4-BE49-F238E27FC236}">
                <a16:creationId xmlns:a16="http://schemas.microsoft.com/office/drawing/2014/main" id="{4BE88326-0428-31CF-7047-FE364CCF5C85}"/>
              </a:ext>
            </a:extLst>
          </p:cNvPr>
          <p:cNvSpPr txBox="1"/>
          <p:nvPr/>
        </p:nvSpPr>
        <p:spPr>
          <a:xfrm>
            <a:off x="4385309" y="2347354"/>
            <a:ext cx="17062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spc="-10" dirty="0">
                <a:latin typeface="Cambria"/>
                <a:cs typeface="Cambria"/>
              </a:rPr>
              <a:t>re-reference</a:t>
            </a:r>
            <a:endParaRPr sz="2400" dirty="0">
              <a:latin typeface="Cambria"/>
              <a:cs typeface="Cambria"/>
            </a:endParaRPr>
          </a:p>
        </p:txBody>
      </p:sp>
      <p:sp>
        <p:nvSpPr>
          <p:cNvPr id="13" name="object 10">
            <a:extLst>
              <a:ext uri="{FF2B5EF4-FFF2-40B4-BE49-F238E27FC236}">
                <a16:creationId xmlns:a16="http://schemas.microsoft.com/office/drawing/2014/main" id="{74093CBB-47FB-D13A-2D4B-50A0E9A183CC}"/>
              </a:ext>
            </a:extLst>
          </p:cNvPr>
          <p:cNvSpPr txBox="1"/>
          <p:nvPr/>
        </p:nvSpPr>
        <p:spPr>
          <a:xfrm>
            <a:off x="10731245" y="4602860"/>
            <a:ext cx="11480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40" dirty="0">
                <a:latin typeface="Cambria"/>
                <a:cs typeface="Cambria"/>
              </a:rPr>
              <a:t>e</a:t>
            </a:r>
            <a:r>
              <a:rPr sz="2400" b="1" dirty="0">
                <a:latin typeface="Cambria"/>
                <a:cs typeface="Cambria"/>
              </a:rPr>
              <a:t>viction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14" name="object 11">
            <a:extLst>
              <a:ext uri="{FF2B5EF4-FFF2-40B4-BE49-F238E27FC236}">
                <a16:creationId xmlns:a16="http://schemas.microsoft.com/office/drawing/2014/main" id="{B46785AE-19BA-7287-419E-907B27136656}"/>
              </a:ext>
            </a:extLst>
          </p:cNvPr>
          <p:cNvSpPr txBox="1"/>
          <p:nvPr/>
        </p:nvSpPr>
        <p:spPr>
          <a:xfrm>
            <a:off x="4385309" y="4745863"/>
            <a:ext cx="17062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spc="-10" dirty="0">
                <a:latin typeface="Cambria"/>
                <a:cs typeface="Cambria"/>
              </a:rPr>
              <a:t>re-reference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15" name="object 12">
            <a:extLst>
              <a:ext uri="{FF2B5EF4-FFF2-40B4-BE49-F238E27FC236}">
                <a16:creationId xmlns:a16="http://schemas.microsoft.com/office/drawing/2014/main" id="{F7FD91BD-0B35-D695-F157-38FD767C2CE5}"/>
              </a:ext>
            </a:extLst>
          </p:cNvPr>
          <p:cNvSpPr txBox="1"/>
          <p:nvPr/>
        </p:nvSpPr>
        <p:spPr>
          <a:xfrm>
            <a:off x="5989701" y="3366261"/>
            <a:ext cx="182054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7804">
              <a:lnSpc>
                <a:spcPct val="100000"/>
              </a:lnSpc>
              <a:spcBef>
                <a:spcPts val="100"/>
              </a:spcBef>
              <a:tabLst>
                <a:tab pos="1515745" algn="l"/>
              </a:tabLst>
            </a:pPr>
            <a:r>
              <a:rPr sz="2400" spc="-5" dirty="0">
                <a:latin typeface="Cambria"/>
                <a:cs typeface="Cambria"/>
              </a:rPr>
              <a:t>No	</a:t>
            </a:r>
            <a:r>
              <a:rPr sz="3600" b="1" baseline="1157" dirty="0">
                <a:latin typeface="Cambria"/>
                <a:cs typeface="Cambria"/>
              </a:rPr>
              <a:t>2</a:t>
            </a:r>
            <a:endParaRPr sz="3600" baseline="1157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tabLst>
                <a:tab pos="1404620" algn="l"/>
              </a:tabLst>
            </a:pPr>
            <a:r>
              <a:rPr sz="2400" dirty="0">
                <a:latin typeface="Cambria"/>
                <a:cs typeface="Cambria"/>
              </a:rPr>
              <a:t>V</a:t>
            </a:r>
            <a:r>
              <a:rPr sz="2400" spc="5" dirty="0">
                <a:latin typeface="Cambria"/>
                <a:cs typeface="Cambria"/>
              </a:rPr>
              <a:t>i</a:t>
            </a:r>
            <a:r>
              <a:rPr sz="2400" dirty="0">
                <a:latin typeface="Cambria"/>
                <a:cs typeface="Cambria"/>
              </a:rPr>
              <a:t>ctim	</a:t>
            </a:r>
            <a:r>
              <a:rPr sz="3600" b="1" spc="-7" baseline="1157" dirty="0">
                <a:latin typeface="Cambria"/>
                <a:cs typeface="Cambria"/>
              </a:rPr>
              <a:t>far</a:t>
            </a:r>
            <a:endParaRPr sz="3600" baseline="1157" dirty="0">
              <a:latin typeface="Cambria"/>
              <a:cs typeface="Cambria"/>
            </a:endParaRPr>
          </a:p>
        </p:txBody>
      </p:sp>
      <p:sp>
        <p:nvSpPr>
          <p:cNvPr id="16" name="object 13">
            <a:extLst>
              <a:ext uri="{FF2B5EF4-FFF2-40B4-BE49-F238E27FC236}">
                <a16:creationId xmlns:a16="http://schemas.microsoft.com/office/drawing/2014/main" id="{DA2892B0-645A-10F7-42CF-57E2B00DCC41}"/>
              </a:ext>
            </a:extLst>
          </p:cNvPr>
          <p:cNvSpPr txBox="1"/>
          <p:nvPr/>
        </p:nvSpPr>
        <p:spPr>
          <a:xfrm>
            <a:off x="8511667" y="3366261"/>
            <a:ext cx="871219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03835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ambria"/>
                <a:cs typeface="Cambria"/>
              </a:rPr>
              <a:t>No </a:t>
            </a:r>
            <a:r>
              <a:rPr sz="2400" dirty="0">
                <a:latin typeface="Cambria"/>
                <a:cs typeface="Cambria"/>
              </a:rPr>
              <a:t> V</a:t>
            </a:r>
            <a:r>
              <a:rPr sz="2400" spc="5" dirty="0">
                <a:latin typeface="Cambria"/>
                <a:cs typeface="Cambria"/>
              </a:rPr>
              <a:t>i</a:t>
            </a:r>
            <a:r>
              <a:rPr sz="2400" dirty="0">
                <a:latin typeface="Cambria"/>
                <a:cs typeface="Cambria"/>
              </a:rPr>
              <a:t>ctim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17" name="object 14">
            <a:extLst>
              <a:ext uri="{FF2B5EF4-FFF2-40B4-BE49-F238E27FC236}">
                <a16:creationId xmlns:a16="http://schemas.microsoft.com/office/drawing/2014/main" id="{6A5BD03E-D3E7-2732-C729-73433FC070A2}"/>
              </a:ext>
            </a:extLst>
          </p:cNvPr>
          <p:cNvSpPr txBox="1"/>
          <p:nvPr/>
        </p:nvSpPr>
        <p:spPr>
          <a:xfrm>
            <a:off x="6755383" y="962101"/>
            <a:ext cx="1880870" cy="1035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i="1" spc="-5" dirty="0">
                <a:solidFill>
                  <a:srgbClr val="C00000"/>
                </a:solidFill>
                <a:latin typeface="Cambria"/>
                <a:cs typeface="Cambria"/>
              </a:rPr>
              <a:t>(SRRIP)</a:t>
            </a:r>
            <a:endParaRPr sz="2400">
              <a:latin typeface="Cambria"/>
              <a:cs typeface="Cambria"/>
            </a:endParaRPr>
          </a:p>
          <a:p>
            <a:pPr algn="ctr">
              <a:lnSpc>
                <a:spcPts val="2530"/>
              </a:lnSpc>
            </a:pPr>
            <a:r>
              <a:rPr sz="2400" i="1" spc="-10" dirty="0">
                <a:solidFill>
                  <a:srgbClr val="C00000"/>
                </a:solidFill>
                <a:latin typeface="Cambria"/>
                <a:cs typeface="Cambria"/>
              </a:rPr>
              <a:t>Scan-Resistant</a:t>
            </a:r>
            <a:endParaRPr sz="2400">
              <a:latin typeface="Cambria"/>
              <a:cs typeface="Cambria"/>
            </a:endParaRPr>
          </a:p>
          <a:p>
            <a:pPr marL="68580" algn="ctr">
              <a:lnSpc>
                <a:spcPts val="2530"/>
              </a:lnSpc>
            </a:pPr>
            <a:r>
              <a:rPr sz="2400" b="1" i="1" spc="-5" dirty="0">
                <a:latin typeface="Cambria"/>
                <a:cs typeface="Cambria"/>
              </a:rPr>
              <a:t>insertion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18" name="object 15">
            <a:extLst>
              <a:ext uri="{FF2B5EF4-FFF2-40B4-BE49-F238E27FC236}">
                <a16:creationId xmlns:a16="http://schemas.microsoft.com/office/drawing/2014/main" id="{5A852747-7F61-917D-067E-83ECA93E0BF7}"/>
              </a:ext>
            </a:extLst>
          </p:cNvPr>
          <p:cNvSpPr txBox="1"/>
          <p:nvPr/>
        </p:nvSpPr>
        <p:spPr>
          <a:xfrm>
            <a:off x="9231883" y="962101"/>
            <a:ext cx="2176780" cy="1008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solidFill>
                  <a:srgbClr val="C00000"/>
                </a:solidFill>
                <a:latin typeface="Cambria"/>
                <a:cs typeface="Cambria"/>
              </a:rPr>
              <a:t>(</a:t>
            </a:r>
            <a:r>
              <a:rPr sz="2400" i="1" spc="-3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i="1" spc="-5" dirty="0">
                <a:solidFill>
                  <a:srgbClr val="C00000"/>
                </a:solidFill>
                <a:latin typeface="Cambria"/>
                <a:cs typeface="Cambria"/>
              </a:rPr>
              <a:t>BRRIP</a:t>
            </a:r>
            <a:r>
              <a:rPr sz="2400" i="1" spc="-3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i="1" dirty="0">
                <a:solidFill>
                  <a:srgbClr val="C00000"/>
                </a:solidFill>
                <a:latin typeface="Cambria"/>
                <a:cs typeface="Cambria"/>
              </a:rPr>
              <a:t>)</a:t>
            </a:r>
            <a:endParaRPr sz="2400">
              <a:latin typeface="Cambria"/>
              <a:cs typeface="Cambria"/>
            </a:endParaRPr>
          </a:p>
          <a:p>
            <a:pPr algn="ctr">
              <a:lnSpc>
                <a:spcPts val="2430"/>
              </a:lnSpc>
            </a:pPr>
            <a:r>
              <a:rPr sz="2400" i="1" spc="-10" dirty="0">
                <a:solidFill>
                  <a:srgbClr val="C00000"/>
                </a:solidFill>
                <a:latin typeface="Cambria"/>
                <a:cs typeface="Cambria"/>
              </a:rPr>
              <a:t>Thrash-Resistant</a:t>
            </a:r>
            <a:endParaRPr sz="2400">
              <a:latin typeface="Cambria"/>
              <a:cs typeface="Cambria"/>
            </a:endParaRPr>
          </a:p>
          <a:p>
            <a:pPr marL="19685" algn="ctr">
              <a:lnSpc>
                <a:spcPts val="2430"/>
              </a:lnSpc>
            </a:pPr>
            <a:r>
              <a:rPr sz="2400" b="1" i="1" spc="-5" dirty="0">
                <a:latin typeface="Cambria"/>
                <a:cs typeface="Cambria"/>
              </a:rPr>
              <a:t>insertion</a:t>
            </a:r>
            <a:endParaRPr sz="2400">
              <a:latin typeface="Cambria"/>
              <a:cs typeface="Cambria"/>
            </a:endParaRPr>
          </a:p>
        </p:txBody>
      </p:sp>
      <p:grpSp>
        <p:nvGrpSpPr>
          <p:cNvPr id="19" name="object 16">
            <a:extLst>
              <a:ext uri="{FF2B5EF4-FFF2-40B4-BE49-F238E27FC236}">
                <a16:creationId xmlns:a16="http://schemas.microsoft.com/office/drawing/2014/main" id="{E215F411-4C1E-77F9-275F-B7BFD388B11A}"/>
              </a:ext>
            </a:extLst>
          </p:cNvPr>
          <p:cNvGrpSpPr/>
          <p:nvPr/>
        </p:nvGrpSpPr>
        <p:grpSpPr>
          <a:xfrm>
            <a:off x="758475" y="4235069"/>
            <a:ext cx="6929628" cy="437388"/>
            <a:chOff x="720851" y="4248912"/>
            <a:chExt cx="6929628" cy="437388"/>
          </a:xfrm>
        </p:grpSpPr>
        <p:pic>
          <p:nvPicPr>
            <p:cNvPr id="20" name="object 17">
              <a:extLst>
                <a:ext uri="{FF2B5EF4-FFF2-40B4-BE49-F238E27FC236}">
                  <a16:creationId xmlns:a16="http://schemas.microsoft.com/office/drawing/2014/main" id="{4319BC38-E0EF-0B46-B8DE-29A109F8AFB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0851" y="4248912"/>
              <a:ext cx="6929628" cy="437388"/>
            </a:xfrm>
            <a:prstGeom prst="rect">
              <a:avLst/>
            </a:prstGeom>
          </p:spPr>
        </p:pic>
        <p:sp>
          <p:nvSpPr>
            <p:cNvPr id="21" name="object 18">
              <a:extLst>
                <a:ext uri="{FF2B5EF4-FFF2-40B4-BE49-F238E27FC236}">
                  <a16:creationId xmlns:a16="http://schemas.microsoft.com/office/drawing/2014/main" id="{FFD34E65-37BB-07BD-11C7-71CCAA8FC467}"/>
                </a:ext>
              </a:extLst>
            </p:cNvPr>
            <p:cNvSpPr/>
            <p:nvPr/>
          </p:nvSpPr>
          <p:spPr>
            <a:xfrm>
              <a:off x="877125" y="4368038"/>
              <a:ext cx="6731000" cy="244475"/>
            </a:xfrm>
            <a:custGeom>
              <a:avLst/>
              <a:gdLst/>
              <a:ahLst/>
              <a:cxnLst/>
              <a:rect l="l" t="t" r="r" b="b"/>
              <a:pathLst>
                <a:path w="6731000" h="244475">
                  <a:moveTo>
                    <a:pt x="96222" y="39168"/>
                  </a:moveTo>
                  <a:lnTo>
                    <a:pt x="103441" y="41782"/>
                  </a:lnTo>
                  <a:lnTo>
                    <a:pt x="110045" y="44068"/>
                  </a:lnTo>
                  <a:lnTo>
                    <a:pt x="113461" y="51435"/>
                  </a:lnTo>
                  <a:lnTo>
                    <a:pt x="111074" y="58038"/>
                  </a:lnTo>
                  <a:lnTo>
                    <a:pt x="108699" y="64516"/>
                  </a:lnTo>
                  <a:lnTo>
                    <a:pt x="103284" y="67067"/>
                  </a:lnTo>
                  <a:lnTo>
                    <a:pt x="113880" y="69595"/>
                  </a:lnTo>
                  <a:lnTo>
                    <a:pt x="163868" y="80010"/>
                  </a:lnTo>
                  <a:lnTo>
                    <a:pt x="221576" y="90297"/>
                  </a:lnTo>
                  <a:lnTo>
                    <a:pt x="322427" y="105410"/>
                  </a:lnTo>
                  <a:lnTo>
                    <a:pt x="398716" y="115188"/>
                  </a:lnTo>
                  <a:lnTo>
                    <a:pt x="525970" y="129539"/>
                  </a:lnTo>
                  <a:lnTo>
                    <a:pt x="717994" y="147828"/>
                  </a:lnTo>
                  <a:lnTo>
                    <a:pt x="1048956" y="173228"/>
                  </a:lnTo>
                  <a:lnTo>
                    <a:pt x="1424241" y="195580"/>
                  </a:lnTo>
                  <a:lnTo>
                    <a:pt x="1979104" y="219837"/>
                  </a:lnTo>
                  <a:lnTo>
                    <a:pt x="2578163" y="236219"/>
                  </a:lnTo>
                  <a:lnTo>
                    <a:pt x="3359340" y="244220"/>
                  </a:lnTo>
                  <a:lnTo>
                    <a:pt x="4140517" y="236219"/>
                  </a:lnTo>
                  <a:lnTo>
                    <a:pt x="4739576" y="219582"/>
                  </a:lnTo>
                  <a:lnTo>
                    <a:pt x="4759618" y="218820"/>
                  </a:lnTo>
                  <a:lnTo>
                    <a:pt x="3359213" y="218820"/>
                  </a:lnTo>
                  <a:lnTo>
                    <a:pt x="2578544" y="210947"/>
                  </a:lnTo>
                  <a:lnTo>
                    <a:pt x="1979993" y="194437"/>
                  </a:lnTo>
                  <a:lnTo>
                    <a:pt x="1425511" y="170180"/>
                  </a:lnTo>
                  <a:lnTo>
                    <a:pt x="1050607" y="147828"/>
                  </a:lnTo>
                  <a:lnTo>
                    <a:pt x="824801" y="131318"/>
                  </a:lnTo>
                  <a:lnTo>
                    <a:pt x="574103" y="108966"/>
                  </a:lnTo>
                  <a:lnTo>
                    <a:pt x="442277" y="94742"/>
                  </a:lnTo>
                  <a:lnTo>
                    <a:pt x="325716" y="80263"/>
                  </a:lnTo>
                  <a:lnTo>
                    <a:pt x="257060" y="70231"/>
                  </a:lnTo>
                  <a:lnTo>
                    <a:pt x="168427" y="55118"/>
                  </a:lnTo>
                  <a:lnTo>
                    <a:pt x="119354" y="44831"/>
                  </a:lnTo>
                  <a:lnTo>
                    <a:pt x="97942" y="39624"/>
                  </a:lnTo>
                  <a:lnTo>
                    <a:pt x="96222" y="39168"/>
                  </a:lnTo>
                  <a:close/>
                </a:path>
                <a:path w="6731000" h="244475">
                  <a:moveTo>
                    <a:pt x="6699725" y="9043"/>
                  </a:moveTo>
                  <a:lnTo>
                    <a:pt x="6656387" y="28193"/>
                  </a:lnTo>
                  <a:lnTo>
                    <a:pt x="6598983" y="43687"/>
                  </a:lnTo>
                  <a:lnTo>
                    <a:pt x="6549961" y="53975"/>
                  </a:lnTo>
                  <a:lnTo>
                    <a:pt x="6492811" y="64135"/>
                  </a:lnTo>
                  <a:lnTo>
                    <a:pt x="6428041" y="74294"/>
                  </a:lnTo>
                  <a:lnTo>
                    <a:pt x="6355778" y="84200"/>
                  </a:lnTo>
                  <a:lnTo>
                    <a:pt x="6233985" y="98806"/>
                  </a:lnTo>
                  <a:lnTo>
                    <a:pt x="6190043" y="103505"/>
                  </a:lnTo>
                  <a:lnTo>
                    <a:pt x="5998400" y="121919"/>
                  </a:lnTo>
                  <a:lnTo>
                    <a:pt x="5783389" y="139192"/>
                  </a:lnTo>
                  <a:lnTo>
                    <a:pt x="5422455" y="162687"/>
                  </a:lnTo>
                  <a:lnTo>
                    <a:pt x="4882197" y="188849"/>
                  </a:lnTo>
                  <a:lnTo>
                    <a:pt x="4140009" y="210947"/>
                  </a:lnTo>
                  <a:lnTo>
                    <a:pt x="3359213" y="218820"/>
                  </a:lnTo>
                  <a:lnTo>
                    <a:pt x="4759618" y="218820"/>
                  </a:lnTo>
                  <a:lnTo>
                    <a:pt x="5294439" y="195199"/>
                  </a:lnTo>
                  <a:lnTo>
                    <a:pt x="5669724" y="172719"/>
                  </a:lnTo>
                  <a:lnTo>
                    <a:pt x="5895784" y="156082"/>
                  </a:lnTo>
                  <a:lnTo>
                    <a:pt x="6099873" y="138175"/>
                  </a:lnTo>
                  <a:lnTo>
                    <a:pt x="6279324" y="119125"/>
                  </a:lnTo>
                  <a:lnTo>
                    <a:pt x="6359080" y="109347"/>
                  </a:lnTo>
                  <a:lnTo>
                    <a:pt x="6497256" y="89281"/>
                  </a:lnTo>
                  <a:lnTo>
                    <a:pt x="6554914" y="78867"/>
                  </a:lnTo>
                  <a:lnTo>
                    <a:pt x="6604952" y="68325"/>
                  </a:lnTo>
                  <a:lnTo>
                    <a:pt x="6646862" y="57657"/>
                  </a:lnTo>
                  <a:lnTo>
                    <a:pt x="6694360" y="41020"/>
                  </a:lnTo>
                  <a:lnTo>
                    <a:pt x="6714553" y="29718"/>
                  </a:lnTo>
                  <a:lnTo>
                    <a:pt x="6715188" y="29337"/>
                  </a:lnTo>
                  <a:lnTo>
                    <a:pt x="6715696" y="28829"/>
                  </a:lnTo>
                  <a:lnTo>
                    <a:pt x="6716204" y="28448"/>
                  </a:lnTo>
                  <a:lnTo>
                    <a:pt x="6722300" y="22987"/>
                  </a:lnTo>
                  <a:lnTo>
                    <a:pt x="6723062" y="22351"/>
                  </a:lnTo>
                  <a:lnTo>
                    <a:pt x="6723697" y="21462"/>
                  </a:lnTo>
                  <a:lnTo>
                    <a:pt x="6724205" y="20700"/>
                  </a:lnTo>
                  <a:lnTo>
                    <a:pt x="6728777" y="14097"/>
                  </a:lnTo>
                  <a:lnTo>
                    <a:pt x="6729412" y="12573"/>
                  </a:lnTo>
                  <a:lnTo>
                    <a:pt x="6729666" y="11049"/>
                  </a:lnTo>
                  <a:lnTo>
                    <a:pt x="6730029" y="9525"/>
                  </a:lnTo>
                  <a:lnTo>
                    <a:pt x="6699186" y="9525"/>
                  </a:lnTo>
                  <a:lnTo>
                    <a:pt x="6699725" y="9043"/>
                  </a:lnTo>
                  <a:close/>
                </a:path>
                <a:path w="6731000" h="244475">
                  <a:moveTo>
                    <a:pt x="0" y="4318"/>
                  </a:moveTo>
                  <a:lnTo>
                    <a:pt x="19570" y="119761"/>
                  </a:lnTo>
                  <a:lnTo>
                    <a:pt x="26136" y="124332"/>
                  </a:lnTo>
                  <a:lnTo>
                    <a:pt x="39966" y="122047"/>
                  </a:lnTo>
                  <a:lnTo>
                    <a:pt x="44615" y="115443"/>
                  </a:lnTo>
                  <a:lnTo>
                    <a:pt x="32801" y="45877"/>
                  </a:lnTo>
                  <a:lnTo>
                    <a:pt x="25184" y="42799"/>
                  </a:lnTo>
                  <a:lnTo>
                    <a:pt x="13589" y="36956"/>
                  </a:lnTo>
                  <a:lnTo>
                    <a:pt x="9423" y="34417"/>
                  </a:lnTo>
                  <a:lnTo>
                    <a:pt x="22898" y="12954"/>
                  </a:lnTo>
                  <a:lnTo>
                    <a:pt x="23844" y="12954"/>
                  </a:lnTo>
                  <a:lnTo>
                    <a:pt x="0" y="4318"/>
                  </a:lnTo>
                  <a:close/>
                </a:path>
                <a:path w="6731000" h="244475">
                  <a:moveTo>
                    <a:pt x="89107" y="63595"/>
                  </a:moveTo>
                  <a:lnTo>
                    <a:pt x="94818" y="65659"/>
                  </a:lnTo>
                  <a:lnTo>
                    <a:pt x="101422" y="67944"/>
                  </a:lnTo>
                  <a:lnTo>
                    <a:pt x="103284" y="67067"/>
                  </a:lnTo>
                  <a:lnTo>
                    <a:pt x="92062" y="64388"/>
                  </a:lnTo>
                  <a:lnTo>
                    <a:pt x="89107" y="63595"/>
                  </a:lnTo>
                  <a:close/>
                </a:path>
                <a:path w="6731000" h="244475">
                  <a:moveTo>
                    <a:pt x="40590" y="21589"/>
                  </a:moveTo>
                  <a:lnTo>
                    <a:pt x="28676" y="21589"/>
                  </a:lnTo>
                  <a:lnTo>
                    <a:pt x="32326" y="43084"/>
                  </a:lnTo>
                  <a:lnTo>
                    <a:pt x="89107" y="63595"/>
                  </a:lnTo>
                  <a:lnTo>
                    <a:pt x="92062" y="64388"/>
                  </a:lnTo>
                  <a:lnTo>
                    <a:pt x="103284" y="67067"/>
                  </a:lnTo>
                  <a:lnTo>
                    <a:pt x="108699" y="64516"/>
                  </a:lnTo>
                  <a:lnTo>
                    <a:pt x="113461" y="51435"/>
                  </a:lnTo>
                  <a:lnTo>
                    <a:pt x="110045" y="44068"/>
                  </a:lnTo>
                  <a:lnTo>
                    <a:pt x="103441" y="41782"/>
                  </a:lnTo>
                  <a:lnTo>
                    <a:pt x="96222" y="39168"/>
                  </a:lnTo>
                  <a:lnTo>
                    <a:pt x="78765" y="34543"/>
                  </a:lnTo>
                  <a:lnTo>
                    <a:pt x="61810" y="29463"/>
                  </a:lnTo>
                  <a:lnTo>
                    <a:pt x="47091" y="24256"/>
                  </a:lnTo>
                  <a:lnTo>
                    <a:pt x="40590" y="21589"/>
                  </a:lnTo>
                  <a:close/>
                </a:path>
                <a:path w="6731000" h="244475">
                  <a:moveTo>
                    <a:pt x="32326" y="43084"/>
                  </a:moveTo>
                  <a:lnTo>
                    <a:pt x="72186" y="59055"/>
                  </a:lnTo>
                  <a:lnTo>
                    <a:pt x="89107" y="63595"/>
                  </a:lnTo>
                  <a:lnTo>
                    <a:pt x="32326" y="43084"/>
                  </a:lnTo>
                  <a:close/>
                </a:path>
                <a:path w="6731000" h="244475">
                  <a:moveTo>
                    <a:pt x="22898" y="12954"/>
                  </a:moveTo>
                  <a:lnTo>
                    <a:pt x="9423" y="34417"/>
                  </a:lnTo>
                  <a:lnTo>
                    <a:pt x="13589" y="36956"/>
                  </a:lnTo>
                  <a:lnTo>
                    <a:pt x="25184" y="42799"/>
                  </a:lnTo>
                  <a:lnTo>
                    <a:pt x="32801" y="45877"/>
                  </a:lnTo>
                  <a:lnTo>
                    <a:pt x="32326" y="43084"/>
                  </a:lnTo>
                  <a:lnTo>
                    <a:pt x="11849" y="35687"/>
                  </a:lnTo>
                  <a:lnTo>
                    <a:pt x="28676" y="21589"/>
                  </a:lnTo>
                  <a:lnTo>
                    <a:pt x="40590" y="21589"/>
                  </a:lnTo>
                  <a:lnTo>
                    <a:pt x="34709" y="19176"/>
                  </a:lnTo>
                  <a:lnTo>
                    <a:pt x="24955" y="14350"/>
                  </a:lnTo>
                  <a:lnTo>
                    <a:pt x="22898" y="12954"/>
                  </a:lnTo>
                  <a:close/>
                </a:path>
                <a:path w="6731000" h="244475">
                  <a:moveTo>
                    <a:pt x="28676" y="21589"/>
                  </a:moveTo>
                  <a:lnTo>
                    <a:pt x="11849" y="35687"/>
                  </a:lnTo>
                  <a:lnTo>
                    <a:pt x="32326" y="43084"/>
                  </a:lnTo>
                  <a:lnTo>
                    <a:pt x="28676" y="21589"/>
                  </a:lnTo>
                  <a:close/>
                </a:path>
                <a:path w="6731000" h="244475">
                  <a:moveTo>
                    <a:pt x="23844" y="12954"/>
                  </a:moveTo>
                  <a:lnTo>
                    <a:pt x="22898" y="12954"/>
                  </a:lnTo>
                  <a:lnTo>
                    <a:pt x="24955" y="14350"/>
                  </a:lnTo>
                  <a:lnTo>
                    <a:pt x="61810" y="29463"/>
                  </a:lnTo>
                  <a:lnTo>
                    <a:pt x="96222" y="39168"/>
                  </a:lnTo>
                  <a:lnTo>
                    <a:pt x="23844" y="12954"/>
                  </a:lnTo>
                  <a:close/>
                </a:path>
                <a:path w="6731000" h="244475">
                  <a:moveTo>
                    <a:pt x="6700964" y="8255"/>
                  </a:moveTo>
                  <a:lnTo>
                    <a:pt x="6699725" y="9043"/>
                  </a:lnTo>
                  <a:lnTo>
                    <a:pt x="6699186" y="9525"/>
                  </a:lnTo>
                  <a:lnTo>
                    <a:pt x="6700964" y="8255"/>
                  </a:lnTo>
                  <a:close/>
                </a:path>
                <a:path w="6731000" h="244475">
                  <a:moveTo>
                    <a:pt x="6730331" y="8255"/>
                  </a:moveTo>
                  <a:lnTo>
                    <a:pt x="6700964" y="8255"/>
                  </a:lnTo>
                  <a:lnTo>
                    <a:pt x="6699186" y="9525"/>
                  </a:lnTo>
                  <a:lnTo>
                    <a:pt x="6730029" y="9525"/>
                  </a:lnTo>
                  <a:lnTo>
                    <a:pt x="6730331" y="8255"/>
                  </a:lnTo>
                  <a:close/>
                </a:path>
                <a:path w="6731000" h="244475">
                  <a:moveTo>
                    <a:pt x="6704213" y="5033"/>
                  </a:moveTo>
                  <a:lnTo>
                    <a:pt x="6699725" y="9043"/>
                  </a:lnTo>
                  <a:lnTo>
                    <a:pt x="6700964" y="8255"/>
                  </a:lnTo>
                  <a:lnTo>
                    <a:pt x="6730331" y="8255"/>
                  </a:lnTo>
                  <a:lnTo>
                    <a:pt x="6730755" y="6476"/>
                  </a:lnTo>
                  <a:lnTo>
                    <a:pt x="6703250" y="6476"/>
                  </a:lnTo>
                  <a:lnTo>
                    <a:pt x="6704213" y="5033"/>
                  </a:lnTo>
                  <a:close/>
                </a:path>
                <a:path w="6731000" h="244475">
                  <a:moveTo>
                    <a:pt x="6705155" y="4191"/>
                  </a:moveTo>
                  <a:lnTo>
                    <a:pt x="6704213" y="5033"/>
                  </a:lnTo>
                  <a:lnTo>
                    <a:pt x="6703250" y="6476"/>
                  </a:lnTo>
                  <a:lnTo>
                    <a:pt x="6705155" y="4191"/>
                  </a:lnTo>
                  <a:close/>
                </a:path>
                <a:path w="6731000" h="244475">
                  <a:moveTo>
                    <a:pt x="6705273" y="4191"/>
                  </a:moveTo>
                  <a:lnTo>
                    <a:pt x="6703250" y="6476"/>
                  </a:lnTo>
                  <a:lnTo>
                    <a:pt x="6730755" y="6476"/>
                  </a:lnTo>
                  <a:lnTo>
                    <a:pt x="6730936" y="5714"/>
                  </a:lnTo>
                  <a:lnTo>
                    <a:pt x="6729285" y="5334"/>
                  </a:lnTo>
                  <a:lnTo>
                    <a:pt x="6705028" y="5334"/>
                  </a:lnTo>
                  <a:lnTo>
                    <a:pt x="6705273" y="4191"/>
                  </a:lnTo>
                  <a:close/>
                </a:path>
                <a:path w="6731000" h="244475">
                  <a:moveTo>
                    <a:pt x="6706806" y="1143"/>
                  </a:moveTo>
                  <a:lnTo>
                    <a:pt x="6705509" y="3088"/>
                  </a:lnTo>
                  <a:lnTo>
                    <a:pt x="6705028" y="5334"/>
                  </a:lnTo>
                  <a:lnTo>
                    <a:pt x="6706806" y="1143"/>
                  </a:lnTo>
                  <a:close/>
                </a:path>
                <a:path w="6731000" h="244475">
                  <a:moveTo>
                    <a:pt x="6711124" y="1143"/>
                  </a:moveTo>
                  <a:lnTo>
                    <a:pt x="6706806" y="1143"/>
                  </a:lnTo>
                  <a:lnTo>
                    <a:pt x="6705028" y="5334"/>
                  </a:lnTo>
                  <a:lnTo>
                    <a:pt x="6729285" y="5334"/>
                  </a:lnTo>
                  <a:lnTo>
                    <a:pt x="6711124" y="1143"/>
                  </a:lnTo>
                  <a:close/>
                </a:path>
                <a:path w="6731000" h="244475">
                  <a:moveTo>
                    <a:pt x="6705509" y="3088"/>
                  </a:moveTo>
                  <a:lnTo>
                    <a:pt x="6704213" y="5033"/>
                  </a:lnTo>
                  <a:lnTo>
                    <a:pt x="6705155" y="4191"/>
                  </a:lnTo>
                  <a:lnTo>
                    <a:pt x="6705509" y="3088"/>
                  </a:lnTo>
                  <a:close/>
                </a:path>
                <a:path w="6731000" h="244475">
                  <a:moveTo>
                    <a:pt x="6706171" y="0"/>
                  </a:moveTo>
                  <a:lnTo>
                    <a:pt x="6705509" y="3088"/>
                  </a:lnTo>
                  <a:lnTo>
                    <a:pt x="6706806" y="1143"/>
                  </a:lnTo>
                  <a:lnTo>
                    <a:pt x="6711124" y="1143"/>
                  </a:lnTo>
                  <a:lnTo>
                    <a:pt x="6706171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19">
            <a:extLst>
              <a:ext uri="{FF2B5EF4-FFF2-40B4-BE49-F238E27FC236}">
                <a16:creationId xmlns:a16="http://schemas.microsoft.com/office/drawing/2014/main" id="{83FD25A9-0017-A9AC-300B-D29D27E9B673}"/>
              </a:ext>
            </a:extLst>
          </p:cNvPr>
          <p:cNvGrpSpPr/>
          <p:nvPr/>
        </p:nvGrpSpPr>
        <p:grpSpPr>
          <a:xfrm>
            <a:off x="598931" y="2666695"/>
            <a:ext cx="10010394" cy="757555"/>
            <a:chOff x="720851" y="2849879"/>
            <a:chExt cx="9804400" cy="439420"/>
          </a:xfrm>
        </p:grpSpPr>
        <p:pic>
          <p:nvPicPr>
            <p:cNvPr id="23" name="object 20">
              <a:extLst>
                <a:ext uri="{FF2B5EF4-FFF2-40B4-BE49-F238E27FC236}">
                  <a16:creationId xmlns:a16="http://schemas.microsoft.com/office/drawing/2014/main" id="{4B00EC90-59B6-6208-8F62-88ACC270D95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0851" y="2849879"/>
              <a:ext cx="9803892" cy="438912"/>
            </a:xfrm>
            <a:prstGeom prst="rect">
              <a:avLst/>
            </a:prstGeom>
          </p:spPr>
        </p:pic>
        <p:sp>
          <p:nvSpPr>
            <p:cNvPr id="24" name="object 21">
              <a:extLst>
                <a:ext uri="{FF2B5EF4-FFF2-40B4-BE49-F238E27FC236}">
                  <a16:creationId xmlns:a16="http://schemas.microsoft.com/office/drawing/2014/main" id="{01763D77-F748-6071-98E8-CCD457B6DF0A}"/>
                </a:ext>
              </a:extLst>
            </p:cNvPr>
            <p:cNvSpPr/>
            <p:nvPr/>
          </p:nvSpPr>
          <p:spPr>
            <a:xfrm>
              <a:off x="877112" y="2872739"/>
              <a:ext cx="9604375" cy="245110"/>
            </a:xfrm>
            <a:custGeom>
              <a:avLst/>
              <a:gdLst/>
              <a:ahLst/>
              <a:cxnLst/>
              <a:rect l="l" t="t" r="r" b="b"/>
              <a:pathLst>
                <a:path w="9604375" h="245110">
                  <a:moveTo>
                    <a:pt x="9579280" y="242748"/>
                  </a:moveTo>
                  <a:lnTo>
                    <a:pt x="9580067" y="245110"/>
                  </a:lnTo>
                  <a:lnTo>
                    <a:pt x="9581222" y="244738"/>
                  </a:lnTo>
                  <a:lnTo>
                    <a:pt x="9579280" y="242748"/>
                  </a:lnTo>
                  <a:close/>
                </a:path>
                <a:path w="9604375" h="245110">
                  <a:moveTo>
                    <a:pt x="9578289" y="239775"/>
                  </a:moveTo>
                  <a:lnTo>
                    <a:pt x="9579280" y="242748"/>
                  </a:lnTo>
                  <a:lnTo>
                    <a:pt x="9581222" y="244738"/>
                  </a:lnTo>
                  <a:lnTo>
                    <a:pt x="9578289" y="239775"/>
                  </a:lnTo>
                  <a:close/>
                </a:path>
                <a:path w="9604375" h="245110">
                  <a:moveTo>
                    <a:pt x="9596681" y="239775"/>
                  </a:moveTo>
                  <a:lnTo>
                    <a:pt x="9578289" y="239775"/>
                  </a:lnTo>
                  <a:lnTo>
                    <a:pt x="9581259" y="244727"/>
                  </a:lnTo>
                  <a:lnTo>
                    <a:pt x="9596681" y="239775"/>
                  </a:lnTo>
                  <a:close/>
                </a:path>
                <a:path w="9604375" h="245110">
                  <a:moveTo>
                    <a:pt x="9577155" y="240572"/>
                  </a:moveTo>
                  <a:lnTo>
                    <a:pt x="9579280" y="242748"/>
                  </a:lnTo>
                  <a:lnTo>
                    <a:pt x="9578797" y="241300"/>
                  </a:lnTo>
                  <a:lnTo>
                    <a:pt x="9578289" y="241300"/>
                  </a:lnTo>
                  <a:lnTo>
                    <a:pt x="9577155" y="240572"/>
                  </a:lnTo>
                  <a:close/>
                </a:path>
                <a:path w="9604375" h="245110">
                  <a:moveTo>
                    <a:pt x="9576130" y="239522"/>
                  </a:moveTo>
                  <a:lnTo>
                    <a:pt x="9577155" y="240572"/>
                  </a:lnTo>
                  <a:lnTo>
                    <a:pt x="9578289" y="241300"/>
                  </a:lnTo>
                  <a:lnTo>
                    <a:pt x="9576130" y="239522"/>
                  </a:lnTo>
                  <a:close/>
                </a:path>
                <a:path w="9604375" h="245110">
                  <a:moveTo>
                    <a:pt x="9597472" y="239522"/>
                  </a:moveTo>
                  <a:lnTo>
                    <a:pt x="9576130" y="239522"/>
                  </a:lnTo>
                  <a:lnTo>
                    <a:pt x="9578289" y="241300"/>
                  </a:lnTo>
                  <a:lnTo>
                    <a:pt x="9578797" y="241300"/>
                  </a:lnTo>
                  <a:lnTo>
                    <a:pt x="9578289" y="239775"/>
                  </a:lnTo>
                  <a:lnTo>
                    <a:pt x="9596681" y="239775"/>
                  </a:lnTo>
                  <a:lnTo>
                    <a:pt x="9597472" y="239522"/>
                  </a:lnTo>
                  <a:close/>
                </a:path>
                <a:path w="9604375" h="245110">
                  <a:moveTo>
                    <a:pt x="9570576" y="236350"/>
                  </a:moveTo>
                  <a:lnTo>
                    <a:pt x="9577155" y="240572"/>
                  </a:lnTo>
                  <a:lnTo>
                    <a:pt x="9576130" y="239522"/>
                  </a:lnTo>
                  <a:lnTo>
                    <a:pt x="9597472" y="239522"/>
                  </a:lnTo>
                  <a:lnTo>
                    <a:pt x="9604197" y="237362"/>
                  </a:lnTo>
                  <a:lnTo>
                    <a:pt x="9603985" y="236727"/>
                  </a:lnTo>
                  <a:lnTo>
                    <a:pt x="9571431" y="236727"/>
                  </a:lnTo>
                  <a:lnTo>
                    <a:pt x="9570576" y="236350"/>
                  </a:lnTo>
                  <a:close/>
                </a:path>
                <a:path w="9604375" h="245110">
                  <a:moveTo>
                    <a:pt x="40652" y="123825"/>
                  </a:moveTo>
                  <a:lnTo>
                    <a:pt x="33578" y="127635"/>
                  </a:lnTo>
                  <a:lnTo>
                    <a:pt x="0" y="239649"/>
                  </a:lnTo>
                  <a:lnTo>
                    <a:pt x="24578" y="234061"/>
                  </a:lnTo>
                  <a:lnTo>
                    <a:pt x="23571" y="234061"/>
                  </a:lnTo>
                  <a:lnTo>
                    <a:pt x="13258" y="210820"/>
                  </a:lnTo>
                  <a:lnTo>
                    <a:pt x="23380" y="206375"/>
                  </a:lnTo>
                  <a:lnTo>
                    <a:pt x="37978" y="201381"/>
                  </a:lnTo>
                  <a:lnTo>
                    <a:pt x="57835" y="135127"/>
                  </a:lnTo>
                  <a:lnTo>
                    <a:pt x="57843" y="134747"/>
                  </a:lnTo>
                  <a:lnTo>
                    <a:pt x="54089" y="127762"/>
                  </a:lnTo>
                  <a:lnTo>
                    <a:pt x="47371" y="125857"/>
                  </a:lnTo>
                  <a:lnTo>
                    <a:pt x="40652" y="123825"/>
                  </a:lnTo>
                  <a:close/>
                </a:path>
                <a:path w="9604375" h="245110">
                  <a:moveTo>
                    <a:pt x="9569780" y="235838"/>
                  </a:moveTo>
                  <a:lnTo>
                    <a:pt x="9570576" y="236350"/>
                  </a:lnTo>
                  <a:lnTo>
                    <a:pt x="9571431" y="236727"/>
                  </a:lnTo>
                  <a:lnTo>
                    <a:pt x="9569780" y="235838"/>
                  </a:lnTo>
                  <a:close/>
                </a:path>
                <a:path w="9604375" h="245110">
                  <a:moveTo>
                    <a:pt x="9603689" y="235838"/>
                  </a:moveTo>
                  <a:lnTo>
                    <a:pt x="9569780" y="235838"/>
                  </a:lnTo>
                  <a:lnTo>
                    <a:pt x="9571431" y="236727"/>
                  </a:lnTo>
                  <a:lnTo>
                    <a:pt x="9603985" y="236727"/>
                  </a:lnTo>
                  <a:lnTo>
                    <a:pt x="9603689" y="235838"/>
                  </a:lnTo>
                  <a:close/>
                </a:path>
                <a:path w="9604375" h="245110">
                  <a:moveTo>
                    <a:pt x="6799750" y="25400"/>
                  </a:moveTo>
                  <a:lnTo>
                    <a:pt x="4795977" y="25400"/>
                  </a:lnTo>
                  <a:lnTo>
                    <a:pt x="5245049" y="26670"/>
                  </a:lnTo>
                  <a:lnTo>
                    <a:pt x="6765747" y="49911"/>
                  </a:lnTo>
                  <a:lnTo>
                    <a:pt x="7920812" y="88900"/>
                  </a:lnTo>
                  <a:lnTo>
                    <a:pt x="8636457" y="126746"/>
                  </a:lnTo>
                  <a:lnTo>
                    <a:pt x="8961704" y="150240"/>
                  </a:lnTo>
                  <a:lnTo>
                    <a:pt x="9178620" y="169925"/>
                  </a:lnTo>
                  <a:lnTo>
                    <a:pt x="9313748" y="185165"/>
                  </a:lnTo>
                  <a:lnTo>
                    <a:pt x="9389821" y="195452"/>
                  </a:lnTo>
                  <a:lnTo>
                    <a:pt x="9454083" y="205867"/>
                  </a:lnTo>
                  <a:lnTo>
                    <a:pt x="9506153" y="216281"/>
                  </a:lnTo>
                  <a:lnTo>
                    <a:pt x="9545142" y="226440"/>
                  </a:lnTo>
                  <a:lnTo>
                    <a:pt x="9570576" y="236350"/>
                  </a:lnTo>
                  <a:lnTo>
                    <a:pt x="9569780" y="235838"/>
                  </a:lnTo>
                  <a:lnTo>
                    <a:pt x="9603689" y="235838"/>
                  </a:lnTo>
                  <a:lnTo>
                    <a:pt x="9602419" y="232029"/>
                  </a:lnTo>
                  <a:lnTo>
                    <a:pt x="9601911" y="230124"/>
                  </a:lnTo>
                  <a:lnTo>
                    <a:pt x="9600895" y="228473"/>
                  </a:lnTo>
                  <a:lnTo>
                    <a:pt x="9594164" y="221742"/>
                  </a:lnTo>
                  <a:lnTo>
                    <a:pt x="9593529" y="220980"/>
                  </a:lnTo>
                  <a:lnTo>
                    <a:pt x="9592767" y="220345"/>
                  </a:lnTo>
                  <a:lnTo>
                    <a:pt x="9592005" y="219837"/>
                  </a:lnTo>
                  <a:lnTo>
                    <a:pt x="9583369" y="214502"/>
                  </a:lnTo>
                  <a:lnTo>
                    <a:pt x="9582861" y="214122"/>
                  </a:lnTo>
                  <a:lnTo>
                    <a:pt x="9582353" y="213868"/>
                  </a:lnTo>
                  <a:lnTo>
                    <a:pt x="9581718" y="213613"/>
                  </a:lnTo>
                  <a:lnTo>
                    <a:pt x="9569780" y="208280"/>
                  </a:lnTo>
                  <a:lnTo>
                    <a:pt x="9512122" y="191643"/>
                  </a:lnTo>
                  <a:lnTo>
                    <a:pt x="9458782" y="180848"/>
                  </a:lnTo>
                  <a:lnTo>
                    <a:pt x="9393758" y="170307"/>
                  </a:lnTo>
                  <a:lnTo>
                    <a:pt x="9274505" y="154812"/>
                  </a:lnTo>
                  <a:lnTo>
                    <a:pt x="9130741" y="139700"/>
                  </a:lnTo>
                  <a:lnTo>
                    <a:pt x="8840419" y="115315"/>
                  </a:lnTo>
                  <a:lnTo>
                    <a:pt x="8338769" y="83820"/>
                  </a:lnTo>
                  <a:lnTo>
                    <a:pt x="7367854" y="42163"/>
                  </a:lnTo>
                  <a:lnTo>
                    <a:pt x="6799750" y="25400"/>
                  </a:lnTo>
                  <a:close/>
                </a:path>
                <a:path w="9604375" h="245110">
                  <a:moveTo>
                    <a:pt x="37978" y="201381"/>
                  </a:moveTo>
                  <a:lnTo>
                    <a:pt x="23380" y="206375"/>
                  </a:lnTo>
                  <a:lnTo>
                    <a:pt x="13258" y="210820"/>
                  </a:lnTo>
                  <a:lnTo>
                    <a:pt x="23571" y="234061"/>
                  </a:lnTo>
                  <a:lnTo>
                    <a:pt x="31762" y="230377"/>
                  </a:lnTo>
                  <a:lnTo>
                    <a:pt x="44101" y="226060"/>
                  </a:lnTo>
                  <a:lnTo>
                    <a:pt x="30581" y="226060"/>
                  </a:lnTo>
                  <a:lnTo>
                    <a:pt x="15595" y="210058"/>
                  </a:lnTo>
                  <a:lnTo>
                    <a:pt x="36824" y="205231"/>
                  </a:lnTo>
                  <a:lnTo>
                    <a:pt x="37978" y="201381"/>
                  </a:lnTo>
                  <a:close/>
                </a:path>
                <a:path w="9604375" h="245110">
                  <a:moveTo>
                    <a:pt x="117411" y="208429"/>
                  </a:moveTo>
                  <a:lnTo>
                    <a:pt x="64312" y="220218"/>
                  </a:lnTo>
                  <a:lnTo>
                    <a:pt x="23571" y="234061"/>
                  </a:lnTo>
                  <a:lnTo>
                    <a:pt x="24578" y="234061"/>
                  </a:lnTo>
                  <a:lnTo>
                    <a:pt x="114096" y="213740"/>
                  </a:lnTo>
                  <a:lnTo>
                    <a:pt x="117411" y="208429"/>
                  </a:lnTo>
                  <a:close/>
                </a:path>
                <a:path w="9604375" h="245110">
                  <a:moveTo>
                    <a:pt x="36824" y="205231"/>
                  </a:moveTo>
                  <a:lnTo>
                    <a:pt x="15595" y="210058"/>
                  </a:lnTo>
                  <a:lnTo>
                    <a:pt x="30581" y="226060"/>
                  </a:lnTo>
                  <a:lnTo>
                    <a:pt x="36824" y="205231"/>
                  </a:lnTo>
                  <a:close/>
                </a:path>
                <a:path w="9604375" h="245110">
                  <a:moveTo>
                    <a:pt x="108458" y="188975"/>
                  </a:moveTo>
                  <a:lnTo>
                    <a:pt x="36824" y="205231"/>
                  </a:lnTo>
                  <a:lnTo>
                    <a:pt x="30581" y="226060"/>
                  </a:lnTo>
                  <a:lnTo>
                    <a:pt x="44101" y="226060"/>
                  </a:lnTo>
                  <a:lnTo>
                    <a:pt x="46278" y="225298"/>
                  </a:lnTo>
                  <a:lnTo>
                    <a:pt x="64312" y="220218"/>
                  </a:lnTo>
                  <a:lnTo>
                    <a:pt x="85636" y="214884"/>
                  </a:lnTo>
                  <a:lnTo>
                    <a:pt x="110109" y="209804"/>
                  </a:lnTo>
                  <a:lnTo>
                    <a:pt x="117411" y="208429"/>
                  </a:lnTo>
                  <a:lnTo>
                    <a:pt x="118376" y="206883"/>
                  </a:lnTo>
                  <a:lnTo>
                    <a:pt x="116814" y="200151"/>
                  </a:lnTo>
                  <a:lnTo>
                    <a:pt x="115265" y="193294"/>
                  </a:lnTo>
                  <a:lnTo>
                    <a:pt x="108458" y="188975"/>
                  </a:lnTo>
                  <a:close/>
                </a:path>
                <a:path w="9604375" h="245110">
                  <a:moveTo>
                    <a:pt x="239710" y="188975"/>
                  </a:moveTo>
                  <a:lnTo>
                    <a:pt x="108458" y="188975"/>
                  </a:lnTo>
                  <a:lnTo>
                    <a:pt x="115265" y="193294"/>
                  </a:lnTo>
                  <a:lnTo>
                    <a:pt x="117099" y="201381"/>
                  </a:lnTo>
                  <a:lnTo>
                    <a:pt x="118376" y="206883"/>
                  </a:lnTo>
                  <a:lnTo>
                    <a:pt x="117411" y="208429"/>
                  </a:lnTo>
                  <a:lnTo>
                    <a:pt x="137769" y="204597"/>
                  </a:lnTo>
                  <a:lnTo>
                    <a:pt x="168452" y="199389"/>
                  </a:lnTo>
                  <a:lnTo>
                    <a:pt x="238721" y="189102"/>
                  </a:lnTo>
                  <a:lnTo>
                    <a:pt x="239710" y="188975"/>
                  </a:lnTo>
                  <a:close/>
                </a:path>
                <a:path w="9604375" h="245110">
                  <a:moveTo>
                    <a:pt x="4796104" y="0"/>
                  </a:moveTo>
                  <a:lnTo>
                    <a:pt x="3681044" y="7874"/>
                  </a:lnTo>
                  <a:lnTo>
                    <a:pt x="2224354" y="41910"/>
                  </a:lnTo>
                  <a:lnTo>
                    <a:pt x="1253312" y="83185"/>
                  </a:lnTo>
                  <a:lnTo>
                    <a:pt x="688924" y="119252"/>
                  </a:lnTo>
                  <a:lnTo>
                    <a:pt x="461467" y="138684"/>
                  </a:lnTo>
                  <a:lnTo>
                    <a:pt x="317817" y="153670"/>
                  </a:lnTo>
                  <a:lnTo>
                    <a:pt x="235521" y="163957"/>
                  </a:lnTo>
                  <a:lnTo>
                    <a:pt x="164630" y="174371"/>
                  </a:lnTo>
                  <a:lnTo>
                    <a:pt x="105422" y="184785"/>
                  </a:lnTo>
                  <a:lnTo>
                    <a:pt x="58254" y="195452"/>
                  </a:lnTo>
                  <a:lnTo>
                    <a:pt x="36824" y="205231"/>
                  </a:lnTo>
                  <a:lnTo>
                    <a:pt x="108458" y="188975"/>
                  </a:lnTo>
                  <a:lnTo>
                    <a:pt x="239710" y="188975"/>
                  </a:lnTo>
                  <a:lnTo>
                    <a:pt x="320636" y="178943"/>
                  </a:lnTo>
                  <a:lnTo>
                    <a:pt x="463880" y="163957"/>
                  </a:lnTo>
                  <a:lnTo>
                    <a:pt x="690829" y="144525"/>
                  </a:lnTo>
                  <a:lnTo>
                    <a:pt x="1254709" y="108585"/>
                  </a:lnTo>
                  <a:lnTo>
                    <a:pt x="2225243" y="67310"/>
                  </a:lnTo>
                  <a:lnTo>
                    <a:pt x="3681298" y="33274"/>
                  </a:lnTo>
                  <a:lnTo>
                    <a:pt x="6799750" y="25400"/>
                  </a:lnTo>
                  <a:lnTo>
                    <a:pt x="5245176" y="1270"/>
                  </a:lnTo>
                  <a:lnTo>
                    <a:pt x="4796104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4906687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BCAE4-8F18-B657-F337-CA27A4933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L1 and L2 caches?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89FDE-C5C3-8438-BCF6-31DFE2C72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about L1I cache and L1D cache?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74E462-29B8-DCAA-3F66-431B2252A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791B78-0EA0-769A-3675-2DB274F50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05752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9D4F3-26F5-54E6-52B9-27ECA56E1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Topic 1: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EDA9E-742C-5907-7C5E-28EC4DBFF9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Caches for desktop, client/server, mobile workloads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Application specific cache designs 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E23E3-1CB0-A167-0FA3-3EA0808B3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71B487-08BF-B0CC-52AC-6F1476D57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5446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47884</TotalTime>
  <Words>594</Words>
  <Application>Microsoft Office PowerPoint</Application>
  <PresentationFormat>Widescreen</PresentationFormat>
  <Paragraphs>152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Calibri Light</vt:lpstr>
      <vt:lpstr>Cambria</vt:lpstr>
      <vt:lpstr>Symbol</vt:lpstr>
      <vt:lpstr>Times New Roman</vt:lpstr>
      <vt:lpstr>Wingdings</vt:lpstr>
      <vt:lpstr>Office Theme</vt:lpstr>
      <vt:lpstr>CS683: Advanced Computer Architecture-2025</vt:lpstr>
      <vt:lpstr>Phones (smart/non-smart) on silence plz, Thanks </vt:lpstr>
      <vt:lpstr>Types of applications and cache behaviors </vt:lpstr>
      <vt:lpstr>Reducing Miss rate (MPKI)</vt:lpstr>
      <vt:lpstr>Cache Content Management</vt:lpstr>
      <vt:lpstr>Common Cache Access Patterns</vt:lpstr>
      <vt:lpstr>LRU limitations</vt:lpstr>
      <vt:lpstr>BTW, LRU is not implemented @commercial machines</vt:lpstr>
      <vt:lpstr>Why?</vt:lpstr>
      <vt:lpstr>Bimodal Policy [ISCA ‘07]</vt:lpstr>
      <vt:lpstr>Dynamic Insertion Policy (DIP): Celebrated technique in the community</vt:lpstr>
      <vt:lpstr>RRIP [ISCA ‘10]</vt:lpstr>
      <vt:lpstr>2-bit state machine</vt:lpstr>
      <vt:lpstr>What about L1 and L2 caches?</vt:lpstr>
      <vt:lpstr>Project Topic 1: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Biswabandan</dc:creator>
  <cp:lastModifiedBy>Biswabandan</cp:lastModifiedBy>
  <cp:revision>961</cp:revision>
  <dcterms:created xsi:type="dcterms:W3CDTF">2021-05-31T06:57:48Z</dcterms:created>
  <dcterms:modified xsi:type="dcterms:W3CDTF">2025-08-25T14:48:20Z</dcterms:modified>
</cp:coreProperties>
</file>