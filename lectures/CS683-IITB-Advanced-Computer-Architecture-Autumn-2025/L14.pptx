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256" r:id="rId2"/>
    <p:sldId id="7962" r:id="rId3"/>
    <p:sldId id="7963" r:id="rId4"/>
    <p:sldId id="7951" r:id="rId5"/>
    <p:sldId id="7952" r:id="rId6"/>
    <p:sldId id="7964" r:id="rId7"/>
    <p:sldId id="7953" r:id="rId8"/>
    <p:sldId id="7954" r:id="rId9"/>
    <p:sldId id="7955" r:id="rId10"/>
    <p:sldId id="7956" r:id="rId11"/>
    <p:sldId id="7960" r:id="rId12"/>
    <p:sldId id="1149" r:id="rId13"/>
    <p:sldId id="1172" r:id="rId14"/>
    <p:sldId id="1159" r:id="rId15"/>
    <p:sldId id="1160" r:id="rId16"/>
    <p:sldId id="1163" r:id="rId17"/>
    <p:sldId id="1164" r:id="rId18"/>
    <p:sldId id="1165" r:id="rId19"/>
    <p:sldId id="1166" r:id="rId20"/>
    <p:sldId id="1167" r:id="rId21"/>
    <p:sldId id="1168" r:id="rId22"/>
    <p:sldId id="1169" r:id="rId23"/>
    <p:sldId id="1175" r:id="rId24"/>
    <p:sldId id="1176" r:id="rId25"/>
    <p:sldId id="1177" r:id="rId26"/>
    <p:sldId id="1178" r:id="rId27"/>
    <p:sldId id="1179" r:id="rId28"/>
    <p:sldId id="1187" r:id="rId29"/>
    <p:sldId id="1289" r:id="rId30"/>
    <p:sldId id="1267" r:id="rId31"/>
    <p:sldId id="126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4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1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CS683: </a:t>
            </a:r>
            <a:r>
              <a:rPr lang="en-US" dirty="0" err="1"/>
              <a:t>Advancded</a:t>
            </a:r>
            <a:r>
              <a:rPr lang="en-US" dirty="0"/>
              <a:t>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Advanced 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15600" y="582829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50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58786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marL="1219170" lvl="1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2pPr>
            <a:lvl3pPr marL="1828754" lvl="2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438339" lvl="3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047924" lvl="4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3657509" lvl="5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6pPr>
            <a:lvl7pPr marL="4267093" lvl="6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7pPr>
            <a:lvl8pPr marL="4876678" lvl="7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8pPr>
            <a:lvl9pPr marL="5486263" lvl="8" indent="-558786">
              <a:spcBef>
                <a:spcPts val="2133"/>
              </a:spcBef>
              <a:spcAft>
                <a:spcPts val="2133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2400">
                <a:solidFill>
                  <a:srgbClr val="B22222"/>
                </a:solidFill>
              </a:defRPr>
            </a:lvl1pPr>
            <a:lvl2pPr lvl="1" algn="r">
              <a:buNone/>
              <a:defRPr sz="2400">
                <a:solidFill>
                  <a:srgbClr val="B22222"/>
                </a:solidFill>
              </a:defRPr>
            </a:lvl2pPr>
            <a:lvl3pPr lvl="2" algn="r">
              <a:buNone/>
              <a:defRPr sz="2400">
                <a:solidFill>
                  <a:srgbClr val="B22222"/>
                </a:solidFill>
              </a:defRPr>
            </a:lvl3pPr>
            <a:lvl4pPr lvl="3" algn="r">
              <a:buNone/>
              <a:defRPr sz="2400">
                <a:solidFill>
                  <a:srgbClr val="B22222"/>
                </a:solidFill>
              </a:defRPr>
            </a:lvl4pPr>
            <a:lvl5pPr lvl="4" algn="r">
              <a:buNone/>
              <a:defRPr sz="2400">
                <a:solidFill>
                  <a:srgbClr val="B22222"/>
                </a:solidFill>
              </a:defRPr>
            </a:lvl5pPr>
            <a:lvl6pPr lvl="5" algn="r">
              <a:buNone/>
              <a:defRPr sz="2400">
                <a:solidFill>
                  <a:srgbClr val="B22222"/>
                </a:solidFill>
              </a:defRPr>
            </a:lvl6pPr>
            <a:lvl7pPr lvl="6" algn="r">
              <a:buNone/>
              <a:defRPr sz="2400">
                <a:solidFill>
                  <a:srgbClr val="B22222"/>
                </a:solidFill>
              </a:defRPr>
            </a:lvl7pPr>
            <a:lvl8pPr lvl="7" algn="r">
              <a:buNone/>
              <a:defRPr sz="2400">
                <a:solidFill>
                  <a:srgbClr val="B22222"/>
                </a:solidFill>
              </a:defRPr>
            </a:lvl8pPr>
            <a:lvl9pPr lvl="8" algn="r">
              <a:buNone/>
              <a:defRPr sz="2400">
                <a:solidFill>
                  <a:srgbClr val="B2222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27" name="Google Shape;27;p4"/>
          <p:cNvCxnSpPr/>
          <p:nvPr/>
        </p:nvCxnSpPr>
        <p:spPr>
          <a:xfrm rot="10800000" flipH="1">
            <a:off x="511048" y="1464833"/>
            <a:ext cx="11459600" cy="1600"/>
          </a:xfrm>
          <a:prstGeom prst="straightConnector1">
            <a:avLst/>
          </a:prstGeom>
          <a:noFill/>
          <a:ln w="19050" cap="flat" cmpd="sng">
            <a:solidFill>
              <a:srgbClr val="B2222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4"/>
          <p:cNvSpPr txBox="1"/>
          <p:nvPr/>
        </p:nvSpPr>
        <p:spPr>
          <a:xfrm>
            <a:off x="5679767" y="6306767"/>
            <a:ext cx="4836800" cy="5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916059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60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Transfer_(computing)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9D94-0FEA-4DBE-86DF-3FB8852D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CS683: Advanced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76AF-9222-4BBF-BBA7-BED9C767C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06656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Lecture 15: It is the Memory Stupid! </a:t>
            </a:r>
            <a:r>
              <a:rPr lang="en-US" sz="3600" dirty="0">
                <a:solidFill>
                  <a:srgbClr val="C00000"/>
                </a:solidFill>
                <a:sym typeface="Wingdings" panose="05000000000000000000" pitchFamily="2" charset="2"/>
              </a:rPr>
              <a:t> </a:t>
            </a:r>
            <a:endParaRPr lang="en-US" sz="3600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https://www.cse.iitb.ac.in/~biswa/courses/</a:t>
            </a:r>
          </a:p>
          <a:p>
            <a:endParaRPr lang="en-IN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7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F7F56-00D4-9B2C-879E-4F0BFE664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Consistency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92558-A417-404A-0AB4-822AF25B3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memory consistency model of a shared-memory system determines the order in which memory operations will appear to execute to the programmer.</a:t>
            </a:r>
          </a:p>
          <a:p>
            <a:pPr marL="0" indent="0">
              <a:buNone/>
            </a:pPr>
            <a:r>
              <a:rPr lang="en-US" dirty="0"/>
              <a:t> – Core 1 writes to some memory location… </a:t>
            </a:r>
          </a:p>
          <a:p>
            <a:pPr marL="0" indent="0">
              <a:buNone/>
            </a:pPr>
            <a:r>
              <a:rPr lang="en-US" dirty="0"/>
              <a:t>–  Core 2 reads from that location… </a:t>
            </a:r>
          </a:p>
          <a:p>
            <a:pPr marL="0" indent="0">
              <a:buNone/>
            </a:pPr>
            <a:r>
              <a:rPr lang="en-US" dirty="0"/>
              <a:t>– Do we get the result we expect?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2949C-2E8E-2183-418F-E9DFBA140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3944E-2F4B-967D-C459-BD00C6586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9435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C5F70-EA0B-A7F9-2BF8-F40AA7102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Coherence vs Consistency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69841-8262-4316-B3E6-C18FA2D94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BFE7F-3225-DE0F-3BAC-12220205E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437599-C08D-575D-0B20-D2BC56C25252}"/>
              </a:ext>
            </a:extLst>
          </p:cNvPr>
          <p:cNvSpPr txBox="1"/>
          <p:nvPr/>
        </p:nvSpPr>
        <p:spPr>
          <a:xfrm>
            <a:off x="838200" y="2305615"/>
            <a:ext cx="1035405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Formally:</a:t>
            </a:r>
          </a:p>
          <a:p>
            <a:r>
              <a:rPr lang="en-US" sz="3200" dirty="0"/>
              <a:t> – Coherence: What values can a read return? </a:t>
            </a:r>
          </a:p>
          <a:p>
            <a:r>
              <a:rPr lang="en-US" sz="3200" dirty="0"/>
              <a:t>• Concerns reads/writes to a single memory location </a:t>
            </a:r>
          </a:p>
          <a:p>
            <a:endParaRPr lang="en-US" sz="3200" dirty="0"/>
          </a:p>
          <a:p>
            <a:r>
              <a:rPr lang="en-US" sz="3200" dirty="0"/>
              <a:t>– Consistency: When do writes become visible to reads? </a:t>
            </a:r>
          </a:p>
          <a:p>
            <a:r>
              <a:rPr lang="en-US" sz="3200" dirty="0"/>
              <a:t>• Concerns reads/writes to multiple memory locations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780887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F4DE3-2B47-7B53-349F-21AA23120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it matters?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97A1A-63CF-BA4B-C539-304778AB2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EF97E0-1F7E-0228-B81C-AE79B2BF3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02638B80-5846-C4E3-7379-DD0F6D705EF1}"/>
              </a:ext>
            </a:extLst>
          </p:cNvPr>
          <p:cNvSpPr txBox="1"/>
          <p:nvPr/>
        </p:nvSpPr>
        <p:spPr>
          <a:xfrm>
            <a:off x="409144" y="4298646"/>
            <a:ext cx="749173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Verdana"/>
                <a:cs typeface="Verdana"/>
              </a:rPr>
              <a:t>What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value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does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r2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hold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after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both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processors</a:t>
            </a:r>
          </a:p>
          <a:p>
            <a:pPr marL="35687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Verdana"/>
                <a:cs typeface="Verdana"/>
              </a:rPr>
              <a:t>finish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running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this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code?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8FD263FE-5F88-EEA4-CCCD-8D1DC4EC6F69}"/>
              </a:ext>
            </a:extLst>
          </p:cNvPr>
          <p:cNvSpPr txBox="1"/>
          <p:nvPr/>
        </p:nvSpPr>
        <p:spPr>
          <a:xfrm>
            <a:off x="1373504" y="1284952"/>
            <a:ext cx="6062275" cy="1650452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710"/>
              </a:spcBef>
            </a:pPr>
            <a:r>
              <a:rPr sz="2400" i="1" spc="-10" dirty="0">
                <a:latin typeface="Verdana"/>
                <a:cs typeface="Verdana"/>
              </a:rPr>
              <a:t>Initial</a:t>
            </a:r>
            <a:r>
              <a:rPr sz="2400" i="1" spc="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memory</a:t>
            </a:r>
            <a:r>
              <a:rPr sz="2400" i="1" spc="-10" dirty="0">
                <a:latin typeface="Verdana"/>
                <a:cs typeface="Verdana"/>
              </a:rPr>
              <a:t> </a:t>
            </a:r>
            <a:r>
              <a:rPr sz="2400" i="1" spc="-5" dirty="0">
                <a:latin typeface="Verdana"/>
                <a:cs typeface="Verdana"/>
              </a:rPr>
              <a:t>contents</a:t>
            </a:r>
            <a:endParaRPr sz="2400" dirty="0">
              <a:latin typeface="Verdana"/>
              <a:cs typeface="Verdana"/>
            </a:endParaRPr>
          </a:p>
          <a:p>
            <a:pPr marL="88900">
              <a:spcBef>
                <a:spcPts val="500"/>
              </a:spcBef>
            </a:pPr>
            <a:r>
              <a:rPr sz="2000" spc="-5" dirty="0">
                <a:solidFill>
                  <a:srgbClr val="90A57B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551179"/>
                </a:solidFill>
                <a:latin typeface="Verdana"/>
                <a:cs typeface="Verdana"/>
              </a:rPr>
              <a:t>:</a:t>
            </a:r>
            <a:r>
              <a:rPr sz="2000" spc="-5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51179"/>
                </a:solidFill>
                <a:latin typeface="Verdana"/>
                <a:cs typeface="Verdana"/>
              </a:rPr>
              <a:t>0</a:t>
            </a:r>
            <a:r>
              <a:rPr lang="en-US" sz="2000" spc="-10" dirty="0">
                <a:solidFill>
                  <a:srgbClr val="551179"/>
                </a:solidFill>
                <a:latin typeface="Verdana"/>
                <a:cs typeface="Verdana"/>
              </a:rPr>
              <a:t> // memory location a storing zero</a:t>
            </a:r>
            <a:endParaRPr sz="2000" dirty="0">
              <a:latin typeface="Verdana"/>
              <a:cs typeface="Verdana"/>
            </a:endParaRPr>
          </a:p>
          <a:p>
            <a:pPr marL="889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FF0000"/>
                </a:solidFill>
                <a:latin typeface="Verdana"/>
                <a:cs typeface="Verdana"/>
              </a:rPr>
              <a:t>flag</a:t>
            </a:r>
            <a:r>
              <a:rPr sz="2000" dirty="0">
                <a:solidFill>
                  <a:srgbClr val="551179"/>
                </a:solidFill>
                <a:latin typeface="Verdana"/>
                <a:cs typeface="Verdana"/>
              </a:rPr>
              <a:t>:</a:t>
            </a:r>
            <a:r>
              <a:rPr sz="2000" spc="-7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51179"/>
                </a:solidFill>
                <a:latin typeface="Verdana"/>
                <a:cs typeface="Verdana"/>
              </a:rPr>
              <a:t>0</a:t>
            </a:r>
            <a:r>
              <a:rPr lang="en-US" sz="2000" spc="-5" dirty="0">
                <a:solidFill>
                  <a:srgbClr val="551179"/>
                </a:solidFill>
                <a:latin typeface="Verdana"/>
                <a:cs typeface="Verdana"/>
              </a:rPr>
              <a:t> // memory location flag storing zero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  <a:tabLst>
                <a:tab pos="1703705" algn="l"/>
                <a:tab pos="3670935" algn="l"/>
                <a:tab pos="5359400" algn="l"/>
              </a:tabLst>
            </a:pPr>
            <a:r>
              <a:rPr sz="2400" i="1" spc="-5" dirty="0">
                <a:latin typeface="Verdana"/>
                <a:cs typeface="Verdana"/>
              </a:rPr>
              <a:t>Pr</a:t>
            </a:r>
            <a:r>
              <a:rPr sz="2400" i="1" spc="10" dirty="0">
                <a:latin typeface="Verdana"/>
                <a:cs typeface="Verdana"/>
              </a:rPr>
              <a:t>o</a:t>
            </a:r>
            <a:r>
              <a:rPr sz="2400" i="1" dirty="0">
                <a:latin typeface="Verdana"/>
                <a:cs typeface="Verdana"/>
              </a:rPr>
              <a:t>c</a:t>
            </a:r>
            <a:r>
              <a:rPr sz="2400" i="1" spc="5" dirty="0">
                <a:latin typeface="Verdana"/>
                <a:cs typeface="Verdana"/>
              </a:rPr>
              <a:t>e</a:t>
            </a:r>
            <a:r>
              <a:rPr sz="2400" i="1" dirty="0">
                <a:latin typeface="Verdana"/>
                <a:cs typeface="Verdana"/>
              </a:rPr>
              <a:t>ss</a:t>
            </a:r>
            <a:r>
              <a:rPr sz="2400" i="1" spc="5" dirty="0">
                <a:latin typeface="Verdana"/>
                <a:cs typeface="Verdana"/>
              </a:rPr>
              <a:t>o</a:t>
            </a:r>
            <a:r>
              <a:rPr sz="2400" i="1" dirty="0">
                <a:latin typeface="Verdana"/>
                <a:cs typeface="Verdana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Verdana"/>
                <a:cs typeface="Verdana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5" dirty="0">
                <a:latin typeface="Verdana"/>
                <a:cs typeface="Verdana"/>
              </a:rPr>
              <a:t>Pr</a:t>
            </a:r>
            <a:r>
              <a:rPr sz="2400" i="1" dirty="0">
                <a:latin typeface="Verdana"/>
                <a:cs typeface="Verdana"/>
              </a:rPr>
              <a:t>ocess</a:t>
            </a:r>
            <a:r>
              <a:rPr sz="2400" i="1" spc="5" dirty="0">
                <a:latin typeface="Verdana"/>
                <a:cs typeface="Verdana"/>
              </a:rPr>
              <a:t>o</a:t>
            </a:r>
            <a:r>
              <a:rPr sz="2400" i="1" dirty="0">
                <a:latin typeface="Verdana"/>
                <a:cs typeface="Verdana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Verdana"/>
                <a:cs typeface="Verdana"/>
              </a:rPr>
              <a:t>2</a:t>
            </a:r>
            <a:endParaRPr sz="2400" dirty="0">
              <a:latin typeface="Verdana"/>
              <a:cs typeface="Verdana"/>
            </a:endParaRP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AF9F4EA7-79C5-300D-3931-F9FBC8BCFE0B}"/>
              </a:ext>
            </a:extLst>
          </p:cNvPr>
          <p:cNvGraphicFramePr>
            <a:graphicFrameLocks noGrp="1"/>
          </p:cNvGraphicFramePr>
          <p:nvPr/>
        </p:nvGraphicFramePr>
        <p:xfrm>
          <a:off x="1354454" y="2985376"/>
          <a:ext cx="5941694" cy="10396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7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0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1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Store</a:t>
                      </a:r>
                      <a:r>
                        <a:rPr sz="2000" spc="-15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-5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(</a:t>
                      </a:r>
                      <a:r>
                        <a:rPr sz="2000" spc="-5" dirty="0">
                          <a:solidFill>
                            <a:srgbClr val="90A57B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000" spc="-5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),</a:t>
                      </a:r>
                      <a:r>
                        <a:rPr sz="2000" spc="-15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-5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10;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6273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15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L: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1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Load r1, </a:t>
                      </a:r>
                      <a:r>
                        <a:rPr sz="200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(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flag</a:t>
                      </a:r>
                      <a:r>
                        <a:rPr sz="200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);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52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1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Store</a:t>
                      </a:r>
                      <a:r>
                        <a:rPr sz="2000" spc="-2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(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flag</a:t>
                      </a:r>
                      <a:r>
                        <a:rPr sz="200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),</a:t>
                      </a:r>
                      <a:r>
                        <a:rPr sz="2000" spc="-4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-5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1;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1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if</a:t>
                      </a:r>
                      <a:r>
                        <a:rPr sz="2000" spc="-55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-15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2025" spc="-22" baseline="-20576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1</a:t>
                      </a:r>
                      <a:r>
                        <a:rPr sz="2025" spc="322" baseline="-20576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-1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==</a:t>
                      </a:r>
                      <a:r>
                        <a:rPr sz="200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-1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0 </a:t>
                      </a:r>
                      <a:r>
                        <a:rPr sz="2000" spc="-5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goto </a:t>
                      </a:r>
                      <a:r>
                        <a:rPr sz="2000" spc="-1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L;</a:t>
                      </a:r>
                      <a:endParaRPr sz="2000">
                        <a:latin typeface="Verdana"/>
                        <a:cs typeface="Verdana"/>
                      </a:endParaRPr>
                    </a:p>
                    <a:p>
                      <a:pPr marL="107314">
                        <a:lnSpc>
                          <a:spcPts val="2320"/>
                        </a:lnSpc>
                        <a:spcBef>
                          <a:spcPts val="480"/>
                        </a:spcBef>
                      </a:pPr>
                      <a:r>
                        <a:rPr sz="2000" spc="-1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Load r2,</a:t>
                      </a:r>
                      <a:r>
                        <a:rPr sz="2000" spc="-15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(</a:t>
                      </a:r>
                      <a:r>
                        <a:rPr sz="2000" dirty="0">
                          <a:solidFill>
                            <a:srgbClr val="90A57B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00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);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1376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197C-9F18-1E5E-AE4C-B9AD0BFC9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it matters?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642520-9C0C-476E-D0DD-7F7AE4032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07D3A-087A-6CDF-7BFA-5FD6F0D21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F992E84E-01E4-6328-645E-8234B8C5D162}"/>
              </a:ext>
            </a:extLst>
          </p:cNvPr>
          <p:cNvSpPr txBox="1"/>
          <p:nvPr/>
        </p:nvSpPr>
        <p:spPr>
          <a:xfrm>
            <a:off x="409144" y="4298646"/>
            <a:ext cx="7491730" cy="206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Verdana"/>
                <a:cs typeface="Verdana"/>
              </a:rPr>
              <a:t>What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value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does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r2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hold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after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both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processors</a:t>
            </a:r>
            <a:endParaRPr sz="2400">
              <a:latin typeface="Verdana"/>
              <a:cs typeface="Verdana"/>
            </a:endParaRPr>
          </a:p>
          <a:p>
            <a:pPr marL="35687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Verdana"/>
                <a:cs typeface="Verdana"/>
              </a:rPr>
              <a:t>finish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running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this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code?</a:t>
            </a:r>
            <a:endParaRPr sz="2400">
              <a:latin typeface="Verdana"/>
              <a:cs typeface="Verdana"/>
            </a:endParaRPr>
          </a:p>
          <a:p>
            <a:pPr marL="758190" algn="ctr">
              <a:lnSpc>
                <a:spcPct val="100000"/>
              </a:lnSpc>
              <a:spcBef>
                <a:spcPts val="1280"/>
              </a:spcBef>
            </a:pPr>
            <a:r>
              <a:rPr sz="2000" spc="-20" dirty="0">
                <a:solidFill>
                  <a:srgbClr val="FF0000"/>
                </a:solidFill>
                <a:latin typeface="Verdana"/>
                <a:cs typeface="Verdana"/>
              </a:rPr>
              <a:t>It</a:t>
            </a:r>
            <a:r>
              <a:rPr sz="2000" spc="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Verdana"/>
                <a:cs typeface="Verdana"/>
              </a:rPr>
              <a:t>depends</a:t>
            </a:r>
            <a:r>
              <a:rPr sz="2000" spc="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Verdana"/>
                <a:cs typeface="Verdana"/>
              </a:rPr>
              <a:t>on</a:t>
            </a:r>
            <a:r>
              <a:rPr sz="2000" spc="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000" spc="-15" dirty="0">
                <a:solidFill>
                  <a:srgbClr val="FF0000"/>
                </a:solidFill>
                <a:latin typeface="Verdana"/>
                <a:cs typeface="Verdana"/>
              </a:rPr>
              <a:t> order</a:t>
            </a:r>
            <a:r>
              <a:rPr sz="2000" spc="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FF0000"/>
                </a:solidFill>
                <a:latin typeface="Verdana"/>
                <a:cs typeface="Verdana"/>
              </a:rPr>
              <a:t>in</a:t>
            </a:r>
            <a:r>
              <a:rPr sz="2000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0000"/>
                </a:solidFill>
                <a:latin typeface="Verdana"/>
                <a:cs typeface="Verdana"/>
              </a:rPr>
              <a:t>which</a:t>
            </a:r>
            <a:r>
              <a:rPr sz="2000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FF0000"/>
                </a:solidFill>
                <a:latin typeface="Verdana"/>
                <a:cs typeface="Verdana"/>
              </a:rPr>
              <a:t>processor</a:t>
            </a:r>
            <a:r>
              <a:rPr sz="2000" spc="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  <a:p>
            <a:pPr marL="763905" algn="ctr">
              <a:lnSpc>
                <a:spcPct val="100000"/>
              </a:lnSpc>
              <a:spcBef>
                <a:spcPts val="5"/>
              </a:spcBef>
            </a:pPr>
            <a:r>
              <a:rPr sz="2000" spc="-15" dirty="0">
                <a:solidFill>
                  <a:srgbClr val="FF0000"/>
                </a:solidFill>
                <a:latin typeface="Verdana"/>
                <a:cs typeface="Verdana"/>
              </a:rPr>
              <a:t>observes</a:t>
            </a:r>
            <a:r>
              <a:rPr sz="2000" spc="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FF0000"/>
                </a:solidFill>
                <a:latin typeface="Verdana"/>
                <a:cs typeface="Verdana"/>
              </a:rPr>
              <a:t>processor</a:t>
            </a:r>
            <a:r>
              <a:rPr sz="2000" spc="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FF0000"/>
                </a:solidFill>
                <a:latin typeface="Verdana"/>
                <a:cs typeface="Verdana"/>
              </a:rPr>
              <a:t>1’s</a:t>
            </a:r>
            <a:r>
              <a:rPr sz="2000" spc="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Verdana"/>
                <a:cs typeface="Verdana"/>
              </a:rPr>
              <a:t>stores!</a:t>
            </a:r>
            <a:endParaRPr sz="2000">
              <a:latin typeface="Verdana"/>
              <a:cs typeface="Verdana"/>
            </a:endParaRPr>
          </a:p>
          <a:p>
            <a:pPr marL="1107440">
              <a:lnSpc>
                <a:spcPct val="100000"/>
              </a:lnSpc>
              <a:spcBef>
                <a:spcPts val="1825"/>
              </a:spcBef>
            </a:pPr>
            <a:r>
              <a:rPr sz="2000" spc="-10" dirty="0">
                <a:solidFill>
                  <a:srgbClr val="FF0000"/>
                </a:solidFill>
                <a:latin typeface="Verdana"/>
                <a:cs typeface="Verdana"/>
              </a:rPr>
              <a:t>10</a:t>
            </a:r>
            <a:r>
              <a:rPr sz="20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FF0000"/>
                </a:solidFill>
                <a:latin typeface="Verdana"/>
                <a:cs typeface="Verdana"/>
              </a:rPr>
              <a:t>if</a:t>
            </a:r>
            <a:r>
              <a:rPr sz="2000" spc="-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Verdana"/>
                <a:cs typeface="Verdana"/>
              </a:rPr>
              <a:t>Store</a:t>
            </a:r>
            <a:r>
              <a:rPr sz="2000" spc="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0000"/>
                </a:solidFill>
                <a:latin typeface="Verdana"/>
                <a:cs typeface="Verdana"/>
              </a:rPr>
              <a:t>(flag)</a:t>
            </a:r>
            <a:r>
              <a:rPr sz="2000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Verdana"/>
                <a:cs typeface="Verdana"/>
              </a:rPr>
              <a:t>&gt;</a:t>
            </a:r>
            <a:r>
              <a:rPr sz="2000" spc="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Verdana"/>
                <a:cs typeface="Verdana"/>
              </a:rPr>
              <a:t>Store</a:t>
            </a:r>
            <a:r>
              <a:rPr sz="20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Verdana"/>
                <a:cs typeface="Verdana"/>
              </a:rPr>
              <a:t>(a);</a:t>
            </a:r>
            <a:r>
              <a:rPr sz="2000" spc="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Verdana"/>
                <a:cs typeface="Verdana"/>
              </a:rPr>
              <a:t>0</a:t>
            </a:r>
            <a:r>
              <a:rPr sz="2000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FF0000"/>
                </a:solidFill>
                <a:latin typeface="Verdana"/>
                <a:cs typeface="Verdana"/>
              </a:rPr>
              <a:t>or</a:t>
            </a:r>
            <a:r>
              <a:rPr sz="2000" spc="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Verdana"/>
                <a:cs typeface="Verdana"/>
              </a:rPr>
              <a:t>10</a:t>
            </a:r>
            <a:r>
              <a:rPr sz="2000" spc="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Verdana"/>
                <a:cs typeface="Verdana"/>
              </a:rPr>
              <a:t>otherwise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08FC0D1D-DD2E-ADB0-2F40-894D983A9D87}"/>
              </a:ext>
            </a:extLst>
          </p:cNvPr>
          <p:cNvSpPr txBox="1"/>
          <p:nvPr/>
        </p:nvSpPr>
        <p:spPr>
          <a:xfrm>
            <a:off x="1373504" y="1284952"/>
            <a:ext cx="5841211" cy="1650452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710"/>
              </a:spcBef>
            </a:pPr>
            <a:r>
              <a:rPr sz="2400" i="1" spc="-10" dirty="0">
                <a:latin typeface="Verdana"/>
                <a:cs typeface="Verdana"/>
              </a:rPr>
              <a:t>Initial</a:t>
            </a:r>
            <a:r>
              <a:rPr sz="2400" i="1" spc="2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memory</a:t>
            </a:r>
            <a:r>
              <a:rPr sz="2400" i="1" spc="-10" dirty="0">
                <a:latin typeface="Verdana"/>
                <a:cs typeface="Verdana"/>
              </a:rPr>
              <a:t> </a:t>
            </a:r>
            <a:r>
              <a:rPr sz="2400" i="1" spc="-5" dirty="0">
                <a:latin typeface="Verdana"/>
                <a:cs typeface="Verdana"/>
              </a:rPr>
              <a:t>contents</a:t>
            </a:r>
            <a:endParaRPr sz="2400" dirty="0">
              <a:latin typeface="Verdana"/>
              <a:cs typeface="Verdana"/>
            </a:endParaRPr>
          </a:p>
          <a:p>
            <a:pPr marL="88900">
              <a:lnSpc>
                <a:spcPct val="100000"/>
              </a:lnSpc>
              <a:spcBef>
                <a:spcPts val="500"/>
              </a:spcBef>
            </a:pPr>
            <a:r>
              <a:rPr sz="2000" spc="-5" dirty="0">
                <a:solidFill>
                  <a:srgbClr val="90A57B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551179"/>
                </a:solidFill>
                <a:latin typeface="Verdana"/>
                <a:cs typeface="Verdana"/>
              </a:rPr>
              <a:t>:</a:t>
            </a:r>
            <a:r>
              <a:rPr sz="2000" spc="-5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51179"/>
                </a:solidFill>
                <a:latin typeface="Verdana"/>
                <a:cs typeface="Verdana"/>
              </a:rPr>
              <a:t>0</a:t>
            </a:r>
            <a:r>
              <a:rPr lang="en-US" sz="2000" spc="-10" dirty="0">
                <a:solidFill>
                  <a:srgbClr val="551179"/>
                </a:solidFill>
                <a:latin typeface="Verdana"/>
                <a:cs typeface="Verdana"/>
              </a:rPr>
              <a:t>     // memory location a storing zero</a:t>
            </a:r>
            <a:endParaRPr sz="2000" dirty="0">
              <a:latin typeface="Verdana"/>
              <a:cs typeface="Verdana"/>
            </a:endParaRPr>
          </a:p>
          <a:p>
            <a:pPr marL="889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FF0000"/>
                </a:solidFill>
                <a:latin typeface="Verdana"/>
                <a:cs typeface="Verdana"/>
              </a:rPr>
              <a:t>flag</a:t>
            </a:r>
            <a:r>
              <a:rPr sz="2000" dirty="0">
                <a:solidFill>
                  <a:srgbClr val="551179"/>
                </a:solidFill>
                <a:latin typeface="Verdana"/>
                <a:cs typeface="Verdana"/>
              </a:rPr>
              <a:t>:</a:t>
            </a:r>
            <a:r>
              <a:rPr sz="2000" spc="-7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51179"/>
                </a:solidFill>
                <a:latin typeface="Verdana"/>
                <a:cs typeface="Verdana"/>
              </a:rPr>
              <a:t>0</a:t>
            </a:r>
            <a:r>
              <a:rPr lang="en-US" sz="2000" spc="-5" dirty="0">
                <a:solidFill>
                  <a:srgbClr val="551179"/>
                </a:solidFill>
                <a:latin typeface="Verdana"/>
                <a:cs typeface="Verdana"/>
              </a:rPr>
              <a:t> // memory location flag storing zero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  <a:tabLst>
                <a:tab pos="1703705" algn="l"/>
                <a:tab pos="3670935" algn="l"/>
                <a:tab pos="5359400" algn="l"/>
              </a:tabLst>
            </a:pPr>
            <a:r>
              <a:rPr sz="2400" i="1" spc="-5" dirty="0">
                <a:latin typeface="Verdana"/>
                <a:cs typeface="Verdana"/>
              </a:rPr>
              <a:t>Pr</a:t>
            </a:r>
            <a:r>
              <a:rPr sz="2400" i="1" spc="10" dirty="0">
                <a:latin typeface="Verdana"/>
                <a:cs typeface="Verdana"/>
              </a:rPr>
              <a:t>o</a:t>
            </a:r>
            <a:r>
              <a:rPr sz="2400" i="1" dirty="0">
                <a:latin typeface="Verdana"/>
                <a:cs typeface="Verdana"/>
              </a:rPr>
              <a:t>c</a:t>
            </a:r>
            <a:r>
              <a:rPr sz="2400" i="1" spc="5" dirty="0">
                <a:latin typeface="Verdana"/>
                <a:cs typeface="Verdana"/>
              </a:rPr>
              <a:t>e</a:t>
            </a:r>
            <a:r>
              <a:rPr sz="2400" i="1" dirty="0">
                <a:latin typeface="Verdana"/>
                <a:cs typeface="Verdana"/>
              </a:rPr>
              <a:t>ss</a:t>
            </a:r>
            <a:r>
              <a:rPr sz="2400" i="1" spc="5" dirty="0">
                <a:latin typeface="Verdana"/>
                <a:cs typeface="Verdana"/>
              </a:rPr>
              <a:t>o</a:t>
            </a:r>
            <a:r>
              <a:rPr sz="2400" i="1" dirty="0">
                <a:latin typeface="Verdana"/>
                <a:cs typeface="Verdana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Verdana"/>
                <a:cs typeface="Verdana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5" dirty="0">
                <a:latin typeface="Verdana"/>
                <a:cs typeface="Verdana"/>
              </a:rPr>
              <a:t>Pr</a:t>
            </a:r>
            <a:r>
              <a:rPr sz="2400" i="1" dirty="0">
                <a:latin typeface="Verdana"/>
                <a:cs typeface="Verdana"/>
              </a:rPr>
              <a:t>ocess</a:t>
            </a:r>
            <a:r>
              <a:rPr sz="2400" i="1" spc="5" dirty="0">
                <a:latin typeface="Verdana"/>
                <a:cs typeface="Verdana"/>
              </a:rPr>
              <a:t>o</a:t>
            </a:r>
            <a:r>
              <a:rPr sz="2400" i="1" dirty="0">
                <a:latin typeface="Verdana"/>
                <a:cs typeface="Verdana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Verdana"/>
                <a:cs typeface="Verdana"/>
              </a:rPr>
              <a:t>2</a:t>
            </a:r>
            <a:endParaRPr sz="2400" dirty="0">
              <a:latin typeface="Verdana"/>
              <a:cs typeface="Verdana"/>
            </a:endParaRP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60C6C084-7B22-C4DB-0E69-7B35589D79DA}"/>
              </a:ext>
            </a:extLst>
          </p:cNvPr>
          <p:cNvGraphicFramePr>
            <a:graphicFrameLocks noGrp="1"/>
          </p:cNvGraphicFramePr>
          <p:nvPr/>
        </p:nvGraphicFramePr>
        <p:xfrm>
          <a:off x="1354454" y="2985376"/>
          <a:ext cx="5941694" cy="10396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7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0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1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Store</a:t>
                      </a:r>
                      <a:r>
                        <a:rPr sz="2000" spc="-15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-5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(</a:t>
                      </a:r>
                      <a:r>
                        <a:rPr sz="2000" spc="-5" dirty="0">
                          <a:solidFill>
                            <a:srgbClr val="90A57B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000" spc="-5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),</a:t>
                      </a:r>
                      <a:r>
                        <a:rPr sz="2000" spc="-15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-5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10;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6273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15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L: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1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Load r1, </a:t>
                      </a:r>
                      <a:r>
                        <a:rPr sz="200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(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flag</a:t>
                      </a:r>
                      <a:r>
                        <a:rPr sz="200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);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52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-1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Store</a:t>
                      </a:r>
                      <a:r>
                        <a:rPr sz="2000" spc="-2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(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flag</a:t>
                      </a:r>
                      <a:r>
                        <a:rPr sz="200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),</a:t>
                      </a:r>
                      <a:r>
                        <a:rPr sz="2000" spc="-4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-5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1;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spc="1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if</a:t>
                      </a:r>
                      <a:r>
                        <a:rPr sz="2000" spc="-55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-15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2025" spc="-22" baseline="-20576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1</a:t>
                      </a:r>
                      <a:r>
                        <a:rPr sz="2025" spc="322" baseline="-20576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-1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==</a:t>
                      </a:r>
                      <a:r>
                        <a:rPr sz="200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spc="-1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0 </a:t>
                      </a:r>
                      <a:r>
                        <a:rPr sz="2000" spc="-5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goto </a:t>
                      </a:r>
                      <a:r>
                        <a:rPr sz="2000" spc="-1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L;</a:t>
                      </a:r>
                      <a:endParaRPr sz="2000">
                        <a:latin typeface="Verdana"/>
                        <a:cs typeface="Verdana"/>
                      </a:endParaRPr>
                    </a:p>
                    <a:p>
                      <a:pPr marL="107314">
                        <a:lnSpc>
                          <a:spcPts val="2320"/>
                        </a:lnSpc>
                        <a:spcBef>
                          <a:spcPts val="480"/>
                        </a:spcBef>
                      </a:pPr>
                      <a:r>
                        <a:rPr sz="2000" spc="-1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Load r2,</a:t>
                      </a:r>
                      <a:r>
                        <a:rPr sz="2000" spc="-15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00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(</a:t>
                      </a:r>
                      <a:r>
                        <a:rPr sz="2000" dirty="0">
                          <a:solidFill>
                            <a:srgbClr val="90A57B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000" dirty="0">
                          <a:solidFill>
                            <a:srgbClr val="551179"/>
                          </a:solidFill>
                          <a:latin typeface="Verdana"/>
                          <a:cs typeface="Verdana"/>
                        </a:rPr>
                        <a:t>);</a:t>
                      </a:r>
                      <a:endParaRPr sz="2000">
                        <a:latin typeface="Verdana"/>
                        <a:cs typeface="Verdana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6821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4A2BD-991E-8E9E-5A04-8DA5D609D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definition, An important one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5A00A-547E-EAB9-E8E7-78042BBB7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400" b="0" i="1" u="none" strike="noStrike" baseline="0" dirty="0">
                <a:latin typeface="ACaslonPro-Italic-Identity-H"/>
              </a:rPr>
              <a:t>memory consistency model</a:t>
            </a:r>
            <a:r>
              <a:rPr lang="en-US" sz="2400" b="0" i="0" u="none" strike="noStrike" baseline="0" dirty="0">
                <a:latin typeface="ACaslonPro-Regular-Identity-H"/>
              </a:rPr>
              <a:t>, or, more simply, a </a:t>
            </a:r>
            <a:r>
              <a:rPr lang="en-US" sz="2400" b="0" i="1" u="none" strike="noStrike" baseline="0" dirty="0">
                <a:latin typeface="ACaslonPro-Italic-Identity-H"/>
              </a:rPr>
              <a:t>memory model</a:t>
            </a:r>
            <a:r>
              <a:rPr lang="en-US" sz="2400" b="0" i="0" u="none" strike="noStrike" baseline="0" dirty="0">
                <a:latin typeface="ACaslonPro-Regular-Identity-H"/>
              </a:rPr>
              <a:t>, is a specification of the allowed behavior of multithreaded programs executing with shared memory. For a multithreaded program executing with specific input data, it specifies what values dynamic loads may return. Unlike a single-threaded execution, 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ACaslonPro-Regular-Identity-H"/>
              </a:rPr>
              <a:t>multiple correct behaviors are usually allowed.</a:t>
            </a:r>
            <a:endParaRPr lang="en-IN" sz="2400" dirty="0">
              <a:solidFill>
                <a:srgbClr val="C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2D4D85-F8B4-D83E-0636-05F173011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B4B739-9E29-BB73-CFEC-0B02F91ED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8523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8A0DC-1B60-E2B2-71CC-347EF1C06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definition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2BE6C-CAEE-7E6F-1182-BE82AD2DD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4C51F-05DA-FF17-DB85-AABBC904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79FE7933-6B7B-7A7F-0B01-208D09184D99}"/>
              </a:ext>
            </a:extLst>
          </p:cNvPr>
          <p:cNvSpPr txBox="1"/>
          <p:nvPr/>
        </p:nvSpPr>
        <p:spPr>
          <a:xfrm>
            <a:off x="1144927" y="3042616"/>
            <a:ext cx="10822659" cy="27744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spc="-55" dirty="0">
                <a:solidFill>
                  <a:srgbClr val="551179"/>
                </a:solidFill>
                <a:latin typeface="Verdana"/>
                <a:cs typeface="Verdana"/>
              </a:rPr>
              <a:t>“A</a:t>
            </a:r>
            <a:r>
              <a:rPr sz="200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51179"/>
                </a:solidFill>
                <a:latin typeface="Verdana"/>
                <a:cs typeface="Verdana"/>
              </a:rPr>
              <a:t>system</a:t>
            </a:r>
            <a:r>
              <a:rPr sz="2000" spc="4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551179"/>
                </a:solidFill>
                <a:latin typeface="Verdana"/>
                <a:cs typeface="Verdana"/>
              </a:rPr>
              <a:t>is</a:t>
            </a:r>
            <a:r>
              <a:rPr sz="2000" spc="-3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i="1" spc="-10" dirty="0">
                <a:solidFill>
                  <a:srgbClr val="551179"/>
                </a:solidFill>
                <a:latin typeface="Verdana"/>
                <a:cs typeface="Verdana"/>
              </a:rPr>
              <a:t>sequentially</a:t>
            </a:r>
            <a:r>
              <a:rPr sz="2000" i="1" spc="1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i="1" spc="-10" dirty="0">
                <a:solidFill>
                  <a:srgbClr val="551179"/>
                </a:solidFill>
                <a:latin typeface="Verdana"/>
                <a:cs typeface="Verdana"/>
              </a:rPr>
              <a:t>consistent</a:t>
            </a:r>
            <a:r>
              <a:rPr sz="2000" i="1" spc="2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551179"/>
                </a:solidFill>
                <a:latin typeface="Verdana"/>
                <a:cs typeface="Verdana"/>
              </a:rPr>
              <a:t>if</a:t>
            </a:r>
            <a:r>
              <a:rPr sz="2000" spc="-4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551179"/>
                </a:solidFill>
                <a:latin typeface="Verdana"/>
                <a:cs typeface="Verdana"/>
              </a:rPr>
              <a:t>the</a:t>
            </a:r>
            <a:r>
              <a:rPr sz="2000" spc="-1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51179"/>
                </a:solidFill>
                <a:latin typeface="Verdana"/>
                <a:cs typeface="Verdana"/>
              </a:rPr>
              <a:t>result </a:t>
            </a:r>
            <a:r>
              <a:rPr sz="2000" spc="-10" dirty="0">
                <a:solidFill>
                  <a:srgbClr val="551179"/>
                </a:solidFill>
                <a:latin typeface="Verdana"/>
                <a:cs typeface="Verdana"/>
              </a:rPr>
              <a:t>of </a:t>
            </a:r>
            <a:r>
              <a:rPr sz="2000" spc="-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51179"/>
                </a:solidFill>
                <a:latin typeface="Verdana"/>
                <a:cs typeface="Verdana"/>
              </a:rPr>
              <a:t>any execution </a:t>
            </a:r>
            <a:r>
              <a:rPr sz="2000" spc="5" dirty="0">
                <a:solidFill>
                  <a:srgbClr val="551179"/>
                </a:solidFill>
                <a:latin typeface="Verdana"/>
                <a:cs typeface="Verdana"/>
              </a:rPr>
              <a:t>is </a:t>
            </a:r>
            <a:r>
              <a:rPr sz="2000" dirty="0">
                <a:solidFill>
                  <a:srgbClr val="551179"/>
                </a:solidFill>
                <a:latin typeface="Verdana"/>
                <a:cs typeface="Verdana"/>
              </a:rPr>
              <a:t>the </a:t>
            </a:r>
            <a:r>
              <a:rPr sz="2000" spc="-10" dirty="0">
                <a:solidFill>
                  <a:srgbClr val="551179"/>
                </a:solidFill>
                <a:latin typeface="Verdana"/>
                <a:cs typeface="Verdana"/>
              </a:rPr>
              <a:t>same </a:t>
            </a:r>
            <a:r>
              <a:rPr sz="2000" spc="-5" dirty="0">
                <a:solidFill>
                  <a:srgbClr val="551179"/>
                </a:solidFill>
                <a:latin typeface="Verdana"/>
                <a:cs typeface="Verdana"/>
              </a:rPr>
              <a:t>as </a:t>
            </a:r>
            <a:r>
              <a:rPr sz="2000" spc="10" dirty="0">
                <a:solidFill>
                  <a:srgbClr val="551179"/>
                </a:solidFill>
                <a:latin typeface="Verdana"/>
                <a:cs typeface="Verdana"/>
              </a:rPr>
              <a:t>if </a:t>
            </a:r>
            <a:r>
              <a:rPr sz="2000" dirty="0">
                <a:solidFill>
                  <a:srgbClr val="551179"/>
                </a:solidFill>
                <a:latin typeface="Verdana"/>
                <a:cs typeface="Verdana"/>
              </a:rPr>
              <a:t>the </a:t>
            </a:r>
            <a:r>
              <a:rPr sz="2000" spc="-10" dirty="0">
                <a:solidFill>
                  <a:srgbClr val="551179"/>
                </a:solidFill>
                <a:latin typeface="Verdana"/>
                <a:cs typeface="Verdana"/>
              </a:rPr>
              <a:t>operations of </a:t>
            </a:r>
            <a:r>
              <a:rPr sz="2000" spc="5" dirty="0">
                <a:solidFill>
                  <a:srgbClr val="551179"/>
                </a:solidFill>
                <a:latin typeface="Verdana"/>
                <a:cs typeface="Verdana"/>
              </a:rPr>
              <a:t>all </a:t>
            </a:r>
            <a:r>
              <a:rPr sz="2000" spc="-5" dirty="0">
                <a:solidFill>
                  <a:srgbClr val="551179"/>
                </a:solidFill>
                <a:latin typeface="Verdana"/>
                <a:cs typeface="Verdana"/>
              </a:rPr>
              <a:t>the</a:t>
            </a:r>
            <a:r>
              <a:rPr sz="2000" spc="-2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551179"/>
                </a:solidFill>
                <a:latin typeface="Verdana"/>
                <a:cs typeface="Verdana"/>
              </a:rPr>
              <a:t>processors</a:t>
            </a:r>
            <a:r>
              <a:rPr sz="2000" spc="7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551179"/>
                </a:solidFill>
                <a:latin typeface="Verdana"/>
                <a:cs typeface="Verdana"/>
              </a:rPr>
              <a:t>were</a:t>
            </a:r>
            <a:r>
              <a:rPr sz="200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551179"/>
                </a:solidFill>
                <a:latin typeface="Verdana"/>
                <a:cs typeface="Verdana"/>
              </a:rPr>
              <a:t>executed</a:t>
            </a:r>
            <a:r>
              <a:rPr sz="2000" spc="4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551179"/>
                </a:solidFill>
                <a:latin typeface="Verdana"/>
                <a:cs typeface="Verdana"/>
              </a:rPr>
              <a:t>in</a:t>
            </a:r>
            <a:r>
              <a:rPr sz="2000" spc="-2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51179"/>
                </a:solidFill>
                <a:latin typeface="Verdana"/>
                <a:cs typeface="Verdana"/>
              </a:rPr>
              <a:t>some</a:t>
            </a:r>
            <a:r>
              <a:rPr sz="2000" spc="2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51179"/>
                </a:solidFill>
                <a:latin typeface="Verdana"/>
                <a:cs typeface="Verdana"/>
              </a:rPr>
              <a:t>sequential </a:t>
            </a:r>
            <a:r>
              <a:rPr sz="2000" spc="-60" dirty="0">
                <a:solidFill>
                  <a:srgbClr val="551179"/>
                </a:solidFill>
                <a:latin typeface="Verdana"/>
                <a:cs typeface="Verdana"/>
              </a:rPr>
              <a:t>order,</a:t>
            </a:r>
            <a:r>
              <a:rPr sz="2000" spc="5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51179"/>
                </a:solidFill>
                <a:latin typeface="Verdana"/>
                <a:cs typeface="Verdana"/>
              </a:rPr>
              <a:t>and</a:t>
            </a:r>
            <a:r>
              <a:rPr sz="2000" spc="-3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551179"/>
                </a:solidFill>
                <a:latin typeface="Verdana"/>
                <a:cs typeface="Verdana"/>
              </a:rPr>
              <a:t>the</a:t>
            </a:r>
            <a:r>
              <a:rPr sz="2000" spc="-1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51179"/>
                </a:solidFill>
                <a:latin typeface="Verdana"/>
                <a:cs typeface="Verdana"/>
              </a:rPr>
              <a:t>operations</a:t>
            </a:r>
            <a:r>
              <a:rPr sz="2000" spc="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51179"/>
                </a:solidFill>
                <a:latin typeface="Verdana"/>
                <a:cs typeface="Verdana"/>
              </a:rPr>
              <a:t>of</a:t>
            </a:r>
            <a:r>
              <a:rPr sz="2000" spc="1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51179"/>
                </a:solidFill>
                <a:latin typeface="Verdana"/>
                <a:cs typeface="Verdana"/>
              </a:rPr>
              <a:t>each</a:t>
            </a:r>
            <a:r>
              <a:rPr sz="200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551179"/>
                </a:solidFill>
                <a:latin typeface="Verdana"/>
                <a:cs typeface="Verdana"/>
              </a:rPr>
              <a:t>individual</a:t>
            </a:r>
            <a:r>
              <a:rPr sz="2000" spc="-7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551179"/>
                </a:solidFill>
                <a:latin typeface="Verdana"/>
                <a:cs typeface="Verdana"/>
              </a:rPr>
              <a:t>processor </a:t>
            </a:r>
            <a:r>
              <a:rPr sz="2000" spc="-69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51179"/>
                </a:solidFill>
                <a:latin typeface="Verdana"/>
                <a:cs typeface="Verdana"/>
              </a:rPr>
              <a:t>appear</a:t>
            </a:r>
            <a:r>
              <a:rPr sz="2000" spc="5" dirty="0">
                <a:solidFill>
                  <a:srgbClr val="551179"/>
                </a:solidFill>
                <a:latin typeface="Verdana"/>
                <a:cs typeface="Verdana"/>
              </a:rPr>
              <a:t> in</a:t>
            </a:r>
            <a:r>
              <a:rPr sz="2000" spc="-2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551179"/>
                </a:solidFill>
                <a:latin typeface="Verdana"/>
                <a:cs typeface="Verdana"/>
              </a:rPr>
              <a:t>the</a:t>
            </a:r>
            <a:r>
              <a:rPr sz="2000" spc="-15" dirty="0">
                <a:solidFill>
                  <a:srgbClr val="551179"/>
                </a:solidFill>
                <a:latin typeface="Verdana"/>
                <a:cs typeface="Verdana"/>
              </a:rPr>
              <a:t> order</a:t>
            </a:r>
            <a:r>
              <a:rPr sz="2000" spc="2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51179"/>
                </a:solidFill>
                <a:latin typeface="Verdana"/>
                <a:cs typeface="Verdana"/>
              </a:rPr>
              <a:t>specified</a:t>
            </a:r>
            <a:r>
              <a:rPr sz="2000" spc="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51179"/>
                </a:solidFill>
                <a:latin typeface="Verdana"/>
                <a:cs typeface="Verdana"/>
              </a:rPr>
              <a:t>by </a:t>
            </a:r>
            <a:r>
              <a:rPr sz="2000" dirty="0">
                <a:solidFill>
                  <a:srgbClr val="551179"/>
                </a:solidFill>
                <a:latin typeface="Verdana"/>
                <a:cs typeface="Verdana"/>
              </a:rPr>
              <a:t>the</a:t>
            </a:r>
            <a:r>
              <a:rPr sz="2000" spc="-15" dirty="0">
                <a:solidFill>
                  <a:srgbClr val="551179"/>
                </a:solidFill>
                <a:latin typeface="Verdana"/>
                <a:cs typeface="Verdana"/>
              </a:rPr>
              <a:t> program”</a:t>
            </a:r>
            <a:endParaRPr sz="2000" dirty="0">
              <a:latin typeface="Verdana"/>
              <a:cs typeface="Verdana"/>
            </a:endParaRPr>
          </a:p>
          <a:p>
            <a:pPr marL="4674235">
              <a:lnSpc>
                <a:spcPct val="100000"/>
              </a:lnSpc>
              <a:spcBef>
                <a:spcPts val="5"/>
              </a:spcBef>
            </a:pPr>
            <a:r>
              <a:rPr lang="en-US" sz="2000" i="1" spc="-10" dirty="0">
                <a:solidFill>
                  <a:srgbClr val="551179"/>
                </a:solidFill>
                <a:latin typeface="Verdana"/>
                <a:cs typeface="Verdana"/>
              </a:rPr>
              <a:t>          </a:t>
            </a:r>
            <a:r>
              <a:rPr sz="2000" i="1" spc="-10" dirty="0">
                <a:solidFill>
                  <a:srgbClr val="551179"/>
                </a:solidFill>
                <a:latin typeface="Verdana"/>
                <a:cs typeface="Verdana"/>
              </a:rPr>
              <a:t>Leslie</a:t>
            </a:r>
            <a:r>
              <a:rPr sz="2000" i="1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i="1" spc="-10" dirty="0" err="1">
                <a:solidFill>
                  <a:srgbClr val="551179"/>
                </a:solidFill>
                <a:latin typeface="Verdana"/>
                <a:cs typeface="Verdana"/>
              </a:rPr>
              <a:t>Lamport</a:t>
            </a:r>
            <a:r>
              <a:rPr lang="en-US" sz="2000" i="1" spc="-10" dirty="0">
                <a:solidFill>
                  <a:srgbClr val="551179"/>
                </a:solidFill>
                <a:latin typeface="Verdana"/>
                <a:cs typeface="Verdana"/>
              </a:rPr>
              <a:t>, Turing award winner</a:t>
            </a:r>
            <a:endParaRPr sz="2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Verdana"/>
                <a:cs typeface="Verdana"/>
              </a:rPr>
              <a:t>Sequential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Consistency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=</a:t>
            </a:r>
            <a:endParaRPr sz="2000" dirty="0">
              <a:latin typeface="Verdana"/>
              <a:cs typeface="Verdana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Verdana"/>
                <a:cs typeface="Verdana"/>
              </a:rPr>
              <a:t>arbitrary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i="1" spc="-10" dirty="0">
                <a:latin typeface="Verdana"/>
                <a:cs typeface="Verdana"/>
              </a:rPr>
              <a:t>order-preserving</a:t>
            </a:r>
            <a:r>
              <a:rPr sz="2000" i="1" spc="90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interleaving</a:t>
            </a:r>
            <a:endParaRPr sz="2000" dirty="0">
              <a:latin typeface="Verdana"/>
              <a:cs typeface="Verdana"/>
            </a:endParaRPr>
          </a:p>
          <a:p>
            <a:pPr marL="927100">
              <a:lnSpc>
                <a:spcPct val="100000"/>
              </a:lnSpc>
            </a:pPr>
            <a:r>
              <a:rPr sz="2000" spc="-10" dirty="0">
                <a:latin typeface="Verdana"/>
                <a:cs typeface="Verdana"/>
              </a:rPr>
              <a:t>of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memory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references</a:t>
            </a:r>
            <a:r>
              <a:rPr sz="2000" spc="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of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sequential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programs</a:t>
            </a:r>
            <a:endParaRPr sz="2000" dirty="0">
              <a:latin typeface="Verdana"/>
              <a:cs typeface="Verdana"/>
            </a:endParaRPr>
          </a:p>
        </p:txBody>
      </p:sp>
      <p:grpSp>
        <p:nvGrpSpPr>
          <p:cNvPr id="7" name="object 13">
            <a:extLst>
              <a:ext uri="{FF2B5EF4-FFF2-40B4-BE49-F238E27FC236}">
                <a16:creationId xmlns:a16="http://schemas.microsoft.com/office/drawing/2014/main" id="{CDB2F834-0165-6D7A-2B8B-56C23E0C159A}"/>
              </a:ext>
            </a:extLst>
          </p:cNvPr>
          <p:cNvGrpSpPr/>
          <p:nvPr/>
        </p:nvGrpSpPr>
        <p:grpSpPr>
          <a:xfrm>
            <a:off x="2932048" y="1398841"/>
            <a:ext cx="3072765" cy="896619"/>
            <a:chOff x="2932048" y="1398841"/>
            <a:chExt cx="3072765" cy="896619"/>
          </a:xfrm>
        </p:grpSpPr>
        <p:sp>
          <p:nvSpPr>
            <p:cNvPr id="8" name="object 14">
              <a:extLst>
                <a:ext uri="{FF2B5EF4-FFF2-40B4-BE49-F238E27FC236}">
                  <a16:creationId xmlns:a16="http://schemas.microsoft.com/office/drawing/2014/main" id="{60294763-941B-246F-C634-64459172B235}"/>
                </a:ext>
              </a:extLst>
            </p:cNvPr>
            <p:cNvSpPr/>
            <p:nvPr/>
          </p:nvSpPr>
          <p:spPr>
            <a:xfrm>
              <a:off x="2958083" y="2025396"/>
              <a:ext cx="3020695" cy="0"/>
            </a:xfrm>
            <a:custGeom>
              <a:avLst/>
              <a:gdLst/>
              <a:ahLst/>
              <a:cxnLst/>
              <a:rect l="l" t="t" r="r" b="b"/>
              <a:pathLst>
                <a:path w="3020695">
                  <a:moveTo>
                    <a:pt x="0" y="0"/>
                  </a:moveTo>
                  <a:lnTo>
                    <a:pt x="3020567" y="0"/>
                  </a:lnTo>
                </a:path>
              </a:pathLst>
            </a:custGeom>
            <a:ln w="518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5">
              <a:extLst>
                <a:ext uri="{FF2B5EF4-FFF2-40B4-BE49-F238E27FC236}">
                  <a16:creationId xmlns:a16="http://schemas.microsoft.com/office/drawing/2014/main" id="{FFF2860D-9859-2DBE-71D3-544A4A1F178A}"/>
                </a:ext>
              </a:extLst>
            </p:cNvPr>
            <p:cNvSpPr/>
            <p:nvPr/>
          </p:nvSpPr>
          <p:spPr>
            <a:xfrm>
              <a:off x="3087623" y="1761744"/>
              <a:ext cx="1341120" cy="521334"/>
            </a:xfrm>
            <a:custGeom>
              <a:avLst/>
              <a:gdLst/>
              <a:ahLst/>
              <a:cxnLst/>
              <a:rect l="l" t="t" r="r" b="b"/>
              <a:pathLst>
                <a:path w="1341120" h="521335">
                  <a:moveTo>
                    <a:pt x="1341119" y="274319"/>
                  </a:moveTo>
                  <a:lnTo>
                    <a:pt x="1341119" y="521207"/>
                  </a:lnTo>
                </a:path>
                <a:path w="1341120" h="521335">
                  <a:moveTo>
                    <a:pt x="0" y="0"/>
                  </a:moveTo>
                  <a:lnTo>
                    <a:pt x="0" y="246887"/>
                  </a:lnTo>
                </a:path>
              </a:pathLst>
            </a:custGeom>
            <a:ln w="24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6">
              <a:extLst>
                <a:ext uri="{FF2B5EF4-FFF2-40B4-BE49-F238E27FC236}">
                  <a16:creationId xmlns:a16="http://schemas.microsoft.com/office/drawing/2014/main" id="{6EEC648C-3DF4-994A-5588-AEDE7DC30221}"/>
                </a:ext>
              </a:extLst>
            </p:cNvPr>
            <p:cNvSpPr/>
            <p:nvPr/>
          </p:nvSpPr>
          <p:spPr>
            <a:xfrm>
              <a:off x="3639311" y="1778508"/>
              <a:ext cx="2207260" cy="230504"/>
            </a:xfrm>
            <a:custGeom>
              <a:avLst/>
              <a:gdLst/>
              <a:ahLst/>
              <a:cxnLst/>
              <a:rect l="l" t="t" r="r" b="b"/>
              <a:pathLst>
                <a:path w="2207260" h="230505">
                  <a:moveTo>
                    <a:pt x="2206751" y="0"/>
                  </a:moveTo>
                  <a:lnTo>
                    <a:pt x="2206751" y="230123"/>
                  </a:lnTo>
                </a:path>
                <a:path w="2207260" h="230505">
                  <a:moveTo>
                    <a:pt x="1655063" y="0"/>
                  </a:moveTo>
                  <a:lnTo>
                    <a:pt x="1655063" y="230123"/>
                  </a:lnTo>
                </a:path>
                <a:path w="2207260" h="230505">
                  <a:moveTo>
                    <a:pt x="551687" y="0"/>
                  </a:moveTo>
                  <a:lnTo>
                    <a:pt x="551687" y="230123"/>
                  </a:lnTo>
                </a:path>
                <a:path w="2207260" h="230505">
                  <a:moveTo>
                    <a:pt x="1103375" y="0"/>
                  </a:moveTo>
                  <a:lnTo>
                    <a:pt x="1103375" y="230123"/>
                  </a:lnTo>
                </a:path>
                <a:path w="2207260" h="230505">
                  <a:moveTo>
                    <a:pt x="0" y="0"/>
                  </a:moveTo>
                  <a:lnTo>
                    <a:pt x="0" y="230123"/>
                  </a:lnTo>
                </a:path>
              </a:pathLst>
            </a:custGeom>
            <a:ln w="24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7">
              <a:extLst>
                <a:ext uri="{FF2B5EF4-FFF2-40B4-BE49-F238E27FC236}">
                  <a16:creationId xmlns:a16="http://schemas.microsoft.com/office/drawing/2014/main" id="{BD4D3221-7A46-6868-AF69-E640ECAB1125}"/>
                </a:ext>
              </a:extLst>
            </p:cNvPr>
            <p:cNvSpPr/>
            <p:nvPr/>
          </p:nvSpPr>
          <p:spPr>
            <a:xfrm>
              <a:off x="3509771" y="1403604"/>
              <a:ext cx="326390" cy="375285"/>
            </a:xfrm>
            <a:custGeom>
              <a:avLst/>
              <a:gdLst/>
              <a:ahLst/>
              <a:cxnLst/>
              <a:rect l="l" t="t" r="r" b="b"/>
              <a:pathLst>
                <a:path w="326389" h="375285">
                  <a:moveTo>
                    <a:pt x="326135" y="0"/>
                  </a:moveTo>
                  <a:lnTo>
                    <a:pt x="0" y="0"/>
                  </a:lnTo>
                  <a:lnTo>
                    <a:pt x="0" y="374903"/>
                  </a:lnTo>
                  <a:lnTo>
                    <a:pt x="326135" y="374903"/>
                  </a:lnTo>
                  <a:lnTo>
                    <a:pt x="326135" y="0"/>
                  </a:lnTo>
                  <a:close/>
                </a:path>
              </a:pathLst>
            </a:custGeom>
            <a:solidFill>
              <a:srgbClr val="90A5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8">
              <a:extLst>
                <a:ext uri="{FF2B5EF4-FFF2-40B4-BE49-F238E27FC236}">
                  <a16:creationId xmlns:a16="http://schemas.microsoft.com/office/drawing/2014/main" id="{BA0746B1-8B36-10C7-26C7-14F4C6165F17}"/>
                </a:ext>
              </a:extLst>
            </p:cNvPr>
            <p:cNvSpPr/>
            <p:nvPr/>
          </p:nvSpPr>
          <p:spPr>
            <a:xfrm>
              <a:off x="3509771" y="1403604"/>
              <a:ext cx="326390" cy="375285"/>
            </a:xfrm>
            <a:custGeom>
              <a:avLst/>
              <a:gdLst/>
              <a:ahLst/>
              <a:cxnLst/>
              <a:rect l="l" t="t" r="r" b="b"/>
              <a:pathLst>
                <a:path w="326389" h="375285">
                  <a:moveTo>
                    <a:pt x="0" y="374903"/>
                  </a:moveTo>
                  <a:lnTo>
                    <a:pt x="326135" y="374903"/>
                  </a:lnTo>
                  <a:lnTo>
                    <a:pt x="326135" y="0"/>
                  </a:lnTo>
                  <a:lnTo>
                    <a:pt x="0" y="0"/>
                  </a:lnTo>
                  <a:lnTo>
                    <a:pt x="0" y="374903"/>
                  </a:lnTo>
                  <a:close/>
                </a:path>
              </a:pathLst>
            </a:custGeom>
            <a:ln w="914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073EF6-048D-4168-BFFE-789698625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101" y="136525"/>
            <a:ext cx="2188239" cy="2784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9205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6491C-FA17-33F1-E764-0A3360F9B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continue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9E3FB2-C3EF-2532-3A11-0CD92B5D2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3BDD5D-B83A-8DCE-8AF3-9073D4F77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78332B22-2606-6761-C4B9-EB495C578E67}"/>
              </a:ext>
            </a:extLst>
          </p:cNvPr>
          <p:cNvSpPr txBox="1"/>
          <p:nvPr/>
        </p:nvSpPr>
        <p:spPr>
          <a:xfrm>
            <a:off x="409144" y="3768976"/>
            <a:ext cx="8069580" cy="223520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67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Verdana"/>
                <a:cs typeface="Verdana"/>
              </a:rPr>
              <a:t>In-order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</a:t>
            </a:r>
            <a:r>
              <a:rPr sz="2400" spc="8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execution</a:t>
            </a:r>
            <a:endParaRPr sz="2400" dirty="0">
              <a:latin typeface="Verdana"/>
              <a:cs typeface="Verdana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Verdana"/>
                <a:cs typeface="Verdana"/>
              </a:rPr>
              <a:t>Atomic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loads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and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stores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850" dirty="0">
              <a:latin typeface="Verdana"/>
              <a:cs typeface="Verdana"/>
            </a:endParaRPr>
          </a:p>
          <a:p>
            <a:pPr marL="301625" marR="5080" indent="462915">
              <a:lnSpc>
                <a:spcPct val="100000"/>
              </a:lnSpc>
            </a:pPr>
            <a:r>
              <a:rPr sz="2400" i="1" spc="-5" dirty="0">
                <a:solidFill>
                  <a:srgbClr val="551179"/>
                </a:solidFill>
                <a:latin typeface="Verdana"/>
                <a:cs typeface="Verdana"/>
              </a:rPr>
              <a:t>SC </a:t>
            </a:r>
            <a:r>
              <a:rPr sz="2400" i="1" spc="-10" dirty="0">
                <a:solidFill>
                  <a:srgbClr val="551179"/>
                </a:solidFill>
                <a:latin typeface="Verdana"/>
                <a:cs typeface="Verdana"/>
              </a:rPr>
              <a:t>is</a:t>
            </a:r>
            <a:r>
              <a:rPr sz="2400" i="1" spc="4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400" i="1" dirty="0">
                <a:solidFill>
                  <a:srgbClr val="551179"/>
                </a:solidFill>
                <a:latin typeface="Verdana"/>
                <a:cs typeface="Verdana"/>
              </a:rPr>
              <a:t>easy</a:t>
            </a:r>
            <a:r>
              <a:rPr sz="2400" i="1" spc="-3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400" i="1" spc="-5" dirty="0">
                <a:solidFill>
                  <a:srgbClr val="551179"/>
                </a:solidFill>
                <a:latin typeface="Verdana"/>
                <a:cs typeface="Verdana"/>
              </a:rPr>
              <a:t>to</a:t>
            </a:r>
            <a:r>
              <a:rPr sz="2400" i="1" spc="2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400" i="1" spc="-5" dirty="0">
                <a:solidFill>
                  <a:srgbClr val="551179"/>
                </a:solidFill>
                <a:latin typeface="Verdana"/>
                <a:cs typeface="Verdana"/>
              </a:rPr>
              <a:t>understand,</a:t>
            </a:r>
            <a:r>
              <a:rPr sz="2400" i="1" spc="6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400" i="1" spc="-5" dirty="0">
                <a:solidFill>
                  <a:srgbClr val="551179"/>
                </a:solidFill>
                <a:latin typeface="Verdana"/>
                <a:cs typeface="Verdana"/>
              </a:rPr>
              <a:t>but</a:t>
            </a:r>
            <a:r>
              <a:rPr sz="2400" i="1" spc="3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400" i="1" spc="-5" dirty="0">
                <a:solidFill>
                  <a:srgbClr val="551179"/>
                </a:solidFill>
                <a:latin typeface="Verdana"/>
                <a:cs typeface="Verdana"/>
              </a:rPr>
              <a:t>architects</a:t>
            </a:r>
            <a:r>
              <a:rPr sz="2400" i="1" spc="4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400" i="1" dirty="0">
                <a:solidFill>
                  <a:srgbClr val="551179"/>
                </a:solidFill>
                <a:latin typeface="Verdana"/>
                <a:cs typeface="Verdana"/>
              </a:rPr>
              <a:t>and </a:t>
            </a:r>
            <a:r>
              <a:rPr sz="2400" i="1" spc="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400" i="1" spc="-5" dirty="0">
                <a:solidFill>
                  <a:srgbClr val="551179"/>
                </a:solidFill>
                <a:latin typeface="Verdana"/>
                <a:cs typeface="Verdana"/>
              </a:rPr>
              <a:t>compiler</a:t>
            </a:r>
            <a:r>
              <a:rPr sz="2400" i="1" spc="4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400" i="1" spc="-5" dirty="0">
                <a:solidFill>
                  <a:srgbClr val="551179"/>
                </a:solidFill>
                <a:latin typeface="Verdana"/>
                <a:cs typeface="Verdana"/>
              </a:rPr>
              <a:t>writers</a:t>
            </a:r>
            <a:r>
              <a:rPr sz="2400" i="1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400" i="1" spc="-5" dirty="0">
                <a:solidFill>
                  <a:srgbClr val="551179"/>
                </a:solidFill>
                <a:latin typeface="Verdana"/>
                <a:cs typeface="Verdana"/>
              </a:rPr>
              <a:t>want</a:t>
            </a:r>
            <a:r>
              <a:rPr sz="2400" i="1" spc="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400" i="1" spc="-5" dirty="0">
                <a:solidFill>
                  <a:srgbClr val="551179"/>
                </a:solidFill>
                <a:latin typeface="Verdana"/>
                <a:cs typeface="Verdana"/>
              </a:rPr>
              <a:t>to</a:t>
            </a:r>
            <a:r>
              <a:rPr sz="2400" i="1" spc="2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400" i="1" spc="-5" dirty="0">
                <a:solidFill>
                  <a:srgbClr val="551179"/>
                </a:solidFill>
                <a:latin typeface="Verdana"/>
                <a:cs typeface="Verdana"/>
              </a:rPr>
              <a:t>violate</a:t>
            </a:r>
            <a:r>
              <a:rPr sz="2400" i="1" spc="2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400" i="1" spc="-10" dirty="0">
                <a:solidFill>
                  <a:srgbClr val="551179"/>
                </a:solidFill>
                <a:latin typeface="Verdana"/>
                <a:cs typeface="Verdana"/>
              </a:rPr>
              <a:t>it</a:t>
            </a:r>
            <a:r>
              <a:rPr sz="2400" i="1" spc="3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400" i="1" dirty="0">
                <a:solidFill>
                  <a:srgbClr val="551179"/>
                </a:solidFill>
                <a:latin typeface="Verdana"/>
                <a:cs typeface="Verdana"/>
              </a:rPr>
              <a:t>for </a:t>
            </a:r>
            <a:r>
              <a:rPr sz="2400" i="1" spc="-5" dirty="0">
                <a:solidFill>
                  <a:srgbClr val="551179"/>
                </a:solidFill>
                <a:latin typeface="Verdana"/>
                <a:cs typeface="Verdana"/>
              </a:rPr>
              <a:t>performance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BC0EE61E-004D-1894-5C84-50A8D75EAB18}"/>
              </a:ext>
            </a:extLst>
          </p:cNvPr>
          <p:cNvSpPr txBox="1"/>
          <p:nvPr/>
        </p:nvSpPr>
        <p:spPr>
          <a:xfrm>
            <a:off x="1602485" y="1475452"/>
            <a:ext cx="1960245" cy="120332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1699895" algn="l"/>
              </a:tabLst>
            </a:pPr>
            <a:r>
              <a:rPr sz="2400" i="1" dirty="0">
                <a:latin typeface="Verdana"/>
                <a:cs typeface="Verdana"/>
              </a:rPr>
              <a:t>Processor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Verdana"/>
                <a:cs typeface="Verdana"/>
              </a:rPr>
              <a:t>1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000" spc="-10" dirty="0">
                <a:solidFill>
                  <a:srgbClr val="551179"/>
                </a:solidFill>
                <a:latin typeface="Verdana"/>
                <a:cs typeface="Verdana"/>
              </a:rPr>
              <a:t>Store</a:t>
            </a:r>
            <a:r>
              <a:rPr sz="2000" spc="-2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551179"/>
                </a:solidFill>
                <a:latin typeface="Verdana"/>
                <a:cs typeface="Verdana"/>
              </a:rPr>
              <a:t>(</a:t>
            </a:r>
            <a:r>
              <a:rPr sz="2000" dirty="0">
                <a:solidFill>
                  <a:srgbClr val="90A57B"/>
                </a:solidFill>
                <a:latin typeface="Verdana"/>
                <a:cs typeface="Verdana"/>
              </a:rPr>
              <a:t>a</a:t>
            </a:r>
            <a:r>
              <a:rPr sz="2000" dirty="0">
                <a:solidFill>
                  <a:srgbClr val="551179"/>
                </a:solidFill>
                <a:latin typeface="Verdana"/>
                <a:cs typeface="Verdana"/>
              </a:rPr>
              <a:t>),</a:t>
            </a:r>
            <a:r>
              <a:rPr sz="2000" spc="-1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551179"/>
                </a:solidFill>
                <a:latin typeface="Verdana"/>
                <a:cs typeface="Verdana"/>
              </a:rPr>
              <a:t>10;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solidFill>
                  <a:srgbClr val="551179"/>
                </a:solidFill>
                <a:latin typeface="Verdana"/>
                <a:cs typeface="Verdana"/>
              </a:rPr>
              <a:t>Store</a:t>
            </a:r>
            <a:r>
              <a:rPr sz="2000" spc="-3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551179"/>
                </a:solidFill>
                <a:latin typeface="Verdana"/>
                <a:cs typeface="Verdana"/>
              </a:rPr>
              <a:t>(</a:t>
            </a:r>
            <a:r>
              <a:rPr sz="2000" dirty="0">
                <a:solidFill>
                  <a:srgbClr val="FF0000"/>
                </a:solidFill>
                <a:latin typeface="Verdana"/>
                <a:cs typeface="Verdana"/>
              </a:rPr>
              <a:t>flag</a:t>
            </a:r>
            <a:r>
              <a:rPr sz="2000" dirty="0">
                <a:solidFill>
                  <a:srgbClr val="551179"/>
                </a:solidFill>
                <a:latin typeface="Verdana"/>
                <a:cs typeface="Verdana"/>
              </a:rPr>
              <a:t>),</a:t>
            </a:r>
            <a:r>
              <a:rPr sz="2000" spc="-4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51179"/>
                </a:solidFill>
                <a:latin typeface="Verdana"/>
                <a:cs typeface="Verdana"/>
              </a:rPr>
              <a:t>1;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BF0A38B-5E3E-F24E-3221-D6AA669BC405}"/>
              </a:ext>
            </a:extLst>
          </p:cNvPr>
          <p:cNvSpPr txBox="1"/>
          <p:nvPr/>
        </p:nvSpPr>
        <p:spPr>
          <a:xfrm>
            <a:off x="4766181" y="1475452"/>
            <a:ext cx="2776855" cy="156908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710"/>
              </a:spcBef>
              <a:tabLst>
                <a:tab pos="2195195" algn="l"/>
              </a:tabLst>
            </a:pPr>
            <a:r>
              <a:rPr sz="2400" i="1" dirty="0">
                <a:latin typeface="Verdana"/>
                <a:cs typeface="Verdana"/>
              </a:rPr>
              <a:t>Processor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Verdana"/>
                <a:cs typeface="Verdana"/>
              </a:rPr>
              <a:t>2</a:t>
            </a:r>
            <a:endParaRPr sz="2400" dirty="0">
              <a:latin typeface="Verdana"/>
              <a:cs typeface="Verdana"/>
            </a:endParaRPr>
          </a:p>
          <a:p>
            <a:pPr marL="507365" marR="43180" indent="-469900">
              <a:lnSpc>
                <a:spcPct val="120000"/>
              </a:lnSpc>
              <a:spcBef>
                <a:spcPts val="20"/>
              </a:spcBef>
              <a:tabLst>
                <a:tab pos="507365" algn="l"/>
              </a:tabLst>
            </a:pPr>
            <a:r>
              <a:rPr sz="2000" spc="-10" dirty="0">
                <a:solidFill>
                  <a:srgbClr val="551179"/>
                </a:solidFill>
                <a:latin typeface="Verdana"/>
                <a:cs typeface="Verdana"/>
              </a:rPr>
              <a:t>L:</a:t>
            </a:r>
            <a:r>
              <a:rPr sz="2000" spc="-10" dirty="0">
                <a:solidFill>
                  <a:srgbClr val="551179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551179"/>
                </a:solidFill>
                <a:latin typeface="Verdana"/>
                <a:cs typeface="Verdana"/>
              </a:rPr>
              <a:t>Load</a:t>
            </a:r>
            <a:r>
              <a:rPr sz="2000" spc="68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51179"/>
                </a:solidFill>
                <a:latin typeface="Verdana"/>
                <a:cs typeface="Verdana"/>
              </a:rPr>
              <a:t>r1,</a:t>
            </a:r>
            <a:r>
              <a:rPr sz="2000" spc="68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551179"/>
                </a:solidFill>
                <a:latin typeface="Verdana"/>
                <a:cs typeface="Verdana"/>
              </a:rPr>
              <a:t>(</a:t>
            </a:r>
            <a:r>
              <a:rPr sz="2000" dirty="0">
                <a:solidFill>
                  <a:srgbClr val="FF0000"/>
                </a:solidFill>
                <a:latin typeface="Verdana"/>
                <a:cs typeface="Verdana"/>
              </a:rPr>
              <a:t>flag</a:t>
            </a:r>
            <a:r>
              <a:rPr sz="2000" dirty="0">
                <a:solidFill>
                  <a:srgbClr val="551179"/>
                </a:solidFill>
                <a:latin typeface="Verdana"/>
                <a:cs typeface="Verdana"/>
              </a:rPr>
              <a:t>); </a:t>
            </a:r>
            <a:r>
              <a:rPr sz="2000" spc="-69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551179"/>
                </a:solidFill>
                <a:latin typeface="Verdana"/>
                <a:cs typeface="Verdana"/>
              </a:rPr>
              <a:t>if</a:t>
            </a:r>
            <a:r>
              <a:rPr sz="2000" spc="-5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551179"/>
                </a:solidFill>
                <a:latin typeface="Verdana"/>
                <a:cs typeface="Verdana"/>
              </a:rPr>
              <a:t>r</a:t>
            </a:r>
            <a:r>
              <a:rPr sz="2025" spc="-22" baseline="-20576" dirty="0">
                <a:solidFill>
                  <a:srgbClr val="551179"/>
                </a:solidFill>
                <a:latin typeface="Verdana"/>
                <a:cs typeface="Verdana"/>
              </a:rPr>
              <a:t>1</a:t>
            </a:r>
            <a:r>
              <a:rPr sz="2025" spc="330" baseline="-20576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51179"/>
                </a:solidFill>
                <a:latin typeface="Verdana"/>
                <a:cs typeface="Verdana"/>
              </a:rPr>
              <a:t>==</a:t>
            </a:r>
            <a:r>
              <a:rPr sz="2000" spc="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51179"/>
                </a:solidFill>
                <a:latin typeface="Verdana"/>
                <a:cs typeface="Verdana"/>
              </a:rPr>
              <a:t>0</a:t>
            </a:r>
            <a:r>
              <a:rPr sz="2000" spc="-2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51179"/>
                </a:solidFill>
                <a:latin typeface="Verdana"/>
                <a:cs typeface="Verdana"/>
              </a:rPr>
              <a:t>goto</a:t>
            </a:r>
            <a:r>
              <a:rPr sz="2000" spc="-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551179"/>
                </a:solidFill>
                <a:latin typeface="Verdana"/>
                <a:cs typeface="Verdana"/>
              </a:rPr>
              <a:t>L; </a:t>
            </a:r>
            <a:r>
              <a:rPr sz="2000" spc="-685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51179"/>
                </a:solidFill>
                <a:latin typeface="Verdana"/>
                <a:cs typeface="Verdana"/>
              </a:rPr>
              <a:t>Load</a:t>
            </a:r>
            <a:r>
              <a:rPr sz="2000" spc="10" dirty="0">
                <a:solidFill>
                  <a:srgbClr val="551179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51179"/>
                </a:solidFill>
                <a:latin typeface="Verdana"/>
                <a:cs typeface="Verdana"/>
              </a:rPr>
              <a:t>r2,</a:t>
            </a:r>
            <a:r>
              <a:rPr sz="2000" dirty="0">
                <a:solidFill>
                  <a:srgbClr val="551179"/>
                </a:solidFill>
                <a:latin typeface="Verdana"/>
                <a:cs typeface="Verdana"/>
              </a:rPr>
              <a:t> (</a:t>
            </a:r>
            <a:r>
              <a:rPr sz="2000" dirty="0">
                <a:solidFill>
                  <a:srgbClr val="90A57B"/>
                </a:solidFill>
                <a:latin typeface="Verdana"/>
                <a:cs typeface="Verdana"/>
              </a:rPr>
              <a:t>a</a:t>
            </a:r>
            <a:r>
              <a:rPr sz="2000" dirty="0">
                <a:solidFill>
                  <a:srgbClr val="551179"/>
                </a:solidFill>
                <a:latin typeface="Verdana"/>
                <a:cs typeface="Verdana"/>
              </a:rPr>
              <a:t>);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5E0D8553-83EC-9D1F-AF55-EDF34F064708}"/>
              </a:ext>
            </a:extLst>
          </p:cNvPr>
          <p:cNvSpPr/>
          <p:nvPr/>
        </p:nvSpPr>
        <p:spPr>
          <a:xfrm>
            <a:off x="7405116" y="2181727"/>
            <a:ext cx="404495" cy="767715"/>
          </a:xfrm>
          <a:custGeom>
            <a:avLst/>
            <a:gdLst/>
            <a:ahLst/>
            <a:cxnLst/>
            <a:rect l="l" t="t" r="r" b="b"/>
            <a:pathLst>
              <a:path w="404495" h="767714">
                <a:moveTo>
                  <a:pt x="27553" y="686562"/>
                </a:moveTo>
                <a:lnTo>
                  <a:pt x="0" y="767212"/>
                </a:lnTo>
                <a:lnTo>
                  <a:pt x="81031" y="740923"/>
                </a:lnTo>
                <a:lnTo>
                  <a:pt x="67658" y="727329"/>
                </a:lnTo>
                <a:lnTo>
                  <a:pt x="49651" y="727329"/>
                </a:lnTo>
                <a:lnTo>
                  <a:pt x="40888" y="718063"/>
                </a:lnTo>
                <a:lnTo>
                  <a:pt x="49984" y="709362"/>
                </a:lnTo>
                <a:lnTo>
                  <a:pt x="27553" y="686562"/>
                </a:lnTo>
                <a:close/>
              </a:path>
              <a:path w="404495" h="767714">
                <a:moveTo>
                  <a:pt x="49984" y="709362"/>
                </a:moveTo>
                <a:lnTo>
                  <a:pt x="40888" y="718063"/>
                </a:lnTo>
                <a:lnTo>
                  <a:pt x="49651" y="727329"/>
                </a:lnTo>
                <a:lnTo>
                  <a:pt x="58957" y="718484"/>
                </a:lnTo>
                <a:lnTo>
                  <a:pt x="49984" y="709362"/>
                </a:lnTo>
                <a:close/>
              </a:path>
              <a:path w="404495" h="767714">
                <a:moveTo>
                  <a:pt x="58957" y="718484"/>
                </a:moveTo>
                <a:lnTo>
                  <a:pt x="49651" y="727329"/>
                </a:lnTo>
                <a:lnTo>
                  <a:pt x="67658" y="727329"/>
                </a:lnTo>
                <a:lnTo>
                  <a:pt x="58957" y="718484"/>
                </a:lnTo>
                <a:close/>
              </a:path>
              <a:path w="404495" h="767714">
                <a:moveTo>
                  <a:pt x="105796" y="0"/>
                </a:moveTo>
                <a:lnTo>
                  <a:pt x="98419" y="10424"/>
                </a:lnTo>
                <a:lnTo>
                  <a:pt x="124206" y="28712"/>
                </a:lnTo>
                <a:lnTo>
                  <a:pt x="150754" y="47244"/>
                </a:lnTo>
                <a:lnTo>
                  <a:pt x="204216" y="83957"/>
                </a:lnTo>
                <a:lnTo>
                  <a:pt x="230383" y="102489"/>
                </a:lnTo>
                <a:lnTo>
                  <a:pt x="280035" y="139827"/>
                </a:lnTo>
                <a:lnTo>
                  <a:pt x="323728" y="178308"/>
                </a:lnTo>
                <a:lnTo>
                  <a:pt x="350901" y="207782"/>
                </a:lnTo>
                <a:lnTo>
                  <a:pt x="377571" y="248412"/>
                </a:lnTo>
                <a:lnTo>
                  <a:pt x="390784" y="290581"/>
                </a:lnTo>
                <a:lnTo>
                  <a:pt x="391668" y="312420"/>
                </a:lnTo>
                <a:lnTo>
                  <a:pt x="390646" y="323728"/>
                </a:lnTo>
                <a:lnTo>
                  <a:pt x="372618" y="373258"/>
                </a:lnTo>
                <a:lnTo>
                  <a:pt x="345445" y="415549"/>
                </a:lnTo>
                <a:lnTo>
                  <a:pt x="308991" y="460629"/>
                </a:lnTo>
                <a:lnTo>
                  <a:pt x="280918" y="491749"/>
                </a:lnTo>
                <a:lnTo>
                  <a:pt x="250576" y="522991"/>
                </a:lnTo>
                <a:lnTo>
                  <a:pt x="218572" y="554355"/>
                </a:lnTo>
                <a:lnTo>
                  <a:pt x="185928" y="585216"/>
                </a:lnTo>
                <a:lnTo>
                  <a:pt x="153162" y="615452"/>
                </a:lnTo>
                <a:lnTo>
                  <a:pt x="75697" y="685678"/>
                </a:lnTo>
                <a:lnTo>
                  <a:pt x="61600" y="698251"/>
                </a:lnTo>
                <a:lnTo>
                  <a:pt x="49984" y="709362"/>
                </a:lnTo>
                <a:lnTo>
                  <a:pt x="58957" y="718484"/>
                </a:lnTo>
                <a:lnTo>
                  <a:pt x="70225" y="707776"/>
                </a:lnTo>
                <a:lnTo>
                  <a:pt x="161803" y="624840"/>
                </a:lnTo>
                <a:lnTo>
                  <a:pt x="194691" y="594497"/>
                </a:lnTo>
                <a:lnTo>
                  <a:pt x="227578" y="563377"/>
                </a:lnTo>
                <a:lnTo>
                  <a:pt x="259582" y="531876"/>
                </a:lnTo>
                <a:lnTo>
                  <a:pt x="290200" y="500390"/>
                </a:lnTo>
                <a:lnTo>
                  <a:pt x="318637" y="468889"/>
                </a:lnTo>
                <a:lnTo>
                  <a:pt x="344302" y="438028"/>
                </a:lnTo>
                <a:lnTo>
                  <a:pt x="375787" y="393329"/>
                </a:lnTo>
                <a:lnTo>
                  <a:pt x="396621" y="351038"/>
                </a:lnTo>
                <a:lnTo>
                  <a:pt x="404362" y="312420"/>
                </a:lnTo>
                <a:lnTo>
                  <a:pt x="404362" y="300228"/>
                </a:lnTo>
                <a:lnTo>
                  <a:pt x="393694" y="253502"/>
                </a:lnTo>
                <a:lnTo>
                  <a:pt x="368686" y="210068"/>
                </a:lnTo>
                <a:lnTo>
                  <a:pt x="342397" y="179070"/>
                </a:lnTo>
                <a:lnTo>
                  <a:pt x="311017" y="149230"/>
                </a:lnTo>
                <a:lnTo>
                  <a:pt x="263271" y="110871"/>
                </a:lnTo>
                <a:lnTo>
                  <a:pt x="211455" y="73533"/>
                </a:lnTo>
                <a:lnTo>
                  <a:pt x="131566" y="18425"/>
                </a:lnTo>
                <a:lnTo>
                  <a:pt x="1057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5E7AC3AC-19C3-26F0-88C8-A2DE78F35A69}"/>
              </a:ext>
            </a:extLst>
          </p:cNvPr>
          <p:cNvSpPr/>
          <p:nvPr/>
        </p:nvSpPr>
        <p:spPr>
          <a:xfrm>
            <a:off x="3402330" y="2141486"/>
            <a:ext cx="1781175" cy="725805"/>
          </a:xfrm>
          <a:custGeom>
            <a:avLst/>
            <a:gdLst/>
            <a:ahLst/>
            <a:cxnLst/>
            <a:rect l="l" t="t" r="r" b="b"/>
            <a:pathLst>
              <a:path w="1781175" h="725805">
                <a:moveTo>
                  <a:pt x="89789" y="19164"/>
                </a:moveTo>
                <a:lnTo>
                  <a:pt x="42786" y="0"/>
                </a:lnTo>
                <a:lnTo>
                  <a:pt x="37973" y="11671"/>
                </a:lnTo>
                <a:lnTo>
                  <a:pt x="84963" y="30975"/>
                </a:lnTo>
                <a:lnTo>
                  <a:pt x="89789" y="19164"/>
                </a:lnTo>
                <a:close/>
              </a:path>
              <a:path w="1781175" h="725805">
                <a:moveTo>
                  <a:pt x="162039" y="182232"/>
                </a:moveTo>
                <a:lnTo>
                  <a:pt x="153416" y="145021"/>
                </a:lnTo>
                <a:lnTo>
                  <a:pt x="133464" y="110871"/>
                </a:lnTo>
                <a:lnTo>
                  <a:pt x="105156" y="78981"/>
                </a:lnTo>
                <a:lnTo>
                  <a:pt x="58788" y="39103"/>
                </a:lnTo>
                <a:lnTo>
                  <a:pt x="7620" y="762"/>
                </a:lnTo>
                <a:lnTo>
                  <a:pt x="0" y="10909"/>
                </a:lnTo>
                <a:lnTo>
                  <a:pt x="25908" y="29959"/>
                </a:lnTo>
                <a:lnTo>
                  <a:pt x="51168" y="49149"/>
                </a:lnTo>
                <a:lnTo>
                  <a:pt x="85979" y="78346"/>
                </a:lnTo>
                <a:lnTo>
                  <a:pt x="115316" y="108445"/>
                </a:lnTo>
                <a:lnTo>
                  <a:pt x="141846" y="150495"/>
                </a:lnTo>
                <a:lnTo>
                  <a:pt x="149352" y="195313"/>
                </a:lnTo>
                <a:lnTo>
                  <a:pt x="148209" y="207378"/>
                </a:lnTo>
                <a:lnTo>
                  <a:pt x="138303" y="245097"/>
                </a:lnTo>
                <a:lnTo>
                  <a:pt x="120396" y="284988"/>
                </a:lnTo>
                <a:lnTo>
                  <a:pt x="101282" y="318643"/>
                </a:lnTo>
                <a:lnTo>
                  <a:pt x="74549" y="301993"/>
                </a:lnTo>
                <a:lnTo>
                  <a:pt x="66548" y="386829"/>
                </a:lnTo>
                <a:lnTo>
                  <a:pt x="139179" y="342252"/>
                </a:lnTo>
                <a:lnTo>
                  <a:pt x="129400" y="336156"/>
                </a:lnTo>
                <a:lnTo>
                  <a:pt x="112077" y="325374"/>
                </a:lnTo>
                <a:lnTo>
                  <a:pt x="124320" y="304800"/>
                </a:lnTo>
                <a:lnTo>
                  <a:pt x="144894" y="262890"/>
                </a:lnTo>
                <a:lnTo>
                  <a:pt x="158369" y="221983"/>
                </a:lnTo>
                <a:lnTo>
                  <a:pt x="162039" y="195313"/>
                </a:lnTo>
                <a:lnTo>
                  <a:pt x="162039" y="182232"/>
                </a:lnTo>
                <a:close/>
              </a:path>
              <a:path w="1781175" h="725805">
                <a:moveTo>
                  <a:pt x="172085" y="52959"/>
                </a:moveTo>
                <a:lnTo>
                  <a:pt x="125082" y="33642"/>
                </a:lnTo>
                <a:lnTo>
                  <a:pt x="120269" y="45453"/>
                </a:lnTo>
                <a:lnTo>
                  <a:pt x="167259" y="64630"/>
                </a:lnTo>
                <a:lnTo>
                  <a:pt x="172085" y="52959"/>
                </a:lnTo>
                <a:close/>
              </a:path>
              <a:path w="1781175" h="725805">
                <a:moveTo>
                  <a:pt x="254381" y="86601"/>
                </a:moveTo>
                <a:lnTo>
                  <a:pt x="207264" y="67437"/>
                </a:lnTo>
                <a:lnTo>
                  <a:pt x="202425" y="79108"/>
                </a:lnTo>
                <a:lnTo>
                  <a:pt x="249555" y="98412"/>
                </a:lnTo>
                <a:lnTo>
                  <a:pt x="254381" y="86601"/>
                </a:lnTo>
                <a:close/>
              </a:path>
              <a:path w="1781175" h="725805">
                <a:moveTo>
                  <a:pt x="336537" y="120396"/>
                </a:moveTo>
                <a:lnTo>
                  <a:pt x="289560" y="101079"/>
                </a:lnTo>
                <a:lnTo>
                  <a:pt x="284721" y="112890"/>
                </a:lnTo>
                <a:lnTo>
                  <a:pt x="331724" y="132067"/>
                </a:lnTo>
                <a:lnTo>
                  <a:pt x="336537" y="120396"/>
                </a:lnTo>
                <a:close/>
              </a:path>
              <a:path w="1781175" h="725805">
                <a:moveTo>
                  <a:pt x="418833" y="154038"/>
                </a:moveTo>
                <a:lnTo>
                  <a:pt x="371856" y="134734"/>
                </a:lnTo>
                <a:lnTo>
                  <a:pt x="367017" y="146545"/>
                </a:lnTo>
                <a:lnTo>
                  <a:pt x="414020" y="165849"/>
                </a:lnTo>
                <a:lnTo>
                  <a:pt x="418833" y="154038"/>
                </a:lnTo>
                <a:close/>
              </a:path>
              <a:path w="1781175" h="725805">
                <a:moveTo>
                  <a:pt x="501129" y="187833"/>
                </a:moveTo>
                <a:lnTo>
                  <a:pt x="454152" y="168516"/>
                </a:lnTo>
                <a:lnTo>
                  <a:pt x="449313" y="180213"/>
                </a:lnTo>
                <a:lnTo>
                  <a:pt x="496316" y="199504"/>
                </a:lnTo>
                <a:lnTo>
                  <a:pt x="501129" y="187833"/>
                </a:lnTo>
                <a:close/>
              </a:path>
              <a:path w="1781175" h="725805">
                <a:moveTo>
                  <a:pt x="583311" y="221475"/>
                </a:moveTo>
                <a:lnTo>
                  <a:pt x="536321" y="202171"/>
                </a:lnTo>
                <a:lnTo>
                  <a:pt x="531495" y="213982"/>
                </a:lnTo>
                <a:lnTo>
                  <a:pt x="578472" y="233286"/>
                </a:lnTo>
                <a:lnTo>
                  <a:pt x="583311" y="221475"/>
                </a:lnTo>
                <a:close/>
              </a:path>
              <a:path w="1781175" h="725805">
                <a:moveTo>
                  <a:pt x="665607" y="255130"/>
                </a:moveTo>
                <a:lnTo>
                  <a:pt x="618617" y="235953"/>
                </a:lnTo>
                <a:lnTo>
                  <a:pt x="613791" y="247650"/>
                </a:lnTo>
                <a:lnTo>
                  <a:pt x="660768" y="266941"/>
                </a:lnTo>
                <a:lnTo>
                  <a:pt x="665607" y="255130"/>
                </a:lnTo>
                <a:close/>
              </a:path>
              <a:path w="1781175" h="725805">
                <a:moveTo>
                  <a:pt x="830199" y="322567"/>
                </a:moveTo>
                <a:lnTo>
                  <a:pt x="783069" y="303390"/>
                </a:lnTo>
                <a:lnTo>
                  <a:pt x="778383" y="315087"/>
                </a:lnTo>
                <a:lnTo>
                  <a:pt x="825360" y="334378"/>
                </a:lnTo>
                <a:lnTo>
                  <a:pt x="830199" y="322567"/>
                </a:lnTo>
                <a:close/>
              </a:path>
              <a:path w="1781175" h="725805">
                <a:moveTo>
                  <a:pt x="912368" y="356349"/>
                </a:moveTo>
                <a:lnTo>
                  <a:pt x="865365" y="337045"/>
                </a:lnTo>
                <a:lnTo>
                  <a:pt x="860552" y="348856"/>
                </a:lnTo>
                <a:lnTo>
                  <a:pt x="907542" y="368046"/>
                </a:lnTo>
                <a:lnTo>
                  <a:pt x="912368" y="356349"/>
                </a:lnTo>
                <a:close/>
              </a:path>
              <a:path w="1781175" h="725805">
                <a:moveTo>
                  <a:pt x="994664" y="390004"/>
                </a:moveTo>
                <a:lnTo>
                  <a:pt x="947661" y="370827"/>
                </a:lnTo>
                <a:lnTo>
                  <a:pt x="942848" y="382524"/>
                </a:lnTo>
                <a:lnTo>
                  <a:pt x="989838" y="401815"/>
                </a:lnTo>
                <a:lnTo>
                  <a:pt x="994664" y="390004"/>
                </a:lnTo>
                <a:close/>
              </a:path>
              <a:path w="1781175" h="725805">
                <a:moveTo>
                  <a:pt x="1076960" y="423786"/>
                </a:moveTo>
                <a:lnTo>
                  <a:pt x="1029957" y="404482"/>
                </a:lnTo>
                <a:lnTo>
                  <a:pt x="1025144" y="416293"/>
                </a:lnTo>
                <a:lnTo>
                  <a:pt x="1072134" y="435483"/>
                </a:lnTo>
                <a:lnTo>
                  <a:pt x="1076960" y="423786"/>
                </a:lnTo>
                <a:close/>
              </a:path>
              <a:path w="1781175" h="725805">
                <a:moveTo>
                  <a:pt x="1159116" y="457441"/>
                </a:moveTo>
                <a:lnTo>
                  <a:pt x="1112139" y="438150"/>
                </a:lnTo>
                <a:lnTo>
                  <a:pt x="1107300" y="449961"/>
                </a:lnTo>
                <a:lnTo>
                  <a:pt x="1154430" y="469252"/>
                </a:lnTo>
                <a:lnTo>
                  <a:pt x="1159116" y="457441"/>
                </a:lnTo>
                <a:close/>
              </a:path>
              <a:path w="1781175" h="725805">
                <a:moveTo>
                  <a:pt x="1241412" y="491223"/>
                </a:moveTo>
                <a:lnTo>
                  <a:pt x="1194435" y="471919"/>
                </a:lnTo>
                <a:lnTo>
                  <a:pt x="1189596" y="483603"/>
                </a:lnTo>
                <a:lnTo>
                  <a:pt x="1236599" y="502920"/>
                </a:lnTo>
                <a:lnTo>
                  <a:pt x="1241412" y="491223"/>
                </a:lnTo>
                <a:close/>
              </a:path>
              <a:path w="1781175" h="725805">
                <a:moveTo>
                  <a:pt x="1323708" y="524878"/>
                </a:moveTo>
                <a:lnTo>
                  <a:pt x="1276731" y="505587"/>
                </a:lnTo>
                <a:lnTo>
                  <a:pt x="1271892" y="517398"/>
                </a:lnTo>
                <a:lnTo>
                  <a:pt x="1318895" y="536689"/>
                </a:lnTo>
                <a:lnTo>
                  <a:pt x="1323708" y="524878"/>
                </a:lnTo>
                <a:close/>
              </a:path>
              <a:path w="1781175" h="725805">
                <a:moveTo>
                  <a:pt x="1347978" y="57645"/>
                </a:moveTo>
                <a:lnTo>
                  <a:pt x="1263777" y="44577"/>
                </a:lnTo>
                <a:lnTo>
                  <a:pt x="1273429" y="74714"/>
                </a:lnTo>
                <a:lnTo>
                  <a:pt x="190881" y="420357"/>
                </a:lnTo>
                <a:lnTo>
                  <a:pt x="194691" y="432549"/>
                </a:lnTo>
                <a:lnTo>
                  <a:pt x="700278" y="271145"/>
                </a:lnTo>
                <a:lnTo>
                  <a:pt x="696087" y="281419"/>
                </a:lnTo>
                <a:lnTo>
                  <a:pt x="743064" y="300609"/>
                </a:lnTo>
                <a:lnTo>
                  <a:pt x="747903" y="288912"/>
                </a:lnTo>
                <a:lnTo>
                  <a:pt x="702729" y="270370"/>
                </a:lnTo>
                <a:lnTo>
                  <a:pt x="1277340" y="86918"/>
                </a:lnTo>
                <a:lnTo>
                  <a:pt x="1287018" y="117081"/>
                </a:lnTo>
                <a:lnTo>
                  <a:pt x="1334414" y="70866"/>
                </a:lnTo>
                <a:lnTo>
                  <a:pt x="1347978" y="57645"/>
                </a:lnTo>
                <a:close/>
              </a:path>
              <a:path w="1781175" h="725805">
                <a:moveTo>
                  <a:pt x="1406004" y="558546"/>
                </a:moveTo>
                <a:lnTo>
                  <a:pt x="1358900" y="539356"/>
                </a:lnTo>
                <a:lnTo>
                  <a:pt x="1354188" y="551040"/>
                </a:lnTo>
                <a:lnTo>
                  <a:pt x="1401191" y="570357"/>
                </a:lnTo>
                <a:lnTo>
                  <a:pt x="1406004" y="558546"/>
                </a:lnTo>
                <a:close/>
              </a:path>
              <a:path w="1781175" h="725805">
                <a:moveTo>
                  <a:pt x="1488186" y="592315"/>
                </a:moveTo>
                <a:lnTo>
                  <a:pt x="1441196" y="573024"/>
                </a:lnTo>
                <a:lnTo>
                  <a:pt x="1436370" y="584835"/>
                </a:lnTo>
                <a:lnTo>
                  <a:pt x="1483347" y="603999"/>
                </a:lnTo>
                <a:lnTo>
                  <a:pt x="1488186" y="592315"/>
                </a:lnTo>
                <a:close/>
              </a:path>
              <a:path w="1781175" h="725805">
                <a:moveTo>
                  <a:pt x="1570482" y="625983"/>
                </a:moveTo>
                <a:lnTo>
                  <a:pt x="1523492" y="606793"/>
                </a:lnTo>
                <a:lnTo>
                  <a:pt x="1518666" y="618477"/>
                </a:lnTo>
                <a:lnTo>
                  <a:pt x="1565643" y="637794"/>
                </a:lnTo>
                <a:lnTo>
                  <a:pt x="1570482" y="625983"/>
                </a:lnTo>
                <a:close/>
              </a:path>
              <a:path w="1781175" h="725805">
                <a:moveTo>
                  <a:pt x="1652778" y="659752"/>
                </a:moveTo>
                <a:lnTo>
                  <a:pt x="1605788" y="640461"/>
                </a:lnTo>
                <a:lnTo>
                  <a:pt x="1600962" y="652272"/>
                </a:lnTo>
                <a:lnTo>
                  <a:pt x="1647939" y="671436"/>
                </a:lnTo>
                <a:lnTo>
                  <a:pt x="1652778" y="659752"/>
                </a:lnTo>
                <a:close/>
              </a:path>
              <a:path w="1781175" h="725805">
                <a:moveTo>
                  <a:pt x="1780794" y="719061"/>
                </a:moveTo>
                <a:lnTo>
                  <a:pt x="1764919" y="700900"/>
                </a:lnTo>
                <a:lnTo>
                  <a:pt x="1724787" y="654939"/>
                </a:lnTo>
                <a:lnTo>
                  <a:pt x="1712709" y="684326"/>
                </a:lnTo>
                <a:lnTo>
                  <a:pt x="1687944" y="674230"/>
                </a:lnTo>
                <a:lnTo>
                  <a:pt x="1683131" y="685914"/>
                </a:lnTo>
                <a:lnTo>
                  <a:pt x="1707870" y="696087"/>
                </a:lnTo>
                <a:lnTo>
                  <a:pt x="1695831" y="725424"/>
                </a:lnTo>
                <a:lnTo>
                  <a:pt x="1780794" y="71906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0943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8CA3-794E-9B25-305F-D3E53834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 so far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396097-8267-4BFD-2532-314CA39E1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79534E-C17B-022C-B58C-EE7EF3B02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045AC9CF-BC81-EB52-407C-0C4726B85F1B}"/>
              </a:ext>
            </a:extLst>
          </p:cNvPr>
          <p:cNvSpPr txBox="1"/>
          <p:nvPr/>
        </p:nvSpPr>
        <p:spPr>
          <a:xfrm>
            <a:off x="351692" y="2334513"/>
            <a:ext cx="11513028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Verdana"/>
                <a:cs typeface="Verdana"/>
              </a:rPr>
              <a:t>Architectural</a:t>
            </a:r>
            <a:r>
              <a:rPr sz="2400" i="1" spc="50" dirty="0">
                <a:latin typeface="Verdana"/>
                <a:cs typeface="Verdana"/>
              </a:rPr>
              <a:t> </a:t>
            </a:r>
            <a:r>
              <a:rPr sz="2400" i="1" spc="-10" dirty="0">
                <a:latin typeface="Verdana"/>
                <a:cs typeface="Verdana"/>
              </a:rPr>
              <a:t>optimizations</a:t>
            </a:r>
            <a:r>
              <a:rPr sz="2400" i="1" spc="80" dirty="0">
                <a:latin typeface="Verdana"/>
                <a:cs typeface="Verdana"/>
              </a:rPr>
              <a:t> </a:t>
            </a:r>
            <a:r>
              <a:rPr sz="2400" i="1" spc="-5" dirty="0">
                <a:latin typeface="Verdana"/>
                <a:cs typeface="Verdana"/>
              </a:rPr>
              <a:t>that</a:t>
            </a:r>
            <a:r>
              <a:rPr sz="2400" i="1" spc="2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are</a:t>
            </a:r>
            <a:r>
              <a:rPr sz="2400" i="1" spc="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correct </a:t>
            </a:r>
            <a:r>
              <a:rPr sz="2400" i="1" spc="-830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for </a:t>
            </a:r>
            <a:r>
              <a:rPr sz="2400" i="1" spc="-5" dirty="0">
                <a:latin typeface="Verdana"/>
                <a:cs typeface="Verdana"/>
              </a:rPr>
              <a:t>uniprocessors</a:t>
            </a:r>
            <a:r>
              <a:rPr sz="2400" i="1" spc="4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often</a:t>
            </a:r>
            <a:r>
              <a:rPr sz="2400" i="1" spc="5" dirty="0">
                <a:latin typeface="Verdana"/>
                <a:cs typeface="Verdana"/>
              </a:rPr>
              <a:t> </a:t>
            </a:r>
            <a:r>
              <a:rPr sz="2400" i="1" spc="-5" dirty="0">
                <a:latin typeface="Verdana"/>
                <a:cs typeface="Verdana"/>
              </a:rPr>
              <a:t>violate</a:t>
            </a:r>
            <a:r>
              <a:rPr sz="2400" i="1" spc="40" dirty="0">
                <a:latin typeface="Verdana"/>
                <a:cs typeface="Verdana"/>
              </a:rPr>
              <a:t> </a:t>
            </a:r>
            <a:r>
              <a:rPr sz="2400" i="1" spc="-5" dirty="0">
                <a:latin typeface="Verdana"/>
                <a:cs typeface="Verdana"/>
              </a:rPr>
              <a:t>sequential </a:t>
            </a:r>
            <a:r>
              <a:rPr sz="2400" i="1" dirty="0">
                <a:latin typeface="Verdana"/>
                <a:cs typeface="Verdana"/>
              </a:rPr>
              <a:t> </a:t>
            </a:r>
            <a:r>
              <a:rPr sz="2400" i="1" spc="-5" dirty="0">
                <a:latin typeface="Verdana"/>
                <a:cs typeface="Verdana"/>
              </a:rPr>
              <a:t>consistency</a:t>
            </a:r>
            <a:r>
              <a:rPr sz="2400" i="1" spc="30" dirty="0">
                <a:latin typeface="Verdana"/>
                <a:cs typeface="Verdana"/>
              </a:rPr>
              <a:t> </a:t>
            </a:r>
            <a:r>
              <a:rPr sz="2400" i="1" spc="-5" dirty="0">
                <a:latin typeface="Verdana"/>
                <a:cs typeface="Verdana"/>
              </a:rPr>
              <a:t>and</a:t>
            </a:r>
            <a:r>
              <a:rPr sz="2400" i="1" spc="30" dirty="0">
                <a:latin typeface="Verdana"/>
                <a:cs typeface="Verdana"/>
              </a:rPr>
              <a:t> </a:t>
            </a:r>
            <a:r>
              <a:rPr sz="2400" i="1" spc="-5" dirty="0">
                <a:latin typeface="Verdana"/>
                <a:cs typeface="Verdana"/>
              </a:rPr>
              <a:t>result</a:t>
            </a:r>
            <a:r>
              <a:rPr sz="2400" i="1" spc="5" dirty="0">
                <a:latin typeface="Verdana"/>
                <a:cs typeface="Verdana"/>
              </a:rPr>
              <a:t> </a:t>
            </a:r>
            <a:r>
              <a:rPr sz="2400" i="1" spc="-10" dirty="0">
                <a:latin typeface="Verdana"/>
                <a:cs typeface="Verdana"/>
              </a:rPr>
              <a:t>in</a:t>
            </a:r>
            <a:r>
              <a:rPr sz="2400" i="1" spc="5" dirty="0">
                <a:latin typeface="Verdana"/>
                <a:cs typeface="Verdana"/>
              </a:rPr>
              <a:t> </a:t>
            </a:r>
            <a:r>
              <a:rPr sz="2400" i="1" dirty="0">
                <a:latin typeface="Verdana"/>
                <a:cs typeface="Verdana"/>
              </a:rPr>
              <a:t>a</a:t>
            </a:r>
            <a:r>
              <a:rPr sz="2400" i="1" spc="40" dirty="0">
                <a:latin typeface="Verdana"/>
                <a:cs typeface="Verdana"/>
              </a:rPr>
              <a:t> </a:t>
            </a:r>
            <a:r>
              <a:rPr sz="2400" i="1" spc="-5" dirty="0">
                <a:latin typeface="Verdana"/>
                <a:cs typeface="Verdana"/>
              </a:rPr>
              <a:t>new</a:t>
            </a:r>
            <a:r>
              <a:rPr sz="2400" i="1" dirty="0">
                <a:latin typeface="Verdana"/>
                <a:cs typeface="Verdana"/>
              </a:rPr>
              <a:t> </a:t>
            </a:r>
            <a:r>
              <a:rPr sz="2400" i="1" spc="-5" dirty="0">
                <a:latin typeface="Verdana"/>
                <a:cs typeface="Verdana"/>
              </a:rPr>
              <a:t>memory </a:t>
            </a:r>
            <a:r>
              <a:rPr sz="2400" i="1" dirty="0">
                <a:latin typeface="Verdana"/>
                <a:cs typeface="Verdana"/>
              </a:rPr>
              <a:t> </a:t>
            </a:r>
            <a:r>
              <a:rPr sz="2400" i="1" spc="-5" dirty="0">
                <a:latin typeface="Verdana"/>
                <a:cs typeface="Verdana"/>
              </a:rPr>
              <a:t>model</a:t>
            </a:r>
            <a:r>
              <a:rPr sz="2400" i="1" dirty="0">
                <a:latin typeface="Verdana"/>
                <a:cs typeface="Verdana"/>
              </a:rPr>
              <a:t> for</a:t>
            </a:r>
            <a:r>
              <a:rPr sz="2400" i="1" spc="20" dirty="0">
                <a:latin typeface="Verdana"/>
                <a:cs typeface="Verdana"/>
              </a:rPr>
              <a:t> </a:t>
            </a:r>
            <a:r>
              <a:rPr sz="2400" i="1" spc="-5" dirty="0">
                <a:latin typeface="Verdana"/>
                <a:cs typeface="Verdana"/>
              </a:rPr>
              <a:t>multiprocessors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868376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D4B8B-4D67-F57C-14ED-CE009B788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Memory Consistency Models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F30B28C2-B25B-D611-D79E-03BC629C5C11}"/>
              </a:ext>
            </a:extLst>
          </p:cNvPr>
          <p:cNvSpPr txBox="1"/>
          <p:nvPr/>
        </p:nvSpPr>
        <p:spPr>
          <a:xfrm>
            <a:off x="105508" y="2743200"/>
            <a:ext cx="5983665" cy="36131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56870" indent="-228600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tabLst>
                <a:tab pos="356870" algn="l"/>
                <a:tab pos="357505" algn="l"/>
              </a:tabLst>
            </a:pPr>
            <a:r>
              <a:rPr lang="en-US" spc="-5" dirty="0"/>
              <a:t>Sequential</a:t>
            </a:r>
            <a:r>
              <a:rPr lang="en-US" spc="-45" dirty="0"/>
              <a:t> </a:t>
            </a:r>
            <a:r>
              <a:rPr lang="en-US" spc="-5" dirty="0"/>
              <a:t>Consistency</a:t>
            </a:r>
            <a:endParaRPr lang="en-US" dirty="0"/>
          </a:p>
          <a:p>
            <a:pPr marL="756285" lvl="1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tabLst>
                <a:tab pos="756285" algn="l"/>
                <a:tab pos="756920" algn="l"/>
              </a:tabLst>
            </a:pPr>
            <a:r>
              <a:rPr lang="en-US" dirty="0"/>
              <a:t>All</a:t>
            </a:r>
            <a:r>
              <a:rPr lang="en-US" spc="-15" dirty="0"/>
              <a:t> </a:t>
            </a:r>
            <a:r>
              <a:rPr lang="en-US" spc="5" dirty="0"/>
              <a:t>reads</a:t>
            </a:r>
            <a:r>
              <a:rPr lang="en-US" spc="-40" dirty="0"/>
              <a:t> </a:t>
            </a:r>
            <a:r>
              <a:rPr lang="en-US" spc="-5" dirty="0"/>
              <a:t>and</a:t>
            </a:r>
            <a:r>
              <a:rPr lang="en-US" spc="-20" dirty="0"/>
              <a:t> </a:t>
            </a:r>
            <a:r>
              <a:rPr lang="en-US" dirty="0"/>
              <a:t>writes</a:t>
            </a:r>
            <a:r>
              <a:rPr lang="en-US" spc="-20" dirty="0"/>
              <a:t> </a:t>
            </a:r>
            <a:r>
              <a:rPr lang="en-US" spc="-5" dirty="0"/>
              <a:t>in</a:t>
            </a:r>
            <a:r>
              <a:rPr lang="en-US" spc="-10" dirty="0"/>
              <a:t> </a:t>
            </a:r>
            <a:r>
              <a:rPr lang="en-US" spc="5" dirty="0"/>
              <a:t>order</a:t>
            </a:r>
            <a:endParaRPr lang="en-US" dirty="0"/>
          </a:p>
          <a:p>
            <a:pPr lvl="1" indent="-228600">
              <a:lnSpc>
                <a:spcPct val="90000"/>
              </a:lnSpc>
              <a:buClr>
                <a:srgbClr val="551179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lvl="1" indent="-228600">
              <a:lnSpc>
                <a:spcPct val="90000"/>
              </a:lnSpc>
              <a:spcBef>
                <a:spcPts val="35"/>
              </a:spcBef>
              <a:buClr>
                <a:srgbClr val="551179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356870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356870" algn="l"/>
                <a:tab pos="357505" algn="l"/>
              </a:tabLst>
            </a:pPr>
            <a:r>
              <a:rPr lang="en-US" spc="-5" dirty="0"/>
              <a:t>Relaxed</a:t>
            </a:r>
            <a:r>
              <a:rPr lang="en-US" spc="-10" dirty="0"/>
              <a:t> Consistency</a:t>
            </a:r>
            <a:r>
              <a:rPr lang="en-US" spc="5" dirty="0"/>
              <a:t> </a:t>
            </a:r>
            <a:r>
              <a:rPr lang="en-US" spc="-5" dirty="0"/>
              <a:t>(one</a:t>
            </a:r>
            <a:r>
              <a:rPr lang="en-US" dirty="0"/>
              <a:t> </a:t>
            </a:r>
            <a:r>
              <a:rPr lang="en-US" spc="-10" dirty="0"/>
              <a:t>or</a:t>
            </a:r>
            <a:r>
              <a:rPr lang="en-US" dirty="0"/>
              <a:t> </a:t>
            </a:r>
            <a:r>
              <a:rPr lang="en-US" spc="-10" dirty="0"/>
              <a:t>more</a:t>
            </a:r>
            <a:r>
              <a:rPr lang="en-US" spc="20" dirty="0"/>
              <a:t> </a:t>
            </a:r>
            <a:r>
              <a:rPr lang="en-US" spc="-10" dirty="0"/>
              <a:t>of</a:t>
            </a:r>
            <a:r>
              <a:rPr lang="en-US" spc="5" dirty="0"/>
              <a:t> </a:t>
            </a:r>
            <a:r>
              <a:rPr lang="en-US" spc="-5" dirty="0"/>
              <a:t>the</a:t>
            </a:r>
            <a:r>
              <a:rPr lang="en-US" spc="-25" dirty="0"/>
              <a:t> </a:t>
            </a:r>
            <a:r>
              <a:rPr lang="en-US" dirty="0"/>
              <a:t>following)</a:t>
            </a:r>
          </a:p>
          <a:p>
            <a:pPr marL="756285" lvl="1" indent="-228600">
              <a:lnSpc>
                <a:spcPct val="90000"/>
              </a:lnSpc>
              <a:spcBef>
                <a:spcPts val="380"/>
              </a:spcBef>
              <a:buFont typeface="Arial" panose="020B0604020202020204" pitchFamily="34" charset="0"/>
              <a:buChar char="•"/>
              <a:tabLst>
                <a:tab pos="756285" algn="l"/>
                <a:tab pos="756920" algn="l"/>
              </a:tabLst>
            </a:pPr>
            <a:r>
              <a:rPr lang="en-US" dirty="0"/>
              <a:t>Loads</a:t>
            </a:r>
            <a:r>
              <a:rPr lang="en-US" spc="-25" dirty="0"/>
              <a:t> </a:t>
            </a:r>
            <a:r>
              <a:rPr lang="en-US" dirty="0"/>
              <a:t>may</a:t>
            </a:r>
            <a:r>
              <a:rPr lang="en-US" spc="-15" dirty="0"/>
              <a:t> </a:t>
            </a:r>
            <a:r>
              <a:rPr lang="en-US" dirty="0"/>
              <a:t>be</a:t>
            </a:r>
            <a:r>
              <a:rPr lang="en-US" spc="-20" dirty="0"/>
              <a:t> </a:t>
            </a:r>
            <a:r>
              <a:rPr lang="en-US" spc="5" dirty="0"/>
              <a:t>reordered</a:t>
            </a:r>
            <a:r>
              <a:rPr lang="en-US" spc="-85" dirty="0"/>
              <a:t> </a:t>
            </a:r>
            <a:r>
              <a:rPr lang="en-US" dirty="0"/>
              <a:t>after</a:t>
            </a:r>
            <a:r>
              <a:rPr lang="en-US" spc="-35" dirty="0"/>
              <a:t> </a:t>
            </a:r>
            <a:r>
              <a:rPr lang="en-US" dirty="0"/>
              <a:t>loads</a:t>
            </a:r>
          </a:p>
          <a:p>
            <a:pPr marL="1155700" lvl="2" indent="-228600">
              <a:lnSpc>
                <a:spcPct val="90000"/>
              </a:lnSpc>
              <a:spcBef>
                <a:spcPts val="380"/>
              </a:spcBef>
              <a:buFont typeface="Arial" panose="020B0604020202020204" pitchFamily="34" charset="0"/>
              <a:buChar char="•"/>
              <a:tabLst>
                <a:tab pos="1156335" algn="l"/>
              </a:tabLst>
            </a:pPr>
            <a:r>
              <a:rPr lang="en-US" spc="-5" dirty="0"/>
              <a:t>e.g.,</a:t>
            </a:r>
            <a:r>
              <a:rPr lang="en-US" spc="-15" dirty="0"/>
              <a:t> </a:t>
            </a:r>
            <a:r>
              <a:rPr lang="en-US" spc="5" dirty="0"/>
              <a:t>PA-RISC,</a:t>
            </a:r>
            <a:r>
              <a:rPr lang="en-US" spc="-60" dirty="0"/>
              <a:t> </a:t>
            </a:r>
            <a:r>
              <a:rPr lang="en-US" dirty="0"/>
              <a:t>Power,</a:t>
            </a:r>
            <a:r>
              <a:rPr lang="en-US" spc="-55" dirty="0"/>
              <a:t> </a:t>
            </a:r>
            <a:r>
              <a:rPr lang="en-US" dirty="0"/>
              <a:t>Alpha</a:t>
            </a:r>
          </a:p>
          <a:p>
            <a:pPr marL="756285" lvl="1" indent="-22860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  <a:tabLst>
                <a:tab pos="756285" algn="l"/>
                <a:tab pos="756920" algn="l"/>
              </a:tabLst>
            </a:pPr>
            <a:r>
              <a:rPr lang="en-US" dirty="0"/>
              <a:t>Loads</a:t>
            </a:r>
            <a:r>
              <a:rPr lang="en-US" spc="-20" dirty="0"/>
              <a:t> </a:t>
            </a:r>
            <a:r>
              <a:rPr lang="en-US" dirty="0"/>
              <a:t>may</a:t>
            </a:r>
            <a:r>
              <a:rPr lang="en-US" spc="-15" dirty="0"/>
              <a:t> </a:t>
            </a:r>
            <a:r>
              <a:rPr lang="en-US" dirty="0"/>
              <a:t>be</a:t>
            </a:r>
            <a:r>
              <a:rPr lang="en-US" spc="-15" dirty="0"/>
              <a:t> </a:t>
            </a:r>
            <a:r>
              <a:rPr lang="en-US" spc="5" dirty="0"/>
              <a:t>reordered</a:t>
            </a:r>
            <a:r>
              <a:rPr lang="en-US" spc="-85" dirty="0"/>
              <a:t> </a:t>
            </a:r>
            <a:r>
              <a:rPr lang="en-US" dirty="0"/>
              <a:t>after</a:t>
            </a:r>
            <a:r>
              <a:rPr lang="en-US" spc="-40" dirty="0"/>
              <a:t> </a:t>
            </a:r>
            <a:r>
              <a:rPr lang="en-US" spc="5" dirty="0"/>
              <a:t>stores</a:t>
            </a:r>
            <a:endParaRPr lang="en-US" dirty="0"/>
          </a:p>
          <a:p>
            <a:pPr marL="1155700" lvl="2" indent="-22860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  <a:tabLst>
                <a:tab pos="1156335" algn="l"/>
              </a:tabLst>
            </a:pPr>
            <a:r>
              <a:rPr lang="en-US" spc="-5" dirty="0"/>
              <a:t>e.g.,</a:t>
            </a:r>
            <a:r>
              <a:rPr lang="en-US" spc="-15" dirty="0"/>
              <a:t> </a:t>
            </a:r>
            <a:r>
              <a:rPr lang="en-US" spc="5" dirty="0"/>
              <a:t>PA-RISC,</a:t>
            </a:r>
            <a:r>
              <a:rPr lang="en-US" spc="-60" dirty="0"/>
              <a:t> </a:t>
            </a:r>
            <a:r>
              <a:rPr lang="en-US" dirty="0"/>
              <a:t>Power,</a:t>
            </a:r>
            <a:r>
              <a:rPr lang="en-US" spc="-55" dirty="0"/>
              <a:t> </a:t>
            </a:r>
            <a:r>
              <a:rPr lang="en-US" dirty="0"/>
              <a:t>Alpha</a:t>
            </a:r>
          </a:p>
          <a:p>
            <a:pPr marL="756285" lvl="1" indent="-22860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  <a:tabLst>
                <a:tab pos="756285" algn="l"/>
                <a:tab pos="756920" algn="l"/>
              </a:tabLst>
            </a:pPr>
            <a:r>
              <a:rPr lang="en-US" spc="5" dirty="0"/>
              <a:t>Stores</a:t>
            </a:r>
            <a:r>
              <a:rPr lang="en-US" spc="-40" dirty="0"/>
              <a:t> </a:t>
            </a:r>
            <a:r>
              <a:rPr lang="en-US" dirty="0"/>
              <a:t>may</a:t>
            </a:r>
            <a:r>
              <a:rPr lang="en-US" spc="-15" dirty="0"/>
              <a:t> </a:t>
            </a:r>
            <a:r>
              <a:rPr lang="en-US" dirty="0"/>
              <a:t>be</a:t>
            </a:r>
            <a:r>
              <a:rPr lang="en-US" spc="-20" dirty="0"/>
              <a:t> </a:t>
            </a:r>
            <a:r>
              <a:rPr lang="en-US" spc="5" dirty="0"/>
              <a:t>reordered</a:t>
            </a:r>
            <a:r>
              <a:rPr lang="en-US" spc="-85" dirty="0"/>
              <a:t> </a:t>
            </a:r>
            <a:r>
              <a:rPr lang="en-US" dirty="0"/>
              <a:t>after</a:t>
            </a:r>
            <a:r>
              <a:rPr lang="en-US" spc="-35" dirty="0"/>
              <a:t> </a:t>
            </a:r>
            <a:r>
              <a:rPr lang="en-US" dirty="0"/>
              <a:t>stores</a:t>
            </a:r>
          </a:p>
          <a:p>
            <a:pPr marL="1155700" lvl="2" indent="-22860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  <a:tabLst>
                <a:tab pos="1156335" algn="l"/>
              </a:tabLst>
            </a:pPr>
            <a:r>
              <a:rPr lang="en-US" spc="-5" dirty="0"/>
              <a:t>e.g.,</a:t>
            </a:r>
            <a:r>
              <a:rPr lang="en-US" spc="-15" dirty="0"/>
              <a:t> </a:t>
            </a:r>
            <a:r>
              <a:rPr lang="en-US" spc="5" dirty="0"/>
              <a:t>PA-RISC,</a:t>
            </a:r>
            <a:r>
              <a:rPr lang="en-US" spc="-55" dirty="0"/>
              <a:t> </a:t>
            </a:r>
            <a:r>
              <a:rPr lang="en-US" dirty="0"/>
              <a:t>Power,</a:t>
            </a:r>
            <a:r>
              <a:rPr lang="en-US" spc="-55" dirty="0"/>
              <a:t> </a:t>
            </a:r>
            <a:r>
              <a:rPr lang="en-US" dirty="0"/>
              <a:t>Alpha,</a:t>
            </a:r>
            <a:r>
              <a:rPr lang="en-US" spc="-10" dirty="0"/>
              <a:t> </a:t>
            </a:r>
            <a:r>
              <a:rPr lang="en-US" dirty="0"/>
              <a:t>PSO</a:t>
            </a:r>
          </a:p>
          <a:p>
            <a:pPr marL="756285" lvl="1" indent="-22860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  <a:tabLst>
                <a:tab pos="756285" algn="l"/>
                <a:tab pos="756920" algn="l"/>
              </a:tabLst>
            </a:pPr>
            <a:r>
              <a:rPr lang="en-US" spc="5" dirty="0"/>
              <a:t>Stores</a:t>
            </a:r>
            <a:r>
              <a:rPr lang="en-US" spc="-45" dirty="0"/>
              <a:t> </a:t>
            </a:r>
            <a:r>
              <a:rPr lang="en-US" dirty="0"/>
              <a:t>may</a:t>
            </a:r>
            <a:r>
              <a:rPr lang="en-US" spc="-15" dirty="0"/>
              <a:t> </a:t>
            </a:r>
            <a:r>
              <a:rPr lang="en-US" dirty="0"/>
              <a:t>be</a:t>
            </a:r>
            <a:r>
              <a:rPr lang="en-US" spc="-25" dirty="0"/>
              <a:t> </a:t>
            </a:r>
            <a:r>
              <a:rPr lang="en-US" spc="5" dirty="0"/>
              <a:t>reordered</a:t>
            </a:r>
            <a:r>
              <a:rPr lang="en-US" spc="-85" dirty="0"/>
              <a:t> </a:t>
            </a:r>
            <a:r>
              <a:rPr lang="en-US" dirty="0"/>
              <a:t>after</a:t>
            </a:r>
            <a:r>
              <a:rPr lang="en-US" spc="-40" dirty="0"/>
              <a:t> </a:t>
            </a:r>
            <a:r>
              <a:rPr lang="en-US" dirty="0"/>
              <a:t>loads</a:t>
            </a:r>
          </a:p>
          <a:p>
            <a:pPr marL="1155700" lvl="2" indent="-228600">
              <a:lnSpc>
                <a:spcPct val="90000"/>
              </a:lnSpc>
              <a:spcBef>
                <a:spcPts val="385"/>
              </a:spcBef>
              <a:buFont typeface="Arial" panose="020B0604020202020204" pitchFamily="34" charset="0"/>
              <a:buChar char="•"/>
              <a:tabLst>
                <a:tab pos="1156335" algn="l"/>
              </a:tabLst>
            </a:pPr>
            <a:r>
              <a:rPr lang="en-US" dirty="0"/>
              <a:t>e.g.,</a:t>
            </a:r>
            <a:r>
              <a:rPr lang="en-US" spc="-5" dirty="0"/>
              <a:t> </a:t>
            </a:r>
            <a:r>
              <a:rPr lang="en-US" spc="5" dirty="0"/>
              <a:t>PA-RISC,</a:t>
            </a:r>
            <a:r>
              <a:rPr lang="en-US" spc="-50" dirty="0"/>
              <a:t> </a:t>
            </a:r>
            <a:r>
              <a:rPr lang="en-US" dirty="0"/>
              <a:t>Power,</a:t>
            </a:r>
            <a:r>
              <a:rPr lang="en-US" spc="-55" dirty="0"/>
              <a:t> </a:t>
            </a:r>
            <a:r>
              <a:rPr lang="en-US" dirty="0"/>
              <a:t>Alpha, PSO,</a:t>
            </a:r>
            <a:r>
              <a:rPr lang="en-US" spc="-5" dirty="0"/>
              <a:t> </a:t>
            </a:r>
            <a:r>
              <a:rPr lang="en-US" spc="5" dirty="0"/>
              <a:t>TSO,</a:t>
            </a:r>
            <a:r>
              <a:rPr lang="en-US" spc="-25" dirty="0"/>
              <a:t> </a:t>
            </a:r>
            <a:r>
              <a:rPr lang="en-US" spc="5" dirty="0"/>
              <a:t>x86</a:t>
            </a:r>
            <a:endParaRPr lang="en-US" dirty="0"/>
          </a:p>
          <a:p>
            <a:pPr lvl="2" indent="-228600">
              <a:lnSpc>
                <a:spcPct val="90000"/>
              </a:lnSpc>
              <a:spcBef>
                <a:spcPts val="15"/>
              </a:spcBef>
              <a:buClr>
                <a:srgbClr val="551179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756285" lvl="1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756285" algn="l"/>
                <a:tab pos="756920" algn="l"/>
              </a:tabLst>
            </a:pPr>
            <a:r>
              <a:rPr lang="en-US" dirty="0"/>
              <a:t>Other</a:t>
            </a:r>
            <a:r>
              <a:rPr lang="en-US" spc="-20" dirty="0"/>
              <a:t> </a:t>
            </a:r>
            <a:r>
              <a:rPr lang="en-US" spc="5" dirty="0"/>
              <a:t>more</a:t>
            </a:r>
            <a:r>
              <a:rPr lang="en-US" spc="-45" dirty="0"/>
              <a:t> </a:t>
            </a:r>
            <a:r>
              <a:rPr lang="en-US" dirty="0"/>
              <a:t>esoteric</a:t>
            </a:r>
            <a:r>
              <a:rPr lang="en-US" spc="-45" dirty="0"/>
              <a:t> </a:t>
            </a:r>
            <a:r>
              <a:rPr lang="en-US" dirty="0"/>
              <a:t>characteristics</a:t>
            </a:r>
          </a:p>
          <a:p>
            <a:pPr marL="1155700" lvl="2" indent="-228600">
              <a:lnSpc>
                <a:spcPct val="90000"/>
              </a:lnSpc>
              <a:spcBef>
                <a:spcPts val="390"/>
              </a:spcBef>
              <a:buFont typeface="Arial" panose="020B0604020202020204" pitchFamily="34" charset="0"/>
              <a:buChar char="•"/>
              <a:tabLst>
                <a:tab pos="1156335" algn="l"/>
              </a:tabLst>
            </a:pPr>
            <a:r>
              <a:rPr lang="en-US" spc="-5" dirty="0"/>
              <a:t>e.g.,</a:t>
            </a:r>
            <a:r>
              <a:rPr lang="en-US" spc="-40" dirty="0"/>
              <a:t> </a:t>
            </a:r>
            <a:r>
              <a:rPr lang="en-US" dirty="0"/>
              <a:t>Alpha</a:t>
            </a:r>
          </a:p>
        </p:txBody>
      </p:sp>
      <p:pic>
        <p:nvPicPr>
          <p:cNvPr id="8" name="Picture 7" descr="Line of grocery carts">
            <a:extLst>
              <a:ext uri="{FF2B5EF4-FFF2-40B4-BE49-F238E27FC236}">
                <a16:creationId xmlns:a16="http://schemas.microsoft.com/office/drawing/2014/main" id="{A5739B4D-9004-FDF0-A617-D3DD106001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905" r="5694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CDE66F-6E48-68ED-3E57-49FB116C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073" y="6356350"/>
            <a:ext cx="330343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  <a:defRPr/>
            </a:pPr>
            <a:r>
              <a:rPr lang="en-US" sz="12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6EA02-4329-237F-7180-3AC680DF2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2520" y="6356350"/>
            <a:ext cx="3200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10</a:t>
            </a:fld>
            <a:endParaRPr lang="en-US" sz="12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84413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6303D-0014-E39A-864C-BD8BF499D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X86 uses TSO (Total Store Order)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5E118-F756-778C-8ECF-603D4AD63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come back in two weeks time. Once we understand how the processor looks at stores. </a:t>
            </a:r>
          </a:p>
          <a:p>
            <a:endParaRPr lang="en-US" dirty="0"/>
          </a:p>
          <a:p>
            <a:r>
              <a:rPr lang="en-US" dirty="0"/>
              <a:t>So far we have seen how caches see stores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D3B29B-3B7E-DF91-3F17-0601A2073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562CC0-BDC9-875E-162E-06568F629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0995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69F0-D2A2-463F-936B-3C352A177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DRAM Organization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441C1-D8F8-4DE4-A766-87180A695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86F21677-37F7-4AE1-BF7E-C931475C21C7}"/>
              </a:ext>
            </a:extLst>
          </p:cNvPr>
          <p:cNvSpPr/>
          <p:nvPr/>
        </p:nvSpPr>
        <p:spPr>
          <a:xfrm>
            <a:off x="76200" y="1271595"/>
            <a:ext cx="1676400" cy="76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Channel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9A9AF07D-F6D7-4858-BF8B-D51A11C80821}"/>
              </a:ext>
            </a:extLst>
          </p:cNvPr>
          <p:cNvSpPr/>
          <p:nvPr/>
        </p:nvSpPr>
        <p:spPr>
          <a:xfrm>
            <a:off x="2895600" y="2871795"/>
            <a:ext cx="1143000" cy="76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Rank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2ACFFA67-DD02-4735-9A00-B1B63B671082}"/>
              </a:ext>
            </a:extLst>
          </p:cNvPr>
          <p:cNvSpPr/>
          <p:nvPr/>
        </p:nvSpPr>
        <p:spPr>
          <a:xfrm>
            <a:off x="4191000" y="3709995"/>
            <a:ext cx="1143000" cy="76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Chip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108F6143-7E5E-49AE-8864-0F910869A965}"/>
              </a:ext>
            </a:extLst>
          </p:cNvPr>
          <p:cNvSpPr/>
          <p:nvPr/>
        </p:nvSpPr>
        <p:spPr>
          <a:xfrm>
            <a:off x="5638800" y="4548195"/>
            <a:ext cx="1143000" cy="76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Bank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5D4CDFD3-1135-4685-9D44-2F6B76DBF187}"/>
              </a:ext>
            </a:extLst>
          </p:cNvPr>
          <p:cNvSpPr/>
          <p:nvPr/>
        </p:nvSpPr>
        <p:spPr>
          <a:xfrm>
            <a:off x="7239000" y="5233995"/>
            <a:ext cx="1143000" cy="76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Row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203181C2-6C04-418D-9C36-D18DA4A0255D}"/>
              </a:ext>
            </a:extLst>
          </p:cNvPr>
          <p:cNvSpPr/>
          <p:nvPr/>
        </p:nvSpPr>
        <p:spPr>
          <a:xfrm>
            <a:off x="8763000" y="5919795"/>
            <a:ext cx="1524000" cy="76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Column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pic>
        <p:nvPicPr>
          <p:cNvPr id="12" name="Picture 3" descr="DIMM_crop.jpg">
            <a:extLst>
              <a:ext uri="{FF2B5EF4-FFF2-40B4-BE49-F238E27FC236}">
                <a16:creationId xmlns:a16="http://schemas.microsoft.com/office/drawing/2014/main" id="{7ED2233F-0079-4DAB-9EED-538053C9F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910556"/>
            <a:ext cx="5867400" cy="1442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38">
            <a:extLst>
              <a:ext uri="{FF2B5EF4-FFF2-40B4-BE49-F238E27FC236}">
                <a16:creationId xmlns:a16="http://schemas.microsoft.com/office/drawing/2014/main" id="{0212640D-7812-4503-AE87-3763F1DE5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6400" y="3276600"/>
            <a:ext cx="312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1800" b="1" dirty="0">
                <a:latin typeface="Cambria" panose="02040503050406030204" pitchFamily="18" charset="0"/>
                <a:cs typeface="Arial" pitchFamily="34" charset="0"/>
              </a:rPr>
              <a:t>Rank 0 with 8 chips</a:t>
            </a:r>
            <a:endParaRPr lang="en-US" altLang="en-US" sz="1800" dirty="0">
              <a:latin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14" name="TextBox 38">
            <a:extLst>
              <a:ext uri="{FF2B5EF4-FFF2-40B4-BE49-F238E27FC236}">
                <a16:creationId xmlns:a16="http://schemas.microsoft.com/office/drawing/2014/main" id="{F9BC7EBB-EAD6-480A-AFF8-36491CB42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892307"/>
            <a:ext cx="312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latin typeface="Cambria" panose="02040503050406030204" pitchFamily="18" charset="0"/>
                <a:cs typeface="Arial" pitchFamily="34" charset="0"/>
              </a:rPr>
              <a:t>Rank 1 with 8 chips</a:t>
            </a:r>
          </a:p>
        </p:txBody>
      </p: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8006BA8F-0559-41A5-935F-9E0CAFA54ADA}"/>
              </a:ext>
            </a:extLst>
          </p:cNvPr>
          <p:cNvSpPr/>
          <p:nvPr/>
        </p:nvSpPr>
        <p:spPr>
          <a:xfrm>
            <a:off x="1676400" y="2033595"/>
            <a:ext cx="1371600" cy="76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DIMM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F85EEF-BC51-9A86-0390-6ED29DDAD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685055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  <p:bldP spid="7" grpId="0" build="allAtOnce" animBg="1"/>
      <p:bldP spid="8" grpId="0" build="allAtOnce" animBg="1"/>
      <p:bldP spid="9" grpId="0" build="allAtOnce" animBg="1"/>
      <p:bldP spid="10" grpId="0" build="allAtOnce" animBg="1"/>
      <p:bldP spid="11" grpId="0" build="allAtOnce" animBg="1"/>
      <p:bldP spid="15" grpId="0" uiExpand="1" build="allAtOnce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E0E6-9D20-495A-A6A4-1AE6866FB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77E41-34DB-40E8-B6AB-E949B3DAE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13</a:t>
            </a:fld>
            <a:endParaRPr lang="en-IN" dirty="0"/>
          </a:p>
        </p:txBody>
      </p:sp>
      <p:pic>
        <p:nvPicPr>
          <p:cNvPr id="6" name="Picture 3" descr="DIMM_crop.jpg">
            <a:extLst>
              <a:ext uri="{FF2B5EF4-FFF2-40B4-BE49-F238E27FC236}">
                <a16:creationId xmlns:a16="http://schemas.microsoft.com/office/drawing/2014/main" id="{71DEDC0C-E692-482B-88AD-4ECED22B3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81200"/>
            <a:ext cx="2590800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6D6A969D-240F-4D68-B82F-F9D6A848B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8" y="1524000"/>
            <a:ext cx="43624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charset="0"/>
                <a:ea typeface="ＭＳ Ｐゴシック" charset="0"/>
                <a:cs typeface="Arial" charset="0"/>
              </a:rPr>
              <a:t>DIMM (Dual in-line memory module)</a:t>
            </a:r>
          </a:p>
        </p:txBody>
      </p:sp>
      <p:sp>
        <p:nvSpPr>
          <p:cNvPr id="8" name="Right Arrow 6">
            <a:extLst>
              <a:ext uri="{FF2B5EF4-FFF2-40B4-BE49-F238E27FC236}">
                <a16:creationId xmlns:a16="http://schemas.microsoft.com/office/drawing/2014/main" id="{344F5EF3-830A-44A2-B7A9-830FD75CA8F3}"/>
              </a:ext>
            </a:extLst>
          </p:cNvPr>
          <p:cNvSpPr/>
          <p:nvPr/>
        </p:nvSpPr>
        <p:spPr>
          <a:xfrm>
            <a:off x="4038600" y="1828800"/>
            <a:ext cx="1752600" cy="7620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Side view</a:t>
            </a:r>
          </a:p>
        </p:txBody>
      </p:sp>
      <p:pic>
        <p:nvPicPr>
          <p:cNvPr id="9" name="Picture 7" descr="DIMM_side.png">
            <a:extLst>
              <a:ext uri="{FF2B5EF4-FFF2-40B4-BE49-F238E27FC236}">
                <a16:creationId xmlns:a16="http://schemas.microsoft.com/office/drawing/2014/main" id="{80D0E291-5720-4899-86FB-A25D8CF333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19200"/>
            <a:ext cx="15240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8" descr="DIMM_front.png">
            <a:extLst>
              <a:ext uri="{FF2B5EF4-FFF2-40B4-BE49-F238E27FC236}">
                <a16:creationId xmlns:a16="http://schemas.microsoft.com/office/drawing/2014/main" id="{BBD970F0-C453-4DFA-BF83-4B56E7DC3D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487863"/>
            <a:ext cx="384492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9" descr="DIMM_back.png">
            <a:extLst>
              <a:ext uri="{FF2B5EF4-FFF2-40B4-BE49-F238E27FC236}">
                <a16:creationId xmlns:a16="http://schemas.microsoft.com/office/drawing/2014/main" id="{59832FB5-311D-4B35-9A8D-068BAC792B8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479925"/>
            <a:ext cx="3844925" cy="701675"/>
          </a:xfrm>
          <a:prstGeom prst="rect">
            <a:avLst/>
          </a:prstGeom>
          <a:solidFill>
            <a:schemeClr val="accent2">
              <a:alpha val="3999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B939BF58-FB95-4B0A-8878-FA3E90890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038600"/>
            <a:ext cx="1828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charset="0"/>
                <a:ea typeface="ＭＳ Ｐゴシック" charset="0"/>
                <a:cs typeface="Arial" charset="0"/>
              </a:rPr>
              <a:t>Front of DIMM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1A241DA2-8853-4D2C-B6C3-12EC6D0C5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4038600"/>
            <a:ext cx="1828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charset="0"/>
                <a:ea typeface="ＭＳ Ｐゴシック" charset="0"/>
                <a:cs typeface="Arial" charset="0"/>
              </a:rPr>
              <a:t>Back of DIMM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94CA51-DA6C-489F-A50B-EC186E1DE85A}"/>
              </a:ext>
            </a:extLst>
          </p:cNvPr>
          <p:cNvCxnSpPr>
            <a:endCxn id="12" idx="0"/>
          </p:cNvCxnSpPr>
          <p:nvPr/>
        </p:nvCxnSpPr>
        <p:spPr>
          <a:xfrm flipH="1">
            <a:off x="3429000" y="2514600"/>
            <a:ext cx="3505200" cy="1524000"/>
          </a:xfrm>
          <a:prstGeom prst="straightConnector1">
            <a:avLst/>
          </a:prstGeom>
          <a:ln w="762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1B5A1F2-C4FB-42B4-BFB1-B1E4A8E95E9C}"/>
              </a:ext>
            </a:extLst>
          </p:cNvPr>
          <p:cNvCxnSpPr>
            <a:endCxn id="13" idx="0"/>
          </p:cNvCxnSpPr>
          <p:nvPr/>
        </p:nvCxnSpPr>
        <p:spPr>
          <a:xfrm>
            <a:off x="7315200" y="2514600"/>
            <a:ext cx="381000" cy="1524000"/>
          </a:xfrm>
          <a:prstGeom prst="straightConnector1">
            <a:avLst/>
          </a:prstGeom>
          <a:ln w="762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02E8383-4120-4C73-9E6F-7BAD5C4331F4}"/>
              </a:ext>
            </a:extLst>
          </p:cNvPr>
          <p:cNvSpPr/>
          <p:nvPr/>
        </p:nvSpPr>
        <p:spPr>
          <a:xfrm>
            <a:off x="685800" y="4495800"/>
            <a:ext cx="3581400" cy="533400"/>
          </a:xfrm>
          <a:prstGeom prst="rect">
            <a:avLst/>
          </a:prstGeom>
          <a:solidFill>
            <a:srgbClr val="FFC000">
              <a:alpha val="40000"/>
            </a:srgbClr>
          </a:solidFill>
          <a:ln w="50800">
            <a:solidFill>
              <a:schemeClr val="accent6"/>
            </a:solidFill>
            <a:prstDash val="dash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60B49B-DFA1-43E3-A292-A8413A8CAF11}"/>
              </a:ext>
            </a:extLst>
          </p:cNvPr>
          <p:cNvSpPr/>
          <p:nvPr/>
        </p:nvSpPr>
        <p:spPr>
          <a:xfrm>
            <a:off x="4953000" y="4495800"/>
            <a:ext cx="3581400" cy="533400"/>
          </a:xfrm>
          <a:prstGeom prst="rect">
            <a:avLst/>
          </a:prstGeom>
          <a:solidFill>
            <a:srgbClr val="FFC000">
              <a:alpha val="40000"/>
            </a:srgbClr>
          </a:solidFill>
          <a:ln w="5080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38">
            <a:extLst>
              <a:ext uri="{FF2B5EF4-FFF2-40B4-BE49-F238E27FC236}">
                <a16:creationId xmlns:a16="http://schemas.microsoft.com/office/drawing/2014/main" id="{BCFD8D1A-DF54-4954-ACA6-DA3B4F674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638800"/>
            <a:ext cx="3124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charset="0"/>
                <a:ea typeface="ＭＳ Ｐゴシック" charset="0"/>
                <a:cs typeface="Arial" charset="0"/>
              </a:rPr>
              <a:t>Rank 0: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charset="0"/>
                <a:ea typeface="ＭＳ Ｐゴシック" charset="0"/>
                <a:cs typeface="Arial" charset="0"/>
              </a:rPr>
              <a:t>collection of 8 chips</a:t>
            </a:r>
          </a:p>
        </p:txBody>
      </p:sp>
      <p:sp>
        <p:nvSpPr>
          <p:cNvPr id="19" name="TextBox 39">
            <a:extLst>
              <a:ext uri="{FF2B5EF4-FFF2-40B4-BE49-F238E27FC236}">
                <a16:creationId xmlns:a16="http://schemas.microsoft.com/office/drawing/2014/main" id="{A47EE7A3-1396-45A4-BCA0-7C8562309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649913"/>
            <a:ext cx="990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charset="0"/>
                <a:ea typeface="ＭＳ Ｐゴシック" charset="0"/>
                <a:cs typeface="Arial" charset="0"/>
              </a:rPr>
              <a:t>Rank 1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33D588-FD4E-420F-8FD6-1F7AFEDFC862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>
            <a:off x="2476500" y="5029200"/>
            <a:ext cx="381000" cy="609600"/>
          </a:xfrm>
          <a:prstGeom prst="straightConnector1">
            <a:avLst/>
          </a:prstGeom>
          <a:ln w="508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BEA68E-C071-4AB2-8EDB-E368351099E4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6743700" y="5029200"/>
            <a:ext cx="457200" cy="620713"/>
          </a:xfrm>
          <a:prstGeom prst="straightConnector1">
            <a:avLst/>
          </a:prstGeom>
          <a:ln w="508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3F6E6C7-7F5D-EBDB-F249-0EB8D4D47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876567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D6AEC-DC8E-4CC5-84EF-CFA6F7689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Ranks, Banks, Rows, Columns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B0475-4467-4519-A54C-6BCD1C931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55ABB8E-2895-4F17-A5C0-EB2C1C2EF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585119"/>
            <a:ext cx="1981200" cy="4876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mbria" panose="02040503050406030204" pitchFamily="18" charset="0"/>
            </a:endParaRP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1EA8A21D-2269-427F-9CEC-0E1B232F2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1585119"/>
            <a:ext cx="7938" cy="4876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8" name="Text Box 115">
            <a:extLst>
              <a:ext uri="{FF2B5EF4-FFF2-40B4-BE49-F238E27FC236}">
                <a16:creationId xmlns:a16="http://schemas.microsoft.com/office/drawing/2014/main" id="{F3C3BC0B-833E-499C-8C86-591AA9065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1585119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Cambria" panose="02040503050406030204" pitchFamily="18" charset="0"/>
              </a:rPr>
              <a:t>Rank 0</a:t>
            </a:r>
          </a:p>
        </p:txBody>
      </p:sp>
      <p:sp>
        <p:nvSpPr>
          <p:cNvPr id="9" name="Text Box 116">
            <a:extLst>
              <a:ext uri="{FF2B5EF4-FFF2-40B4-BE49-F238E27FC236}">
                <a16:creationId xmlns:a16="http://schemas.microsoft.com/office/drawing/2014/main" id="{0456CCF1-99AD-413A-92E9-0EA5DA316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5925" y="1585119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Cambria" panose="02040503050406030204" pitchFamily="18" charset="0"/>
              </a:rPr>
              <a:t>Rank 1</a:t>
            </a:r>
          </a:p>
        </p:txBody>
      </p:sp>
      <p:sp>
        <p:nvSpPr>
          <p:cNvPr id="10" name="Text Box 125">
            <a:extLst>
              <a:ext uri="{FF2B5EF4-FFF2-40B4-BE49-F238E27FC236}">
                <a16:creationId xmlns:a16="http://schemas.microsoft.com/office/drawing/2014/main" id="{D5E6CE95-743A-4AFD-8898-4AF6724B4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718719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Cambria" panose="02040503050406030204" pitchFamily="18" charset="0"/>
              </a:rPr>
              <a:t>DIMM</a:t>
            </a:r>
          </a:p>
        </p:txBody>
      </p:sp>
      <p:grpSp>
        <p:nvGrpSpPr>
          <p:cNvPr id="11" name="Group 220">
            <a:extLst>
              <a:ext uri="{FF2B5EF4-FFF2-40B4-BE49-F238E27FC236}">
                <a16:creationId xmlns:a16="http://schemas.microsoft.com/office/drawing/2014/main" id="{D3261269-D65C-4187-B14D-AFB711715371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261519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12" name="Rectangle 185">
              <a:extLst>
                <a:ext uri="{FF2B5EF4-FFF2-40B4-BE49-F238E27FC236}">
                  <a16:creationId xmlns:a16="http://schemas.microsoft.com/office/drawing/2014/main" id="{E47FF922-1A0B-437F-9D18-C550E9039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13" name="Line 186">
              <a:extLst>
                <a:ext uri="{FF2B5EF4-FFF2-40B4-BE49-F238E27FC236}">
                  <a16:creationId xmlns:a16="http://schemas.microsoft.com/office/drawing/2014/main" id="{61893271-6DA9-470B-9743-3E3E2C9867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4" name="Line 187">
              <a:extLst>
                <a:ext uri="{FF2B5EF4-FFF2-40B4-BE49-F238E27FC236}">
                  <a16:creationId xmlns:a16="http://schemas.microsoft.com/office/drawing/2014/main" id="{DD410EBE-2568-4A8A-83B2-5BC4139F4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15" name="Group 188">
              <a:extLst>
                <a:ext uri="{FF2B5EF4-FFF2-40B4-BE49-F238E27FC236}">
                  <a16:creationId xmlns:a16="http://schemas.microsoft.com/office/drawing/2014/main" id="{12AE56CA-CEBC-4840-88D6-9458290C21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40" name="Line 189">
                <a:extLst>
                  <a:ext uri="{FF2B5EF4-FFF2-40B4-BE49-F238E27FC236}">
                    <a16:creationId xmlns:a16="http://schemas.microsoft.com/office/drawing/2014/main" id="{573EA06D-46A7-4967-BEDD-E26F887873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41" name="Line 190">
                <a:extLst>
                  <a:ext uri="{FF2B5EF4-FFF2-40B4-BE49-F238E27FC236}">
                    <a16:creationId xmlns:a16="http://schemas.microsoft.com/office/drawing/2014/main" id="{D64D59A5-9E80-4540-BD5C-830FA0F0BD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42" name="Line 191">
                <a:extLst>
                  <a:ext uri="{FF2B5EF4-FFF2-40B4-BE49-F238E27FC236}">
                    <a16:creationId xmlns:a16="http://schemas.microsoft.com/office/drawing/2014/main" id="{B0A4E44E-759D-41FF-8D58-70A339832F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43" name="Line 192">
                <a:extLst>
                  <a:ext uri="{FF2B5EF4-FFF2-40B4-BE49-F238E27FC236}">
                    <a16:creationId xmlns:a16="http://schemas.microsoft.com/office/drawing/2014/main" id="{5DEF8283-7803-4843-AC24-08B07D2465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44" name="Line 193">
                <a:extLst>
                  <a:ext uri="{FF2B5EF4-FFF2-40B4-BE49-F238E27FC236}">
                    <a16:creationId xmlns:a16="http://schemas.microsoft.com/office/drawing/2014/main" id="{72D3B938-FC5B-466E-BC3B-391BC8368E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45" name="Line 194">
                <a:extLst>
                  <a:ext uri="{FF2B5EF4-FFF2-40B4-BE49-F238E27FC236}">
                    <a16:creationId xmlns:a16="http://schemas.microsoft.com/office/drawing/2014/main" id="{C7C2AFBC-D16D-4A7F-8EA6-7A4E6D269A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46" name="Line 195">
                <a:extLst>
                  <a:ext uri="{FF2B5EF4-FFF2-40B4-BE49-F238E27FC236}">
                    <a16:creationId xmlns:a16="http://schemas.microsoft.com/office/drawing/2014/main" id="{9C049EF8-47EB-46F1-987E-DA74FC09AE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6" name="Group 196">
              <a:extLst>
                <a:ext uri="{FF2B5EF4-FFF2-40B4-BE49-F238E27FC236}">
                  <a16:creationId xmlns:a16="http://schemas.microsoft.com/office/drawing/2014/main" id="{3B0ACA21-5AAE-4C96-B076-28BE3E0E45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33" name="Line 197">
                <a:extLst>
                  <a:ext uri="{FF2B5EF4-FFF2-40B4-BE49-F238E27FC236}">
                    <a16:creationId xmlns:a16="http://schemas.microsoft.com/office/drawing/2014/main" id="{9993BCB2-349F-415A-A23D-679159725E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4" name="Line 198">
                <a:extLst>
                  <a:ext uri="{FF2B5EF4-FFF2-40B4-BE49-F238E27FC236}">
                    <a16:creationId xmlns:a16="http://schemas.microsoft.com/office/drawing/2014/main" id="{AEA1593A-3CA4-40A6-A1C4-E5551979ED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5" name="Line 199">
                <a:extLst>
                  <a:ext uri="{FF2B5EF4-FFF2-40B4-BE49-F238E27FC236}">
                    <a16:creationId xmlns:a16="http://schemas.microsoft.com/office/drawing/2014/main" id="{9B15D852-EAA3-4347-84C5-10EC5C6FC1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6" name="Line 200">
                <a:extLst>
                  <a:ext uri="{FF2B5EF4-FFF2-40B4-BE49-F238E27FC236}">
                    <a16:creationId xmlns:a16="http://schemas.microsoft.com/office/drawing/2014/main" id="{F4953EAD-3AAF-45EC-A616-1B4628F2A1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7" name="Line 201">
                <a:extLst>
                  <a:ext uri="{FF2B5EF4-FFF2-40B4-BE49-F238E27FC236}">
                    <a16:creationId xmlns:a16="http://schemas.microsoft.com/office/drawing/2014/main" id="{5404A924-7B8A-4236-8F25-9A9D30D94C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8" name="Line 202">
                <a:extLst>
                  <a:ext uri="{FF2B5EF4-FFF2-40B4-BE49-F238E27FC236}">
                    <a16:creationId xmlns:a16="http://schemas.microsoft.com/office/drawing/2014/main" id="{5965C375-5DBD-41C6-896A-7677E20F20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9" name="Line 203">
                <a:extLst>
                  <a:ext uri="{FF2B5EF4-FFF2-40B4-BE49-F238E27FC236}">
                    <a16:creationId xmlns:a16="http://schemas.microsoft.com/office/drawing/2014/main" id="{38C567B7-37AA-47CC-B535-FDEF31BFB6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7" name="Group 204">
              <a:extLst>
                <a:ext uri="{FF2B5EF4-FFF2-40B4-BE49-F238E27FC236}">
                  <a16:creationId xmlns:a16="http://schemas.microsoft.com/office/drawing/2014/main" id="{4591F7F0-2D7F-4BE0-A640-A664552AA3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26" name="Line 205">
                <a:extLst>
                  <a:ext uri="{FF2B5EF4-FFF2-40B4-BE49-F238E27FC236}">
                    <a16:creationId xmlns:a16="http://schemas.microsoft.com/office/drawing/2014/main" id="{89FBB2FA-967B-4CA3-AB4B-9E79ED37A3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7" name="Line 206">
                <a:extLst>
                  <a:ext uri="{FF2B5EF4-FFF2-40B4-BE49-F238E27FC236}">
                    <a16:creationId xmlns:a16="http://schemas.microsoft.com/office/drawing/2014/main" id="{693A7551-4A63-48D2-A6EE-F4E93E2235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8" name="Line 207">
                <a:extLst>
                  <a:ext uri="{FF2B5EF4-FFF2-40B4-BE49-F238E27FC236}">
                    <a16:creationId xmlns:a16="http://schemas.microsoft.com/office/drawing/2014/main" id="{DDEE0856-1C8D-48FF-BD64-F868143FFF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9" name="Line 208">
                <a:extLst>
                  <a:ext uri="{FF2B5EF4-FFF2-40B4-BE49-F238E27FC236}">
                    <a16:creationId xmlns:a16="http://schemas.microsoft.com/office/drawing/2014/main" id="{928FDC7E-B886-497A-98B1-606E40582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0" name="Line 209">
                <a:extLst>
                  <a:ext uri="{FF2B5EF4-FFF2-40B4-BE49-F238E27FC236}">
                    <a16:creationId xmlns:a16="http://schemas.microsoft.com/office/drawing/2014/main" id="{C6BFE85F-61D1-400F-8A06-B3984769C9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1" name="Line 210">
                <a:extLst>
                  <a:ext uri="{FF2B5EF4-FFF2-40B4-BE49-F238E27FC236}">
                    <a16:creationId xmlns:a16="http://schemas.microsoft.com/office/drawing/2014/main" id="{3D30A626-954C-420A-A100-6823FA37D3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2" name="Line 211">
                <a:extLst>
                  <a:ext uri="{FF2B5EF4-FFF2-40B4-BE49-F238E27FC236}">
                    <a16:creationId xmlns:a16="http://schemas.microsoft.com/office/drawing/2014/main" id="{819AE3CC-1D84-469C-863E-E87ED6DC3A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8" name="Group 212">
              <a:extLst>
                <a:ext uri="{FF2B5EF4-FFF2-40B4-BE49-F238E27FC236}">
                  <a16:creationId xmlns:a16="http://schemas.microsoft.com/office/drawing/2014/main" id="{68B42716-7535-4396-8205-4514BF5264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19" name="Line 213">
                <a:extLst>
                  <a:ext uri="{FF2B5EF4-FFF2-40B4-BE49-F238E27FC236}">
                    <a16:creationId xmlns:a16="http://schemas.microsoft.com/office/drawing/2014/main" id="{D10121E0-2817-4A6A-BE76-77F2730E86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0" name="Line 214">
                <a:extLst>
                  <a:ext uri="{FF2B5EF4-FFF2-40B4-BE49-F238E27FC236}">
                    <a16:creationId xmlns:a16="http://schemas.microsoft.com/office/drawing/2014/main" id="{201C829E-3821-46BB-AAB0-97584FADF5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" name="Line 215">
                <a:extLst>
                  <a:ext uri="{FF2B5EF4-FFF2-40B4-BE49-F238E27FC236}">
                    <a16:creationId xmlns:a16="http://schemas.microsoft.com/office/drawing/2014/main" id="{4304DECC-997C-459B-BD8C-9D973F2136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" name="Line 216">
                <a:extLst>
                  <a:ext uri="{FF2B5EF4-FFF2-40B4-BE49-F238E27FC236}">
                    <a16:creationId xmlns:a16="http://schemas.microsoft.com/office/drawing/2014/main" id="{AE577224-F856-4EBF-8A40-07F6C69F31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" name="Line 217">
                <a:extLst>
                  <a:ext uri="{FF2B5EF4-FFF2-40B4-BE49-F238E27FC236}">
                    <a16:creationId xmlns:a16="http://schemas.microsoft.com/office/drawing/2014/main" id="{F34E058B-4ADA-4D41-8DD2-E962685110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" name="Line 218">
                <a:extLst>
                  <a:ext uri="{FF2B5EF4-FFF2-40B4-BE49-F238E27FC236}">
                    <a16:creationId xmlns:a16="http://schemas.microsoft.com/office/drawing/2014/main" id="{386DF079-45F8-4382-9190-CD2D07518D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5" name="Line 219">
                <a:extLst>
                  <a:ext uri="{FF2B5EF4-FFF2-40B4-BE49-F238E27FC236}">
                    <a16:creationId xmlns:a16="http://schemas.microsoft.com/office/drawing/2014/main" id="{777A3AC0-B0FC-4ED1-B710-D63878F772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grpSp>
        <p:nvGrpSpPr>
          <p:cNvPr id="47" name="Group 221">
            <a:extLst>
              <a:ext uri="{FF2B5EF4-FFF2-40B4-BE49-F238E27FC236}">
                <a16:creationId xmlns:a16="http://schemas.microsoft.com/office/drawing/2014/main" id="{B99E1B4A-3B1E-4648-9B83-B24B6A169EE2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4328319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48" name="Rectangle 222">
              <a:extLst>
                <a:ext uri="{FF2B5EF4-FFF2-40B4-BE49-F238E27FC236}">
                  <a16:creationId xmlns:a16="http://schemas.microsoft.com/office/drawing/2014/main" id="{C4A37FFF-EE77-442A-AF76-F2B077DFE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49" name="Line 223">
              <a:extLst>
                <a:ext uri="{FF2B5EF4-FFF2-40B4-BE49-F238E27FC236}">
                  <a16:creationId xmlns:a16="http://schemas.microsoft.com/office/drawing/2014/main" id="{CFEC3846-FF6B-4F1E-BB5C-0B6C5A34AE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50" name="Line 224">
              <a:extLst>
                <a:ext uri="{FF2B5EF4-FFF2-40B4-BE49-F238E27FC236}">
                  <a16:creationId xmlns:a16="http://schemas.microsoft.com/office/drawing/2014/main" id="{42B00EEC-CCB3-4D41-B8AA-A1931E4532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51" name="Group 225">
              <a:extLst>
                <a:ext uri="{FF2B5EF4-FFF2-40B4-BE49-F238E27FC236}">
                  <a16:creationId xmlns:a16="http://schemas.microsoft.com/office/drawing/2014/main" id="{73D4F6CE-B30B-4676-88B6-8E9DE98036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76" name="Line 226">
                <a:extLst>
                  <a:ext uri="{FF2B5EF4-FFF2-40B4-BE49-F238E27FC236}">
                    <a16:creationId xmlns:a16="http://schemas.microsoft.com/office/drawing/2014/main" id="{756CB959-A4AE-4965-A7E6-E9EB464A1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7" name="Line 227">
                <a:extLst>
                  <a:ext uri="{FF2B5EF4-FFF2-40B4-BE49-F238E27FC236}">
                    <a16:creationId xmlns:a16="http://schemas.microsoft.com/office/drawing/2014/main" id="{E7213DAF-17D8-456D-8FF3-83A514C83B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8" name="Line 228">
                <a:extLst>
                  <a:ext uri="{FF2B5EF4-FFF2-40B4-BE49-F238E27FC236}">
                    <a16:creationId xmlns:a16="http://schemas.microsoft.com/office/drawing/2014/main" id="{A03A78EA-20F7-4CCB-BAA4-F5CF37617E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9" name="Line 229">
                <a:extLst>
                  <a:ext uri="{FF2B5EF4-FFF2-40B4-BE49-F238E27FC236}">
                    <a16:creationId xmlns:a16="http://schemas.microsoft.com/office/drawing/2014/main" id="{4C071699-4C40-401E-903F-21168F4FC5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80" name="Line 230">
                <a:extLst>
                  <a:ext uri="{FF2B5EF4-FFF2-40B4-BE49-F238E27FC236}">
                    <a16:creationId xmlns:a16="http://schemas.microsoft.com/office/drawing/2014/main" id="{E40FBE7B-6AF2-45AA-933A-A840DA5B13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81" name="Line 231">
                <a:extLst>
                  <a:ext uri="{FF2B5EF4-FFF2-40B4-BE49-F238E27FC236}">
                    <a16:creationId xmlns:a16="http://schemas.microsoft.com/office/drawing/2014/main" id="{154FD45B-8D75-45FF-AC63-E6BA1E40FD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82" name="Line 232">
                <a:extLst>
                  <a:ext uri="{FF2B5EF4-FFF2-40B4-BE49-F238E27FC236}">
                    <a16:creationId xmlns:a16="http://schemas.microsoft.com/office/drawing/2014/main" id="{3174DEFD-83DD-478C-8389-8FE1A38004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52" name="Group 233">
              <a:extLst>
                <a:ext uri="{FF2B5EF4-FFF2-40B4-BE49-F238E27FC236}">
                  <a16:creationId xmlns:a16="http://schemas.microsoft.com/office/drawing/2014/main" id="{721C1704-D943-4044-87E3-282269F7FE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69" name="Line 234">
                <a:extLst>
                  <a:ext uri="{FF2B5EF4-FFF2-40B4-BE49-F238E27FC236}">
                    <a16:creationId xmlns:a16="http://schemas.microsoft.com/office/drawing/2014/main" id="{39ECD77D-12F4-44E1-8D7D-43B82F89C2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0" name="Line 235">
                <a:extLst>
                  <a:ext uri="{FF2B5EF4-FFF2-40B4-BE49-F238E27FC236}">
                    <a16:creationId xmlns:a16="http://schemas.microsoft.com/office/drawing/2014/main" id="{CBB3B0D1-C722-42B1-945C-B4BDB7BE74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1" name="Line 236">
                <a:extLst>
                  <a:ext uri="{FF2B5EF4-FFF2-40B4-BE49-F238E27FC236}">
                    <a16:creationId xmlns:a16="http://schemas.microsoft.com/office/drawing/2014/main" id="{6F2D9102-97E2-4645-B716-F6A3640761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2" name="Line 237">
                <a:extLst>
                  <a:ext uri="{FF2B5EF4-FFF2-40B4-BE49-F238E27FC236}">
                    <a16:creationId xmlns:a16="http://schemas.microsoft.com/office/drawing/2014/main" id="{5CD67A5F-14DD-4835-B0A3-13EA481EED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3" name="Line 238">
                <a:extLst>
                  <a:ext uri="{FF2B5EF4-FFF2-40B4-BE49-F238E27FC236}">
                    <a16:creationId xmlns:a16="http://schemas.microsoft.com/office/drawing/2014/main" id="{21130F19-529B-499C-A32C-97B2F58BFF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4" name="Line 239">
                <a:extLst>
                  <a:ext uri="{FF2B5EF4-FFF2-40B4-BE49-F238E27FC236}">
                    <a16:creationId xmlns:a16="http://schemas.microsoft.com/office/drawing/2014/main" id="{7B959BDD-67C8-4713-B173-8755C5596C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5" name="Line 240">
                <a:extLst>
                  <a:ext uri="{FF2B5EF4-FFF2-40B4-BE49-F238E27FC236}">
                    <a16:creationId xmlns:a16="http://schemas.microsoft.com/office/drawing/2014/main" id="{A1EFDF8B-C96F-4CAE-B513-9AE1D9753B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53" name="Group 241">
              <a:extLst>
                <a:ext uri="{FF2B5EF4-FFF2-40B4-BE49-F238E27FC236}">
                  <a16:creationId xmlns:a16="http://schemas.microsoft.com/office/drawing/2014/main" id="{56A135B2-1E79-4B86-B224-23D3E79CC3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62" name="Line 242">
                <a:extLst>
                  <a:ext uri="{FF2B5EF4-FFF2-40B4-BE49-F238E27FC236}">
                    <a16:creationId xmlns:a16="http://schemas.microsoft.com/office/drawing/2014/main" id="{C071950D-3F4A-42CA-AE30-688704F4A6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3" name="Line 243">
                <a:extLst>
                  <a:ext uri="{FF2B5EF4-FFF2-40B4-BE49-F238E27FC236}">
                    <a16:creationId xmlns:a16="http://schemas.microsoft.com/office/drawing/2014/main" id="{513A8097-41C7-4DDF-9213-A98278103B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4" name="Line 244">
                <a:extLst>
                  <a:ext uri="{FF2B5EF4-FFF2-40B4-BE49-F238E27FC236}">
                    <a16:creationId xmlns:a16="http://schemas.microsoft.com/office/drawing/2014/main" id="{D67C4595-EE7C-44BE-8032-EB847BF776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5" name="Line 245">
                <a:extLst>
                  <a:ext uri="{FF2B5EF4-FFF2-40B4-BE49-F238E27FC236}">
                    <a16:creationId xmlns:a16="http://schemas.microsoft.com/office/drawing/2014/main" id="{56F7C54D-BFE5-47EE-BCBF-283388B73A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6" name="Line 246">
                <a:extLst>
                  <a:ext uri="{FF2B5EF4-FFF2-40B4-BE49-F238E27FC236}">
                    <a16:creationId xmlns:a16="http://schemas.microsoft.com/office/drawing/2014/main" id="{4C41659C-1546-4F20-9541-AF19733C18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7" name="Line 247">
                <a:extLst>
                  <a:ext uri="{FF2B5EF4-FFF2-40B4-BE49-F238E27FC236}">
                    <a16:creationId xmlns:a16="http://schemas.microsoft.com/office/drawing/2014/main" id="{0E7AF499-F76C-4346-BF37-616B1EF787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8" name="Line 248">
                <a:extLst>
                  <a:ext uri="{FF2B5EF4-FFF2-40B4-BE49-F238E27FC236}">
                    <a16:creationId xmlns:a16="http://schemas.microsoft.com/office/drawing/2014/main" id="{950B0597-497A-401A-9D3F-C7622C36D5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54" name="Group 249">
              <a:extLst>
                <a:ext uri="{FF2B5EF4-FFF2-40B4-BE49-F238E27FC236}">
                  <a16:creationId xmlns:a16="http://schemas.microsoft.com/office/drawing/2014/main" id="{A1E334D3-E50A-4883-85CC-B0E22ABF69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55" name="Line 250">
                <a:extLst>
                  <a:ext uri="{FF2B5EF4-FFF2-40B4-BE49-F238E27FC236}">
                    <a16:creationId xmlns:a16="http://schemas.microsoft.com/office/drawing/2014/main" id="{8B314952-3017-44F5-BA00-991AD11B37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56" name="Line 251">
                <a:extLst>
                  <a:ext uri="{FF2B5EF4-FFF2-40B4-BE49-F238E27FC236}">
                    <a16:creationId xmlns:a16="http://schemas.microsoft.com/office/drawing/2014/main" id="{7BBD0AE6-03AD-45BB-A53E-7DCEE0A0E2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57" name="Line 252">
                <a:extLst>
                  <a:ext uri="{FF2B5EF4-FFF2-40B4-BE49-F238E27FC236}">
                    <a16:creationId xmlns:a16="http://schemas.microsoft.com/office/drawing/2014/main" id="{B34DFCAB-74CA-4CA5-8713-F3B837E650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58" name="Line 253">
                <a:extLst>
                  <a:ext uri="{FF2B5EF4-FFF2-40B4-BE49-F238E27FC236}">
                    <a16:creationId xmlns:a16="http://schemas.microsoft.com/office/drawing/2014/main" id="{90AA1ECC-0310-423F-B0FB-48589520CD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59" name="Line 254">
                <a:extLst>
                  <a:ext uri="{FF2B5EF4-FFF2-40B4-BE49-F238E27FC236}">
                    <a16:creationId xmlns:a16="http://schemas.microsoft.com/office/drawing/2014/main" id="{7D73080B-491D-4A35-ADFF-FB69AA49D4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0" name="Line 255">
                <a:extLst>
                  <a:ext uri="{FF2B5EF4-FFF2-40B4-BE49-F238E27FC236}">
                    <a16:creationId xmlns:a16="http://schemas.microsoft.com/office/drawing/2014/main" id="{4DE15642-F2DE-42EE-AEA8-CBF47925C6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1" name="Line 256">
                <a:extLst>
                  <a:ext uri="{FF2B5EF4-FFF2-40B4-BE49-F238E27FC236}">
                    <a16:creationId xmlns:a16="http://schemas.microsoft.com/office/drawing/2014/main" id="{C8ABF4B5-4E4C-4709-A9C2-0CC1DA1079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grpSp>
        <p:nvGrpSpPr>
          <p:cNvPr id="83" name="Group 257">
            <a:extLst>
              <a:ext uri="{FF2B5EF4-FFF2-40B4-BE49-F238E27FC236}">
                <a16:creationId xmlns:a16="http://schemas.microsoft.com/office/drawing/2014/main" id="{50414CE8-47B7-41BD-B2B8-F293678CB8E1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5395119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84" name="Rectangle 258">
              <a:extLst>
                <a:ext uri="{FF2B5EF4-FFF2-40B4-BE49-F238E27FC236}">
                  <a16:creationId xmlns:a16="http://schemas.microsoft.com/office/drawing/2014/main" id="{8A4E29D7-24FB-4FB1-8646-B13D98A2B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85" name="Line 259">
              <a:extLst>
                <a:ext uri="{FF2B5EF4-FFF2-40B4-BE49-F238E27FC236}">
                  <a16:creationId xmlns:a16="http://schemas.microsoft.com/office/drawing/2014/main" id="{8991247B-DCD0-4AE0-BCBC-D2E510408D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86" name="Line 260">
              <a:extLst>
                <a:ext uri="{FF2B5EF4-FFF2-40B4-BE49-F238E27FC236}">
                  <a16:creationId xmlns:a16="http://schemas.microsoft.com/office/drawing/2014/main" id="{9CC2D762-3F27-436C-9B43-00D4887E07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87" name="Group 261">
              <a:extLst>
                <a:ext uri="{FF2B5EF4-FFF2-40B4-BE49-F238E27FC236}">
                  <a16:creationId xmlns:a16="http://schemas.microsoft.com/office/drawing/2014/main" id="{D56BD23F-55FE-4C7A-864F-0EC903E8F9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112" name="Line 262">
                <a:extLst>
                  <a:ext uri="{FF2B5EF4-FFF2-40B4-BE49-F238E27FC236}">
                    <a16:creationId xmlns:a16="http://schemas.microsoft.com/office/drawing/2014/main" id="{C1DF8EFD-7826-4DC0-AFDE-43BBFCA061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3" name="Line 263">
                <a:extLst>
                  <a:ext uri="{FF2B5EF4-FFF2-40B4-BE49-F238E27FC236}">
                    <a16:creationId xmlns:a16="http://schemas.microsoft.com/office/drawing/2014/main" id="{A8F6CCBA-20F2-47C5-8609-A5AD27B141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4" name="Line 264">
                <a:extLst>
                  <a:ext uri="{FF2B5EF4-FFF2-40B4-BE49-F238E27FC236}">
                    <a16:creationId xmlns:a16="http://schemas.microsoft.com/office/drawing/2014/main" id="{D27C6303-3891-4613-B83A-BCCF976088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5" name="Line 265">
                <a:extLst>
                  <a:ext uri="{FF2B5EF4-FFF2-40B4-BE49-F238E27FC236}">
                    <a16:creationId xmlns:a16="http://schemas.microsoft.com/office/drawing/2014/main" id="{85AD274F-C0E6-4CBB-9366-D515001055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6" name="Line 266">
                <a:extLst>
                  <a:ext uri="{FF2B5EF4-FFF2-40B4-BE49-F238E27FC236}">
                    <a16:creationId xmlns:a16="http://schemas.microsoft.com/office/drawing/2014/main" id="{CB68BBE6-DECA-4B53-A8E3-C3859C2CD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7" name="Line 267">
                <a:extLst>
                  <a:ext uri="{FF2B5EF4-FFF2-40B4-BE49-F238E27FC236}">
                    <a16:creationId xmlns:a16="http://schemas.microsoft.com/office/drawing/2014/main" id="{DB6BCC70-B889-46CE-A5E2-763797312F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8" name="Line 268">
                <a:extLst>
                  <a:ext uri="{FF2B5EF4-FFF2-40B4-BE49-F238E27FC236}">
                    <a16:creationId xmlns:a16="http://schemas.microsoft.com/office/drawing/2014/main" id="{AADE7941-3E54-452B-A731-67B81BA61C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88" name="Group 269">
              <a:extLst>
                <a:ext uri="{FF2B5EF4-FFF2-40B4-BE49-F238E27FC236}">
                  <a16:creationId xmlns:a16="http://schemas.microsoft.com/office/drawing/2014/main" id="{6010899A-0D4F-4963-9834-AACE5C5888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105" name="Line 270">
                <a:extLst>
                  <a:ext uri="{FF2B5EF4-FFF2-40B4-BE49-F238E27FC236}">
                    <a16:creationId xmlns:a16="http://schemas.microsoft.com/office/drawing/2014/main" id="{47C88534-6A36-4E4D-A326-23BC738EE6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6" name="Line 271">
                <a:extLst>
                  <a:ext uri="{FF2B5EF4-FFF2-40B4-BE49-F238E27FC236}">
                    <a16:creationId xmlns:a16="http://schemas.microsoft.com/office/drawing/2014/main" id="{0200E9D5-FC8B-42C3-8BBF-5A76A646A2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7" name="Line 272">
                <a:extLst>
                  <a:ext uri="{FF2B5EF4-FFF2-40B4-BE49-F238E27FC236}">
                    <a16:creationId xmlns:a16="http://schemas.microsoft.com/office/drawing/2014/main" id="{3A4B5766-8818-4276-BED7-20CEEFF4DC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8" name="Line 273">
                <a:extLst>
                  <a:ext uri="{FF2B5EF4-FFF2-40B4-BE49-F238E27FC236}">
                    <a16:creationId xmlns:a16="http://schemas.microsoft.com/office/drawing/2014/main" id="{D4D5CA29-BC06-48AB-909D-F9E51414CD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9" name="Line 274">
                <a:extLst>
                  <a:ext uri="{FF2B5EF4-FFF2-40B4-BE49-F238E27FC236}">
                    <a16:creationId xmlns:a16="http://schemas.microsoft.com/office/drawing/2014/main" id="{D5B3282D-A3DA-4A33-B00B-4E520E3115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0" name="Line 275">
                <a:extLst>
                  <a:ext uri="{FF2B5EF4-FFF2-40B4-BE49-F238E27FC236}">
                    <a16:creationId xmlns:a16="http://schemas.microsoft.com/office/drawing/2014/main" id="{4F5248AF-15DC-4843-8A60-DC739B9B9F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1" name="Line 276">
                <a:extLst>
                  <a:ext uri="{FF2B5EF4-FFF2-40B4-BE49-F238E27FC236}">
                    <a16:creationId xmlns:a16="http://schemas.microsoft.com/office/drawing/2014/main" id="{370C7F70-A91D-4EE9-BBEA-A75F3FFB9C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89" name="Group 277">
              <a:extLst>
                <a:ext uri="{FF2B5EF4-FFF2-40B4-BE49-F238E27FC236}">
                  <a16:creationId xmlns:a16="http://schemas.microsoft.com/office/drawing/2014/main" id="{2E4386E7-4CAC-45FC-965E-60C6169163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98" name="Line 278">
                <a:extLst>
                  <a:ext uri="{FF2B5EF4-FFF2-40B4-BE49-F238E27FC236}">
                    <a16:creationId xmlns:a16="http://schemas.microsoft.com/office/drawing/2014/main" id="{BE948DF7-9E40-47F7-929C-119C513B7B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9" name="Line 279">
                <a:extLst>
                  <a:ext uri="{FF2B5EF4-FFF2-40B4-BE49-F238E27FC236}">
                    <a16:creationId xmlns:a16="http://schemas.microsoft.com/office/drawing/2014/main" id="{98C3B548-9F78-4D2D-9D9C-4D5B06EFB5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0" name="Line 280">
                <a:extLst>
                  <a:ext uri="{FF2B5EF4-FFF2-40B4-BE49-F238E27FC236}">
                    <a16:creationId xmlns:a16="http://schemas.microsoft.com/office/drawing/2014/main" id="{7A47B0DA-F41D-4125-B9C3-16BD37BDDE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1" name="Line 281">
                <a:extLst>
                  <a:ext uri="{FF2B5EF4-FFF2-40B4-BE49-F238E27FC236}">
                    <a16:creationId xmlns:a16="http://schemas.microsoft.com/office/drawing/2014/main" id="{74B5E9AB-ECF5-4938-8BD8-20729FC82D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2" name="Line 282">
                <a:extLst>
                  <a:ext uri="{FF2B5EF4-FFF2-40B4-BE49-F238E27FC236}">
                    <a16:creationId xmlns:a16="http://schemas.microsoft.com/office/drawing/2014/main" id="{F7B101F9-7D85-4901-8B57-FFC48AAFFC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3" name="Line 283">
                <a:extLst>
                  <a:ext uri="{FF2B5EF4-FFF2-40B4-BE49-F238E27FC236}">
                    <a16:creationId xmlns:a16="http://schemas.microsoft.com/office/drawing/2014/main" id="{96FEDA98-5106-42DD-805D-2DEDC4430F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4" name="Line 284">
                <a:extLst>
                  <a:ext uri="{FF2B5EF4-FFF2-40B4-BE49-F238E27FC236}">
                    <a16:creationId xmlns:a16="http://schemas.microsoft.com/office/drawing/2014/main" id="{E89F17D5-DA85-40E9-B277-344DAE7693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90" name="Group 285">
              <a:extLst>
                <a:ext uri="{FF2B5EF4-FFF2-40B4-BE49-F238E27FC236}">
                  <a16:creationId xmlns:a16="http://schemas.microsoft.com/office/drawing/2014/main" id="{ED666F89-DBFB-4B92-B5F0-076BD3AD58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91" name="Line 286">
                <a:extLst>
                  <a:ext uri="{FF2B5EF4-FFF2-40B4-BE49-F238E27FC236}">
                    <a16:creationId xmlns:a16="http://schemas.microsoft.com/office/drawing/2014/main" id="{BDD5885F-E158-4667-ADD6-EE6D96B103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2" name="Line 287">
                <a:extLst>
                  <a:ext uri="{FF2B5EF4-FFF2-40B4-BE49-F238E27FC236}">
                    <a16:creationId xmlns:a16="http://schemas.microsoft.com/office/drawing/2014/main" id="{06FBA75F-FFF2-409E-B8D0-4B001B2171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3" name="Line 288">
                <a:extLst>
                  <a:ext uri="{FF2B5EF4-FFF2-40B4-BE49-F238E27FC236}">
                    <a16:creationId xmlns:a16="http://schemas.microsoft.com/office/drawing/2014/main" id="{7873EDE9-B64B-4D39-9247-1B8C5D882A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4" name="Line 289">
                <a:extLst>
                  <a:ext uri="{FF2B5EF4-FFF2-40B4-BE49-F238E27FC236}">
                    <a16:creationId xmlns:a16="http://schemas.microsoft.com/office/drawing/2014/main" id="{DD45F0D3-DBB9-4E5A-9823-3E1EC652AF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5" name="Line 290">
                <a:extLst>
                  <a:ext uri="{FF2B5EF4-FFF2-40B4-BE49-F238E27FC236}">
                    <a16:creationId xmlns:a16="http://schemas.microsoft.com/office/drawing/2014/main" id="{A01646CA-A09E-49CE-88D0-C8EEEE1DE7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6" name="Line 291">
                <a:extLst>
                  <a:ext uri="{FF2B5EF4-FFF2-40B4-BE49-F238E27FC236}">
                    <a16:creationId xmlns:a16="http://schemas.microsoft.com/office/drawing/2014/main" id="{2BE1D7D3-7F28-4734-AC65-C6A4E97855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7" name="Line 292">
                <a:extLst>
                  <a:ext uri="{FF2B5EF4-FFF2-40B4-BE49-F238E27FC236}">
                    <a16:creationId xmlns:a16="http://schemas.microsoft.com/office/drawing/2014/main" id="{9AD88448-378F-469B-9987-8E98684F20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grpSp>
        <p:nvGrpSpPr>
          <p:cNvPr id="119" name="Group 293">
            <a:extLst>
              <a:ext uri="{FF2B5EF4-FFF2-40B4-BE49-F238E27FC236}">
                <a16:creationId xmlns:a16="http://schemas.microsoft.com/office/drawing/2014/main" id="{6B63B785-A6E1-4F0C-A89D-AA04ECED49D8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2194719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120" name="Rectangle 294">
              <a:extLst>
                <a:ext uri="{FF2B5EF4-FFF2-40B4-BE49-F238E27FC236}">
                  <a16:creationId xmlns:a16="http://schemas.microsoft.com/office/drawing/2014/main" id="{0F869692-1E63-400D-AFC5-287EE7027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121" name="Line 295">
              <a:extLst>
                <a:ext uri="{FF2B5EF4-FFF2-40B4-BE49-F238E27FC236}">
                  <a16:creationId xmlns:a16="http://schemas.microsoft.com/office/drawing/2014/main" id="{C1741946-BF6E-4F05-A596-DC76D18AB3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22" name="Line 296">
              <a:extLst>
                <a:ext uri="{FF2B5EF4-FFF2-40B4-BE49-F238E27FC236}">
                  <a16:creationId xmlns:a16="http://schemas.microsoft.com/office/drawing/2014/main" id="{DA9A0FC0-7BA4-4E44-AB96-3855114DF2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123" name="Group 297">
              <a:extLst>
                <a:ext uri="{FF2B5EF4-FFF2-40B4-BE49-F238E27FC236}">
                  <a16:creationId xmlns:a16="http://schemas.microsoft.com/office/drawing/2014/main" id="{9FC45A84-CF0E-44C7-9281-F6C1B602CC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148" name="Line 298">
                <a:extLst>
                  <a:ext uri="{FF2B5EF4-FFF2-40B4-BE49-F238E27FC236}">
                    <a16:creationId xmlns:a16="http://schemas.microsoft.com/office/drawing/2014/main" id="{0F13BB1B-F06F-4024-82B1-A660269873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9" name="Line 299">
                <a:extLst>
                  <a:ext uri="{FF2B5EF4-FFF2-40B4-BE49-F238E27FC236}">
                    <a16:creationId xmlns:a16="http://schemas.microsoft.com/office/drawing/2014/main" id="{20520108-C6FE-4E7B-9B53-55A65DBA0A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50" name="Line 300">
                <a:extLst>
                  <a:ext uri="{FF2B5EF4-FFF2-40B4-BE49-F238E27FC236}">
                    <a16:creationId xmlns:a16="http://schemas.microsoft.com/office/drawing/2014/main" id="{6224668D-7293-45F5-AC06-F651E54AE0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51" name="Line 301">
                <a:extLst>
                  <a:ext uri="{FF2B5EF4-FFF2-40B4-BE49-F238E27FC236}">
                    <a16:creationId xmlns:a16="http://schemas.microsoft.com/office/drawing/2014/main" id="{B6149498-F88E-4C02-B357-7E9DE09550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52" name="Line 302">
                <a:extLst>
                  <a:ext uri="{FF2B5EF4-FFF2-40B4-BE49-F238E27FC236}">
                    <a16:creationId xmlns:a16="http://schemas.microsoft.com/office/drawing/2014/main" id="{9F2E41B0-D5C2-436B-9F3D-B32A136BAB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53" name="Line 303">
                <a:extLst>
                  <a:ext uri="{FF2B5EF4-FFF2-40B4-BE49-F238E27FC236}">
                    <a16:creationId xmlns:a16="http://schemas.microsoft.com/office/drawing/2014/main" id="{3BCA8867-8D88-4860-BA1D-D6522CC026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54" name="Line 304">
                <a:extLst>
                  <a:ext uri="{FF2B5EF4-FFF2-40B4-BE49-F238E27FC236}">
                    <a16:creationId xmlns:a16="http://schemas.microsoft.com/office/drawing/2014/main" id="{233A4981-071A-41EC-B7C6-CF6D457725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24" name="Group 305">
              <a:extLst>
                <a:ext uri="{FF2B5EF4-FFF2-40B4-BE49-F238E27FC236}">
                  <a16:creationId xmlns:a16="http://schemas.microsoft.com/office/drawing/2014/main" id="{C34908DB-C806-40FA-B1DC-A47D36D8D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141" name="Line 306">
                <a:extLst>
                  <a:ext uri="{FF2B5EF4-FFF2-40B4-BE49-F238E27FC236}">
                    <a16:creationId xmlns:a16="http://schemas.microsoft.com/office/drawing/2014/main" id="{F69E0146-1A56-4983-98BC-9D3E7B6E3E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2" name="Line 307">
                <a:extLst>
                  <a:ext uri="{FF2B5EF4-FFF2-40B4-BE49-F238E27FC236}">
                    <a16:creationId xmlns:a16="http://schemas.microsoft.com/office/drawing/2014/main" id="{324BD994-5ABB-40E1-9566-AE1C2D2A6E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3" name="Line 308">
                <a:extLst>
                  <a:ext uri="{FF2B5EF4-FFF2-40B4-BE49-F238E27FC236}">
                    <a16:creationId xmlns:a16="http://schemas.microsoft.com/office/drawing/2014/main" id="{E9E7320C-C41E-40F3-9BA7-0586E5E383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4" name="Line 309">
                <a:extLst>
                  <a:ext uri="{FF2B5EF4-FFF2-40B4-BE49-F238E27FC236}">
                    <a16:creationId xmlns:a16="http://schemas.microsoft.com/office/drawing/2014/main" id="{24AEF887-3E9A-4F2F-A104-295246E6A9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5" name="Line 310">
                <a:extLst>
                  <a:ext uri="{FF2B5EF4-FFF2-40B4-BE49-F238E27FC236}">
                    <a16:creationId xmlns:a16="http://schemas.microsoft.com/office/drawing/2014/main" id="{563A522C-A63E-4BA2-AE49-6C035C2667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6" name="Line 311">
                <a:extLst>
                  <a:ext uri="{FF2B5EF4-FFF2-40B4-BE49-F238E27FC236}">
                    <a16:creationId xmlns:a16="http://schemas.microsoft.com/office/drawing/2014/main" id="{4C29F309-EB72-4066-8E4B-55366A79CF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7" name="Line 312">
                <a:extLst>
                  <a:ext uri="{FF2B5EF4-FFF2-40B4-BE49-F238E27FC236}">
                    <a16:creationId xmlns:a16="http://schemas.microsoft.com/office/drawing/2014/main" id="{74FB3E6D-A59A-4D48-A345-D77E48CA10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25" name="Group 313">
              <a:extLst>
                <a:ext uri="{FF2B5EF4-FFF2-40B4-BE49-F238E27FC236}">
                  <a16:creationId xmlns:a16="http://schemas.microsoft.com/office/drawing/2014/main" id="{D367A145-C725-46BC-B694-D5584B8928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134" name="Line 314">
                <a:extLst>
                  <a:ext uri="{FF2B5EF4-FFF2-40B4-BE49-F238E27FC236}">
                    <a16:creationId xmlns:a16="http://schemas.microsoft.com/office/drawing/2014/main" id="{D8A1DE65-045E-4844-8502-6EA8B62B31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5" name="Line 315">
                <a:extLst>
                  <a:ext uri="{FF2B5EF4-FFF2-40B4-BE49-F238E27FC236}">
                    <a16:creationId xmlns:a16="http://schemas.microsoft.com/office/drawing/2014/main" id="{94FB6286-698A-440D-9562-D262494716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6" name="Line 316">
                <a:extLst>
                  <a:ext uri="{FF2B5EF4-FFF2-40B4-BE49-F238E27FC236}">
                    <a16:creationId xmlns:a16="http://schemas.microsoft.com/office/drawing/2014/main" id="{0E43788E-0D09-4C50-AF43-1ABC206B27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7" name="Line 317">
                <a:extLst>
                  <a:ext uri="{FF2B5EF4-FFF2-40B4-BE49-F238E27FC236}">
                    <a16:creationId xmlns:a16="http://schemas.microsoft.com/office/drawing/2014/main" id="{039E51F4-105B-4981-A613-D01CFC26E9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8" name="Line 318">
                <a:extLst>
                  <a:ext uri="{FF2B5EF4-FFF2-40B4-BE49-F238E27FC236}">
                    <a16:creationId xmlns:a16="http://schemas.microsoft.com/office/drawing/2014/main" id="{4FD2F68E-2BA1-45B5-A480-458C31B6AD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9" name="Line 319">
                <a:extLst>
                  <a:ext uri="{FF2B5EF4-FFF2-40B4-BE49-F238E27FC236}">
                    <a16:creationId xmlns:a16="http://schemas.microsoft.com/office/drawing/2014/main" id="{91020CDC-CA4E-40E6-BA51-FD8076B6AC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0" name="Line 320">
                <a:extLst>
                  <a:ext uri="{FF2B5EF4-FFF2-40B4-BE49-F238E27FC236}">
                    <a16:creationId xmlns:a16="http://schemas.microsoft.com/office/drawing/2014/main" id="{49094E5B-D2C6-4FD3-9574-E6243A5763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26" name="Group 321">
              <a:extLst>
                <a:ext uri="{FF2B5EF4-FFF2-40B4-BE49-F238E27FC236}">
                  <a16:creationId xmlns:a16="http://schemas.microsoft.com/office/drawing/2014/main" id="{CE518B18-4E5D-471C-8C81-D8EE10BBFB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127" name="Line 322">
                <a:extLst>
                  <a:ext uri="{FF2B5EF4-FFF2-40B4-BE49-F238E27FC236}">
                    <a16:creationId xmlns:a16="http://schemas.microsoft.com/office/drawing/2014/main" id="{7625AFA0-74F2-4D25-840A-5E729B0427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28" name="Line 323">
                <a:extLst>
                  <a:ext uri="{FF2B5EF4-FFF2-40B4-BE49-F238E27FC236}">
                    <a16:creationId xmlns:a16="http://schemas.microsoft.com/office/drawing/2014/main" id="{43EC352D-7606-48A8-9940-F46E600B47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29" name="Line 324">
                <a:extLst>
                  <a:ext uri="{FF2B5EF4-FFF2-40B4-BE49-F238E27FC236}">
                    <a16:creationId xmlns:a16="http://schemas.microsoft.com/office/drawing/2014/main" id="{10358E4F-A371-47B4-A551-F54B9B90DD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0" name="Line 325">
                <a:extLst>
                  <a:ext uri="{FF2B5EF4-FFF2-40B4-BE49-F238E27FC236}">
                    <a16:creationId xmlns:a16="http://schemas.microsoft.com/office/drawing/2014/main" id="{4D99827F-5B62-4557-A5E8-26AE6F9592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1" name="Line 326">
                <a:extLst>
                  <a:ext uri="{FF2B5EF4-FFF2-40B4-BE49-F238E27FC236}">
                    <a16:creationId xmlns:a16="http://schemas.microsoft.com/office/drawing/2014/main" id="{53D2CD76-53CB-4ED8-BABA-2148BEE596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2" name="Line 327">
                <a:extLst>
                  <a:ext uri="{FF2B5EF4-FFF2-40B4-BE49-F238E27FC236}">
                    <a16:creationId xmlns:a16="http://schemas.microsoft.com/office/drawing/2014/main" id="{A3AC68DF-CB22-4EE0-80E8-AF58185BC6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3" name="Line 328">
                <a:extLst>
                  <a:ext uri="{FF2B5EF4-FFF2-40B4-BE49-F238E27FC236}">
                    <a16:creationId xmlns:a16="http://schemas.microsoft.com/office/drawing/2014/main" id="{DB9569A6-49DB-4E6D-B730-302107D037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grpSp>
        <p:nvGrpSpPr>
          <p:cNvPr id="155" name="Group 329">
            <a:extLst>
              <a:ext uri="{FF2B5EF4-FFF2-40B4-BE49-F238E27FC236}">
                <a16:creationId xmlns:a16="http://schemas.microsoft.com/office/drawing/2014/main" id="{AAA40672-856F-4A29-A8A0-D46AB85E3219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3261519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156" name="Rectangle 330">
              <a:extLst>
                <a:ext uri="{FF2B5EF4-FFF2-40B4-BE49-F238E27FC236}">
                  <a16:creationId xmlns:a16="http://schemas.microsoft.com/office/drawing/2014/main" id="{4188AA01-B2FD-425E-8A10-E9E4B8625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157" name="Line 331">
              <a:extLst>
                <a:ext uri="{FF2B5EF4-FFF2-40B4-BE49-F238E27FC236}">
                  <a16:creationId xmlns:a16="http://schemas.microsoft.com/office/drawing/2014/main" id="{AD04F659-C428-4FAA-A142-2AB767B368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58" name="Line 332">
              <a:extLst>
                <a:ext uri="{FF2B5EF4-FFF2-40B4-BE49-F238E27FC236}">
                  <a16:creationId xmlns:a16="http://schemas.microsoft.com/office/drawing/2014/main" id="{24D9138A-BF5A-4BFB-923A-85F065FA74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159" name="Group 333">
              <a:extLst>
                <a:ext uri="{FF2B5EF4-FFF2-40B4-BE49-F238E27FC236}">
                  <a16:creationId xmlns:a16="http://schemas.microsoft.com/office/drawing/2014/main" id="{67D8D6DF-4BF9-49BE-BE9F-D978B0F84A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184" name="Line 334">
                <a:extLst>
                  <a:ext uri="{FF2B5EF4-FFF2-40B4-BE49-F238E27FC236}">
                    <a16:creationId xmlns:a16="http://schemas.microsoft.com/office/drawing/2014/main" id="{65F34ADD-47BD-4B60-87F7-0F43D4F48C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85" name="Line 335">
                <a:extLst>
                  <a:ext uri="{FF2B5EF4-FFF2-40B4-BE49-F238E27FC236}">
                    <a16:creationId xmlns:a16="http://schemas.microsoft.com/office/drawing/2014/main" id="{B3AF1EF3-DD89-418D-99D5-55741B9731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86" name="Line 336">
                <a:extLst>
                  <a:ext uri="{FF2B5EF4-FFF2-40B4-BE49-F238E27FC236}">
                    <a16:creationId xmlns:a16="http://schemas.microsoft.com/office/drawing/2014/main" id="{14C8830E-8638-41FC-BD04-5A219E3C75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87" name="Line 337">
                <a:extLst>
                  <a:ext uri="{FF2B5EF4-FFF2-40B4-BE49-F238E27FC236}">
                    <a16:creationId xmlns:a16="http://schemas.microsoft.com/office/drawing/2014/main" id="{A6A3378A-56D9-45FC-957B-D7D469C0F1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88" name="Line 338">
                <a:extLst>
                  <a:ext uri="{FF2B5EF4-FFF2-40B4-BE49-F238E27FC236}">
                    <a16:creationId xmlns:a16="http://schemas.microsoft.com/office/drawing/2014/main" id="{DE5D2516-0643-43D6-BDCC-84A100190D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89" name="Line 339">
                <a:extLst>
                  <a:ext uri="{FF2B5EF4-FFF2-40B4-BE49-F238E27FC236}">
                    <a16:creationId xmlns:a16="http://schemas.microsoft.com/office/drawing/2014/main" id="{7483791F-0F3D-4212-BDCA-57321B65AC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90" name="Line 340">
                <a:extLst>
                  <a:ext uri="{FF2B5EF4-FFF2-40B4-BE49-F238E27FC236}">
                    <a16:creationId xmlns:a16="http://schemas.microsoft.com/office/drawing/2014/main" id="{69FFABDC-2B6A-44FD-83D6-24C5D4FE64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60" name="Group 341">
              <a:extLst>
                <a:ext uri="{FF2B5EF4-FFF2-40B4-BE49-F238E27FC236}">
                  <a16:creationId xmlns:a16="http://schemas.microsoft.com/office/drawing/2014/main" id="{0EB506D4-B46B-45EA-A967-8F8BE80440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177" name="Line 342">
                <a:extLst>
                  <a:ext uri="{FF2B5EF4-FFF2-40B4-BE49-F238E27FC236}">
                    <a16:creationId xmlns:a16="http://schemas.microsoft.com/office/drawing/2014/main" id="{4B090990-7624-40D4-91FB-4DD91924A0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78" name="Line 343">
                <a:extLst>
                  <a:ext uri="{FF2B5EF4-FFF2-40B4-BE49-F238E27FC236}">
                    <a16:creationId xmlns:a16="http://schemas.microsoft.com/office/drawing/2014/main" id="{1D59DA47-714D-4E87-B7AA-DF5332A3A1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79" name="Line 344">
                <a:extLst>
                  <a:ext uri="{FF2B5EF4-FFF2-40B4-BE49-F238E27FC236}">
                    <a16:creationId xmlns:a16="http://schemas.microsoft.com/office/drawing/2014/main" id="{919891EA-BE40-4C88-8EB2-2CFE218B92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80" name="Line 345">
                <a:extLst>
                  <a:ext uri="{FF2B5EF4-FFF2-40B4-BE49-F238E27FC236}">
                    <a16:creationId xmlns:a16="http://schemas.microsoft.com/office/drawing/2014/main" id="{1FAADBBE-CCC5-4054-BA19-8E69A695A4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81" name="Line 346">
                <a:extLst>
                  <a:ext uri="{FF2B5EF4-FFF2-40B4-BE49-F238E27FC236}">
                    <a16:creationId xmlns:a16="http://schemas.microsoft.com/office/drawing/2014/main" id="{1B60DCBE-F5AD-40A9-B123-E8FF089F6F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82" name="Line 347">
                <a:extLst>
                  <a:ext uri="{FF2B5EF4-FFF2-40B4-BE49-F238E27FC236}">
                    <a16:creationId xmlns:a16="http://schemas.microsoft.com/office/drawing/2014/main" id="{61B445CF-94D9-47A4-99F3-500F007BB6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83" name="Line 348">
                <a:extLst>
                  <a:ext uri="{FF2B5EF4-FFF2-40B4-BE49-F238E27FC236}">
                    <a16:creationId xmlns:a16="http://schemas.microsoft.com/office/drawing/2014/main" id="{AD32160F-3B78-42F0-BCD5-EEA8AA5052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61" name="Group 349">
              <a:extLst>
                <a:ext uri="{FF2B5EF4-FFF2-40B4-BE49-F238E27FC236}">
                  <a16:creationId xmlns:a16="http://schemas.microsoft.com/office/drawing/2014/main" id="{85A76BC4-C322-42C5-AC10-85434079C4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170" name="Line 350">
                <a:extLst>
                  <a:ext uri="{FF2B5EF4-FFF2-40B4-BE49-F238E27FC236}">
                    <a16:creationId xmlns:a16="http://schemas.microsoft.com/office/drawing/2014/main" id="{CB112B31-DBDF-44A8-B4C5-E3FD24B1F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71" name="Line 351">
                <a:extLst>
                  <a:ext uri="{FF2B5EF4-FFF2-40B4-BE49-F238E27FC236}">
                    <a16:creationId xmlns:a16="http://schemas.microsoft.com/office/drawing/2014/main" id="{946262C2-853F-4A91-9DDF-010DDA4C50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72" name="Line 352">
                <a:extLst>
                  <a:ext uri="{FF2B5EF4-FFF2-40B4-BE49-F238E27FC236}">
                    <a16:creationId xmlns:a16="http://schemas.microsoft.com/office/drawing/2014/main" id="{03A53197-2EA9-427C-B838-A0AEDA8968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73" name="Line 353">
                <a:extLst>
                  <a:ext uri="{FF2B5EF4-FFF2-40B4-BE49-F238E27FC236}">
                    <a16:creationId xmlns:a16="http://schemas.microsoft.com/office/drawing/2014/main" id="{4DFEF153-3C2C-4C4D-B4AB-E4F45A5111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74" name="Line 354">
                <a:extLst>
                  <a:ext uri="{FF2B5EF4-FFF2-40B4-BE49-F238E27FC236}">
                    <a16:creationId xmlns:a16="http://schemas.microsoft.com/office/drawing/2014/main" id="{A01747FA-E161-4940-A4D4-7B3710FA8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75" name="Line 355">
                <a:extLst>
                  <a:ext uri="{FF2B5EF4-FFF2-40B4-BE49-F238E27FC236}">
                    <a16:creationId xmlns:a16="http://schemas.microsoft.com/office/drawing/2014/main" id="{6FAD470C-CFCB-4586-A30B-835DB323B1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76" name="Line 356">
                <a:extLst>
                  <a:ext uri="{FF2B5EF4-FFF2-40B4-BE49-F238E27FC236}">
                    <a16:creationId xmlns:a16="http://schemas.microsoft.com/office/drawing/2014/main" id="{98DCAA4B-646D-4878-BD4F-9B9B2F38A9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62" name="Group 357">
              <a:extLst>
                <a:ext uri="{FF2B5EF4-FFF2-40B4-BE49-F238E27FC236}">
                  <a16:creationId xmlns:a16="http://schemas.microsoft.com/office/drawing/2014/main" id="{A43DC1B3-8CB3-47B1-A85B-C7DBCEA144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163" name="Line 358">
                <a:extLst>
                  <a:ext uri="{FF2B5EF4-FFF2-40B4-BE49-F238E27FC236}">
                    <a16:creationId xmlns:a16="http://schemas.microsoft.com/office/drawing/2014/main" id="{0A8D2307-474B-4378-A882-B27649F33E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64" name="Line 359">
                <a:extLst>
                  <a:ext uri="{FF2B5EF4-FFF2-40B4-BE49-F238E27FC236}">
                    <a16:creationId xmlns:a16="http://schemas.microsoft.com/office/drawing/2014/main" id="{84B0CDF0-9017-47E9-8C77-2322D89EF4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65" name="Line 360">
                <a:extLst>
                  <a:ext uri="{FF2B5EF4-FFF2-40B4-BE49-F238E27FC236}">
                    <a16:creationId xmlns:a16="http://schemas.microsoft.com/office/drawing/2014/main" id="{B3FF8466-A6B6-4CFA-A929-00BF143840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66" name="Line 361">
                <a:extLst>
                  <a:ext uri="{FF2B5EF4-FFF2-40B4-BE49-F238E27FC236}">
                    <a16:creationId xmlns:a16="http://schemas.microsoft.com/office/drawing/2014/main" id="{45F47C0C-C1CF-4171-A601-9BBCADAC1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67" name="Line 362">
                <a:extLst>
                  <a:ext uri="{FF2B5EF4-FFF2-40B4-BE49-F238E27FC236}">
                    <a16:creationId xmlns:a16="http://schemas.microsoft.com/office/drawing/2014/main" id="{E3EDDB87-5DC4-4B02-9FFB-E07283E7BE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68" name="Line 363">
                <a:extLst>
                  <a:ext uri="{FF2B5EF4-FFF2-40B4-BE49-F238E27FC236}">
                    <a16:creationId xmlns:a16="http://schemas.microsoft.com/office/drawing/2014/main" id="{70868CAF-FD92-44C1-8A72-CA2AF8C90F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69" name="Line 364">
                <a:extLst>
                  <a:ext uri="{FF2B5EF4-FFF2-40B4-BE49-F238E27FC236}">
                    <a16:creationId xmlns:a16="http://schemas.microsoft.com/office/drawing/2014/main" id="{DC4F3AFD-A050-4DBF-AF29-76CEAFB8E3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grpSp>
        <p:nvGrpSpPr>
          <p:cNvPr id="191" name="Group 365">
            <a:extLst>
              <a:ext uri="{FF2B5EF4-FFF2-40B4-BE49-F238E27FC236}">
                <a16:creationId xmlns:a16="http://schemas.microsoft.com/office/drawing/2014/main" id="{BFC628C4-CE65-43D6-86BA-F42BC952F895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4328319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192" name="Rectangle 366">
              <a:extLst>
                <a:ext uri="{FF2B5EF4-FFF2-40B4-BE49-F238E27FC236}">
                  <a16:creationId xmlns:a16="http://schemas.microsoft.com/office/drawing/2014/main" id="{1AAE6866-E796-4141-8983-CCCD98150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193" name="Line 367">
              <a:extLst>
                <a:ext uri="{FF2B5EF4-FFF2-40B4-BE49-F238E27FC236}">
                  <a16:creationId xmlns:a16="http://schemas.microsoft.com/office/drawing/2014/main" id="{1B96E7D2-437C-4EB2-A831-51EB88A7CC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94" name="Line 368">
              <a:extLst>
                <a:ext uri="{FF2B5EF4-FFF2-40B4-BE49-F238E27FC236}">
                  <a16:creationId xmlns:a16="http://schemas.microsoft.com/office/drawing/2014/main" id="{2928C4FC-8336-4B15-86D0-D15659E621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195" name="Group 369">
              <a:extLst>
                <a:ext uri="{FF2B5EF4-FFF2-40B4-BE49-F238E27FC236}">
                  <a16:creationId xmlns:a16="http://schemas.microsoft.com/office/drawing/2014/main" id="{7A779EB3-C0B8-411B-BDFA-C1FD750C6F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220" name="Line 370">
                <a:extLst>
                  <a:ext uri="{FF2B5EF4-FFF2-40B4-BE49-F238E27FC236}">
                    <a16:creationId xmlns:a16="http://schemas.microsoft.com/office/drawing/2014/main" id="{82A8D2E5-C194-4D1F-9F68-30BC3CCA0A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1" name="Line 371">
                <a:extLst>
                  <a:ext uri="{FF2B5EF4-FFF2-40B4-BE49-F238E27FC236}">
                    <a16:creationId xmlns:a16="http://schemas.microsoft.com/office/drawing/2014/main" id="{21BB3E4B-81C4-4442-A3EE-0B253ADCFD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2" name="Line 372">
                <a:extLst>
                  <a:ext uri="{FF2B5EF4-FFF2-40B4-BE49-F238E27FC236}">
                    <a16:creationId xmlns:a16="http://schemas.microsoft.com/office/drawing/2014/main" id="{04EB536C-A4DB-4FD2-BC88-045348508A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3" name="Line 373">
                <a:extLst>
                  <a:ext uri="{FF2B5EF4-FFF2-40B4-BE49-F238E27FC236}">
                    <a16:creationId xmlns:a16="http://schemas.microsoft.com/office/drawing/2014/main" id="{0C40AABE-BA6E-40EB-B61F-60229FC6BC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4" name="Line 374">
                <a:extLst>
                  <a:ext uri="{FF2B5EF4-FFF2-40B4-BE49-F238E27FC236}">
                    <a16:creationId xmlns:a16="http://schemas.microsoft.com/office/drawing/2014/main" id="{477D557C-B524-4564-B476-FE854D4D29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5" name="Line 375">
                <a:extLst>
                  <a:ext uri="{FF2B5EF4-FFF2-40B4-BE49-F238E27FC236}">
                    <a16:creationId xmlns:a16="http://schemas.microsoft.com/office/drawing/2014/main" id="{9792FE1A-A971-4FBB-8117-379097AC00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6" name="Line 376">
                <a:extLst>
                  <a:ext uri="{FF2B5EF4-FFF2-40B4-BE49-F238E27FC236}">
                    <a16:creationId xmlns:a16="http://schemas.microsoft.com/office/drawing/2014/main" id="{0F2170AD-BBBF-4714-A626-5D4777DDB8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96" name="Group 377">
              <a:extLst>
                <a:ext uri="{FF2B5EF4-FFF2-40B4-BE49-F238E27FC236}">
                  <a16:creationId xmlns:a16="http://schemas.microsoft.com/office/drawing/2014/main" id="{08F7EA90-8EED-496E-B83F-E806094078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213" name="Line 378">
                <a:extLst>
                  <a:ext uri="{FF2B5EF4-FFF2-40B4-BE49-F238E27FC236}">
                    <a16:creationId xmlns:a16="http://schemas.microsoft.com/office/drawing/2014/main" id="{6D7D76BD-A431-4D5C-B408-39E0525E03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4" name="Line 379">
                <a:extLst>
                  <a:ext uri="{FF2B5EF4-FFF2-40B4-BE49-F238E27FC236}">
                    <a16:creationId xmlns:a16="http://schemas.microsoft.com/office/drawing/2014/main" id="{05BAF998-2B66-48E3-A581-B2E7E19A91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5" name="Line 380">
                <a:extLst>
                  <a:ext uri="{FF2B5EF4-FFF2-40B4-BE49-F238E27FC236}">
                    <a16:creationId xmlns:a16="http://schemas.microsoft.com/office/drawing/2014/main" id="{BECFB9BE-1F7D-43A2-A754-6A489F75A7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6" name="Line 381">
                <a:extLst>
                  <a:ext uri="{FF2B5EF4-FFF2-40B4-BE49-F238E27FC236}">
                    <a16:creationId xmlns:a16="http://schemas.microsoft.com/office/drawing/2014/main" id="{E4C459C7-5602-4D00-BF71-D2DF167D68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7" name="Line 382">
                <a:extLst>
                  <a:ext uri="{FF2B5EF4-FFF2-40B4-BE49-F238E27FC236}">
                    <a16:creationId xmlns:a16="http://schemas.microsoft.com/office/drawing/2014/main" id="{C3039564-4323-4379-ADFF-065E63F822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8" name="Line 383">
                <a:extLst>
                  <a:ext uri="{FF2B5EF4-FFF2-40B4-BE49-F238E27FC236}">
                    <a16:creationId xmlns:a16="http://schemas.microsoft.com/office/drawing/2014/main" id="{B4A21FA6-B536-46DB-9369-6C45F490E1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9" name="Line 384">
                <a:extLst>
                  <a:ext uri="{FF2B5EF4-FFF2-40B4-BE49-F238E27FC236}">
                    <a16:creationId xmlns:a16="http://schemas.microsoft.com/office/drawing/2014/main" id="{AEEF81C3-C159-467F-B20B-25AAFC6E04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97" name="Group 385">
              <a:extLst>
                <a:ext uri="{FF2B5EF4-FFF2-40B4-BE49-F238E27FC236}">
                  <a16:creationId xmlns:a16="http://schemas.microsoft.com/office/drawing/2014/main" id="{FC1ACB88-78DE-4D74-993E-CDEF3E4180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206" name="Line 386">
                <a:extLst>
                  <a:ext uri="{FF2B5EF4-FFF2-40B4-BE49-F238E27FC236}">
                    <a16:creationId xmlns:a16="http://schemas.microsoft.com/office/drawing/2014/main" id="{680833FF-617A-4FE6-A7DF-BDF431F408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07" name="Line 387">
                <a:extLst>
                  <a:ext uri="{FF2B5EF4-FFF2-40B4-BE49-F238E27FC236}">
                    <a16:creationId xmlns:a16="http://schemas.microsoft.com/office/drawing/2014/main" id="{82C4484A-53D0-47FC-8C57-C8CA8EA31B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08" name="Line 388">
                <a:extLst>
                  <a:ext uri="{FF2B5EF4-FFF2-40B4-BE49-F238E27FC236}">
                    <a16:creationId xmlns:a16="http://schemas.microsoft.com/office/drawing/2014/main" id="{5322ACF6-33DD-40CE-B28F-ECDD403D8B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09" name="Line 389">
                <a:extLst>
                  <a:ext uri="{FF2B5EF4-FFF2-40B4-BE49-F238E27FC236}">
                    <a16:creationId xmlns:a16="http://schemas.microsoft.com/office/drawing/2014/main" id="{FD089BBF-44C0-42EB-B450-976FAAF57F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0" name="Line 390">
                <a:extLst>
                  <a:ext uri="{FF2B5EF4-FFF2-40B4-BE49-F238E27FC236}">
                    <a16:creationId xmlns:a16="http://schemas.microsoft.com/office/drawing/2014/main" id="{3646C12C-1BA3-4D33-AB1C-6680B59F24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1" name="Line 391">
                <a:extLst>
                  <a:ext uri="{FF2B5EF4-FFF2-40B4-BE49-F238E27FC236}">
                    <a16:creationId xmlns:a16="http://schemas.microsoft.com/office/drawing/2014/main" id="{12CB4378-D868-4373-BD57-DB03726A8E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2" name="Line 392">
                <a:extLst>
                  <a:ext uri="{FF2B5EF4-FFF2-40B4-BE49-F238E27FC236}">
                    <a16:creationId xmlns:a16="http://schemas.microsoft.com/office/drawing/2014/main" id="{C536759D-0B5F-4936-9E8C-7EC05B88E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98" name="Group 393">
              <a:extLst>
                <a:ext uri="{FF2B5EF4-FFF2-40B4-BE49-F238E27FC236}">
                  <a16:creationId xmlns:a16="http://schemas.microsoft.com/office/drawing/2014/main" id="{F7F828BD-7718-43DE-AE1F-C989EFA4F3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199" name="Line 394">
                <a:extLst>
                  <a:ext uri="{FF2B5EF4-FFF2-40B4-BE49-F238E27FC236}">
                    <a16:creationId xmlns:a16="http://schemas.microsoft.com/office/drawing/2014/main" id="{3F7FE69E-3CE7-4E83-9268-81AC66DB4F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00" name="Line 395">
                <a:extLst>
                  <a:ext uri="{FF2B5EF4-FFF2-40B4-BE49-F238E27FC236}">
                    <a16:creationId xmlns:a16="http://schemas.microsoft.com/office/drawing/2014/main" id="{49B29861-DC37-4E29-A764-21A91D6D8A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01" name="Line 396">
                <a:extLst>
                  <a:ext uri="{FF2B5EF4-FFF2-40B4-BE49-F238E27FC236}">
                    <a16:creationId xmlns:a16="http://schemas.microsoft.com/office/drawing/2014/main" id="{E9FF8C8C-64A0-4F87-8AA5-AC94F6A174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02" name="Line 397">
                <a:extLst>
                  <a:ext uri="{FF2B5EF4-FFF2-40B4-BE49-F238E27FC236}">
                    <a16:creationId xmlns:a16="http://schemas.microsoft.com/office/drawing/2014/main" id="{67928D11-3869-43A7-A387-7DD008C486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03" name="Line 398">
                <a:extLst>
                  <a:ext uri="{FF2B5EF4-FFF2-40B4-BE49-F238E27FC236}">
                    <a16:creationId xmlns:a16="http://schemas.microsoft.com/office/drawing/2014/main" id="{C74BC93C-3863-4B21-A31E-8F11C8573F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04" name="Line 399">
                <a:extLst>
                  <a:ext uri="{FF2B5EF4-FFF2-40B4-BE49-F238E27FC236}">
                    <a16:creationId xmlns:a16="http://schemas.microsoft.com/office/drawing/2014/main" id="{51F3391C-5AB1-4A15-93B7-0E8A7ABB1B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05" name="Line 400">
                <a:extLst>
                  <a:ext uri="{FF2B5EF4-FFF2-40B4-BE49-F238E27FC236}">
                    <a16:creationId xmlns:a16="http://schemas.microsoft.com/office/drawing/2014/main" id="{987C6B02-F863-47D3-A488-D18486A3D4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grpSp>
        <p:nvGrpSpPr>
          <p:cNvPr id="227" name="Group 401">
            <a:extLst>
              <a:ext uri="{FF2B5EF4-FFF2-40B4-BE49-F238E27FC236}">
                <a16:creationId xmlns:a16="http://schemas.microsoft.com/office/drawing/2014/main" id="{D85ABC2C-716A-4EE9-B3BE-3653DF052FED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5395119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228" name="Rectangle 402">
              <a:extLst>
                <a:ext uri="{FF2B5EF4-FFF2-40B4-BE49-F238E27FC236}">
                  <a16:creationId xmlns:a16="http://schemas.microsoft.com/office/drawing/2014/main" id="{0AB856CC-0C5F-4989-8882-F5BFDA3F8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229" name="Line 403">
              <a:extLst>
                <a:ext uri="{FF2B5EF4-FFF2-40B4-BE49-F238E27FC236}">
                  <a16:creationId xmlns:a16="http://schemas.microsoft.com/office/drawing/2014/main" id="{3C38C2CF-85AA-4241-9A5B-F1BC69BAF0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230" name="Line 404">
              <a:extLst>
                <a:ext uri="{FF2B5EF4-FFF2-40B4-BE49-F238E27FC236}">
                  <a16:creationId xmlns:a16="http://schemas.microsoft.com/office/drawing/2014/main" id="{F448D927-06E1-44E2-B1E4-40FEDF0BE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231" name="Group 405">
              <a:extLst>
                <a:ext uri="{FF2B5EF4-FFF2-40B4-BE49-F238E27FC236}">
                  <a16:creationId xmlns:a16="http://schemas.microsoft.com/office/drawing/2014/main" id="{67DE5E6B-6448-472B-9493-EC00BF61FB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256" name="Line 406">
                <a:extLst>
                  <a:ext uri="{FF2B5EF4-FFF2-40B4-BE49-F238E27FC236}">
                    <a16:creationId xmlns:a16="http://schemas.microsoft.com/office/drawing/2014/main" id="{71595644-D1F5-4779-8CA1-8292363E0F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57" name="Line 407">
                <a:extLst>
                  <a:ext uri="{FF2B5EF4-FFF2-40B4-BE49-F238E27FC236}">
                    <a16:creationId xmlns:a16="http://schemas.microsoft.com/office/drawing/2014/main" id="{7F454CA5-0DD5-4EFA-8B06-149605E2BE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58" name="Line 408">
                <a:extLst>
                  <a:ext uri="{FF2B5EF4-FFF2-40B4-BE49-F238E27FC236}">
                    <a16:creationId xmlns:a16="http://schemas.microsoft.com/office/drawing/2014/main" id="{CD6B0C5F-27B1-4689-909F-61E82C0CED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59" name="Line 409">
                <a:extLst>
                  <a:ext uri="{FF2B5EF4-FFF2-40B4-BE49-F238E27FC236}">
                    <a16:creationId xmlns:a16="http://schemas.microsoft.com/office/drawing/2014/main" id="{0BDA8274-6AA2-489B-9FB1-60E95BF073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60" name="Line 410">
                <a:extLst>
                  <a:ext uri="{FF2B5EF4-FFF2-40B4-BE49-F238E27FC236}">
                    <a16:creationId xmlns:a16="http://schemas.microsoft.com/office/drawing/2014/main" id="{6E0E09CB-2F8F-4F93-BD79-724AA1D5EB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61" name="Line 411">
                <a:extLst>
                  <a:ext uri="{FF2B5EF4-FFF2-40B4-BE49-F238E27FC236}">
                    <a16:creationId xmlns:a16="http://schemas.microsoft.com/office/drawing/2014/main" id="{36167B5D-A23C-41A2-BB04-75C96932C0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62" name="Line 412">
                <a:extLst>
                  <a:ext uri="{FF2B5EF4-FFF2-40B4-BE49-F238E27FC236}">
                    <a16:creationId xmlns:a16="http://schemas.microsoft.com/office/drawing/2014/main" id="{939CDA4B-E2CC-4EAE-9919-B6CB2A5219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232" name="Group 413">
              <a:extLst>
                <a:ext uri="{FF2B5EF4-FFF2-40B4-BE49-F238E27FC236}">
                  <a16:creationId xmlns:a16="http://schemas.microsoft.com/office/drawing/2014/main" id="{D28098A1-0A7F-4EE5-B85E-0C7EB52782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249" name="Line 414">
                <a:extLst>
                  <a:ext uri="{FF2B5EF4-FFF2-40B4-BE49-F238E27FC236}">
                    <a16:creationId xmlns:a16="http://schemas.microsoft.com/office/drawing/2014/main" id="{81B70909-8D56-43C3-BF01-A8E24FACE8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50" name="Line 415">
                <a:extLst>
                  <a:ext uri="{FF2B5EF4-FFF2-40B4-BE49-F238E27FC236}">
                    <a16:creationId xmlns:a16="http://schemas.microsoft.com/office/drawing/2014/main" id="{7270C166-5487-4D58-96A1-0B398CC6BD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51" name="Line 416">
                <a:extLst>
                  <a:ext uri="{FF2B5EF4-FFF2-40B4-BE49-F238E27FC236}">
                    <a16:creationId xmlns:a16="http://schemas.microsoft.com/office/drawing/2014/main" id="{DA54F8EB-968C-48E6-AB49-DDC27A5489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52" name="Line 417">
                <a:extLst>
                  <a:ext uri="{FF2B5EF4-FFF2-40B4-BE49-F238E27FC236}">
                    <a16:creationId xmlns:a16="http://schemas.microsoft.com/office/drawing/2014/main" id="{279051D9-12D4-4974-817E-364410D5D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53" name="Line 418">
                <a:extLst>
                  <a:ext uri="{FF2B5EF4-FFF2-40B4-BE49-F238E27FC236}">
                    <a16:creationId xmlns:a16="http://schemas.microsoft.com/office/drawing/2014/main" id="{ACEA602C-315A-4A2F-9AC1-D0D8FA85CB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54" name="Line 419">
                <a:extLst>
                  <a:ext uri="{FF2B5EF4-FFF2-40B4-BE49-F238E27FC236}">
                    <a16:creationId xmlns:a16="http://schemas.microsoft.com/office/drawing/2014/main" id="{5AB511F8-6D50-4A7C-9B94-DCE8CFBBDB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55" name="Line 420">
                <a:extLst>
                  <a:ext uri="{FF2B5EF4-FFF2-40B4-BE49-F238E27FC236}">
                    <a16:creationId xmlns:a16="http://schemas.microsoft.com/office/drawing/2014/main" id="{D3BA2BB2-F280-415E-99D4-72895C611B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233" name="Group 421">
              <a:extLst>
                <a:ext uri="{FF2B5EF4-FFF2-40B4-BE49-F238E27FC236}">
                  <a16:creationId xmlns:a16="http://schemas.microsoft.com/office/drawing/2014/main" id="{8D109ACB-C005-4208-AEDB-65588FC5DA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242" name="Line 422">
                <a:extLst>
                  <a:ext uri="{FF2B5EF4-FFF2-40B4-BE49-F238E27FC236}">
                    <a16:creationId xmlns:a16="http://schemas.microsoft.com/office/drawing/2014/main" id="{B3ADF226-4579-47F2-87F2-60488D9573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3" name="Line 423">
                <a:extLst>
                  <a:ext uri="{FF2B5EF4-FFF2-40B4-BE49-F238E27FC236}">
                    <a16:creationId xmlns:a16="http://schemas.microsoft.com/office/drawing/2014/main" id="{FBB6B780-6EB7-4FA2-94B0-51DB60DC95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4" name="Line 424">
                <a:extLst>
                  <a:ext uri="{FF2B5EF4-FFF2-40B4-BE49-F238E27FC236}">
                    <a16:creationId xmlns:a16="http://schemas.microsoft.com/office/drawing/2014/main" id="{289AF924-4CB5-4412-B7E5-3308C268C1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5" name="Line 425">
                <a:extLst>
                  <a:ext uri="{FF2B5EF4-FFF2-40B4-BE49-F238E27FC236}">
                    <a16:creationId xmlns:a16="http://schemas.microsoft.com/office/drawing/2014/main" id="{5724DB01-F5B1-4155-9DCB-991A12E48D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6" name="Line 426">
                <a:extLst>
                  <a:ext uri="{FF2B5EF4-FFF2-40B4-BE49-F238E27FC236}">
                    <a16:creationId xmlns:a16="http://schemas.microsoft.com/office/drawing/2014/main" id="{F2CC8B89-16E0-4E21-880A-7CC110E102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7" name="Line 427">
                <a:extLst>
                  <a:ext uri="{FF2B5EF4-FFF2-40B4-BE49-F238E27FC236}">
                    <a16:creationId xmlns:a16="http://schemas.microsoft.com/office/drawing/2014/main" id="{B4F39976-1612-41DA-939E-6BA41FA0E1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8" name="Line 428">
                <a:extLst>
                  <a:ext uri="{FF2B5EF4-FFF2-40B4-BE49-F238E27FC236}">
                    <a16:creationId xmlns:a16="http://schemas.microsoft.com/office/drawing/2014/main" id="{EE4A64B7-FE89-4FDF-9530-CE03B1C27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234" name="Group 429">
              <a:extLst>
                <a:ext uri="{FF2B5EF4-FFF2-40B4-BE49-F238E27FC236}">
                  <a16:creationId xmlns:a16="http://schemas.microsoft.com/office/drawing/2014/main" id="{17709B40-DE53-42AB-B6AB-7410D4E0D2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235" name="Line 430">
                <a:extLst>
                  <a:ext uri="{FF2B5EF4-FFF2-40B4-BE49-F238E27FC236}">
                    <a16:creationId xmlns:a16="http://schemas.microsoft.com/office/drawing/2014/main" id="{E86E4FCB-17E3-468D-8871-47CD9B546F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6" name="Line 431">
                <a:extLst>
                  <a:ext uri="{FF2B5EF4-FFF2-40B4-BE49-F238E27FC236}">
                    <a16:creationId xmlns:a16="http://schemas.microsoft.com/office/drawing/2014/main" id="{1189C475-E036-45AE-BC3B-6FE05DA58B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7" name="Line 432">
                <a:extLst>
                  <a:ext uri="{FF2B5EF4-FFF2-40B4-BE49-F238E27FC236}">
                    <a16:creationId xmlns:a16="http://schemas.microsoft.com/office/drawing/2014/main" id="{7558DD04-B523-42DE-A7CE-59D9F3FDC2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8" name="Line 433">
                <a:extLst>
                  <a:ext uri="{FF2B5EF4-FFF2-40B4-BE49-F238E27FC236}">
                    <a16:creationId xmlns:a16="http://schemas.microsoft.com/office/drawing/2014/main" id="{C7F11F24-5184-4F6B-8FB0-C0DBE3BF9F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9" name="Line 434">
                <a:extLst>
                  <a:ext uri="{FF2B5EF4-FFF2-40B4-BE49-F238E27FC236}">
                    <a16:creationId xmlns:a16="http://schemas.microsoft.com/office/drawing/2014/main" id="{EAE64F56-1199-4589-A8B5-0AAA14FA07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0" name="Line 435">
                <a:extLst>
                  <a:ext uri="{FF2B5EF4-FFF2-40B4-BE49-F238E27FC236}">
                    <a16:creationId xmlns:a16="http://schemas.microsoft.com/office/drawing/2014/main" id="{6F890F5B-7592-41DC-AC65-BD06057182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1" name="Line 436">
                <a:extLst>
                  <a:ext uri="{FF2B5EF4-FFF2-40B4-BE49-F238E27FC236}">
                    <a16:creationId xmlns:a16="http://schemas.microsoft.com/office/drawing/2014/main" id="{F93EA32F-32E9-4531-9069-1FFE2B3EC8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grpSp>
        <p:nvGrpSpPr>
          <p:cNvPr id="263" name="Group 437">
            <a:extLst>
              <a:ext uri="{FF2B5EF4-FFF2-40B4-BE49-F238E27FC236}">
                <a16:creationId xmlns:a16="http://schemas.microsoft.com/office/drawing/2014/main" id="{8831CAB3-33F8-4D72-9DC4-0A66B77D2C95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2194719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264" name="Rectangle 438">
              <a:extLst>
                <a:ext uri="{FF2B5EF4-FFF2-40B4-BE49-F238E27FC236}">
                  <a16:creationId xmlns:a16="http://schemas.microsoft.com/office/drawing/2014/main" id="{E8968CA3-C23B-486B-84D3-8FF5EF2BA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265" name="Line 439">
              <a:extLst>
                <a:ext uri="{FF2B5EF4-FFF2-40B4-BE49-F238E27FC236}">
                  <a16:creationId xmlns:a16="http://schemas.microsoft.com/office/drawing/2014/main" id="{4176E3C7-61D8-4198-A980-2B9C8614BA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266" name="Line 440">
              <a:extLst>
                <a:ext uri="{FF2B5EF4-FFF2-40B4-BE49-F238E27FC236}">
                  <a16:creationId xmlns:a16="http://schemas.microsoft.com/office/drawing/2014/main" id="{51F68FE5-F02F-4842-846F-3E645F33B8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267" name="Group 441">
              <a:extLst>
                <a:ext uri="{FF2B5EF4-FFF2-40B4-BE49-F238E27FC236}">
                  <a16:creationId xmlns:a16="http://schemas.microsoft.com/office/drawing/2014/main" id="{590F9D50-45AC-4F9A-984F-79741470AA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292" name="Line 442">
                <a:extLst>
                  <a:ext uri="{FF2B5EF4-FFF2-40B4-BE49-F238E27FC236}">
                    <a16:creationId xmlns:a16="http://schemas.microsoft.com/office/drawing/2014/main" id="{EA6282BC-C17C-4196-857C-AC84959971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93" name="Line 443">
                <a:extLst>
                  <a:ext uri="{FF2B5EF4-FFF2-40B4-BE49-F238E27FC236}">
                    <a16:creationId xmlns:a16="http://schemas.microsoft.com/office/drawing/2014/main" id="{40C4B6AC-F113-4777-B1A0-9F1BBBFA97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94" name="Line 444">
                <a:extLst>
                  <a:ext uri="{FF2B5EF4-FFF2-40B4-BE49-F238E27FC236}">
                    <a16:creationId xmlns:a16="http://schemas.microsoft.com/office/drawing/2014/main" id="{BE5494CF-8142-49BA-8DF6-31B86BA45E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95" name="Line 445">
                <a:extLst>
                  <a:ext uri="{FF2B5EF4-FFF2-40B4-BE49-F238E27FC236}">
                    <a16:creationId xmlns:a16="http://schemas.microsoft.com/office/drawing/2014/main" id="{2F181D12-068B-47B8-92A3-3FB6E790B7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96" name="Line 446">
                <a:extLst>
                  <a:ext uri="{FF2B5EF4-FFF2-40B4-BE49-F238E27FC236}">
                    <a16:creationId xmlns:a16="http://schemas.microsoft.com/office/drawing/2014/main" id="{12580E06-C1B7-46E5-91C5-EF971EB1F9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97" name="Line 447">
                <a:extLst>
                  <a:ext uri="{FF2B5EF4-FFF2-40B4-BE49-F238E27FC236}">
                    <a16:creationId xmlns:a16="http://schemas.microsoft.com/office/drawing/2014/main" id="{87FEDF98-A528-4C0E-B4B4-18A0836CA2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98" name="Line 448">
                <a:extLst>
                  <a:ext uri="{FF2B5EF4-FFF2-40B4-BE49-F238E27FC236}">
                    <a16:creationId xmlns:a16="http://schemas.microsoft.com/office/drawing/2014/main" id="{5A5E4906-9B00-4ED8-BE98-403138B736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268" name="Group 449">
              <a:extLst>
                <a:ext uri="{FF2B5EF4-FFF2-40B4-BE49-F238E27FC236}">
                  <a16:creationId xmlns:a16="http://schemas.microsoft.com/office/drawing/2014/main" id="{4D36804D-8CA7-4EF9-9F74-DE8BC80D92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285" name="Line 450">
                <a:extLst>
                  <a:ext uri="{FF2B5EF4-FFF2-40B4-BE49-F238E27FC236}">
                    <a16:creationId xmlns:a16="http://schemas.microsoft.com/office/drawing/2014/main" id="{0D372D5B-344B-4447-A0AA-5D3081250B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86" name="Line 451">
                <a:extLst>
                  <a:ext uri="{FF2B5EF4-FFF2-40B4-BE49-F238E27FC236}">
                    <a16:creationId xmlns:a16="http://schemas.microsoft.com/office/drawing/2014/main" id="{8460473A-4D57-4052-BC46-64C7B1446E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87" name="Line 452">
                <a:extLst>
                  <a:ext uri="{FF2B5EF4-FFF2-40B4-BE49-F238E27FC236}">
                    <a16:creationId xmlns:a16="http://schemas.microsoft.com/office/drawing/2014/main" id="{E3244943-3B60-4ACC-815C-4CCBD8FC7E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88" name="Line 453">
                <a:extLst>
                  <a:ext uri="{FF2B5EF4-FFF2-40B4-BE49-F238E27FC236}">
                    <a16:creationId xmlns:a16="http://schemas.microsoft.com/office/drawing/2014/main" id="{CB6487A9-7852-49C4-8728-5CB6EBC973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89" name="Line 454">
                <a:extLst>
                  <a:ext uri="{FF2B5EF4-FFF2-40B4-BE49-F238E27FC236}">
                    <a16:creationId xmlns:a16="http://schemas.microsoft.com/office/drawing/2014/main" id="{CE4AB2F3-8043-4FB9-B421-457812D1F8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90" name="Line 455">
                <a:extLst>
                  <a:ext uri="{FF2B5EF4-FFF2-40B4-BE49-F238E27FC236}">
                    <a16:creationId xmlns:a16="http://schemas.microsoft.com/office/drawing/2014/main" id="{AC96E040-4651-4157-AF0D-CB604479A2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91" name="Line 456">
                <a:extLst>
                  <a:ext uri="{FF2B5EF4-FFF2-40B4-BE49-F238E27FC236}">
                    <a16:creationId xmlns:a16="http://schemas.microsoft.com/office/drawing/2014/main" id="{6AD9EB1A-EA59-4BDF-8BFB-B6F4FB7375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269" name="Group 457">
              <a:extLst>
                <a:ext uri="{FF2B5EF4-FFF2-40B4-BE49-F238E27FC236}">
                  <a16:creationId xmlns:a16="http://schemas.microsoft.com/office/drawing/2014/main" id="{7CD1EEC7-FC4F-49D2-BF12-EA6A4BAC93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278" name="Line 458">
                <a:extLst>
                  <a:ext uri="{FF2B5EF4-FFF2-40B4-BE49-F238E27FC236}">
                    <a16:creationId xmlns:a16="http://schemas.microsoft.com/office/drawing/2014/main" id="{11A1557B-52BC-4115-B4B4-7401ACCC2C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79" name="Line 459">
                <a:extLst>
                  <a:ext uri="{FF2B5EF4-FFF2-40B4-BE49-F238E27FC236}">
                    <a16:creationId xmlns:a16="http://schemas.microsoft.com/office/drawing/2014/main" id="{AA106A0F-E80E-4BBB-B618-7DB5EC7D34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80" name="Line 460">
                <a:extLst>
                  <a:ext uri="{FF2B5EF4-FFF2-40B4-BE49-F238E27FC236}">
                    <a16:creationId xmlns:a16="http://schemas.microsoft.com/office/drawing/2014/main" id="{99127E92-533D-4928-9DE6-0E1A7EBA54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81" name="Line 461">
                <a:extLst>
                  <a:ext uri="{FF2B5EF4-FFF2-40B4-BE49-F238E27FC236}">
                    <a16:creationId xmlns:a16="http://schemas.microsoft.com/office/drawing/2014/main" id="{669F38FA-12D7-480F-984E-E08E5CF0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82" name="Line 462">
                <a:extLst>
                  <a:ext uri="{FF2B5EF4-FFF2-40B4-BE49-F238E27FC236}">
                    <a16:creationId xmlns:a16="http://schemas.microsoft.com/office/drawing/2014/main" id="{73EEC7F5-0702-491D-9A9D-72162DFF4E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83" name="Line 463">
                <a:extLst>
                  <a:ext uri="{FF2B5EF4-FFF2-40B4-BE49-F238E27FC236}">
                    <a16:creationId xmlns:a16="http://schemas.microsoft.com/office/drawing/2014/main" id="{ECED4C44-0B32-4FAC-8532-949CE4394A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84" name="Line 464">
                <a:extLst>
                  <a:ext uri="{FF2B5EF4-FFF2-40B4-BE49-F238E27FC236}">
                    <a16:creationId xmlns:a16="http://schemas.microsoft.com/office/drawing/2014/main" id="{EDFB95C8-F527-41FD-BAD4-1F520A8902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270" name="Group 465">
              <a:extLst>
                <a:ext uri="{FF2B5EF4-FFF2-40B4-BE49-F238E27FC236}">
                  <a16:creationId xmlns:a16="http://schemas.microsoft.com/office/drawing/2014/main" id="{42CB8666-FFDC-4C1A-91EE-5F5BEED882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271" name="Line 466">
                <a:extLst>
                  <a:ext uri="{FF2B5EF4-FFF2-40B4-BE49-F238E27FC236}">
                    <a16:creationId xmlns:a16="http://schemas.microsoft.com/office/drawing/2014/main" id="{B9C1EF5F-9CD8-4BFD-B229-4781867250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72" name="Line 467">
                <a:extLst>
                  <a:ext uri="{FF2B5EF4-FFF2-40B4-BE49-F238E27FC236}">
                    <a16:creationId xmlns:a16="http://schemas.microsoft.com/office/drawing/2014/main" id="{BC28ED82-2C22-4D26-B7B1-ABFD507431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73" name="Line 468">
                <a:extLst>
                  <a:ext uri="{FF2B5EF4-FFF2-40B4-BE49-F238E27FC236}">
                    <a16:creationId xmlns:a16="http://schemas.microsoft.com/office/drawing/2014/main" id="{DF7F861A-7E64-42CB-9FE8-9F447354A0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74" name="Line 469">
                <a:extLst>
                  <a:ext uri="{FF2B5EF4-FFF2-40B4-BE49-F238E27FC236}">
                    <a16:creationId xmlns:a16="http://schemas.microsoft.com/office/drawing/2014/main" id="{662FEA20-52DC-4CD2-BAAA-066AA8FFAF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75" name="Line 470">
                <a:extLst>
                  <a:ext uri="{FF2B5EF4-FFF2-40B4-BE49-F238E27FC236}">
                    <a16:creationId xmlns:a16="http://schemas.microsoft.com/office/drawing/2014/main" id="{AD6988BF-EB13-4F77-955E-1581D500EE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76" name="Line 471">
                <a:extLst>
                  <a:ext uri="{FF2B5EF4-FFF2-40B4-BE49-F238E27FC236}">
                    <a16:creationId xmlns:a16="http://schemas.microsoft.com/office/drawing/2014/main" id="{78F0DCE5-1F92-43DE-B874-0524A09284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77" name="Line 472">
                <a:extLst>
                  <a:ext uri="{FF2B5EF4-FFF2-40B4-BE49-F238E27FC236}">
                    <a16:creationId xmlns:a16="http://schemas.microsoft.com/office/drawing/2014/main" id="{9DC9AC26-35F8-472C-932F-0AA3EDAF3C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grpSp>
        <p:nvGrpSpPr>
          <p:cNvPr id="299" name="Group 630">
            <a:extLst>
              <a:ext uri="{FF2B5EF4-FFF2-40B4-BE49-F238E27FC236}">
                <a16:creationId xmlns:a16="http://schemas.microsoft.com/office/drawing/2014/main" id="{D28BFF9F-6CBE-4465-A26D-081811B746C2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2131219"/>
            <a:ext cx="2895600" cy="3124200"/>
            <a:chOff x="3648" y="1056"/>
            <a:chExt cx="1824" cy="1968"/>
          </a:xfrm>
          <a:solidFill>
            <a:srgbClr val="C00000"/>
          </a:solidFill>
        </p:grpSpPr>
        <p:sp>
          <p:nvSpPr>
            <p:cNvPr id="300" name="Rectangle 511">
              <a:extLst>
                <a:ext uri="{FF2B5EF4-FFF2-40B4-BE49-F238E27FC236}">
                  <a16:creationId xmlns:a16="http://schemas.microsoft.com/office/drawing/2014/main" id="{184407A7-86FA-43EC-90DD-0B489F452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248"/>
              <a:ext cx="1536" cy="1776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301" name="Line 512">
              <a:extLst>
                <a:ext uri="{FF2B5EF4-FFF2-40B4-BE49-F238E27FC236}">
                  <a16:creationId xmlns:a16="http://schemas.microsoft.com/office/drawing/2014/main" id="{896B0D64-495F-4F29-80CA-8C4CE3AACE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140"/>
              <a:ext cx="1536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02" name="Line 513">
              <a:extLst>
                <a:ext uri="{FF2B5EF4-FFF2-40B4-BE49-F238E27FC236}">
                  <a16:creationId xmlns:a16="http://schemas.microsoft.com/office/drawing/2014/main" id="{25FC665E-E7C1-417B-B42A-19B79FEC05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6" y="1248"/>
              <a:ext cx="0" cy="1776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03" name="Line 514">
              <a:extLst>
                <a:ext uri="{FF2B5EF4-FFF2-40B4-BE49-F238E27FC236}">
                  <a16:creationId xmlns:a16="http://schemas.microsoft.com/office/drawing/2014/main" id="{8DF5B2ED-0EDA-4C0F-9231-3878A3360A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1056"/>
              <a:ext cx="288" cy="19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04" name="Line 515">
              <a:extLst>
                <a:ext uri="{FF2B5EF4-FFF2-40B4-BE49-F238E27FC236}">
                  <a16:creationId xmlns:a16="http://schemas.microsoft.com/office/drawing/2014/main" id="{B20ADE23-E4D0-4A56-A254-C6B963ED3F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056"/>
              <a:ext cx="1536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05" name="Line 516">
              <a:extLst>
                <a:ext uri="{FF2B5EF4-FFF2-40B4-BE49-F238E27FC236}">
                  <a16:creationId xmlns:a16="http://schemas.microsoft.com/office/drawing/2014/main" id="{FB27B450-3232-43E8-9678-AFCBD28095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06" name="Line 517">
              <a:extLst>
                <a:ext uri="{FF2B5EF4-FFF2-40B4-BE49-F238E27FC236}">
                  <a16:creationId xmlns:a16="http://schemas.microsoft.com/office/drawing/2014/main" id="{17C69CFC-F786-45D2-96BC-0EE65C3DD5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2832"/>
              <a:ext cx="288" cy="19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07" name="Line 518">
              <a:extLst>
                <a:ext uri="{FF2B5EF4-FFF2-40B4-BE49-F238E27FC236}">
                  <a16:creationId xmlns:a16="http://schemas.microsoft.com/office/drawing/2014/main" id="{06EEFC87-74DB-4002-8BD7-40B02CED48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1056"/>
              <a:ext cx="0" cy="1776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08" name="Text Box 519">
              <a:extLst>
                <a:ext uri="{FF2B5EF4-FFF2-40B4-BE49-F238E27FC236}">
                  <a16:creationId xmlns:a16="http://schemas.microsoft.com/office/drawing/2014/main" id="{4A89F971-7DFB-4AEF-9AAF-ED9609A6E0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584"/>
              <a:ext cx="576" cy="23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>
                  <a:latin typeface="Cambria" panose="02040503050406030204" pitchFamily="18" charset="0"/>
                </a:rPr>
                <a:t>Bank 0</a:t>
              </a:r>
            </a:p>
          </p:txBody>
        </p:sp>
        <p:sp>
          <p:nvSpPr>
            <p:cNvPr id="309" name="Text Box 520">
              <a:extLst>
                <a:ext uri="{FF2B5EF4-FFF2-40B4-BE49-F238E27FC236}">
                  <a16:creationId xmlns:a16="http://schemas.microsoft.com/office/drawing/2014/main" id="{E74420DF-90C3-45B4-8A29-868138E7BB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1584"/>
              <a:ext cx="576" cy="23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>
                  <a:latin typeface="Cambria" panose="02040503050406030204" pitchFamily="18" charset="0"/>
                </a:rPr>
                <a:t>Bank 1</a:t>
              </a:r>
            </a:p>
          </p:txBody>
        </p:sp>
        <p:sp>
          <p:nvSpPr>
            <p:cNvPr id="310" name="Text Box 521">
              <a:extLst>
                <a:ext uri="{FF2B5EF4-FFF2-40B4-BE49-F238E27FC236}">
                  <a16:creationId xmlns:a16="http://schemas.microsoft.com/office/drawing/2014/main" id="{8EF1A39D-C0C9-4616-998E-B80A4E91FD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448"/>
              <a:ext cx="576" cy="23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>
                  <a:latin typeface="Cambria" panose="02040503050406030204" pitchFamily="18" charset="0"/>
                </a:rPr>
                <a:t>Bank 2</a:t>
              </a:r>
            </a:p>
          </p:txBody>
        </p:sp>
        <p:sp>
          <p:nvSpPr>
            <p:cNvPr id="311" name="Text Box 522">
              <a:extLst>
                <a:ext uri="{FF2B5EF4-FFF2-40B4-BE49-F238E27FC236}">
                  <a16:creationId xmlns:a16="http://schemas.microsoft.com/office/drawing/2014/main" id="{0724E72D-72D4-4B5D-87B2-92D57852C8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2448"/>
              <a:ext cx="576" cy="23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>
                  <a:latin typeface="Cambria" panose="02040503050406030204" pitchFamily="18" charset="0"/>
                </a:rPr>
                <a:t>Bank 3</a:t>
              </a:r>
            </a:p>
          </p:txBody>
        </p:sp>
        <p:sp>
          <p:nvSpPr>
            <p:cNvPr id="312" name="Line 537">
              <a:extLst>
                <a:ext uri="{FF2B5EF4-FFF2-40B4-BE49-F238E27FC236}">
                  <a16:creationId xmlns:a16="http://schemas.microsoft.com/office/drawing/2014/main" id="{5648A29A-650B-499D-B743-52973C0ACC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9" y="1200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13" name="Line 538">
              <a:extLst>
                <a:ext uri="{FF2B5EF4-FFF2-40B4-BE49-F238E27FC236}">
                  <a16:creationId xmlns:a16="http://schemas.microsoft.com/office/drawing/2014/main" id="{002756D1-2F7A-48CE-9268-79FEF73B9C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156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14" name="Line 539">
              <a:extLst>
                <a:ext uri="{FF2B5EF4-FFF2-40B4-BE49-F238E27FC236}">
                  <a16:creationId xmlns:a16="http://schemas.microsoft.com/office/drawing/2014/main" id="{5C3D50EC-E955-413C-B3AE-B7F1553879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1" y="1108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15" name="Line 540">
              <a:extLst>
                <a:ext uri="{FF2B5EF4-FFF2-40B4-BE49-F238E27FC236}">
                  <a16:creationId xmlns:a16="http://schemas.microsoft.com/office/drawing/2014/main" id="{6FA0DCA5-721A-4F05-9F4B-71B83FF228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344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16" name="Line 541">
              <a:extLst>
                <a:ext uri="{FF2B5EF4-FFF2-40B4-BE49-F238E27FC236}">
                  <a16:creationId xmlns:a16="http://schemas.microsoft.com/office/drawing/2014/main" id="{27512733-8D42-4F17-80A4-BEA8F5C191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440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17" name="Line 542">
              <a:extLst>
                <a:ext uri="{FF2B5EF4-FFF2-40B4-BE49-F238E27FC236}">
                  <a16:creationId xmlns:a16="http://schemas.microsoft.com/office/drawing/2014/main" id="{D9D224E4-CCE7-4252-A521-DB30323B3E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536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18" name="Line 543">
              <a:extLst>
                <a:ext uri="{FF2B5EF4-FFF2-40B4-BE49-F238E27FC236}">
                  <a16:creationId xmlns:a16="http://schemas.microsoft.com/office/drawing/2014/main" id="{175F4443-EA70-44CA-B4F7-7BA2136CC2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632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19" name="Line 544">
              <a:extLst>
                <a:ext uri="{FF2B5EF4-FFF2-40B4-BE49-F238E27FC236}">
                  <a16:creationId xmlns:a16="http://schemas.microsoft.com/office/drawing/2014/main" id="{28B4385A-7E7C-4750-858F-D2899F11F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728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20" name="Line 545">
              <a:extLst>
                <a:ext uri="{FF2B5EF4-FFF2-40B4-BE49-F238E27FC236}">
                  <a16:creationId xmlns:a16="http://schemas.microsoft.com/office/drawing/2014/main" id="{B0295D51-07D5-4971-97FB-94702E3D7D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824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21" name="Line 546">
              <a:extLst>
                <a:ext uri="{FF2B5EF4-FFF2-40B4-BE49-F238E27FC236}">
                  <a16:creationId xmlns:a16="http://schemas.microsoft.com/office/drawing/2014/main" id="{E88EB686-FA9E-48F2-9CDD-78428428A2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920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22" name="Line 547">
              <a:extLst>
                <a:ext uri="{FF2B5EF4-FFF2-40B4-BE49-F238E27FC236}">
                  <a16:creationId xmlns:a16="http://schemas.microsoft.com/office/drawing/2014/main" id="{392D84C8-0ED1-4922-B10C-3F475A8A57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016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23" name="Line 548">
              <a:extLst>
                <a:ext uri="{FF2B5EF4-FFF2-40B4-BE49-F238E27FC236}">
                  <a16:creationId xmlns:a16="http://schemas.microsoft.com/office/drawing/2014/main" id="{6B21DD52-3992-436D-9769-CE74F794E9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256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24" name="Line 549">
              <a:extLst>
                <a:ext uri="{FF2B5EF4-FFF2-40B4-BE49-F238E27FC236}">
                  <a16:creationId xmlns:a16="http://schemas.microsoft.com/office/drawing/2014/main" id="{E4DBE9F1-6ED7-4496-96EB-EA5C12A7D1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352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25" name="Line 550">
              <a:extLst>
                <a:ext uri="{FF2B5EF4-FFF2-40B4-BE49-F238E27FC236}">
                  <a16:creationId xmlns:a16="http://schemas.microsoft.com/office/drawing/2014/main" id="{9DA9AF59-85E9-47C0-A31E-FB058FF4F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448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26" name="Line 551">
              <a:extLst>
                <a:ext uri="{FF2B5EF4-FFF2-40B4-BE49-F238E27FC236}">
                  <a16:creationId xmlns:a16="http://schemas.microsoft.com/office/drawing/2014/main" id="{7BA3831F-438A-4709-9DE5-D5D6C17A5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544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27" name="Line 552">
              <a:extLst>
                <a:ext uri="{FF2B5EF4-FFF2-40B4-BE49-F238E27FC236}">
                  <a16:creationId xmlns:a16="http://schemas.microsoft.com/office/drawing/2014/main" id="{57C00317-77E5-42D9-80F5-D0452C47C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640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28" name="Line 553">
              <a:extLst>
                <a:ext uri="{FF2B5EF4-FFF2-40B4-BE49-F238E27FC236}">
                  <a16:creationId xmlns:a16="http://schemas.microsoft.com/office/drawing/2014/main" id="{42B81651-05EE-499C-B94A-B55DD6AC1D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736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29" name="Line 554">
              <a:extLst>
                <a:ext uri="{FF2B5EF4-FFF2-40B4-BE49-F238E27FC236}">
                  <a16:creationId xmlns:a16="http://schemas.microsoft.com/office/drawing/2014/main" id="{AA3707E1-C885-4211-8D1A-B207E3E4E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832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30" name="Line 555">
              <a:extLst>
                <a:ext uri="{FF2B5EF4-FFF2-40B4-BE49-F238E27FC236}">
                  <a16:creationId xmlns:a16="http://schemas.microsoft.com/office/drawing/2014/main" id="{BE8F1DEF-8C34-4DBD-BDF3-44C117F50B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928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31" name="Line 556">
              <a:extLst>
                <a:ext uri="{FF2B5EF4-FFF2-40B4-BE49-F238E27FC236}">
                  <a16:creationId xmlns:a16="http://schemas.microsoft.com/office/drawing/2014/main" id="{552086D7-AE2A-4A1C-84D9-0243B34BD2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1152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32" name="Line 557">
              <a:extLst>
                <a:ext uri="{FF2B5EF4-FFF2-40B4-BE49-F238E27FC236}">
                  <a16:creationId xmlns:a16="http://schemas.microsoft.com/office/drawing/2014/main" id="{CE10393F-FA02-4DE7-8ACC-54C28437F8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1248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33" name="Line 558">
              <a:extLst>
                <a:ext uri="{FF2B5EF4-FFF2-40B4-BE49-F238E27FC236}">
                  <a16:creationId xmlns:a16="http://schemas.microsoft.com/office/drawing/2014/main" id="{BD6900D6-ADFE-4AB1-8593-A88C14DEC4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1344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34" name="Line 559">
              <a:extLst>
                <a:ext uri="{FF2B5EF4-FFF2-40B4-BE49-F238E27FC236}">
                  <a16:creationId xmlns:a16="http://schemas.microsoft.com/office/drawing/2014/main" id="{C91B8322-D68D-48E7-822F-0D3A5C3666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1440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35" name="Line 560">
              <a:extLst>
                <a:ext uri="{FF2B5EF4-FFF2-40B4-BE49-F238E27FC236}">
                  <a16:creationId xmlns:a16="http://schemas.microsoft.com/office/drawing/2014/main" id="{F96DCD25-5D46-45E1-90D7-938DEE0326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153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36" name="Line 561">
              <a:extLst>
                <a:ext uri="{FF2B5EF4-FFF2-40B4-BE49-F238E27FC236}">
                  <a16:creationId xmlns:a16="http://schemas.microsoft.com/office/drawing/2014/main" id="{EC0ED4B0-3657-4073-9CCE-4545229833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1632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37" name="Line 562">
              <a:extLst>
                <a:ext uri="{FF2B5EF4-FFF2-40B4-BE49-F238E27FC236}">
                  <a16:creationId xmlns:a16="http://schemas.microsoft.com/office/drawing/2014/main" id="{18B88801-2463-45F8-A568-0C33AE1B4A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1728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38" name="Line 563">
              <a:extLst>
                <a:ext uri="{FF2B5EF4-FFF2-40B4-BE49-F238E27FC236}">
                  <a16:creationId xmlns:a16="http://schemas.microsoft.com/office/drawing/2014/main" id="{9FBF884F-2133-423A-A023-84B1F83F1D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1824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39" name="Line 564">
              <a:extLst>
                <a:ext uri="{FF2B5EF4-FFF2-40B4-BE49-F238E27FC236}">
                  <a16:creationId xmlns:a16="http://schemas.microsoft.com/office/drawing/2014/main" id="{343466E4-C921-4B21-ACDB-977C7C6A8F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1953"/>
              <a:ext cx="288" cy="19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40" name="Line 565">
              <a:extLst>
                <a:ext uri="{FF2B5EF4-FFF2-40B4-BE49-F238E27FC236}">
                  <a16:creationId xmlns:a16="http://schemas.microsoft.com/office/drawing/2014/main" id="{92AF8A5E-ED48-4083-8760-D35FB13275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2064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41" name="Line 566">
              <a:extLst>
                <a:ext uri="{FF2B5EF4-FFF2-40B4-BE49-F238E27FC236}">
                  <a16:creationId xmlns:a16="http://schemas.microsoft.com/office/drawing/2014/main" id="{A68ECA77-24B0-4CA6-8873-A7E2371F26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2160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42" name="Line 567">
              <a:extLst>
                <a:ext uri="{FF2B5EF4-FFF2-40B4-BE49-F238E27FC236}">
                  <a16:creationId xmlns:a16="http://schemas.microsoft.com/office/drawing/2014/main" id="{F7439804-23D3-4942-8E1B-759E75F7A1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22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43" name="Line 568">
              <a:extLst>
                <a:ext uri="{FF2B5EF4-FFF2-40B4-BE49-F238E27FC236}">
                  <a16:creationId xmlns:a16="http://schemas.microsoft.com/office/drawing/2014/main" id="{38AAF4D3-69D0-49D5-AEBB-828E540D91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2352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44" name="Line 569">
              <a:extLst>
                <a:ext uri="{FF2B5EF4-FFF2-40B4-BE49-F238E27FC236}">
                  <a16:creationId xmlns:a16="http://schemas.microsoft.com/office/drawing/2014/main" id="{E08431E8-5E89-43CF-BFB8-2A5CD53E27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2448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45" name="Line 570">
              <a:extLst>
                <a:ext uri="{FF2B5EF4-FFF2-40B4-BE49-F238E27FC236}">
                  <a16:creationId xmlns:a16="http://schemas.microsoft.com/office/drawing/2014/main" id="{03EB1C49-8D30-4C6F-91E6-C72E21D874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2544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46" name="Line 571">
              <a:extLst>
                <a:ext uri="{FF2B5EF4-FFF2-40B4-BE49-F238E27FC236}">
                  <a16:creationId xmlns:a16="http://schemas.microsoft.com/office/drawing/2014/main" id="{3DC76914-2ED9-42EF-A788-6FF4E06294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2640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47" name="Line 572">
              <a:extLst>
                <a:ext uri="{FF2B5EF4-FFF2-40B4-BE49-F238E27FC236}">
                  <a16:creationId xmlns:a16="http://schemas.microsoft.com/office/drawing/2014/main" id="{78D4AD8F-98F7-452C-A648-93C2243630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273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48" name="Line 573">
              <a:extLst>
                <a:ext uri="{FF2B5EF4-FFF2-40B4-BE49-F238E27FC236}">
                  <a16:creationId xmlns:a16="http://schemas.microsoft.com/office/drawing/2014/main" id="{8B9D405A-5742-4842-A855-2D54B33E73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1056"/>
              <a:ext cx="288" cy="19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49" name="Line 574">
              <a:extLst>
                <a:ext uri="{FF2B5EF4-FFF2-40B4-BE49-F238E27FC236}">
                  <a16:creationId xmlns:a16="http://schemas.microsoft.com/office/drawing/2014/main" id="{E6FD2BBB-B58A-447E-87BF-460421DF8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50" name="Line 575">
              <a:extLst>
                <a:ext uri="{FF2B5EF4-FFF2-40B4-BE49-F238E27FC236}">
                  <a16:creationId xmlns:a16="http://schemas.microsoft.com/office/drawing/2014/main" id="{A7466FDA-B2FC-4AB5-B1A8-E203282DF8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51" name="Line 576">
              <a:extLst>
                <a:ext uri="{FF2B5EF4-FFF2-40B4-BE49-F238E27FC236}">
                  <a16:creationId xmlns:a16="http://schemas.microsoft.com/office/drawing/2014/main" id="{433BE2F0-D101-46BD-A1B7-544A5F09D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52" name="Line 577">
              <a:extLst>
                <a:ext uri="{FF2B5EF4-FFF2-40B4-BE49-F238E27FC236}">
                  <a16:creationId xmlns:a16="http://schemas.microsoft.com/office/drawing/2014/main" id="{595B4D0D-7105-4DB3-B1EA-D2A59BE955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53" name="Line 578">
              <a:extLst>
                <a:ext uri="{FF2B5EF4-FFF2-40B4-BE49-F238E27FC236}">
                  <a16:creationId xmlns:a16="http://schemas.microsoft.com/office/drawing/2014/main" id="{C09D8AD7-5B5F-4820-BEB2-990080B4BA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54" name="Line 579">
              <a:extLst>
                <a:ext uri="{FF2B5EF4-FFF2-40B4-BE49-F238E27FC236}">
                  <a16:creationId xmlns:a16="http://schemas.microsoft.com/office/drawing/2014/main" id="{EE5407C7-8988-4E6B-AFF5-62F8DE799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55" name="Line 580">
              <a:extLst>
                <a:ext uri="{FF2B5EF4-FFF2-40B4-BE49-F238E27FC236}">
                  <a16:creationId xmlns:a16="http://schemas.microsoft.com/office/drawing/2014/main" id="{D00D5BB7-C91B-40F6-86C4-325728DFD6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56" name="Line 581">
              <a:extLst>
                <a:ext uri="{FF2B5EF4-FFF2-40B4-BE49-F238E27FC236}">
                  <a16:creationId xmlns:a16="http://schemas.microsoft.com/office/drawing/2014/main" id="{AE4F4BE7-BF10-4A9E-B4B5-B342416226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57" name="Line 582">
              <a:extLst>
                <a:ext uri="{FF2B5EF4-FFF2-40B4-BE49-F238E27FC236}">
                  <a16:creationId xmlns:a16="http://schemas.microsoft.com/office/drawing/2014/main" id="{1749E9B7-AB95-43F0-85BA-83DCBE7C24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58" name="Line 583">
              <a:extLst>
                <a:ext uri="{FF2B5EF4-FFF2-40B4-BE49-F238E27FC236}">
                  <a16:creationId xmlns:a16="http://schemas.microsoft.com/office/drawing/2014/main" id="{759EA4D8-EDC8-4FA4-A1F5-BCE934AB5F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59" name="Line 584">
              <a:extLst>
                <a:ext uri="{FF2B5EF4-FFF2-40B4-BE49-F238E27FC236}">
                  <a16:creationId xmlns:a16="http://schemas.microsoft.com/office/drawing/2014/main" id="{B086B564-F1E0-44B8-9422-970C4BEDEC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60" name="Line 585">
              <a:extLst>
                <a:ext uri="{FF2B5EF4-FFF2-40B4-BE49-F238E27FC236}">
                  <a16:creationId xmlns:a16="http://schemas.microsoft.com/office/drawing/2014/main" id="{A4920E24-4287-4B27-9C7B-09932DC6D9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61" name="Line 586">
              <a:extLst>
                <a:ext uri="{FF2B5EF4-FFF2-40B4-BE49-F238E27FC236}">
                  <a16:creationId xmlns:a16="http://schemas.microsoft.com/office/drawing/2014/main" id="{BF85CD56-4EA1-471D-BD47-6BC8F11732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62" name="Line 587">
              <a:extLst>
                <a:ext uri="{FF2B5EF4-FFF2-40B4-BE49-F238E27FC236}">
                  <a16:creationId xmlns:a16="http://schemas.microsoft.com/office/drawing/2014/main" id="{1B57F7C5-F6C9-4179-BA41-F717F043F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124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63" name="Line 590">
              <a:extLst>
                <a:ext uri="{FF2B5EF4-FFF2-40B4-BE49-F238E27FC236}">
                  <a16:creationId xmlns:a16="http://schemas.microsoft.com/office/drawing/2014/main" id="{B13D4626-4D07-47E3-AD59-3BEA7550B0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1215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64" name="Line 591">
              <a:extLst>
                <a:ext uri="{FF2B5EF4-FFF2-40B4-BE49-F238E27FC236}">
                  <a16:creationId xmlns:a16="http://schemas.microsoft.com/office/drawing/2014/main" id="{5F9751D4-D05E-45C9-9E51-6662ACAD1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3" y="1230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65" name="Line 592">
              <a:extLst>
                <a:ext uri="{FF2B5EF4-FFF2-40B4-BE49-F238E27FC236}">
                  <a16:creationId xmlns:a16="http://schemas.microsoft.com/office/drawing/2014/main" id="{5BE6F262-4C22-48F1-BBDB-F2C92A6C34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" y="1186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66" name="Line 593">
              <a:extLst>
                <a:ext uri="{FF2B5EF4-FFF2-40B4-BE49-F238E27FC236}">
                  <a16:creationId xmlns:a16="http://schemas.microsoft.com/office/drawing/2014/main" id="{6225A992-632B-48C4-B54B-9DAD33EA8A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6" y="1172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67" name="Line 594">
              <a:extLst>
                <a:ext uri="{FF2B5EF4-FFF2-40B4-BE49-F238E27FC236}">
                  <a16:creationId xmlns:a16="http://schemas.microsoft.com/office/drawing/2014/main" id="{578DE2E6-E548-406F-B735-B35AFA4218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7" y="1140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68" name="Line 595">
              <a:extLst>
                <a:ext uri="{FF2B5EF4-FFF2-40B4-BE49-F238E27FC236}">
                  <a16:creationId xmlns:a16="http://schemas.microsoft.com/office/drawing/2014/main" id="{CE82AA88-2607-4D52-A19F-65C59C1451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3" y="1124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69" name="Line 596">
              <a:extLst>
                <a:ext uri="{FF2B5EF4-FFF2-40B4-BE49-F238E27FC236}">
                  <a16:creationId xmlns:a16="http://schemas.microsoft.com/office/drawing/2014/main" id="{BBB35D4A-7278-4828-A1B1-F0E386DF1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9" y="1096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70" name="Line 597">
              <a:extLst>
                <a:ext uri="{FF2B5EF4-FFF2-40B4-BE49-F238E27FC236}">
                  <a16:creationId xmlns:a16="http://schemas.microsoft.com/office/drawing/2014/main" id="{A003F63C-65CB-4039-8DD4-B69286234C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9" y="1082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71" name="Line 598">
              <a:extLst>
                <a:ext uri="{FF2B5EF4-FFF2-40B4-BE49-F238E27FC236}">
                  <a16:creationId xmlns:a16="http://schemas.microsoft.com/office/drawing/2014/main" id="{A6F54B30-C022-4E76-8EFE-7A4344C19A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8" y="1070"/>
              <a:ext cx="153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72" name="Line 599">
              <a:extLst>
                <a:ext uri="{FF2B5EF4-FFF2-40B4-BE49-F238E27FC236}">
                  <a16:creationId xmlns:a16="http://schemas.microsoft.com/office/drawing/2014/main" id="{EAA82E8F-BDC5-4557-84A1-2429B733A2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73" name="Line 600">
              <a:extLst>
                <a:ext uri="{FF2B5EF4-FFF2-40B4-BE49-F238E27FC236}">
                  <a16:creationId xmlns:a16="http://schemas.microsoft.com/office/drawing/2014/main" id="{82C4CC3B-1207-4727-B739-CE5BA1789C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74" name="Line 601">
              <a:extLst>
                <a:ext uri="{FF2B5EF4-FFF2-40B4-BE49-F238E27FC236}">
                  <a16:creationId xmlns:a16="http://schemas.microsoft.com/office/drawing/2014/main" id="{227B82D3-7E4A-428B-B840-105A8C8627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75" name="Line 602">
              <a:extLst>
                <a:ext uri="{FF2B5EF4-FFF2-40B4-BE49-F238E27FC236}">
                  <a16:creationId xmlns:a16="http://schemas.microsoft.com/office/drawing/2014/main" id="{60369338-D1F6-4956-85A8-10212B1E74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76" name="Line 603">
              <a:extLst>
                <a:ext uri="{FF2B5EF4-FFF2-40B4-BE49-F238E27FC236}">
                  <a16:creationId xmlns:a16="http://schemas.microsoft.com/office/drawing/2014/main" id="{7F5B7BFF-0B90-4D85-A8E3-E8F7862B5C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77" name="Line 604">
              <a:extLst>
                <a:ext uri="{FF2B5EF4-FFF2-40B4-BE49-F238E27FC236}">
                  <a16:creationId xmlns:a16="http://schemas.microsoft.com/office/drawing/2014/main" id="{B34EAE28-A751-4F6D-B0E2-AD9EEE4E3F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78" name="Line 605">
              <a:extLst>
                <a:ext uri="{FF2B5EF4-FFF2-40B4-BE49-F238E27FC236}">
                  <a16:creationId xmlns:a16="http://schemas.microsoft.com/office/drawing/2014/main" id="{D2445D1C-4788-4102-B91D-D7D330CF44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79" name="Line 606">
              <a:extLst>
                <a:ext uri="{FF2B5EF4-FFF2-40B4-BE49-F238E27FC236}">
                  <a16:creationId xmlns:a16="http://schemas.microsoft.com/office/drawing/2014/main" id="{ACB2FCE7-7F64-45D2-A998-4152EDC091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80" name="Line 607">
              <a:extLst>
                <a:ext uri="{FF2B5EF4-FFF2-40B4-BE49-F238E27FC236}">
                  <a16:creationId xmlns:a16="http://schemas.microsoft.com/office/drawing/2014/main" id="{555CC88B-1F4A-497B-B9B8-B8AC14171E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81" name="Line 608">
              <a:extLst>
                <a:ext uri="{FF2B5EF4-FFF2-40B4-BE49-F238E27FC236}">
                  <a16:creationId xmlns:a16="http://schemas.microsoft.com/office/drawing/2014/main" id="{6A7F608F-61FC-417C-9625-1D51929688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4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82" name="Line 609">
              <a:extLst>
                <a:ext uri="{FF2B5EF4-FFF2-40B4-BE49-F238E27FC236}">
                  <a16:creationId xmlns:a16="http://schemas.microsoft.com/office/drawing/2014/main" id="{265E7A5F-192A-4FF7-9810-F168183C73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83" name="Line 610">
              <a:extLst>
                <a:ext uri="{FF2B5EF4-FFF2-40B4-BE49-F238E27FC236}">
                  <a16:creationId xmlns:a16="http://schemas.microsoft.com/office/drawing/2014/main" id="{E79D7A81-DEA3-402B-8855-FB202EED27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6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84" name="Line 611">
              <a:extLst>
                <a:ext uri="{FF2B5EF4-FFF2-40B4-BE49-F238E27FC236}">
                  <a16:creationId xmlns:a16="http://schemas.microsoft.com/office/drawing/2014/main" id="{2B2E952A-8FE7-4B67-AD2D-4E79DA103E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92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85" name="Line 612">
              <a:extLst>
                <a:ext uri="{FF2B5EF4-FFF2-40B4-BE49-F238E27FC236}">
                  <a16:creationId xmlns:a16="http://schemas.microsoft.com/office/drawing/2014/main" id="{27C29629-A877-4D0B-9968-72133B9EB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8" y="1056"/>
              <a:ext cx="288" cy="192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86" name="Line 613">
              <a:extLst>
                <a:ext uri="{FF2B5EF4-FFF2-40B4-BE49-F238E27FC236}">
                  <a16:creationId xmlns:a16="http://schemas.microsoft.com/office/drawing/2014/main" id="{FCB1A016-F371-435A-B1B1-5EBEA18868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8" y="1232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87" name="Line 614">
              <a:extLst>
                <a:ext uri="{FF2B5EF4-FFF2-40B4-BE49-F238E27FC236}">
                  <a16:creationId xmlns:a16="http://schemas.microsoft.com/office/drawing/2014/main" id="{DFA5D62E-9691-40F3-86A8-01C4244D0E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1212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88" name="Line 615">
              <a:extLst>
                <a:ext uri="{FF2B5EF4-FFF2-40B4-BE49-F238E27FC236}">
                  <a16:creationId xmlns:a16="http://schemas.microsoft.com/office/drawing/2014/main" id="{4D870C1C-E462-492E-B4B0-B4BEDCB735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6" y="1204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89" name="Line 616">
              <a:extLst>
                <a:ext uri="{FF2B5EF4-FFF2-40B4-BE49-F238E27FC236}">
                  <a16:creationId xmlns:a16="http://schemas.microsoft.com/office/drawing/2014/main" id="{42E929A1-703A-4159-8DF4-BB126FA392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6" y="1190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90" name="Line 617">
              <a:extLst>
                <a:ext uri="{FF2B5EF4-FFF2-40B4-BE49-F238E27FC236}">
                  <a16:creationId xmlns:a16="http://schemas.microsoft.com/office/drawing/2014/main" id="{C4493581-2B36-4311-A7FF-C88B80FF6A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4" y="1174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91" name="Line 618">
              <a:extLst>
                <a:ext uri="{FF2B5EF4-FFF2-40B4-BE49-F238E27FC236}">
                  <a16:creationId xmlns:a16="http://schemas.microsoft.com/office/drawing/2014/main" id="{89EBE81B-6F88-41E8-BE59-BD1657D843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8" y="115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92" name="Line 619">
              <a:extLst>
                <a:ext uri="{FF2B5EF4-FFF2-40B4-BE49-F238E27FC236}">
                  <a16:creationId xmlns:a16="http://schemas.microsoft.com/office/drawing/2014/main" id="{291E4CBA-7C8D-4FF8-B2B4-2784F3AC0F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42" y="1144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93" name="Line 620">
              <a:extLst>
                <a:ext uri="{FF2B5EF4-FFF2-40B4-BE49-F238E27FC236}">
                  <a16:creationId xmlns:a16="http://schemas.microsoft.com/office/drawing/2014/main" id="{E81F7E40-98DB-45FC-B6C8-229B9B4560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2" y="1126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94" name="Line 621">
              <a:extLst>
                <a:ext uri="{FF2B5EF4-FFF2-40B4-BE49-F238E27FC236}">
                  <a16:creationId xmlns:a16="http://schemas.microsoft.com/office/drawing/2014/main" id="{B1DCBE65-843C-4491-AAF4-74E7BCD087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6" y="1110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95" name="Line 622">
              <a:extLst>
                <a:ext uri="{FF2B5EF4-FFF2-40B4-BE49-F238E27FC236}">
                  <a16:creationId xmlns:a16="http://schemas.microsoft.com/office/drawing/2014/main" id="{6A249341-6AC2-4544-957E-FAC157F7F9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" y="1098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96" name="Line 623">
              <a:extLst>
                <a:ext uri="{FF2B5EF4-FFF2-40B4-BE49-F238E27FC236}">
                  <a16:creationId xmlns:a16="http://schemas.microsoft.com/office/drawing/2014/main" id="{30909735-76C4-4C4B-B551-470EA840B1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0" y="1084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397" name="Line 624">
              <a:extLst>
                <a:ext uri="{FF2B5EF4-FFF2-40B4-BE49-F238E27FC236}">
                  <a16:creationId xmlns:a16="http://schemas.microsoft.com/office/drawing/2014/main" id="{243517F2-D2C5-44A7-9C33-FD1F233466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50" y="1072"/>
              <a:ext cx="0" cy="1776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</p:grpSp>
      <p:sp>
        <p:nvSpPr>
          <p:cNvPr id="398" name="Rounded Rectangle 6">
            <a:extLst>
              <a:ext uri="{FF2B5EF4-FFF2-40B4-BE49-F238E27FC236}">
                <a16:creationId xmlns:a16="http://schemas.microsoft.com/office/drawing/2014/main" id="{86274D4B-29A4-4057-A30A-00FC5CC9CA72}"/>
              </a:ext>
            </a:extLst>
          </p:cNvPr>
          <p:cNvSpPr/>
          <p:nvPr/>
        </p:nvSpPr>
        <p:spPr>
          <a:xfrm>
            <a:off x="7916378" y="5419212"/>
            <a:ext cx="2565791" cy="481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Multiple Chips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cxnSp>
        <p:nvCxnSpPr>
          <p:cNvPr id="399" name="Straight Arrow Connector 398">
            <a:extLst>
              <a:ext uri="{FF2B5EF4-FFF2-40B4-BE49-F238E27FC236}">
                <a16:creationId xmlns:a16="http://schemas.microsoft.com/office/drawing/2014/main" id="{3E37C034-2039-46B1-BCD2-2A96D330D85E}"/>
              </a:ext>
            </a:extLst>
          </p:cNvPr>
          <p:cNvCxnSpPr>
            <a:cxnSpLocks/>
          </p:cNvCxnSpPr>
          <p:nvPr/>
        </p:nvCxnSpPr>
        <p:spPr>
          <a:xfrm>
            <a:off x="2041619" y="2205039"/>
            <a:ext cx="5654581" cy="230980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0" name="Straight Arrow Connector 399">
            <a:extLst>
              <a:ext uri="{FF2B5EF4-FFF2-40B4-BE49-F238E27FC236}">
                <a16:creationId xmlns:a16="http://schemas.microsoft.com/office/drawing/2014/main" id="{405F908F-2A91-4373-BFF1-BB89977ECD0B}"/>
              </a:ext>
            </a:extLst>
          </p:cNvPr>
          <p:cNvCxnSpPr>
            <a:cxnSpLocks/>
          </p:cNvCxnSpPr>
          <p:nvPr/>
        </p:nvCxnSpPr>
        <p:spPr>
          <a:xfrm>
            <a:off x="2041619" y="2946399"/>
            <a:ext cx="5630768" cy="2309020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CD22086-7FE4-E4E5-05B9-8EE7FECE5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88808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9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" grpId="0" build="allAtOnce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F485B-97F5-4194-BC03-59592F031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Ranks, Banks, Rows, Columns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8DA36-C80D-4CF2-81A7-E317DF39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15</a:t>
            </a:fld>
            <a:endParaRPr lang="en-IN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3B94F9D-00DF-4CE4-8E1C-F7E6D6095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219200"/>
            <a:ext cx="990600" cy="4876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mbria" panose="02040503050406030204" pitchFamily="18" charset="0"/>
            </a:endParaRPr>
          </a:p>
        </p:txBody>
      </p:sp>
      <p:sp>
        <p:nvSpPr>
          <p:cNvPr id="7" name="Text Box 115">
            <a:extLst>
              <a:ext uri="{FF2B5EF4-FFF2-40B4-BE49-F238E27FC236}">
                <a16:creationId xmlns:a16="http://schemas.microsoft.com/office/drawing/2014/main" id="{2C2AE308-3B9D-4CAD-B304-FC5C3F8E2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1219200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Cambria" panose="02040503050406030204" pitchFamily="18" charset="0"/>
              </a:rPr>
              <a:t>Rank 0</a:t>
            </a:r>
          </a:p>
        </p:txBody>
      </p:sp>
      <p:grpSp>
        <p:nvGrpSpPr>
          <p:cNvPr id="8" name="Group 220">
            <a:extLst>
              <a:ext uri="{FF2B5EF4-FFF2-40B4-BE49-F238E27FC236}">
                <a16:creationId xmlns:a16="http://schemas.microsoft.com/office/drawing/2014/main" id="{4420C2FA-42A6-44DA-AB82-DB1C345F7F08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895600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9" name="Rectangle 185">
              <a:extLst>
                <a:ext uri="{FF2B5EF4-FFF2-40B4-BE49-F238E27FC236}">
                  <a16:creationId xmlns:a16="http://schemas.microsoft.com/office/drawing/2014/main" id="{57664F8B-6664-4038-8B37-05E869DE4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10" name="Line 186">
              <a:extLst>
                <a:ext uri="{FF2B5EF4-FFF2-40B4-BE49-F238E27FC236}">
                  <a16:creationId xmlns:a16="http://schemas.microsoft.com/office/drawing/2014/main" id="{362E5D0B-E2A2-4031-ACF3-90DD3966FC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1" name="Line 187">
              <a:extLst>
                <a:ext uri="{FF2B5EF4-FFF2-40B4-BE49-F238E27FC236}">
                  <a16:creationId xmlns:a16="http://schemas.microsoft.com/office/drawing/2014/main" id="{68DF9327-8466-4440-B044-508D1E4EBE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12" name="Group 188">
              <a:extLst>
                <a:ext uri="{FF2B5EF4-FFF2-40B4-BE49-F238E27FC236}">
                  <a16:creationId xmlns:a16="http://schemas.microsoft.com/office/drawing/2014/main" id="{A6B06E20-9F22-4B29-90D4-F143709CCD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37" name="Line 189">
                <a:extLst>
                  <a:ext uri="{FF2B5EF4-FFF2-40B4-BE49-F238E27FC236}">
                    <a16:creationId xmlns:a16="http://schemas.microsoft.com/office/drawing/2014/main" id="{162D7131-9082-44D7-834B-7739793000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8" name="Line 190">
                <a:extLst>
                  <a:ext uri="{FF2B5EF4-FFF2-40B4-BE49-F238E27FC236}">
                    <a16:creationId xmlns:a16="http://schemas.microsoft.com/office/drawing/2014/main" id="{94F8583D-50E3-4433-962F-33FA321946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9" name="Line 191">
                <a:extLst>
                  <a:ext uri="{FF2B5EF4-FFF2-40B4-BE49-F238E27FC236}">
                    <a16:creationId xmlns:a16="http://schemas.microsoft.com/office/drawing/2014/main" id="{2C8DBFFD-65DB-440B-BA5A-B09A78ACEF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40" name="Line 192">
                <a:extLst>
                  <a:ext uri="{FF2B5EF4-FFF2-40B4-BE49-F238E27FC236}">
                    <a16:creationId xmlns:a16="http://schemas.microsoft.com/office/drawing/2014/main" id="{89BC6389-5D0A-4612-ADA2-AF90EB3B71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41" name="Line 193">
                <a:extLst>
                  <a:ext uri="{FF2B5EF4-FFF2-40B4-BE49-F238E27FC236}">
                    <a16:creationId xmlns:a16="http://schemas.microsoft.com/office/drawing/2014/main" id="{7544964C-0725-4AE9-8CDF-F26FF13137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42" name="Line 194">
                <a:extLst>
                  <a:ext uri="{FF2B5EF4-FFF2-40B4-BE49-F238E27FC236}">
                    <a16:creationId xmlns:a16="http://schemas.microsoft.com/office/drawing/2014/main" id="{4E220D73-EA61-45DF-8C2D-960B8EB89B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43" name="Line 195">
                <a:extLst>
                  <a:ext uri="{FF2B5EF4-FFF2-40B4-BE49-F238E27FC236}">
                    <a16:creationId xmlns:a16="http://schemas.microsoft.com/office/drawing/2014/main" id="{C14D9E69-5E97-49DA-8AC1-7F2FDBBF81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3" name="Group 196">
              <a:extLst>
                <a:ext uri="{FF2B5EF4-FFF2-40B4-BE49-F238E27FC236}">
                  <a16:creationId xmlns:a16="http://schemas.microsoft.com/office/drawing/2014/main" id="{6A0E27E2-DE9B-4D3A-B627-9B55536C71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30" name="Line 197">
                <a:extLst>
                  <a:ext uri="{FF2B5EF4-FFF2-40B4-BE49-F238E27FC236}">
                    <a16:creationId xmlns:a16="http://schemas.microsoft.com/office/drawing/2014/main" id="{91157AE9-FD9E-423E-B110-DCDA182758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1" name="Line 198">
                <a:extLst>
                  <a:ext uri="{FF2B5EF4-FFF2-40B4-BE49-F238E27FC236}">
                    <a16:creationId xmlns:a16="http://schemas.microsoft.com/office/drawing/2014/main" id="{10959AE9-0ECA-4F30-AA9F-EF274EF765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2" name="Line 199">
                <a:extLst>
                  <a:ext uri="{FF2B5EF4-FFF2-40B4-BE49-F238E27FC236}">
                    <a16:creationId xmlns:a16="http://schemas.microsoft.com/office/drawing/2014/main" id="{54996568-9001-44EF-AB44-ACE372581D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3" name="Line 200">
                <a:extLst>
                  <a:ext uri="{FF2B5EF4-FFF2-40B4-BE49-F238E27FC236}">
                    <a16:creationId xmlns:a16="http://schemas.microsoft.com/office/drawing/2014/main" id="{E111C7A6-5B9A-4AF5-99D3-B4A6A1F577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4" name="Line 201">
                <a:extLst>
                  <a:ext uri="{FF2B5EF4-FFF2-40B4-BE49-F238E27FC236}">
                    <a16:creationId xmlns:a16="http://schemas.microsoft.com/office/drawing/2014/main" id="{6C27760F-2038-4872-9BDF-CFCF8C3E93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5" name="Line 202">
                <a:extLst>
                  <a:ext uri="{FF2B5EF4-FFF2-40B4-BE49-F238E27FC236}">
                    <a16:creationId xmlns:a16="http://schemas.microsoft.com/office/drawing/2014/main" id="{F506DE80-2665-4A58-9BAD-713F13C8A3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36" name="Line 203">
                <a:extLst>
                  <a:ext uri="{FF2B5EF4-FFF2-40B4-BE49-F238E27FC236}">
                    <a16:creationId xmlns:a16="http://schemas.microsoft.com/office/drawing/2014/main" id="{334A97FD-0B38-4014-9B68-92F31731B5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4" name="Group 204">
              <a:extLst>
                <a:ext uri="{FF2B5EF4-FFF2-40B4-BE49-F238E27FC236}">
                  <a16:creationId xmlns:a16="http://schemas.microsoft.com/office/drawing/2014/main" id="{6C095F58-1D01-4314-9DB4-C7D769F8FE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23" name="Line 205">
                <a:extLst>
                  <a:ext uri="{FF2B5EF4-FFF2-40B4-BE49-F238E27FC236}">
                    <a16:creationId xmlns:a16="http://schemas.microsoft.com/office/drawing/2014/main" id="{A4D572C8-7383-4501-BB1E-F69519AD9B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" name="Line 206">
                <a:extLst>
                  <a:ext uri="{FF2B5EF4-FFF2-40B4-BE49-F238E27FC236}">
                    <a16:creationId xmlns:a16="http://schemas.microsoft.com/office/drawing/2014/main" id="{C57026F4-113F-4AA5-9B32-3D21F7FB7C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5" name="Line 207">
                <a:extLst>
                  <a:ext uri="{FF2B5EF4-FFF2-40B4-BE49-F238E27FC236}">
                    <a16:creationId xmlns:a16="http://schemas.microsoft.com/office/drawing/2014/main" id="{48FD7C90-E765-4AA8-8593-F5D0A95D60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6" name="Line 208">
                <a:extLst>
                  <a:ext uri="{FF2B5EF4-FFF2-40B4-BE49-F238E27FC236}">
                    <a16:creationId xmlns:a16="http://schemas.microsoft.com/office/drawing/2014/main" id="{421BB7F2-5655-4EBD-B1BA-7E2062EAC1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7" name="Line 209">
                <a:extLst>
                  <a:ext uri="{FF2B5EF4-FFF2-40B4-BE49-F238E27FC236}">
                    <a16:creationId xmlns:a16="http://schemas.microsoft.com/office/drawing/2014/main" id="{2AA55E9D-612F-4452-9EBF-CBB7433E2F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8" name="Line 210">
                <a:extLst>
                  <a:ext uri="{FF2B5EF4-FFF2-40B4-BE49-F238E27FC236}">
                    <a16:creationId xmlns:a16="http://schemas.microsoft.com/office/drawing/2014/main" id="{1EF1F7D5-304E-40C9-A5B8-A694F274B1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9" name="Line 211">
                <a:extLst>
                  <a:ext uri="{FF2B5EF4-FFF2-40B4-BE49-F238E27FC236}">
                    <a16:creationId xmlns:a16="http://schemas.microsoft.com/office/drawing/2014/main" id="{C5EB8C87-CE78-4966-85CF-7878068FD5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5" name="Group 212">
              <a:extLst>
                <a:ext uri="{FF2B5EF4-FFF2-40B4-BE49-F238E27FC236}">
                  <a16:creationId xmlns:a16="http://schemas.microsoft.com/office/drawing/2014/main" id="{1AD3643E-2DF4-4CCC-9A6A-454A5EACF2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16" name="Line 213">
                <a:extLst>
                  <a:ext uri="{FF2B5EF4-FFF2-40B4-BE49-F238E27FC236}">
                    <a16:creationId xmlns:a16="http://schemas.microsoft.com/office/drawing/2014/main" id="{A42CB62C-C601-49F4-80F8-AD93E48FE6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7" name="Line 214">
                <a:extLst>
                  <a:ext uri="{FF2B5EF4-FFF2-40B4-BE49-F238E27FC236}">
                    <a16:creationId xmlns:a16="http://schemas.microsoft.com/office/drawing/2014/main" id="{E7B0B57B-B6CF-4CFE-8D0E-5B8C19B2E3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8" name="Line 215">
                <a:extLst>
                  <a:ext uri="{FF2B5EF4-FFF2-40B4-BE49-F238E27FC236}">
                    <a16:creationId xmlns:a16="http://schemas.microsoft.com/office/drawing/2014/main" id="{E156BDC9-0F55-40CC-9BCC-8351C9AA5F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9" name="Line 216">
                <a:extLst>
                  <a:ext uri="{FF2B5EF4-FFF2-40B4-BE49-F238E27FC236}">
                    <a16:creationId xmlns:a16="http://schemas.microsoft.com/office/drawing/2014/main" id="{28E81DCF-74AD-4943-BE08-B5FD4A3540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0" name="Line 217">
                <a:extLst>
                  <a:ext uri="{FF2B5EF4-FFF2-40B4-BE49-F238E27FC236}">
                    <a16:creationId xmlns:a16="http://schemas.microsoft.com/office/drawing/2014/main" id="{0465129D-6C1A-4CA9-8C45-70294C7F4D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" name="Line 218">
                <a:extLst>
                  <a:ext uri="{FF2B5EF4-FFF2-40B4-BE49-F238E27FC236}">
                    <a16:creationId xmlns:a16="http://schemas.microsoft.com/office/drawing/2014/main" id="{28056F9E-3319-4213-AE1C-2FC138DB2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" name="Line 219">
                <a:extLst>
                  <a:ext uri="{FF2B5EF4-FFF2-40B4-BE49-F238E27FC236}">
                    <a16:creationId xmlns:a16="http://schemas.microsoft.com/office/drawing/2014/main" id="{AC7C617F-0AD3-427F-8B14-CF5509A9C6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grpSp>
        <p:nvGrpSpPr>
          <p:cNvPr id="44" name="Group 221">
            <a:extLst>
              <a:ext uri="{FF2B5EF4-FFF2-40B4-BE49-F238E27FC236}">
                <a16:creationId xmlns:a16="http://schemas.microsoft.com/office/drawing/2014/main" id="{79522CE4-62D3-41A4-9278-2E092F5E9F84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3962400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45" name="Rectangle 222">
              <a:extLst>
                <a:ext uri="{FF2B5EF4-FFF2-40B4-BE49-F238E27FC236}">
                  <a16:creationId xmlns:a16="http://schemas.microsoft.com/office/drawing/2014/main" id="{832956A5-8FAB-4C3D-942A-830087F88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46" name="Line 223">
              <a:extLst>
                <a:ext uri="{FF2B5EF4-FFF2-40B4-BE49-F238E27FC236}">
                  <a16:creationId xmlns:a16="http://schemas.microsoft.com/office/drawing/2014/main" id="{0D67DCC9-CCEE-44C1-A56E-8F94C1C6F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47" name="Line 224">
              <a:extLst>
                <a:ext uri="{FF2B5EF4-FFF2-40B4-BE49-F238E27FC236}">
                  <a16:creationId xmlns:a16="http://schemas.microsoft.com/office/drawing/2014/main" id="{F36E32B5-FE11-490D-9E05-69C238037F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48" name="Group 225">
              <a:extLst>
                <a:ext uri="{FF2B5EF4-FFF2-40B4-BE49-F238E27FC236}">
                  <a16:creationId xmlns:a16="http://schemas.microsoft.com/office/drawing/2014/main" id="{DE99C734-A584-4973-AB06-9171692F00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73" name="Line 226">
                <a:extLst>
                  <a:ext uri="{FF2B5EF4-FFF2-40B4-BE49-F238E27FC236}">
                    <a16:creationId xmlns:a16="http://schemas.microsoft.com/office/drawing/2014/main" id="{FFA38E4A-C7A5-4B81-A7A7-0CDC2AA92F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4" name="Line 227">
                <a:extLst>
                  <a:ext uri="{FF2B5EF4-FFF2-40B4-BE49-F238E27FC236}">
                    <a16:creationId xmlns:a16="http://schemas.microsoft.com/office/drawing/2014/main" id="{F998CF92-3BC0-4B77-B31E-F6E321A5E4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5" name="Line 228">
                <a:extLst>
                  <a:ext uri="{FF2B5EF4-FFF2-40B4-BE49-F238E27FC236}">
                    <a16:creationId xmlns:a16="http://schemas.microsoft.com/office/drawing/2014/main" id="{2FB22B6C-E43C-4A3B-A7CA-5E9F1D239C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6" name="Line 229">
                <a:extLst>
                  <a:ext uri="{FF2B5EF4-FFF2-40B4-BE49-F238E27FC236}">
                    <a16:creationId xmlns:a16="http://schemas.microsoft.com/office/drawing/2014/main" id="{680519E1-5984-45F2-B446-2C9C0FCA7A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7" name="Line 230">
                <a:extLst>
                  <a:ext uri="{FF2B5EF4-FFF2-40B4-BE49-F238E27FC236}">
                    <a16:creationId xmlns:a16="http://schemas.microsoft.com/office/drawing/2014/main" id="{1BFD17C6-CF0C-44C4-AB99-707288EC59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8" name="Line 231">
                <a:extLst>
                  <a:ext uri="{FF2B5EF4-FFF2-40B4-BE49-F238E27FC236}">
                    <a16:creationId xmlns:a16="http://schemas.microsoft.com/office/drawing/2014/main" id="{D4F074C7-3961-4C5A-9D8C-44996CD95A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9" name="Line 232">
                <a:extLst>
                  <a:ext uri="{FF2B5EF4-FFF2-40B4-BE49-F238E27FC236}">
                    <a16:creationId xmlns:a16="http://schemas.microsoft.com/office/drawing/2014/main" id="{5C64F58E-9C45-4DC8-8B83-F3A88991DD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49" name="Group 233">
              <a:extLst>
                <a:ext uri="{FF2B5EF4-FFF2-40B4-BE49-F238E27FC236}">
                  <a16:creationId xmlns:a16="http://schemas.microsoft.com/office/drawing/2014/main" id="{F11AB650-E01C-47DB-8321-B6DA652E04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66" name="Line 234">
                <a:extLst>
                  <a:ext uri="{FF2B5EF4-FFF2-40B4-BE49-F238E27FC236}">
                    <a16:creationId xmlns:a16="http://schemas.microsoft.com/office/drawing/2014/main" id="{4BC69ECD-FEAD-45ED-962A-C0C52616B5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7" name="Line 235">
                <a:extLst>
                  <a:ext uri="{FF2B5EF4-FFF2-40B4-BE49-F238E27FC236}">
                    <a16:creationId xmlns:a16="http://schemas.microsoft.com/office/drawing/2014/main" id="{56D47855-B0CC-45B3-90EF-05F3A152CD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8" name="Line 236">
                <a:extLst>
                  <a:ext uri="{FF2B5EF4-FFF2-40B4-BE49-F238E27FC236}">
                    <a16:creationId xmlns:a16="http://schemas.microsoft.com/office/drawing/2014/main" id="{5B80A06E-1D00-417C-9918-990803D770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9" name="Line 237">
                <a:extLst>
                  <a:ext uri="{FF2B5EF4-FFF2-40B4-BE49-F238E27FC236}">
                    <a16:creationId xmlns:a16="http://schemas.microsoft.com/office/drawing/2014/main" id="{B67431DE-52AB-4F28-B009-10875E69D2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0" name="Line 238">
                <a:extLst>
                  <a:ext uri="{FF2B5EF4-FFF2-40B4-BE49-F238E27FC236}">
                    <a16:creationId xmlns:a16="http://schemas.microsoft.com/office/drawing/2014/main" id="{F41A91F2-0FF4-485E-B2AA-719C0E74F7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1" name="Line 239">
                <a:extLst>
                  <a:ext uri="{FF2B5EF4-FFF2-40B4-BE49-F238E27FC236}">
                    <a16:creationId xmlns:a16="http://schemas.microsoft.com/office/drawing/2014/main" id="{7740C766-A825-4107-B2FE-EF090AD266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72" name="Line 240">
                <a:extLst>
                  <a:ext uri="{FF2B5EF4-FFF2-40B4-BE49-F238E27FC236}">
                    <a16:creationId xmlns:a16="http://schemas.microsoft.com/office/drawing/2014/main" id="{15CAE7A0-5883-492A-98D2-975DD7C191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50" name="Group 241">
              <a:extLst>
                <a:ext uri="{FF2B5EF4-FFF2-40B4-BE49-F238E27FC236}">
                  <a16:creationId xmlns:a16="http://schemas.microsoft.com/office/drawing/2014/main" id="{49BFCDAC-4EAD-4870-8378-432E1ACF56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59" name="Line 242">
                <a:extLst>
                  <a:ext uri="{FF2B5EF4-FFF2-40B4-BE49-F238E27FC236}">
                    <a16:creationId xmlns:a16="http://schemas.microsoft.com/office/drawing/2014/main" id="{29CC281D-2E5B-4242-B4E1-4753ED58C1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0" name="Line 243">
                <a:extLst>
                  <a:ext uri="{FF2B5EF4-FFF2-40B4-BE49-F238E27FC236}">
                    <a16:creationId xmlns:a16="http://schemas.microsoft.com/office/drawing/2014/main" id="{59E92BDE-D688-4593-BF31-9017274601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1" name="Line 244">
                <a:extLst>
                  <a:ext uri="{FF2B5EF4-FFF2-40B4-BE49-F238E27FC236}">
                    <a16:creationId xmlns:a16="http://schemas.microsoft.com/office/drawing/2014/main" id="{1F9F3A92-54F0-4FC2-8B21-C2AAA148CE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2" name="Line 245">
                <a:extLst>
                  <a:ext uri="{FF2B5EF4-FFF2-40B4-BE49-F238E27FC236}">
                    <a16:creationId xmlns:a16="http://schemas.microsoft.com/office/drawing/2014/main" id="{54885D7E-4449-4134-9785-6FC08D5203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3" name="Line 246">
                <a:extLst>
                  <a:ext uri="{FF2B5EF4-FFF2-40B4-BE49-F238E27FC236}">
                    <a16:creationId xmlns:a16="http://schemas.microsoft.com/office/drawing/2014/main" id="{143289CD-2D7A-4E7A-A783-D246BB7718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4" name="Line 247">
                <a:extLst>
                  <a:ext uri="{FF2B5EF4-FFF2-40B4-BE49-F238E27FC236}">
                    <a16:creationId xmlns:a16="http://schemas.microsoft.com/office/drawing/2014/main" id="{E380BEDC-7608-4FE8-8DD5-A87EA0601D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65" name="Line 248">
                <a:extLst>
                  <a:ext uri="{FF2B5EF4-FFF2-40B4-BE49-F238E27FC236}">
                    <a16:creationId xmlns:a16="http://schemas.microsoft.com/office/drawing/2014/main" id="{B8F2641E-9CFF-41A5-85A4-014AB7D703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51" name="Group 249">
              <a:extLst>
                <a:ext uri="{FF2B5EF4-FFF2-40B4-BE49-F238E27FC236}">
                  <a16:creationId xmlns:a16="http://schemas.microsoft.com/office/drawing/2014/main" id="{A7AEBB10-F776-48B2-985D-1F4C6FEF2F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52" name="Line 250">
                <a:extLst>
                  <a:ext uri="{FF2B5EF4-FFF2-40B4-BE49-F238E27FC236}">
                    <a16:creationId xmlns:a16="http://schemas.microsoft.com/office/drawing/2014/main" id="{95C53933-D643-435D-A644-AA48C9207C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53" name="Line 251">
                <a:extLst>
                  <a:ext uri="{FF2B5EF4-FFF2-40B4-BE49-F238E27FC236}">
                    <a16:creationId xmlns:a16="http://schemas.microsoft.com/office/drawing/2014/main" id="{8CF2EFC3-FAC2-43B5-8F12-4DA1000E46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54" name="Line 252">
                <a:extLst>
                  <a:ext uri="{FF2B5EF4-FFF2-40B4-BE49-F238E27FC236}">
                    <a16:creationId xmlns:a16="http://schemas.microsoft.com/office/drawing/2014/main" id="{CCDDC4A6-0C9F-4FB8-AD5F-6EAAB4D3D4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55" name="Line 253">
                <a:extLst>
                  <a:ext uri="{FF2B5EF4-FFF2-40B4-BE49-F238E27FC236}">
                    <a16:creationId xmlns:a16="http://schemas.microsoft.com/office/drawing/2014/main" id="{AC78685E-F253-4C94-B887-C0B0754F07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56" name="Line 254">
                <a:extLst>
                  <a:ext uri="{FF2B5EF4-FFF2-40B4-BE49-F238E27FC236}">
                    <a16:creationId xmlns:a16="http://schemas.microsoft.com/office/drawing/2014/main" id="{8290AE50-2063-4CDF-BF53-FFF7749392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57" name="Line 255">
                <a:extLst>
                  <a:ext uri="{FF2B5EF4-FFF2-40B4-BE49-F238E27FC236}">
                    <a16:creationId xmlns:a16="http://schemas.microsoft.com/office/drawing/2014/main" id="{778E91BE-5422-45DA-8CBA-A4BD6828CC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58" name="Line 256">
                <a:extLst>
                  <a:ext uri="{FF2B5EF4-FFF2-40B4-BE49-F238E27FC236}">
                    <a16:creationId xmlns:a16="http://schemas.microsoft.com/office/drawing/2014/main" id="{C514BC1E-224D-4035-BB05-551A74CD8D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grpSp>
        <p:nvGrpSpPr>
          <p:cNvPr id="80" name="Group 257">
            <a:extLst>
              <a:ext uri="{FF2B5EF4-FFF2-40B4-BE49-F238E27FC236}">
                <a16:creationId xmlns:a16="http://schemas.microsoft.com/office/drawing/2014/main" id="{E15BB7D3-A5D3-4D58-870B-B0220B945E9C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5029200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81" name="Rectangle 258">
              <a:extLst>
                <a:ext uri="{FF2B5EF4-FFF2-40B4-BE49-F238E27FC236}">
                  <a16:creationId xmlns:a16="http://schemas.microsoft.com/office/drawing/2014/main" id="{AEBCEEC2-3E14-4932-A96A-ED4B1F23F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82" name="Line 259">
              <a:extLst>
                <a:ext uri="{FF2B5EF4-FFF2-40B4-BE49-F238E27FC236}">
                  <a16:creationId xmlns:a16="http://schemas.microsoft.com/office/drawing/2014/main" id="{7FB3D937-1E4D-40DF-8B08-DF12770E51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83" name="Line 260">
              <a:extLst>
                <a:ext uri="{FF2B5EF4-FFF2-40B4-BE49-F238E27FC236}">
                  <a16:creationId xmlns:a16="http://schemas.microsoft.com/office/drawing/2014/main" id="{22CF7025-A3A5-4084-8D7B-76F88168E5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84" name="Group 261">
              <a:extLst>
                <a:ext uri="{FF2B5EF4-FFF2-40B4-BE49-F238E27FC236}">
                  <a16:creationId xmlns:a16="http://schemas.microsoft.com/office/drawing/2014/main" id="{85894F3A-40D8-43B7-9633-FB321064AB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109" name="Line 262">
                <a:extLst>
                  <a:ext uri="{FF2B5EF4-FFF2-40B4-BE49-F238E27FC236}">
                    <a16:creationId xmlns:a16="http://schemas.microsoft.com/office/drawing/2014/main" id="{F64707C0-963E-4D85-8B3B-EBBD8DE034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0" name="Line 263">
                <a:extLst>
                  <a:ext uri="{FF2B5EF4-FFF2-40B4-BE49-F238E27FC236}">
                    <a16:creationId xmlns:a16="http://schemas.microsoft.com/office/drawing/2014/main" id="{F98745D7-FE1D-46C5-AA25-DE6994FB14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1" name="Line 264">
                <a:extLst>
                  <a:ext uri="{FF2B5EF4-FFF2-40B4-BE49-F238E27FC236}">
                    <a16:creationId xmlns:a16="http://schemas.microsoft.com/office/drawing/2014/main" id="{A3096D07-6819-4BB7-AC78-864CCBE069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2" name="Line 265">
                <a:extLst>
                  <a:ext uri="{FF2B5EF4-FFF2-40B4-BE49-F238E27FC236}">
                    <a16:creationId xmlns:a16="http://schemas.microsoft.com/office/drawing/2014/main" id="{D9B11DDD-936F-4EB5-A91D-C0058A929C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3" name="Line 266">
                <a:extLst>
                  <a:ext uri="{FF2B5EF4-FFF2-40B4-BE49-F238E27FC236}">
                    <a16:creationId xmlns:a16="http://schemas.microsoft.com/office/drawing/2014/main" id="{BFA237B0-2CCC-4DFA-9C38-48627DD0FC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4" name="Line 267">
                <a:extLst>
                  <a:ext uri="{FF2B5EF4-FFF2-40B4-BE49-F238E27FC236}">
                    <a16:creationId xmlns:a16="http://schemas.microsoft.com/office/drawing/2014/main" id="{C378469F-F655-4566-86AC-5CD742F0F6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15" name="Line 268">
                <a:extLst>
                  <a:ext uri="{FF2B5EF4-FFF2-40B4-BE49-F238E27FC236}">
                    <a16:creationId xmlns:a16="http://schemas.microsoft.com/office/drawing/2014/main" id="{C021F845-FD7A-4470-8FB1-041852C254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85" name="Group 269">
              <a:extLst>
                <a:ext uri="{FF2B5EF4-FFF2-40B4-BE49-F238E27FC236}">
                  <a16:creationId xmlns:a16="http://schemas.microsoft.com/office/drawing/2014/main" id="{F6350282-2AF9-42A3-8EBE-D830CC1471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102" name="Line 270">
                <a:extLst>
                  <a:ext uri="{FF2B5EF4-FFF2-40B4-BE49-F238E27FC236}">
                    <a16:creationId xmlns:a16="http://schemas.microsoft.com/office/drawing/2014/main" id="{39D00AC9-6125-418F-BB65-7428E813CE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3" name="Line 271">
                <a:extLst>
                  <a:ext uri="{FF2B5EF4-FFF2-40B4-BE49-F238E27FC236}">
                    <a16:creationId xmlns:a16="http://schemas.microsoft.com/office/drawing/2014/main" id="{CF46BC94-D4CC-43E7-80AB-ADAC488652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4" name="Line 272">
                <a:extLst>
                  <a:ext uri="{FF2B5EF4-FFF2-40B4-BE49-F238E27FC236}">
                    <a16:creationId xmlns:a16="http://schemas.microsoft.com/office/drawing/2014/main" id="{3A4D9F9E-98A0-4A22-BC22-C38EE2501F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5" name="Line 273">
                <a:extLst>
                  <a:ext uri="{FF2B5EF4-FFF2-40B4-BE49-F238E27FC236}">
                    <a16:creationId xmlns:a16="http://schemas.microsoft.com/office/drawing/2014/main" id="{9ADA993E-AB6D-4594-B43C-445EAA2715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6" name="Line 274">
                <a:extLst>
                  <a:ext uri="{FF2B5EF4-FFF2-40B4-BE49-F238E27FC236}">
                    <a16:creationId xmlns:a16="http://schemas.microsoft.com/office/drawing/2014/main" id="{30621B8F-9BCD-4446-A64E-A9135B832E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7" name="Line 275">
                <a:extLst>
                  <a:ext uri="{FF2B5EF4-FFF2-40B4-BE49-F238E27FC236}">
                    <a16:creationId xmlns:a16="http://schemas.microsoft.com/office/drawing/2014/main" id="{713A9324-DA9A-4BBD-BC50-B5CE7AE3AA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8" name="Line 276">
                <a:extLst>
                  <a:ext uri="{FF2B5EF4-FFF2-40B4-BE49-F238E27FC236}">
                    <a16:creationId xmlns:a16="http://schemas.microsoft.com/office/drawing/2014/main" id="{303B0AB4-3A97-4F0C-B091-C059EC70D4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86" name="Group 277">
              <a:extLst>
                <a:ext uri="{FF2B5EF4-FFF2-40B4-BE49-F238E27FC236}">
                  <a16:creationId xmlns:a16="http://schemas.microsoft.com/office/drawing/2014/main" id="{1815DACA-CC83-460C-8B77-1C9D4F8FD0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95" name="Line 278">
                <a:extLst>
                  <a:ext uri="{FF2B5EF4-FFF2-40B4-BE49-F238E27FC236}">
                    <a16:creationId xmlns:a16="http://schemas.microsoft.com/office/drawing/2014/main" id="{9631784D-BBDC-4B2A-8623-5492842443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6" name="Line 279">
                <a:extLst>
                  <a:ext uri="{FF2B5EF4-FFF2-40B4-BE49-F238E27FC236}">
                    <a16:creationId xmlns:a16="http://schemas.microsoft.com/office/drawing/2014/main" id="{E4E7F60D-5819-4FF4-97FA-F1FA4A3A38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7" name="Line 280">
                <a:extLst>
                  <a:ext uri="{FF2B5EF4-FFF2-40B4-BE49-F238E27FC236}">
                    <a16:creationId xmlns:a16="http://schemas.microsoft.com/office/drawing/2014/main" id="{E4002AD2-4ED0-444D-B077-7B47660F25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8" name="Line 281">
                <a:extLst>
                  <a:ext uri="{FF2B5EF4-FFF2-40B4-BE49-F238E27FC236}">
                    <a16:creationId xmlns:a16="http://schemas.microsoft.com/office/drawing/2014/main" id="{66629F9C-C6C6-4B2B-91CB-CE008ED198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9" name="Line 282">
                <a:extLst>
                  <a:ext uri="{FF2B5EF4-FFF2-40B4-BE49-F238E27FC236}">
                    <a16:creationId xmlns:a16="http://schemas.microsoft.com/office/drawing/2014/main" id="{8F62B6FE-658B-4538-B688-E78C00CAE3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0" name="Line 283">
                <a:extLst>
                  <a:ext uri="{FF2B5EF4-FFF2-40B4-BE49-F238E27FC236}">
                    <a16:creationId xmlns:a16="http://schemas.microsoft.com/office/drawing/2014/main" id="{4716804F-7A2F-473C-9A4F-3E1D129FE0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01" name="Line 284">
                <a:extLst>
                  <a:ext uri="{FF2B5EF4-FFF2-40B4-BE49-F238E27FC236}">
                    <a16:creationId xmlns:a16="http://schemas.microsoft.com/office/drawing/2014/main" id="{7D805298-A832-40DE-9671-20FCC80FAF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87" name="Group 285">
              <a:extLst>
                <a:ext uri="{FF2B5EF4-FFF2-40B4-BE49-F238E27FC236}">
                  <a16:creationId xmlns:a16="http://schemas.microsoft.com/office/drawing/2014/main" id="{275B3648-7425-4F0D-8C0D-9E249A013A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88" name="Line 286">
                <a:extLst>
                  <a:ext uri="{FF2B5EF4-FFF2-40B4-BE49-F238E27FC236}">
                    <a16:creationId xmlns:a16="http://schemas.microsoft.com/office/drawing/2014/main" id="{19E3771F-F0B0-405C-A2D9-06B731356E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89" name="Line 287">
                <a:extLst>
                  <a:ext uri="{FF2B5EF4-FFF2-40B4-BE49-F238E27FC236}">
                    <a16:creationId xmlns:a16="http://schemas.microsoft.com/office/drawing/2014/main" id="{CF4EA29D-B966-4805-A017-AFA2F9BC09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0" name="Line 288">
                <a:extLst>
                  <a:ext uri="{FF2B5EF4-FFF2-40B4-BE49-F238E27FC236}">
                    <a16:creationId xmlns:a16="http://schemas.microsoft.com/office/drawing/2014/main" id="{A7E5DB5D-D3D2-437F-9609-3A1117305E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1" name="Line 289">
                <a:extLst>
                  <a:ext uri="{FF2B5EF4-FFF2-40B4-BE49-F238E27FC236}">
                    <a16:creationId xmlns:a16="http://schemas.microsoft.com/office/drawing/2014/main" id="{06A21B8F-8633-40CC-A3D9-6637F2DA36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2" name="Line 290">
                <a:extLst>
                  <a:ext uri="{FF2B5EF4-FFF2-40B4-BE49-F238E27FC236}">
                    <a16:creationId xmlns:a16="http://schemas.microsoft.com/office/drawing/2014/main" id="{721F9FBA-1128-4D63-9247-3BC876699D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3" name="Line 291">
                <a:extLst>
                  <a:ext uri="{FF2B5EF4-FFF2-40B4-BE49-F238E27FC236}">
                    <a16:creationId xmlns:a16="http://schemas.microsoft.com/office/drawing/2014/main" id="{583B9082-21D5-44BE-833E-C50CB40EC1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94" name="Line 292">
                <a:extLst>
                  <a:ext uri="{FF2B5EF4-FFF2-40B4-BE49-F238E27FC236}">
                    <a16:creationId xmlns:a16="http://schemas.microsoft.com/office/drawing/2014/main" id="{CCC04454-1DCB-4FB1-BBE6-7A0AE535CB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grpSp>
        <p:nvGrpSpPr>
          <p:cNvPr id="116" name="Group 293">
            <a:extLst>
              <a:ext uri="{FF2B5EF4-FFF2-40B4-BE49-F238E27FC236}">
                <a16:creationId xmlns:a16="http://schemas.microsoft.com/office/drawing/2014/main" id="{7323A6DC-9B0E-4988-84B5-562DBF3CFD73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1828800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117" name="Rectangle 294">
              <a:extLst>
                <a:ext uri="{FF2B5EF4-FFF2-40B4-BE49-F238E27FC236}">
                  <a16:creationId xmlns:a16="http://schemas.microsoft.com/office/drawing/2014/main" id="{FC2C11E6-572D-4C46-9EFC-10131A643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118" name="Line 295">
              <a:extLst>
                <a:ext uri="{FF2B5EF4-FFF2-40B4-BE49-F238E27FC236}">
                  <a16:creationId xmlns:a16="http://schemas.microsoft.com/office/drawing/2014/main" id="{5CCD07D7-FE18-42DC-A87E-7A9526D66F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19" name="Line 296">
              <a:extLst>
                <a:ext uri="{FF2B5EF4-FFF2-40B4-BE49-F238E27FC236}">
                  <a16:creationId xmlns:a16="http://schemas.microsoft.com/office/drawing/2014/main" id="{7F994ED9-DE73-422D-955B-E211BE26AE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120" name="Group 297">
              <a:extLst>
                <a:ext uri="{FF2B5EF4-FFF2-40B4-BE49-F238E27FC236}">
                  <a16:creationId xmlns:a16="http://schemas.microsoft.com/office/drawing/2014/main" id="{D28E73FB-2FF7-4903-822B-5690808757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145" name="Line 298">
                <a:extLst>
                  <a:ext uri="{FF2B5EF4-FFF2-40B4-BE49-F238E27FC236}">
                    <a16:creationId xmlns:a16="http://schemas.microsoft.com/office/drawing/2014/main" id="{35DFB5AE-6E30-4143-941B-D85F68DA90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6" name="Line 299">
                <a:extLst>
                  <a:ext uri="{FF2B5EF4-FFF2-40B4-BE49-F238E27FC236}">
                    <a16:creationId xmlns:a16="http://schemas.microsoft.com/office/drawing/2014/main" id="{3BFCDCC5-42FF-4185-BC14-901F162BDA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7" name="Line 300">
                <a:extLst>
                  <a:ext uri="{FF2B5EF4-FFF2-40B4-BE49-F238E27FC236}">
                    <a16:creationId xmlns:a16="http://schemas.microsoft.com/office/drawing/2014/main" id="{968A21E6-D1D1-4779-9B46-21830B3A3E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8" name="Line 301">
                <a:extLst>
                  <a:ext uri="{FF2B5EF4-FFF2-40B4-BE49-F238E27FC236}">
                    <a16:creationId xmlns:a16="http://schemas.microsoft.com/office/drawing/2014/main" id="{CC3E8068-AF42-476B-BA0C-C8C10C5949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9" name="Line 302">
                <a:extLst>
                  <a:ext uri="{FF2B5EF4-FFF2-40B4-BE49-F238E27FC236}">
                    <a16:creationId xmlns:a16="http://schemas.microsoft.com/office/drawing/2014/main" id="{F9D60776-DE2F-4649-BB3C-DCE912C37A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50" name="Line 303">
                <a:extLst>
                  <a:ext uri="{FF2B5EF4-FFF2-40B4-BE49-F238E27FC236}">
                    <a16:creationId xmlns:a16="http://schemas.microsoft.com/office/drawing/2014/main" id="{E4C636EF-2009-403D-B555-6A62D7606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51" name="Line 304">
                <a:extLst>
                  <a:ext uri="{FF2B5EF4-FFF2-40B4-BE49-F238E27FC236}">
                    <a16:creationId xmlns:a16="http://schemas.microsoft.com/office/drawing/2014/main" id="{C86F7EDE-9285-4514-8129-CD5759A901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21" name="Group 305">
              <a:extLst>
                <a:ext uri="{FF2B5EF4-FFF2-40B4-BE49-F238E27FC236}">
                  <a16:creationId xmlns:a16="http://schemas.microsoft.com/office/drawing/2014/main" id="{9C80600C-7F29-4659-BBA0-838D22ED75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138" name="Line 306">
                <a:extLst>
                  <a:ext uri="{FF2B5EF4-FFF2-40B4-BE49-F238E27FC236}">
                    <a16:creationId xmlns:a16="http://schemas.microsoft.com/office/drawing/2014/main" id="{E105F32A-20EC-401E-9D95-E4628D95D7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9" name="Line 307">
                <a:extLst>
                  <a:ext uri="{FF2B5EF4-FFF2-40B4-BE49-F238E27FC236}">
                    <a16:creationId xmlns:a16="http://schemas.microsoft.com/office/drawing/2014/main" id="{712823EF-0A3D-43CC-BCC8-3AFDFA1A55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0" name="Line 308">
                <a:extLst>
                  <a:ext uri="{FF2B5EF4-FFF2-40B4-BE49-F238E27FC236}">
                    <a16:creationId xmlns:a16="http://schemas.microsoft.com/office/drawing/2014/main" id="{612D202B-AA8B-4CE8-9F39-F1414D823F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1" name="Line 309">
                <a:extLst>
                  <a:ext uri="{FF2B5EF4-FFF2-40B4-BE49-F238E27FC236}">
                    <a16:creationId xmlns:a16="http://schemas.microsoft.com/office/drawing/2014/main" id="{5FCACC89-E400-45D4-A917-6B12673B7A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2" name="Line 310">
                <a:extLst>
                  <a:ext uri="{FF2B5EF4-FFF2-40B4-BE49-F238E27FC236}">
                    <a16:creationId xmlns:a16="http://schemas.microsoft.com/office/drawing/2014/main" id="{0062FB7E-89EB-497E-8580-69592F7005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3" name="Line 311">
                <a:extLst>
                  <a:ext uri="{FF2B5EF4-FFF2-40B4-BE49-F238E27FC236}">
                    <a16:creationId xmlns:a16="http://schemas.microsoft.com/office/drawing/2014/main" id="{7828BC54-1112-4707-921C-D43647BB83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44" name="Line 312">
                <a:extLst>
                  <a:ext uri="{FF2B5EF4-FFF2-40B4-BE49-F238E27FC236}">
                    <a16:creationId xmlns:a16="http://schemas.microsoft.com/office/drawing/2014/main" id="{071C9405-AECF-4666-ABAC-99808CA443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22" name="Group 313">
              <a:extLst>
                <a:ext uri="{FF2B5EF4-FFF2-40B4-BE49-F238E27FC236}">
                  <a16:creationId xmlns:a16="http://schemas.microsoft.com/office/drawing/2014/main" id="{2A6A67D5-08D9-4CFA-B500-8CB9C31611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131" name="Line 314">
                <a:extLst>
                  <a:ext uri="{FF2B5EF4-FFF2-40B4-BE49-F238E27FC236}">
                    <a16:creationId xmlns:a16="http://schemas.microsoft.com/office/drawing/2014/main" id="{40DE5EC2-8D90-40F8-85B8-34EDCB108E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2" name="Line 315">
                <a:extLst>
                  <a:ext uri="{FF2B5EF4-FFF2-40B4-BE49-F238E27FC236}">
                    <a16:creationId xmlns:a16="http://schemas.microsoft.com/office/drawing/2014/main" id="{5E130C58-9B31-4F8E-93CE-D2B043B20E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3" name="Line 316">
                <a:extLst>
                  <a:ext uri="{FF2B5EF4-FFF2-40B4-BE49-F238E27FC236}">
                    <a16:creationId xmlns:a16="http://schemas.microsoft.com/office/drawing/2014/main" id="{63E9585A-91FC-479D-9342-6198F9461E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4" name="Line 317">
                <a:extLst>
                  <a:ext uri="{FF2B5EF4-FFF2-40B4-BE49-F238E27FC236}">
                    <a16:creationId xmlns:a16="http://schemas.microsoft.com/office/drawing/2014/main" id="{49555D21-9D7F-4471-AAA1-460EB2E130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5" name="Line 318">
                <a:extLst>
                  <a:ext uri="{FF2B5EF4-FFF2-40B4-BE49-F238E27FC236}">
                    <a16:creationId xmlns:a16="http://schemas.microsoft.com/office/drawing/2014/main" id="{BA376537-5EAC-4DE7-899E-6CF4516178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6" name="Line 319">
                <a:extLst>
                  <a:ext uri="{FF2B5EF4-FFF2-40B4-BE49-F238E27FC236}">
                    <a16:creationId xmlns:a16="http://schemas.microsoft.com/office/drawing/2014/main" id="{13E17064-EB22-4FD4-8D54-162ACD395C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7" name="Line 320">
                <a:extLst>
                  <a:ext uri="{FF2B5EF4-FFF2-40B4-BE49-F238E27FC236}">
                    <a16:creationId xmlns:a16="http://schemas.microsoft.com/office/drawing/2014/main" id="{6745DA03-1E23-4276-AA3E-BAA0CB33A5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123" name="Group 321">
              <a:extLst>
                <a:ext uri="{FF2B5EF4-FFF2-40B4-BE49-F238E27FC236}">
                  <a16:creationId xmlns:a16="http://schemas.microsoft.com/office/drawing/2014/main" id="{740ED09A-BC64-43B2-A008-449903BF4B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124" name="Line 322">
                <a:extLst>
                  <a:ext uri="{FF2B5EF4-FFF2-40B4-BE49-F238E27FC236}">
                    <a16:creationId xmlns:a16="http://schemas.microsoft.com/office/drawing/2014/main" id="{FEC9D31D-857D-4ACD-AF62-9D5E43C9DD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25" name="Line 323">
                <a:extLst>
                  <a:ext uri="{FF2B5EF4-FFF2-40B4-BE49-F238E27FC236}">
                    <a16:creationId xmlns:a16="http://schemas.microsoft.com/office/drawing/2014/main" id="{15B2A1D4-0464-47B3-ADC9-6BF60712C5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26" name="Line 324">
                <a:extLst>
                  <a:ext uri="{FF2B5EF4-FFF2-40B4-BE49-F238E27FC236}">
                    <a16:creationId xmlns:a16="http://schemas.microsoft.com/office/drawing/2014/main" id="{1323BBA6-92FB-4192-8307-8CD4C0D193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27" name="Line 325">
                <a:extLst>
                  <a:ext uri="{FF2B5EF4-FFF2-40B4-BE49-F238E27FC236}">
                    <a16:creationId xmlns:a16="http://schemas.microsoft.com/office/drawing/2014/main" id="{9E1F90BA-58FC-457D-8799-F6C1613060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28" name="Line 326">
                <a:extLst>
                  <a:ext uri="{FF2B5EF4-FFF2-40B4-BE49-F238E27FC236}">
                    <a16:creationId xmlns:a16="http://schemas.microsoft.com/office/drawing/2014/main" id="{F254E3C9-F98F-4ED1-BACF-3D19DFDD2D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29" name="Line 327">
                <a:extLst>
                  <a:ext uri="{FF2B5EF4-FFF2-40B4-BE49-F238E27FC236}">
                    <a16:creationId xmlns:a16="http://schemas.microsoft.com/office/drawing/2014/main" id="{F6E68980-319B-4113-A6AA-84635DEA10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130" name="Line 328">
                <a:extLst>
                  <a:ext uri="{FF2B5EF4-FFF2-40B4-BE49-F238E27FC236}">
                    <a16:creationId xmlns:a16="http://schemas.microsoft.com/office/drawing/2014/main" id="{850F823B-C1A7-488E-8748-2A5E8DC65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sp>
        <p:nvSpPr>
          <p:cNvPr id="152" name="Line 523">
            <a:extLst>
              <a:ext uri="{FF2B5EF4-FFF2-40B4-BE49-F238E27FC236}">
                <a16:creationId xmlns:a16="http://schemas.microsoft.com/office/drawing/2014/main" id="{BAC7C8C1-6956-431F-AD18-C2041CB6F4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1981200"/>
            <a:ext cx="3444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3" name="Line 524">
            <a:extLst>
              <a:ext uri="{FF2B5EF4-FFF2-40B4-BE49-F238E27FC236}">
                <a16:creationId xmlns:a16="http://schemas.microsoft.com/office/drawing/2014/main" id="{39EB8D6B-6E93-47A7-863B-CE3533053D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3048000"/>
            <a:ext cx="3444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4" name="Line 525">
            <a:extLst>
              <a:ext uri="{FF2B5EF4-FFF2-40B4-BE49-F238E27FC236}">
                <a16:creationId xmlns:a16="http://schemas.microsoft.com/office/drawing/2014/main" id="{748EA452-82F1-4B0F-B731-78983E4CF9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114800"/>
            <a:ext cx="3444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5" name="Line 526">
            <a:extLst>
              <a:ext uri="{FF2B5EF4-FFF2-40B4-BE49-F238E27FC236}">
                <a16:creationId xmlns:a16="http://schemas.microsoft.com/office/drawing/2014/main" id="{ECB78E33-B96D-437B-91A6-151F08B776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5181600"/>
            <a:ext cx="3444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6" name="Line 528">
            <a:extLst>
              <a:ext uri="{FF2B5EF4-FFF2-40B4-BE49-F238E27FC236}">
                <a16:creationId xmlns:a16="http://schemas.microsoft.com/office/drawing/2014/main" id="{F2AEFBE1-859D-4C02-9D3D-DDE46B2588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" y="31242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7" name="Text Box 529">
            <a:extLst>
              <a:ext uri="{FF2B5EF4-FFF2-40B4-BE49-F238E27FC236}">
                <a16:creationId xmlns:a16="http://schemas.microsoft.com/office/drawing/2014/main" id="{E070CDF9-6BC8-48A6-B81B-45FC54202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819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64 bits</a:t>
            </a:r>
          </a:p>
        </p:txBody>
      </p:sp>
      <p:sp>
        <p:nvSpPr>
          <p:cNvPr id="158" name="AutoShape 531">
            <a:extLst>
              <a:ext uri="{FF2B5EF4-FFF2-40B4-BE49-F238E27FC236}">
                <a16:creationId xmlns:a16="http://schemas.microsoft.com/office/drawing/2014/main" id="{EBA5140D-909E-4910-B6DC-1F5970860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124200"/>
            <a:ext cx="914400" cy="304800"/>
          </a:xfrm>
          <a:prstGeom prst="leftArrow">
            <a:avLst>
              <a:gd name="adj1" fmla="val 50000"/>
              <a:gd name="adj2" fmla="val 7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9" name="Line 532">
            <a:extLst>
              <a:ext uri="{FF2B5EF4-FFF2-40B4-BE49-F238E27FC236}">
                <a16:creationId xmlns:a16="http://schemas.microsoft.com/office/drawing/2014/main" id="{02F0C9BE-DBC9-423A-BB92-D52B827E91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9200" y="1981200"/>
            <a:ext cx="7620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0" name="Text Box 533">
            <a:extLst>
              <a:ext uri="{FF2B5EF4-FFF2-40B4-BE49-F238E27FC236}">
                <a16:creationId xmlns:a16="http://schemas.microsoft.com/office/drawing/2014/main" id="{0FDE1554-E99A-47A7-9109-00EBD7920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5146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/>
              <a:t>16</a:t>
            </a:r>
          </a:p>
        </p:txBody>
      </p:sp>
      <p:sp>
        <p:nvSpPr>
          <p:cNvPr id="161" name="Line 534">
            <a:extLst>
              <a:ext uri="{FF2B5EF4-FFF2-40B4-BE49-F238E27FC236}">
                <a16:creationId xmlns:a16="http://schemas.microsoft.com/office/drawing/2014/main" id="{9D5E24C8-07A6-4CB7-BED5-DE473DB070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9200" y="3048000"/>
            <a:ext cx="762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2" name="Line 535">
            <a:extLst>
              <a:ext uri="{FF2B5EF4-FFF2-40B4-BE49-F238E27FC236}">
                <a16:creationId xmlns:a16="http://schemas.microsoft.com/office/drawing/2014/main" id="{C3FA7613-0737-4B6E-B889-8E481C85DC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19200" y="3276600"/>
            <a:ext cx="762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3" name="Line 536">
            <a:extLst>
              <a:ext uri="{FF2B5EF4-FFF2-40B4-BE49-F238E27FC236}">
                <a16:creationId xmlns:a16="http://schemas.microsoft.com/office/drawing/2014/main" id="{D56B1DA5-1757-4ECA-8107-2C6069D5A1C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219200" y="3276600"/>
            <a:ext cx="76200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4" name="Text Box 627">
            <a:extLst>
              <a:ext uri="{FF2B5EF4-FFF2-40B4-BE49-F238E27FC236}">
                <a16:creationId xmlns:a16="http://schemas.microsoft.com/office/drawing/2014/main" id="{5FE171C6-830E-4932-A1D5-577C844B4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8956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/>
              <a:t>16</a:t>
            </a:r>
          </a:p>
        </p:txBody>
      </p:sp>
      <p:sp>
        <p:nvSpPr>
          <p:cNvPr id="165" name="Text Box 628">
            <a:extLst>
              <a:ext uri="{FF2B5EF4-FFF2-40B4-BE49-F238E27FC236}">
                <a16:creationId xmlns:a16="http://schemas.microsoft.com/office/drawing/2014/main" id="{CC88572C-C667-458A-96BF-7EB8D3BA1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2766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/>
              <a:t>16</a:t>
            </a:r>
          </a:p>
        </p:txBody>
      </p:sp>
      <p:sp>
        <p:nvSpPr>
          <p:cNvPr id="166" name="Text Box 629">
            <a:extLst>
              <a:ext uri="{FF2B5EF4-FFF2-40B4-BE49-F238E27FC236}">
                <a16:creationId xmlns:a16="http://schemas.microsoft.com/office/drawing/2014/main" id="{33B2ECE1-89AD-4F3A-B916-09FCFCD41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10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/>
              <a:t>16</a:t>
            </a:r>
          </a:p>
        </p:txBody>
      </p:sp>
      <p:sp>
        <p:nvSpPr>
          <p:cNvPr id="167" name="Oval 676">
            <a:extLst>
              <a:ext uri="{FF2B5EF4-FFF2-40B4-BE49-F238E27FC236}">
                <a16:creationId xmlns:a16="http://schemas.microsoft.com/office/drawing/2014/main" id="{B34D68A3-5E13-46EE-8D46-E91E928A1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752600"/>
            <a:ext cx="457200" cy="4572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8" name="Oval 677">
            <a:extLst>
              <a:ext uri="{FF2B5EF4-FFF2-40B4-BE49-F238E27FC236}">
                <a16:creationId xmlns:a16="http://schemas.microsoft.com/office/drawing/2014/main" id="{76BA7923-3A63-4258-986F-DBDD5B946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819400"/>
            <a:ext cx="457200" cy="4572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9" name="Oval 678">
            <a:extLst>
              <a:ext uri="{FF2B5EF4-FFF2-40B4-BE49-F238E27FC236}">
                <a16:creationId xmlns:a16="http://schemas.microsoft.com/office/drawing/2014/main" id="{1768AAFC-22EE-4E98-B43A-A6694716A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886200"/>
            <a:ext cx="457200" cy="4572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0" name="Oval 679">
            <a:extLst>
              <a:ext uri="{FF2B5EF4-FFF2-40B4-BE49-F238E27FC236}">
                <a16:creationId xmlns:a16="http://schemas.microsoft.com/office/drawing/2014/main" id="{056FAE1A-D3BB-4ABB-AE50-8A03041CA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4976813"/>
            <a:ext cx="457200" cy="4572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1" name="Oval 973">
            <a:extLst>
              <a:ext uri="{FF2B5EF4-FFF2-40B4-BE49-F238E27FC236}">
                <a16:creationId xmlns:a16="http://schemas.microsoft.com/office/drawing/2014/main" id="{A92F8682-CA65-402F-B9A4-9848F4EDA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325" y="193675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2" name="Oval 974">
            <a:extLst>
              <a:ext uri="{FF2B5EF4-FFF2-40B4-BE49-F238E27FC236}">
                <a16:creationId xmlns:a16="http://schemas.microsoft.com/office/drawing/2014/main" id="{0AED5DB3-8AB2-4992-B0C0-AF7EDFD40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325" y="30099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3" name="Oval 975">
            <a:extLst>
              <a:ext uri="{FF2B5EF4-FFF2-40B4-BE49-F238E27FC236}">
                <a16:creationId xmlns:a16="http://schemas.microsoft.com/office/drawing/2014/main" id="{3D95C439-3B51-4D2D-A4FA-8781AA145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325" y="40767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" name="Oval 976">
            <a:extLst>
              <a:ext uri="{FF2B5EF4-FFF2-40B4-BE49-F238E27FC236}">
                <a16:creationId xmlns:a16="http://schemas.microsoft.com/office/drawing/2014/main" id="{5487DC11-6907-46C1-A10E-6566130C7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325" y="514667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DEC958C-2F1E-40D7-A977-353163D100EA}"/>
              </a:ext>
            </a:extLst>
          </p:cNvPr>
          <p:cNvSpPr txBox="1"/>
          <p:nvPr/>
        </p:nvSpPr>
        <p:spPr>
          <a:xfrm>
            <a:off x="3505200" y="2782514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Bank</a:t>
            </a:r>
            <a:endParaRPr lang="en-IN" dirty="0">
              <a:latin typeface="Cambria" panose="02040503050406030204" pitchFamily="18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F27B1B6F-3656-418A-B865-1D1251C2730A}"/>
              </a:ext>
            </a:extLst>
          </p:cNvPr>
          <p:cNvSpPr txBox="1"/>
          <p:nvPr/>
        </p:nvSpPr>
        <p:spPr>
          <a:xfrm>
            <a:off x="3505200" y="3809111"/>
            <a:ext cx="623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Row</a:t>
            </a:r>
            <a:endParaRPr lang="en-IN" dirty="0">
              <a:latin typeface="Cambria" panose="02040503050406030204" pitchFamily="18" charset="0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6DB7B4EA-8390-408C-8400-6392458B7872}"/>
              </a:ext>
            </a:extLst>
          </p:cNvPr>
          <p:cNvSpPr txBox="1"/>
          <p:nvPr/>
        </p:nvSpPr>
        <p:spPr>
          <a:xfrm>
            <a:off x="3505200" y="4878014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Column</a:t>
            </a:r>
            <a:endParaRPr lang="en-IN" dirty="0">
              <a:latin typeface="Cambria" panose="02040503050406030204" pitchFamily="18" charset="0"/>
            </a:endParaRPr>
          </a:p>
        </p:txBody>
      </p:sp>
      <p:sp>
        <p:nvSpPr>
          <p:cNvPr id="178" name="Rectangle 402">
            <a:extLst>
              <a:ext uri="{FF2B5EF4-FFF2-40B4-BE49-F238E27FC236}">
                <a16:creationId xmlns:a16="http://schemas.microsoft.com/office/drawing/2014/main" id="{8A373EC4-5BC9-4990-94B6-CA9DC0177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9963" y="2743200"/>
            <a:ext cx="325437" cy="397902"/>
          </a:xfrm>
          <a:prstGeom prst="rect">
            <a:avLst/>
          </a:prstGeom>
          <a:solidFill>
            <a:srgbClr val="C000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mbria" panose="02040503050406030204" pitchFamily="18" charset="0"/>
            </a:endParaRPr>
          </a:p>
        </p:txBody>
      </p:sp>
      <p:grpSp>
        <p:nvGrpSpPr>
          <p:cNvPr id="179" name="Group 429">
            <a:extLst>
              <a:ext uri="{FF2B5EF4-FFF2-40B4-BE49-F238E27FC236}">
                <a16:creationId xmlns:a16="http://schemas.microsoft.com/office/drawing/2014/main" id="{D8AD2D24-FA81-48ED-A538-350F3C94DF77}"/>
              </a:ext>
            </a:extLst>
          </p:cNvPr>
          <p:cNvGrpSpPr>
            <a:grpSpLocks/>
          </p:cNvGrpSpPr>
          <p:nvPr/>
        </p:nvGrpSpPr>
        <p:grpSpPr bwMode="auto">
          <a:xfrm>
            <a:off x="4779964" y="2760102"/>
            <a:ext cx="309563" cy="381000"/>
            <a:chOff x="1311" y="1056"/>
            <a:chExt cx="195" cy="240"/>
          </a:xfrm>
          <a:solidFill>
            <a:srgbClr val="C00000"/>
          </a:solidFill>
        </p:grpSpPr>
        <p:sp>
          <p:nvSpPr>
            <p:cNvPr id="180" name="Line 430">
              <a:extLst>
                <a:ext uri="{FF2B5EF4-FFF2-40B4-BE49-F238E27FC236}">
                  <a16:creationId xmlns:a16="http://schemas.microsoft.com/office/drawing/2014/main" id="{3BC3FB8C-F47C-419B-9A87-1596DD2602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1" y="1104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81" name="Line 431">
              <a:extLst>
                <a:ext uri="{FF2B5EF4-FFF2-40B4-BE49-F238E27FC236}">
                  <a16:creationId xmlns:a16="http://schemas.microsoft.com/office/drawing/2014/main" id="{64B9D208-C0E3-4F61-A62B-3E09269811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4" y="1056"/>
              <a:ext cx="0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82" name="Line 432">
              <a:extLst>
                <a:ext uri="{FF2B5EF4-FFF2-40B4-BE49-F238E27FC236}">
                  <a16:creationId xmlns:a16="http://schemas.microsoft.com/office/drawing/2014/main" id="{59D4E003-3533-44A1-8E9D-117502F54A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7" y="1056"/>
              <a:ext cx="0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83" name="Line 433">
              <a:extLst>
                <a:ext uri="{FF2B5EF4-FFF2-40B4-BE49-F238E27FC236}">
                  <a16:creationId xmlns:a16="http://schemas.microsoft.com/office/drawing/2014/main" id="{3AEDE196-C25A-41F2-A980-EE8F3E2F6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0" y="1056"/>
              <a:ext cx="0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84" name="Line 434">
              <a:extLst>
                <a:ext uri="{FF2B5EF4-FFF2-40B4-BE49-F238E27FC236}">
                  <a16:creationId xmlns:a16="http://schemas.microsoft.com/office/drawing/2014/main" id="{0BB25456-9D79-4277-AA57-1356D340F2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1" y="1147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85" name="Line 435">
              <a:extLst>
                <a:ext uri="{FF2B5EF4-FFF2-40B4-BE49-F238E27FC236}">
                  <a16:creationId xmlns:a16="http://schemas.microsoft.com/office/drawing/2014/main" id="{343D0A93-C4EE-47E2-8668-4F13C1527C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1" y="1195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86" name="Line 436">
              <a:extLst>
                <a:ext uri="{FF2B5EF4-FFF2-40B4-BE49-F238E27FC236}">
                  <a16:creationId xmlns:a16="http://schemas.microsoft.com/office/drawing/2014/main" id="{B8AD8B89-E5A9-470A-B74E-918FF41045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4" y="1243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</p:grpSp>
      <p:sp>
        <p:nvSpPr>
          <p:cNvPr id="187" name="Rectangle 402">
            <a:extLst>
              <a:ext uri="{FF2B5EF4-FFF2-40B4-BE49-F238E27FC236}">
                <a16:creationId xmlns:a16="http://schemas.microsoft.com/office/drawing/2014/main" id="{4B920990-0532-48AA-9EB8-185C9F5D5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9963" y="3764154"/>
            <a:ext cx="325437" cy="397902"/>
          </a:xfrm>
          <a:prstGeom prst="rect">
            <a:avLst/>
          </a:prstGeom>
          <a:solidFill>
            <a:srgbClr val="C000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mbria" panose="02040503050406030204" pitchFamily="18" charset="0"/>
            </a:endParaRPr>
          </a:p>
        </p:txBody>
      </p:sp>
      <p:grpSp>
        <p:nvGrpSpPr>
          <p:cNvPr id="188" name="Group 429">
            <a:extLst>
              <a:ext uri="{FF2B5EF4-FFF2-40B4-BE49-F238E27FC236}">
                <a16:creationId xmlns:a16="http://schemas.microsoft.com/office/drawing/2014/main" id="{2BD77027-6F78-498E-85A7-3B5D80EEC737}"/>
              </a:ext>
            </a:extLst>
          </p:cNvPr>
          <p:cNvGrpSpPr>
            <a:grpSpLocks/>
          </p:cNvGrpSpPr>
          <p:nvPr/>
        </p:nvGrpSpPr>
        <p:grpSpPr bwMode="auto">
          <a:xfrm>
            <a:off x="4779964" y="3781056"/>
            <a:ext cx="309563" cy="381000"/>
            <a:chOff x="1311" y="1056"/>
            <a:chExt cx="195" cy="240"/>
          </a:xfrm>
          <a:solidFill>
            <a:srgbClr val="C00000"/>
          </a:solidFill>
        </p:grpSpPr>
        <p:sp>
          <p:nvSpPr>
            <p:cNvPr id="189" name="Line 430">
              <a:extLst>
                <a:ext uri="{FF2B5EF4-FFF2-40B4-BE49-F238E27FC236}">
                  <a16:creationId xmlns:a16="http://schemas.microsoft.com/office/drawing/2014/main" id="{5EFAD32B-ED8D-45B6-9122-CCD811FE88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1" y="1104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90" name="Line 431">
              <a:extLst>
                <a:ext uri="{FF2B5EF4-FFF2-40B4-BE49-F238E27FC236}">
                  <a16:creationId xmlns:a16="http://schemas.microsoft.com/office/drawing/2014/main" id="{27F121DF-D6AE-404E-A40A-74A8F803C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4" y="1056"/>
              <a:ext cx="0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91" name="Line 432">
              <a:extLst>
                <a:ext uri="{FF2B5EF4-FFF2-40B4-BE49-F238E27FC236}">
                  <a16:creationId xmlns:a16="http://schemas.microsoft.com/office/drawing/2014/main" id="{B2F0DCC3-DEE3-4F16-9429-1B1C56E477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7" y="1056"/>
              <a:ext cx="0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92" name="Line 433">
              <a:extLst>
                <a:ext uri="{FF2B5EF4-FFF2-40B4-BE49-F238E27FC236}">
                  <a16:creationId xmlns:a16="http://schemas.microsoft.com/office/drawing/2014/main" id="{85103C1C-5687-4733-AAF2-7AFAFEEA79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0" y="1056"/>
              <a:ext cx="0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93" name="Line 434">
              <a:extLst>
                <a:ext uri="{FF2B5EF4-FFF2-40B4-BE49-F238E27FC236}">
                  <a16:creationId xmlns:a16="http://schemas.microsoft.com/office/drawing/2014/main" id="{0A22F118-58A8-4FDA-B24F-EDDEE0BD72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1" y="1147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94" name="Line 435">
              <a:extLst>
                <a:ext uri="{FF2B5EF4-FFF2-40B4-BE49-F238E27FC236}">
                  <a16:creationId xmlns:a16="http://schemas.microsoft.com/office/drawing/2014/main" id="{1FA531CD-D074-4FA8-AC9D-5F8E468D88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1" y="1195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195" name="Line 436">
              <a:extLst>
                <a:ext uri="{FF2B5EF4-FFF2-40B4-BE49-F238E27FC236}">
                  <a16:creationId xmlns:a16="http://schemas.microsoft.com/office/drawing/2014/main" id="{606E197B-B3CC-40CA-8772-86B7B19699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4" y="1243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</p:grpSp>
      <p:sp>
        <p:nvSpPr>
          <p:cNvPr id="196" name="Line 523">
            <a:extLst>
              <a:ext uri="{FF2B5EF4-FFF2-40B4-BE49-F238E27FC236}">
                <a16:creationId xmlns:a16="http://schemas.microsoft.com/office/drawing/2014/main" id="{72E1B64F-59D3-48D6-A5C7-9C7B38EC15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5675" y="3940878"/>
            <a:ext cx="3444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7" name="Rectangle 402">
            <a:extLst>
              <a:ext uri="{FF2B5EF4-FFF2-40B4-BE49-F238E27FC236}">
                <a16:creationId xmlns:a16="http://schemas.microsoft.com/office/drawing/2014/main" id="{A3F5BF03-B4F4-4EC2-B5FB-37146E5B1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531" y="4832799"/>
            <a:ext cx="325437" cy="397902"/>
          </a:xfrm>
          <a:prstGeom prst="rect">
            <a:avLst/>
          </a:prstGeom>
          <a:solidFill>
            <a:srgbClr val="C0000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mbria" panose="02040503050406030204" pitchFamily="18" charset="0"/>
            </a:endParaRPr>
          </a:p>
        </p:txBody>
      </p:sp>
      <p:grpSp>
        <p:nvGrpSpPr>
          <p:cNvPr id="198" name="Group 429">
            <a:extLst>
              <a:ext uri="{FF2B5EF4-FFF2-40B4-BE49-F238E27FC236}">
                <a16:creationId xmlns:a16="http://schemas.microsoft.com/office/drawing/2014/main" id="{E5CDA35E-5F3E-47D2-99E8-3A1CEFAF63FE}"/>
              </a:ext>
            </a:extLst>
          </p:cNvPr>
          <p:cNvGrpSpPr>
            <a:grpSpLocks/>
          </p:cNvGrpSpPr>
          <p:nvPr/>
        </p:nvGrpSpPr>
        <p:grpSpPr bwMode="auto">
          <a:xfrm>
            <a:off x="4770532" y="4849701"/>
            <a:ext cx="309563" cy="381000"/>
            <a:chOff x="1311" y="1056"/>
            <a:chExt cx="195" cy="240"/>
          </a:xfrm>
          <a:solidFill>
            <a:srgbClr val="C00000"/>
          </a:solidFill>
        </p:grpSpPr>
        <p:sp>
          <p:nvSpPr>
            <p:cNvPr id="199" name="Line 430">
              <a:extLst>
                <a:ext uri="{FF2B5EF4-FFF2-40B4-BE49-F238E27FC236}">
                  <a16:creationId xmlns:a16="http://schemas.microsoft.com/office/drawing/2014/main" id="{84E35A08-DEAF-4596-8690-F0CA89347F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1" y="1104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200" name="Line 431">
              <a:extLst>
                <a:ext uri="{FF2B5EF4-FFF2-40B4-BE49-F238E27FC236}">
                  <a16:creationId xmlns:a16="http://schemas.microsoft.com/office/drawing/2014/main" id="{11A62AB5-578B-4300-8538-45DE93347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4" y="1056"/>
              <a:ext cx="0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201" name="Line 432">
              <a:extLst>
                <a:ext uri="{FF2B5EF4-FFF2-40B4-BE49-F238E27FC236}">
                  <a16:creationId xmlns:a16="http://schemas.microsoft.com/office/drawing/2014/main" id="{8509FF38-3F17-405A-9CCA-7562DD1B9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7" y="1056"/>
              <a:ext cx="0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202" name="Line 433">
              <a:extLst>
                <a:ext uri="{FF2B5EF4-FFF2-40B4-BE49-F238E27FC236}">
                  <a16:creationId xmlns:a16="http://schemas.microsoft.com/office/drawing/2014/main" id="{343AA97D-94E1-4E25-9734-6BAA8D2978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0" y="1056"/>
              <a:ext cx="0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203" name="Line 434">
              <a:extLst>
                <a:ext uri="{FF2B5EF4-FFF2-40B4-BE49-F238E27FC236}">
                  <a16:creationId xmlns:a16="http://schemas.microsoft.com/office/drawing/2014/main" id="{F159FF6E-74C6-4DFA-9D86-8322A0DC0C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1" y="1147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204" name="Line 435">
              <a:extLst>
                <a:ext uri="{FF2B5EF4-FFF2-40B4-BE49-F238E27FC236}">
                  <a16:creationId xmlns:a16="http://schemas.microsoft.com/office/drawing/2014/main" id="{D509DB04-8291-4026-A295-8D60BDC224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1" y="1195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205" name="Line 436">
              <a:extLst>
                <a:ext uri="{FF2B5EF4-FFF2-40B4-BE49-F238E27FC236}">
                  <a16:creationId xmlns:a16="http://schemas.microsoft.com/office/drawing/2014/main" id="{73D90B6A-F2C3-4C43-8A15-1AA6447C58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4" y="1243"/>
              <a:ext cx="19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</p:grpSp>
      <p:sp>
        <p:nvSpPr>
          <p:cNvPr id="206" name="Line 523">
            <a:extLst>
              <a:ext uri="{FF2B5EF4-FFF2-40B4-BE49-F238E27FC236}">
                <a16:creationId xmlns:a16="http://schemas.microsoft.com/office/drawing/2014/main" id="{4D9581C0-3AF1-4382-A965-D87FD700CC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6243" y="5009523"/>
            <a:ext cx="3444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7" name="Oval 973">
            <a:extLst>
              <a:ext uri="{FF2B5EF4-FFF2-40B4-BE49-F238E27FC236}">
                <a16:creationId xmlns:a16="http://schemas.microsoft.com/office/drawing/2014/main" id="{75269F77-5195-42B4-87F9-8715DA41B92A}"/>
              </a:ext>
            </a:extLst>
          </p:cNvPr>
          <p:cNvSpPr>
            <a:spLocks noChangeArrowheads="1"/>
          </p:cNvSpPr>
          <p:nvPr/>
        </p:nvSpPr>
        <p:spPr bwMode="auto">
          <a:xfrm rot="21404778">
            <a:off x="4878902" y="4950482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208" name="Group 437">
            <a:extLst>
              <a:ext uri="{FF2B5EF4-FFF2-40B4-BE49-F238E27FC236}">
                <a16:creationId xmlns:a16="http://schemas.microsoft.com/office/drawing/2014/main" id="{C36E13F4-E546-4AF9-BCDE-6D5C35419309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1371600"/>
            <a:ext cx="685800" cy="762000"/>
            <a:chOff x="3345" y="1445"/>
            <a:chExt cx="432" cy="480"/>
          </a:xfrm>
          <a:solidFill>
            <a:srgbClr val="C00000"/>
          </a:solidFill>
        </p:grpSpPr>
        <p:sp>
          <p:nvSpPr>
            <p:cNvPr id="209" name="Rectangle 438">
              <a:extLst>
                <a:ext uri="{FF2B5EF4-FFF2-40B4-BE49-F238E27FC236}">
                  <a16:creationId xmlns:a16="http://schemas.microsoft.com/office/drawing/2014/main" id="{7617BA68-9E6D-4ADE-9D84-F8735F425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445"/>
              <a:ext cx="432" cy="480"/>
            </a:xfrm>
            <a:prstGeom prst="rect">
              <a:avLst/>
            </a:prstGeom>
            <a:grp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>
                <a:latin typeface="Cambria" panose="02040503050406030204" pitchFamily="18" charset="0"/>
              </a:endParaRPr>
            </a:p>
          </p:txBody>
        </p:sp>
        <p:sp>
          <p:nvSpPr>
            <p:cNvPr id="210" name="Line 439">
              <a:extLst>
                <a:ext uri="{FF2B5EF4-FFF2-40B4-BE49-F238E27FC236}">
                  <a16:creationId xmlns:a16="http://schemas.microsoft.com/office/drawing/2014/main" id="{E300426E-5EA5-4EE2-9A68-64FEC0A744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1675"/>
              <a:ext cx="432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sp>
          <p:nvSpPr>
            <p:cNvPr id="211" name="Line 440">
              <a:extLst>
                <a:ext uri="{FF2B5EF4-FFF2-40B4-BE49-F238E27FC236}">
                  <a16:creationId xmlns:a16="http://schemas.microsoft.com/office/drawing/2014/main" id="{2C5C082C-CC5B-4F92-8F95-22DB2C70C9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5" y="1445"/>
              <a:ext cx="0" cy="48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>
                <a:latin typeface="Cambria" panose="02040503050406030204" pitchFamily="18" charset="0"/>
              </a:endParaRPr>
            </a:p>
          </p:txBody>
        </p:sp>
        <p:grpSp>
          <p:nvGrpSpPr>
            <p:cNvPr id="212" name="Group 441">
              <a:extLst>
                <a:ext uri="{FF2B5EF4-FFF2-40B4-BE49-F238E27FC236}">
                  <a16:creationId xmlns:a16="http://schemas.microsoft.com/office/drawing/2014/main" id="{05034F19-0C77-4086-AC23-85B2B3E797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445"/>
              <a:ext cx="195" cy="240"/>
              <a:chOff x="1311" y="1056"/>
              <a:chExt cx="195" cy="240"/>
            </a:xfrm>
            <a:grpFill/>
          </p:grpSpPr>
          <p:sp>
            <p:nvSpPr>
              <p:cNvPr id="237" name="Line 442">
                <a:extLst>
                  <a:ext uri="{FF2B5EF4-FFF2-40B4-BE49-F238E27FC236}">
                    <a16:creationId xmlns:a16="http://schemas.microsoft.com/office/drawing/2014/main" id="{436AB0C2-906F-43AE-BA0F-7716C6CC5C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8" name="Line 443">
                <a:extLst>
                  <a:ext uri="{FF2B5EF4-FFF2-40B4-BE49-F238E27FC236}">
                    <a16:creationId xmlns:a16="http://schemas.microsoft.com/office/drawing/2014/main" id="{21628F18-2D8A-419C-9325-1B30419EF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9" name="Line 444">
                <a:extLst>
                  <a:ext uri="{FF2B5EF4-FFF2-40B4-BE49-F238E27FC236}">
                    <a16:creationId xmlns:a16="http://schemas.microsoft.com/office/drawing/2014/main" id="{21D33F64-D09E-45F7-AC9D-808A418086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0" name="Line 445">
                <a:extLst>
                  <a:ext uri="{FF2B5EF4-FFF2-40B4-BE49-F238E27FC236}">
                    <a16:creationId xmlns:a16="http://schemas.microsoft.com/office/drawing/2014/main" id="{BC983620-3AD0-4D1B-83CE-0D260E923D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1" name="Line 446">
                <a:extLst>
                  <a:ext uri="{FF2B5EF4-FFF2-40B4-BE49-F238E27FC236}">
                    <a16:creationId xmlns:a16="http://schemas.microsoft.com/office/drawing/2014/main" id="{BF2EC1E0-A561-4320-8FFE-E60BD9E270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2" name="Line 447">
                <a:extLst>
                  <a:ext uri="{FF2B5EF4-FFF2-40B4-BE49-F238E27FC236}">
                    <a16:creationId xmlns:a16="http://schemas.microsoft.com/office/drawing/2014/main" id="{48D77374-40D9-4C2B-B96A-A1166F30CE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43" name="Line 448">
                <a:extLst>
                  <a:ext uri="{FF2B5EF4-FFF2-40B4-BE49-F238E27FC236}">
                    <a16:creationId xmlns:a16="http://schemas.microsoft.com/office/drawing/2014/main" id="{FDB1ACD1-7098-4303-B279-2F2D5D9A09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213" name="Group 449">
              <a:extLst>
                <a:ext uri="{FF2B5EF4-FFF2-40B4-BE49-F238E27FC236}">
                  <a16:creationId xmlns:a16="http://schemas.microsoft.com/office/drawing/2014/main" id="{9DBB5C00-28ED-439F-A316-E6A3A7C2DC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445"/>
              <a:ext cx="195" cy="240"/>
              <a:chOff x="1311" y="1056"/>
              <a:chExt cx="195" cy="240"/>
            </a:xfrm>
            <a:grpFill/>
          </p:grpSpPr>
          <p:sp>
            <p:nvSpPr>
              <p:cNvPr id="230" name="Line 450">
                <a:extLst>
                  <a:ext uri="{FF2B5EF4-FFF2-40B4-BE49-F238E27FC236}">
                    <a16:creationId xmlns:a16="http://schemas.microsoft.com/office/drawing/2014/main" id="{C41A20C1-3A64-4692-824A-53A59C0288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1" name="Line 451">
                <a:extLst>
                  <a:ext uri="{FF2B5EF4-FFF2-40B4-BE49-F238E27FC236}">
                    <a16:creationId xmlns:a16="http://schemas.microsoft.com/office/drawing/2014/main" id="{F46956DC-35F3-4116-B04A-3913F22E99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2" name="Line 452">
                <a:extLst>
                  <a:ext uri="{FF2B5EF4-FFF2-40B4-BE49-F238E27FC236}">
                    <a16:creationId xmlns:a16="http://schemas.microsoft.com/office/drawing/2014/main" id="{723E594E-C5E3-4140-8441-95127FF662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3" name="Line 453">
                <a:extLst>
                  <a:ext uri="{FF2B5EF4-FFF2-40B4-BE49-F238E27FC236}">
                    <a16:creationId xmlns:a16="http://schemas.microsoft.com/office/drawing/2014/main" id="{5262B30D-4A1B-4FB9-A498-93364C7E1E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4" name="Line 454">
                <a:extLst>
                  <a:ext uri="{FF2B5EF4-FFF2-40B4-BE49-F238E27FC236}">
                    <a16:creationId xmlns:a16="http://schemas.microsoft.com/office/drawing/2014/main" id="{A1132C3E-ED88-45EB-820A-010AE3528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5" name="Line 455">
                <a:extLst>
                  <a:ext uri="{FF2B5EF4-FFF2-40B4-BE49-F238E27FC236}">
                    <a16:creationId xmlns:a16="http://schemas.microsoft.com/office/drawing/2014/main" id="{F94E3B20-9838-4939-814A-DE26F85D25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36" name="Line 456">
                <a:extLst>
                  <a:ext uri="{FF2B5EF4-FFF2-40B4-BE49-F238E27FC236}">
                    <a16:creationId xmlns:a16="http://schemas.microsoft.com/office/drawing/2014/main" id="{3037F7D9-9237-46ED-802C-3E57A478BE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214" name="Group 457">
              <a:extLst>
                <a:ext uri="{FF2B5EF4-FFF2-40B4-BE49-F238E27FC236}">
                  <a16:creationId xmlns:a16="http://schemas.microsoft.com/office/drawing/2014/main" id="{419FB661-7B05-45A4-A6A2-F9B4194B76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680"/>
              <a:ext cx="195" cy="240"/>
              <a:chOff x="1311" y="1056"/>
              <a:chExt cx="195" cy="240"/>
            </a:xfrm>
            <a:grpFill/>
          </p:grpSpPr>
          <p:sp>
            <p:nvSpPr>
              <p:cNvPr id="223" name="Line 458">
                <a:extLst>
                  <a:ext uri="{FF2B5EF4-FFF2-40B4-BE49-F238E27FC236}">
                    <a16:creationId xmlns:a16="http://schemas.microsoft.com/office/drawing/2014/main" id="{7052366D-1EF9-4822-85A7-27B05849D4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4" name="Line 459">
                <a:extLst>
                  <a:ext uri="{FF2B5EF4-FFF2-40B4-BE49-F238E27FC236}">
                    <a16:creationId xmlns:a16="http://schemas.microsoft.com/office/drawing/2014/main" id="{A2188677-9394-47F1-8C09-CC57F21B54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5" name="Line 460">
                <a:extLst>
                  <a:ext uri="{FF2B5EF4-FFF2-40B4-BE49-F238E27FC236}">
                    <a16:creationId xmlns:a16="http://schemas.microsoft.com/office/drawing/2014/main" id="{2001DA81-094E-4CFD-A61D-9F05E84E84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6" name="Line 461">
                <a:extLst>
                  <a:ext uri="{FF2B5EF4-FFF2-40B4-BE49-F238E27FC236}">
                    <a16:creationId xmlns:a16="http://schemas.microsoft.com/office/drawing/2014/main" id="{B08C9E37-3232-4137-983C-600C2B64A1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7" name="Line 462">
                <a:extLst>
                  <a:ext uri="{FF2B5EF4-FFF2-40B4-BE49-F238E27FC236}">
                    <a16:creationId xmlns:a16="http://schemas.microsoft.com/office/drawing/2014/main" id="{ACB6E5AB-F17E-417A-8E6F-80C6AC13C7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8" name="Line 463">
                <a:extLst>
                  <a:ext uri="{FF2B5EF4-FFF2-40B4-BE49-F238E27FC236}">
                    <a16:creationId xmlns:a16="http://schemas.microsoft.com/office/drawing/2014/main" id="{0B5ADF12-9502-4C99-B8A7-ADFFB3A7E5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9" name="Line 464">
                <a:extLst>
                  <a:ext uri="{FF2B5EF4-FFF2-40B4-BE49-F238E27FC236}">
                    <a16:creationId xmlns:a16="http://schemas.microsoft.com/office/drawing/2014/main" id="{73BF1CF9-E2CA-4DD9-A02A-76BB48FB12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  <p:grpSp>
          <p:nvGrpSpPr>
            <p:cNvPr id="215" name="Group 465">
              <a:extLst>
                <a:ext uri="{FF2B5EF4-FFF2-40B4-BE49-F238E27FC236}">
                  <a16:creationId xmlns:a16="http://schemas.microsoft.com/office/drawing/2014/main" id="{19A51C56-B009-42C3-9338-29702D067B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2" y="1685"/>
              <a:ext cx="195" cy="240"/>
              <a:chOff x="1311" y="1056"/>
              <a:chExt cx="195" cy="240"/>
            </a:xfrm>
            <a:grpFill/>
          </p:grpSpPr>
          <p:sp>
            <p:nvSpPr>
              <p:cNvPr id="216" name="Line 466">
                <a:extLst>
                  <a:ext uri="{FF2B5EF4-FFF2-40B4-BE49-F238E27FC236}">
                    <a16:creationId xmlns:a16="http://schemas.microsoft.com/office/drawing/2014/main" id="{2E92A0C3-35BD-4E44-ADE1-8FC37FA26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04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7" name="Line 467">
                <a:extLst>
                  <a:ext uri="{FF2B5EF4-FFF2-40B4-BE49-F238E27FC236}">
                    <a16:creationId xmlns:a16="http://schemas.microsoft.com/office/drawing/2014/main" id="{B2247720-AC9D-4E69-A3F4-87868A1444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8" name="Line 468">
                <a:extLst>
                  <a:ext uri="{FF2B5EF4-FFF2-40B4-BE49-F238E27FC236}">
                    <a16:creationId xmlns:a16="http://schemas.microsoft.com/office/drawing/2014/main" id="{901572E1-E456-4FDB-8BCF-1561E43E30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19" name="Line 469">
                <a:extLst>
                  <a:ext uri="{FF2B5EF4-FFF2-40B4-BE49-F238E27FC236}">
                    <a16:creationId xmlns:a16="http://schemas.microsoft.com/office/drawing/2014/main" id="{C6447C88-16DA-4CD4-87DC-FC1264AACE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0" y="1056"/>
                <a:ext cx="0" cy="24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0" name="Line 470">
                <a:extLst>
                  <a:ext uri="{FF2B5EF4-FFF2-40B4-BE49-F238E27FC236}">
                    <a16:creationId xmlns:a16="http://schemas.microsoft.com/office/drawing/2014/main" id="{8DFE935A-4C5E-4F00-B294-AD78604197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47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1" name="Line 471">
                <a:extLst>
                  <a:ext uri="{FF2B5EF4-FFF2-40B4-BE49-F238E27FC236}">
                    <a16:creationId xmlns:a16="http://schemas.microsoft.com/office/drawing/2014/main" id="{A58C07E2-8021-4F3E-AB39-2F4216E052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1" y="1195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  <p:sp>
            <p:nvSpPr>
              <p:cNvPr id="222" name="Line 472">
                <a:extLst>
                  <a:ext uri="{FF2B5EF4-FFF2-40B4-BE49-F238E27FC236}">
                    <a16:creationId xmlns:a16="http://schemas.microsoft.com/office/drawing/2014/main" id="{FECA0EE9-B0AC-4CF3-90BC-5486FAF526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4" y="1243"/>
                <a:ext cx="192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>
                  <a:latin typeface="Cambria" panose="02040503050406030204" pitchFamily="18" charset="0"/>
                </a:endParaRPr>
              </a:p>
            </p:txBody>
          </p:sp>
        </p:grpSp>
      </p:grpSp>
      <p:sp>
        <p:nvSpPr>
          <p:cNvPr id="244" name="TextBox 243">
            <a:extLst>
              <a:ext uri="{FF2B5EF4-FFF2-40B4-BE49-F238E27FC236}">
                <a16:creationId xmlns:a16="http://schemas.microsoft.com/office/drawing/2014/main" id="{4BFD0392-3B8A-4EF1-A59F-4285D9DA9DB9}"/>
              </a:ext>
            </a:extLst>
          </p:cNvPr>
          <p:cNvSpPr txBox="1"/>
          <p:nvPr/>
        </p:nvSpPr>
        <p:spPr>
          <a:xfrm>
            <a:off x="3505200" y="155205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Chip</a:t>
            </a:r>
            <a:endParaRPr lang="en-IN" dirty="0">
              <a:latin typeface="Cambria" panose="02040503050406030204" pitchFamily="18" charset="0"/>
            </a:endParaRPr>
          </a:p>
        </p:txBody>
      </p:sp>
      <p:sp>
        <p:nvSpPr>
          <p:cNvPr id="245" name="Rectangle 511">
            <a:extLst>
              <a:ext uri="{FF2B5EF4-FFF2-40B4-BE49-F238E27FC236}">
                <a16:creationId xmlns:a16="http://schemas.microsoft.com/office/drawing/2014/main" id="{53D03CAE-E082-4A9F-A2BF-12FD7D2D2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1752600"/>
            <a:ext cx="2438400" cy="2819400"/>
          </a:xfrm>
          <a:prstGeom prst="rect">
            <a:avLst/>
          </a:prstGeom>
          <a:solidFill>
            <a:srgbClr val="C0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mbria" panose="02040503050406030204" pitchFamily="18" charset="0"/>
            </a:endParaRPr>
          </a:p>
        </p:txBody>
      </p:sp>
      <p:sp>
        <p:nvSpPr>
          <p:cNvPr id="246" name="Line 512">
            <a:extLst>
              <a:ext uri="{FF2B5EF4-FFF2-40B4-BE49-F238E27FC236}">
                <a16:creationId xmlns:a16="http://schemas.microsoft.com/office/drawing/2014/main" id="{BEC4B30E-20CA-442D-8D13-9312707FB51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3168650"/>
            <a:ext cx="2438400" cy="0"/>
          </a:xfrm>
          <a:prstGeom prst="line">
            <a:avLst/>
          </a:prstGeom>
          <a:solidFill>
            <a:srgbClr val="C000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47" name="Line 513">
            <a:extLst>
              <a:ext uri="{FF2B5EF4-FFF2-40B4-BE49-F238E27FC236}">
                <a16:creationId xmlns:a16="http://schemas.microsoft.com/office/drawing/2014/main" id="{857D15A4-44B8-4A51-B9A0-7E9BC671C37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6875" y="1752600"/>
            <a:ext cx="0" cy="2819400"/>
          </a:xfrm>
          <a:prstGeom prst="line">
            <a:avLst/>
          </a:prstGeom>
          <a:solidFill>
            <a:srgbClr val="C000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48" name="Line 514">
            <a:extLst>
              <a:ext uri="{FF2B5EF4-FFF2-40B4-BE49-F238E27FC236}">
                <a16:creationId xmlns:a16="http://schemas.microsoft.com/office/drawing/2014/main" id="{AED688A3-C051-4D3A-87CE-99D57B4BBC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1447800"/>
            <a:ext cx="457200" cy="304800"/>
          </a:xfrm>
          <a:prstGeom prst="line">
            <a:avLst/>
          </a:prstGeom>
          <a:solidFill>
            <a:srgbClr val="C000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49" name="Line 515">
            <a:extLst>
              <a:ext uri="{FF2B5EF4-FFF2-40B4-BE49-F238E27FC236}">
                <a16:creationId xmlns:a16="http://schemas.microsoft.com/office/drawing/2014/main" id="{B916A575-2F75-448D-8B9F-1DA8ADADD43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447800"/>
            <a:ext cx="2438400" cy="0"/>
          </a:xfrm>
          <a:prstGeom prst="line">
            <a:avLst/>
          </a:prstGeom>
          <a:solidFill>
            <a:srgbClr val="C000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50" name="Line 516">
            <a:extLst>
              <a:ext uri="{FF2B5EF4-FFF2-40B4-BE49-F238E27FC236}">
                <a16:creationId xmlns:a16="http://schemas.microsoft.com/office/drawing/2014/main" id="{A199D377-1D9F-4D4B-B489-D3088353CF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51" name="Line 517">
            <a:extLst>
              <a:ext uri="{FF2B5EF4-FFF2-40B4-BE49-F238E27FC236}">
                <a16:creationId xmlns:a16="http://schemas.microsoft.com/office/drawing/2014/main" id="{85FABAAB-72B4-4ACA-8939-5E22C504D5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4267200"/>
            <a:ext cx="457200" cy="304800"/>
          </a:xfrm>
          <a:prstGeom prst="line">
            <a:avLst/>
          </a:prstGeom>
          <a:solidFill>
            <a:srgbClr val="C000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52" name="Line 518">
            <a:extLst>
              <a:ext uri="{FF2B5EF4-FFF2-40B4-BE49-F238E27FC236}">
                <a16:creationId xmlns:a16="http://schemas.microsoft.com/office/drawing/2014/main" id="{1F3A95E1-8FDA-46A2-B29F-F63B17050C93}"/>
              </a:ext>
            </a:extLst>
          </p:cNvPr>
          <p:cNvSpPr>
            <a:spLocks noChangeShapeType="1"/>
          </p:cNvSpPr>
          <p:nvPr/>
        </p:nvSpPr>
        <p:spPr bwMode="auto">
          <a:xfrm>
            <a:off x="9677400" y="1447800"/>
            <a:ext cx="0" cy="2819400"/>
          </a:xfrm>
          <a:prstGeom prst="line">
            <a:avLst/>
          </a:prstGeom>
          <a:solidFill>
            <a:srgbClr val="C000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53" name="Text Box 519">
            <a:extLst>
              <a:ext uri="{FF2B5EF4-FFF2-40B4-BE49-F238E27FC236}">
                <a16:creationId xmlns:a16="http://schemas.microsoft.com/office/drawing/2014/main" id="{F405AB8A-AE0D-44D3-B4B6-0C8B8DF73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2286000"/>
            <a:ext cx="914400" cy="366713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Cambria" panose="02040503050406030204" pitchFamily="18" charset="0"/>
              </a:rPr>
              <a:t>Bank 0</a:t>
            </a:r>
          </a:p>
        </p:txBody>
      </p:sp>
      <p:sp>
        <p:nvSpPr>
          <p:cNvPr id="254" name="Text Box 520">
            <a:extLst>
              <a:ext uri="{FF2B5EF4-FFF2-40B4-BE49-F238E27FC236}">
                <a16:creationId xmlns:a16="http://schemas.microsoft.com/office/drawing/2014/main" id="{BE357370-47C2-474E-B2AD-6767D4A8C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2286000"/>
            <a:ext cx="914400" cy="366713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Cambria" panose="02040503050406030204" pitchFamily="18" charset="0"/>
              </a:rPr>
              <a:t>Bank 1</a:t>
            </a:r>
          </a:p>
        </p:txBody>
      </p:sp>
      <p:sp>
        <p:nvSpPr>
          <p:cNvPr id="255" name="Text Box 521">
            <a:extLst>
              <a:ext uri="{FF2B5EF4-FFF2-40B4-BE49-F238E27FC236}">
                <a16:creationId xmlns:a16="http://schemas.microsoft.com/office/drawing/2014/main" id="{97576D6A-89A8-4CF7-9021-E4E67E75C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657600"/>
            <a:ext cx="914400" cy="366713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Cambria" panose="02040503050406030204" pitchFamily="18" charset="0"/>
              </a:rPr>
              <a:t>Bank 2</a:t>
            </a:r>
          </a:p>
        </p:txBody>
      </p:sp>
      <p:sp>
        <p:nvSpPr>
          <p:cNvPr id="256" name="Text Box 522">
            <a:extLst>
              <a:ext uri="{FF2B5EF4-FFF2-40B4-BE49-F238E27FC236}">
                <a16:creationId xmlns:a16="http://schemas.microsoft.com/office/drawing/2014/main" id="{F6BC7401-5A29-4990-B11F-CD939A269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3657600"/>
            <a:ext cx="914400" cy="366713"/>
          </a:xfrm>
          <a:prstGeom prst="rect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Cambria" panose="02040503050406030204" pitchFamily="18" charset="0"/>
              </a:rPr>
              <a:t>Bank 3</a:t>
            </a:r>
          </a:p>
        </p:txBody>
      </p:sp>
      <p:sp>
        <p:nvSpPr>
          <p:cNvPr id="257" name="Line 537">
            <a:extLst>
              <a:ext uri="{FF2B5EF4-FFF2-40B4-BE49-F238E27FC236}">
                <a16:creationId xmlns:a16="http://schemas.microsoft.com/office/drawing/2014/main" id="{ECE0AEEC-AA98-4637-B398-22615D06A8F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4513" y="16764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58" name="Line 538">
            <a:extLst>
              <a:ext uri="{FF2B5EF4-FFF2-40B4-BE49-F238E27FC236}">
                <a16:creationId xmlns:a16="http://schemas.microsoft.com/office/drawing/2014/main" id="{AC74EE53-5E46-446A-B871-0194326D615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160655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59" name="Line 539">
            <a:extLst>
              <a:ext uri="{FF2B5EF4-FFF2-40B4-BE49-F238E27FC236}">
                <a16:creationId xmlns:a16="http://schemas.microsoft.com/office/drawing/2014/main" id="{73875FC1-4F88-4B36-A27E-AC2DD59CA0C2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9938" y="153035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60" name="Line 540">
            <a:extLst>
              <a:ext uri="{FF2B5EF4-FFF2-40B4-BE49-F238E27FC236}">
                <a16:creationId xmlns:a16="http://schemas.microsoft.com/office/drawing/2014/main" id="{891B7AFE-4F16-42D3-85B8-8EF27DFD50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19050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61" name="Line 541">
            <a:extLst>
              <a:ext uri="{FF2B5EF4-FFF2-40B4-BE49-F238E27FC236}">
                <a16:creationId xmlns:a16="http://schemas.microsoft.com/office/drawing/2014/main" id="{989574C9-9F4A-4D44-9BFB-39BF08AF0C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0574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62" name="Line 542">
            <a:extLst>
              <a:ext uri="{FF2B5EF4-FFF2-40B4-BE49-F238E27FC236}">
                <a16:creationId xmlns:a16="http://schemas.microsoft.com/office/drawing/2014/main" id="{B78206EE-A749-4543-8CEF-990916D79CF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2098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63" name="Line 543">
            <a:extLst>
              <a:ext uri="{FF2B5EF4-FFF2-40B4-BE49-F238E27FC236}">
                <a16:creationId xmlns:a16="http://schemas.microsoft.com/office/drawing/2014/main" id="{D497D22C-7D5E-477F-BF95-29E4F6292E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3622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64" name="Line 544">
            <a:extLst>
              <a:ext uri="{FF2B5EF4-FFF2-40B4-BE49-F238E27FC236}">
                <a16:creationId xmlns:a16="http://schemas.microsoft.com/office/drawing/2014/main" id="{85426DA9-1671-4B32-8746-4ED71BAB9A8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5146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65" name="Line 545">
            <a:extLst>
              <a:ext uri="{FF2B5EF4-FFF2-40B4-BE49-F238E27FC236}">
                <a16:creationId xmlns:a16="http://schemas.microsoft.com/office/drawing/2014/main" id="{5E9475AB-8B46-4C30-A726-83A719A1CD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6670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66" name="Line 546">
            <a:extLst>
              <a:ext uri="{FF2B5EF4-FFF2-40B4-BE49-F238E27FC236}">
                <a16:creationId xmlns:a16="http://schemas.microsoft.com/office/drawing/2014/main" id="{6E4D52BB-E697-4ED2-85EC-1F66AC8DAD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8194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67" name="Line 547">
            <a:extLst>
              <a:ext uri="{FF2B5EF4-FFF2-40B4-BE49-F238E27FC236}">
                <a16:creationId xmlns:a16="http://schemas.microsoft.com/office/drawing/2014/main" id="{E3106BF9-5889-4B71-B14D-7A8DFCC67A1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9718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68" name="Line 548">
            <a:extLst>
              <a:ext uri="{FF2B5EF4-FFF2-40B4-BE49-F238E27FC236}">
                <a16:creationId xmlns:a16="http://schemas.microsoft.com/office/drawing/2014/main" id="{51BAFBEA-F233-4201-98F8-7A372E6FE0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33528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69" name="Line 549">
            <a:extLst>
              <a:ext uri="{FF2B5EF4-FFF2-40B4-BE49-F238E27FC236}">
                <a16:creationId xmlns:a16="http://schemas.microsoft.com/office/drawing/2014/main" id="{EF1333FA-CA8B-4E0B-A1C1-8669E5CC3B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35052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70" name="Line 550">
            <a:extLst>
              <a:ext uri="{FF2B5EF4-FFF2-40B4-BE49-F238E27FC236}">
                <a16:creationId xmlns:a16="http://schemas.microsoft.com/office/drawing/2014/main" id="{77F7A62F-00E9-4BBB-B47F-F125B3E949C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36576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71" name="Line 551">
            <a:extLst>
              <a:ext uri="{FF2B5EF4-FFF2-40B4-BE49-F238E27FC236}">
                <a16:creationId xmlns:a16="http://schemas.microsoft.com/office/drawing/2014/main" id="{C00E45CE-A522-4FA4-BBEE-3CE86944A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38100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72" name="Line 552">
            <a:extLst>
              <a:ext uri="{FF2B5EF4-FFF2-40B4-BE49-F238E27FC236}">
                <a16:creationId xmlns:a16="http://schemas.microsoft.com/office/drawing/2014/main" id="{05535CB8-D2BD-48A5-94EE-BA499034F29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39624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73" name="Line 553">
            <a:extLst>
              <a:ext uri="{FF2B5EF4-FFF2-40B4-BE49-F238E27FC236}">
                <a16:creationId xmlns:a16="http://schemas.microsoft.com/office/drawing/2014/main" id="{625AFC2D-1901-49FA-88F6-E196A0FCD9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41148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74" name="Line 554">
            <a:extLst>
              <a:ext uri="{FF2B5EF4-FFF2-40B4-BE49-F238E27FC236}">
                <a16:creationId xmlns:a16="http://schemas.microsoft.com/office/drawing/2014/main" id="{E82158BB-74F2-4EFC-BEBF-0914A5222D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42672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75" name="Line 555">
            <a:extLst>
              <a:ext uri="{FF2B5EF4-FFF2-40B4-BE49-F238E27FC236}">
                <a16:creationId xmlns:a16="http://schemas.microsoft.com/office/drawing/2014/main" id="{4E219CE4-B785-4A6F-A40E-1702AC2CAD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44196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76" name="Line 556">
            <a:extLst>
              <a:ext uri="{FF2B5EF4-FFF2-40B4-BE49-F238E27FC236}">
                <a16:creationId xmlns:a16="http://schemas.microsoft.com/office/drawing/2014/main" id="{357D87F5-14BB-470A-85CF-E95526E80E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16002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77" name="Line 557">
            <a:extLst>
              <a:ext uri="{FF2B5EF4-FFF2-40B4-BE49-F238E27FC236}">
                <a16:creationId xmlns:a16="http://schemas.microsoft.com/office/drawing/2014/main" id="{F3736926-4250-4C2C-90CF-224F20932D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17526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78" name="Line 558">
            <a:extLst>
              <a:ext uri="{FF2B5EF4-FFF2-40B4-BE49-F238E27FC236}">
                <a16:creationId xmlns:a16="http://schemas.microsoft.com/office/drawing/2014/main" id="{07ABF16E-36D7-4245-8CF7-0250B23B36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19050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79" name="Line 559">
            <a:extLst>
              <a:ext uri="{FF2B5EF4-FFF2-40B4-BE49-F238E27FC236}">
                <a16:creationId xmlns:a16="http://schemas.microsoft.com/office/drawing/2014/main" id="{2E040FAF-4290-47C3-A14D-8596987D52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20574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80" name="Line 560">
            <a:extLst>
              <a:ext uri="{FF2B5EF4-FFF2-40B4-BE49-F238E27FC236}">
                <a16:creationId xmlns:a16="http://schemas.microsoft.com/office/drawing/2014/main" id="{51DD41ED-2468-43EA-8D4F-1B2473FB48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2209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81" name="Line 561">
            <a:extLst>
              <a:ext uri="{FF2B5EF4-FFF2-40B4-BE49-F238E27FC236}">
                <a16:creationId xmlns:a16="http://schemas.microsoft.com/office/drawing/2014/main" id="{B835B18C-EE27-4300-9837-F0B3B62C41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23622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82" name="Line 562">
            <a:extLst>
              <a:ext uri="{FF2B5EF4-FFF2-40B4-BE49-F238E27FC236}">
                <a16:creationId xmlns:a16="http://schemas.microsoft.com/office/drawing/2014/main" id="{07BA4260-ED84-4956-83E7-73BA92066A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25146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83" name="Line 563">
            <a:extLst>
              <a:ext uri="{FF2B5EF4-FFF2-40B4-BE49-F238E27FC236}">
                <a16:creationId xmlns:a16="http://schemas.microsoft.com/office/drawing/2014/main" id="{B831DDFD-7571-4A52-94EB-BB3FE97003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26670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84" name="Line 564">
            <a:extLst>
              <a:ext uri="{FF2B5EF4-FFF2-40B4-BE49-F238E27FC236}">
                <a16:creationId xmlns:a16="http://schemas.microsoft.com/office/drawing/2014/main" id="{19D4DD5B-12BD-4BC4-8C52-A4F8D1DA07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2871788"/>
            <a:ext cx="457200" cy="304800"/>
          </a:xfrm>
          <a:prstGeom prst="line">
            <a:avLst/>
          </a:prstGeom>
          <a:solidFill>
            <a:srgbClr val="C000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85" name="Line 565">
            <a:extLst>
              <a:ext uri="{FF2B5EF4-FFF2-40B4-BE49-F238E27FC236}">
                <a16:creationId xmlns:a16="http://schemas.microsoft.com/office/drawing/2014/main" id="{DD75A838-D1EB-4DAD-AEF9-21769294F7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30480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86" name="Line 566">
            <a:extLst>
              <a:ext uri="{FF2B5EF4-FFF2-40B4-BE49-F238E27FC236}">
                <a16:creationId xmlns:a16="http://schemas.microsoft.com/office/drawing/2014/main" id="{B4D0E1EB-6362-4045-AA3C-48C52E22A8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32004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87" name="Line 567">
            <a:extLst>
              <a:ext uri="{FF2B5EF4-FFF2-40B4-BE49-F238E27FC236}">
                <a16:creationId xmlns:a16="http://schemas.microsoft.com/office/drawing/2014/main" id="{D1EA6A90-8D54-49B2-B31A-E1BA581745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3352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88" name="Line 568">
            <a:extLst>
              <a:ext uri="{FF2B5EF4-FFF2-40B4-BE49-F238E27FC236}">
                <a16:creationId xmlns:a16="http://schemas.microsoft.com/office/drawing/2014/main" id="{775AC620-8542-4C2F-B695-1716ADB129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35052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89" name="Line 569">
            <a:extLst>
              <a:ext uri="{FF2B5EF4-FFF2-40B4-BE49-F238E27FC236}">
                <a16:creationId xmlns:a16="http://schemas.microsoft.com/office/drawing/2014/main" id="{86456832-F85C-4FD6-BE0B-6686B663EB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36576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90" name="Line 570">
            <a:extLst>
              <a:ext uri="{FF2B5EF4-FFF2-40B4-BE49-F238E27FC236}">
                <a16:creationId xmlns:a16="http://schemas.microsoft.com/office/drawing/2014/main" id="{34AD4B48-ACC9-4506-8F9D-9C6266D64C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38100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91" name="Line 571">
            <a:extLst>
              <a:ext uri="{FF2B5EF4-FFF2-40B4-BE49-F238E27FC236}">
                <a16:creationId xmlns:a16="http://schemas.microsoft.com/office/drawing/2014/main" id="{C9D331EB-D5FA-4245-B48E-B8429C2A6A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39624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92" name="Line 572">
            <a:extLst>
              <a:ext uri="{FF2B5EF4-FFF2-40B4-BE49-F238E27FC236}">
                <a16:creationId xmlns:a16="http://schemas.microsoft.com/office/drawing/2014/main" id="{8DE959F7-BCE0-4258-BBCC-EC6C647D6D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4114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93" name="Line 573">
            <a:extLst>
              <a:ext uri="{FF2B5EF4-FFF2-40B4-BE49-F238E27FC236}">
                <a16:creationId xmlns:a16="http://schemas.microsoft.com/office/drawing/2014/main" id="{C7720484-439A-4AA7-9987-45D80C82E0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0" y="1447800"/>
            <a:ext cx="457200" cy="304800"/>
          </a:xfrm>
          <a:prstGeom prst="line">
            <a:avLst/>
          </a:prstGeom>
          <a:solidFill>
            <a:srgbClr val="C00000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94" name="Line 574">
            <a:extLst>
              <a:ext uri="{FF2B5EF4-FFF2-40B4-BE49-F238E27FC236}">
                <a16:creationId xmlns:a16="http://schemas.microsoft.com/office/drawing/2014/main" id="{482829A8-C67B-4C28-B62D-B66D410A003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95" name="Line 575">
            <a:extLst>
              <a:ext uri="{FF2B5EF4-FFF2-40B4-BE49-F238E27FC236}">
                <a16:creationId xmlns:a16="http://schemas.microsoft.com/office/drawing/2014/main" id="{99866E0F-44F9-479E-8E47-46EEE6BC574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96" name="Line 576">
            <a:extLst>
              <a:ext uri="{FF2B5EF4-FFF2-40B4-BE49-F238E27FC236}">
                <a16:creationId xmlns:a16="http://schemas.microsoft.com/office/drawing/2014/main" id="{C7CCCD36-B6C7-4EB4-8EF6-33E44F14150C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97" name="Line 577">
            <a:extLst>
              <a:ext uri="{FF2B5EF4-FFF2-40B4-BE49-F238E27FC236}">
                <a16:creationId xmlns:a16="http://schemas.microsoft.com/office/drawing/2014/main" id="{DD5D6F52-4C73-4C2F-918E-D2705270D7F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98" name="Line 578">
            <a:extLst>
              <a:ext uri="{FF2B5EF4-FFF2-40B4-BE49-F238E27FC236}">
                <a16:creationId xmlns:a16="http://schemas.microsoft.com/office/drawing/2014/main" id="{496D9D58-A912-4C62-A166-DDC3FD35F5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299" name="Line 579">
            <a:extLst>
              <a:ext uri="{FF2B5EF4-FFF2-40B4-BE49-F238E27FC236}">
                <a16:creationId xmlns:a16="http://schemas.microsoft.com/office/drawing/2014/main" id="{01F8D7C7-A019-4509-BF6C-8730F5B32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00" name="Line 580">
            <a:extLst>
              <a:ext uri="{FF2B5EF4-FFF2-40B4-BE49-F238E27FC236}">
                <a16:creationId xmlns:a16="http://schemas.microsoft.com/office/drawing/2014/main" id="{B807EFA3-1ADC-48AE-B670-69D69E74107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01" name="Line 581">
            <a:extLst>
              <a:ext uri="{FF2B5EF4-FFF2-40B4-BE49-F238E27FC236}">
                <a16:creationId xmlns:a16="http://schemas.microsoft.com/office/drawing/2014/main" id="{CD8623B2-E7EB-4350-8269-201A2FF22BF6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02" name="Line 582">
            <a:extLst>
              <a:ext uri="{FF2B5EF4-FFF2-40B4-BE49-F238E27FC236}">
                <a16:creationId xmlns:a16="http://schemas.microsoft.com/office/drawing/2014/main" id="{0DBFFEA6-2884-4417-90E5-AF4FA144B83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03" name="Line 583">
            <a:extLst>
              <a:ext uri="{FF2B5EF4-FFF2-40B4-BE49-F238E27FC236}">
                <a16:creationId xmlns:a16="http://schemas.microsoft.com/office/drawing/2014/main" id="{24987CDB-D066-49E6-A5AE-AAEFF9A0B916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2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04" name="Line 584">
            <a:extLst>
              <a:ext uri="{FF2B5EF4-FFF2-40B4-BE49-F238E27FC236}">
                <a16:creationId xmlns:a16="http://schemas.microsoft.com/office/drawing/2014/main" id="{D22C0111-28D1-4E51-9EC5-8EDBBD13830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05" name="Line 585">
            <a:extLst>
              <a:ext uri="{FF2B5EF4-FFF2-40B4-BE49-F238E27FC236}">
                <a16:creationId xmlns:a16="http://schemas.microsoft.com/office/drawing/2014/main" id="{E711DDA9-AC7C-453D-8134-D1395E1BA99D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06" name="Line 586">
            <a:extLst>
              <a:ext uri="{FF2B5EF4-FFF2-40B4-BE49-F238E27FC236}">
                <a16:creationId xmlns:a16="http://schemas.microsoft.com/office/drawing/2014/main" id="{D87B2361-E04B-432B-BB61-157C4FC997ED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07" name="Line 587">
            <a:extLst>
              <a:ext uri="{FF2B5EF4-FFF2-40B4-BE49-F238E27FC236}">
                <a16:creationId xmlns:a16="http://schemas.microsoft.com/office/drawing/2014/main" id="{109ADEBB-6AAB-4195-80E1-5A29D636723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17526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08" name="Line 590">
            <a:extLst>
              <a:ext uri="{FF2B5EF4-FFF2-40B4-BE49-F238E27FC236}">
                <a16:creationId xmlns:a16="http://schemas.microsoft.com/office/drawing/2014/main" id="{0C0CB284-BA7C-4793-A3B3-A634D9CF8B4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0700" y="1700213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09" name="Line 591">
            <a:extLst>
              <a:ext uri="{FF2B5EF4-FFF2-40B4-BE49-F238E27FC236}">
                <a16:creationId xmlns:a16="http://schemas.microsoft.com/office/drawing/2014/main" id="{F2368B84-8034-4780-B4C9-3D153FBA0F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1488" y="1724025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10" name="Line 592">
            <a:extLst>
              <a:ext uri="{FF2B5EF4-FFF2-40B4-BE49-F238E27FC236}">
                <a16:creationId xmlns:a16="http://schemas.microsoft.com/office/drawing/2014/main" id="{85AB78C6-16F6-4876-A132-91BBF372F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6738" y="1654175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11" name="Line 593">
            <a:extLst>
              <a:ext uri="{FF2B5EF4-FFF2-40B4-BE49-F238E27FC236}">
                <a16:creationId xmlns:a16="http://schemas.microsoft.com/office/drawing/2014/main" id="{39071ECC-DFDF-4805-B3AE-E537328B2B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3250" y="163195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12" name="Line 594">
            <a:extLst>
              <a:ext uri="{FF2B5EF4-FFF2-40B4-BE49-F238E27FC236}">
                <a16:creationId xmlns:a16="http://schemas.microsoft.com/office/drawing/2014/main" id="{11EF19D2-8891-4DE0-8654-596F05203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4213" y="158115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13" name="Line 595">
            <a:extLst>
              <a:ext uri="{FF2B5EF4-FFF2-40B4-BE49-F238E27FC236}">
                <a16:creationId xmlns:a16="http://schemas.microsoft.com/office/drawing/2014/main" id="{7AC3BF0F-4E84-4061-A8B8-2E4360AD6F6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5488" y="155575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14" name="Line 596">
            <a:extLst>
              <a:ext uri="{FF2B5EF4-FFF2-40B4-BE49-F238E27FC236}">
                <a16:creationId xmlns:a16="http://schemas.microsoft.com/office/drawing/2014/main" id="{D48F8779-A7A8-4571-BD84-0F415EB2D0A6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8513" y="1511300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15" name="Line 597">
            <a:extLst>
              <a:ext uri="{FF2B5EF4-FFF2-40B4-BE49-F238E27FC236}">
                <a16:creationId xmlns:a16="http://schemas.microsoft.com/office/drawing/2014/main" id="{298C1381-8ABF-4E9B-9597-3D0804E500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0263" y="1489075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16" name="Line 598">
            <a:extLst>
              <a:ext uri="{FF2B5EF4-FFF2-40B4-BE49-F238E27FC236}">
                <a16:creationId xmlns:a16="http://schemas.microsoft.com/office/drawing/2014/main" id="{F571CBF2-3865-4483-83C9-A5550E3FF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0425" y="1470025"/>
            <a:ext cx="2438400" cy="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17" name="Line 599">
            <a:extLst>
              <a:ext uri="{FF2B5EF4-FFF2-40B4-BE49-F238E27FC236}">
                <a16:creationId xmlns:a16="http://schemas.microsoft.com/office/drawing/2014/main" id="{CA236185-9CD2-4DB6-ABD0-CAA6E738B1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42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18" name="Line 600">
            <a:extLst>
              <a:ext uri="{FF2B5EF4-FFF2-40B4-BE49-F238E27FC236}">
                <a16:creationId xmlns:a16="http://schemas.microsoft.com/office/drawing/2014/main" id="{CD35BF3F-B0E1-4AC9-9423-9753FC1044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19" name="Line 601">
            <a:extLst>
              <a:ext uri="{FF2B5EF4-FFF2-40B4-BE49-F238E27FC236}">
                <a16:creationId xmlns:a16="http://schemas.microsoft.com/office/drawing/2014/main" id="{4B274313-B41C-49A7-B948-4CA7DC6531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20" name="Line 602">
            <a:extLst>
              <a:ext uri="{FF2B5EF4-FFF2-40B4-BE49-F238E27FC236}">
                <a16:creationId xmlns:a16="http://schemas.microsoft.com/office/drawing/2014/main" id="{F536CB99-42A4-4812-9AB7-F99DD1DE9A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21" name="Line 603">
            <a:extLst>
              <a:ext uri="{FF2B5EF4-FFF2-40B4-BE49-F238E27FC236}">
                <a16:creationId xmlns:a16="http://schemas.microsoft.com/office/drawing/2014/main" id="{329EAC00-8AA9-44A1-A8A8-DDCDE5A5ED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22" name="Line 604">
            <a:extLst>
              <a:ext uri="{FF2B5EF4-FFF2-40B4-BE49-F238E27FC236}">
                <a16:creationId xmlns:a16="http://schemas.microsoft.com/office/drawing/2014/main" id="{59C5D367-D8ED-44AD-AF6C-FD64F293C9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23" name="Line 605">
            <a:extLst>
              <a:ext uri="{FF2B5EF4-FFF2-40B4-BE49-F238E27FC236}">
                <a16:creationId xmlns:a16="http://schemas.microsoft.com/office/drawing/2014/main" id="{23A30C06-D376-416E-B7B0-55B7009A71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486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24" name="Line 606">
            <a:extLst>
              <a:ext uri="{FF2B5EF4-FFF2-40B4-BE49-F238E27FC236}">
                <a16:creationId xmlns:a16="http://schemas.microsoft.com/office/drawing/2014/main" id="{C73F604C-C953-4BEB-BD65-5AE74F3E1B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534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25" name="Line 607">
            <a:extLst>
              <a:ext uri="{FF2B5EF4-FFF2-40B4-BE49-F238E27FC236}">
                <a16:creationId xmlns:a16="http://schemas.microsoft.com/office/drawing/2014/main" id="{031D5C4E-9360-43DC-A8FD-9A3A9DD0F1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058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26" name="Line 608">
            <a:extLst>
              <a:ext uri="{FF2B5EF4-FFF2-40B4-BE49-F238E27FC236}">
                <a16:creationId xmlns:a16="http://schemas.microsoft.com/office/drawing/2014/main" id="{C7653F43-4B40-4052-821F-0BEAFA22FF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27" name="Line 609">
            <a:extLst>
              <a:ext uri="{FF2B5EF4-FFF2-40B4-BE49-F238E27FC236}">
                <a16:creationId xmlns:a16="http://schemas.microsoft.com/office/drawing/2014/main" id="{068A63A4-3255-496B-950B-C3859B6DEA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106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28" name="Line 610">
            <a:extLst>
              <a:ext uri="{FF2B5EF4-FFF2-40B4-BE49-F238E27FC236}">
                <a16:creationId xmlns:a16="http://schemas.microsoft.com/office/drawing/2014/main" id="{4A92F3CA-77CF-4F7A-B7E2-B30157290F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29" name="Line 611">
            <a:extLst>
              <a:ext uri="{FF2B5EF4-FFF2-40B4-BE49-F238E27FC236}">
                <a16:creationId xmlns:a16="http://schemas.microsoft.com/office/drawing/2014/main" id="{F070F8C3-D193-4C05-BE88-5F6092842B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154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30" name="Line 612">
            <a:extLst>
              <a:ext uri="{FF2B5EF4-FFF2-40B4-BE49-F238E27FC236}">
                <a16:creationId xmlns:a16="http://schemas.microsoft.com/office/drawing/2014/main" id="{9CBE2593-EBF8-45A1-A0A7-92A73E53C8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67800" y="1447800"/>
            <a:ext cx="457200" cy="3048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31" name="Line 613">
            <a:extLst>
              <a:ext uri="{FF2B5EF4-FFF2-40B4-BE49-F238E27FC236}">
                <a16:creationId xmlns:a16="http://schemas.microsoft.com/office/drawing/2014/main" id="{E5DAF84C-67F3-465B-A979-9F496C410372}"/>
              </a:ext>
            </a:extLst>
          </p:cNvPr>
          <p:cNvSpPr>
            <a:spLocks noChangeShapeType="1"/>
          </p:cNvSpPr>
          <p:nvPr/>
        </p:nvSpPr>
        <p:spPr bwMode="auto">
          <a:xfrm>
            <a:off x="9258300" y="17272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32" name="Line 614">
            <a:extLst>
              <a:ext uri="{FF2B5EF4-FFF2-40B4-BE49-F238E27FC236}">
                <a16:creationId xmlns:a16="http://schemas.microsoft.com/office/drawing/2014/main" id="{C74F32A7-D359-4B12-BAAC-311E2FB89A76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6400" y="169545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33" name="Line 615">
            <a:extLst>
              <a:ext uri="{FF2B5EF4-FFF2-40B4-BE49-F238E27FC236}">
                <a16:creationId xmlns:a16="http://schemas.microsoft.com/office/drawing/2014/main" id="{E8BB1524-BC19-40D1-877A-F526521F4071}"/>
              </a:ext>
            </a:extLst>
          </p:cNvPr>
          <p:cNvSpPr>
            <a:spLocks noChangeShapeType="1"/>
          </p:cNvSpPr>
          <p:nvPr/>
        </p:nvSpPr>
        <p:spPr bwMode="auto">
          <a:xfrm>
            <a:off x="9334500" y="168275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34" name="Line 616">
            <a:extLst>
              <a:ext uri="{FF2B5EF4-FFF2-40B4-BE49-F238E27FC236}">
                <a16:creationId xmlns:a16="http://schemas.microsoft.com/office/drawing/2014/main" id="{6C828AAE-F4CC-4381-A07D-CB447B1F42A2}"/>
              </a:ext>
            </a:extLst>
          </p:cNvPr>
          <p:cNvSpPr>
            <a:spLocks noChangeShapeType="1"/>
          </p:cNvSpPr>
          <p:nvPr/>
        </p:nvSpPr>
        <p:spPr bwMode="auto">
          <a:xfrm>
            <a:off x="9366250" y="1660525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35" name="Line 617">
            <a:extLst>
              <a:ext uri="{FF2B5EF4-FFF2-40B4-BE49-F238E27FC236}">
                <a16:creationId xmlns:a16="http://schemas.microsoft.com/office/drawing/2014/main" id="{F4D7699E-E5FB-4E3D-A6FC-BD97DF033933}"/>
              </a:ext>
            </a:extLst>
          </p:cNvPr>
          <p:cNvSpPr>
            <a:spLocks noChangeShapeType="1"/>
          </p:cNvSpPr>
          <p:nvPr/>
        </p:nvSpPr>
        <p:spPr bwMode="auto">
          <a:xfrm>
            <a:off x="9394825" y="1635125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36" name="Line 618">
            <a:extLst>
              <a:ext uri="{FF2B5EF4-FFF2-40B4-BE49-F238E27FC236}">
                <a16:creationId xmlns:a16="http://schemas.microsoft.com/office/drawing/2014/main" id="{AD95D5F6-CF6D-411C-8E38-D84365CD95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432925" y="1609725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37" name="Line 619">
            <a:extLst>
              <a:ext uri="{FF2B5EF4-FFF2-40B4-BE49-F238E27FC236}">
                <a16:creationId xmlns:a16="http://schemas.microsoft.com/office/drawing/2014/main" id="{B0B41FD4-F693-45FD-BBCF-D80EDED6160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71025" y="15875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38" name="Line 620">
            <a:extLst>
              <a:ext uri="{FF2B5EF4-FFF2-40B4-BE49-F238E27FC236}">
                <a16:creationId xmlns:a16="http://schemas.microsoft.com/office/drawing/2014/main" id="{8C6D4816-178D-47EB-A8DA-10CFF43592C4}"/>
              </a:ext>
            </a:extLst>
          </p:cNvPr>
          <p:cNvSpPr>
            <a:spLocks noChangeShapeType="1"/>
          </p:cNvSpPr>
          <p:nvPr/>
        </p:nvSpPr>
        <p:spPr bwMode="auto">
          <a:xfrm>
            <a:off x="9502775" y="1558925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39" name="Line 621">
            <a:extLst>
              <a:ext uri="{FF2B5EF4-FFF2-40B4-BE49-F238E27FC236}">
                <a16:creationId xmlns:a16="http://schemas.microsoft.com/office/drawing/2014/main" id="{45B05228-6B51-4BA8-8CD3-ED4CF0C1BF3A}"/>
              </a:ext>
            </a:extLst>
          </p:cNvPr>
          <p:cNvSpPr>
            <a:spLocks noChangeShapeType="1"/>
          </p:cNvSpPr>
          <p:nvPr/>
        </p:nvSpPr>
        <p:spPr bwMode="auto">
          <a:xfrm>
            <a:off x="9540875" y="1533525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40" name="Line 622">
            <a:extLst>
              <a:ext uri="{FF2B5EF4-FFF2-40B4-BE49-F238E27FC236}">
                <a16:creationId xmlns:a16="http://schemas.microsoft.com/office/drawing/2014/main" id="{291A2469-445A-4F20-B6D2-75E251EA555F}"/>
              </a:ext>
            </a:extLst>
          </p:cNvPr>
          <p:cNvSpPr>
            <a:spLocks noChangeShapeType="1"/>
          </p:cNvSpPr>
          <p:nvPr/>
        </p:nvSpPr>
        <p:spPr bwMode="auto">
          <a:xfrm>
            <a:off x="9578975" y="1514475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41" name="Line 623">
            <a:extLst>
              <a:ext uri="{FF2B5EF4-FFF2-40B4-BE49-F238E27FC236}">
                <a16:creationId xmlns:a16="http://schemas.microsoft.com/office/drawing/2014/main" id="{E72FDB73-A63A-4AFF-9853-2ABA1DBB1928}"/>
              </a:ext>
            </a:extLst>
          </p:cNvPr>
          <p:cNvSpPr>
            <a:spLocks noChangeShapeType="1"/>
          </p:cNvSpPr>
          <p:nvPr/>
        </p:nvSpPr>
        <p:spPr bwMode="auto">
          <a:xfrm>
            <a:off x="9610725" y="149225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42" name="Line 624">
            <a:extLst>
              <a:ext uri="{FF2B5EF4-FFF2-40B4-BE49-F238E27FC236}">
                <a16:creationId xmlns:a16="http://schemas.microsoft.com/office/drawing/2014/main" id="{D3E329B1-EB0E-4DFF-87F5-3BDD7C7171D5}"/>
              </a:ext>
            </a:extLst>
          </p:cNvPr>
          <p:cNvSpPr>
            <a:spLocks noChangeShapeType="1"/>
          </p:cNvSpPr>
          <p:nvPr/>
        </p:nvSpPr>
        <p:spPr bwMode="auto">
          <a:xfrm>
            <a:off x="9642475" y="1473200"/>
            <a:ext cx="0" cy="2819400"/>
          </a:xfrm>
          <a:prstGeom prst="line">
            <a:avLst/>
          </a:prstGeom>
          <a:solidFill>
            <a:srgbClr val="C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>
              <a:latin typeface="Cambria" panose="02040503050406030204" pitchFamily="18" charset="0"/>
            </a:endParaRPr>
          </a:p>
        </p:txBody>
      </p:sp>
      <p:sp>
        <p:nvSpPr>
          <p:cNvPr id="343" name="Text Box 588">
            <a:extLst>
              <a:ext uri="{FF2B5EF4-FFF2-40B4-BE49-F238E27FC236}">
                <a16:creationId xmlns:a16="http://schemas.microsoft.com/office/drawing/2014/main" id="{0A42FC63-FC4C-4276-8556-976123E6731A}"/>
              </a:ext>
            </a:extLst>
          </p:cNvPr>
          <p:cNvSpPr txBox="1">
            <a:spLocks noChangeArrowheads="1"/>
          </p:cNvSpPr>
          <p:nvPr/>
        </p:nvSpPr>
        <p:spPr bwMode="auto">
          <a:xfrm rot="19595005">
            <a:off x="9052780" y="4135234"/>
            <a:ext cx="173287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Cambria" panose="02040503050406030204" pitchFamily="18" charset="0"/>
              </a:rPr>
              <a:t>X16 device (DRAM width, # output pins)</a:t>
            </a:r>
          </a:p>
        </p:txBody>
      </p:sp>
      <p:sp>
        <p:nvSpPr>
          <p:cNvPr id="344" name="Rounded Rectangle 6">
            <a:extLst>
              <a:ext uri="{FF2B5EF4-FFF2-40B4-BE49-F238E27FC236}">
                <a16:creationId xmlns:a16="http://schemas.microsoft.com/office/drawing/2014/main" id="{C9EFE247-E176-4D0F-899C-598D17E9169C}"/>
              </a:ext>
            </a:extLst>
          </p:cNvPr>
          <p:cNvSpPr/>
          <p:nvPr/>
        </p:nvSpPr>
        <p:spPr>
          <a:xfrm>
            <a:off x="4143376" y="5809247"/>
            <a:ext cx="7972424" cy="55963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16-bit interface: 16 bits from each chip in one go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76C99AB-D5A7-8C6E-1A7D-2425B42F4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88744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000"/>
                                        <p:tgtEl>
                                          <p:spTgt spid="3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000"/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/>
      <p:bldP spid="158" grpId="0" animBg="1"/>
      <p:bldP spid="160" grpId="0"/>
      <p:bldP spid="160" grpId="1"/>
      <p:bldP spid="160" grpId="2"/>
      <p:bldP spid="164" grpId="0"/>
      <p:bldP spid="164" grpId="1"/>
      <p:bldP spid="164" grpId="2"/>
      <p:bldP spid="165" grpId="0"/>
      <p:bldP spid="165" grpId="1"/>
      <p:bldP spid="165" grpId="2"/>
      <p:bldP spid="166" grpId="0"/>
      <p:bldP spid="166" grpId="1"/>
      <p:bldP spid="166" grpId="2"/>
      <p:bldP spid="167" grpId="0" animBg="1"/>
      <p:bldP spid="167" grpId="1" animBg="1"/>
      <p:bldP spid="167" grpId="2" animBg="1"/>
      <p:bldP spid="168" grpId="0" animBg="1"/>
      <p:bldP spid="168" grpId="1" animBg="1"/>
      <p:bldP spid="168" grpId="2" animBg="1"/>
      <p:bldP spid="169" grpId="0" animBg="1"/>
      <p:bldP spid="169" grpId="1" animBg="1"/>
      <p:bldP spid="169" grpId="2" animBg="1"/>
      <p:bldP spid="170" grpId="0" animBg="1"/>
      <p:bldP spid="170" grpId="1" animBg="1"/>
      <p:bldP spid="170" grpId="2" animBg="1"/>
      <p:bldP spid="171" grpId="0" animBg="1"/>
      <p:bldP spid="172" grpId="0" animBg="1"/>
      <p:bldP spid="173" grpId="0" animBg="1"/>
      <p:bldP spid="174" grpId="0" animBg="1"/>
      <p:bldP spid="207" grpId="0" animBg="1"/>
      <p:bldP spid="343" grpId="0"/>
      <p:bldP spid="344" grpId="0" build="allAtOnce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61334-A735-468F-AC6A-BDE116E1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 Decoder and Row buffer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7DF09F-1FCC-4D5A-B8EC-797F1B230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16</a:t>
            </a:fld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9EBC06-A020-4769-BA95-69574B23280C}"/>
              </a:ext>
            </a:extLst>
          </p:cNvPr>
          <p:cNvSpPr/>
          <p:nvPr/>
        </p:nvSpPr>
        <p:spPr>
          <a:xfrm>
            <a:off x="1143000" y="2030553"/>
            <a:ext cx="4267200" cy="3657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Cambria" panose="020405030504060302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E3D1F3-70BE-428B-BE83-F1AF09BB61A6}"/>
              </a:ext>
            </a:extLst>
          </p:cNvPr>
          <p:cNvCxnSpPr/>
          <p:nvPr/>
        </p:nvCxnSpPr>
        <p:spPr>
          <a:xfrm>
            <a:off x="1143000" y="2335353"/>
            <a:ext cx="426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8FD47D-44EA-43C0-8DBF-0B771D12A799}"/>
              </a:ext>
            </a:extLst>
          </p:cNvPr>
          <p:cNvCxnSpPr/>
          <p:nvPr/>
        </p:nvCxnSpPr>
        <p:spPr>
          <a:xfrm>
            <a:off x="14478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B978A7-E9B1-4544-AA6E-696B6E38A837}"/>
              </a:ext>
            </a:extLst>
          </p:cNvPr>
          <p:cNvCxnSpPr/>
          <p:nvPr/>
        </p:nvCxnSpPr>
        <p:spPr>
          <a:xfrm>
            <a:off x="1143000" y="2640153"/>
            <a:ext cx="426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885D087-264D-4029-8125-6D9DE9527072}"/>
              </a:ext>
            </a:extLst>
          </p:cNvPr>
          <p:cNvCxnSpPr/>
          <p:nvPr/>
        </p:nvCxnSpPr>
        <p:spPr>
          <a:xfrm>
            <a:off x="1143000" y="2944953"/>
            <a:ext cx="426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E17ED09-8F75-4D30-8110-F860016372F0}"/>
              </a:ext>
            </a:extLst>
          </p:cNvPr>
          <p:cNvCxnSpPr/>
          <p:nvPr/>
        </p:nvCxnSpPr>
        <p:spPr>
          <a:xfrm>
            <a:off x="1143000" y="3249753"/>
            <a:ext cx="426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F347AE-BF3B-43BF-82DB-3E3CBBEC481E}"/>
              </a:ext>
            </a:extLst>
          </p:cNvPr>
          <p:cNvCxnSpPr/>
          <p:nvPr/>
        </p:nvCxnSpPr>
        <p:spPr>
          <a:xfrm>
            <a:off x="1143000" y="3554553"/>
            <a:ext cx="426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D3DB899-ADC4-4955-A0DC-50EF5E5E970D}"/>
              </a:ext>
            </a:extLst>
          </p:cNvPr>
          <p:cNvCxnSpPr>
            <a:endCxn id="6" idx="3"/>
          </p:cNvCxnSpPr>
          <p:nvPr/>
        </p:nvCxnSpPr>
        <p:spPr>
          <a:xfrm>
            <a:off x="1143000" y="3859353"/>
            <a:ext cx="426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B0F7141-A58F-44E4-98EF-56B1FE291748}"/>
              </a:ext>
            </a:extLst>
          </p:cNvPr>
          <p:cNvCxnSpPr/>
          <p:nvPr/>
        </p:nvCxnSpPr>
        <p:spPr>
          <a:xfrm>
            <a:off x="1143000" y="4164153"/>
            <a:ext cx="426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CACE0C-4231-422D-A885-4034ECD0C5BD}"/>
              </a:ext>
            </a:extLst>
          </p:cNvPr>
          <p:cNvCxnSpPr/>
          <p:nvPr/>
        </p:nvCxnSpPr>
        <p:spPr>
          <a:xfrm>
            <a:off x="1143000" y="4468953"/>
            <a:ext cx="426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7DEC3D-F468-4CCF-AF58-E48706F2D644}"/>
              </a:ext>
            </a:extLst>
          </p:cNvPr>
          <p:cNvCxnSpPr/>
          <p:nvPr/>
        </p:nvCxnSpPr>
        <p:spPr>
          <a:xfrm>
            <a:off x="1143000" y="4773753"/>
            <a:ext cx="426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5245AB-64DD-4236-B9D9-5B998838EE5C}"/>
              </a:ext>
            </a:extLst>
          </p:cNvPr>
          <p:cNvCxnSpPr/>
          <p:nvPr/>
        </p:nvCxnSpPr>
        <p:spPr>
          <a:xfrm>
            <a:off x="1143000" y="5078553"/>
            <a:ext cx="426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AB6A7C-D385-4793-866A-87E0D259B747}"/>
              </a:ext>
            </a:extLst>
          </p:cNvPr>
          <p:cNvCxnSpPr/>
          <p:nvPr/>
        </p:nvCxnSpPr>
        <p:spPr>
          <a:xfrm>
            <a:off x="1143000" y="5383353"/>
            <a:ext cx="4267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609B0BD-9BC2-4809-9A28-18ED6BC1910F}"/>
              </a:ext>
            </a:extLst>
          </p:cNvPr>
          <p:cNvCxnSpPr/>
          <p:nvPr/>
        </p:nvCxnSpPr>
        <p:spPr>
          <a:xfrm>
            <a:off x="17526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9BFC71-8D74-4859-BCE4-02CC7664F7D2}"/>
              </a:ext>
            </a:extLst>
          </p:cNvPr>
          <p:cNvCxnSpPr/>
          <p:nvPr/>
        </p:nvCxnSpPr>
        <p:spPr>
          <a:xfrm>
            <a:off x="20574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D63708-D846-4359-861B-97487831AA4E}"/>
              </a:ext>
            </a:extLst>
          </p:cNvPr>
          <p:cNvCxnSpPr/>
          <p:nvPr/>
        </p:nvCxnSpPr>
        <p:spPr>
          <a:xfrm>
            <a:off x="23622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08FC3D-D147-4D1D-86B7-9A73C6AC28D2}"/>
              </a:ext>
            </a:extLst>
          </p:cNvPr>
          <p:cNvCxnSpPr/>
          <p:nvPr/>
        </p:nvCxnSpPr>
        <p:spPr>
          <a:xfrm>
            <a:off x="26670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A1C9C2D-6AD2-4728-8EBD-B418548240CC}"/>
              </a:ext>
            </a:extLst>
          </p:cNvPr>
          <p:cNvCxnSpPr/>
          <p:nvPr/>
        </p:nvCxnSpPr>
        <p:spPr>
          <a:xfrm>
            <a:off x="29718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7611C89-369C-449C-A7D7-EDDF8EAD801E}"/>
              </a:ext>
            </a:extLst>
          </p:cNvPr>
          <p:cNvCxnSpPr/>
          <p:nvPr/>
        </p:nvCxnSpPr>
        <p:spPr>
          <a:xfrm>
            <a:off x="32766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0ECFB8-08D9-4FA9-837A-695A5BA9AAEF}"/>
              </a:ext>
            </a:extLst>
          </p:cNvPr>
          <p:cNvCxnSpPr/>
          <p:nvPr/>
        </p:nvCxnSpPr>
        <p:spPr>
          <a:xfrm>
            <a:off x="35814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D63C570-1887-45A5-944E-C7C7112F4074}"/>
              </a:ext>
            </a:extLst>
          </p:cNvPr>
          <p:cNvCxnSpPr/>
          <p:nvPr/>
        </p:nvCxnSpPr>
        <p:spPr>
          <a:xfrm>
            <a:off x="38862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98274E7-75E9-41AF-A8C2-110776587F21}"/>
              </a:ext>
            </a:extLst>
          </p:cNvPr>
          <p:cNvCxnSpPr/>
          <p:nvPr/>
        </p:nvCxnSpPr>
        <p:spPr>
          <a:xfrm>
            <a:off x="41910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FB58B45-16BA-48FF-8F01-34DAD1A8D7DB}"/>
              </a:ext>
            </a:extLst>
          </p:cNvPr>
          <p:cNvCxnSpPr/>
          <p:nvPr/>
        </p:nvCxnSpPr>
        <p:spPr>
          <a:xfrm>
            <a:off x="44958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E1CFDF-6A5F-4A80-A3FC-6C2106EC2FFE}"/>
              </a:ext>
            </a:extLst>
          </p:cNvPr>
          <p:cNvCxnSpPr/>
          <p:nvPr/>
        </p:nvCxnSpPr>
        <p:spPr>
          <a:xfrm>
            <a:off x="48006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190AD3E-426A-4D0D-B82A-A97042F76D97}"/>
              </a:ext>
            </a:extLst>
          </p:cNvPr>
          <p:cNvCxnSpPr/>
          <p:nvPr/>
        </p:nvCxnSpPr>
        <p:spPr>
          <a:xfrm>
            <a:off x="5105400" y="2030553"/>
            <a:ext cx="0" cy="3657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2F49F98B-8304-4897-A808-BEA9AD532D40}"/>
              </a:ext>
            </a:extLst>
          </p:cNvPr>
          <p:cNvSpPr/>
          <p:nvPr/>
        </p:nvSpPr>
        <p:spPr>
          <a:xfrm>
            <a:off x="2286000" y="6145353"/>
            <a:ext cx="1905000" cy="2286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ambria" panose="02040503050406030204" pitchFamily="18" charset="0"/>
              </a:rPr>
              <a:t>Column </a:t>
            </a:r>
            <a:r>
              <a:rPr lang="en-US" dirty="0" err="1">
                <a:latin typeface="Cambria" panose="02040503050406030204" pitchFamily="18" charset="0"/>
              </a:rPr>
              <a:t>mux</a:t>
            </a:r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37474F-D853-456C-931C-06595BD9CC7C}"/>
              </a:ext>
            </a:extLst>
          </p:cNvPr>
          <p:cNvSpPr/>
          <p:nvPr/>
        </p:nvSpPr>
        <p:spPr>
          <a:xfrm>
            <a:off x="762000" y="2030553"/>
            <a:ext cx="304800" cy="36576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ambria" panose="02040503050406030204" pitchFamily="18" charset="0"/>
              </a:rPr>
              <a:t>Row Decoder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581BF4-A165-4C64-837B-547BC4FA1ED1}"/>
              </a:ext>
            </a:extLst>
          </p:cNvPr>
          <p:cNvCxnSpPr/>
          <p:nvPr/>
        </p:nvCxnSpPr>
        <p:spPr>
          <a:xfrm>
            <a:off x="1066800" y="2944953"/>
            <a:ext cx="4343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EDABEF24-568B-4FDD-82AD-636E42A32EE1}"/>
              </a:ext>
            </a:extLst>
          </p:cNvPr>
          <p:cNvSpPr/>
          <p:nvPr/>
        </p:nvSpPr>
        <p:spPr>
          <a:xfrm>
            <a:off x="1143000" y="5764353"/>
            <a:ext cx="4267200" cy="2286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ambria" panose="02040503050406030204" pitchFamily="18" charset="0"/>
              </a:rPr>
              <a:t>Row Buffer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94D09FF-0451-4886-ACC8-C529937B957A}"/>
              </a:ext>
            </a:extLst>
          </p:cNvPr>
          <p:cNvSpPr/>
          <p:nvPr/>
        </p:nvSpPr>
        <p:spPr>
          <a:xfrm>
            <a:off x="1143000" y="2944953"/>
            <a:ext cx="4267200" cy="3048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F15F014-A9A9-4B05-B797-77E4EC54EA04}"/>
              </a:ext>
            </a:extLst>
          </p:cNvPr>
          <p:cNvSpPr/>
          <p:nvPr/>
        </p:nvSpPr>
        <p:spPr>
          <a:xfrm>
            <a:off x="1143000" y="2944953"/>
            <a:ext cx="4267200" cy="3048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37" name="Rounded Rectangle 6">
            <a:extLst>
              <a:ext uri="{FF2B5EF4-FFF2-40B4-BE49-F238E27FC236}">
                <a16:creationId xmlns:a16="http://schemas.microsoft.com/office/drawing/2014/main" id="{7CBA1492-017E-44A9-87B1-FD743CFAC4C1}"/>
              </a:ext>
            </a:extLst>
          </p:cNvPr>
          <p:cNvSpPr/>
          <p:nvPr/>
        </p:nvSpPr>
        <p:spPr>
          <a:xfrm>
            <a:off x="6400800" y="1751171"/>
            <a:ext cx="4648200" cy="481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Each bank has a row buffer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38" name="Rounded Rectangle 6">
            <a:extLst>
              <a:ext uri="{FF2B5EF4-FFF2-40B4-BE49-F238E27FC236}">
                <a16:creationId xmlns:a16="http://schemas.microsoft.com/office/drawing/2014/main" id="{D5719D10-59E2-48F4-AD17-5BA49C485A3B}"/>
              </a:ext>
            </a:extLst>
          </p:cNvPr>
          <p:cNvSpPr/>
          <p:nvPr/>
        </p:nvSpPr>
        <p:spPr>
          <a:xfrm>
            <a:off x="6400800" y="2334878"/>
            <a:ext cx="4648200" cy="4816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Stores the last used row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DB83F5F-8AD8-429E-91B6-00C75C053DD4}"/>
              </a:ext>
            </a:extLst>
          </p:cNvPr>
          <p:cNvCxnSpPr>
            <a:cxnSpLocks/>
          </p:cNvCxnSpPr>
          <p:nvPr/>
        </p:nvCxnSpPr>
        <p:spPr>
          <a:xfrm>
            <a:off x="1066800" y="1900598"/>
            <a:ext cx="4343400" cy="207"/>
          </a:xfrm>
          <a:prstGeom prst="straightConnector1">
            <a:avLst/>
          </a:prstGeom>
          <a:ln w="317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D1C08C9-A1B6-4CC8-86D7-FA7F7BEDCA5B}"/>
              </a:ext>
            </a:extLst>
          </p:cNvPr>
          <p:cNvSpPr txBox="1"/>
          <p:nvPr/>
        </p:nvSpPr>
        <p:spPr>
          <a:xfrm>
            <a:off x="2847481" y="1472803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2KB</a:t>
            </a:r>
            <a:endParaRPr lang="en-IN" dirty="0">
              <a:latin typeface="Cambria" panose="02040503050406030204" pitchFamily="18" charset="0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D9D4785-DC80-E156-D708-BECF43687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9643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-3.33333E-6 0.41111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0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1" grpId="0" animBg="1"/>
      <p:bldP spid="32" grpId="0" animBg="1"/>
      <p:bldP spid="34" grpId="0" animBg="1"/>
      <p:bldP spid="35" grpId="0" animBg="1"/>
      <p:bldP spid="35" grpId="1" animBg="1"/>
      <p:bldP spid="36" grpId="0" animBg="1"/>
      <p:bldP spid="37" grpId="0" build="allAtOnce" animBg="1"/>
      <p:bldP spid="38" grpId="0" build="allAtOnce" animBg="1"/>
      <p:bldP spid="4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0CB36-9605-4B10-881C-E86FEC23B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005B14-E29B-49C3-993E-6996DE0F7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17</a:t>
            </a:fld>
            <a:endParaRPr lang="en-IN" dirty="0"/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4C3BF536-6E46-4138-AF19-198569D70931}"/>
              </a:ext>
            </a:extLst>
          </p:cNvPr>
          <p:cNvSpPr/>
          <p:nvPr/>
        </p:nvSpPr>
        <p:spPr>
          <a:xfrm>
            <a:off x="457200" y="1354524"/>
            <a:ext cx="10134600" cy="7102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2Gb * 8 DRAM Chips (one side of the rank)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FE73E53-DB78-4D16-BA50-12E9BEB5A423}"/>
              </a:ext>
            </a:extLst>
          </p:cNvPr>
          <p:cNvSpPr/>
          <p:nvPr/>
        </p:nvSpPr>
        <p:spPr>
          <a:xfrm>
            <a:off x="457200" y="2192724"/>
            <a:ext cx="10134600" cy="7102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Total 16 chips + 2 chips for ECC (for both the ranks)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A7281CB2-6FD6-4E32-810A-26779CBA62B0}"/>
              </a:ext>
            </a:extLst>
          </p:cNvPr>
          <p:cNvSpPr/>
          <p:nvPr/>
        </p:nvSpPr>
        <p:spPr>
          <a:xfrm>
            <a:off x="457200" y="3107124"/>
            <a:ext cx="10134600" cy="7102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64 bit + 8 bit ECC interface (72 bit wide DIMM) 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7E70F797-4596-45EC-9298-16E237CE6A9E}"/>
              </a:ext>
            </a:extLst>
          </p:cNvPr>
          <p:cNvSpPr/>
          <p:nvPr/>
        </p:nvSpPr>
        <p:spPr>
          <a:xfrm>
            <a:off x="457200" y="3945324"/>
            <a:ext cx="10134600" cy="7102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Transferring a 64B cache line will take 8 transfers of 8B each 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49AB4CAB-7675-4EFA-A029-C76AA213E649}"/>
              </a:ext>
            </a:extLst>
          </p:cNvPr>
          <p:cNvSpPr/>
          <p:nvPr/>
        </p:nvSpPr>
        <p:spPr>
          <a:xfrm>
            <a:off x="457200" y="4783524"/>
            <a:ext cx="10134600" cy="7102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8B will come from 8 chips (8 bits from one chip)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60497638-7A19-4DAC-B100-345AA250C0ED}"/>
              </a:ext>
            </a:extLst>
          </p:cNvPr>
          <p:cNvSpPr/>
          <p:nvPr/>
        </p:nvSpPr>
        <p:spPr>
          <a:xfrm>
            <a:off x="457200" y="5646137"/>
            <a:ext cx="10134600" cy="7102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1 bit from each DRAM array assuming 8 DRAM arrays per bank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35807FA-8390-4BD2-DAD9-FBDC9EBCB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1532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  <p:bldP spid="7" grpId="0" build="allAtOnce" animBg="1"/>
      <p:bldP spid="8" grpId="0" build="allAtOnce" animBg="1"/>
      <p:bldP spid="9" grpId="0" build="allAtOnce" animBg="1"/>
      <p:bldP spid="10" grpId="0" build="allAtOnce" animBg="1"/>
      <p:bldP spid="11" grpId="0" build="allAtOnce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BEB4C-4EDF-4DCC-891B-2FECBC483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DRAM to LLC interaction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B7C6DA-EEC1-4387-BC10-38ADCCD6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18</a:t>
            </a:fld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A3AB3E-08EA-4F42-998E-49AE0A458FBC}"/>
              </a:ext>
            </a:extLst>
          </p:cNvPr>
          <p:cNvSpPr/>
          <p:nvPr/>
        </p:nvSpPr>
        <p:spPr>
          <a:xfrm>
            <a:off x="2819400" y="2133600"/>
            <a:ext cx="457200" cy="3429000"/>
          </a:xfrm>
          <a:prstGeom prst="rect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7CC5E37A-66ED-4631-B32B-8FE758E1F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981200"/>
            <a:ext cx="914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 dirty="0">
                <a:latin typeface="Cambria" panose="02040503050406030204" pitchFamily="18" charset="0"/>
                <a:cs typeface="Arial" charset="0"/>
              </a:rPr>
              <a:t>0xFFFF…F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E5ABEFC4-89E0-4CC1-9622-419C164485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376863"/>
            <a:ext cx="9144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 dirty="0">
                <a:latin typeface="Cambria" panose="02040503050406030204" pitchFamily="18" charset="0"/>
                <a:cs typeface="Arial" charset="0"/>
              </a:rPr>
              <a:t>0x00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D224A9E0-9684-497E-864D-C37C02CFD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267200"/>
            <a:ext cx="9144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 dirty="0">
                <a:latin typeface="Cambria" panose="02040503050406030204" pitchFamily="18" charset="0"/>
                <a:cs typeface="Arial" charset="0"/>
              </a:rPr>
              <a:t>0x40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B443103-BD8D-49EC-B55F-9F96EE31E1F4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1968500" y="3060700"/>
            <a:ext cx="76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3200" dirty="0">
                <a:latin typeface="Cambria" panose="02040503050406030204" pitchFamily="18" charset="0"/>
                <a:cs typeface="Arial" charset="0"/>
              </a:rPr>
              <a:t>...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F148CF7-2225-4F97-9134-03F51EF80417}"/>
              </a:ext>
            </a:extLst>
          </p:cNvPr>
          <p:cNvCxnSpPr/>
          <p:nvPr/>
        </p:nvCxnSpPr>
        <p:spPr>
          <a:xfrm rot="5400000">
            <a:off x="2857501" y="4991100"/>
            <a:ext cx="1141412" cy="1587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C1D3825-D185-41A1-AC50-70FA6814C26E}"/>
              </a:ext>
            </a:extLst>
          </p:cNvPr>
          <p:cNvSpPr/>
          <p:nvPr/>
        </p:nvSpPr>
        <p:spPr>
          <a:xfrm>
            <a:off x="2819400" y="4419600"/>
            <a:ext cx="457200" cy="1143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50AF6906-7A82-46E2-B57B-7A131E5E6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724400"/>
            <a:ext cx="1143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64B </a:t>
            </a:r>
          </a:p>
          <a:p>
            <a:pPr algn="ctr" eaLnBrk="1" hangingPunct="1"/>
            <a:r>
              <a:rPr lang="en-US" sz="16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cache block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132D0B4E-30B4-4D91-A33D-D76C30C78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447800"/>
            <a:ext cx="2133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Physical memory space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6A4252-B773-4167-B73C-E1FDB2B027B8}"/>
              </a:ext>
            </a:extLst>
          </p:cNvPr>
          <p:cNvSpPr/>
          <p:nvPr/>
        </p:nvSpPr>
        <p:spPr>
          <a:xfrm>
            <a:off x="5257800" y="2212975"/>
            <a:ext cx="4724400" cy="979488"/>
          </a:xfrm>
          <a:prstGeom prst="rect">
            <a:avLst/>
          </a:prstGeom>
          <a:solidFill>
            <a:schemeClr val="accent3">
              <a:lumMod val="60000"/>
              <a:lumOff val="40000"/>
              <a:alpha val="4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16" name="TextBox 69">
            <a:extLst>
              <a:ext uri="{FF2B5EF4-FFF2-40B4-BE49-F238E27FC236}">
                <a16:creationId xmlns:a16="http://schemas.microsoft.com/office/drawing/2014/main" id="{A7E16262-7A39-4444-9BB2-864177CB7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1839913"/>
            <a:ext cx="1219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dirty="0">
                <a:solidFill>
                  <a:srgbClr val="C00000"/>
                </a:solidFill>
                <a:latin typeface="Cambria" panose="02040503050406030204" pitchFamily="18" charset="0"/>
                <a:cs typeface="Arial" charset="0"/>
              </a:rPr>
              <a:t>Rank 0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9C4DAD5-BC98-400A-86C1-E3283CC89725}"/>
              </a:ext>
            </a:extLst>
          </p:cNvPr>
          <p:cNvGraphicFramePr>
            <a:graphicFrameLocks noGrp="1"/>
          </p:cNvGraphicFramePr>
          <p:nvPr/>
        </p:nvGraphicFramePr>
        <p:xfrm>
          <a:off x="5537200" y="2390775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A07BA56-7178-4E4C-94E4-1B656781FFFB}"/>
              </a:ext>
            </a:extLst>
          </p:cNvPr>
          <p:cNvGraphicFramePr>
            <a:graphicFrameLocks noGrp="1"/>
          </p:cNvGraphicFramePr>
          <p:nvPr/>
        </p:nvGraphicFramePr>
        <p:xfrm>
          <a:off x="5461000" y="2492375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1E77AC8-489E-40C8-8250-021506F96D1E}"/>
              </a:ext>
            </a:extLst>
          </p:cNvPr>
          <p:cNvGraphicFramePr>
            <a:graphicFrameLocks noGrp="1"/>
          </p:cNvGraphicFramePr>
          <p:nvPr/>
        </p:nvGraphicFramePr>
        <p:xfrm>
          <a:off x="9194800" y="2390775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172EC75-77EF-42D4-8E36-4A0106E5DB97}"/>
              </a:ext>
            </a:extLst>
          </p:cNvPr>
          <p:cNvGraphicFramePr>
            <a:graphicFrameLocks noGrp="1"/>
          </p:cNvGraphicFramePr>
          <p:nvPr/>
        </p:nvGraphicFramePr>
        <p:xfrm>
          <a:off x="9118600" y="2492375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49B78D4-85ED-40BE-8148-1DFD107981A7}"/>
              </a:ext>
            </a:extLst>
          </p:cNvPr>
          <p:cNvGraphicFramePr>
            <a:graphicFrameLocks noGrp="1"/>
          </p:cNvGraphicFramePr>
          <p:nvPr/>
        </p:nvGraphicFramePr>
        <p:xfrm>
          <a:off x="6527800" y="2390775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621668F-B84C-420C-AD7A-AF47827A84EF}"/>
              </a:ext>
            </a:extLst>
          </p:cNvPr>
          <p:cNvGraphicFramePr>
            <a:graphicFrameLocks noGrp="1"/>
          </p:cNvGraphicFramePr>
          <p:nvPr/>
        </p:nvGraphicFramePr>
        <p:xfrm>
          <a:off x="6451600" y="2492375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EEE9220E-66B5-434E-A03E-3673D11A125E}"/>
              </a:ext>
            </a:extLst>
          </p:cNvPr>
          <p:cNvSpPr/>
          <p:nvPr/>
        </p:nvSpPr>
        <p:spPr>
          <a:xfrm>
            <a:off x="5410200" y="2060575"/>
            <a:ext cx="762000" cy="129540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AE380A-ADBD-493E-9C90-A64F79204092}"/>
              </a:ext>
            </a:extLst>
          </p:cNvPr>
          <p:cNvSpPr/>
          <p:nvPr/>
        </p:nvSpPr>
        <p:spPr>
          <a:xfrm>
            <a:off x="6400800" y="2060575"/>
            <a:ext cx="762000" cy="129540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8DB0C0-85C8-44D2-9DE1-95A023A8EAA6}"/>
              </a:ext>
            </a:extLst>
          </p:cNvPr>
          <p:cNvSpPr/>
          <p:nvPr/>
        </p:nvSpPr>
        <p:spPr>
          <a:xfrm>
            <a:off x="9067800" y="2060575"/>
            <a:ext cx="762000" cy="129540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26" name="TextBox 39">
            <a:extLst>
              <a:ext uri="{FF2B5EF4-FFF2-40B4-BE49-F238E27FC236}">
                <a16:creationId xmlns:a16="http://schemas.microsoft.com/office/drawing/2014/main" id="{31AB38D1-739C-466E-BE52-7F94C3A87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1755775"/>
            <a:ext cx="76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Chip 0</a:t>
            </a:r>
          </a:p>
        </p:txBody>
      </p:sp>
      <p:sp>
        <p:nvSpPr>
          <p:cNvPr id="27" name="TextBox 40">
            <a:extLst>
              <a:ext uri="{FF2B5EF4-FFF2-40B4-BE49-F238E27FC236}">
                <a16:creationId xmlns:a16="http://schemas.microsoft.com/office/drawing/2014/main" id="{B623AB8E-A658-4B32-A29B-435307D90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752600"/>
            <a:ext cx="76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Chip 1</a:t>
            </a:r>
          </a:p>
        </p:txBody>
      </p:sp>
      <p:sp>
        <p:nvSpPr>
          <p:cNvPr id="28" name="TextBox 41">
            <a:extLst>
              <a:ext uri="{FF2B5EF4-FFF2-40B4-BE49-F238E27FC236}">
                <a16:creationId xmlns:a16="http://schemas.microsoft.com/office/drawing/2014/main" id="{4DC0182B-0D65-404C-997F-A3DBC69A34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7800" y="1755775"/>
            <a:ext cx="76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Chip 7</a:t>
            </a:r>
          </a:p>
        </p:txBody>
      </p:sp>
      <p:cxnSp>
        <p:nvCxnSpPr>
          <p:cNvPr id="29" name="Shape 9">
            <a:extLst>
              <a:ext uri="{FF2B5EF4-FFF2-40B4-BE49-F238E27FC236}">
                <a16:creationId xmlns:a16="http://schemas.microsoft.com/office/drawing/2014/main" id="{1B260F0F-D3C8-46F5-8CED-1F7ECBF8C4E6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5247482" y="3888581"/>
            <a:ext cx="1066800" cy="158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0" name="TextBox 43">
            <a:extLst>
              <a:ext uri="{FF2B5EF4-FFF2-40B4-BE49-F238E27FC236}">
                <a16:creationId xmlns:a16="http://schemas.microsoft.com/office/drawing/2014/main" id="{73BD4A89-E256-4FCC-BDB1-4E9A01F6BF6F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5099844" y="3666331"/>
            <a:ext cx="990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>
                <a:solidFill>
                  <a:srgbClr val="C0504D"/>
                </a:solidFill>
                <a:latin typeface="Cambria" panose="02040503050406030204" pitchFamily="18" charset="0"/>
                <a:cs typeface="Arial" charset="0"/>
              </a:rPr>
              <a:t>&lt;0:7&gt;</a:t>
            </a:r>
          </a:p>
        </p:txBody>
      </p:sp>
      <p:cxnSp>
        <p:nvCxnSpPr>
          <p:cNvPr id="31" name="Shape 9">
            <a:extLst>
              <a:ext uri="{FF2B5EF4-FFF2-40B4-BE49-F238E27FC236}">
                <a16:creationId xmlns:a16="http://schemas.microsoft.com/office/drawing/2014/main" id="{75F3F30F-3D5E-4664-9FDD-21DDC57073F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6247607" y="3888581"/>
            <a:ext cx="1066800" cy="158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2" name="TextBox 45">
            <a:extLst>
              <a:ext uri="{FF2B5EF4-FFF2-40B4-BE49-F238E27FC236}">
                <a16:creationId xmlns:a16="http://schemas.microsoft.com/office/drawing/2014/main" id="{A01F26CE-5390-4D92-97DD-37E211C8FD94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6099969" y="3666331"/>
            <a:ext cx="990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>
                <a:solidFill>
                  <a:srgbClr val="C0504D"/>
                </a:solidFill>
                <a:latin typeface="Cambria" panose="02040503050406030204" pitchFamily="18" charset="0"/>
                <a:cs typeface="Arial" charset="0"/>
              </a:rPr>
              <a:t>&lt;8:15&gt;</a:t>
            </a:r>
          </a:p>
        </p:txBody>
      </p:sp>
      <p:cxnSp>
        <p:nvCxnSpPr>
          <p:cNvPr id="33" name="Shape 9">
            <a:extLst>
              <a:ext uri="{FF2B5EF4-FFF2-40B4-BE49-F238E27FC236}">
                <a16:creationId xmlns:a16="http://schemas.microsoft.com/office/drawing/2014/main" id="{6D75D761-5ABC-4DEE-8044-A88A8C9C50A8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8990807" y="3888581"/>
            <a:ext cx="1066800" cy="158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4" name="TextBox 47">
            <a:extLst>
              <a:ext uri="{FF2B5EF4-FFF2-40B4-BE49-F238E27FC236}">
                <a16:creationId xmlns:a16="http://schemas.microsoft.com/office/drawing/2014/main" id="{A5C0D7D0-8281-4A90-9309-1237BB678477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8806658" y="3703121"/>
            <a:ext cx="10636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dirty="0">
                <a:solidFill>
                  <a:srgbClr val="C0504D"/>
                </a:solidFill>
                <a:latin typeface="Cambria" panose="02040503050406030204" pitchFamily="18" charset="0"/>
                <a:cs typeface="Arial" charset="0"/>
              </a:rPr>
              <a:t>&lt;56:63&gt;</a:t>
            </a:r>
          </a:p>
        </p:txBody>
      </p:sp>
      <p:cxnSp>
        <p:nvCxnSpPr>
          <p:cNvPr id="35" name="Shape 9">
            <a:extLst>
              <a:ext uri="{FF2B5EF4-FFF2-40B4-BE49-F238E27FC236}">
                <a16:creationId xmlns:a16="http://schemas.microsoft.com/office/drawing/2014/main" id="{827101E1-F12C-49D7-BB02-AAEEA8DEB9F2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7009607" y="4955381"/>
            <a:ext cx="1066800" cy="1587"/>
          </a:xfrm>
          <a:prstGeom prst="bentConnector3">
            <a:avLst>
              <a:gd name="adj1" fmla="val 50000"/>
            </a:avLst>
          </a:prstGeom>
          <a:noFill/>
          <a:ln w="1016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6" name="TextBox 50">
            <a:extLst>
              <a:ext uri="{FF2B5EF4-FFF2-40B4-BE49-F238E27FC236}">
                <a16:creationId xmlns:a16="http://schemas.microsoft.com/office/drawing/2014/main" id="{FE539325-68EE-4149-8CDB-E34D71FE6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4803775"/>
            <a:ext cx="152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>
                <a:solidFill>
                  <a:srgbClr val="C0504D"/>
                </a:solidFill>
                <a:latin typeface="Cambria" panose="02040503050406030204" pitchFamily="18" charset="0"/>
                <a:cs typeface="Arial" charset="0"/>
              </a:rPr>
              <a:t>Data &lt;0:63&gt;</a:t>
            </a:r>
          </a:p>
        </p:txBody>
      </p:sp>
      <p:cxnSp>
        <p:nvCxnSpPr>
          <p:cNvPr id="37" name="Shape 9">
            <a:extLst>
              <a:ext uri="{FF2B5EF4-FFF2-40B4-BE49-F238E27FC236}">
                <a16:creationId xmlns:a16="http://schemas.microsoft.com/office/drawing/2014/main" id="{1F22C0A8-049E-4C5D-8F70-FE132D4E5D2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91200" y="4419600"/>
            <a:ext cx="3733800" cy="1588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8" name="TextBox 64">
            <a:extLst>
              <a:ext uri="{FF2B5EF4-FFF2-40B4-BE49-F238E27FC236}">
                <a16:creationId xmlns:a16="http://schemas.microsoft.com/office/drawing/2014/main" id="{083BAF5B-E1A4-4A22-A652-1B14416DD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311400"/>
            <a:ext cx="76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32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. . 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A5C668A-69D9-8834-16A8-F5A8C0232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953155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02306-94F3-4895-A472-F14C538A5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DRAM to LLC interaction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5DEBC4-3CF1-4620-B06A-3D9AB0EFE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19</a:t>
            </a:fld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A4729E8-3050-4A9F-8963-802E3EB1C6A5}"/>
              </a:ext>
            </a:extLst>
          </p:cNvPr>
          <p:cNvSpPr/>
          <p:nvPr/>
        </p:nvSpPr>
        <p:spPr>
          <a:xfrm>
            <a:off x="2819400" y="2133600"/>
            <a:ext cx="457200" cy="3429000"/>
          </a:xfrm>
          <a:prstGeom prst="rect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42" name="TextBox 4">
            <a:extLst>
              <a:ext uri="{FF2B5EF4-FFF2-40B4-BE49-F238E27FC236}">
                <a16:creationId xmlns:a16="http://schemas.microsoft.com/office/drawing/2014/main" id="{E90D283C-0240-4DBB-B41F-CDB206BB3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981200"/>
            <a:ext cx="914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 dirty="0">
                <a:latin typeface="Cambria" panose="02040503050406030204" pitchFamily="18" charset="0"/>
                <a:cs typeface="Arial" charset="0"/>
              </a:rPr>
              <a:t>0xFFFF…F</a:t>
            </a:r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A0F63AFE-B29F-4FE5-A69A-ADA234496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376864"/>
            <a:ext cx="9144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>
                <a:latin typeface="Cambria" panose="02040503050406030204" pitchFamily="18" charset="0"/>
                <a:cs typeface="Arial" charset="0"/>
              </a:rPr>
              <a:t>0x00</a:t>
            </a:r>
          </a:p>
        </p:txBody>
      </p:sp>
      <p:sp>
        <p:nvSpPr>
          <p:cNvPr id="44" name="TextBox 6">
            <a:extLst>
              <a:ext uri="{FF2B5EF4-FFF2-40B4-BE49-F238E27FC236}">
                <a16:creationId xmlns:a16="http://schemas.microsoft.com/office/drawing/2014/main" id="{E3D046FF-74E3-4570-9348-9914312E4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267200"/>
            <a:ext cx="9144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>
                <a:latin typeface="Cambria" panose="02040503050406030204" pitchFamily="18" charset="0"/>
                <a:cs typeface="Arial" charset="0"/>
              </a:rPr>
              <a:t>0x40</a:t>
            </a:r>
          </a:p>
        </p:txBody>
      </p:sp>
      <p:sp>
        <p:nvSpPr>
          <p:cNvPr id="45" name="TextBox 7">
            <a:extLst>
              <a:ext uri="{FF2B5EF4-FFF2-40B4-BE49-F238E27FC236}">
                <a16:creationId xmlns:a16="http://schemas.microsoft.com/office/drawing/2014/main" id="{5E3F9E01-AEC2-4CAC-A269-094684EB19E0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1968500" y="3060700"/>
            <a:ext cx="76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3200">
                <a:solidFill>
                  <a:srgbClr val="8064A2"/>
                </a:solidFill>
                <a:latin typeface="Cambria" panose="02040503050406030204" pitchFamily="18" charset="0"/>
                <a:cs typeface="Arial" charset="0"/>
              </a:rPr>
              <a:t>...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8AF1112-CD3A-4ACD-97F0-BBF64F53536C}"/>
              </a:ext>
            </a:extLst>
          </p:cNvPr>
          <p:cNvCxnSpPr/>
          <p:nvPr/>
        </p:nvCxnSpPr>
        <p:spPr>
          <a:xfrm rot="5400000">
            <a:off x="2857501" y="4991101"/>
            <a:ext cx="1141412" cy="1587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94842529-ADF0-482D-9A2E-39E0A4F0330B}"/>
              </a:ext>
            </a:extLst>
          </p:cNvPr>
          <p:cNvSpPr/>
          <p:nvPr/>
        </p:nvSpPr>
        <p:spPr>
          <a:xfrm>
            <a:off x="2819400" y="4419600"/>
            <a:ext cx="457200" cy="1143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48" name="TextBox 14">
            <a:extLst>
              <a:ext uri="{FF2B5EF4-FFF2-40B4-BE49-F238E27FC236}">
                <a16:creationId xmlns:a16="http://schemas.microsoft.com/office/drawing/2014/main" id="{6608975B-99A2-40BD-9004-5DF2CF642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724400"/>
            <a:ext cx="1143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64B </a:t>
            </a:r>
          </a:p>
          <a:p>
            <a:pPr algn="ctr" eaLnBrk="1" hangingPunct="1"/>
            <a:r>
              <a:rPr lang="en-US" sz="16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cache block</a:t>
            </a:r>
          </a:p>
        </p:txBody>
      </p:sp>
      <p:sp>
        <p:nvSpPr>
          <p:cNvPr id="49" name="TextBox 15">
            <a:extLst>
              <a:ext uri="{FF2B5EF4-FFF2-40B4-BE49-F238E27FC236}">
                <a16:creationId xmlns:a16="http://schemas.microsoft.com/office/drawing/2014/main" id="{0B5BCEB7-2AE6-4C5A-BC2C-DC46F9508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447800"/>
            <a:ext cx="2133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Physical memory space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455712A-E2D1-4110-87A1-A4305B8A2195}"/>
              </a:ext>
            </a:extLst>
          </p:cNvPr>
          <p:cNvSpPr/>
          <p:nvPr/>
        </p:nvSpPr>
        <p:spPr>
          <a:xfrm>
            <a:off x="5257800" y="2212975"/>
            <a:ext cx="4724400" cy="979488"/>
          </a:xfrm>
          <a:prstGeom prst="rect">
            <a:avLst/>
          </a:prstGeom>
          <a:solidFill>
            <a:schemeClr val="accent3">
              <a:lumMod val="60000"/>
              <a:lumOff val="40000"/>
              <a:alpha val="4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51" name="TextBox 69">
            <a:extLst>
              <a:ext uri="{FF2B5EF4-FFF2-40B4-BE49-F238E27FC236}">
                <a16:creationId xmlns:a16="http://schemas.microsoft.com/office/drawing/2014/main" id="{2636CB8F-5338-44DF-A043-B297072AF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1843089"/>
            <a:ext cx="1219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dirty="0">
                <a:solidFill>
                  <a:srgbClr val="C00000"/>
                </a:solidFill>
                <a:latin typeface="Cambria" panose="02040503050406030204" pitchFamily="18" charset="0"/>
                <a:cs typeface="Arial" charset="0"/>
              </a:rPr>
              <a:t>Rank 0</a:t>
            </a: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89598321-A339-4672-A115-3E481BEEF061}"/>
              </a:ext>
            </a:extLst>
          </p:cNvPr>
          <p:cNvGraphicFramePr>
            <a:graphicFrameLocks noGrp="1"/>
          </p:cNvGraphicFramePr>
          <p:nvPr/>
        </p:nvGraphicFramePr>
        <p:xfrm>
          <a:off x="5537200" y="2390775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68A53474-2846-4D5C-A31D-FBD5143A27BB}"/>
              </a:ext>
            </a:extLst>
          </p:cNvPr>
          <p:cNvGraphicFramePr>
            <a:graphicFrameLocks noGrp="1"/>
          </p:cNvGraphicFramePr>
          <p:nvPr/>
        </p:nvGraphicFramePr>
        <p:xfrm>
          <a:off x="5461000" y="2492375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566EA42F-8317-4893-B7FF-E39EA5204953}"/>
              </a:ext>
            </a:extLst>
          </p:cNvPr>
          <p:cNvGraphicFramePr>
            <a:graphicFrameLocks noGrp="1"/>
          </p:cNvGraphicFramePr>
          <p:nvPr/>
        </p:nvGraphicFramePr>
        <p:xfrm>
          <a:off x="9194800" y="2390775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868C4A8B-3CF7-4619-B2BE-31DE933AABA1}"/>
              </a:ext>
            </a:extLst>
          </p:cNvPr>
          <p:cNvGraphicFramePr>
            <a:graphicFrameLocks noGrp="1"/>
          </p:cNvGraphicFramePr>
          <p:nvPr/>
        </p:nvGraphicFramePr>
        <p:xfrm>
          <a:off x="9118600" y="2492375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BAA2C615-5B3B-4C28-9FC0-E1013234B36B}"/>
              </a:ext>
            </a:extLst>
          </p:cNvPr>
          <p:cNvGraphicFramePr>
            <a:graphicFrameLocks noGrp="1"/>
          </p:cNvGraphicFramePr>
          <p:nvPr/>
        </p:nvGraphicFramePr>
        <p:xfrm>
          <a:off x="6527800" y="2390775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4E0FBE10-C39E-4C30-BFC2-C0A31D9F0B82}"/>
              </a:ext>
            </a:extLst>
          </p:cNvPr>
          <p:cNvGraphicFramePr>
            <a:graphicFrameLocks noGrp="1"/>
          </p:cNvGraphicFramePr>
          <p:nvPr/>
        </p:nvGraphicFramePr>
        <p:xfrm>
          <a:off x="6451600" y="2492375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8" name="Rectangle 57">
            <a:extLst>
              <a:ext uri="{FF2B5EF4-FFF2-40B4-BE49-F238E27FC236}">
                <a16:creationId xmlns:a16="http://schemas.microsoft.com/office/drawing/2014/main" id="{6901F91F-7A87-4CA9-8580-EFEB300AF8F6}"/>
              </a:ext>
            </a:extLst>
          </p:cNvPr>
          <p:cNvSpPr/>
          <p:nvPr/>
        </p:nvSpPr>
        <p:spPr>
          <a:xfrm>
            <a:off x="5410200" y="2060575"/>
            <a:ext cx="762000" cy="129540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2C2BC02-7BA9-4237-8338-F56C3963E60E}"/>
              </a:ext>
            </a:extLst>
          </p:cNvPr>
          <p:cNvSpPr/>
          <p:nvPr/>
        </p:nvSpPr>
        <p:spPr>
          <a:xfrm>
            <a:off x="6400800" y="2060575"/>
            <a:ext cx="762000" cy="129540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9D43933-083E-42E1-8360-74C9DC073442}"/>
              </a:ext>
            </a:extLst>
          </p:cNvPr>
          <p:cNvSpPr/>
          <p:nvPr/>
        </p:nvSpPr>
        <p:spPr>
          <a:xfrm>
            <a:off x="9067800" y="2060575"/>
            <a:ext cx="762000" cy="129540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61" name="TextBox 39">
            <a:extLst>
              <a:ext uri="{FF2B5EF4-FFF2-40B4-BE49-F238E27FC236}">
                <a16:creationId xmlns:a16="http://schemas.microsoft.com/office/drawing/2014/main" id="{5B40B050-63F5-49BA-9B83-86B6AF77A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1755776"/>
            <a:ext cx="76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Chip 0</a:t>
            </a:r>
          </a:p>
        </p:txBody>
      </p:sp>
      <p:sp>
        <p:nvSpPr>
          <p:cNvPr id="62" name="TextBox 40">
            <a:extLst>
              <a:ext uri="{FF2B5EF4-FFF2-40B4-BE49-F238E27FC236}">
                <a16:creationId xmlns:a16="http://schemas.microsoft.com/office/drawing/2014/main" id="{CA6D35A5-76A2-440D-BCFA-A38C4E24A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752601"/>
            <a:ext cx="76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Chip 1</a:t>
            </a:r>
          </a:p>
        </p:txBody>
      </p:sp>
      <p:sp>
        <p:nvSpPr>
          <p:cNvPr id="63" name="TextBox 41">
            <a:extLst>
              <a:ext uri="{FF2B5EF4-FFF2-40B4-BE49-F238E27FC236}">
                <a16:creationId xmlns:a16="http://schemas.microsoft.com/office/drawing/2014/main" id="{132EE584-1C2C-461B-992D-E01D08BD4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7800" y="1755776"/>
            <a:ext cx="76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Chip 7</a:t>
            </a:r>
          </a:p>
        </p:txBody>
      </p:sp>
      <p:cxnSp>
        <p:nvCxnSpPr>
          <p:cNvPr id="64" name="Shape 9">
            <a:extLst>
              <a:ext uri="{FF2B5EF4-FFF2-40B4-BE49-F238E27FC236}">
                <a16:creationId xmlns:a16="http://schemas.microsoft.com/office/drawing/2014/main" id="{A1481D4E-163F-4F09-A2CA-FC36F641CA5A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5247482" y="3888582"/>
            <a:ext cx="1066800" cy="158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65" name="TextBox 43">
            <a:extLst>
              <a:ext uri="{FF2B5EF4-FFF2-40B4-BE49-F238E27FC236}">
                <a16:creationId xmlns:a16="http://schemas.microsoft.com/office/drawing/2014/main" id="{AABDD676-564D-4824-B086-AFAE71524762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5099844" y="3666331"/>
            <a:ext cx="990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>
                <a:solidFill>
                  <a:srgbClr val="C0504D"/>
                </a:solidFill>
                <a:latin typeface="Cambria" panose="02040503050406030204" pitchFamily="18" charset="0"/>
                <a:cs typeface="Arial" charset="0"/>
              </a:rPr>
              <a:t>&lt;0:7&gt;</a:t>
            </a:r>
          </a:p>
        </p:txBody>
      </p:sp>
      <p:cxnSp>
        <p:nvCxnSpPr>
          <p:cNvPr id="66" name="Shape 9">
            <a:extLst>
              <a:ext uri="{FF2B5EF4-FFF2-40B4-BE49-F238E27FC236}">
                <a16:creationId xmlns:a16="http://schemas.microsoft.com/office/drawing/2014/main" id="{1CB035EB-38F7-47F0-BC70-82877FA6539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6247607" y="3888582"/>
            <a:ext cx="1066800" cy="158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67" name="TextBox 45">
            <a:extLst>
              <a:ext uri="{FF2B5EF4-FFF2-40B4-BE49-F238E27FC236}">
                <a16:creationId xmlns:a16="http://schemas.microsoft.com/office/drawing/2014/main" id="{78CDEA29-0417-4CC8-AAA0-347327F8FBB2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6099969" y="3666331"/>
            <a:ext cx="990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>
                <a:solidFill>
                  <a:srgbClr val="C0504D"/>
                </a:solidFill>
                <a:latin typeface="Cambria" panose="02040503050406030204" pitchFamily="18" charset="0"/>
                <a:cs typeface="Arial" charset="0"/>
              </a:rPr>
              <a:t>&lt;8:15&gt;</a:t>
            </a:r>
          </a:p>
        </p:txBody>
      </p:sp>
      <p:cxnSp>
        <p:nvCxnSpPr>
          <p:cNvPr id="68" name="Shape 9">
            <a:extLst>
              <a:ext uri="{FF2B5EF4-FFF2-40B4-BE49-F238E27FC236}">
                <a16:creationId xmlns:a16="http://schemas.microsoft.com/office/drawing/2014/main" id="{FD78CF69-6E60-4B03-937E-A79DBF910ABD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8990807" y="3888582"/>
            <a:ext cx="1066800" cy="158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69" name="TextBox 47">
            <a:extLst>
              <a:ext uri="{FF2B5EF4-FFF2-40B4-BE49-F238E27FC236}">
                <a16:creationId xmlns:a16="http://schemas.microsoft.com/office/drawing/2014/main" id="{277F774F-6F08-45CB-B2F6-BD4799716E0D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8790102" y="3687877"/>
            <a:ext cx="11004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dirty="0">
                <a:solidFill>
                  <a:srgbClr val="C0504D"/>
                </a:solidFill>
                <a:latin typeface="Cambria" panose="02040503050406030204" pitchFamily="18" charset="0"/>
                <a:cs typeface="Arial" charset="0"/>
              </a:rPr>
              <a:t>&lt;56:63&gt;</a:t>
            </a:r>
          </a:p>
        </p:txBody>
      </p:sp>
      <p:cxnSp>
        <p:nvCxnSpPr>
          <p:cNvPr id="70" name="Shape 9">
            <a:extLst>
              <a:ext uri="{FF2B5EF4-FFF2-40B4-BE49-F238E27FC236}">
                <a16:creationId xmlns:a16="http://schemas.microsoft.com/office/drawing/2014/main" id="{F49AC9CF-2B8B-40D9-BAE9-7F0C3416E4D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7009607" y="4955382"/>
            <a:ext cx="1066800" cy="1587"/>
          </a:xfrm>
          <a:prstGeom prst="bentConnector3">
            <a:avLst>
              <a:gd name="adj1" fmla="val 50000"/>
            </a:avLst>
          </a:prstGeom>
          <a:noFill/>
          <a:ln w="1016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71" name="TextBox 50">
            <a:extLst>
              <a:ext uri="{FF2B5EF4-FFF2-40B4-BE49-F238E27FC236}">
                <a16:creationId xmlns:a16="http://schemas.microsoft.com/office/drawing/2014/main" id="{5A2C579A-3D80-4801-9254-56ABA8C4C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4803775"/>
            <a:ext cx="152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>
                <a:solidFill>
                  <a:srgbClr val="C0504D"/>
                </a:solidFill>
                <a:latin typeface="Cambria" panose="02040503050406030204" pitchFamily="18" charset="0"/>
                <a:cs typeface="Arial" charset="0"/>
              </a:rPr>
              <a:t>Data &lt;0:63&gt;</a:t>
            </a:r>
          </a:p>
        </p:txBody>
      </p:sp>
      <p:cxnSp>
        <p:nvCxnSpPr>
          <p:cNvPr id="72" name="Shape 9">
            <a:extLst>
              <a:ext uri="{FF2B5EF4-FFF2-40B4-BE49-F238E27FC236}">
                <a16:creationId xmlns:a16="http://schemas.microsoft.com/office/drawing/2014/main" id="{BA011B08-6A0D-4B64-9EB5-1E9E7D2AE65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91200" y="4419600"/>
            <a:ext cx="3733800" cy="1588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73" name="TextBox 52">
            <a:extLst>
              <a:ext uri="{FF2B5EF4-FFF2-40B4-BE49-F238E27FC236}">
                <a16:creationId xmlns:a16="http://schemas.microsoft.com/office/drawing/2014/main" id="{CF4BDA9A-5187-4E55-8EA4-4FA883E83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2600326"/>
            <a:ext cx="762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dirty="0">
                <a:solidFill>
                  <a:srgbClr val="FF0000"/>
                </a:solidFill>
                <a:latin typeface="Cambria" panose="02040503050406030204" pitchFamily="18" charset="0"/>
                <a:cs typeface="Arial" charset="0"/>
              </a:rPr>
              <a:t>Row 0</a:t>
            </a:r>
          </a:p>
          <a:p>
            <a:pPr eaLnBrk="1" hangingPunct="1"/>
            <a:r>
              <a:rPr lang="en-US" sz="1400" dirty="0">
                <a:solidFill>
                  <a:srgbClr val="FF0000"/>
                </a:solidFill>
                <a:latin typeface="Cambria" panose="02040503050406030204" pitchFamily="18" charset="0"/>
                <a:cs typeface="Arial" charset="0"/>
              </a:rPr>
              <a:t>Col 0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CD891CD-5038-41F3-BB90-3AEA537D39C1}"/>
              </a:ext>
            </a:extLst>
          </p:cNvPr>
          <p:cNvCxnSpPr>
            <a:cxnSpLocks/>
            <a:endCxn id="73" idx="3"/>
          </p:cNvCxnSpPr>
          <p:nvPr/>
        </p:nvCxnSpPr>
        <p:spPr>
          <a:xfrm flipH="1">
            <a:off x="5181600" y="2819401"/>
            <a:ext cx="304800" cy="425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58">
            <a:extLst>
              <a:ext uri="{FF2B5EF4-FFF2-40B4-BE49-F238E27FC236}">
                <a16:creationId xmlns:a16="http://schemas.microsoft.com/office/drawing/2014/main" id="{A0F88CC1-C577-4D24-81C3-DEF71A13C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311400"/>
            <a:ext cx="76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32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. . 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65CC3E0-4B76-2C51-9AE0-E2CAECC5B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9823551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215E3-2ACF-4E92-BC8B-DDDBA0834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DRAM to LLC interaction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244D4E-00A2-41E1-B3E2-D6ABBEBF0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20</a:t>
            </a:fld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1752C4-76AE-4457-ABA9-79650E5A9622}"/>
              </a:ext>
            </a:extLst>
          </p:cNvPr>
          <p:cNvSpPr/>
          <p:nvPr/>
        </p:nvSpPr>
        <p:spPr>
          <a:xfrm>
            <a:off x="2819400" y="2100262"/>
            <a:ext cx="457200" cy="3429000"/>
          </a:xfrm>
          <a:prstGeom prst="rect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C4E4E568-5631-4171-8801-F19E8D0CD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947862"/>
            <a:ext cx="914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 dirty="0">
                <a:latin typeface="Cambria" panose="02040503050406030204" pitchFamily="18" charset="0"/>
                <a:cs typeface="Arial" charset="0"/>
              </a:rPr>
              <a:t>0xFFFF…F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AF25EECD-8FE5-4CC0-9005-8C0F3D361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343526"/>
            <a:ext cx="9144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>
                <a:latin typeface="Cambria" panose="02040503050406030204" pitchFamily="18" charset="0"/>
                <a:cs typeface="Arial" charset="0"/>
              </a:rPr>
              <a:t>0x00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00341088-B141-4370-BD2A-41B8910F4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233862"/>
            <a:ext cx="9144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>
                <a:latin typeface="Cambria" panose="02040503050406030204" pitchFamily="18" charset="0"/>
                <a:cs typeface="Arial" charset="0"/>
              </a:rPr>
              <a:t>0x40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7BE036F1-9542-4DA7-B1BC-16043E7D4ECF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1968500" y="3027362"/>
            <a:ext cx="76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3200" dirty="0">
                <a:latin typeface="Cambria" panose="02040503050406030204" pitchFamily="18" charset="0"/>
                <a:cs typeface="Arial" charset="0"/>
              </a:rPr>
              <a:t>...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9F886C-1532-4784-900A-0D9FC8A680AC}"/>
              </a:ext>
            </a:extLst>
          </p:cNvPr>
          <p:cNvCxnSpPr/>
          <p:nvPr/>
        </p:nvCxnSpPr>
        <p:spPr>
          <a:xfrm rot="5400000">
            <a:off x="2857501" y="4957763"/>
            <a:ext cx="1141412" cy="1587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588E406-FB26-4732-BD5B-C29BEB6837EC}"/>
              </a:ext>
            </a:extLst>
          </p:cNvPr>
          <p:cNvSpPr/>
          <p:nvPr/>
        </p:nvSpPr>
        <p:spPr>
          <a:xfrm>
            <a:off x="2819400" y="4386262"/>
            <a:ext cx="457200" cy="1143000"/>
          </a:xfrm>
          <a:prstGeom prst="rect">
            <a:avLst/>
          </a:prstGeom>
          <a:ln w="381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9C30B06E-8A82-4F5B-B56F-EB7AA1178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91062"/>
            <a:ext cx="1143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64B </a:t>
            </a:r>
          </a:p>
          <a:p>
            <a:pPr algn="ctr" eaLnBrk="1" hangingPunct="1"/>
            <a:r>
              <a:rPr lang="en-US" sz="16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cache block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50BFDA4F-59A0-4B44-B2A1-D5CAF1E75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414462"/>
            <a:ext cx="2133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Physical memory space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B3E430-DE19-419C-BDA4-5792295A7B35}"/>
              </a:ext>
            </a:extLst>
          </p:cNvPr>
          <p:cNvSpPr/>
          <p:nvPr/>
        </p:nvSpPr>
        <p:spPr>
          <a:xfrm>
            <a:off x="5257800" y="2179637"/>
            <a:ext cx="4724400" cy="979488"/>
          </a:xfrm>
          <a:prstGeom prst="rect">
            <a:avLst/>
          </a:prstGeom>
          <a:solidFill>
            <a:schemeClr val="accent3">
              <a:lumMod val="40000"/>
              <a:lumOff val="60000"/>
              <a:alpha val="4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16" name="TextBox 69">
            <a:extLst>
              <a:ext uri="{FF2B5EF4-FFF2-40B4-BE49-F238E27FC236}">
                <a16:creationId xmlns:a16="http://schemas.microsoft.com/office/drawing/2014/main" id="{2F4D18F4-5B9F-4D84-AE46-F36193A7F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1809751"/>
            <a:ext cx="1219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dirty="0">
                <a:solidFill>
                  <a:srgbClr val="C00000"/>
                </a:solidFill>
                <a:latin typeface="Cambria" panose="02040503050406030204" pitchFamily="18" charset="0"/>
                <a:cs typeface="Arial" charset="0"/>
              </a:rPr>
              <a:t>Rank 0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B100983-57C0-468B-A50A-57D443256354}"/>
              </a:ext>
            </a:extLst>
          </p:cNvPr>
          <p:cNvGraphicFramePr>
            <a:graphicFrameLocks noGrp="1"/>
          </p:cNvGraphicFramePr>
          <p:nvPr/>
        </p:nvGraphicFramePr>
        <p:xfrm>
          <a:off x="5537200" y="2357437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7B3439D-AD88-4C33-9F0C-EE2D2BA66CF6}"/>
              </a:ext>
            </a:extLst>
          </p:cNvPr>
          <p:cNvGraphicFramePr>
            <a:graphicFrameLocks noGrp="1"/>
          </p:cNvGraphicFramePr>
          <p:nvPr/>
        </p:nvGraphicFramePr>
        <p:xfrm>
          <a:off x="5461000" y="2459037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E4BD1D7-4B4E-4536-8669-1B97FCCA2083}"/>
              </a:ext>
            </a:extLst>
          </p:cNvPr>
          <p:cNvGraphicFramePr>
            <a:graphicFrameLocks noGrp="1"/>
          </p:cNvGraphicFramePr>
          <p:nvPr/>
        </p:nvGraphicFramePr>
        <p:xfrm>
          <a:off x="9194800" y="2357437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0A79F26-518B-49B4-95B6-18FC0CAC3F15}"/>
              </a:ext>
            </a:extLst>
          </p:cNvPr>
          <p:cNvGraphicFramePr>
            <a:graphicFrameLocks noGrp="1"/>
          </p:cNvGraphicFramePr>
          <p:nvPr/>
        </p:nvGraphicFramePr>
        <p:xfrm>
          <a:off x="9118600" y="2459037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37C15A9-1659-4274-A56A-85A6BBAC9675}"/>
              </a:ext>
            </a:extLst>
          </p:cNvPr>
          <p:cNvGraphicFramePr>
            <a:graphicFrameLocks noGrp="1"/>
          </p:cNvGraphicFramePr>
          <p:nvPr/>
        </p:nvGraphicFramePr>
        <p:xfrm>
          <a:off x="6527800" y="2357437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6374226-545B-4DFC-889E-8AA94D673D21}"/>
              </a:ext>
            </a:extLst>
          </p:cNvPr>
          <p:cNvGraphicFramePr>
            <a:graphicFrameLocks noGrp="1"/>
          </p:cNvGraphicFramePr>
          <p:nvPr/>
        </p:nvGraphicFramePr>
        <p:xfrm>
          <a:off x="6451600" y="2459037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BB539AE6-276A-44A8-BF5D-B45EEB153391}"/>
              </a:ext>
            </a:extLst>
          </p:cNvPr>
          <p:cNvSpPr/>
          <p:nvPr/>
        </p:nvSpPr>
        <p:spPr>
          <a:xfrm>
            <a:off x="5410200" y="2027237"/>
            <a:ext cx="762000" cy="129540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12589F-DD57-40E8-95F8-746D38F10BA7}"/>
              </a:ext>
            </a:extLst>
          </p:cNvPr>
          <p:cNvSpPr/>
          <p:nvPr/>
        </p:nvSpPr>
        <p:spPr>
          <a:xfrm>
            <a:off x="6400800" y="2027237"/>
            <a:ext cx="762000" cy="129540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B49C889-42B4-4576-8EFD-2DA546307094}"/>
              </a:ext>
            </a:extLst>
          </p:cNvPr>
          <p:cNvSpPr/>
          <p:nvPr/>
        </p:nvSpPr>
        <p:spPr>
          <a:xfrm>
            <a:off x="9067800" y="2027237"/>
            <a:ext cx="762000" cy="129540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26" name="TextBox 39">
            <a:extLst>
              <a:ext uri="{FF2B5EF4-FFF2-40B4-BE49-F238E27FC236}">
                <a16:creationId xmlns:a16="http://schemas.microsoft.com/office/drawing/2014/main" id="{6221421F-68FF-4767-A085-1E2FEBF53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1722438"/>
            <a:ext cx="76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Chip 0</a:t>
            </a:r>
          </a:p>
        </p:txBody>
      </p:sp>
      <p:sp>
        <p:nvSpPr>
          <p:cNvPr id="27" name="TextBox 40">
            <a:extLst>
              <a:ext uri="{FF2B5EF4-FFF2-40B4-BE49-F238E27FC236}">
                <a16:creationId xmlns:a16="http://schemas.microsoft.com/office/drawing/2014/main" id="{4192B29A-F109-47A2-A557-31A70F2A2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719263"/>
            <a:ext cx="76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Chip 1</a:t>
            </a:r>
          </a:p>
        </p:txBody>
      </p:sp>
      <p:sp>
        <p:nvSpPr>
          <p:cNvPr id="28" name="TextBox 41">
            <a:extLst>
              <a:ext uri="{FF2B5EF4-FFF2-40B4-BE49-F238E27FC236}">
                <a16:creationId xmlns:a16="http://schemas.microsoft.com/office/drawing/2014/main" id="{BF5B1589-C01D-46A4-9DF7-03561B43C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7800" y="1722438"/>
            <a:ext cx="76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Chip 7</a:t>
            </a:r>
          </a:p>
        </p:txBody>
      </p:sp>
      <p:cxnSp>
        <p:nvCxnSpPr>
          <p:cNvPr id="29" name="Shape 9">
            <a:extLst>
              <a:ext uri="{FF2B5EF4-FFF2-40B4-BE49-F238E27FC236}">
                <a16:creationId xmlns:a16="http://schemas.microsoft.com/office/drawing/2014/main" id="{D3A99703-025A-4587-BEF5-64AE747C112D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5247482" y="3855244"/>
            <a:ext cx="1066800" cy="158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0" name="TextBox 43">
            <a:extLst>
              <a:ext uri="{FF2B5EF4-FFF2-40B4-BE49-F238E27FC236}">
                <a16:creationId xmlns:a16="http://schemas.microsoft.com/office/drawing/2014/main" id="{079B6166-4359-4EDB-9D7B-0503F15255F4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5099844" y="3632993"/>
            <a:ext cx="990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>
                <a:solidFill>
                  <a:srgbClr val="C0504D"/>
                </a:solidFill>
                <a:latin typeface="Cambria" panose="02040503050406030204" pitchFamily="18" charset="0"/>
                <a:cs typeface="Arial" charset="0"/>
              </a:rPr>
              <a:t>&lt;0:7&gt;</a:t>
            </a:r>
          </a:p>
        </p:txBody>
      </p:sp>
      <p:cxnSp>
        <p:nvCxnSpPr>
          <p:cNvPr id="31" name="Shape 9">
            <a:extLst>
              <a:ext uri="{FF2B5EF4-FFF2-40B4-BE49-F238E27FC236}">
                <a16:creationId xmlns:a16="http://schemas.microsoft.com/office/drawing/2014/main" id="{FDF1DE60-D308-4E27-8508-7A1A209F718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6247607" y="3855244"/>
            <a:ext cx="1066800" cy="158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2" name="TextBox 45">
            <a:extLst>
              <a:ext uri="{FF2B5EF4-FFF2-40B4-BE49-F238E27FC236}">
                <a16:creationId xmlns:a16="http://schemas.microsoft.com/office/drawing/2014/main" id="{7A3D6B67-0323-4A58-BCD0-A8AA11282D18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6099969" y="3632993"/>
            <a:ext cx="990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>
                <a:solidFill>
                  <a:srgbClr val="C0504D"/>
                </a:solidFill>
                <a:latin typeface="Cambria" panose="02040503050406030204" pitchFamily="18" charset="0"/>
                <a:cs typeface="Arial" charset="0"/>
              </a:rPr>
              <a:t>&lt;8:15&gt;</a:t>
            </a:r>
          </a:p>
        </p:txBody>
      </p:sp>
      <p:cxnSp>
        <p:nvCxnSpPr>
          <p:cNvPr id="33" name="Shape 9">
            <a:extLst>
              <a:ext uri="{FF2B5EF4-FFF2-40B4-BE49-F238E27FC236}">
                <a16:creationId xmlns:a16="http://schemas.microsoft.com/office/drawing/2014/main" id="{C66F691C-4B80-4A0D-ADB5-659448E08E0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8990807" y="3855244"/>
            <a:ext cx="1066800" cy="158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4" name="TextBox 47">
            <a:extLst>
              <a:ext uri="{FF2B5EF4-FFF2-40B4-BE49-F238E27FC236}">
                <a16:creationId xmlns:a16="http://schemas.microsoft.com/office/drawing/2014/main" id="{DD0A4870-3717-4C20-AA8C-7D5143251201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8806658" y="3669783"/>
            <a:ext cx="10636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dirty="0">
                <a:solidFill>
                  <a:srgbClr val="C0504D"/>
                </a:solidFill>
                <a:latin typeface="Cambria" panose="02040503050406030204" pitchFamily="18" charset="0"/>
                <a:cs typeface="Arial" charset="0"/>
              </a:rPr>
              <a:t>&lt;56:63&gt;</a:t>
            </a:r>
          </a:p>
        </p:txBody>
      </p:sp>
      <p:cxnSp>
        <p:nvCxnSpPr>
          <p:cNvPr id="35" name="Shape 9">
            <a:extLst>
              <a:ext uri="{FF2B5EF4-FFF2-40B4-BE49-F238E27FC236}">
                <a16:creationId xmlns:a16="http://schemas.microsoft.com/office/drawing/2014/main" id="{4D2C1710-5D67-484C-A595-734D3109C7DA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7009607" y="4922044"/>
            <a:ext cx="1066800" cy="1587"/>
          </a:xfrm>
          <a:prstGeom prst="bentConnector3">
            <a:avLst>
              <a:gd name="adj1" fmla="val 50000"/>
            </a:avLst>
          </a:prstGeom>
          <a:noFill/>
          <a:ln w="1016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6" name="TextBox 50">
            <a:extLst>
              <a:ext uri="{FF2B5EF4-FFF2-40B4-BE49-F238E27FC236}">
                <a16:creationId xmlns:a16="http://schemas.microsoft.com/office/drawing/2014/main" id="{C5086475-F05B-40E9-875C-096D04052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4770437"/>
            <a:ext cx="152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>
                <a:solidFill>
                  <a:srgbClr val="C0504D"/>
                </a:solidFill>
                <a:latin typeface="Cambria" panose="02040503050406030204" pitchFamily="18" charset="0"/>
                <a:cs typeface="Arial" charset="0"/>
              </a:rPr>
              <a:t>Data &lt;0:63&gt;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56EB4A0-B5AB-4596-B1FB-79BC63A271E3}"/>
              </a:ext>
            </a:extLst>
          </p:cNvPr>
          <p:cNvSpPr/>
          <p:nvPr/>
        </p:nvSpPr>
        <p:spPr>
          <a:xfrm>
            <a:off x="2819399" y="5194300"/>
            <a:ext cx="420689" cy="3048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>
                <a:solidFill>
                  <a:prstClr val="white"/>
                </a:solidFill>
                <a:latin typeface="Cambria" panose="02040503050406030204" pitchFamily="18" charset="0"/>
              </a:rPr>
              <a:t>8B</a:t>
            </a:r>
          </a:p>
        </p:txBody>
      </p:sp>
      <p:cxnSp>
        <p:nvCxnSpPr>
          <p:cNvPr id="38" name="Shape 9">
            <a:extLst>
              <a:ext uri="{FF2B5EF4-FFF2-40B4-BE49-F238E27FC236}">
                <a16:creationId xmlns:a16="http://schemas.microsoft.com/office/drawing/2014/main" id="{65CE9937-9182-4767-B8EE-11C359F79CA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91200" y="4386262"/>
            <a:ext cx="3733800" cy="1588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9" name="TextBox 53">
            <a:extLst>
              <a:ext uri="{FF2B5EF4-FFF2-40B4-BE49-F238E27FC236}">
                <a16:creationId xmlns:a16="http://schemas.microsoft.com/office/drawing/2014/main" id="{83A2E4E1-ECD1-444F-9B8C-D6A7431D6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566988"/>
            <a:ext cx="685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>
                <a:solidFill>
                  <a:srgbClr val="FF0000"/>
                </a:solidFill>
                <a:latin typeface="Cambria" panose="02040503050406030204" pitchFamily="18" charset="0"/>
                <a:cs typeface="Arial" charset="0"/>
              </a:rPr>
              <a:t>Row 0</a:t>
            </a:r>
          </a:p>
          <a:p>
            <a:pPr eaLnBrk="1" hangingPunct="1"/>
            <a:r>
              <a:rPr lang="en-US" sz="1400">
                <a:solidFill>
                  <a:srgbClr val="FF0000"/>
                </a:solidFill>
                <a:latin typeface="Cambria" panose="02040503050406030204" pitchFamily="18" charset="0"/>
                <a:cs typeface="Arial" charset="0"/>
              </a:rPr>
              <a:t>Col 0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660B5A1-6A2A-4302-8620-CC4761CA19C4}"/>
              </a:ext>
            </a:extLst>
          </p:cNvPr>
          <p:cNvCxnSpPr>
            <a:cxnSpLocks/>
            <a:endCxn id="39" idx="3"/>
          </p:cNvCxnSpPr>
          <p:nvPr/>
        </p:nvCxnSpPr>
        <p:spPr>
          <a:xfrm flipH="1">
            <a:off x="5181600" y="2786063"/>
            <a:ext cx="304800" cy="425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55">
            <a:extLst>
              <a:ext uri="{FF2B5EF4-FFF2-40B4-BE49-F238E27FC236}">
                <a16:creationId xmlns:a16="http://schemas.microsoft.com/office/drawing/2014/main" id="{A10EBCEE-CA77-4C9A-A6AE-23CD8EFD5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278062"/>
            <a:ext cx="76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32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. . 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0B8AC3F-24BE-4664-9B5D-9F15ADF2BC49}"/>
              </a:ext>
            </a:extLst>
          </p:cNvPr>
          <p:cNvSpPr/>
          <p:nvPr/>
        </p:nvSpPr>
        <p:spPr>
          <a:xfrm>
            <a:off x="7315200" y="5453062"/>
            <a:ext cx="457200" cy="3048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>
                <a:solidFill>
                  <a:prstClr val="white"/>
                </a:solidFill>
                <a:latin typeface="Cambria" panose="02040503050406030204" pitchFamily="18" charset="0"/>
              </a:rPr>
              <a:t>8B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CD01275-B5CC-44EA-6433-85DC9F85B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749185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C4D25-8A7E-4455-A85E-F21FAF8D0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DRAM to LLC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B8F780-139C-4E8B-AFCB-1E205EA59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160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B8439-2351-4E26-A839-9E730F697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21</a:t>
            </a:fld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62A211-713C-41DD-A2D9-E7001C8423F3}"/>
              </a:ext>
            </a:extLst>
          </p:cNvPr>
          <p:cNvSpPr/>
          <p:nvPr/>
        </p:nvSpPr>
        <p:spPr>
          <a:xfrm>
            <a:off x="2819400" y="2100262"/>
            <a:ext cx="457200" cy="3429000"/>
          </a:xfrm>
          <a:prstGeom prst="rect">
            <a:avLst/>
          </a:prstGeom>
          <a:solidFill>
            <a:srgbClr val="C00000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A52B7E52-ECF0-4417-BE54-278ACB4A5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947862"/>
            <a:ext cx="9144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>
                <a:latin typeface="Cambria" panose="02040503050406030204" pitchFamily="18" charset="0"/>
                <a:cs typeface="Arial" charset="0"/>
              </a:rPr>
              <a:t>0xFFFF…F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F1BF0761-2781-49ED-B2F6-3577B1388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343526"/>
            <a:ext cx="9144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>
                <a:latin typeface="Cambria" panose="02040503050406030204" pitchFamily="18" charset="0"/>
                <a:cs typeface="Arial" charset="0"/>
              </a:rPr>
              <a:t>0x00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6CF0F87E-C877-43EE-B3C6-BBC86533C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233862"/>
            <a:ext cx="9144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>
                <a:latin typeface="Cambria" panose="02040503050406030204" pitchFamily="18" charset="0"/>
                <a:cs typeface="Arial" charset="0"/>
              </a:rPr>
              <a:t>0x40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0C1A6267-FD06-4213-B091-466982781230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1968500" y="3027362"/>
            <a:ext cx="76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3200" dirty="0">
                <a:latin typeface="Cambria" panose="02040503050406030204" pitchFamily="18" charset="0"/>
                <a:cs typeface="Arial" charset="0"/>
              </a:rPr>
              <a:t>...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4C3208F-209F-4093-84B9-29EE55EFE79F}"/>
              </a:ext>
            </a:extLst>
          </p:cNvPr>
          <p:cNvCxnSpPr/>
          <p:nvPr/>
        </p:nvCxnSpPr>
        <p:spPr>
          <a:xfrm rot="5400000">
            <a:off x="2857501" y="4957763"/>
            <a:ext cx="1141412" cy="1587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368742F-DEB5-4E27-8DAF-3DF2FAAE8210}"/>
              </a:ext>
            </a:extLst>
          </p:cNvPr>
          <p:cNvSpPr/>
          <p:nvPr/>
        </p:nvSpPr>
        <p:spPr>
          <a:xfrm>
            <a:off x="2819400" y="4386262"/>
            <a:ext cx="457200" cy="1143000"/>
          </a:xfrm>
          <a:prstGeom prst="rect">
            <a:avLst/>
          </a:prstGeom>
          <a:ln w="381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0CF2A774-5CD0-4E78-98EE-BB9697A1E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91062"/>
            <a:ext cx="1143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64B </a:t>
            </a:r>
          </a:p>
          <a:p>
            <a:pPr algn="ctr" eaLnBrk="1" hangingPunct="1"/>
            <a:r>
              <a:rPr lang="en-US" sz="16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cache block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08B79CC3-356C-420E-A770-56AEC535A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414462"/>
            <a:ext cx="2133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Physical memory space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FA5AD4-1C61-43D4-B3D7-287F170CD4BD}"/>
              </a:ext>
            </a:extLst>
          </p:cNvPr>
          <p:cNvSpPr/>
          <p:nvPr/>
        </p:nvSpPr>
        <p:spPr>
          <a:xfrm>
            <a:off x="5257800" y="2179637"/>
            <a:ext cx="4724400" cy="979488"/>
          </a:xfrm>
          <a:prstGeom prst="rect">
            <a:avLst/>
          </a:prstGeom>
          <a:solidFill>
            <a:schemeClr val="accent3">
              <a:lumMod val="60000"/>
              <a:lumOff val="40000"/>
              <a:alpha val="40000"/>
            </a:schemeClr>
          </a:solidFill>
          <a:ln w="25400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16" name="TextBox 69">
            <a:extLst>
              <a:ext uri="{FF2B5EF4-FFF2-40B4-BE49-F238E27FC236}">
                <a16:creationId xmlns:a16="http://schemas.microsoft.com/office/drawing/2014/main" id="{47B5C12F-C753-49E2-B48A-812052ECA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1809751"/>
            <a:ext cx="1219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dirty="0">
                <a:solidFill>
                  <a:srgbClr val="C00000"/>
                </a:solidFill>
                <a:latin typeface="Cambria" panose="02040503050406030204" pitchFamily="18" charset="0"/>
                <a:cs typeface="Arial" charset="0"/>
              </a:rPr>
              <a:t>Rank 0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8DED00E-13C1-4874-837D-536210895254}"/>
              </a:ext>
            </a:extLst>
          </p:cNvPr>
          <p:cNvGraphicFramePr>
            <a:graphicFrameLocks noGrp="1"/>
          </p:cNvGraphicFramePr>
          <p:nvPr/>
        </p:nvGraphicFramePr>
        <p:xfrm>
          <a:off x="5537200" y="2357437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BEB8ACF-E32A-43E8-A3A0-26FE3536C660}"/>
              </a:ext>
            </a:extLst>
          </p:cNvPr>
          <p:cNvGraphicFramePr>
            <a:graphicFrameLocks noGrp="1"/>
          </p:cNvGraphicFramePr>
          <p:nvPr/>
        </p:nvGraphicFramePr>
        <p:xfrm>
          <a:off x="5461000" y="2459037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solidFill>
                          <a:schemeClr val="accent5"/>
                        </a:solidFill>
                      </a:endParaRPr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A4DFC73-33BC-4CDF-A26D-7185162F9818}"/>
              </a:ext>
            </a:extLst>
          </p:cNvPr>
          <p:cNvGraphicFramePr>
            <a:graphicFrameLocks noGrp="1"/>
          </p:cNvGraphicFramePr>
          <p:nvPr/>
        </p:nvGraphicFramePr>
        <p:xfrm>
          <a:off x="9194800" y="2357437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DBDD2DD-7A7B-4723-9EFB-3C92427B6651}"/>
              </a:ext>
            </a:extLst>
          </p:cNvPr>
          <p:cNvGraphicFramePr>
            <a:graphicFrameLocks noGrp="1"/>
          </p:cNvGraphicFramePr>
          <p:nvPr/>
        </p:nvGraphicFramePr>
        <p:xfrm>
          <a:off x="9118600" y="2459037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BC0AF93-6F9B-41DF-8B3E-9C89613B24C0}"/>
              </a:ext>
            </a:extLst>
          </p:cNvPr>
          <p:cNvGraphicFramePr>
            <a:graphicFrameLocks noGrp="1"/>
          </p:cNvGraphicFramePr>
          <p:nvPr/>
        </p:nvGraphicFramePr>
        <p:xfrm>
          <a:off x="6527800" y="2357437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EF06E2D-AE5D-4D74-B106-049DF0220795}"/>
              </a:ext>
            </a:extLst>
          </p:cNvPr>
          <p:cNvGraphicFramePr>
            <a:graphicFrameLocks noGrp="1"/>
          </p:cNvGraphicFramePr>
          <p:nvPr/>
        </p:nvGraphicFramePr>
        <p:xfrm>
          <a:off x="6451600" y="2459037"/>
          <a:ext cx="558800" cy="55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/>
                    </a:p>
                  </a:txBody>
                  <a:tcPr marL="0" marR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 marL="0" marR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C6A88DBC-7655-4BF2-A710-AF8EE682D134}"/>
              </a:ext>
            </a:extLst>
          </p:cNvPr>
          <p:cNvSpPr/>
          <p:nvPr/>
        </p:nvSpPr>
        <p:spPr>
          <a:xfrm>
            <a:off x="5410200" y="2027237"/>
            <a:ext cx="762000" cy="129540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5D3602-B481-4B60-84E4-C3A5C3798385}"/>
              </a:ext>
            </a:extLst>
          </p:cNvPr>
          <p:cNvSpPr/>
          <p:nvPr/>
        </p:nvSpPr>
        <p:spPr>
          <a:xfrm>
            <a:off x="6400800" y="2027237"/>
            <a:ext cx="762000" cy="129540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5467D5-5A65-418E-9639-C2E4EDA8AA40}"/>
              </a:ext>
            </a:extLst>
          </p:cNvPr>
          <p:cNvSpPr/>
          <p:nvPr/>
        </p:nvSpPr>
        <p:spPr>
          <a:xfrm>
            <a:off x="9067800" y="2027237"/>
            <a:ext cx="762000" cy="129540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mbria" panose="02040503050406030204" pitchFamily="18" charset="0"/>
            </a:endParaRPr>
          </a:p>
        </p:txBody>
      </p:sp>
      <p:sp>
        <p:nvSpPr>
          <p:cNvPr id="26" name="TextBox 39">
            <a:extLst>
              <a:ext uri="{FF2B5EF4-FFF2-40B4-BE49-F238E27FC236}">
                <a16:creationId xmlns:a16="http://schemas.microsoft.com/office/drawing/2014/main" id="{04FA36F4-DBBC-4136-BB45-65007DFBF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1722438"/>
            <a:ext cx="76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Chip 0</a:t>
            </a:r>
          </a:p>
        </p:txBody>
      </p:sp>
      <p:sp>
        <p:nvSpPr>
          <p:cNvPr id="27" name="TextBox 40">
            <a:extLst>
              <a:ext uri="{FF2B5EF4-FFF2-40B4-BE49-F238E27FC236}">
                <a16:creationId xmlns:a16="http://schemas.microsoft.com/office/drawing/2014/main" id="{3EFFA390-DA5A-4275-91EB-9255FCCF6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719263"/>
            <a:ext cx="76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Chip 1</a:t>
            </a:r>
          </a:p>
        </p:txBody>
      </p:sp>
      <p:sp>
        <p:nvSpPr>
          <p:cNvPr id="28" name="TextBox 41">
            <a:extLst>
              <a:ext uri="{FF2B5EF4-FFF2-40B4-BE49-F238E27FC236}">
                <a16:creationId xmlns:a16="http://schemas.microsoft.com/office/drawing/2014/main" id="{B7B21C98-8FAC-44AB-BF3F-6395C3477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7800" y="1722438"/>
            <a:ext cx="76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Chip 7</a:t>
            </a:r>
          </a:p>
        </p:txBody>
      </p:sp>
      <p:cxnSp>
        <p:nvCxnSpPr>
          <p:cNvPr id="29" name="Shape 9">
            <a:extLst>
              <a:ext uri="{FF2B5EF4-FFF2-40B4-BE49-F238E27FC236}">
                <a16:creationId xmlns:a16="http://schemas.microsoft.com/office/drawing/2014/main" id="{9608192E-6E4E-4C85-AAA3-ACC4A2F2CA82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5247482" y="3855244"/>
            <a:ext cx="1066800" cy="158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0" name="TextBox 43">
            <a:extLst>
              <a:ext uri="{FF2B5EF4-FFF2-40B4-BE49-F238E27FC236}">
                <a16:creationId xmlns:a16="http://schemas.microsoft.com/office/drawing/2014/main" id="{A64D5D17-B5F4-4324-BFC3-67D2EC6CC9D2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5099844" y="3632993"/>
            <a:ext cx="990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>
                <a:solidFill>
                  <a:srgbClr val="C0504D"/>
                </a:solidFill>
                <a:latin typeface="Cambria" panose="02040503050406030204" pitchFamily="18" charset="0"/>
                <a:cs typeface="Arial" charset="0"/>
              </a:rPr>
              <a:t>&lt;0:7&gt;</a:t>
            </a:r>
          </a:p>
        </p:txBody>
      </p:sp>
      <p:cxnSp>
        <p:nvCxnSpPr>
          <p:cNvPr id="31" name="Shape 9">
            <a:extLst>
              <a:ext uri="{FF2B5EF4-FFF2-40B4-BE49-F238E27FC236}">
                <a16:creationId xmlns:a16="http://schemas.microsoft.com/office/drawing/2014/main" id="{FC98385E-A49F-4675-879B-093603D7B92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6247607" y="3855244"/>
            <a:ext cx="1066800" cy="158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2" name="TextBox 45">
            <a:extLst>
              <a:ext uri="{FF2B5EF4-FFF2-40B4-BE49-F238E27FC236}">
                <a16:creationId xmlns:a16="http://schemas.microsoft.com/office/drawing/2014/main" id="{FEE6A6DF-485C-431B-92F3-F24079F75E98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6101556" y="3632993"/>
            <a:ext cx="990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dirty="0">
                <a:solidFill>
                  <a:srgbClr val="C0504D"/>
                </a:solidFill>
                <a:latin typeface="Cambria" panose="02040503050406030204" pitchFamily="18" charset="0"/>
                <a:cs typeface="Arial" charset="0"/>
              </a:rPr>
              <a:t>&lt;8:15&gt;</a:t>
            </a:r>
          </a:p>
        </p:txBody>
      </p:sp>
      <p:cxnSp>
        <p:nvCxnSpPr>
          <p:cNvPr id="33" name="Shape 9">
            <a:extLst>
              <a:ext uri="{FF2B5EF4-FFF2-40B4-BE49-F238E27FC236}">
                <a16:creationId xmlns:a16="http://schemas.microsoft.com/office/drawing/2014/main" id="{5E413411-09DF-4E3B-B1CA-1B7A791825F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8990807" y="3855244"/>
            <a:ext cx="1066800" cy="1587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4" name="TextBox 47">
            <a:extLst>
              <a:ext uri="{FF2B5EF4-FFF2-40B4-BE49-F238E27FC236}">
                <a16:creationId xmlns:a16="http://schemas.microsoft.com/office/drawing/2014/main" id="{8A76AC2F-32CA-4E2F-BA89-6A2AA01C4948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8805070" y="3671371"/>
            <a:ext cx="1066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>
                <a:solidFill>
                  <a:srgbClr val="C0504D"/>
                </a:solidFill>
                <a:latin typeface="Cambria" panose="02040503050406030204" pitchFamily="18" charset="0"/>
                <a:cs typeface="Arial" charset="0"/>
              </a:rPr>
              <a:t>&lt;56:63&gt;</a:t>
            </a:r>
          </a:p>
        </p:txBody>
      </p:sp>
      <p:cxnSp>
        <p:nvCxnSpPr>
          <p:cNvPr id="35" name="Shape 9">
            <a:extLst>
              <a:ext uri="{FF2B5EF4-FFF2-40B4-BE49-F238E27FC236}">
                <a16:creationId xmlns:a16="http://schemas.microsoft.com/office/drawing/2014/main" id="{FE9C3031-8ABC-44DA-8E18-8ECE88B4920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91200" y="4386262"/>
            <a:ext cx="3733800" cy="1588"/>
          </a:xfrm>
          <a:prstGeom prst="bentConnector3">
            <a:avLst>
              <a:gd name="adj1" fmla="val 50000"/>
            </a:avLst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6" name="Shape 9">
            <a:extLst>
              <a:ext uri="{FF2B5EF4-FFF2-40B4-BE49-F238E27FC236}">
                <a16:creationId xmlns:a16="http://schemas.microsoft.com/office/drawing/2014/main" id="{6D78478C-0855-4028-9C20-DF5D1B479BCD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7009607" y="4922044"/>
            <a:ext cx="1066800" cy="1587"/>
          </a:xfrm>
          <a:prstGeom prst="bentConnector3">
            <a:avLst>
              <a:gd name="adj1" fmla="val 50000"/>
            </a:avLst>
          </a:prstGeom>
          <a:noFill/>
          <a:ln w="101600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7" name="TextBox 50">
            <a:extLst>
              <a:ext uri="{FF2B5EF4-FFF2-40B4-BE49-F238E27FC236}">
                <a16:creationId xmlns:a16="http://schemas.microsoft.com/office/drawing/2014/main" id="{D352816B-0539-4B86-B198-C688F8152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4770437"/>
            <a:ext cx="1524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>
                <a:solidFill>
                  <a:srgbClr val="C0504D"/>
                </a:solidFill>
                <a:latin typeface="Cambria" panose="02040503050406030204" pitchFamily="18" charset="0"/>
                <a:cs typeface="Arial" charset="0"/>
              </a:rPr>
              <a:t>Data &lt;0:63&gt;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651462-8B53-4924-AD31-74F0735926A4}"/>
              </a:ext>
            </a:extLst>
          </p:cNvPr>
          <p:cNvSpPr/>
          <p:nvPr/>
        </p:nvSpPr>
        <p:spPr>
          <a:xfrm>
            <a:off x="2819399" y="5194300"/>
            <a:ext cx="420689" cy="3048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>
                <a:solidFill>
                  <a:prstClr val="white"/>
                </a:solidFill>
                <a:latin typeface="Cambria" panose="02040503050406030204" pitchFamily="18" charset="0"/>
              </a:rPr>
              <a:t>8B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267A0EF-64E4-4E2D-B8EE-BDB13A4FD56F}"/>
              </a:ext>
            </a:extLst>
          </p:cNvPr>
          <p:cNvSpPr/>
          <p:nvPr/>
        </p:nvSpPr>
        <p:spPr>
          <a:xfrm>
            <a:off x="2819399" y="4811712"/>
            <a:ext cx="427039" cy="3048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>
                <a:solidFill>
                  <a:prstClr val="white"/>
                </a:solidFill>
                <a:latin typeface="Cambria" panose="02040503050406030204" pitchFamily="18" charset="0"/>
              </a:rPr>
              <a:t>8B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23B9D87-94AE-47D1-8F20-A2066A8B6B60}"/>
              </a:ext>
            </a:extLst>
          </p:cNvPr>
          <p:cNvCxnSpPr/>
          <p:nvPr/>
        </p:nvCxnSpPr>
        <p:spPr>
          <a:xfrm rot="10800000" flipV="1">
            <a:off x="5181600" y="2786063"/>
            <a:ext cx="457200" cy="42863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57">
            <a:extLst>
              <a:ext uri="{FF2B5EF4-FFF2-40B4-BE49-F238E27FC236}">
                <a16:creationId xmlns:a16="http://schemas.microsoft.com/office/drawing/2014/main" id="{5296B3CD-4DAF-42FC-8981-D38501AAD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6600" y="2566988"/>
            <a:ext cx="63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dirty="0">
                <a:solidFill>
                  <a:srgbClr val="FF0000"/>
                </a:solidFill>
                <a:latin typeface="Cambria" panose="02040503050406030204" pitchFamily="18" charset="0"/>
                <a:cs typeface="Arial" charset="0"/>
              </a:rPr>
              <a:t>Row 0</a:t>
            </a:r>
          </a:p>
          <a:p>
            <a:pPr eaLnBrk="1" hangingPunct="1"/>
            <a:r>
              <a:rPr lang="en-US" sz="1400" dirty="0">
                <a:solidFill>
                  <a:srgbClr val="FF0000"/>
                </a:solidFill>
                <a:latin typeface="Cambria" panose="02040503050406030204" pitchFamily="18" charset="0"/>
                <a:cs typeface="Arial" charset="0"/>
              </a:rPr>
              <a:t>Col 1</a:t>
            </a:r>
          </a:p>
        </p:txBody>
      </p:sp>
      <p:sp>
        <p:nvSpPr>
          <p:cNvPr id="42" name="TextBox 53">
            <a:extLst>
              <a:ext uri="{FF2B5EF4-FFF2-40B4-BE49-F238E27FC236}">
                <a16:creationId xmlns:a16="http://schemas.microsoft.com/office/drawing/2014/main" id="{6C16C1D5-2289-47CC-8348-48AC2CA5E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278062"/>
            <a:ext cx="76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3200" dirty="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. . .</a:t>
            </a:r>
          </a:p>
        </p:txBody>
      </p:sp>
      <p:sp>
        <p:nvSpPr>
          <p:cNvPr id="43" name="Rounded Rectangle 6">
            <a:extLst>
              <a:ext uri="{FF2B5EF4-FFF2-40B4-BE49-F238E27FC236}">
                <a16:creationId xmlns:a16="http://schemas.microsoft.com/office/drawing/2014/main" id="{8CC064AF-7C10-4307-AA57-9A6DFB88FFBB}"/>
              </a:ext>
            </a:extLst>
          </p:cNvPr>
          <p:cNvSpPr/>
          <p:nvPr/>
        </p:nvSpPr>
        <p:spPr>
          <a:xfrm>
            <a:off x="1752600" y="5770564"/>
            <a:ext cx="10004612" cy="5540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8 cycles (DRAM IO): 1 cycle transfers 8 bytes from a column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40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build="allAtOnce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F4726-758B-4111-89D1-649DB4AB5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DRAM Address Mapping (One Channel)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3A1CA4-2171-4726-A179-D5803F785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22</a:t>
            </a:fld>
            <a:endParaRPr lang="en-IN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08A1ADF8-7F0F-425E-AA16-A6B8D42F5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2313" y="3124195"/>
            <a:ext cx="1044575" cy="30638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Low Col. 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8724918D-F0C5-4F26-97EF-EA6656471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1" y="3124195"/>
            <a:ext cx="1373187" cy="30638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High Column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12AE4014-0BD4-47B9-98E0-6365961DE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626" y="3124195"/>
            <a:ext cx="2778125" cy="30638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Row (14 bits)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FE77C610-7DBA-4C99-898B-B6021C0D4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6888" y="3124195"/>
            <a:ext cx="1666875" cy="30638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Byte in bus (3 bits)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C0299DDD-2BC7-4160-892F-9FD57BF88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9938" y="3124195"/>
            <a:ext cx="1222375" cy="30638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 dirty="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Bank (3 bits)</a:t>
            </a: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ABB99083-ECBE-4FC7-8FB5-E29435DC0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2026" y="3581395"/>
            <a:ext cx="552450" cy="27781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3 bits</a:t>
            </a: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A13EB15D-2408-46F0-A820-DDD36DE05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063" y="3595683"/>
            <a:ext cx="552450" cy="27781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8 bits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E04707DF-BF5E-4F3F-A3D9-8B8B72DD3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9006" y="5001417"/>
            <a:ext cx="2419350" cy="30797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 dirty="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Column (11 bits)</a:t>
            </a: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633D5D45-9C04-4C39-9799-25E784072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219" y="5001417"/>
            <a:ext cx="1220787" cy="30797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Bank (3 bits)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6072A81F-92BB-4767-A21E-FB0ED1031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094" y="5001417"/>
            <a:ext cx="2778125" cy="30797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Row (14 bits)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498A8BE8-2639-4504-AEA0-D999A31C0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8356" y="5001417"/>
            <a:ext cx="1666875" cy="30797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400">
                <a:solidFill>
                  <a:srgbClr val="000000"/>
                </a:solidFill>
                <a:latin typeface="Cambria" panose="02040503050406030204" pitchFamily="18" charset="0"/>
                <a:cs typeface="Arial" charset="0"/>
              </a:rPr>
              <a:t>Byte in bus (3 bits)</a:t>
            </a:r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6917FBFB-F700-4BE5-9F1A-E9F0980DB7ED}"/>
              </a:ext>
            </a:extLst>
          </p:cNvPr>
          <p:cNvSpPr/>
          <p:nvPr/>
        </p:nvSpPr>
        <p:spPr>
          <a:xfrm>
            <a:off x="1371600" y="1346992"/>
            <a:ext cx="8610600" cy="5540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2GB DRAM, 8 Banks, 16K rows, 2K Columns per bank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8" name="Rounded Rectangle 6">
            <a:extLst>
              <a:ext uri="{FF2B5EF4-FFF2-40B4-BE49-F238E27FC236}">
                <a16:creationId xmlns:a16="http://schemas.microsoft.com/office/drawing/2014/main" id="{A4BA8F8B-465D-4FBD-A4D1-883EF72B0CAD}"/>
              </a:ext>
            </a:extLst>
          </p:cNvPr>
          <p:cNvSpPr/>
          <p:nvPr/>
        </p:nvSpPr>
        <p:spPr>
          <a:xfrm>
            <a:off x="385482" y="4275552"/>
            <a:ext cx="10739718" cy="5540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Row Interleaving: Consecutive rows in consecutive banks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8C3E4422-438E-42AB-B4CA-4F52C0E4D66F}"/>
              </a:ext>
            </a:extLst>
          </p:cNvPr>
          <p:cNvSpPr/>
          <p:nvPr/>
        </p:nvSpPr>
        <p:spPr>
          <a:xfrm>
            <a:off x="354013" y="2413792"/>
            <a:ext cx="10694987" cy="5540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</a:rPr>
              <a:t>Cache Interleaving: Consecutive cache blocks in consecutive banks</a:t>
            </a:r>
            <a:endParaRPr lang="en-US" sz="2700" baseline="300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9FD3F68-4243-7A92-A1A7-8484AE7D6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99077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 animBg="1"/>
      <p:bldP spid="18" grpId="0" build="allAtOnce" animBg="1"/>
      <p:bldP spid="19" grpId="0" build="allAtOnce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55BA9-3401-4562-BD18-F88BA2EE0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 Access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97338-F266-407A-B977-DC639737A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885F9A-10CE-409D-B3F5-18F111C5D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23</a:t>
            </a:fld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C84F34B-7B45-41C4-BEAC-68606FD65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1162050"/>
            <a:ext cx="8610600" cy="51943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>
              <a:latin typeface="Calibri body"/>
            </a:endParaRPr>
          </a:p>
          <a:p>
            <a:pPr marL="0" indent="0">
              <a:buNone/>
            </a:pPr>
            <a:r>
              <a:rPr lang="en-US" dirty="0">
                <a:latin typeface="Calibri body"/>
              </a:rPr>
              <a:t>A </a:t>
            </a:r>
            <a:r>
              <a:rPr lang="ja-JP" altLang="en-US" dirty="0">
                <a:latin typeface="Calibri body"/>
              </a:rPr>
              <a:t>“</a:t>
            </a:r>
            <a:r>
              <a:rPr lang="en-US" altLang="ja-JP" dirty="0">
                <a:latin typeface="Calibri body"/>
              </a:rPr>
              <a:t>DRAM row</a:t>
            </a:r>
            <a:r>
              <a:rPr lang="ja-JP" altLang="en-US" dirty="0">
                <a:latin typeface="Calibri body"/>
              </a:rPr>
              <a:t>”</a:t>
            </a:r>
            <a:r>
              <a:rPr lang="en-US" altLang="ja-JP" dirty="0">
                <a:latin typeface="Calibri body"/>
              </a:rPr>
              <a:t> is also called a </a:t>
            </a:r>
            <a:r>
              <a:rPr lang="ja-JP" altLang="en-US" dirty="0">
                <a:latin typeface="Calibri body"/>
              </a:rPr>
              <a:t>“</a:t>
            </a:r>
            <a:r>
              <a:rPr lang="en-US" altLang="ja-JP" dirty="0">
                <a:latin typeface="Calibri body"/>
              </a:rPr>
              <a:t>DRAM page</a:t>
            </a:r>
            <a:r>
              <a:rPr lang="ja-JP" altLang="en-US" dirty="0">
                <a:latin typeface="Calibri body"/>
              </a:rPr>
              <a:t>”</a:t>
            </a:r>
            <a:endParaRPr lang="en-US" altLang="ja-JP" dirty="0">
              <a:latin typeface="Calibri body"/>
            </a:endParaRPr>
          </a:p>
          <a:p>
            <a:pPr marL="0" indent="0">
              <a:buNone/>
            </a:pPr>
            <a:endParaRPr lang="en-US" altLang="ja-JP" dirty="0">
              <a:latin typeface="Calibri body"/>
            </a:endParaRPr>
          </a:p>
          <a:p>
            <a:endParaRPr lang="en-US" dirty="0">
              <a:latin typeface="Calibri body"/>
            </a:endParaRPr>
          </a:p>
          <a:p>
            <a:pPr marL="0" indent="0">
              <a:buNone/>
            </a:pPr>
            <a:r>
              <a:rPr lang="en-US" dirty="0">
                <a:latin typeface="Calibri body"/>
              </a:rPr>
              <a:t>Each address is a &lt;</a:t>
            </a:r>
            <a:r>
              <a:rPr lang="en-US" dirty="0" err="1">
                <a:latin typeface="Calibri body"/>
              </a:rPr>
              <a:t>row,column</a:t>
            </a:r>
            <a:r>
              <a:rPr lang="en-US" dirty="0">
                <a:latin typeface="Calibri body"/>
              </a:rPr>
              <a:t>&gt; pair</a:t>
            </a:r>
          </a:p>
          <a:p>
            <a:pPr marL="0" indent="0">
              <a:buNone/>
            </a:pPr>
            <a:r>
              <a:rPr lang="en-US" dirty="0">
                <a:latin typeface="Calibri body"/>
              </a:rPr>
              <a:t>Access to a </a:t>
            </a:r>
            <a:r>
              <a:rPr lang="ja-JP" altLang="en-US" dirty="0">
                <a:latin typeface="Calibri body"/>
              </a:rPr>
              <a:t>“</a:t>
            </a:r>
            <a:r>
              <a:rPr lang="en-US" altLang="ja-JP" dirty="0">
                <a:latin typeface="Calibri body"/>
              </a:rPr>
              <a:t>closed row</a:t>
            </a:r>
            <a:r>
              <a:rPr lang="ja-JP" altLang="en-US" dirty="0">
                <a:latin typeface="Calibri body"/>
              </a:rPr>
              <a:t>”</a:t>
            </a:r>
            <a:endParaRPr lang="en-US" altLang="ja-JP" dirty="0">
              <a:latin typeface="Calibri body"/>
            </a:endParaRPr>
          </a:p>
          <a:p>
            <a:pPr lvl="1"/>
            <a:r>
              <a:rPr lang="en-US" dirty="0">
                <a:solidFill>
                  <a:srgbClr val="FF0000"/>
                </a:solidFill>
                <a:latin typeface="Calibri body"/>
                <a:ea typeface="ＭＳ Ｐゴシック" charset="0"/>
              </a:rPr>
              <a:t>Activate</a:t>
            </a:r>
            <a:r>
              <a:rPr lang="en-US" dirty="0">
                <a:latin typeface="Calibri body"/>
                <a:ea typeface="ＭＳ Ｐゴシック" charset="0"/>
              </a:rPr>
              <a:t> command opens row (placed into row buffer)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Calibri body"/>
                <a:ea typeface="ＭＳ Ｐゴシック" charset="0"/>
              </a:rPr>
              <a:t>Read/write</a:t>
            </a:r>
            <a:r>
              <a:rPr lang="en-US" dirty="0">
                <a:latin typeface="Calibri body"/>
                <a:ea typeface="ＭＳ Ｐゴシック" charset="0"/>
              </a:rPr>
              <a:t> command reads/writes column in the row buffer</a:t>
            </a:r>
          </a:p>
          <a:p>
            <a:pPr lvl="1"/>
            <a:r>
              <a:rPr lang="en-US" dirty="0" err="1">
                <a:solidFill>
                  <a:srgbClr val="FF0000"/>
                </a:solidFill>
                <a:latin typeface="Calibri body"/>
                <a:ea typeface="ＭＳ Ｐゴシック" charset="0"/>
              </a:rPr>
              <a:t>Precharge</a:t>
            </a:r>
            <a:r>
              <a:rPr lang="en-US" dirty="0">
                <a:solidFill>
                  <a:srgbClr val="FF0000"/>
                </a:solidFill>
                <a:latin typeface="Calibri body"/>
                <a:ea typeface="ＭＳ Ｐゴシック" charset="0"/>
              </a:rPr>
              <a:t> </a:t>
            </a:r>
            <a:r>
              <a:rPr lang="en-US" dirty="0">
                <a:latin typeface="Calibri body"/>
                <a:ea typeface="ＭＳ Ｐゴシック" charset="0"/>
              </a:rPr>
              <a:t>command closes the row and prepares the bank for next access</a:t>
            </a:r>
          </a:p>
          <a:p>
            <a:pPr marL="0" indent="0">
              <a:buNone/>
            </a:pPr>
            <a:r>
              <a:rPr lang="en-US" dirty="0">
                <a:latin typeface="Calibri body"/>
              </a:rPr>
              <a:t>Access to an </a:t>
            </a:r>
            <a:r>
              <a:rPr lang="ja-JP" altLang="en-US" dirty="0">
                <a:latin typeface="Calibri body"/>
              </a:rPr>
              <a:t>“</a:t>
            </a:r>
            <a:r>
              <a:rPr lang="en-US" altLang="ja-JP" dirty="0">
                <a:latin typeface="Calibri body"/>
              </a:rPr>
              <a:t>open row</a:t>
            </a:r>
            <a:r>
              <a:rPr lang="ja-JP" altLang="en-US" dirty="0">
                <a:latin typeface="Calibri body"/>
              </a:rPr>
              <a:t>”</a:t>
            </a:r>
            <a:endParaRPr lang="en-US" altLang="ja-JP" dirty="0">
              <a:latin typeface="Calibri body"/>
            </a:endParaRPr>
          </a:p>
          <a:p>
            <a:pPr lvl="1"/>
            <a:r>
              <a:rPr lang="en-US" dirty="0">
                <a:latin typeface="Calibri body"/>
                <a:ea typeface="ＭＳ Ｐゴシック" charset="0"/>
              </a:rPr>
              <a:t>No need for activate command</a:t>
            </a:r>
          </a:p>
          <a:p>
            <a:endParaRPr lang="en-US" dirty="0">
              <a:latin typeface="Calibri body"/>
            </a:endParaRPr>
          </a:p>
        </p:txBody>
      </p:sp>
    </p:spTree>
    <p:extLst>
      <p:ext uri="{BB962C8B-B14F-4D97-AF65-F5344CB8AC3E}">
        <p14:creationId xmlns:p14="http://schemas.microsoft.com/office/powerpoint/2010/main" val="1558551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3C3DA-BD8D-4C15-99E0-F837CFD8A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 Buffer hit/miss/conflict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D6C33-7F81-489A-8655-9A7CC6820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24</a:t>
            </a:fld>
            <a:endParaRPr lang="en-IN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017C340-9312-4151-BEBC-345FC915F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2035175"/>
            <a:ext cx="1612900" cy="22463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DDC81FB0-85DC-44D6-8445-B91CD00494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3288" y="2324100"/>
            <a:ext cx="16129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B63FA6E7-690A-4478-9694-72A5238656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3288" y="2611437"/>
            <a:ext cx="16129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4562C252-BE0B-47BF-AC84-6FBC51B743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3288" y="2900362"/>
            <a:ext cx="16129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EB86A4E0-C872-48D6-B23D-643100781AA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3288" y="3187700"/>
            <a:ext cx="16129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CE760F8D-18E0-46F4-802B-9BCC63BE97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3288" y="3475037"/>
            <a:ext cx="16129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41BB2DB7-DAD5-4827-8001-DD12D40C96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3288" y="3763962"/>
            <a:ext cx="16129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329A56-E333-4F02-940E-C31F774E4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4857750"/>
            <a:ext cx="1612900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25531E62-2CA4-482E-82FF-16207D2073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9738" y="4281487"/>
            <a:ext cx="0" cy="576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78AE800B-B195-4904-A7FC-01DDF8FDF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151" y="4800600"/>
            <a:ext cx="1314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CC0000"/>
                </a:solidFill>
                <a:cs typeface="Arial" charset="0"/>
              </a:rPr>
              <a:t>Row Buffer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D28D6904-75F0-4C7E-830A-5A070B44C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113" y="1636712"/>
            <a:ext cx="2171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3399"/>
                </a:solidFill>
                <a:cs typeface="Arial" charset="0"/>
              </a:rPr>
              <a:t>(Row 0, Column 0)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95DC92-C9AD-4337-9C18-0FF200AEA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0951" y="2035175"/>
            <a:ext cx="461962" cy="22463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E00FEBF0-A3B0-4A5A-9DF2-AE7723282D9B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3247232" y="2988469"/>
            <a:ext cx="1530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Row decoder</a:t>
            </a: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AE49DE73-3BC6-4106-AFDF-E33A1D9A1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9963" y="5448300"/>
            <a:ext cx="1479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Column mux</a:t>
            </a: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3728C5C6-CE2E-4322-B47F-87F5F3A5D1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3476" y="2035175"/>
            <a:ext cx="0" cy="22463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CC700201-AD10-4186-9DFE-8909C1D8A40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3663" y="2035175"/>
            <a:ext cx="0" cy="22463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B4F3A7ED-CFD9-4253-82FB-C351001CEEE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5438" y="2035175"/>
            <a:ext cx="0" cy="22463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A31524C4-B31E-4DCB-984B-F1CAECDF7A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5626" y="2035175"/>
            <a:ext cx="0" cy="22463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24" name="Line 24">
            <a:extLst>
              <a:ext uri="{FF2B5EF4-FFF2-40B4-BE49-F238E27FC236}">
                <a16:creationId xmlns:a16="http://schemas.microsoft.com/office/drawing/2014/main" id="{3028A517-CCFF-4D07-AFF5-AD47C01A03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5813" y="2035175"/>
            <a:ext cx="0" cy="22463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25" name="Line 25">
            <a:extLst>
              <a:ext uri="{FF2B5EF4-FFF2-40B4-BE49-F238E27FC236}">
                <a16:creationId xmlns:a16="http://schemas.microsoft.com/office/drawing/2014/main" id="{388ECCB7-000B-4547-AC3C-7F133656CE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1" y="2035175"/>
            <a:ext cx="0" cy="22463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64FBA325-C5EB-4CF7-91E4-498CDE4EFE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3288" y="4029075"/>
            <a:ext cx="16129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3E90C461-59A4-4E5D-BCEE-D57AD3AB2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2913" y="3187700"/>
            <a:ext cx="460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28" name="Line 28">
            <a:extLst>
              <a:ext uri="{FF2B5EF4-FFF2-40B4-BE49-F238E27FC236}">
                <a16:creationId xmlns:a16="http://schemas.microsoft.com/office/drawing/2014/main" id="{58ADFCCD-7F15-4E6E-9D5A-77F4BA432D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7676" y="5146675"/>
            <a:ext cx="0" cy="2873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29" name="Line 39">
            <a:extLst>
              <a:ext uri="{FF2B5EF4-FFF2-40B4-BE49-F238E27FC236}">
                <a16:creationId xmlns:a16="http://schemas.microsoft.com/office/drawing/2014/main" id="{93B90107-F442-42F8-8F2B-46FD356A12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7538" y="3187700"/>
            <a:ext cx="6334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30" name="Text Box 40">
            <a:extLst>
              <a:ext uri="{FF2B5EF4-FFF2-40B4-BE49-F238E27FC236}">
                <a16:creationId xmlns:a16="http://schemas.microsoft.com/office/drawing/2014/main" id="{D4FA89DC-7AEE-4CB6-A46E-F93769753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9388" y="2957512"/>
            <a:ext cx="170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Row address 0</a:t>
            </a:r>
          </a:p>
        </p:txBody>
      </p:sp>
      <p:sp>
        <p:nvSpPr>
          <p:cNvPr id="31" name="Text Box 41">
            <a:extLst>
              <a:ext uri="{FF2B5EF4-FFF2-40B4-BE49-F238E27FC236}">
                <a16:creationId xmlns:a16="http://schemas.microsoft.com/office/drawing/2014/main" id="{2629CEDA-5BAB-4CFE-BBAC-31F26BCB2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8" y="5470525"/>
            <a:ext cx="2038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Column address 0</a:t>
            </a:r>
          </a:p>
        </p:txBody>
      </p:sp>
      <p:sp>
        <p:nvSpPr>
          <p:cNvPr id="32" name="Line 42">
            <a:extLst>
              <a:ext uri="{FF2B5EF4-FFF2-40B4-BE49-F238E27FC236}">
                <a16:creationId xmlns:a16="http://schemas.microsoft.com/office/drawing/2014/main" id="{894557B3-F289-4CC9-A7B3-34CBB7F451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5301" y="5664200"/>
            <a:ext cx="460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33" name="Line 43">
            <a:extLst>
              <a:ext uri="{FF2B5EF4-FFF2-40B4-BE49-F238E27FC236}">
                <a16:creationId xmlns:a16="http://schemas.microsoft.com/office/drawing/2014/main" id="{20E8DE4C-815F-4F47-9E5F-667C06C449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9738" y="5837237"/>
            <a:ext cx="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34" name="Text Box 44">
            <a:extLst>
              <a:ext uri="{FF2B5EF4-FFF2-40B4-BE49-F238E27FC236}">
                <a16:creationId xmlns:a16="http://schemas.microsoft.com/office/drawing/2014/main" id="{2683DF5E-5433-4AEE-B289-D45FECCF2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3663" y="6126162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Data</a:t>
            </a:r>
          </a:p>
        </p:txBody>
      </p:sp>
      <p:sp>
        <p:nvSpPr>
          <p:cNvPr id="35" name="Rectangle 45">
            <a:extLst>
              <a:ext uri="{FF2B5EF4-FFF2-40B4-BE49-F238E27FC236}">
                <a16:creationId xmlns:a16="http://schemas.microsoft.com/office/drawing/2014/main" id="{272FF469-0C03-49DB-A4C8-9922AFB78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2035175"/>
            <a:ext cx="1612900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36" name="Rectangle 47">
            <a:extLst>
              <a:ext uri="{FF2B5EF4-FFF2-40B4-BE49-F238E27FC236}">
                <a16:creationId xmlns:a16="http://schemas.microsoft.com/office/drawing/2014/main" id="{4327A782-6CC4-4548-85FD-0B0609B4C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4857750"/>
            <a:ext cx="1612900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37" name="Rectangle 48">
            <a:extLst>
              <a:ext uri="{FF2B5EF4-FFF2-40B4-BE49-F238E27FC236}">
                <a16:creationId xmlns:a16="http://schemas.microsoft.com/office/drawing/2014/main" id="{66905D3C-F375-4855-B133-EF8B1D729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4857750"/>
            <a:ext cx="230188" cy="288925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38" name="Text Box 49">
            <a:extLst>
              <a:ext uri="{FF2B5EF4-FFF2-40B4-BE49-F238E27FC236}">
                <a16:creationId xmlns:a16="http://schemas.microsoft.com/office/drawing/2014/main" id="{7E219BC4-63CB-40C9-BD1D-34F3E97D1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513" y="4813300"/>
            <a:ext cx="831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FFFFFF"/>
                </a:solidFill>
                <a:cs typeface="Arial" charset="0"/>
              </a:rPr>
              <a:t>Row 0</a:t>
            </a:r>
          </a:p>
        </p:txBody>
      </p:sp>
      <p:sp>
        <p:nvSpPr>
          <p:cNvPr id="39" name="Text Box 50">
            <a:extLst>
              <a:ext uri="{FF2B5EF4-FFF2-40B4-BE49-F238E27FC236}">
                <a16:creationId xmlns:a16="http://schemas.microsoft.com/office/drawing/2014/main" id="{3496AC50-AC44-41A0-AB41-41CBE7425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7626" y="4813300"/>
            <a:ext cx="831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Empty</a:t>
            </a:r>
          </a:p>
        </p:txBody>
      </p:sp>
      <p:sp>
        <p:nvSpPr>
          <p:cNvPr id="40" name="Text Box 51">
            <a:extLst>
              <a:ext uri="{FF2B5EF4-FFF2-40B4-BE49-F238E27FC236}">
                <a16:creationId xmlns:a16="http://schemas.microsoft.com/office/drawing/2014/main" id="{6AA16E98-B12C-4751-BD1D-39D85CD18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6" y="1922462"/>
            <a:ext cx="23018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3399"/>
                </a:solidFill>
                <a:cs typeface="Arial" charset="0"/>
              </a:rPr>
              <a:t>  (Row 0, Column 1)</a:t>
            </a:r>
          </a:p>
        </p:txBody>
      </p:sp>
      <p:sp>
        <p:nvSpPr>
          <p:cNvPr id="41" name="Text Box 52">
            <a:extLst>
              <a:ext uri="{FF2B5EF4-FFF2-40B4-BE49-F238E27FC236}">
                <a16:creationId xmlns:a16="http://schemas.microsoft.com/office/drawing/2014/main" id="{5C8C6F33-81F3-4C29-8B70-6904C57F9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8" y="5470525"/>
            <a:ext cx="2038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Column address 1</a:t>
            </a:r>
          </a:p>
        </p:txBody>
      </p:sp>
      <p:sp>
        <p:nvSpPr>
          <p:cNvPr id="42" name="Rectangle 53">
            <a:extLst>
              <a:ext uri="{FF2B5EF4-FFF2-40B4-BE49-F238E27FC236}">
                <a16:creationId xmlns:a16="http://schemas.microsoft.com/office/drawing/2014/main" id="{6D347655-CB0B-457A-8897-719431EAE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063" y="4857750"/>
            <a:ext cx="230188" cy="288925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43" name="Text Box 54">
            <a:extLst>
              <a:ext uri="{FF2B5EF4-FFF2-40B4-BE49-F238E27FC236}">
                <a16:creationId xmlns:a16="http://schemas.microsoft.com/office/drawing/2014/main" id="{F783A9B5-9897-410A-B930-02F8B44FD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113" y="2189162"/>
            <a:ext cx="223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3399"/>
                </a:solidFill>
                <a:cs typeface="Arial" charset="0"/>
              </a:rPr>
              <a:t>(Row 0, Column 85)</a:t>
            </a:r>
          </a:p>
        </p:txBody>
      </p:sp>
      <p:sp>
        <p:nvSpPr>
          <p:cNvPr id="44" name="Rectangle 55">
            <a:extLst>
              <a:ext uri="{FF2B5EF4-FFF2-40B4-BE49-F238E27FC236}">
                <a16:creationId xmlns:a16="http://schemas.microsoft.com/office/drawing/2014/main" id="{F23E19C0-51BD-46C4-A0BD-AEF021256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2963" y="4857750"/>
            <a:ext cx="230188" cy="288925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45" name="Text Box 56">
            <a:extLst>
              <a:ext uri="{FF2B5EF4-FFF2-40B4-BE49-F238E27FC236}">
                <a16:creationId xmlns:a16="http://schemas.microsoft.com/office/drawing/2014/main" id="{78A0C15D-ADF8-4DD3-AD8D-9396EE07A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8" y="5470525"/>
            <a:ext cx="2184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Column address 85</a:t>
            </a:r>
          </a:p>
        </p:txBody>
      </p:sp>
      <p:sp>
        <p:nvSpPr>
          <p:cNvPr id="46" name="Text Box 58">
            <a:extLst>
              <a:ext uri="{FF2B5EF4-FFF2-40B4-BE49-F238E27FC236}">
                <a16:creationId xmlns:a16="http://schemas.microsoft.com/office/drawing/2014/main" id="{236E0B97-FA70-4C46-95AD-7F2C22AF9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051" y="2462212"/>
            <a:ext cx="21732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3399"/>
                </a:solidFill>
                <a:cs typeface="Arial" charset="0"/>
              </a:rPr>
              <a:t>(Row 1, Column 0)</a:t>
            </a:r>
          </a:p>
        </p:txBody>
      </p:sp>
      <p:sp>
        <p:nvSpPr>
          <p:cNvPr id="47" name="Text Box 59">
            <a:extLst>
              <a:ext uri="{FF2B5EF4-FFF2-40B4-BE49-F238E27FC236}">
                <a16:creationId xmlns:a16="http://schemas.microsoft.com/office/drawing/2014/main" id="{374A715C-DBB1-4BF7-8EB7-5F73CFD36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9676" y="4800600"/>
            <a:ext cx="552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3B812F"/>
                </a:solidFill>
                <a:cs typeface="Arial" charset="0"/>
              </a:rPr>
              <a:t>HIT</a:t>
            </a:r>
          </a:p>
        </p:txBody>
      </p:sp>
      <p:sp>
        <p:nvSpPr>
          <p:cNvPr id="48" name="Text Box 60">
            <a:extLst>
              <a:ext uri="{FF2B5EF4-FFF2-40B4-BE49-F238E27FC236}">
                <a16:creationId xmlns:a16="http://schemas.microsoft.com/office/drawing/2014/main" id="{5D5CFDD9-A131-4277-A8E2-A2C4323AE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8088" y="4800600"/>
            <a:ext cx="552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3B812F"/>
                </a:solidFill>
                <a:cs typeface="Arial" charset="0"/>
              </a:rPr>
              <a:t>HIT</a:t>
            </a:r>
          </a:p>
        </p:txBody>
      </p:sp>
      <p:sp>
        <p:nvSpPr>
          <p:cNvPr id="49" name="Text Box 61">
            <a:extLst>
              <a:ext uri="{FF2B5EF4-FFF2-40B4-BE49-F238E27FC236}">
                <a16:creationId xmlns:a16="http://schemas.microsoft.com/office/drawing/2014/main" id="{66D000B3-00CB-4492-BD2F-7F76CB2E1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563" y="2957512"/>
            <a:ext cx="170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Row address 1</a:t>
            </a:r>
          </a:p>
        </p:txBody>
      </p:sp>
      <p:sp>
        <p:nvSpPr>
          <p:cNvPr id="50" name="Rectangle 62">
            <a:extLst>
              <a:ext uri="{FF2B5EF4-FFF2-40B4-BE49-F238E27FC236}">
                <a16:creationId xmlns:a16="http://schemas.microsoft.com/office/drawing/2014/main" id="{276E0AC9-2A2D-4CD2-96E7-D7069904C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2324100"/>
            <a:ext cx="1612900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51" name="Rectangle 63">
            <a:extLst>
              <a:ext uri="{FF2B5EF4-FFF2-40B4-BE49-F238E27FC236}">
                <a16:creationId xmlns:a16="http://schemas.microsoft.com/office/drawing/2014/main" id="{6FD960B4-46A9-49FC-BBFC-99A703074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4857750"/>
            <a:ext cx="1612900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52" name="Rectangle 64">
            <a:extLst>
              <a:ext uri="{FF2B5EF4-FFF2-40B4-BE49-F238E27FC236}">
                <a16:creationId xmlns:a16="http://schemas.microsoft.com/office/drawing/2014/main" id="{5A4D7746-08B9-4FB5-A086-A9AF84E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4857750"/>
            <a:ext cx="230188" cy="288925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>
              <a:solidFill>
                <a:srgbClr val="000000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53" name="Text Box 65">
            <a:extLst>
              <a:ext uri="{FF2B5EF4-FFF2-40B4-BE49-F238E27FC236}">
                <a16:creationId xmlns:a16="http://schemas.microsoft.com/office/drawing/2014/main" id="{DCD4DF77-6991-4401-BC2D-9BD471626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4138" y="4811712"/>
            <a:ext cx="831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FFFFFF"/>
                </a:solidFill>
                <a:cs typeface="Arial" charset="0"/>
              </a:rPr>
              <a:t>Row 1</a:t>
            </a:r>
          </a:p>
        </p:txBody>
      </p:sp>
      <p:sp>
        <p:nvSpPr>
          <p:cNvPr id="54" name="Text Box 66">
            <a:extLst>
              <a:ext uri="{FF2B5EF4-FFF2-40B4-BE49-F238E27FC236}">
                <a16:creationId xmlns:a16="http://schemas.microsoft.com/office/drawing/2014/main" id="{F1FD54D2-CC6E-42C6-9C93-6D3218F6F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8" y="5468937"/>
            <a:ext cx="2038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Column address 0</a:t>
            </a:r>
          </a:p>
        </p:txBody>
      </p:sp>
      <p:sp>
        <p:nvSpPr>
          <p:cNvPr id="55" name="Text Box 67">
            <a:extLst>
              <a:ext uri="{FF2B5EF4-FFF2-40B4-BE49-F238E27FC236}">
                <a16:creationId xmlns:a16="http://schemas.microsoft.com/office/drawing/2014/main" id="{434C41F6-B556-4AD6-8281-90352AC5D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5863" y="4800600"/>
            <a:ext cx="145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FF0000"/>
                </a:solidFill>
                <a:cs typeface="Arial" charset="0"/>
              </a:rPr>
              <a:t>CONFLICT !</a:t>
            </a:r>
          </a:p>
        </p:txBody>
      </p:sp>
      <p:sp>
        <p:nvSpPr>
          <p:cNvPr id="56" name="Text Box 69">
            <a:extLst>
              <a:ext uri="{FF2B5EF4-FFF2-40B4-BE49-F238E27FC236}">
                <a16:creationId xmlns:a16="http://schemas.microsoft.com/office/drawing/2014/main" id="{326AE894-98B3-4D87-9902-62AC2F194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476" y="1689100"/>
            <a:ext cx="1085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FF0000"/>
                </a:solidFill>
                <a:cs typeface="Arial" charset="0"/>
              </a:rPr>
              <a:t>Columns</a:t>
            </a:r>
          </a:p>
        </p:txBody>
      </p:sp>
      <p:sp>
        <p:nvSpPr>
          <p:cNvPr id="57" name="Text Box 70">
            <a:extLst>
              <a:ext uri="{FF2B5EF4-FFF2-40B4-BE49-F238E27FC236}">
                <a16:creationId xmlns:a16="http://schemas.microsoft.com/office/drawing/2014/main" id="{BEFEF4A6-42C2-4DD0-A1B9-7B92EE3E988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6111082" y="3029744"/>
            <a:ext cx="755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FF0000"/>
                </a:solidFill>
                <a:cs typeface="Arial" charset="0"/>
              </a:rPr>
              <a:t>Rows</a:t>
            </a:r>
          </a:p>
        </p:txBody>
      </p:sp>
      <p:sp>
        <p:nvSpPr>
          <p:cNvPr id="58" name="Text Box 15">
            <a:extLst>
              <a:ext uri="{FF2B5EF4-FFF2-40B4-BE49-F238E27FC236}">
                <a16:creationId xmlns:a16="http://schemas.microsoft.com/office/drawing/2014/main" id="{ED774866-445B-4F58-83BB-39DAC62BB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576" y="1371600"/>
            <a:ext cx="2070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3399"/>
                </a:solidFill>
                <a:cs typeface="Arial" charset="0"/>
              </a:rPr>
              <a:t>  Access Address: </a:t>
            </a:r>
          </a:p>
        </p:txBody>
      </p:sp>
      <p:sp>
        <p:nvSpPr>
          <p:cNvPr id="59" name="Trapezoid 58">
            <a:extLst>
              <a:ext uri="{FF2B5EF4-FFF2-40B4-BE49-F238E27FC236}">
                <a16:creationId xmlns:a16="http://schemas.microsoft.com/office/drawing/2014/main" id="{9B3178CF-FF6E-49AD-B34B-FA8CA265DDF7}"/>
              </a:ext>
            </a:extLst>
          </p:cNvPr>
          <p:cNvSpPr/>
          <p:nvPr/>
        </p:nvSpPr>
        <p:spPr bwMode="auto">
          <a:xfrm rot="10800000">
            <a:off x="4705351" y="5418137"/>
            <a:ext cx="1617662" cy="422275"/>
          </a:xfrm>
          <a:prstGeom prst="trapezoid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solidFill>
                <a:srgbClr val="000000"/>
              </a:solidFill>
              <a:latin typeface="Arial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1FA87F3-7377-0A4B-95C6-0EFD33D94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67256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54 0.00232 L 0.07899 0.0007 L 0.07413 0.22616 " pathEditMode="relative" ptsTypes="AAA">
                                      <p:cBhvr>
                                        <p:cTn id="7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2 0.0007 C 0.02622 0.00116 0.05243 0.00232 0.05243 0.00232 L 0.04879 0.22778 " pathEditMode="relative" ptsTypes="fAA">
                                      <p:cBhvr>
                                        <p:cTn id="10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07 0.00232 L -0.05695 0.00232 L -0.05816 0.22616 " pathEditMode="relative" ptsTypes="AAA">
                                      <p:cBhvr>
                                        <p:cTn id="13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54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57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54 0.00232 L 0.07899 0.0007 L 0.07413 0.22616 " pathEditMode="relative" ptsTypes="AAA">
                                      <p:cBhvr>
                                        <p:cTn id="18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16" grpId="0"/>
      <p:bldP spid="16" grpId="1"/>
      <p:bldP spid="17" grpId="0" animBg="1"/>
      <p:bldP spid="18" grpId="0"/>
      <p:bldP spid="19" grpId="0"/>
      <p:bldP spid="27" grpId="0" animBg="1"/>
      <p:bldP spid="28" grpId="0" animBg="1"/>
      <p:bldP spid="29" grpId="0" animBg="1"/>
      <p:bldP spid="30" grpId="0"/>
      <p:bldP spid="30" grpId="1"/>
      <p:bldP spid="31" grpId="0"/>
      <p:bldP spid="31" grpId="1"/>
      <p:bldP spid="32" grpId="0" animBg="1"/>
      <p:bldP spid="33" grpId="0" animBg="1"/>
      <p:bldP spid="34" grpId="0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7" grpId="2" animBg="1"/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 animBg="1"/>
      <p:bldP spid="42" grpId="1" animBg="1"/>
      <p:bldP spid="42" grpId="2" animBg="1"/>
      <p:bldP spid="43" grpId="0"/>
      <p:bldP spid="43" grpId="1"/>
      <p:bldP spid="44" grpId="0" animBg="1"/>
      <p:bldP spid="44" grpId="1" animBg="1"/>
      <p:bldP spid="44" grpId="2" animBg="1"/>
      <p:bldP spid="45" grpId="0"/>
      <p:bldP spid="45" grpId="1"/>
      <p:bldP spid="46" grpId="0"/>
      <p:bldP spid="47" grpId="0"/>
      <p:bldP spid="47" grpId="1"/>
      <p:bldP spid="48" grpId="0"/>
      <p:bldP spid="48" grpId="1"/>
      <p:bldP spid="49" grpId="0"/>
      <p:bldP spid="49" grpId="1"/>
      <p:bldP spid="50" grpId="0" animBg="1"/>
      <p:bldP spid="50" grpId="1" animBg="1"/>
      <p:bldP spid="51" grpId="0" animBg="1"/>
      <p:bldP spid="52" grpId="0" animBg="1"/>
      <p:bldP spid="52" grpId="1" animBg="1"/>
      <p:bldP spid="53" grpId="0"/>
      <p:bldP spid="54" grpId="0"/>
      <p:bldP spid="55" grpId="0"/>
      <p:bldP spid="55" grpId="1"/>
      <p:bldP spid="5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D9990-18EF-476B-89AC-24747ACDD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DRAM Timing Constraints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F041-E4BE-4F5B-9B6F-E04F3E672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tRAS</a:t>
            </a:r>
            <a:r>
              <a:rPr lang="en-US" dirty="0"/>
              <a:t>: Row address strobe latency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tRP</a:t>
            </a:r>
            <a:r>
              <a:rPr lang="en-US" dirty="0"/>
              <a:t>: </a:t>
            </a:r>
            <a:r>
              <a:rPr lang="en-US" dirty="0" err="1"/>
              <a:t>Precharge</a:t>
            </a:r>
            <a:r>
              <a:rPr lang="en-US" dirty="0"/>
              <a:t> latency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tCAS</a:t>
            </a:r>
            <a:r>
              <a:rPr lang="en-US" dirty="0"/>
              <a:t>: Column address strobe latency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tRC</a:t>
            </a:r>
            <a:r>
              <a:rPr lang="en-US" dirty="0"/>
              <a:t>: Row cycle time: </a:t>
            </a:r>
            <a:r>
              <a:rPr lang="en-US" dirty="0" err="1"/>
              <a:t>tRAS+tRP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1581F9-25D7-48CE-858C-FBDBD14C6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25</a:t>
            </a:fld>
            <a:endParaRPr lang="en-IN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3D2996A-8519-FE4F-4317-66B8A6F9F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895693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12F19-F239-4092-905B-D8330857D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 (Page) Policies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606AD-1C7A-44E4-9BEC-2971CA623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163" y="1825625"/>
            <a:ext cx="11982449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Open Page </a:t>
            </a:r>
            <a:r>
              <a:rPr lang="en-US" dirty="0"/>
              <a:t>(do not get confused with an OS page)</a:t>
            </a:r>
          </a:p>
          <a:p>
            <a:pPr marL="0" indent="0">
              <a:buNone/>
            </a:pPr>
            <a:r>
              <a:rPr lang="en-US" dirty="0"/>
              <a:t>After an access: Keep the </a:t>
            </a:r>
            <a:r>
              <a:rPr lang="en-US" dirty="0">
                <a:solidFill>
                  <a:srgbClr val="C00000"/>
                </a:solidFill>
              </a:rPr>
              <a:t>page in the row-buffer </a:t>
            </a:r>
          </a:p>
          <a:p>
            <a:pPr marL="0" indent="0">
              <a:buNone/>
            </a:pPr>
            <a:r>
              <a:rPr lang="en-US" dirty="0"/>
              <a:t>Consecutive accesses to the same page : </a:t>
            </a:r>
            <a:r>
              <a:rPr lang="en-US" dirty="0">
                <a:solidFill>
                  <a:srgbClr val="C00000"/>
                </a:solidFill>
              </a:rPr>
              <a:t>Row-buffer Hit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On an access to different page: </a:t>
            </a:r>
            <a:r>
              <a:rPr lang="en-US" dirty="0">
                <a:solidFill>
                  <a:srgbClr val="C00000"/>
                </a:solidFill>
              </a:rPr>
              <a:t>Close the row and open the new one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Closed page: </a:t>
            </a:r>
          </a:p>
          <a:p>
            <a:pPr marL="0" indent="0">
              <a:buNone/>
            </a:pPr>
            <a:r>
              <a:rPr lang="en-US" dirty="0"/>
              <a:t>After an access: Close the page if there are no accesses to the same row in the request queue. </a:t>
            </a:r>
          </a:p>
          <a:p>
            <a:pPr marL="0" indent="0">
              <a:buNone/>
            </a:pPr>
            <a:r>
              <a:rPr lang="en-US" dirty="0"/>
              <a:t>Consecutive accesses to different page : </a:t>
            </a:r>
            <a:r>
              <a:rPr lang="en-US" dirty="0">
                <a:solidFill>
                  <a:srgbClr val="C00000"/>
                </a:solidFill>
              </a:rPr>
              <a:t>Low latency </a:t>
            </a:r>
          </a:p>
          <a:p>
            <a:pPr marL="0" indent="0">
              <a:buNone/>
            </a:pPr>
            <a:r>
              <a:rPr lang="en-US" dirty="0"/>
              <a:t>On an access to different page: </a:t>
            </a:r>
            <a:r>
              <a:rPr lang="en-US" dirty="0">
                <a:solidFill>
                  <a:srgbClr val="C00000"/>
                </a:solidFill>
              </a:rPr>
              <a:t>No need to close the row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DB8E5-A41C-4B95-A984-96BC39FC5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26</a:t>
            </a:fld>
            <a:endParaRPr lang="en-IN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AB78920-3187-130B-AD48-C7BF3F692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4810793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CF0CD-7CF3-4996-8AE0-85FB25312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10K view on the latency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6009F-8991-4E21-8126-E98B04A94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Page Empty: </a:t>
            </a:r>
            <a:r>
              <a:rPr lang="en-US" dirty="0"/>
              <a:t>ACT + CAS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Page Hit: </a:t>
            </a:r>
            <a:r>
              <a:rPr lang="en-US" dirty="0"/>
              <a:t>CAS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Page Miss: </a:t>
            </a:r>
            <a:r>
              <a:rPr lang="en-US" dirty="0"/>
              <a:t>PRE+ACT+CAS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085ADD-C22D-4D8F-90CB-BF7F71E6F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27</a:t>
            </a:fld>
            <a:endParaRPr lang="en-IN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5AB05F8-1E5C-911E-B389-3DD1AE31D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4238132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3BED5-3377-4669-AD01-EB7E76B5D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DRAM Refresh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0189C-13ED-49A6-8E5E-8AF135BA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28</a:t>
            </a:fld>
            <a:endParaRPr lang="en-IN" dirty="0"/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937AEE48-3985-4332-89D4-B5D6857D9614}"/>
              </a:ext>
            </a:extLst>
          </p:cNvPr>
          <p:cNvGrpSpPr/>
          <p:nvPr/>
        </p:nvGrpSpPr>
        <p:grpSpPr>
          <a:xfrm>
            <a:off x="1051370" y="1284477"/>
            <a:ext cx="7719059" cy="2159635"/>
            <a:chOff x="1056132" y="1060703"/>
            <a:chExt cx="7719059" cy="2159635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DEF5F1E0-9F23-48B2-B062-43DAC29A38A4}"/>
                </a:ext>
              </a:extLst>
            </p:cNvPr>
            <p:cNvSpPr/>
            <p:nvPr/>
          </p:nvSpPr>
          <p:spPr>
            <a:xfrm>
              <a:off x="1060704" y="2784347"/>
              <a:ext cx="7710170" cy="431800"/>
            </a:xfrm>
            <a:custGeom>
              <a:avLst/>
              <a:gdLst/>
              <a:ahLst/>
              <a:cxnLst/>
              <a:rect l="l" t="t" r="r" b="b"/>
              <a:pathLst>
                <a:path w="7710170" h="431800">
                  <a:moveTo>
                    <a:pt x="7709916" y="0"/>
                  </a:moveTo>
                  <a:lnTo>
                    <a:pt x="0" y="0"/>
                  </a:lnTo>
                  <a:lnTo>
                    <a:pt x="0" y="431291"/>
                  </a:lnTo>
                  <a:lnTo>
                    <a:pt x="7709916" y="431291"/>
                  </a:lnTo>
                  <a:lnTo>
                    <a:pt x="770991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6E0E2ADD-E65C-4E8B-8A8C-700B98F39D69}"/>
                </a:ext>
              </a:extLst>
            </p:cNvPr>
            <p:cNvSpPr/>
            <p:nvPr/>
          </p:nvSpPr>
          <p:spPr>
            <a:xfrm>
              <a:off x="1060704" y="2784347"/>
              <a:ext cx="7710170" cy="431800"/>
            </a:xfrm>
            <a:custGeom>
              <a:avLst/>
              <a:gdLst/>
              <a:ahLst/>
              <a:cxnLst/>
              <a:rect l="l" t="t" r="r" b="b"/>
              <a:pathLst>
                <a:path w="7710170" h="431800">
                  <a:moveTo>
                    <a:pt x="0" y="431291"/>
                  </a:moveTo>
                  <a:lnTo>
                    <a:pt x="7709916" y="431291"/>
                  </a:lnTo>
                  <a:lnTo>
                    <a:pt x="7709916" y="0"/>
                  </a:lnTo>
                  <a:lnTo>
                    <a:pt x="0" y="0"/>
                  </a:lnTo>
                  <a:lnTo>
                    <a:pt x="0" y="43129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DA54B451-899B-40D9-94D9-E004A34509D0}"/>
                </a:ext>
              </a:extLst>
            </p:cNvPr>
            <p:cNvSpPr/>
            <p:nvPr/>
          </p:nvSpPr>
          <p:spPr>
            <a:xfrm>
              <a:off x="1173480" y="1060703"/>
              <a:ext cx="7484364" cy="183184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8">
            <a:extLst>
              <a:ext uri="{FF2B5EF4-FFF2-40B4-BE49-F238E27FC236}">
                <a16:creationId xmlns:a16="http://schemas.microsoft.com/office/drawing/2014/main" id="{67345088-755F-411E-9F2D-05F8F2913E2F}"/>
              </a:ext>
            </a:extLst>
          </p:cNvPr>
          <p:cNvGrpSpPr/>
          <p:nvPr/>
        </p:nvGrpSpPr>
        <p:grpSpPr>
          <a:xfrm>
            <a:off x="470725" y="3522535"/>
            <a:ext cx="10746105" cy="1442085"/>
            <a:chOff x="475487" y="3470147"/>
            <a:chExt cx="10746105" cy="1442085"/>
          </a:xfrm>
        </p:grpSpPr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BFAB6877-F97B-4A4E-B6B9-A5A531FB8AAE}"/>
                </a:ext>
              </a:extLst>
            </p:cNvPr>
            <p:cNvSpPr/>
            <p:nvPr/>
          </p:nvSpPr>
          <p:spPr>
            <a:xfrm>
              <a:off x="478535" y="3473195"/>
              <a:ext cx="10739755" cy="1435735"/>
            </a:xfrm>
            <a:custGeom>
              <a:avLst/>
              <a:gdLst/>
              <a:ahLst/>
              <a:cxnLst/>
              <a:rect l="l" t="t" r="r" b="b"/>
              <a:pathLst>
                <a:path w="10739755" h="1435735">
                  <a:moveTo>
                    <a:pt x="10500360" y="0"/>
                  </a:moveTo>
                  <a:lnTo>
                    <a:pt x="239268" y="0"/>
                  </a:lnTo>
                  <a:lnTo>
                    <a:pt x="191047" y="4863"/>
                  </a:lnTo>
                  <a:lnTo>
                    <a:pt x="146134" y="18811"/>
                  </a:lnTo>
                  <a:lnTo>
                    <a:pt x="105491" y="40880"/>
                  </a:lnTo>
                  <a:lnTo>
                    <a:pt x="70080" y="70103"/>
                  </a:lnTo>
                  <a:lnTo>
                    <a:pt x="40863" y="105519"/>
                  </a:lnTo>
                  <a:lnTo>
                    <a:pt x="18802" y="146161"/>
                  </a:lnTo>
                  <a:lnTo>
                    <a:pt x="4861" y="191065"/>
                  </a:lnTo>
                  <a:lnTo>
                    <a:pt x="0" y="239267"/>
                  </a:lnTo>
                  <a:lnTo>
                    <a:pt x="0" y="1196339"/>
                  </a:lnTo>
                  <a:lnTo>
                    <a:pt x="4861" y="1244542"/>
                  </a:lnTo>
                  <a:lnTo>
                    <a:pt x="18802" y="1289446"/>
                  </a:lnTo>
                  <a:lnTo>
                    <a:pt x="40863" y="1330088"/>
                  </a:lnTo>
                  <a:lnTo>
                    <a:pt x="70080" y="1365503"/>
                  </a:lnTo>
                  <a:lnTo>
                    <a:pt x="105491" y="1394727"/>
                  </a:lnTo>
                  <a:lnTo>
                    <a:pt x="146134" y="1416796"/>
                  </a:lnTo>
                  <a:lnTo>
                    <a:pt x="191047" y="1430744"/>
                  </a:lnTo>
                  <a:lnTo>
                    <a:pt x="239268" y="1435608"/>
                  </a:lnTo>
                  <a:lnTo>
                    <a:pt x="10500360" y="1435608"/>
                  </a:lnTo>
                  <a:lnTo>
                    <a:pt x="10548562" y="1430744"/>
                  </a:lnTo>
                  <a:lnTo>
                    <a:pt x="10593466" y="1416796"/>
                  </a:lnTo>
                  <a:lnTo>
                    <a:pt x="10634108" y="1394727"/>
                  </a:lnTo>
                  <a:lnTo>
                    <a:pt x="10669524" y="1365503"/>
                  </a:lnTo>
                  <a:lnTo>
                    <a:pt x="10698747" y="1330088"/>
                  </a:lnTo>
                  <a:lnTo>
                    <a:pt x="10720816" y="1289446"/>
                  </a:lnTo>
                  <a:lnTo>
                    <a:pt x="10734764" y="1244542"/>
                  </a:lnTo>
                  <a:lnTo>
                    <a:pt x="10739628" y="1196339"/>
                  </a:lnTo>
                  <a:lnTo>
                    <a:pt x="10739628" y="239267"/>
                  </a:lnTo>
                  <a:lnTo>
                    <a:pt x="10734764" y="191065"/>
                  </a:lnTo>
                  <a:lnTo>
                    <a:pt x="10720816" y="146161"/>
                  </a:lnTo>
                  <a:lnTo>
                    <a:pt x="10698747" y="105519"/>
                  </a:lnTo>
                  <a:lnTo>
                    <a:pt x="10669524" y="70103"/>
                  </a:lnTo>
                  <a:lnTo>
                    <a:pt x="10634108" y="40880"/>
                  </a:lnTo>
                  <a:lnTo>
                    <a:pt x="10593466" y="18811"/>
                  </a:lnTo>
                  <a:lnTo>
                    <a:pt x="10548562" y="4863"/>
                  </a:lnTo>
                  <a:lnTo>
                    <a:pt x="105003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CEBFA23A-9F03-4818-96F8-080D6C430A61}"/>
                </a:ext>
              </a:extLst>
            </p:cNvPr>
            <p:cNvSpPr/>
            <p:nvPr/>
          </p:nvSpPr>
          <p:spPr>
            <a:xfrm>
              <a:off x="478535" y="3473195"/>
              <a:ext cx="10739755" cy="1435735"/>
            </a:xfrm>
            <a:custGeom>
              <a:avLst/>
              <a:gdLst/>
              <a:ahLst/>
              <a:cxnLst/>
              <a:rect l="l" t="t" r="r" b="b"/>
              <a:pathLst>
                <a:path w="10739755" h="1435735">
                  <a:moveTo>
                    <a:pt x="0" y="239267"/>
                  </a:moveTo>
                  <a:lnTo>
                    <a:pt x="4861" y="191065"/>
                  </a:lnTo>
                  <a:lnTo>
                    <a:pt x="18802" y="146161"/>
                  </a:lnTo>
                  <a:lnTo>
                    <a:pt x="40863" y="105519"/>
                  </a:lnTo>
                  <a:lnTo>
                    <a:pt x="70080" y="70103"/>
                  </a:lnTo>
                  <a:lnTo>
                    <a:pt x="105491" y="40880"/>
                  </a:lnTo>
                  <a:lnTo>
                    <a:pt x="146134" y="18811"/>
                  </a:lnTo>
                  <a:lnTo>
                    <a:pt x="191047" y="4863"/>
                  </a:lnTo>
                  <a:lnTo>
                    <a:pt x="239268" y="0"/>
                  </a:lnTo>
                  <a:lnTo>
                    <a:pt x="10500360" y="0"/>
                  </a:lnTo>
                  <a:lnTo>
                    <a:pt x="10548562" y="4863"/>
                  </a:lnTo>
                  <a:lnTo>
                    <a:pt x="10593466" y="18811"/>
                  </a:lnTo>
                  <a:lnTo>
                    <a:pt x="10634108" y="40880"/>
                  </a:lnTo>
                  <a:lnTo>
                    <a:pt x="10669524" y="70103"/>
                  </a:lnTo>
                  <a:lnTo>
                    <a:pt x="10698747" y="105519"/>
                  </a:lnTo>
                  <a:lnTo>
                    <a:pt x="10720816" y="146161"/>
                  </a:lnTo>
                  <a:lnTo>
                    <a:pt x="10734764" y="191065"/>
                  </a:lnTo>
                  <a:lnTo>
                    <a:pt x="10739628" y="239267"/>
                  </a:lnTo>
                  <a:lnTo>
                    <a:pt x="10739628" y="1196339"/>
                  </a:lnTo>
                  <a:lnTo>
                    <a:pt x="10734764" y="1244542"/>
                  </a:lnTo>
                  <a:lnTo>
                    <a:pt x="10720816" y="1289446"/>
                  </a:lnTo>
                  <a:lnTo>
                    <a:pt x="10698747" y="1330088"/>
                  </a:lnTo>
                  <a:lnTo>
                    <a:pt x="10669524" y="1365503"/>
                  </a:lnTo>
                  <a:lnTo>
                    <a:pt x="10634108" y="1394727"/>
                  </a:lnTo>
                  <a:lnTo>
                    <a:pt x="10593466" y="1416796"/>
                  </a:lnTo>
                  <a:lnTo>
                    <a:pt x="10548562" y="1430744"/>
                  </a:lnTo>
                  <a:lnTo>
                    <a:pt x="10500360" y="1435608"/>
                  </a:lnTo>
                  <a:lnTo>
                    <a:pt x="239268" y="1435608"/>
                  </a:lnTo>
                  <a:lnTo>
                    <a:pt x="191047" y="1430744"/>
                  </a:lnTo>
                  <a:lnTo>
                    <a:pt x="146134" y="1416796"/>
                  </a:lnTo>
                  <a:lnTo>
                    <a:pt x="105491" y="1394727"/>
                  </a:lnTo>
                  <a:lnTo>
                    <a:pt x="70080" y="1365503"/>
                  </a:lnTo>
                  <a:lnTo>
                    <a:pt x="40863" y="1330088"/>
                  </a:lnTo>
                  <a:lnTo>
                    <a:pt x="18802" y="1289446"/>
                  </a:lnTo>
                  <a:lnTo>
                    <a:pt x="4861" y="1244542"/>
                  </a:lnTo>
                  <a:lnTo>
                    <a:pt x="0" y="1196339"/>
                  </a:lnTo>
                  <a:lnTo>
                    <a:pt x="0" y="239267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b="1"/>
            </a:p>
          </p:txBody>
        </p:sp>
      </p:grpSp>
      <p:grpSp>
        <p:nvGrpSpPr>
          <p:cNvPr id="13" name="object 11">
            <a:extLst>
              <a:ext uri="{FF2B5EF4-FFF2-40B4-BE49-F238E27FC236}">
                <a16:creationId xmlns:a16="http://schemas.microsoft.com/office/drawing/2014/main" id="{F3E8A6B9-4CFB-4D50-B8DA-FECA64F242C1}"/>
              </a:ext>
            </a:extLst>
          </p:cNvPr>
          <p:cNvGrpSpPr/>
          <p:nvPr/>
        </p:nvGrpSpPr>
        <p:grpSpPr>
          <a:xfrm>
            <a:off x="470725" y="5121211"/>
            <a:ext cx="10746105" cy="573405"/>
            <a:chOff x="475487" y="5068823"/>
            <a:chExt cx="10746105" cy="573405"/>
          </a:xfrm>
        </p:grpSpPr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554F2ABD-41C1-46F7-9D1E-5C1C6E2C029D}"/>
                </a:ext>
              </a:extLst>
            </p:cNvPr>
            <p:cNvSpPr/>
            <p:nvPr/>
          </p:nvSpPr>
          <p:spPr>
            <a:xfrm>
              <a:off x="478535" y="5071871"/>
              <a:ext cx="10739755" cy="567055"/>
            </a:xfrm>
            <a:custGeom>
              <a:avLst/>
              <a:gdLst/>
              <a:ahLst/>
              <a:cxnLst/>
              <a:rect l="l" t="t" r="r" b="b"/>
              <a:pathLst>
                <a:path w="10739755" h="567054">
                  <a:moveTo>
                    <a:pt x="10645140" y="0"/>
                  </a:moveTo>
                  <a:lnTo>
                    <a:pt x="94487" y="0"/>
                  </a:lnTo>
                  <a:lnTo>
                    <a:pt x="57708" y="7423"/>
                  </a:lnTo>
                  <a:lnTo>
                    <a:pt x="27674" y="27670"/>
                  </a:lnTo>
                  <a:lnTo>
                    <a:pt x="7425" y="57703"/>
                  </a:lnTo>
                  <a:lnTo>
                    <a:pt x="0" y="94487"/>
                  </a:lnTo>
                  <a:lnTo>
                    <a:pt x="0" y="472439"/>
                  </a:lnTo>
                  <a:lnTo>
                    <a:pt x="7425" y="509219"/>
                  </a:lnTo>
                  <a:lnTo>
                    <a:pt x="27674" y="539253"/>
                  </a:lnTo>
                  <a:lnTo>
                    <a:pt x="57708" y="559502"/>
                  </a:lnTo>
                  <a:lnTo>
                    <a:pt x="94487" y="566927"/>
                  </a:lnTo>
                  <a:lnTo>
                    <a:pt x="10645140" y="566927"/>
                  </a:lnTo>
                  <a:lnTo>
                    <a:pt x="10681924" y="559502"/>
                  </a:lnTo>
                  <a:lnTo>
                    <a:pt x="10711957" y="539253"/>
                  </a:lnTo>
                  <a:lnTo>
                    <a:pt x="10732204" y="509219"/>
                  </a:lnTo>
                  <a:lnTo>
                    <a:pt x="10739628" y="472439"/>
                  </a:lnTo>
                  <a:lnTo>
                    <a:pt x="10739628" y="94487"/>
                  </a:lnTo>
                  <a:lnTo>
                    <a:pt x="10732204" y="57703"/>
                  </a:lnTo>
                  <a:lnTo>
                    <a:pt x="10711957" y="27670"/>
                  </a:lnTo>
                  <a:lnTo>
                    <a:pt x="10681924" y="7423"/>
                  </a:lnTo>
                  <a:lnTo>
                    <a:pt x="1064514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A3524CE7-A56B-4677-BB31-CB7C99DC413F}"/>
                </a:ext>
              </a:extLst>
            </p:cNvPr>
            <p:cNvSpPr/>
            <p:nvPr/>
          </p:nvSpPr>
          <p:spPr>
            <a:xfrm>
              <a:off x="478535" y="5071871"/>
              <a:ext cx="10739755" cy="567055"/>
            </a:xfrm>
            <a:custGeom>
              <a:avLst/>
              <a:gdLst/>
              <a:ahLst/>
              <a:cxnLst/>
              <a:rect l="l" t="t" r="r" b="b"/>
              <a:pathLst>
                <a:path w="10739755" h="567054">
                  <a:moveTo>
                    <a:pt x="0" y="94487"/>
                  </a:moveTo>
                  <a:lnTo>
                    <a:pt x="7425" y="57703"/>
                  </a:lnTo>
                  <a:lnTo>
                    <a:pt x="27674" y="27670"/>
                  </a:lnTo>
                  <a:lnTo>
                    <a:pt x="57708" y="7423"/>
                  </a:lnTo>
                  <a:lnTo>
                    <a:pt x="94487" y="0"/>
                  </a:lnTo>
                  <a:lnTo>
                    <a:pt x="10645140" y="0"/>
                  </a:lnTo>
                  <a:lnTo>
                    <a:pt x="10681924" y="7423"/>
                  </a:lnTo>
                  <a:lnTo>
                    <a:pt x="10711957" y="27670"/>
                  </a:lnTo>
                  <a:lnTo>
                    <a:pt x="10732204" y="57703"/>
                  </a:lnTo>
                  <a:lnTo>
                    <a:pt x="10739628" y="94487"/>
                  </a:lnTo>
                  <a:lnTo>
                    <a:pt x="10739628" y="472439"/>
                  </a:lnTo>
                  <a:lnTo>
                    <a:pt x="10732204" y="509219"/>
                  </a:lnTo>
                  <a:lnTo>
                    <a:pt x="10711957" y="539253"/>
                  </a:lnTo>
                  <a:lnTo>
                    <a:pt x="10681924" y="559502"/>
                  </a:lnTo>
                  <a:lnTo>
                    <a:pt x="10645140" y="566927"/>
                  </a:lnTo>
                  <a:lnTo>
                    <a:pt x="94487" y="566927"/>
                  </a:lnTo>
                  <a:lnTo>
                    <a:pt x="57708" y="559502"/>
                  </a:lnTo>
                  <a:lnTo>
                    <a:pt x="27674" y="539253"/>
                  </a:lnTo>
                  <a:lnTo>
                    <a:pt x="7425" y="509219"/>
                  </a:lnTo>
                  <a:lnTo>
                    <a:pt x="0" y="472439"/>
                  </a:lnTo>
                  <a:lnTo>
                    <a:pt x="0" y="94487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b="1"/>
            </a:p>
          </p:txBody>
        </p:sp>
      </p:grpSp>
      <p:grpSp>
        <p:nvGrpSpPr>
          <p:cNvPr id="16" name="object 14">
            <a:extLst>
              <a:ext uri="{FF2B5EF4-FFF2-40B4-BE49-F238E27FC236}">
                <a16:creationId xmlns:a16="http://schemas.microsoft.com/office/drawing/2014/main" id="{645522C2-A4C1-4C41-9B12-85A5A9B37F6E}"/>
              </a:ext>
            </a:extLst>
          </p:cNvPr>
          <p:cNvGrpSpPr/>
          <p:nvPr/>
        </p:nvGrpSpPr>
        <p:grpSpPr>
          <a:xfrm>
            <a:off x="478346" y="5843588"/>
            <a:ext cx="10746105" cy="573405"/>
            <a:chOff x="483108" y="5791200"/>
            <a:chExt cx="10746105" cy="573405"/>
          </a:xfrm>
        </p:grpSpPr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5AB5E0E2-5A91-47A0-A2C8-EE989D41CEFD}"/>
                </a:ext>
              </a:extLst>
            </p:cNvPr>
            <p:cNvSpPr/>
            <p:nvPr/>
          </p:nvSpPr>
          <p:spPr>
            <a:xfrm>
              <a:off x="486156" y="5794247"/>
              <a:ext cx="10739755" cy="567055"/>
            </a:xfrm>
            <a:custGeom>
              <a:avLst/>
              <a:gdLst/>
              <a:ahLst/>
              <a:cxnLst/>
              <a:rect l="l" t="t" r="r" b="b"/>
              <a:pathLst>
                <a:path w="10739755" h="567054">
                  <a:moveTo>
                    <a:pt x="10645140" y="0"/>
                  </a:moveTo>
                  <a:lnTo>
                    <a:pt x="94487" y="0"/>
                  </a:lnTo>
                  <a:lnTo>
                    <a:pt x="57708" y="7425"/>
                  </a:lnTo>
                  <a:lnTo>
                    <a:pt x="27674" y="27674"/>
                  </a:lnTo>
                  <a:lnTo>
                    <a:pt x="7425" y="57708"/>
                  </a:lnTo>
                  <a:lnTo>
                    <a:pt x="0" y="94487"/>
                  </a:lnTo>
                  <a:lnTo>
                    <a:pt x="0" y="472439"/>
                  </a:lnTo>
                  <a:lnTo>
                    <a:pt x="7425" y="509219"/>
                  </a:lnTo>
                  <a:lnTo>
                    <a:pt x="27674" y="539253"/>
                  </a:lnTo>
                  <a:lnTo>
                    <a:pt x="57708" y="559502"/>
                  </a:lnTo>
                  <a:lnTo>
                    <a:pt x="94487" y="566927"/>
                  </a:lnTo>
                  <a:lnTo>
                    <a:pt x="10645140" y="566927"/>
                  </a:lnTo>
                  <a:lnTo>
                    <a:pt x="10681924" y="559502"/>
                  </a:lnTo>
                  <a:lnTo>
                    <a:pt x="10711957" y="539253"/>
                  </a:lnTo>
                  <a:lnTo>
                    <a:pt x="10732204" y="509219"/>
                  </a:lnTo>
                  <a:lnTo>
                    <a:pt x="10739628" y="472439"/>
                  </a:lnTo>
                  <a:lnTo>
                    <a:pt x="10739628" y="94487"/>
                  </a:lnTo>
                  <a:lnTo>
                    <a:pt x="10732204" y="57708"/>
                  </a:lnTo>
                  <a:lnTo>
                    <a:pt x="10711957" y="27674"/>
                  </a:lnTo>
                  <a:lnTo>
                    <a:pt x="10681924" y="7425"/>
                  </a:lnTo>
                  <a:lnTo>
                    <a:pt x="1064514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b="1"/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963662D6-834C-4B3A-A922-BF87AEF70649}"/>
                </a:ext>
              </a:extLst>
            </p:cNvPr>
            <p:cNvSpPr/>
            <p:nvPr/>
          </p:nvSpPr>
          <p:spPr>
            <a:xfrm>
              <a:off x="486156" y="5794247"/>
              <a:ext cx="10739755" cy="567055"/>
            </a:xfrm>
            <a:custGeom>
              <a:avLst/>
              <a:gdLst/>
              <a:ahLst/>
              <a:cxnLst/>
              <a:rect l="l" t="t" r="r" b="b"/>
              <a:pathLst>
                <a:path w="10739755" h="567054">
                  <a:moveTo>
                    <a:pt x="0" y="94487"/>
                  </a:moveTo>
                  <a:lnTo>
                    <a:pt x="7425" y="57708"/>
                  </a:lnTo>
                  <a:lnTo>
                    <a:pt x="27674" y="27674"/>
                  </a:lnTo>
                  <a:lnTo>
                    <a:pt x="57708" y="7425"/>
                  </a:lnTo>
                  <a:lnTo>
                    <a:pt x="94487" y="0"/>
                  </a:lnTo>
                  <a:lnTo>
                    <a:pt x="10645140" y="0"/>
                  </a:lnTo>
                  <a:lnTo>
                    <a:pt x="10681924" y="7425"/>
                  </a:lnTo>
                  <a:lnTo>
                    <a:pt x="10711957" y="27674"/>
                  </a:lnTo>
                  <a:lnTo>
                    <a:pt x="10732204" y="57708"/>
                  </a:lnTo>
                  <a:lnTo>
                    <a:pt x="10739628" y="94487"/>
                  </a:lnTo>
                  <a:lnTo>
                    <a:pt x="10739628" y="472439"/>
                  </a:lnTo>
                  <a:lnTo>
                    <a:pt x="10732204" y="509219"/>
                  </a:lnTo>
                  <a:lnTo>
                    <a:pt x="10711957" y="539253"/>
                  </a:lnTo>
                  <a:lnTo>
                    <a:pt x="10681924" y="559502"/>
                  </a:lnTo>
                  <a:lnTo>
                    <a:pt x="10645140" y="566927"/>
                  </a:lnTo>
                  <a:lnTo>
                    <a:pt x="94487" y="566927"/>
                  </a:lnTo>
                  <a:lnTo>
                    <a:pt x="57708" y="559502"/>
                  </a:lnTo>
                  <a:lnTo>
                    <a:pt x="27674" y="539253"/>
                  </a:lnTo>
                  <a:lnTo>
                    <a:pt x="7425" y="509219"/>
                  </a:lnTo>
                  <a:lnTo>
                    <a:pt x="0" y="472439"/>
                  </a:lnTo>
                  <a:lnTo>
                    <a:pt x="0" y="94487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b="1"/>
            </a:p>
          </p:txBody>
        </p:sp>
      </p:grpSp>
      <p:sp>
        <p:nvSpPr>
          <p:cNvPr id="19" name="object 17">
            <a:extLst>
              <a:ext uri="{FF2B5EF4-FFF2-40B4-BE49-F238E27FC236}">
                <a16:creationId xmlns:a16="http://schemas.microsoft.com/office/drawing/2014/main" id="{0EF4B449-D515-4540-99C7-159437532BDB}"/>
              </a:ext>
            </a:extLst>
          </p:cNvPr>
          <p:cNvSpPr txBox="1"/>
          <p:nvPr/>
        </p:nvSpPr>
        <p:spPr>
          <a:xfrm>
            <a:off x="580555" y="999553"/>
            <a:ext cx="10640594" cy="53883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66125">
              <a:lnSpc>
                <a:spcPct val="100000"/>
              </a:lnSpc>
              <a:spcBef>
                <a:spcPts val="100"/>
              </a:spcBef>
            </a:pPr>
            <a:r>
              <a:rPr sz="2700" spc="-270" dirty="0">
                <a:latin typeface="Arial"/>
                <a:cs typeface="Arial"/>
              </a:rPr>
              <a:t>DRAM</a:t>
            </a:r>
            <a:r>
              <a:rPr sz="2700" spc="-185" dirty="0">
                <a:latin typeface="Arial"/>
                <a:cs typeface="Arial"/>
              </a:rPr>
              <a:t> </a:t>
            </a:r>
            <a:r>
              <a:rPr sz="2700" spc="-145" dirty="0">
                <a:latin typeface="Arial"/>
                <a:cs typeface="Arial"/>
              </a:rPr>
              <a:t>cells</a:t>
            </a:r>
            <a:endParaRPr sz="2700" dirty="0">
              <a:latin typeface="Arial"/>
              <a:cs typeface="Arial"/>
            </a:endParaRPr>
          </a:p>
          <a:p>
            <a:pPr marL="8346440" marR="5080" indent="-34290">
              <a:lnSpc>
                <a:spcPct val="183000"/>
              </a:lnSpc>
              <a:spcBef>
                <a:spcPts val="2350"/>
              </a:spcBef>
            </a:pPr>
            <a:endParaRPr lang="en-US" sz="2700" spc="-265" dirty="0">
              <a:latin typeface="Arial"/>
              <a:cs typeface="Arial"/>
            </a:endParaRPr>
          </a:p>
          <a:p>
            <a:pPr marL="8346440" marR="5080" indent="-34290">
              <a:lnSpc>
                <a:spcPct val="183000"/>
              </a:lnSpc>
              <a:spcBef>
                <a:spcPts val="2350"/>
              </a:spcBef>
            </a:pPr>
            <a:r>
              <a:rPr sz="2700" spc="-204" dirty="0">
                <a:latin typeface="Arial"/>
                <a:cs typeface="Arial"/>
              </a:rPr>
              <a:t>  </a:t>
            </a:r>
            <a:r>
              <a:rPr sz="2700" spc="-250" dirty="0">
                <a:latin typeface="Arial"/>
                <a:cs typeface="Arial"/>
              </a:rPr>
              <a:t>Row</a:t>
            </a:r>
            <a:r>
              <a:rPr sz="2700" spc="-165" dirty="0">
                <a:latin typeface="Arial"/>
                <a:cs typeface="Arial"/>
              </a:rPr>
              <a:t> </a:t>
            </a:r>
            <a:r>
              <a:rPr sz="2700" spc="-110" dirty="0">
                <a:latin typeface="Arial"/>
                <a:cs typeface="Arial"/>
              </a:rPr>
              <a:t>Buffer</a:t>
            </a:r>
            <a:endParaRPr sz="2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50" dirty="0">
              <a:latin typeface="Arial"/>
              <a:cs typeface="Arial"/>
            </a:endParaRPr>
          </a:p>
          <a:p>
            <a:pPr marL="54610">
              <a:lnSpc>
                <a:spcPct val="100000"/>
              </a:lnSpc>
            </a:pPr>
            <a:r>
              <a:rPr sz="2700" spc="-285" dirty="0">
                <a:latin typeface="Arial"/>
                <a:cs typeface="Arial"/>
              </a:rPr>
              <a:t>DRAM </a:t>
            </a:r>
            <a:r>
              <a:rPr sz="2700" spc="-145" dirty="0">
                <a:latin typeface="Arial"/>
                <a:cs typeface="Arial"/>
              </a:rPr>
              <a:t>cells </a:t>
            </a:r>
            <a:r>
              <a:rPr sz="2700" spc="-150" dirty="0">
                <a:latin typeface="Arial"/>
                <a:cs typeface="Arial"/>
              </a:rPr>
              <a:t>lose </a:t>
            </a:r>
            <a:r>
              <a:rPr sz="2700" spc="-120" dirty="0">
                <a:latin typeface="Arial"/>
                <a:cs typeface="Arial"/>
              </a:rPr>
              <a:t>contents </a:t>
            </a:r>
            <a:r>
              <a:rPr sz="2700" spc="-55" dirty="0">
                <a:latin typeface="Arial"/>
                <a:cs typeface="Arial"/>
              </a:rPr>
              <a:t>after </a:t>
            </a:r>
            <a:r>
              <a:rPr sz="2700" spc="-229" dirty="0">
                <a:latin typeface="Arial"/>
                <a:cs typeface="Arial"/>
              </a:rPr>
              <a:t>a</a:t>
            </a:r>
            <a:r>
              <a:rPr sz="2700" spc="-475" dirty="0">
                <a:latin typeface="Arial"/>
                <a:cs typeface="Arial"/>
              </a:rPr>
              <a:t> </a:t>
            </a:r>
            <a:r>
              <a:rPr sz="2700" spc="-85" dirty="0">
                <a:latin typeface="Arial"/>
                <a:cs typeface="Arial"/>
              </a:rPr>
              <a:t>while,</a:t>
            </a:r>
            <a:endParaRPr sz="2700" dirty="0">
              <a:latin typeface="Arial"/>
              <a:cs typeface="Arial"/>
            </a:endParaRPr>
          </a:p>
          <a:p>
            <a:pPr marL="54610" marR="106680">
              <a:lnSpc>
                <a:spcPct val="100000"/>
              </a:lnSpc>
              <a:spcBef>
                <a:spcPts val="5"/>
              </a:spcBef>
            </a:pPr>
            <a:r>
              <a:rPr sz="2700" spc="-200" dirty="0">
                <a:latin typeface="Arial"/>
                <a:cs typeface="Arial"/>
              </a:rPr>
              <a:t>Refresh</a:t>
            </a:r>
            <a:r>
              <a:rPr sz="2700" spc="-210" dirty="0">
                <a:latin typeface="Arial"/>
                <a:cs typeface="Arial"/>
              </a:rPr>
              <a:t> </a:t>
            </a:r>
            <a:r>
              <a:rPr sz="2700" spc="-160" dirty="0">
                <a:latin typeface="Arial"/>
                <a:cs typeface="Arial"/>
              </a:rPr>
              <a:t>command</a:t>
            </a:r>
            <a:r>
              <a:rPr sz="2700" spc="-204" dirty="0">
                <a:latin typeface="Arial"/>
                <a:cs typeface="Arial"/>
              </a:rPr>
              <a:t> </a:t>
            </a:r>
            <a:r>
              <a:rPr sz="2700" spc="-155" dirty="0">
                <a:latin typeface="Arial"/>
                <a:cs typeface="Arial"/>
              </a:rPr>
              <a:t>refreshes</a:t>
            </a:r>
            <a:r>
              <a:rPr sz="2700" spc="-210" dirty="0">
                <a:latin typeface="Arial"/>
                <a:cs typeface="Arial"/>
              </a:rPr>
              <a:t> </a:t>
            </a:r>
            <a:r>
              <a:rPr sz="2700" spc="-85" dirty="0">
                <a:latin typeface="Arial"/>
                <a:cs typeface="Arial"/>
              </a:rPr>
              <a:t>all</a:t>
            </a:r>
            <a:r>
              <a:rPr sz="2700" spc="-175" dirty="0">
                <a:latin typeface="Arial"/>
                <a:cs typeface="Arial"/>
              </a:rPr>
              <a:t> </a:t>
            </a:r>
            <a:r>
              <a:rPr sz="2700" spc="-145" dirty="0">
                <a:latin typeface="Arial"/>
                <a:cs typeface="Arial"/>
              </a:rPr>
              <a:t>rows</a:t>
            </a:r>
            <a:r>
              <a:rPr sz="2700" spc="-195" dirty="0">
                <a:latin typeface="Arial"/>
                <a:cs typeface="Arial"/>
              </a:rPr>
              <a:t> </a:t>
            </a:r>
            <a:r>
              <a:rPr lang="en-US" sz="2700" spc="-75" dirty="0">
                <a:latin typeface="Arial"/>
                <a:cs typeface="Arial"/>
              </a:rPr>
              <a:t>at different granularity</a:t>
            </a:r>
            <a:endParaRPr sz="2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en-US" sz="2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700" spc="-165" dirty="0">
                <a:latin typeface="Arial"/>
                <a:cs typeface="Arial"/>
              </a:rPr>
              <a:t>How </a:t>
            </a:r>
            <a:r>
              <a:rPr sz="2700" spc="5" dirty="0">
                <a:latin typeface="Arial"/>
                <a:cs typeface="Arial"/>
              </a:rPr>
              <a:t>to </a:t>
            </a:r>
            <a:r>
              <a:rPr sz="2700" spc="-95" dirty="0">
                <a:latin typeface="Arial"/>
                <a:cs typeface="Arial"/>
              </a:rPr>
              <a:t>implement</a:t>
            </a:r>
            <a:r>
              <a:rPr sz="2700" spc="-450" dirty="0">
                <a:latin typeface="Arial"/>
                <a:cs typeface="Arial"/>
              </a:rPr>
              <a:t> </a:t>
            </a:r>
            <a:r>
              <a:rPr lang="en-US" sz="2700" spc="-450" dirty="0">
                <a:latin typeface="Arial"/>
                <a:cs typeface="Arial"/>
              </a:rPr>
              <a:t> a   </a:t>
            </a:r>
            <a:r>
              <a:rPr sz="2700" spc="-140" dirty="0">
                <a:latin typeface="Arial"/>
                <a:cs typeface="Arial"/>
              </a:rPr>
              <a:t>refresh?</a:t>
            </a:r>
            <a:r>
              <a:rPr lang="en-US" sz="2700" spc="-140" dirty="0">
                <a:latin typeface="Arial"/>
                <a:cs typeface="Arial"/>
              </a:rPr>
              <a:t> </a:t>
            </a:r>
            <a:r>
              <a:rPr lang="en-US" sz="2700" spc="-114" dirty="0">
                <a:latin typeface="Arial"/>
                <a:cs typeface="Arial"/>
              </a:rPr>
              <a:t>What</a:t>
            </a:r>
            <a:r>
              <a:rPr lang="en-US" sz="2700" spc="-200" dirty="0">
                <a:latin typeface="Arial"/>
                <a:cs typeface="Arial"/>
              </a:rPr>
              <a:t> </a:t>
            </a:r>
            <a:r>
              <a:rPr lang="en-US" sz="2700" spc="-155" dirty="0">
                <a:latin typeface="Arial"/>
                <a:cs typeface="Arial"/>
              </a:rPr>
              <a:t>is</a:t>
            </a:r>
            <a:r>
              <a:rPr lang="en-US" sz="2700" spc="-175" dirty="0">
                <a:latin typeface="Arial"/>
                <a:cs typeface="Arial"/>
              </a:rPr>
              <a:t> </a:t>
            </a:r>
            <a:r>
              <a:rPr lang="en-US" sz="2700" spc="-50" dirty="0">
                <a:latin typeface="Arial"/>
                <a:cs typeface="Arial"/>
              </a:rPr>
              <a:t>the</a:t>
            </a:r>
            <a:r>
              <a:rPr lang="en-US" sz="2700" spc="-204" dirty="0">
                <a:latin typeface="Arial"/>
                <a:cs typeface="Arial"/>
              </a:rPr>
              <a:t> </a:t>
            </a:r>
            <a:r>
              <a:rPr lang="en-US" sz="2700" spc="-145" dirty="0">
                <a:latin typeface="Arial"/>
                <a:cs typeface="Arial"/>
              </a:rPr>
              <a:t>latency?</a:t>
            </a:r>
            <a:r>
              <a:rPr lang="en-US" sz="2700" spc="-215" dirty="0">
                <a:latin typeface="Arial"/>
                <a:cs typeface="Arial"/>
              </a:rPr>
              <a:t> </a:t>
            </a:r>
            <a:r>
              <a:rPr lang="en-US" sz="2700" spc="-165" dirty="0">
                <a:latin typeface="Arial"/>
                <a:cs typeface="Arial"/>
              </a:rPr>
              <a:t>How</a:t>
            </a:r>
            <a:r>
              <a:rPr lang="en-US" sz="2700" spc="-215" dirty="0">
                <a:latin typeface="Arial"/>
                <a:cs typeface="Arial"/>
              </a:rPr>
              <a:t> </a:t>
            </a:r>
            <a:r>
              <a:rPr lang="en-US" sz="2700" spc="-100" dirty="0">
                <a:latin typeface="Arial"/>
                <a:cs typeface="Arial"/>
              </a:rPr>
              <a:t>frequent?</a:t>
            </a:r>
            <a:r>
              <a:rPr lang="en-US" sz="2700" spc="-215" dirty="0">
                <a:latin typeface="Arial"/>
                <a:cs typeface="Arial"/>
              </a:rPr>
              <a:t> </a:t>
            </a:r>
            <a:endParaRPr sz="2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100" dirty="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r>
              <a:rPr lang="en-US" sz="2800" dirty="0"/>
              <a:t>DRAM cells are refreshed every 64 </a:t>
            </a:r>
            <a:r>
              <a:rPr lang="en-US" sz="2800" dirty="0" err="1"/>
              <a:t>ms</a:t>
            </a:r>
            <a:r>
              <a:rPr lang="en-US" sz="2800" dirty="0"/>
              <a:t> at normal temperature (&lt; 85◦C).</a:t>
            </a:r>
            <a:endParaRPr sz="2700" dirty="0">
              <a:latin typeface="Arial"/>
              <a:cs typeface="Arial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199F543-CD17-557C-79EB-9073A79A3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2979491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up of coffee">
            <a:extLst>
              <a:ext uri="{FF2B5EF4-FFF2-40B4-BE49-F238E27FC236}">
                <a16:creationId xmlns:a16="http://schemas.microsoft.com/office/drawing/2014/main" id="{B9A2345A-A544-20F2-04A0-5178DE0E4A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944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283051-5256-E9C0-1B6F-7FA55820F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PAUSE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444473-3244-1351-DE7D-07C0B3737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280901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200" kern="1200">
                <a:solidFill>
                  <a:schemeClr val="bg1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304341-3027-B566-88BD-98C664DAF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29</a:t>
            </a:fld>
            <a:endParaRPr lang="en-US" sz="12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787966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66F48-337B-4ED8-8BA9-915B98CBF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DRAM Controller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D45A9-89B1-4A3B-B8DC-C6544AD8DC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30</a:t>
            </a:fld>
            <a:endParaRPr lang="en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1C8B7A97-E641-4C97-9463-4576427360BE}"/>
              </a:ext>
            </a:extLst>
          </p:cNvPr>
          <p:cNvSpPr txBox="1"/>
          <p:nvPr/>
        </p:nvSpPr>
        <p:spPr>
          <a:xfrm>
            <a:off x="4095559" y="1534351"/>
            <a:ext cx="2505710" cy="533400"/>
          </a:xfrm>
          <a:prstGeom prst="rect">
            <a:avLst/>
          </a:prstGeom>
          <a:solidFill>
            <a:srgbClr val="9DC3E6"/>
          </a:solidFill>
          <a:ln w="12192">
            <a:solidFill>
              <a:srgbClr val="000000"/>
            </a:solidFill>
          </a:ln>
        </p:spPr>
        <p:txBody>
          <a:bodyPr vert="horz" wrap="square" lIns="0" tIns="977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70"/>
              </a:spcBef>
            </a:pPr>
            <a:r>
              <a:rPr sz="2000" spc="-10" dirty="0">
                <a:latin typeface="Calibri Light"/>
                <a:cs typeface="Calibri Light"/>
              </a:rPr>
              <a:t>LLC</a:t>
            </a:r>
            <a:endParaRPr sz="2000">
              <a:latin typeface="Calibri Light"/>
              <a:cs typeface="Calibri Light"/>
            </a:endParaRPr>
          </a:p>
        </p:txBody>
      </p:sp>
      <p:grpSp>
        <p:nvGrpSpPr>
          <p:cNvPr id="6" name="object 5">
            <a:extLst>
              <a:ext uri="{FF2B5EF4-FFF2-40B4-BE49-F238E27FC236}">
                <a16:creationId xmlns:a16="http://schemas.microsoft.com/office/drawing/2014/main" id="{23F2ADE5-4ACF-4813-A4DF-E569CA79AB05}"/>
              </a:ext>
            </a:extLst>
          </p:cNvPr>
          <p:cNvGrpSpPr/>
          <p:nvPr/>
        </p:nvGrpSpPr>
        <p:grpSpPr>
          <a:xfrm>
            <a:off x="1835214" y="2067751"/>
            <a:ext cx="7426959" cy="2673350"/>
            <a:chOff x="2163826" y="1621536"/>
            <a:chExt cx="7426959" cy="2673350"/>
          </a:xfrm>
        </p:grpSpPr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40A798F0-E156-4966-B72A-F0D29CEB8974}"/>
                </a:ext>
              </a:extLst>
            </p:cNvPr>
            <p:cNvSpPr/>
            <p:nvPr/>
          </p:nvSpPr>
          <p:spPr>
            <a:xfrm>
              <a:off x="2170176" y="2002536"/>
              <a:ext cx="7414259" cy="2286000"/>
            </a:xfrm>
            <a:custGeom>
              <a:avLst/>
              <a:gdLst/>
              <a:ahLst/>
              <a:cxnLst/>
              <a:rect l="l" t="t" r="r" b="b"/>
              <a:pathLst>
                <a:path w="7414259" h="2286000">
                  <a:moveTo>
                    <a:pt x="0" y="2286000"/>
                  </a:moveTo>
                  <a:lnTo>
                    <a:pt x="7414259" y="2286000"/>
                  </a:lnTo>
                  <a:lnTo>
                    <a:pt x="7414259" y="0"/>
                  </a:lnTo>
                  <a:lnTo>
                    <a:pt x="0" y="0"/>
                  </a:lnTo>
                  <a:lnTo>
                    <a:pt x="0" y="228600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2270BDCE-035C-4D10-B823-202A03B03960}"/>
                </a:ext>
              </a:extLst>
            </p:cNvPr>
            <p:cNvSpPr/>
            <p:nvPr/>
          </p:nvSpPr>
          <p:spPr>
            <a:xfrm>
              <a:off x="5503291" y="1621536"/>
              <a:ext cx="103505" cy="381000"/>
            </a:xfrm>
            <a:custGeom>
              <a:avLst/>
              <a:gdLst/>
              <a:ahLst/>
              <a:cxnLst/>
              <a:rect l="l" t="t" r="r" b="b"/>
              <a:pathLst>
                <a:path w="103504" h="381000">
                  <a:moveTo>
                    <a:pt x="7112" y="284988"/>
                  </a:moveTo>
                  <a:lnTo>
                    <a:pt x="1016" y="288543"/>
                  </a:lnTo>
                  <a:lnTo>
                    <a:pt x="0" y="292353"/>
                  </a:lnTo>
                  <a:lnTo>
                    <a:pt x="51688" y="381000"/>
                  </a:lnTo>
                  <a:lnTo>
                    <a:pt x="59020" y="368426"/>
                  </a:lnTo>
                  <a:lnTo>
                    <a:pt x="45338" y="368426"/>
                  </a:lnTo>
                  <a:lnTo>
                    <a:pt x="45338" y="345004"/>
                  </a:lnTo>
                  <a:lnTo>
                    <a:pt x="10922" y="286003"/>
                  </a:lnTo>
                  <a:lnTo>
                    <a:pt x="7112" y="284988"/>
                  </a:lnTo>
                  <a:close/>
                </a:path>
                <a:path w="103504" h="381000">
                  <a:moveTo>
                    <a:pt x="45339" y="345004"/>
                  </a:moveTo>
                  <a:lnTo>
                    <a:pt x="45338" y="368426"/>
                  </a:lnTo>
                  <a:lnTo>
                    <a:pt x="58038" y="368426"/>
                  </a:lnTo>
                  <a:lnTo>
                    <a:pt x="58038" y="365251"/>
                  </a:lnTo>
                  <a:lnTo>
                    <a:pt x="46228" y="365251"/>
                  </a:lnTo>
                  <a:lnTo>
                    <a:pt x="51688" y="355890"/>
                  </a:lnTo>
                  <a:lnTo>
                    <a:pt x="45339" y="345004"/>
                  </a:lnTo>
                  <a:close/>
                </a:path>
                <a:path w="103504" h="381000">
                  <a:moveTo>
                    <a:pt x="96266" y="284988"/>
                  </a:moveTo>
                  <a:lnTo>
                    <a:pt x="92456" y="286003"/>
                  </a:lnTo>
                  <a:lnTo>
                    <a:pt x="58038" y="345004"/>
                  </a:lnTo>
                  <a:lnTo>
                    <a:pt x="58038" y="368426"/>
                  </a:lnTo>
                  <a:lnTo>
                    <a:pt x="59020" y="368426"/>
                  </a:lnTo>
                  <a:lnTo>
                    <a:pt x="103378" y="292353"/>
                  </a:lnTo>
                  <a:lnTo>
                    <a:pt x="102362" y="288543"/>
                  </a:lnTo>
                  <a:lnTo>
                    <a:pt x="96266" y="284988"/>
                  </a:lnTo>
                  <a:close/>
                </a:path>
                <a:path w="103504" h="381000">
                  <a:moveTo>
                    <a:pt x="51688" y="355890"/>
                  </a:moveTo>
                  <a:lnTo>
                    <a:pt x="46228" y="365251"/>
                  </a:lnTo>
                  <a:lnTo>
                    <a:pt x="57150" y="365251"/>
                  </a:lnTo>
                  <a:lnTo>
                    <a:pt x="51688" y="355890"/>
                  </a:lnTo>
                  <a:close/>
                </a:path>
                <a:path w="103504" h="381000">
                  <a:moveTo>
                    <a:pt x="58038" y="345004"/>
                  </a:moveTo>
                  <a:lnTo>
                    <a:pt x="51688" y="355890"/>
                  </a:lnTo>
                  <a:lnTo>
                    <a:pt x="57150" y="365251"/>
                  </a:lnTo>
                  <a:lnTo>
                    <a:pt x="58038" y="365251"/>
                  </a:lnTo>
                  <a:lnTo>
                    <a:pt x="58038" y="345004"/>
                  </a:lnTo>
                  <a:close/>
                </a:path>
                <a:path w="103504" h="381000">
                  <a:moveTo>
                    <a:pt x="58038" y="0"/>
                  </a:moveTo>
                  <a:lnTo>
                    <a:pt x="45338" y="0"/>
                  </a:lnTo>
                  <a:lnTo>
                    <a:pt x="45339" y="345004"/>
                  </a:lnTo>
                  <a:lnTo>
                    <a:pt x="51688" y="355890"/>
                  </a:lnTo>
                  <a:lnTo>
                    <a:pt x="58038" y="345004"/>
                  </a:lnTo>
                  <a:lnTo>
                    <a:pt x="580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F6563F1B-E75E-4FF2-9CCC-65A08F7F24A0}"/>
              </a:ext>
            </a:extLst>
          </p:cNvPr>
          <p:cNvSpPr txBox="1"/>
          <p:nvPr/>
        </p:nvSpPr>
        <p:spPr>
          <a:xfrm>
            <a:off x="3421952" y="2524950"/>
            <a:ext cx="3237230" cy="304800"/>
          </a:xfrm>
          <a:prstGeom prst="rect">
            <a:avLst/>
          </a:prstGeom>
          <a:solidFill>
            <a:srgbClr val="C00000"/>
          </a:solidFill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9480">
              <a:lnSpc>
                <a:spcPts val="2275"/>
              </a:lnSpc>
            </a:pPr>
            <a:r>
              <a:rPr sz="2000" spc="-45" dirty="0">
                <a:solidFill>
                  <a:srgbClr val="FFFFFF"/>
                </a:solidFill>
                <a:latin typeface="Calibri Light"/>
                <a:cs typeface="Calibri Light"/>
              </a:rPr>
              <a:t>Addr.</a:t>
            </a:r>
            <a:r>
              <a:rPr sz="20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Mapper</a:t>
            </a:r>
            <a:endParaRPr sz="2000">
              <a:latin typeface="Calibri Light"/>
              <a:cs typeface="Calibri Light"/>
            </a:endParaRPr>
          </a:p>
        </p:txBody>
      </p:sp>
      <p:grpSp>
        <p:nvGrpSpPr>
          <p:cNvPr id="10" name="object 9">
            <a:extLst>
              <a:ext uri="{FF2B5EF4-FFF2-40B4-BE49-F238E27FC236}">
                <a16:creationId xmlns:a16="http://schemas.microsoft.com/office/drawing/2014/main" id="{01C5E0C0-2785-48F8-A0C4-78F129919095}"/>
              </a:ext>
            </a:extLst>
          </p:cNvPr>
          <p:cNvGrpSpPr/>
          <p:nvPr/>
        </p:nvGrpSpPr>
        <p:grpSpPr>
          <a:xfrm>
            <a:off x="3816414" y="2975800"/>
            <a:ext cx="2256155" cy="317500"/>
            <a:chOff x="4145026" y="2529585"/>
            <a:chExt cx="2256155" cy="317500"/>
          </a:xfrm>
        </p:grpSpPr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6C7EAB4F-5B30-439B-B5C8-1A95EE3764AF}"/>
                </a:ext>
              </a:extLst>
            </p:cNvPr>
            <p:cNvSpPr/>
            <p:nvPr/>
          </p:nvSpPr>
          <p:spPr>
            <a:xfrm>
              <a:off x="4151376" y="2535935"/>
              <a:ext cx="1252855" cy="304800"/>
            </a:xfrm>
            <a:custGeom>
              <a:avLst/>
              <a:gdLst/>
              <a:ahLst/>
              <a:cxnLst/>
              <a:rect l="l" t="t" r="r" b="b"/>
              <a:pathLst>
                <a:path w="1252854" h="304800">
                  <a:moveTo>
                    <a:pt x="1252727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252727" y="304800"/>
                  </a:lnTo>
                  <a:lnTo>
                    <a:pt x="125272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1B67F3A6-2668-4BFA-A087-468194749DDF}"/>
                </a:ext>
              </a:extLst>
            </p:cNvPr>
            <p:cNvSpPr/>
            <p:nvPr/>
          </p:nvSpPr>
          <p:spPr>
            <a:xfrm>
              <a:off x="4151376" y="2535935"/>
              <a:ext cx="1252855" cy="304800"/>
            </a:xfrm>
            <a:custGeom>
              <a:avLst/>
              <a:gdLst/>
              <a:ahLst/>
              <a:cxnLst/>
              <a:rect l="l" t="t" r="r" b="b"/>
              <a:pathLst>
                <a:path w="1252854" h="304800">
                  <a:moveTo>
                    <a:pt x="0" y="304800"/>
                  </a:moveTo>
                  <a:lnTo>
                    <a:pt x="1252727" y="304800"/>
                  </a:lnTo>
                  <a:lnTo>
                    <a:pt x="1252727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73D10918-FF90-488F-A240-60B5C65A7ED2}"/>
                </a:ext>
              </a:extLst>
            </p:cNvPr>
            <p:cNvSpPr/>
            <p:nvPr/>
          </p:nvSpPr>
          <p:spPr>
            <a:xfrm>
              <a:off x="5141976" y="2535935"/>
              <a:ext cx="1252855" cy="304800"/>
            </a:xfrm>
            <a:custGeom>
              <a:avLst/>
              <a:gdLst/>
              <a:ahLst/>
              <a:cxnLst/>
              <a:rect l="l" t="t" r="r" b="b"/>
              <a:pathLst>
                <a:path w="1252854" h="304800">
                  <a:moveTo>
                    <a:pt x="1252727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252727" y="304800"/>
                  </a:lnTo>
                  <a:lnTo>
                    <a:pt x="125272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D061E462-5187-4C73-B912-572D770B1163}"/>
                </a:ext>
              </a:extLst>
            </p:cNvPr>
            <p:cNvSpPr/>
            <p:nvPr/>
          </p:nvSpPr>
          <p:spPr>
            <a:xfrm>
              <a:off x="5141976" y="2535935"/>
              <a:ext cx="1252855" cy="304800"/>
            </a:xfrm>
            <a:custGeom>
              <a:avLst/>
              <a:gdLst/>
              <a:ahLst/>
              <a:cxnLst/>
              <a:rect l="l" t="t" r="r" b="b"/>
              <a:pathLst>
                <a:path w="1252854" h="304800">
                  <a:moveTo>
                    <a:pt x="0" y="304800"/>
                  </a:moveTo>
                  <a:lnTo>
                    <a:pt x="1252727" y="304800"/>
                  </a:lnTo>
                  <a:lnTo>
                    <a:pt x="1252727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4">
            <a:extLst>
              <a:ext uri="{FF2B5EF4-FFF2-40B4-BE49-F238E27FC236}">
                <a16:creationId xmlns:a16="http://schemas.microsoft.com/office/drawing/2014/main" id="{A6427123-EAC3-404C-A057-4A0EDA2E739F}"/>
              </a:ext>
            </a:extLst>
          </p:cNvPr>
          <p:cNvSpPr txBox="1"/>
          <p:nvPr/>
        </p:nvSpPr>
        <p:spPr>
          <a:xfrm>
            <a:off x="4298505" y="2952941"/>
            <a:ext cx="13468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946150" algn="l"/>
              </a:tabLst>
            </a:pPr>
            <a:r>
              <a:rPr sz="2000" spc="-25" dirty="0">
                <a:solidFill>
                  <a:srgbClr val="FFFFFF"/>
                </a:solidFill>
                <a:latin typeface="Calibri Light"/>
                <a:cs typeface="Calibri Light"/>
              </a:rPr>
              <a:t>R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Q	</a:t>
            </a:r>
            <a:r>
              <a:rPr sz="2000" spc="-30" dirty="0">
                <a:solidFill>
                  <a:srgbClr val="FFFFFF"/>
                </a:solidFill>
                <a:latin typeface="Calibri Light"/>
                <a:cs typeface="Calibri Light"/>
              </a:rPr>
              <a:t>WQ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CBDC050F-895B-4B1F-BE71-192F072B4537}"/>
              </a:ext>
            </a:extLst>
          </p:cNvPr>
          <p:cNvSpPr txBox="1"/>
          <p:nvPr/>
        </p:nvSpPr>
        <p:spPr>
          <a:xfrm>
            <a:off x="2119186" y="2530539"/>
            <a:ext cx="103759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540"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 Light"/>
                <a:cs typeface="Calibri Light"/>
              </a:rPr>
              <a:t>DRAM</a:t>
            </a:r>
            <a:endParaRPr sz="2000">
              <a:latin typeface="Calibri Light"/>
              <a:cs typeface="Calibri Light"/>
            </a:endParaRPr>
          </a:p>
          <a:p>
            <a:pPr marR="5080" algn="ctr">
              <a:lnSpc>
                <a:spcPct val="100000"/>
              </a:lnSpc>
            </a:pPr>
            <a:r>
              <a:rPr sz="2000" spc="-5" dirty="0">
                <a:latin typeface="Calibri Light"/>
                <a:cs typeface="Calibri Light"/>
              </a:rPr>
              <a:t>Co</a:t>
            </a:r>
            <a:r>
              <a:rPr sz="2000" spc="-30" dirty="0">
                <a:latin typeface="Calibri Light"/>
                <a:cs typeface="Calibri Light"/>
              </a:rPr>
              <a:t>n</a:t>
            </a:r>
            <a:r>
              <a:rPr sz="2000" dirty="0">
                <a:latin typeface="Calibri Light"/>
                <a:cs typeface="Calibri Light"/>
              </a:rPr>
              <a:t>t</a:t>
            </a:r>
            <a:r>
              <a:rPr sz="2000" spc="-30" dirty="0">
                <a:latin typeface="Calibri Light"/>
                <a:cs typeface="Calibri Light"/>
              </a:rPr>
              <a:t>r</a:t>
            </a:r>
            <a:r>
              <a:rPr sz="2000" spc="-5" dirty="0">
                <a:latin typeface="Calibri Light"/>
                <a:cs typeface="Calibri Light"/>
              </a:rPr>
              <a:t>oll</a:t>
            </a:r>
            <a:r>
              <a:rPr sz="2000" spc="5" dirty="0">
                <a:latin typeface="Calibri Light"/>
                <a:cs typeface="Calibri Light"/>
              </a:rPr>
              <a:t>e</a:t>
            </a:r>
            <a:r>
              <a:rPr sz="2000" dirty="0">
                <a:latin typeface="Calibri Light"/>
                <a:cs typeface="Calibri Light"/>
              </a:rPr>
              <a:t>r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79153024-043E-49CB-A64F-EF7DBB570922}"/>
              </a:ext>
            </a:extLst>
          </p:cNvPr>
          <p:cNvSpPr txBox="1"/>
          <p:nvPr/>
        </p:nvSpPr>
        <p:spPr>
          <a:xfrm>
            <a:off x="2952559" y="3515550"/>
            <a:ext cx="731520" cy="609600"/>
          </a:xfrm>
          <a:prstGeom prst="rect">
            <a:avLst/>
          </a:prstGeom>
          <a:solidFill>
            <a:srgbClr val="C00000"/>
          </a:solidFill>
          <a:ln w="12192">
            <a:solidFill>
              <a:srgbClr val="000000"/>
            </a:solidFill>
          </a:ln>
        </p:spPr>
        <p:txBody>
          <a:bodyPr vert="horz" wrap="square" lIns="0" tIns="136525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75"/>
              </a:spcBef>
            </a:pPr>
            <a:r>
              <a:rPr sz="2000" spc="-30" dirty="0">
                <a:solidFill>
                  <a:srgbClr val="FFFFFF"/>
                </a:solidFill>
                <a:latin typeface="Calibri Light"/>
                <a:cs typeface="Calibri Light"/>
              </a:rPr>
              <a:t>CQ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26753EA1-2D0B-4C1D-9020-85081E37F303}"/>
              </a:ext>
            </a:extLst>
          </p:cNvPr>
          <p:cNvSpPr txBox="1"/>
          <p:nvPr/>
        </p:nvSpPr>
        <p:spPr>
          <a:xfrm>
            <a:off x="3790759" y="3515550"/>
            <a:ext cx="731520" cy="609600"/>
          </a:xfrm>
          <a:prstGeom prst="rect">
            <a:avLst/>
          </a:prstGeom>
          <a:solidFill>
            <a:srgbClr val="C00000"/>
          </a:solidFill>
          <a:ln w="12192">
            <a:solidFill>
              <a:srgbClr val="000000"/>
            </a:solidFill>
          </a:ln>
        </p:spPr>
        <p:txBody>
          <a:bodyPr vert="horz" wrap="square" lIns="0" tIns="136525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075"/>
              </a:spcBef>
            </a:pPr>
            <a:r>
              <a:rPr sz="2000" spc="-30" dirty="0">
                <a:solidFill>
                  <a:srgbClr val="FFFFFF"/>
                </a:solidFill>
                <a:latin typeface="Calibri Light"/>
                <a:cs typeface="Calibri Light"/>
              </a:rPr>
              <a:t>CQ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CEE113AA-6B2C-481D-94F4-E3B20331270C}"/>
              </a:ext>
            </a:extLst>
          </p:cNvPr>
          <p:cNvSpPr txBox="1"/>
          <p:nvPr/>
        </p:nvSpPr>
        <p:spPr>
          <a:xfrm>
            <a:off x="4628959" y="3515550"/>
            <a:ext cx="731520" cy="609600"/>
          </a:xfrm>
          <a:prstGeom prst="rect">
            <a:avLst/>
          </a:prstGeom>
          <a:solidFill>
            <a:srgbClr val="C00000"/>
          </a:solidFill>
          <a:ln w="12192">
            <a:solidFill>
              <a:srgbClr val="000000"/>
            </a:solidFill>
          </a:ln>
        </p:spPr>
        <p:txBody>
          <a:bodyPr vert="horz" wrap="square" lIns="0" tIns="136525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075"/>
              </a:spcBef>
            </a:pPr>
            <a:r>
              <a:rPr sz="2000" spc="-30" dirty="0">
                <a:solidFill>
                  <a:srgbClr val="FFFFFF"/>
                </a:solidFill>
                <a:latin typeface="Calibri Light"/>
                <a:cs typeface="Calibri Light"/>
              </a:rPr>
              <a:t>CQ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B7396CEF-307A-40EE-8BDF-F93EFD652BE2}"/>
              </a:ext>
            </a:extLst>
          </p:cNvPr>
          <p:cNvSpPr txBox="1"/>
          <p:nvPr/>
        </p:nvSpPr>
        <p:spPr>
          <a:xfrm>
            <a:off x="5467159" y="3515550"/>
            <a:ext cx="731520" cy="609600"/>
          </a:xfrm>
          <a:prstGeom prst="rect">
            <a:avLst/>
          </a:prstGeom>
          <a:solidFill>
            <a:srgbClr val="C00000"/>
          </a:solidFill>
          <a:ln w="12192">
            <a:solidFill>
              <a:srgbClr val="000000"/>
            </a:solidFill>
          </a:ln>
        </p:spPr>
        <p:txBody>
          <a:bodyPr vert="horz" wrap="square" lIns="0" tIns="136525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075"/>
              </a:spcBef>
            </a:pPr>
            <a:r>
              <a:rPr sz="2000" spc="-30" dirty="0">
                <a:solidFill>
                  <a:srgbClr val="FFFFFF"/>
                </a:solidFill>
                <a:latin typeface="Calibri Light"/>
                <a:cs typeface="Calibri Light"/>
              </a:rPr>
              <a:t>CQ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6EECEB9C-64CE-4886-8E5F-352AF0D31BCD}"/>
              </a:ext>
            </a:extLst>
          </p:cNvPr>
          <p:cNvSpPr txBox="1"/>
          <p:nvPr/>
        </p:nvSpPr>
        <p:spPr>
          <a:xfrm>
            <a:off x="2448115" y="4277550"/>
            <a:ext cx="4803775" cy="304800"/>
          </a:xfrm>
          <a:prstGeom prst="rect">
            <a:avLst/>
          </a:prstGeom>
          <a:solidFill>
            <a:srgbClr val="C00000"/>
          </a:solidFill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275"/>
              </a:lnSpc>
            </a:pPr>
            <a:r>
              <a:rPr sz="2000" spc="-5" dirty="0">
                <a:solidFill>
                  <a:srgbClr val="FFFFFF"/>
                </a:solidFill>
                <a:latin typeface="Calibri Light"/>
                <a:cs typeface="Calibri Light"/>
              </a:rPr>
              <a:t>Command</a:t>
            </a:r>
            <a:r>
              <a:rPr sz="20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 Light"/>
                <a:cs typeface="Calibri Light"/>
              </a:rPr>
              <a:t>Scheduler</a:t>
            </a:r>
            <a:endParaRPr sz="2000">
              <a:latin typeface="Calibri Light"/>
              <a:cs typeface="Calibri Light"/>
            </a:endParaRPr>
          </a:p>
        </p:txBody>
      </p:sp>
      <p:grpSp>
        <p:nvGrpSpPr>
          <p:cNvPr id="22" name="object 21">
            <a:extLst>
              <a:ext uri="{FF2B5EF4-FFF2-40B4-BE49-F238E27FC236}">
                <a16:creationId xmlns:a16="http://schemas.microsoft.com/office/drawing/2014/main" id="{B479348B-382D-4715-A726-F870B66AF293}"/>
              </a:ext>
            </a:extLst>
          </p:cNvPr>
          <p:cNvGrpSpPr/>
          <p:nvPr/>
        </p:nvGrpSpPr>
        <p:grpSpPr>
          <a:xfrm>
            <a:off x="4416870" y="4880800"/>
            <a:ext cx="949960" cy="927100"/>
            <a:chOff x="4745482" y="4434585"/>
            <a:chExt cx="949960" cy="927100"/>
          </a:xfrm>
        </p:grpSpPr>
        <p:sp>
          <p:nvSpPr>
            <p:cNvPr id="23" name="object 22">
              <a:extLst>
                <a:ext uri="{FF2B5EF4-FFF2-40B4-BE49-F238E27FC236}">
                  <a16:creationId xmlns:a16="http://schemas.microsoft.com/office/drawing/2014/main" id="{3FA42E00-6E27-43E0-B901-752D70F2007B}"/>
                </a:ext>
              </a:extLst>
            </p:cNvPr>
            <p:cNvSpPr/>
            <p:nvPr/>
          </p:nvSpPr>
          <p:spPr>
            <a:xfrm>
              <a:off x="4751832" y="4440935"/>
              <a:ext cx="213360" cy="914400"/>
            </a:xfrm>
            <a:custGeom>
              <a:avLst/>
              <a:gdLst/>
              <a:ahLst/>
              <a:cxnLst/>
              <a:rect l="l" t="t" r="r" b="b"/>
              <a:pathLst>
                <a:path w="213360" h="914400">
                  <a:moveTo>
                    <a:pt x="160019" y="0"/>
                  </a:moveTo>
                  <a:lnTo>
                    <a:pt x="53339" y="0"/>
                  </a:lnTo>
                  <a:lnTo>
                    <a:pt x="53339" y="807719"/>
                  </a:lnTo>
                  <a:lnTo>
                    <a:pt x="0" y="807719"/>
                  </a:lnTo>
                  <a:lnTo>
                    <a:pt x="106679" y="914400"/>
                  </a:lnTo>
                  <a:lnTo>
                    <a:pt x="213359" y="807719"/>
                  </a:lnTo>
                  <a:lnTo>
                    <a:pt x="160019" y="807719"/>
                  </a:lnTo>
                  <a:lnTo>
                    <a:pt x="1600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572A2792-81C6-4B0D-A975-38659BCED376}"/>
                </a:ext>
              </a:extLst>
            </p:cNvPr>
            <p:cNvSpPr/>
            <p:nvPr/>
          </p:nvSpPr>
          <p:spPr>
            <a:xfrm>
              <a:off x="4751832" y="4440935"/>
              <a:ext cx="213360" cy="914400"/>
            </a:xfrm>
            <a:custGeom>
              <a:avLst/>
              <a:gdLst/>
              <a:ahLst/>
              <a:cxnLst/>
              <a:rect l="l" t="t" r="r" b="b"/>
              <a:pathLst>
                <a:path w="213360" h="914400">
                  <a:moveTo>
                    <a:pt x="0" y="807719"/>
                  </a:moveTo>
                  <a:lnTo>
                    <a:pt x="53339" y="807719"/>
                  </a:lnTo>
                  <a:lnTo>
                    <a:pt x="53339" y="0"/>
                  </a:lnTo>
                  <a:lnTo>
                    <a:pt x="160019" y="0"/>
                  </a:lnTo>
                  <a:lnTo>
                    <a:pt x="160019" y="807719"/>
                  </a:lnTo>
                  <a:lnTo>
                    <a:pt x="213359" y="807719"/>
                  </a:lnTo>
                  <a:lnTo>
                    <a:pt x="106679" y="914400"/>
                  </a:lnTo>
                  <a:lnTo>
                    <a:pt x="0" y="807719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6691296B-1056-4D08-A6B1-7E24EEB435A8}"/>
                </a:ext>
              </a:extLst>
            </p:cNvPr>
            <p:cNvSpPr/>
            <p:nvPr/>
          </p:nvSpPr>
          <p:spPr>
            <a:xfrm>
              <a:off x="5423916" y="4440935"/>
              <a:ext cx="265430" cy="914400"/>
            </a:xfrm>
            <a:custGeom>
              <a:avLst/>
              <a:gdLst/>
              <a:ahLst/>
              <a:cxnLst/>
              <a:rect l="l" t="t" r="r" b="b"/>
              <a:pathLst>
                <a:path w="265429" h="914400">
                  <a:moveTo>
                    <a:pt x="132587" y="0"/>
                  </a:moveTo>
                  <a:lnTo>
                    <a:pt x="0" y="132587"/>
                  </a:lnTo>
                  <a:lnTo>
                    <a:pt x="66294" y="132587"/>
                  </a:lnTo>
                  <a:lnTo>
                    <a:pt x="66294" y="781812"/>
                  </a:lnTo>
                  <a:lnTo>
                    <a:pt x="0" y="781812"/>
                  </a:lnTo>
                  <a:lnTo>
                    <a:pt x="132587" y="914400"/>
                  </a:lnTo>
                  <a:lnTo>
                    <a:pt x="265175" y="781812"/>
                  </a:lnTo>
                  <a:lnTo>
                    <a:pt x="198882" y="781812"/>
                  </a:lnTo>
                  <a:lnTo>
                    <a:pt x="198882" y="132587"/>
                  </a:lnTo>
                  <a:lnTo>
                    <a:pt x="265175" y="132587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5">
              <a:extLst>
                <a:ext uri="{FF2B5EF4-FFF2-40B4-BE49-F238E27FC236}">
                  <a16:creationId xmlns:a16="http://schemas.microsoft.com/office/drawing/2014/main" id="{913247CE-FA8F-4923-87C0-B3673838A75C}"/>
                </a:ext>
              </a:extLst>
            </p:cNvPr>
            <p:cNvSpPr/>
            <p:nvPr/>
          </p:nvSpPr>
          <p:spPr>
            <a:xfrm>
              <a:off x="5423916" y="4440935"/>
              <a:ext cx="265430" cy="914400"/>
            </a:xfrm>
            <a:custGeom>
              <a:avLst/>
              <a:gdLst/>
              <a:ahLst/>
              <a:cxnLst/>
              <a:rect l="l" t="t" r="r" b="b"/>
              <a:pathLst>
                <a:path w="265429" h="914400">
                  <a:moveTo>
                    <a:pt x="0" y="132587"/>
                  </a:moveTo>
                  <a:lnTo>
                    <a:pt x="132587" y="0"/>
                  </a:lnTo>
                  <a:lnTo>
                    <a:pt x="265175" y="132587"/>
                  </a:lnTo>
                  <a:lnTo>
                    <a:pt x="198882" y="132587"/>
                  </a:lnTo>
                  <a:lnTo>
                    <a:pt x="198882" y="781812"/>
                  </a:lnTo>
                  <a:lnTo>
                    <a:pt x="265175" y="781812"/>
                  </a:lnTo>
                  <a:lnTo>
                    <a:pt x="132587" y="914400"/>
                  </a:lnTo>
                  <a:lnTo>
                    <a:pt x="0" y="781812"/>
                  </a:lnTo>
                  <a:lnTo>
                    <a:pt x="66294" y="781812"/>
                  </a:lnTo>
                  <a:lnTo>
                    <a:pt x="66294" y="132587"/>
                  </a:lnTo>
                  <a:lnTo>
                    <a:pt x="0" y="132587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6">
            <a:extLst>
              <a:ext uri="{FF2B5EF4-FFF2-40B4-BE49-F238E27FC236}">
                <a16:creationId xmlns:a16="http://schemas.microsoft.com/office/drawing/2014/main" id="{E03649D3-7F8F-4E22-B344-DF850201C623}"/>
              </a:ext>
            </a:extLst>
          </p:cNvPr>
          <p:cNvSpPr txBox="1"/>
          <p:nvPr/>
        </p:nvSpPr>
        <p:spPr>
          <a:xfrm>
            <a:off x="5360479" y="5243611"/>
            <a:ext cx="6288597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latin typeface="Calibri Light"/>
                <a:cs typeface="Calibri Light"/>
              </a:rPr>
              <a:t>Data</a:t>
            </a:r>
            <a:r>
              <a:rPr sz="2000" spc="-80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bus</a:t>
            </a:r>
            <a:r>
              <a:rPr lang="en-US" sz="2000" dirty="0">
                <a:latin typeface="Calibri Light"/>
                <a:cs typeface="Calibri Light"/>
              </a:rPr>
              <a:t> (burst length= eight beats each of 64-bits)</a:t>
            </a:r>
            <a:endParaRPr sz="2000" dirty="0">
              <a:latin typeface="Calibri Light"/>
              <a:cs typeface="Calibri Light"/>
            </a:endParaRPr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CCFE5B3C-EAFA-4387-9E86-3EC9AFDAEB9E}"/>
              </a:ext>
            </a:extLst>
          </p:cNvPr>
          <p:cNvSpPr txBox="1"/>
          <p:nvPr/>
        </p:nvSpPr>
        <p:spPr>
          <a:xfrm>
            <a:off x="1610296" y="4904295"/>
            <a:ext cx="2813050" cy="1906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3655" marR="50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libri Light"/>
                <a:cs typeface="Calibri Light"/>
              </a:rPr>
              <a:t>Command</a:t>
            </a:r>
            <a:r>
              <a:rPr sz="2000" spc="-8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and </a:t>
            </a:r>
            <a:r>
              <a:rPr sz="2000" spc="-434" dirty="0">
                <a:latin typeface="Calibri Light"/>
                <a:cs typeface="Calibri Light"/>
              </a:rPr>
              <a:t> </a:t>
            </a:r>
            <a:r>
              <a:rPr sz="2000" spc="-5" dirty="0">
                <a:latin typeface="Calibri Light"/>
                <a:cs typeface="Calibri Light"/>
              </a:rPr>
              <a:t>Address</a:t>
            </a:r>
            <a:r>
              <a:rPr sz="2000" spc="-55" dirty="0">
                <a:latin typeface="Calibri Light"/>
                <a:cs typeface="Calibri Light"/>
              </a:rPr>
              <a:t> </a:t>
            </a:r>
            <a:r>
              <a:rPr sz="2000" dirty="0">
                <a:latin typeface="Calibri Light"/>
                <a:cs typeface="Calibri Light"/>
              </a:rPr>
              <a:t>bus</a:t>
            </a:r>
            <a:endParaRPr sz="2000">
              <a:latin typeface="Calibri Light"/>
              <a:cs typeface="Calibri Light"/>
            </a:endParaRPr>
          </a:p>
          <a:p>
            <a:pPr marL="12700" marR="958850" indent="761365">
              <a:lnSpc>
                <a:spcPct val="102200"/>
              </a:lnSpc>
              <a:spcBef>
                <a:spcPts val="305"/>
              </a:spcBef>
            </a:pPr>
            <a:r>
              <a:rPr sz="2000" dirty="0">
                <a:latin typeface="Calibri Light"/>
                <a:cs typeface="Calibri Light"/>
              </a:rPr>
              <a:t>F</a:t>
            </a:r>
            <a:r>
              <a:rPr sz="2000" spc="-20" dirty="0">
                <a:latin typeface="Calibri Light"/>
                <a:cs typeface="Calibri Light"/>
              </a:rPr>
              <a:t>r</a:t>
            </a:r>
            <a:r>
              <a:rPr sz="2000" spc="-5" dirty="0">
                <a:latin typeface="Calibri Light"/>
                <a:cs typeface="Calibri Light"/>
              </a:rPr>
              <a:t>eq</a:t>
            </a:r>
            <a:r>
              <a:rPr sz="2000" dirty="0">
                <a:latin typeface="Calibri Light"/>
                <a:cs typeface="Calibri Light"/>
              </a:rPr>
              <a:t>u</a:t>
            </a:r>
            <a:r>
              <a:rPr sz="2000" spc="-10" dirty="0">
                <a:latin typeface="Calibri Light"/>
                <a:cs typeface="Calibri Light"/>
              </a:rPr>
              <a:t>e</a:t>
            </a:r>
            <a:r>
              <a:rPr sz="2000" dirty="0">
                <a:latin typeface="Calibri Light"/>
                <a:cs typeface="Calibri Light"/>
              </a:rPr>
              <a:t>ncy  800MHz</a:t>
            </a:r>
            <a:endParaRPr sz="20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 Light"/>
                <a:cs typeface="Calibri Light"/>
              </a:rPr>
              <a:t>1066MHz</a:t>
            </a:r>
            <a:endParaRPr sz="20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 Light"/>
                <a:cs typeface="Calibri Light"/>
              </a:rPr>
              <a:t>1333MHz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29" name="object 28">
            <a:extLst>
              <a:ext uri="{FF2B5EF4-FFF2-40B4-BE49-F238E27FC236}">
                <a16:creationId xmlns:a16="http://schemas.microsoft.com/office/drawing/2014/main" id="{35A1E6A5-101C-4A9C-9CC9-201D175DE54E}"/>
              </a:ext>
            </a:extLst>
          </p:cNvPr>
          <p:cNvSpPr txBox="1"/>
          <p:nvPr/>
        </p:nvSpPr>
        <p:spPr>
          <a:xfrm>
            <a:off x="6207316" y="5556313"/>
            <a:ext cx="1097915" cy="122872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2270"/>
              </a:lnSpc>
              <a:spcBef>
                <a:spcPts val="285"/>
              </a:spcBef>
            </a:pPr>
            <a:r>
              <a:rPr sz="2000" dirty="0">
                <a:latin typeface="Calibri Light"/>
                <a:cs typeface="Calibri Light"/>
              </a:rPr>
              <a:t>F</a:t>
            </a:r>
            <a:r>
              <a:rPr sz="2000" spc="-20" dirty="0">
                <a:latin typeface="Calibri Light"/>
                <a:cs typeface="Calibri Light"/>
              </a:rPr>
              <a:t>r</a:t>
            </a:r>
            <a:r>
              <a:rPr sz="2000" dirty="0">
                <a:latin typeface="Calibri Light"/>
                <a:cs typeface="Calibri Light"/>
              </a:rPr>
              <a:t>equency  1600MHz</a:t>
            </a:r>
            <a:endParaRPr sz="2000">
              <a:latin typeface="Calibri Light"/>
              <a:cs typeface="Calibri Light"/>
            </a:endParaRPr>
          </a:p>
          <a:p>
            <a:pPr marL="12700">
              <a:lnSpc>
                <a:spcPts val="2345"/>
              </a:lnSpc>
            </a:pPr>
            <a:r>
              <a:rPr sz="2000" dirty="0">
                <a:latin typeface="Calibri Light"/>
                <a:cs typeface="Calibri Light"/>
              </a:rPr>
              <a:t>2133MHz</a:t>
            </a:r>
            <a:endParaRPr sz="20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 Light"/>
                <a:cs typeface="Calibri Light"/>
              </a:rPr>
              <a:t>2666MHz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30" name="object 29">
            <a:extLst>
              <a:ext uri="{FF2B5EF4-FFF2-40B4-BE49-F238E27FC236}">
                <a16:creationId xmlns:a16="http://schemas.microsoft.com/office/drawing/2014/main" id="{B3A3454D-6315-48E4-B0E8-1C06A134FFAA}"/>
              </a:ext>
            </a:extLst>
          </p:cNvPr>
          <p:cNvSpPr txBox="1"/>
          <p:nvPr/>
        </p:nvSpPr>
        <p:spPr>
          <a:xfrm>
            <a:off x="5401628" y="5009071"/>
            <a:ext cx="24231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libri Light"/>
                <a:cs typeface="Calibri Light"/>
              </a:rPr>
              <a:t>Double</a:t>
            </a:r>
            <a:r>
              <a:rPr sz="2000" spc="-80" dirty="0">
                <a:latin typeface="Calibri Light"/>
                <a:cs typeface="Calibri Light"/>
              </a:rPr>
              <a:t> </a:t>
            </a:r>
            <a:r>
              <a:rPr sz="2000" spc="-15" dirty="0">
                <a:latin typeface="Calibri Light"/>
                <a:cs typeface="Calibri Light"/>
              </a:rPr>
              <a:t>Data</a:t>
            </a:r>
            <a:r>
              <a:rPr sz="2000" spc="-85" dirty="0">
                <a:latin typeface="Calibri Light"/>
                <a:cs typeface="Calibri Light"/>
              </a:rPr>
              <a:t> </a:t>
            </a:r>
            <a:r>
              <a:rPr sz="2000" spc="-20" dirty="0">
                <a:latin typeface="Calibri Light"/>
                <a:cs typeface="Calibri Light"/>
              </a:rPr>
              <a:t>Rate</a:t>
            </a:r>
            <a:r>
              <a:rPr sz="2000" spc="-60" dirty="0">
                <a:latin typeface="Calibri Light"/>
                <a:cs typeface="Calibri Light"/>
              </a:rPr>
              <a:t> </a:t>
            </a:r>
            <a:r>
              <a:rPr sz="2000" spc="-10" dirty="0">
                <a:latin typeface="Calibri Light"/>
                <a:cs typeface="Calibri Light"/>
              </a:rPr>
              <a:t>(DDR)</a:t>
            </a:r>
            <a:endParaRPr sz="2000" dirty="0">
              <a:latin typeface="Calibri Light"/>
              <a:cs typeface="Calibri Light"/>
            </a:endParaRPr>
          </a:p>
        </p:txBody>
      </p:sp>
      <p:pic>
        <p:nvPicPr>
          <p:cNvPr id="31" name="object 30">
            <a:extLst>
              <a:ext uri="{FF2B5EF4-FFF2-40B4-BE49-F238E27FC236}">
                <a16:creationId xmlns:a16="http://schemas.microsoft.com/office/drawing/2014/main" id="{FFA0C273-591F-4731-9E4C-E5FA6E54E7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2764" y="5844223"/>
            <a:ext cx="2374392" cy="763524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922143E-C267-93CE-511D-B01D2323E1F1}"/>
              </a:ext>
            </a:extLst>
          </p:cNvPr>
          <p:cNvSpPr txBox="1">
            <a:spLocks/>
          </p:cNvSpPr>
          <p:nvPr/>
        </p:nvSpPr>
        <p:spPr>
          <a:xfrm>
            <a:off x="2621280" y="6356350"/>
            <a:ext cx="55321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Advanced Computer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10075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1F5-154F-41C0-8843-181BC47FB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DRAM Bandwidth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1FC73-3169-4D4E-8A80-646CAE47A0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31</a:t>
            </a:fld>
            <a:endParaRPr lang="e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915F6B-ECA0-4FF9-A6C2-F12A9C3711D6}"/>
              </a:ext>
            </a:extLst>
          </p:cNvPr>
          <p:cNvGraphicFramePr>
            <a:graphicFrameLocks noGrp="1"/>
          </p:cNvGraphicFramePr>
          <p:nvPr/>
        </p:nvGraphicFramePr>
        <p:xfrm>
          <a:off x="971550" y="1704975"/>
          <a:ext cx="9901238" cy="4648201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073935">
                  <a:extLst>
                    <a:ext uri="{9D8B030D-6E8A-4147-A177-3AD203B41FA5}">
                      <a16:colId xmlns:a16="http://schemas.microsoft.com/office/drawing/2014/main" val="3398473337"/>
                    </a:ext>
                  </a:extLst>
                </a:gridCol>
                <a:gridCol w="1504955">
                  <a:extLst>
                    <a:ext uri="{9D8B030D-6E8A-4147-A177-3AD203B41FA5}">
                      <a16:colId xmlns:a16="http://schemas.microsoft.com/office/drawing/2014/main" val="4082818420"/>
                    </a:ext>
                  </a:extLst>
                </a:gridCol>
                <a:gridCol w="2206467">
                  <a:extLst>
                    <a:ext uri="{9D8B030D-6E8A-4147-A177-3AD203B41FA5}">
                      <a16:colId xmlns:a16="http://schemas.microsoft.com/office/drawing/2014/main" val="1900156525"/>
                    </a:ext>
                  </a:extLst>
                </a:gridCol>
                <a:gridCol w="2172193">
                  <a:extLst>
                    <a:ext uri="{9D8B030D-6E8A-4147-A177-3AD203B41FA5}">
                      <a16:colId xmlns:a16="http://schemas.microsoft.com/office/drawing/2014/main" val="3770167620"/>
                    </a:ext>
                  </a:extLst>
                </a:gridCol>
                <a:gridCol w="1943688">
                  <a:extLst>
                    <a:ext uri="{9D8B030D-6E8A-4147-A177-3AD203B41FA5}">
                      <a16:colId xmlns:a16="http://schemas.microsoft.com/office/drawing/2014/main" val="3093068918"/>
                    </a:ext>
                  </a:extLst>
                </a:gridCol>
              </a:tblGrid>
              <a:tr h="807086">
                <a:tc>
                  <a:txBody>
                    <a:bodyPr/>
                    <a:lstStyle/>
                    <a:p>
                      <a:pPr algn="ctr"/>
                      <a:r>
                        <a:rPr lang="en-IN" sz="1700" b="1" cap="none" spc="0" dirty="0">
                          <a:solidFill>
                            <a:schemeClr val="tx1"/>
                          </a:solidFill>
                          <a:effectLst/>
                        </a:rPr>
                        <a:t>Names</a:t>
                      </a:r>
                    </a:p>
                  </a:txBody>
                  <a:tcPr marL="68371" marR="81542" marT="19534" marB="14650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b="1" cap="none" spc="0">
                          <a:solidFill>
                            <a:schemeClr val="tx1"/>
                          </a:solidFill>
                          <a:effectLst/>
                        </a:rPr>
                        <a:t>Memory clock</a:t>
                      </a:r>
                    </a:p>
                  </a:txBody>
                  <a:tcPr marL="68371" marR="81542" marT="19534" marB="14650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b="1" cap="none" spc="0">
                          <a:solidFill>
                            <a:schemeClr val="tx1"/>
                          </a:solidFill>
                          <a:effectLst/>
                        </a:rPr>
                        <a:t>I/O bus clock</a:t>
                      </a:r>
                    </a:p>
                  </a:txBody>
                  <a:tcPr marL="68371" marR="81542" marT="19534" marB="14650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b="1" u="none" strike="noStrike" cap="none" spc="0">
                          <a:solidFill>
                            <a:schemeClr val="tx1"/>
                          </a:solidFill>
                          <a:effectLst/>
                          <a:hlinkClick r:id="rId2" tooltip="Transfer (computing)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Transfer rate</a:t>
                      </a:r>
                      <a:endParaRPr lang="en-IN" sz="1700" b="1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371" marR="81542" marT="19534" marB="14650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b="1" cap="none" spc="0">
                          <a:solidFill>
                            <a:schemeClr val="tx1"/>
                          </a:solidFill>
                          <a:effectLst/>
                        </a:rPr>
                        <a:t>Theoretical bandwidth</a:t>
                      </a:r>
                    </a:p>
                  </a:txBody>
                  <a:tcPr marL="68371" marR="81542" marT="19534" marB="146509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377759"/>
                  </a:ext>
                </a:extLst>
              </a:tr>
              <a:tr h="487364">
                <a:tc>
                  <a:txBody>
                    <a:bodyPr/>
                    <a:lstStyle/>
                    <a:p>
                      <a:r>
                        <a:rPr lang="en-IN" sz="1300" cap="none" spc="0" dirty="0">
                          <a:solidFill>
                            <a:schemeClr val="tx1"/>
                          </a:solidFill>
                          <a:effectLst/>
                        </a:rPr>
                        <a:t>DDR-200, PC-1600</a:t>
                      </a:r>
                    </a:p>
                  </a:txBody>
                  <a:tcPr marL="68371" marR="81542" marT="19534" marB="14650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100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100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200 MT/s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1.6 GB/s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075909"/>
                  </a:ext>
                </a:extLst>
              </a:tr>
              <a:tr h="429567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DDR-400, PC-3200</a:t>
                      </a:r>
                    </a:p>
                  </a:txBody>
                  <a:tcPr marL="68371" marR="81542" marT="19534" marB="14650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200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200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400 MT/s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3.2 GB/s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71434"/>
                  </a:ext>
                </a:extLst>
              </a:tr>
              <a:tr h="487364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DDR2-800, PC2-6400</a:t>
                      </a:r>
                    </a:p>
                  </a:txBody>
                  <a:tcPr marL="68371" marR="81542" marT="19534" marB="14650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 dirty="0">
                          <a:solidFill>
                            <a:schemeClr val="tx1"/>
                          </a:solidFill>
                          <a:effectLst/>
                        </a:rPr>
                        <a:t>200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400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800 MT/s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6.4 GB/s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280763"/>
                  </a:ext>
                </a:extLst>
              </a:tr>
              <a:tr h="487364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DDR3-1600, PC3-12800</a:t>
                      </a:r>
                    </a:p>
                  </a:txBody>
                  <a:tcPr marL="68371" marR="81542" marT="19534" marB="14650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 dirty="0">
                          <a:solidFill>
                            <a:schemeClr val="tx1"/>
                          </a:solidFill>
                          <a:effectLst/>
                        </a:rPr>
                        <a:t>200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800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1600 MT/s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12.8 GB/s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57786"/>
                  </a:ext>
                </a:extLst>
              </a:tr>
              <a:tr h="487364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DDR4-2400, PC4-19200</a:t>
                      </a:r>
                    </a:p>
                  </a:txBody>
                  <a:tcPr marL="68371" marR="81542" marT="19534" marB="14650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300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1200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2400 MT/s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19.2 GB/s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241216"/>
                  </a:ext>
                </a:extLst>
              </a:tr>
              <a:tr h="487364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DDR4-3200, PC4-25600</a:t>
                      </a:r>
                    </a:p>
                  </a:txBody>
                  <a:tcPr marL="68371" marR="81542" marT="19534" marB="14650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 dirty="0">
                          <a:solidFill>
                            <a:schemeClr val="tx1"/>
                          </a:solidFill>
                          <a:effectLst/>
                        </a:rPr>
                        <a:t>400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1600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3200 MT/s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25.6 GB/s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416045"/>
                  </a:ext>
                </a:extLst>
              </a:tr>
              <a:tr h="487364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DDR5-4800, PC5-38400</a:t>
                      </a:r>
                    </a:p>
                  </a:txBody>
                  <a:tcPr marL="68371" marR="81542" marT="19534" marB="14650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300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2400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4800 MT/s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38.4 GB/s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06406"/>
                  </a:ext>
                </a:extLst>
              </a:tr>
              <a:tr h="487364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DDR5-6400, PC5-51200</a:t>
                      </a:r>
                    </a:p>
                  </a:txBody>
                  <a:tcPr marL="68371" marR="81542" marT="19534" marB="146509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400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3200 MHz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</a:rPr>
                        <a:t>6400 MT/s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 dirty="0">
                          <a:solidFill>
                            <a:schemeClr val="tx1"/>
                          </a:solidFill>
                          <a:effectLst/>
                        </a:rPr>
                        <a:t>51.2 GB/s</a:t>
                      </a:r>
                    </a:p>
                  </a:txBody>
                  <a:tcPr marL="68371" marR="81542" marT="19534" marB="146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231310"/>
                  </a:ext>
                </a:extLst>
              </a:tr>
            </a:tbl>
          </a:graphicData>
        </a:graphic>
      </p:graphicFrame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45F0BE3-A10C-A12D-083E-C1DD6A2ABCEC}"/>
              </a:ext>
            </a:extLst>
          </p:cNvPr>
          <p:cNvSpPr txBox="1">
            <a:spLocks/>
          </p:cNvSpPr>
          <p:nvPr/>
        </p:nvSpPr>
        <p:spPr>
          <a:xfrm>
            <a:off x="2621280" y="6356350"/>
            <a:ext cx="55321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Advanced Computer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7401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46141</TotalTime>
  <Words>1815</Words>
  <Application>Microsoft Office PowerPoint</Application>
  <PresentationFormat>Widescreen</PresentationFormat>
  <Paragraphs>434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ＭＳ Ｐゴシック</vt:lpstr>
      <vt:lpstr>ACaslonPro-Italic-Identity-H</vt:lpstr>
      <vt:lpstr>ACaslonPro-Regular-Identity-H</vt:lpstr>
      <vt:lpstr>Arial</vt:lpstr>
      <vt:lpstr>Calibri</vt:lpstr>
      <vt:lpstr>Calibri body</vt:lpstr>
      <vt:lpstr>Calibri Light</vt:lpstr>
      <vt:lpstr>Cambria</vt:lpstr>
      <vt:lpstr>Times New Roman</vt:lpstr>
      <vt:lpstr>Verdana</vt:lpstr>
      <vt:lpstr>Wingdings</vt:lpstr>
      <vt:lpstr>Office Theme</vt:lpstr>
      <vt:lpstr>CS683: Advanced Computer Architecture</vt:lpstr>
      <vt:lpstr>Memory Consistency</vt:lpstr>
      <vt:lpstr>Coherence vs Consistency</vt:lpstr>
      <vt:lpstr>Why it matters?</vt:lpstr>
      <vt:lpstr>Why it matters?</vt:lpstr>
      <vt:lpstr>The definition, An important one</vt:lpstr>
      <vt:lpstr>The definition</vt:lpstr>
      <vt:lpstr>Let’s continue</vt:lpstr>
      <vt:lpstr>Trend so far </vt:lpstr>
      <vt:lpstr>Memory Consistency Models</vt:lpstr>
      <vt:lpstr>X86 uses TSO (Total Store Order)</vt:lpstr>
      <vt:lpstr>DRAM Organization</vt:lpstr>
      <vt:lpstr>Rank</vt:lpstr>
      <vt:lpstr>Ranks, Banks, Rows, Columns</vt:lpstr>
      <vt:lpstr>Ranks, Banks, Rows, Columns</vt:lpstr>
      <vt:lpstr>Row Decoder and Row buffer </vt:lpstr>
      <vt:lpstr>An Example</vt:lpstr>
      <vt:lpstr>DRAM to LLC interaction</vt:lpstr>
      <vt:lpstr>DRAM to LLC interaction</vt:lpstr>
      <vt:lpstr>DRAM to LLC interaction</vt:lpstr>
      <vt:lpstr>DRAM to LLC</vt:lpstr>
      <vt:lpstr>DRAM Address Mapping (One Channel)</vt:lpstr>
      <vt:lpstr>Row Access</vt:lpstr>
      <vt:lpstr>Row Buffer hit/miss/conflict</vt:lpstr>
      <vt:lpstr>DRAM Timing Constraints</vt:lpstr>
      <vt:lpstr>Row (Page) Policies</vt:lpstr>
      <vt:lpstr>10K view on the latency </vt:lpstr>
      <vt:lpstr>DRAM Refresh</vt:lpstr>
      <vt:lpstr>PAUSE</vt:lpstr>
      <vt:lpstr>DRAM Controller</vt:lpstr>
      <vt:lpstr>DRAM Bandwidth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</cp:lastModifiedBy>
  <cp:revision>943</cp:revision>
  <dcterms:created xsi:type="dcterms:W3CDTF">2021-05-31T06:57:48Z</dcterms:created>
  <dcterms:modified xsi:type="dcterms:W3CDTF">2025-10-04T14:26:30Z</dcterms:modified>
</cp:coreProperties>
</file>