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7713" r:id="rId3"/>
    <p:sldId id="7946" r:id="rId4"/>
    <p:sldId id="910" r:id="rId5"/>
    <p:sldId id="911" r:id="rId6"/>
    <p:sldId id="912" r:id="rId7"/>
    <p:sldId id="913" r:id="rId8"/>
    <p:sldId id="7755" r:id="rId9"/>
    <p:sldId id="7944" r:id="rId10"/>
    <p:sldId id="7952" r:id="rId11"/>
    <p:sldId id="7953" r:id="rId12"/>
    <p:sldId id="7757" r:id="rId13"/>
    <p:sldId id="966" r:id="rId14"/>
    <p:sldId id="967" r:id="rId15"/>
    <p:sldId id="968" r:id="rId16"/>
    <p:sldId id="77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60327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</a:t>
            </a:r>
            <a:r>
              <a:rPr lang="en-US"/>
              <a:t>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L5: Cache hi cache Hai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AD1A-9079-60B8-0E2B-BFD6B2B6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story so far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9049-58EF-E12C-EECB-0143CD55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ports to improve bandwidth </a:t>
            </a:r>
          </a:p>
          <a:p>
            <a:endParaRPr lang="en-US" dirty="0"/>
          </a:p>
          <a:p>
            <a:r>
              <a:rPr lang="en-US" dirty="0"/>
              <a:t>Multiple small banks to improve latency </a:t>
            </a:r>
          </a:p>
          <a:p>
            <a:endParaRPr lang="en-US" dirty="0"/>
          </a:p>
          <a:p>
            <a:r>
              <a:rPr lang="en-US" dirty="0"/>
              <a:t>Indexing should have banking bits too.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D173-02C4-9FB3-4415-40AA4CB3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BF552-308E-1FC4-DAA7-4A2401D5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0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37823-1754-43EA-B593-095609C7D815}"/>
              </a:ext>
            </a:extLst>
          </p:cNvPr>
          <p:cNvSpPr txBox="1"/>
          <p:nvPr/>
        </p:nvSpPr>
        <p:spPr>
          <a:xfrm>
            <a:off x="7045846" y="4013057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</p:spTree>
    <p:extLst>
      <p:ext uri="{BB962C8B-B14F-4D97-AF65-F5344CB8AC3E}">
        <p14:creationId xmlns:p14="http://schemas.microsoft.com/office/powerpoint/2010/main" val="271935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2A36-2D44-4086-A692-5DA1A4673BEB}"/>
              </a:ext>
            </a:extLst>
          </p:cNvPr>
          <p:cNvSpPr txBox="1"/>
          <p:nvPr/>
        </p:nvSpPr>
        <p:spPr>
          <a:xfrm>
            <a:off x="5123693" y="3677187"/>
            <a:ext cx="97230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83AAB-D884-4416-8A15-4E3349E513B5}"/>
              </a:ext>
            </a:extLst>
          </p:cNvPr>
          <p:cNvSpPr txBox="1"/>
          <p:nvPr/>
        </p:nvSpPr>
        <p:spPr>
          <a:xfrm>
            <a:off x="6102511" y="3677187"/>
            <a:ext cx="360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69044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0C5B1BD-EF65-4247-AB17-0E93870F713F}"/>
              </a:ext>
            </a:extLst>
          </p:cNvPr>
          <p:cNvSpPr/>
          <p:nvPr/>
        </p:nvSpPr>
        <p:spPr>
          <a:xfrm>
            <a:off x="6924777" y="4200406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960993-D5EE-4C55-AB8F-439B3E9F5595}"/>
              </a:ext>
            </a:extLst>
          </p:cNvPr>
          <p:cNvCxnSpPr>
            <a:stCxn id="21" idx="0"/>
            <a:endCxn id="21" idx="2"/>
          </p:cNvCxnSpPr>
          <p:nvPr/>
        </p:nvCxnSpPr>
        <p:spPr>
          <a:xfrm>
            <a:off x="8015734" y="4200406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E47FD0-9A73-4A8A-8043-813D11C302EE}"/>
              </a:ext>
            </a:extLst>
          </p:cNvPr>
          <p:cNvCxnSpPr/>
          <p:nvPr/>
        </p:nvCxnSpPr>
        <p:spPr>
          <a:xfrm>
            <a:off x="7450759" y="4194061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256BCB-79CC-447D-9BA6-37F16DA98816}"/>
              </a:ext>
            </a:extLst>
          </p:cNvPr>
          <p:cNvCxnSpPr/>
          <p:nvPr/>
        </p:nvCxnSpPr>
        <p:spPr>
          <a:xfrm>
            <a:off x="8602601" y="4194061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2A36-2D44-4086-A692-5DA1A4673BEB}"/>
              </a:ext>
            </a:extLst>
          </p:cNvPr>
          <p:cNvSpPr txBox="1"/>
          <p:nvPr/>
        </p:nvSpPr>
        <p:spPr>
          <a:xfrm>
            <a:off x="7043427" y="4200407"/>
            <a:ext cx="97230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700F5-10F9-4ECA-BCF0-0EEA784D2454}"/>
              </a:ext>
            </a:extLst>
          </p:cNvPr>
          <p:cNvSpPr txBox="1"/>
          <p:nvPr/>
        </p:nvSpPr>
        <p:spPr>
          <a:xfrm>
            <a:off x="6847807" y="4669857"/>
            <a:ext cx="2391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Write-back Buffer</a:t>
            </a:r>
          </a:p>
        </p:txBody>
      </p:sp>
    </p:spTree>
    <p:extLst>
      <p:ext uri="{BB962C8B-B14F-4D97-AF65-F5344CB8AC3E}">
        <p14:creationId xmlns:p14="http://schemas.microsoft.com/office/powerpoint/2010/main" val="301658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0C5B1BD-EF65-4247-AB17-0E93870F713F}"/>
              </a:ext>
            </a:extLst>
          </p:cNvPr>
          <p:cNvSpPr/>
          <p:nvPr/>
        </p:nvSpPr>
        <p:spPr>
          <a:xfrm>
            <a:off x="6924777" y="4200406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960993-D5EE-4C55-AB8F-439B3E9F5595}"/>
              </a:ext>
            </a:extLst>
          </p:cNvPr>
          <p:cNvCxnSpPr>
            <a:stCxn id="21" idx="0"/>
            <a:endCxn id="21" idx="2"/>
          </p:cNvCxnSpPr>
          <p:nvPr/>
        </p:nvCxnSpPr>
        <p:spPr>
          <a:xfrm>
            <a:off x="8015734" y="4200406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E47FD0-9A73-4A8A-8043-813D11C302EE}"/>
              </a:ext>
            </a:extLst>
          </p:cNvPr>
          <p:cNvCxnSpPr/>
          <p:nvPr/>
        </p:nvCxnSpPr>
        <p:spPr>
          <a:xfrm>
            <a:off x="7450759" y="4194061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256BCB-79CC-447D-9BA6-37F16DA98816}"/>
              </a:ext>
            </a:extLst>
          </p:cNvPr>
          <p:cNvCxnSpPr/>
          <p:nvPr/>
        </p:nvCxnSpPr>
        <p:spPr>
          <a:xfrm>
            <a:off x="8602601" y="4194061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2A36-2D44-4086-A692-5DA1A4673BEB}"/>
              </a:ext>
            </a:extLst>
          </p:cNvPr>
          <p:cNvSpPr txBox="1"/>
          <p:nvPr/>
        </p:nvSpPr>
        <p:spPr>
          <a:xfrm>
            <a:off x="9332083" y="3774534"/>
            <a:ext cx="97230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700F5-10F9-4ECA-BCF0-0EEA784D2454}"/>
              </a:ext>
            </a:extLst>
          </p:cNvPr>
          <p:cNvSpPr txBox="1"/>
          <p:nvPr/>
        </p:nvSpPr>
        <p:spPr>
          <a:xfrm>
            <a:off x="6847807" y="4669857"/>
            <a:ext cx="2391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Write-back Buffer</a:t>
            </a:r>
          </a:p>
        </p:txBody>
      </p:sp>
      <p:sp>
        <p:nvSpPr>
          <p:cNvPr id="25" name="Rounded Rectangle 37">
            <a:extLst>
              <a:ext uri="{FF2B5EF4-FFF2-40B4-BE49-F238E27FC236}">
                <a16:creationId xmlns:a16="http://schemas.microsoft.com/office/drawing/2014/main" id="{C1902E38-B744-4A14-9A87-ACEDBD34CA7D}"/>
              </a:ext>
            </a:extLst>
          </p:cNvPr>
          <p:cNvSpPr/>
          <p:nvPr/>
        </p:nvSpPr>
        <p:spPr>
          <a:xfrm>
            <a:off x="622729" y="5466193"/>
            <a:ext cx="3297572" cy="682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Write-back cache</a:t>
            </a:r>
          </a:p>
        </p:txBody>
      </p:sp>
      <p:sp>
        <p:nvSpPr>
          <p:cNvPr id="26" name="Rounded Rectangle 37">
            <a:extLst>
              <a:ext uri="{FF2B5EF4-FFF2-40B4-BE49-F238E27FC236}">
                <a16:creationId xmlns:a16="http://schemas.microsoft.com/office/drawing/2014/main" id="{957F03B3-F390-438F-8986-C7DB4E05950F}"/>
              </a:ext>
            </a:extLst>
          </p:cNvPr>
          <p:cNvSpPr/>
          <p:nvPr/>
        </p:nvSpPr>
        <p:spPr>
          <a:xfrm>
            <a:off x="4912685" y="5466192"/>
            <a:ext cx="6595620" cy="9548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 general, STOREs are not critical for performance. But why?</a:t>
            </a:r>
          </a:p>
        </p:txBody>
      </p:sp>
    </p:spTree>
    <p:extLst>
      <p:ext uri="{BB962C8B-B14F-4D97-AF65-F5344CB8AC3E}">
        <p14:creationId xmlns:p14="http://schemas.microsoft.com/office/powerpoint/2010/main" val="305880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14BD-5671-DBE3-C497-E4A1EF57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Hierarchy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4BCCD-5534-B84D-B8A7-DB591989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344BE-768E-7F68-9914-B028216D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4E6BA770-3DFB-D4D7-8791-F067A5BF7350}"/>
              </a:ext>
            </a:extLst>
          </p:cNvPr>
          <p:cNvGrpSpPr/>
          <p:nvPr/>
        </p:nvGrpSpPr>
        <p:grpSpPr>
          <a:xfrm>
            <a:off x="3691128" y="815339"/>
            <a:ext cx="4809744" cy="4736592"/>
            <a:chOff x="3691128" y="815339"/>
            <a:chExt cx="4809744" cy="4736592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C83E324-706A-58EB-4D26-6A2809D731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2120" y="1351805"/>
              <a:ext cx="1685560" cy="760440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C0A614B4-5AEF-FE7C-4CA3-967C1E0563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1208" y="1231391"/>
              <a:ext cx="1281684" cy="1152143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F5E56FB-50B5-B419-FF87-4D7ACD773E04}"/>
                </a:ext>
              </a:extLst>
            </p:cNvPr>
            <p:cNvSpPr/>
            <p:nvPr/>
          </p:nvSpPr>
          <p:spPr>
            <a:xfrm>
              <a:off x="4114800" y="1371599"/>
              <a:ext cx="1600200" cy="674370"/>
            </a:xfrm>
            <a:custGeom>
              <a:avLst/>
              <a:gdLst/>
              <a:ahLst/>
              <a:cxnLst/>
              <a:rect l="l" t="t" r="r" b="b"/>
              <a:pathLst>
                <a:path w="1600200" h="674369">
                  <a:moveTo>
                    <a:pt x="1487804" y="0"/>
                  </a:moveTo>
                  <a:lnTo>
                    <a:pt x="112395" y="0"/>
                  </a:lnTo>
                  <a:lnTo>
                    <a:pt x="68633" y="8828"/>
                  </a:lnTo>
                  <a:lnTo>
                    <a:pt x="32908" y="32908"/>
                  </a:lnTo>
                  <a:lnTo>
                    <a:pt x="8828" y="68633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736"/>
                  </a:lnTo>
                  <a:lnTo>
                    <a:pt x="32908" y="641461"/>
                  </a:lnTo>
                  <a:lnTo>
                    <a:pt x="68633" y="665541"/>
                  </a:lnTo>
                  <a:lnTo>
                    <a:pt x="112395" y="674370"/>
                  </a:lnTo>
                  <a:lnTo>
                    <a:pt x="1487804" y="674370"/>
                  </a:lnTo>
                  <a:lnTo>
                    <a:pt x="1531566" y="665541"/>
                  </a:lnTo>
                  <a:lnTo>
                    <a:pt x="1567291" y="641461"/>
                  </a:lnTo>
                  <a:lnTo>
                    <a:pt x="1591371" y="605736"/>
                  </a:lnTo>
                  <a:lnTo>
                    <a:pt x="1600200" y="561975"/>
                  </a:lnTo>
                  <a:lnTo>
                    <a:pt x="1600200" y="112395"/>
                  </a:lnTo>
                  <a:lnTo>
                    <a:pt x="1591371" y="68633"/>
                  </a:lnTo>
                  <a:lnTo>
                    <a:pt x="1567291" y="32908"/>
                  </a:lnTo>
                  <a:lnTo>
                    <a:pt x="1531566" y="8828"/>
                  </a:lnTo>
                  <a:lnTo>
                    <a:pt x="148780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7805CAF4-7666-A202-7C0C-BF5AF2360FC9}"/>
                </a:ext>
              </a:extLst>
            </p:cNvPr>
            <p:cNvSpPr/>
            <p:nvPr/>
          </p:nvSpPr>
          <p:spPr>
            <a:xfrm>
              <a:off x="4114800" y="1371599"/>
              <a:ext cx="1600200" cy="674370"/>
            </a:xfrm>
            <a:custGeom>
              <a:avLst/>
              <a:gdLst/>
              <a:ahLst/>
              <a:cxnLst/>
              <a:rect l="l" t="t" r="r" b="b"/>
              <a:pathLst>
                <a:path w="1600200" h="674369">
                  <a:moveTo>
                    <a:pt x="0" y="112395"/>
                  </a:moveTo>
                  <a:lnTo>
                    <a:pt x="8828" y="68633"/>
                  </a:lnTo>
                  <a:lnTo>
                    <a:pt x="32908" y="32908"/>
                  </a:lnTo>
                  <a:lnTo>
                    <a:pt x="68633" y="8828"/>
                  </a:lnTo>
                  <a:lnTo>
                    <a:pt x="112395" y="0"/>
                  </a:lnTo>
                  <a:lnTo>
                    <a:pt x="1487804" y="0"/>
                  </a:lnTo>
                  <a:lnTo>
                    <a:pt x="1531566" y="8828"/>
                  </a:lnTo>
                  <a:lnTo>
                    <a:pt x="1567291" y="32908"/>
                  </a:lnTo>
                  <a:lnTo>
                    <a:pt x="1591371" y="68633"/>
                  </a:lnTo>
                  <a:lnTo>
                    <a:pt x="1600200" y="112395"/>
                  </a:lnTo>
                  <a:lnTo>
                    <a:pt x="1600200" y="561975"/>
                  </a:lnTo>
                  <a:lnTo>
                    <a:pt x="1591371" y="605736"/>
                  </a:lnTo>
                  <a:lnTo>
                    <a:pt x="1567291" y="641461"/>
                  </a:lnTo>
                  <a:lnTo>
                    <a:pt x="1531566" y="665541"/>
                  </a:lnTo>
                  <a:lnTo>
                    <a:pt x="1487804" y="674370"/>
                  </a:lnTo>
                  <a:lnTo>
                    <a:pt x="112395" y="674370"/>
                  </a:lnTo>
                  <a:lnTo>
                    <a:pt x="68633" y="665541"/>
                  </a:lnTo>
                  <a:lnTo>
                    <a:pt x="32908" y="641461"/>
                  </a:lnTo>
                  <a:lnTo>
                    <a:pt x="8828" y="605736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E7DD2FC2-68F1-D888-CDDA-4FD77B05EA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9452" y="815339"/>
              <a:ext cx="310896" cy="731520"/>
            </a:xfrm>
            <a:prstGeom prst="rect">
              <a:avLst/>
            </a:prstGeom>
          </p:spPr>
        </p:pic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D16E3805-0EDB-0F1F-5556-BBE6E8857F3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1128" y="2692925"/>
              <a:ext cx="4809744" cy="760440"/>
            </a:xfrm>
            <a:prstGeom prst="rect">
              <a:avLst/>
            </a:prstGeom>
          </p:spPr>
        </p:pic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C1F823CB-1200-0438-7F71-975084C42D8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2308" y="2574035"/>
              <a:ext cx="1281684" cy="1152144"/>
            </a:xfrm>
            <a:prstGeom prst="rect">
              <a:avLst/>
            </a:prstGeom>
          </p:spPr>
        </p:pic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1CCFF686-104A-31EB-CD19-72437A979872}"/>
                </a:ext>
              </a:extLst>
            </p:cNvPr>
            <p:cNvSpPr/>
            <p:nvPr/>
          </p:nvSpPr>
          <p:spPr>
            <a:xfrm>
              <a:off x="3733800" y="2713100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4612005" y="0"/>
                  </a:moveTo>
                  <a:lnTo>
                    <a:pt x="112395" y="0"/>
                  </a:lnTo>
                  <a:lnTo>
                    <a:pt x="68633" y="8828"/>
                  </a:lnTo>
                  <a:lnTo>
                    <a:pt x="32908" y="32908"/>
                  </a:lnTo>
                  <a:lnTo>
                    <a:pt x="8828" y="68633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682"/>
                  </a:lnTo>
                  <a:lnTo>
                    <a:pt x="32908" y="641413"/>
                  </a:lnTo>
                  <a:lnTo>
                    <a:pt x="68633" y="665523"/>
                  </a:lnTo>
                  <a:lnTo>
                    <a:pt x="112395" y="674370"/>
                  </a:lnTo>
                  <a:lnTo>
                    <a:pt x="4612005" y="674370"/>
                  </a:lnTo>
                  <a:lnTo>
                    <a:pt x="4655766" y="665523"/>
                  </a:lnTo>
                  <a:lnTo>
                    <a:pt x="4691491" y="641413"/>
                  </a:lnTo>
                  <a:lnTo>
                    <a:pt x="4715571" y="605682"/>
                  </a:lnTo>
                  <a:lnTo>
                    <a:pt x="4724400" y="561975"/>
                  </a:lnTo>
                  <a:lnTo>
                    <a:pt x="4724400" y="112395"/>
                  </a:lnTo>
                  <a:lnTo>
                    <a:pt x="4715571" y="68633"/>
                  </a:lnTo>
                  <a:lnTo>
                    <a:pt x="4691491" y="32908"/>
                  </a:lnTo>
                  <a:lnTo>
                    <a:pt x="4655766" y="8828"/>
                  </a:lnTo>
                  <a:lnTo>
                    <a:pt x="461200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5D9921D6-4B2E-0427-D788-C3BEC7478203}"/>
                </a:ext>
              </a:extLst>
            </p:cNvPr>
            <p:cNvSpPr/>
            <p:nvPr/>
          </p:nvSpPr>
          <p:spPr>
            <a:xfrm>
              <a:off x="3733800" y="2713100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0" y="112395"/>
                  </a:moveTo>
                  <a:lnTo>
                    <a:pt x="8828" y="68633"/>
                  </a:lnTo>
                  <a:lnTo>
                    <a:pt x="32908" y="32908"/>
                  </a:lnTo>
                  <a:lnTo>
                    <a:pt x="68633" y="8828"/>
                  </a:lnTo>
                  <a:lnTo>
                    <a:pt x="112395" y="0"/>
                  </a:lnTo>
                  <a:lnTo>
                    <a:pt x="4612005" y="0"/>
                  </a:lnTo>
                  <a:lnTo>
                    <a:pt x="4655766" y="8828"/>
                  </a:lnTo>
                  <a:lnTo>
                    <a:pt x="4691491" y="32908"/>
                  </a:lnTo>
                  <a:lnTo>
                    <a:pt x="4715571" y="68633"/>
                  </a:lnTo>
                  <a:lnTo>
                    <a:pt x="4724400" y="112395"/>
                  </a:lnTo>
                  <a:lnTo>
                    <a:pt x="4724400" y="561975"/>
                  </a:lnTo>
                  <a:lnTo>
                    <a:pt x="4715571" y="605682"/>
                  </a:lnTo>
                  <a:lnTo>
                    <a:pt x="4691491" y="641413"/>
                  </a:lnTo>
                  <a:lnTo>
                    <a:pt x="4655766" y="665523"/>
                  </a:lnTo>
                  <a:lnTo>
                    <a:pt x="4612005" y="674370"/>
                  </a:lnTo>
                  <a:lnTo>
                    <a:pt x="112395" y="674370"/>
                  </a:lnTo>
                  <a:lnTo>
                    <a:pt x="68633" y="665523"/>
                  </a:lnTo>
                  <a:lnTo>
                    <a:pt x="32908" y="641413"/>
                  </a:lnTo>
                  <a:lnTo>
                    <a:pt x="8828" y="605682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953BA96B-4A94-6A33-4A35-A0B01A65D4B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4728" y="4029455"/>
              <a:ext cx="694943" cy="1522476"/>
            </a:xfrm>
            <a:prstGeom prst="rect">
              <a:avLst/>
            </a:prstGeom>
          </p:spPr>
        </p:pic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2BA2FCD4-0C79-3996-EDF9-631E7C1E48A8}"/>
                </a:ext>
              </a:extLst>
            </p:cNvPr>
            <p:cNvSpPr/>
            <p:nvPr/>
          </p:nvSpPr>
          <p:spPr>
            <a:xfrm>
              <a:off x="5867400" y="4050029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9DA9D027-CF82-6798-01E7-2C24FBAE92D9}"/>
                </a:ext>
              </a:extLst>
            </p:cNvPr>
            <p:cNvSpPr/>
            <p:nvPr/>
          </p:nvSpPr>
          <p:spPr>
            <a:xfrm>
              <a:off x="5867400" y="4050029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1">
              <a:extLst>
                <a:ext uri="{FF2B5EF4-FFF2-40B4-BE49-F238E27FC236}">
                  <a16:creationId xmlns:a16="http://schemas.microsoft.com/office/drawing/2014/main" id="{6C9ACA6B-E804-33C0-A170-8D1C22C4F5F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4728" y="4733543"/>
              <a:ext cx="694944" cy="109727"/>
            </a:xfrm>
            <a:prstGeom prst="rect">
              <a:avLst/>
            </a:prstGeom>
          </p:spPr>
        </p:pic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0B3D8AE6-6C1F-F34E-F461-0CEBD7E42241}"/>
                </a:ext>
              </a:extLst>
            </p:cNvPr>
            <p:cNvSpPr/>
            <p:nvPr/>
          </p:nvSpPr>
          <p:spPr>
            <a:xfrm>
              <a:off x="5867400" y="4768214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3">
              <a:extLst>
                <a:ext uri="{FF2B5EF4-FFF2-40B4-BE49-F238E27FC236}">
                  <a16:creationId xmlns:a16="http://schemas.microsoft.com/office/drawing/2014/main" id="{9A4769E6-5A0F-F6F5-77D3-E16800E3F99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4728" y="5070348"/>
              <a:ext cx="694944" cy="109727"/>
            </a:xfrm>
            <a:prstGeom prst="rect">
              <a:avLst/>
            </a:prstGeom>
          </p:spPr>
        </p:pic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AC614DAE-9C58-A16E-3257-861D4D501677}"/>
                </a:ext>
              </a:extLst>
            </p:cNvPr>
            <p:cNvSpPr/>
            <p:nvPr/>
          </p:nvSpPr>
          <p:spPr>
            <a:xfrm>
              <a:off x="5867400" y="510539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5">
              <a:extLst>
                <a:ext uri="{FF2B5EF4-FFF2-40B4-BE49-F238E27FC236}">
                  <a16:creationId xmlns:a16="http://schemas.microsoft.com/office/drawing/2014/main" id="{12BB97B6-F7A1-32A9-12A3-8FBCD07F363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4728" y="4384548"/>
              <a:ext cx="694944" cy="109727"/>
            </a:xfrm>
            <a:prstGeom prst="rect">
              <a:avLst/>
            </a:prstGeom>
          </p:spPr>
        </p:pic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B37BF322-C80B-D9C0-04BF-C11A969E929C}"/>
                </a:ext>
              </a:extLst>
            </p:cNvPr>
            <p:cNvSpPr/>
            <p:nvPr/>
          </p:nvSpPr>
          <p:spPr>
            <a:xfrm>
              <a:off x="5867400" y="441959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7">
              <a:extLst>
                <a:ext uri="{FF2B5EF4-FFF2-40B4-BE49-F238E27FC236}">
                  <a16:creationId xmlns:a16="http://schemas.microsoft.com/office/drawing/2014/main" id="{366DA958-D81E-77A9-0D69-420A6DB379C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15328" y="4018788"/>
              <a:ext cx="694943" cy="1522475"/>
            </a:xfrm>
            <a:prstGeom prst="rect">
              <a:avLst/>
            </a:prstGeom>
          </p:spPr>
        </p:pic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3476FC5F-8439-3BC6-0F32-A1208867BAC9}"/>
                </a:ext>
              </a:extLst>
            </p:cNvPr>
            <p:cNvSpPr/>
            <p:nvPr/>
          </p:nvSpPr>
          <p:spPr>
            <a:xfrm>
              <a:off x="6858000" y="403860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1E3A81F1-DE56-0354-1F62-E8EA0C817353}"/>
                </a:ext>
              </a:extLst>
            </p:cNvPr>
            <p:cNvSpPr/>
            <p:nvPr/>
          </p:nvSpPr>
          <p:spPr>
            <a:xfrm>
              <a:off x="6858000" y="403860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0">
              <a:extLst>
                <a:ext uri="{FF2B5EF4-FFF2-40B4-BE49-F238E27FC236}">
                  <a16:creationId xmlns:a16="http://schemas.microsoft.com/office/drawing/2014/main" id="{B84AE086-7620-915A-B340-7FB46BB81CC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15328" y="4721351"/>
              <a:ext cx="694944" cy="111251"/>
            </a:xfrm>
            <a:prstGeom prst="rect">
              <a:avLst/>
            </a:prstGeom>
          </p:spPr>
        </p:pic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28CDF534-17A4-EA03-6B6E-1AD304DF97BF}"/>
                </a:ext>
              </a:extLst>
            </p:cNvPr>
            <p:cNvSpPr/>
            <p:nvPr/>
          </p:nvSpPr>
          <p:spPr>
            <a:xfrm>
              <a:off x="6858000" y="475678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2">
              <a:extLst>
                <a:ext uri="{FF2B5EF4-FFF2-40B4-BE49-F238E27FC236}">
                  <a16:creationId xmlns:a16="http://schemas.microsoft.com/office/drawing/2014/main" id="{33C8AE22-D704-0799-18C7-C3609ED4FD6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5328" y="5058155"/>
              <a:ext cx="694944" cy="111251"/>
            </a:xfrm>
            <a:prstGeom prst="rect">
              <a:avLst/>
            </a:prstGeom>
          </p:spPr>
        </p:pic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C57ACA9D-5A21-5405-EBCA-B2A85062F7B5}"/>
                </a:ext>
              </a:extLst>
            </p:cNvPr>
            <p:cNvSpPr/>
            <p:nvPr/>
          </p:nvSpPr>
          <p:spPr>
            <a:xfrm>
              <a:off x="6858000" y="509396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4">
              <a:extLst>
                <a:ext uri="{FF2B5EF4-FFF2-40B4-BE49-F238E27FC236}">
                  <a16:creationId xmlns:a16="http://schemas.microsoft.com/office/drawing/2014/main" id="{34A0C203-04F2-7F42-A0BD-9CC17F2ECD89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5328" y="4372355"/>
              <a:ext cx="694944" cy="111251"/>
            </a:xfrm>
            <a:prstGeom prst="rect">
              <a:avLst/>
            </a:prstGeom>
          </p:spPr>
        </p:pic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8DB5810A-269D-44E9-E194-E84F2C091010}"/>
                </a:ext>
              </a:extLst>
            </p:cNvPr>
            <p:cNvSpPr/>
            <p:nvPr/>
          </p:nvSpPr>
          <p:spPr>
            <a:xfrm>
              <a:off x="6858000" y="440816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6">
            <a:extLst>
              <a:ext uri="{FF2B5EF4-FFF2-40B4-BE49-F238E27FC236}">
                <a16:creationId xmlns:a16="http://schemas.microsoft.com/office/drawing/2014/main" id="{BF51258D-60B4-ACA1-8364-F9FC1F020F14}"/>
              </a:ext>
            </a:extLst>
          </p:cNvPr>
          <p:cNvSpPr txBox="1"/>
          <p:nvPr/>
        </p:nvSpPr>
        <p:spPr>
          <a:xfrm>
            <a:off x="4448303" y="1408602"/>
            <a:ext cx="4171695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0980" algn="l"/>
                <a:tab pos="4027804" algn="l"/>
              </a:tabLst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1/L2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endParaRPr sz="4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700" dirty="0">
              <a:latin typeface="Calibri"/>
              <a:cs typeface="Calibri"/>
            </a:endParaRPr>
          </a:p>
          <a:p>
            <a:pPr marL="1193800">
              <a:lnSpc>
                <a:spcPct val="100000"/>
              </a:lnSpc>
            </a:pP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L2/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L3</a:t>
            </a:r>
            <a:endParaRPr sz="4000" dirty="0">
              <a:latin typeface="Calibri"/>
              <a:cs typeface="Calibri"/>
            </a:endParaRPr>
          </a:p>
        </p:txBody>
      </p:sp>
      <p:grpSp>
        <p:nvGrpSpPr>
          <p:cNvPr id="38" name="object 37">
            <a:extLst>
              <a:ext uri="{FF2B5EF4-FFF2-40B4-BE49-F238E27FC236}">
                <a16:creationId xmlns:a16="http://schemas.microsoft.com/office/drawing/2014/main" id="{9CD8094B-7224-CBA5-FEAB-EED72323401B}"/>
              </a:ext>
            </a:extLst>
          </p:cNvPr>
          <p:cNvGrpSpPr/>
          <p:nvPr/>
        </p:nvGrpSpPr>
        <p:grpSpPr>
          <a:xfrm>
            <a:off x="3614928" y="838200"/>
            <a:ext cx="8424671" cy="5824728"/>
            <a:chOff x="3614928" y="838200"/>
            <a:chExt cx="8424671" cy="5824728"/>
          </a:xfrm>
        </p:grpSpPr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CDDA868A-ABFD-5A75-7EC2-21FFCE9A9EA3}"/>
                </a:ext>
              </a:extLst>
            </p:cNvPr>
            <p:cNvSpPr/>
            <p:nvPr/>
          </p:nvSpPr>
          <p:spPr>
            <a:xfrm>
              <a:off x="4855972" y="838200"/>
              <a:ext cx="118110" cy="533400"/>
            </a:xfrm>
            <a:custGeom>
              <a:avLst/>
              <a:gdLst/>
              <a:ahLst/>
              <a:cxnLst/>
              <a:rect l="l" t="t" r="r" b="b"/>
              <a:pathLst>
                <a:path w="118110" h="533400">
                  <a:moveTo>
                    <a:pt x="14097" y="417575"/>
                  </a:moveTo>
                  <a:lnTo>
                    <a:pt x="8127" y="421132"/>
                  </a:lnTo>
                  <a:lnTo>
                    <a:pt x="2031" y="424561"/>
                  </a:lnTo>
                  <a:lnTo>
                    <a:pt x="0" y="432435"/>
                  </a:lnTo>
                  <a:lnTo>
                    <a:pt x="3555" y="438403"/>
                  </a:lnTo>
                  <a:lnTo>
                    <a:pt x="58927" y="533400"/>
                  </a:lnTo>
                  <a:lnTo>
                    <a:pt x="73585" y="508253"/>
                  </a:lnTo>
                  <a:lnTo>
                    <a:pt x="46227" y="508253"/>
                  </a:lnTo>
                  <a:lnTo>
                    <a:pt x="46227" y="461409"/>
                  </a:lnTo>
                  <a:lnTo>
                    <a:pt x="25400" y="425703"/>
                  </a:lnTo>
                  <a:lnTo>
                    <a:pt x="21970" y="419608"/>
                  </a:lnTo>
                  <a:lnTo>
                    <a:pt x="14097" y="417575"/>
                  </a:lnTo>
                  <a:close/>
                </a:path>
                <a:path w="118110" h="533400">
                  <a:moveTo>
                    <a:pt x="46227" y="461409"/>
                  </a:moveTo>
                  <a:lnTo>
                    <a:pt x="46227" y="508253"/>
                  </a:lnTo>
                  <a:lnTo>
                    <a:pt x="71627" y="508253"/>
                  </a:lnTo>
                  <a:lnTo>
                    <a:pt x="71627" y="501903"/>
                  </a:lnTo>
                  <a:lnTo>
                    <a:pt x="48005" y="501903"/>
                  </a:lnTo>
                  <a:lnTo>
                    <a:pt x="58927" y="483180"/>
                  </a:lnTo>
                  <a:lnTo>
                    <a:pt x="46227" y="461409"/>
                  </a:lnTo>
                  <a:close/>
                </a:path>
                <a:path w="118110" h="533400">
                  <a:moveTo>
                    <a:pt x="103758" y="417575"/>
                  </a:moveTo>
                  <a:lnTo>
                    <a:pt x="95885" y="419608"/>
                  </a:lnTo>
                  <a:lnTo>
                    <a:pt x="92455" y="425703"/>
                  </a:lnTo>
                  <a:lnTo>
                    <a:pt x="71627" y="461409"/>
                  </a:lnTo>
                  <a:lnTo>
                    <a:pt x="71627" y="508253"/>
                  </a:lnTo>
                  <a:lnTo>
                    <a:pt x="73585" y="508253"/>
                  </a:lnTo>
                  <a:lnTo>
                    <a:pt x="114300" y="438403"/>
                  </a:lnTo>
                  <a:lnTo>
                    <a:pt x="117855" y="432435"/>
                  </a:lnTo>
                  <a:lnTo>
                    <a:pt x="115824" y="424561"/>
                  </a:lnTo>
                  <a:lnTo>
                    <a:pt x="109727" y="421132"/>
                  </a:lnTo>
                  <a:lnTo>
                    <a:pt x="103758" y="417575"/>
                  </a:lnTo>
                  <a:close/>
                </a:path>
                <a:path w="118110" h="533400">
                  <a:moveTo>
                    <a:pt x="58927" y="483180"/>
                  </a:moveTo>
                  <a:lnTo>
                    <a:pt x="48005" y="501903"/>
                  </a:lnTo>
                  <a:lnTo>
                    <a:pt x="69850" y="501903"/>
                  </a:lnTo>
                  <a:lnTo>
                    <a:pt x="58927" y="483180"/>
                  </a:lnTo>
                  <a:close/>
                </a:path>
                <a:path w="118110" h="533400">
                  <a:moveTo>
                    <a:pt x="71627" y="461409"/>
                  </a:moveTo>
                  <a:lnTo>
                    <a:pt x="58927" y="483180"/>
                  </a:lnTo>
                  <a:lnTo>
                    <a:pt x="69850" y="501903"/>
                  </a:lnTo>
                  <a:lnTo>
                    <a:pt x="71627" y="501903"/>
                  </a:lnTo>
                  <a:lnTo>
                    <a:pt x="71627" y="461409"/>
                  </a:lnTo>
                  <a:close/>
                </a:path>
                <a:path w="118110" h="533400">
                  <a:moveTo>
                    <a:pt x="71627" y="0"/>
                  </a:moveTo>
                  <a:lnTo>
                    <a:pt x="46227" y="0"/>
                  </a:lnTo>
                  <a:lnTo>
                    <a:pt x="46227" y="461409"/>
                  </a:lnTo>
                  <a:lnTo>
                    <a:pt x="58927" y="483180"/>
                  </a:lnTo>
                  <a:lnTo>
                    <a:pt x="71627" y="46140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1">
              <a:extLst>
                <a:ext uri="{FF2B5EF4-FFF2-40B4-BE49-F238E27FC236}">
                  <a16:creationId xmlns:a16="http://schemas.microsoft.com/office/drawing/2014/main" id="{4A91BBDB-5C11-D510-4A42-26CD153CB56E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9452" y="2023872"/>
              <a:ext cx="310896" cy="894588"/>
            </a:xfrm>
            <a:prstGeom prst="rect">
              <a:avLst/>
            </a:prstGeom>
          </p:spPr>
        </p:pic>
        <p:sp>
          <p:nvSpPr>
            <p:cNvPr id="43" name="object 42">
              <a:extLst>
                <a:ext uri="{FF2B5EF4-FFF2-40B4-BE49-F238E27FC236}">
                  <a16:creationId xmlns:a16="http://schemas.microsoft.com/office/drawing/2014/main" id="{9DF685FC-C426-84FE-8C8E-9530305010AF}"/>
                </a:ext>
              </a:extLst>
            </p:cNvPr>
            <p:cNvSpPr/>
            <p:nvPr/>
          </p:nvSpPr>
          <p:spPr>
            <a:xfrm>
              <a:off x="4855972" y="2045969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30">
                  <a:moveTo>
                    <a:pt x="14097" y="581405"/>
                  </a:moveTo>
                  <a:lnTo>
                    <a:pt x="8127" y="584962"/>
                  </a:lnTo>
                  <a:lnTo>
                    <a:pt x="2031" y="588390"/>
                  </a:lnTo>
                  <a:lnTo>
                    <a:pt x="0" y="596264"/>
                  </a:lnTo>
                  <a:lnTo>
                    <a:pt x="3555" y="602233"/>
                  </a:lnTo>
                  <a:lnTo>
                    <a:pt x="58927" y="697229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0" y="583438"/>
                  </a:lnTo>
                  <a:lnTo>
                    <a:pt x="14097" y="581405"/>
                  </a:lnTo>
                  <a:close/>
                </a:path>
                <a:path w="118110" h="697230">
                  <a:moveTo>
                    <a:pt x="46227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5" y="665733"/>
                  </a:lnTo>
                  <a:lnTo>
                    <a:pt x="58927" y="647010"/>
                  </a:lnTo>
                  <a:lnTo>
                    <a:pt x="46227" y="625239"/>
                  </a:lnTo>
                  <a:close/>
                </a:path>
                <a:path w="118110" h="697230">
                  <a:moveTo>
                    <a:pt x="103758" y="581405"/>
                  </a:moveTo>
                  <a:lnTo>
                    <a:pt x="95885" y="583438"/>
                  </a:lnTo>
                  <a:lnTo>
                    <a:pt x="92455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5" y="596264"/>
                  </a:lnTo>
                  <a:lnTo>
                    <a:pt x="115824" y="588390"/>
                  </a:lnTo>
                  <a:lnTo>
                    <a:pt x="109727" y="584962"/>
                  </a:lnTo>
                  <a:lnTo>
                    <a:pt x="103758" y="581405"/>
                  </a:lnTo>
                  <a:close/>
                </a:path>
                <a:path w="118110" h="697230">
                  <a:moveTo>
                    <a:pt x="58927" y="647010"/>
                  </a:moveTo>
                  <a:lnTo>
                    <a:pt x="48005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30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30">
                  <a:moveTo>
                    <a:pt x="71627" y="0"/>
                  </a:moveTo>
                  <a:lnTo>
                    <a:pt x="46227" y="0"/>
                  </a:lnTo>
                  <a:lnTo>
                    <a:pt x="46227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5">
              <a:extLst>
                <a:ext uri="{FF2B5EF4-FFF2-40B4-BE49-F238E27FC236}">
                  <a16:creationId xmlns:a16="http://schemas.microsoft.com/office/drawing/2014/main" id="{CF071B70-B02C-5FBF-8D60-EF826B9D6DB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16752" y="3329939"/>
              <a:ext cx="310896" cy="896112"/>
            </a:xfrm>
            <a:prstGeom prst="rect">
              <a:avLst/>
            </a:prstGeom>
          </p:spPr>
        </p:pic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56CF42E4-04B6-A23E-5937-79905387DE67}"/>
                </a:ext>
              </a:extLst>
            </p:cNvPr>
            <p:cNvSpPr/>
            <p:nvPr/>
          </p:nvSpPr>
          <p:spPr>
            <a:xfrm>
              <a:off x="6113272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29">
                  <a:moveTo>
                    <a:pt x="14097" y="581406"/>
                  </a:moveTo>
                  <a:lnTo>
                    <a:pt x="8127" y="584962"/>
                  </a:lnTo>
                  <a:lnTo>
                    <a:pt x="2031" y="588391"/>
                  </a:lnTo>
                  <a:lnTo>
                    <a:pt x="0" y="596264"/>
                  </a:lnTo>
                  <a:lnTo>
                    <a:pt x="3555" y="602233"/>
                  </a:lnTo>
                  <a:lnTo>
                    <a:pt x="58927" y="697230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0" y="583438"/>
                  </a:lnTo>
                  <a:lnTo>
                    <a:pt x="14097" y="581406"/>
                  </a:lnTo>
                  <a:close/>
                </a:path>
                <a:path w="118110" h="697229">
                  <a:moveTo>
                    <a:pt x="46227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5" y="665733"/>
                  </a:lnTo>
                  <a:lnTo>
                    <a:pt x="58927" y="647010"/>
                  </a:lnTo>
                  <a:lnTo>
                    <a:pt x="46227" y="625239"/>
                  </a:lnTo>
                  <a:close/>
                </a:path>
                <a:path w="118110" h="697229">
                  <a:moveTo>
                    <a:pt x="103758" y="581406"/>
                  </a:moveTo>
                  <a:lnTo>
                    <a:pt x="95885" y="583438"/>
                  </a:lnTo>
                  <a:lnTo>
                    <a:pt x="92455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5" y="596264"/>
                  </a:lnTo>
                  <a:lnTo>
                    <a:pt x="115824" y="588391"/>
                  </a:lnTo>
                  <a:lnTo>
                    <a:pt x="109727" y="584962"/>
                  </a:lnTo>
                  <a:lnTo>
                    <a:pt x="103758" y="581406"/>
                  </a:lnTo>
                  <a:close/>
                </a:path>
                <a:path w="118110" h="697229">
                  <a:moveTo>
                    <a:pt x="58927" y="647010"/>
                  </a:moveTo>
                  <a:lnTo>
                    <a:pt x="48005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29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29">
                  <a:moveTo>
                    <a:pt x="71627" y="0"/>
                  </a:moveTo>
                  <a:lnTo>
                    <a:pt x="46227" y="0"/>
                  </a:lnTo>
                  <a:lnTo>
                    <a:pt x="46227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7">
              <a:extLst>
                <a:ext uri="{FF2B5EF4-FFF2-40B4-BE49-F238E27FC236}">
                  <a16:creationId xmlns:a16="http://schemas.microsoft.com/office/drawing/2014/main" id="{AC09EFE9-72D2-62B0-95F2-F11EFF037570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1152" y="3217164"/>
              <a:ext cx="310896" cy="896112"/>
            </a:xfrm>
            <a:prstGeom prst="rect">
              <a:avLst/>
            </a:prstGeom>
          </p:spPr>
        </p:pic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565FC879-5AE3-F4F5-704E-F6B2D76AD9EA}"/>
                </a:ext>
              </a:extLst>
            </p:cNvPr>
            <p:cNvSpPr/>
            <p:nvPr/>
          </p:nvSpPr>
          <p:spPr>
            <a:xfrm>
              <a:off x="7027672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09" h="697229">
                  <a:moveTo>
                    <a:pt x="58927" y="50219"/>
                  </a:moveTo>
                  <a:lnTo>
                    <a:pt x="46227" y="71990"/>
                  </a:lnTo>
                  <a:lnTo>
                    <a:pt x="46227" y="697230"/>
                  </a:lnTo>
                  <a:lnTo>
                    <a:pt x="71627" y="697230"/>
                  </a:lnTo>
                  <a:lnTo>
                    <a:pt x="71627" y="71990"/>
                  </a:lnTo>
                  <a:lnTo>
                    <a:pt x="58927" y="50219"/>
                  </a:lnTo>
                  <a:close/>
                </a:path>
                <a:path w="118109" h="697229">
                  <a:moveTo>
                    <a:pt x="58927" y="0"/>
                  </a:moveTo>
                  <a:lnTo>
                    <a:pt x="3555" y="94996"/>
                  </a:lnTo>
                  <a:lnTo>
                    <a:pt x="0" y="100964"/>
                  </a:lnTo>
                  <a:lnTo>
                    <a:pt x="2031" y="108838"/>
                  </a:lnTo>
                  <a:lnTo>
                    <a:pt x="8127" y="112267"/>
                  </a:lnTo>
                  <a:lnTo>
                    <a:pt x="14097" y="115824"/>
                  </a:lnTo>
                  <a:lnTo>
                    <a:pt x="21971" y="113791"/>
                  </a:lnTo>
                  <a:lnTo>
                    <a:pt x="25400" y="107696"/>
                  </a:lnTo>
                  <a:lnTo>
                    <a:pt x="46227" y="71990"/>
                  </a:lnTo>
                  <a:lnTo>
                    <a:pt x="46227" y="25146"/>
                  </a:lnTo>
                  <a:lnTo>
                    <a:pt x="73585" y="25146"/>
                  </a:lnTo>
                  <a:lnTo>
                    <a:pt x="58927" y="0"/>
                  </a:lnTo>
                  <a:close/>
                </a:path>
                <a:path w="118109" h="697229">
                  <a:moveTo>
                    <a:pt x="73585" y="25146"/>
                  </a:moveTo>
                  <a:lnTo>
                    <a:pt x="71627" y="25146"/>
                  </a:lnTo>
                  <a:lnTo>
                    <a:pt x="71627" y="71990"/>
                  </a:lnTo>
                  <a:lnTo>
                    <a:pt x="92455" y="107696"/>
                  </a:lnTo>
                  <a:lnTo>
                    <a:pt x="95884" y="113791"/>
                  </a:lnTo>
                  <a:lnTo>
                    <a:pt x="103758" y="115824"/>
                  </a:lnTo>
                  <a:lnTo>
                    <a:pt x="109727" y="112267"/>
                  </a:lnTo>
                  <a:lnTo>
                    <a:pt x="115824" y="108838"/>
                  </a:lnTo>
                  <a:lnTo>
                    <a:pt x="117855" y="100964"/>
                  </a:lnTo>
                  <a:lnTo>
                    <a:pt x="114300" y="94996"/>
                  </a:lnTo>
                  <a:lnTo>
                    <a:pt x="73585" y="25146"/>
                  </a:lnTo>
                  <a:close/>
                </a:path>
                <a:path w="118109" h="697229">
                  <a:moveTo>
                    <a:pt x="71627" y="25146"/>
                  </a:moveTo>
                  <a:lnTo>
                    <a:pt x="46227" y="25146"/>
                  </a:lnTo>
                  <a:lnTo>
                    <a:pt x="46227" y="71990"/>
                  </a:lnTo>
                  <a:lnTo>
                    <a:pt x="58927" y="50219"/>
                  </a:lnTo>
                  <a:lnTo>
                    <a:pt x="48005" y="31496"/>
                  </a:lnTo>
                  <a:lnTo>
                    <a:pt x="71627" y="31496"/>
                  </a:lnTo>
                  <a:lnTo>
                    <a:pt x="71627" y="25146"/>
                  </a:lnTo>
                  <a:close/>
                </a:path>
                <a:path w="118109" h="697229">
                  <a:moveTo>
                    <a:pt x="71627" y="31496"/>
                  </a:moveTo>
                  <a:lnTo>
                    <a:pt x="69850" y="31496"/>
                  </a:lnTo>
                  <a:lnTo>
                    <a:pt x="58927" y="50219"/>
                  </a:lnTo>
                  <a:lnTo>
                    <a:pt x="71627" y="71990"/>
                  </a:lnTo>
                  <a:lnTo>
                    <a:pt x="71627" y="31496"/>
                  </a:lnTo>
                  <a:close/>
                </a:path>
                <a:path w="118109" h="697229">
                  <a:moveTo>
                    <a:pt x="69850" y="31496"/>
                  </a:moveTo>
                  <a:lnTo>
                    <a:pt x="48005" y="31496"/>
                  </a:lnTo>
                  <a:lnTo>
                    <a:pt x="58927" y="50219"/>
                  </a:lnTo>
                  <a:lnTo>
                    <a:pt x="69850" y="31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9">
              <a:extLst>
                <a:ext uri="{FF2B5EF4-FFF2-40B4-BE49-F238E27FC236}">
                  <a16:creationId xmlns:a16="http://schemas.microsoft.com/office/drawing/2014/main" id="{B75C38A8-03BA-8BC9-0EE3-A2EA0D4CB6ED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95928" y="3965448"/>
              <a:ext cx="694943" cy="1522476"/>
            </a:xfrm>
            <a:prstGeom prst="rect">
              <a:avLst/>
            </a:prstGeom>
          </p:spPr>
        </p:pic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EA6B24D9-D0AC-36C8-FE8C-CC7303B6311A}"/>
                </a:ext>
              </a:extLst>
            </p:cNvPr>
            <p:cNvSpPr/>
            <p:nvPr/>
          </p:nvSpPr>
          <p:spPr>
            <a:xfrm>
              <a:off x="4038981" y="398526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66CA1153-85B9-8B15-6990-68E185CF1610}"/>
                </a:ext>
              </a:extLst>
            </p:cNvPr>
            <p:cNvSpPr/>
            <p:nvPr/>
          </p:nvSpPr>
          <p:spPr>
            <a:xfrm>
              <a:off x="4038981" y="398526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2">
              <a:extLst>
                <a:ext uri="{FF2B5EF4-FFF2-40B4-BE49-F238E27FC236}">
                  <a16:creationId xmlns:a16="http://schemas.microsoft.com/office/drawing/2014/main" id="{92A9CEDD-9B93-9A20-D6FF-BDB546A091FF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95928" y="4668011"/>
              <a:ext cx="694944" cy="111251"/>
            </a:xfrm>
            <a:prstGeom prst="rect">
              <a:avLst/>
            </a:prstGeom>
          </p:spPr>
        </p:pic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72B04D92-389C-8654-A6B1-B2E1D2BD65A3}"/>
                </a:ext>
              </a:extLst>
            </p:cNvPr>
            <p:cNvSpPr/>
            <p:nvPr/>
          </p:nvSpPr>
          <p:spPr>
            <a:xfrm>
              <a:off x="4038981" y="470344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4">
              <a:extLst>
                <a:ext uri="{FF2B5EF4-FFF2-40B4-BE49-F238E27FC236}">
                  <a16:creationId xmlns:a16="http://schemas.microsoft.com/office/drawing/2014/main" id="{DCD1F373-92ED-9F83-7019-2368A5F22FBD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95928" y="5004815"/>
              <a:ext cx="694944" cy="111251"/>
            </a:xfrm>
            <a:prstGeom prst="rect">
              <a:avLst/>
            </a:prstGeom>
          </p:spPr>
        </p:pic>
        <p:sp>
          <p:nvSpPr>
            <p:cNvPr id="56" name="object 55">
              <a:extLst>
                <a:ext uri="{FF2B5EF4-FFF2-40B4-BE49-F238E27FC236}">
                  <a16:creationId xmlns:a16="http://schemas.microsoft.com/office/drawing/2014/main" id="{81DD6009-1B8A-4D1A-4760-130873D0A926}"/>
                </a:ext>
              </a:extLst>
            </p:cNvPr>
            <p:cNvSpPr/>
            <p:nvPr/>
          </p:nvSpPr>
          <p:spPr>
            <a:xfrm>
              <a:off x="4038981" y="504062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6">
              <a:extLst>
                <a:ext uri="{FF2B5EF4-FFF2-40B4-BE49-F238E27FC236}">
                  <a16:creationId xmlns:a16="http://schemas.microsoft.com/office/drawing/2014/main" id="{231C5E42-3D7E-7BE3-4E26-953C03EDA390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95928" y="4319015"/>
              <a:ext cx="694944" cy="111251"/>
            </a:xfrm>
            <a:prstGeom prst="rect">
              <a:avLst/>
            </a:prstGeom>
          </p:spPr>
        </p:pic>
        <p:sp>
          <p:nvSpPr>
            <p:cNvPr id="58" name="object 57">
              <a:extLst>
                <a:ext uri="{FF2B5EF4-FFF2-40B4-BE49-F238E27FC236}">
                  <a16:creationId xmlns:a16="http://schemas.microsoft.com/office/drawing/2014/main" id="{654042A3-973C-1C46-9C15-9D0D3CC0AC5D}"/>
                </a:ext>
              </a:extLst>
            </p:cNvPr>
            <p:cNvSpPr/>
            <p:nvPr/>
          </p:nvSpPr>
          <p:spPr>
            <a:xfrm>
              <a:off x="4038981" y="435482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8">
              <a:extLst>
                <a:ext uri="{FF2B5EF4-FFF2-40B4-BE49-F238E27FC236}">
                  <a16:creationId xmlns:a16="http://schemas.microsoft.com/office/drawing/2014/main" id="{8EB5ADCC-95E1-C6F7-E57E-725B1B2E99D9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87952" y="3329939"/>
              <a:ext cx="312420" cy="896112"/>
            </a:xfrm>
            <a:prstGeom prst="rect">
              <a:avLst/>
            </a:prstGeom>
          </p:spPr>
        </p:pic>
        <p:sp>
          <p:nvSpPr>
            <p:cNvPr id="60" name="object 59">
              <a:extLst>
                <a:ext uri="{FF2B5EF4-FFF2-40B4-BE49-F238E27FC236}">
                  <a16:creationId xmlns:a16="http://schemas.microsoft.com/office/drawing/2014/main" id="{E5085F93-E9E8-842E-BE7D-79A7EA24FD17}"/>
                </a:ext>
              </a:extLst>
            </p:cNvPr>
            <p:cNvSpPr/>
            <p:nvPr/>
          </p:nvSpPr>
          <p:spPr>
            <a:xfrm>
              <a:off x="4284853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29">
                  <a:moveTo>
                    <a:pt x="14097" y="581406"/>
                  </a:moveTo>
                  <a:lnTo>
                    <a:pt x="8127" y="584962"/>
                  </a:lnTo>
                  <a:lnTo>
                    <a:pt x="2032" y="588391"/>
                  </a:lnTo>
                  <a:lnTo>
                    <a:pt x="0" y="596264"/>
                  </a:lnTo>
                  <a:lnTo>
                    <a:pt x="3556" y="602233"/>
                  </a:lnTo>
                  <a:lnTo>
                    <a:pt x="58927" y="697230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1" y="583438"/>
                  </a:lnTo>
                  <a:lnTo>
                    <a:pt x="14097" y="581406"/>
                  </a:lnTo>
                  <a:close/>
                </a:path>
                <a:path w="118110" h="697229">
                  <a:moveTo>
                    <a:pt x="46228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6" y="665733"/>
                  </a:lnTo>
                  <a:lnTo>
                    <a:pt x="58927" y="647010"/>
                  </a:lnTo>
                  <a:lnTo>
                    <a:pt x="46228" y="625239"/>
                  </a:lnTo>
                  <a:close/>
                </a:path>
                <a:path w="118110" h="697229">
                  <a:moveTo>
                    <a:pt x="103759" y="581406"/>
                  </a:moveTo>
                  <a:lnTo>
                    <a:pt x="95885" y="583438"/>
                  </a:lnTo>
                  <a:lnTo>
                    <a:pt x="92456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6" y="596264"/>
                  </a:lnTo>
                  <a:lnTo>
                    <a:pt x="115824" y="588391"/>
                  </a:lnTo>
                  <a:lnTo>
                    <a:pt x="109727" y="584962"/>
                  </a:lnTo>
                  <a:lnTo>
                    <a:pt x="103759" y="581406"/>
                  </a:lnTo>
                  <a:close/>
                </a:path>
                <a:path w="118110" h="697229">
                  <a:moveTo>
                    <a:pt x="58927" y="647010"/>
                  </a:moveTo>
                  <a:lnTo>
                    <a:pt x="48006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29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29">
                  <a:moveTo>
                    <a:pt x="71627" y="0"/>
                  </a:moveTo>
                  <a:lnTo>
                    <a:pt x="46227" y="0"/>
                  </a:lnTo>
                  <a:lnTo>
                    <a:pt x="46228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0">
              <a:extLst>
                <a:ext uri="{FF2B5EF4-FFF2-40B4-BE49-F238E27FC236}">
                  <a16:creationId xmlns:a16="http://schemas.microsoft.com/office/drawing/2014/main" id="{EA64351B-416F-0509-6F19-1C8AF04D6F06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25015" y="5486400"/>
              <a:ext cx="2714584" cy="862990"/>
            </a:xfrm>
            <a:prstGeom prst="rect">
              <a:avLst/>
            </a:prstGeom>
          </p:spPr>
        </p:pic>
        <p:pic>
          <p:nvPicPr>
            <p:cNvPr id="62" name="object 61">
              <a:extLst>
                <a:ext uri="{FF2B5EF4-FFF2-40B4-BE49-F238E27FC236}">
                  <a16:creationId xmlns:a16="http://schemas.microsoft.com/office/drawing/2014/main" id="{19AF7CF9-493F-152F-CC2A-5D5011EA54B3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14928" y="5629673"/>
              <a:ext cx="4809744" cy="760440"/>
            </a:xfrm>
            <a:prstGeom prst="rect">
              <a:avLst/>
            </a:prstGeom>
          </p:spPr>
        </p:pic>
        <p:pic>
          <p:nvPicPr>
            <p:cNvPr id="63" name="object 62">
              <a:extLst>
                <a:ext uri="{FF2B5EF4-FFF2-40B4-BE49-F238E27FC236}">
                  <a16:creationId xmlns:a16="http://schemas.microsoft.com/office/drawing/2014/main" id="{3C53269F-DDA0-C966-935E-D0F44FF5EB90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80916" y="5510784"/>
              <a:ext cx="3592067" cy="1152144"/>
            </a:xfrm>
            <a:prstGeom prst="rect">
              <a:avLst/>
            </a:prstGeom>
          </p:spPr>
        </p:pic>
        <p:sp>
          <p:nvSpPr>
            <p:cNvPr id="64" name="object 63">
              <a:extLst>
                <a:ext uri="{FF2B5EF4-FFF2-40B4-BE49-F238E27FC236}">
                  <a16:creationId xmlns:a16="http://schemas.microsoft.com/office/drawing/2014/main" id="{E241B3FF-BADF-1201-FB64-1804ED13D0F8}"/>
                </a:ext>
              </a:extLst>
            </p:cNvPr>
            <p:cNvSpPr/>
            <p:nvPr/>
          </p:nvSpPr>
          <p:spPr>
            <a:xfrm>
              <a:off x="3657600" y="5650229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4612005" y="0"/>
                  </a:moveTo>
                  <a:lnTo>
                    <a:pt x="112395" y="0"/>
                  </a:lnTo>
                  <a:lnTo>
                    <a:pt x="68633" y="8832"/>
                  </a:lnTo>
                  <a:lnTo>
                    <a:pt x="32908" y="32918"/>
                  </a:lnTo>
                  <a:lnTo>
                    <a:pt x="8828" y="68644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725"/>
                  </a:lnTo>
                  <a:lnTo>
                    <a:pt x="32908" y="641451"/>
                  </a:lnTo>
                  <a:lnTo>
                    <a:pt x="68633" y="665537"/>
                  </a:lnTo>
                  <a:lnTo>
                    <a:pt x="112395" y="674370"/>
                  </a:lnTo>
                  <a:lnTo>
                    <a:pt x="4612005" y="674370"/>
                  </a:lnTo>
                  <a:lnTo>
                    <a:pt x="4655766" y="665537"/>
                  </a:lnTo>
                  <a:lnTo>
                    <a:pt x="4691491" y="641451"/>
                  </a:lnTo>
                  <a:lnTo>
                    <a:pt x="4715571" y="605725"/>
                  </a:lnTo>
                  <a:lnTo>
                    <a:pt x="4724400" y="561975"/>
                  </a:lnTo>
                  <a:lnTo>
                    <a:pt x="4724400" y="112395"/>
                  </a:lnTo>
                  <a:lnTo>
                    <a:pt x="4715571" y="68644"/>
                  </a:lnTo>
                  <a:lnTo>
                    <a:pt x="4691491" y="32918"/>
                  </a:lnTo>
                  <a:lnTo>
                    <a:pt x="4655766" y="8832"/>
                  </a:lnTo>
                  <a:lnTo>
                    <a:pt x="461200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4">
              <a:extLst>
                <a:ext uri="{FF2B5EF4-FFF2-40B4-BE49-F238E27FC236}">
                  <a16:creationId xmlns:a16="http://schemas.microsoft.com/office/drawing/2014/main" id="{232E732C-5155-7F6D-F3BE-6DF24C3CB857}"/>
                </a:ext>
              </a:extLst>
            </p:cNvPr>
            <p:cNvSpPr/>
            <p:nvPr/>
          </p:nvSpPr>
          <p:spPr>
            <a:xfrm>
              <a:off x="3657600" y="5650229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0" y="112395"/>
                  </a:moveTo>
                  <a:lnTo>
                    <a:pt x="8828" y="68644"/>
                  </a:lnTo>
                  <a:lnTo>
                    <a:pt x="32908" y="32918"/>
                  </a:lnTo>
                  <a:lnTo>
                    <a:pt x="68633" y="8832"/>
                  </a:lnTo>
                  <a:lnTo>
                    <a:pt x="112395" y="0"/>
                  </a:lnTo>
                  <a:lnTo>
                    <a:pt x="4612005" y="0"/>
                  </a:lnTo>
                  <a:lnTo>
                    <a:pt x="4655766" y="8832"/>
                  </a:lnTo>
                  <a:lnTo>
                    <a:pt x="4691491" y="32918"/>
                  </a:lnTo>
                  <a:lnTo>
                    <a:pt x="4715571" y="68644"/>
                  </a:lnTo>
                  <a:lnTo>
                    <a:pt x="4724400" y="112395"/>
                  </a:lnTo>
                  <a:lnTo>
                    <a:pt x="4724400" y="561975"/>
                  </a:lnTo>
                  <a:lnTo>
                    <a:pt x="4715571" y="605725"/>
                  </a:lnTo>
                  <a:lnTo>
                    <a:pt x="4691491" y="641451"/>
                  </a:lnTo>
                  <a:lnTo>
                    <a:pt x="4655766" y="665537"/>
                  </a:lnTo>
                  <a:lnTo>
                    <a:pt x="4612005" y="674370"/>
                  </a:lnTo>
                  <a:lnTo>
                    <a:pt x="112395" y="674370"/>
                  </a:lnTo>
                  <a:lnTo>
                    <a:pt x="68633" y="665537"/>
                  </a:lnTo>
                  <a:lnTo>
                    <a:pt x="32908" y="641451"/>
                  </a:lnTo>
                  <a:lnTo>
                    <a:pt x="8828" y="605725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5">
            <a:extLst>
              <a:ext uri="{FF2B5EF4-FFF2-40B4-BE49-F238E27FC236}">
                <a16:creationId xmlns:a16="http://schemas.microsoft.com/office/drawing/2014/main" id="{9C8C38CB-2B5D-E441-75E1-F71DDFC8C008}"/>
              </a:ext>
            </a:extLst>
          </p:cNvPr>
          <p:cNvSpPr txBox="1"/>
          <p:nvPr/>
        </p:nvSpPr>
        <p:spPr>
          <a:xfrm>
            <a:off x="4955794" y="4522470"/>
            <a:ext cx="8235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MSHR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7ABA81A5-164B-DD2F-4690-831F8E516736}"/>
              </a:ext>
            </a:extLst>
          </p:cNvPr>
          <p:cNvSpPr txBox="1"/>
          <p:nvPr/>
        </p:nvSpPr>
        <p:spPr>
          <a:xfrm>
            <a:off x="7623175" y="4522470"/>
            <a:ext cx="706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Fill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BA45F067-4264-8A0E-6017-414E56424F42}"/>
              </a:ext>
            </a:extLst>
          </p:cNvPr>
          <p:cNvSpPr txBox="1"/>
          <p:nvPr/>
        </p:nvSpPr>
        <p:spPr>
          <a:xfrm>
            <a:off x="3126994" y="4457445"/>
            <a:ext cx="75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WB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9229A93A-DD5A-4F7C-A4D4-D58F91F7A824}"/>
              </a:ext>
            </a:extLst>
          </p:cNvPr>
          <p:cNvSpPr txBox="1"/>
          <p:nvPr/>
        </p:nvSpPr>
        <p:spPr>
          <a:xfrm>
            <a:off x="4615688" y="5639206"/>
            <a:ext cx="2808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r>
              <a:rPr sz="4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lang="en-IN" sz="4000" b="1" spc="-5" dirty="0" err="1">
                <a:solidFill>
                  <a:srgbClr val="FFFFFF"/>
                </a:solidFill>
                <a:latin typeface="Calibri"/>
                <a:cs typeface="Calibri"/>
              </a:rPr>
              <a:t>trl</a:t>
            </a:r>
            <a:r>
              <a:rPr sz="4000" b="1" spc="-5" dirty="0" err="1">
                <a:solidFill>
                  <a:srgbClr val="FFFFFF"/>
                </a:solidFill>
                <a:latin typeface="Calibri"/>
                <a:cs typeface="Calibri"/>
              </a:rPr>
              <a:t>ler</a:t>
            </a:r>
            <a:endParaRPr sz="4000" dirty="0">
              <a:latin typeface="Calibri"/>
              <a:cs typeface="Calibri"/>
            </a:endParaRPr>
          </a:p>
        </p:txBody>
      </p:sp>
      <p:grpSp>
        <p:nvGrpSpPr>
          <p:cNvPr id="70" name="object 69">
            <a:extLst>
              <a:ext uri="{FF2B5EF4-FFF2-40B4-BE49-F238E27FC236}">
                <a16:creationId xmlns:a16="http://schemas.microsoft.com/office/drawing/2014/main" id="{D8305565-C43A-0826-0887-0868050C736C}"/>
              </a:ext>
            </a:extLst>
          </p:cNvPr>
          <p:cNvGrpSpPr/>
          <p:nvPr/>
        </p:nvGrpSpPr>
        <p:grpSpPr>
          <a:xfrm>
            <a:off x="5940552" y="5158740"/>
            <a:ext cx="311150" cy="896619"/>
            <a:chOff x="5940552" y="5158740"/>
            <a:chExt cx="311150" cy="896619"/>
          </a:xfrm>
        </p:grpSpPr>
        <p:pic>
          <p:nvPicPr>
            <p:cNvPr id="71" name="object 70">
              <a:extLst>
                <a:ext uri="{FF2B5EF4-FFF2-40B4-BE49-F238E27FC236}">
                  <a16:creationId xmlns:a16="http://schemas.microsoft.com/office/drawing/2014/main" id="{9FC112E2-CDB0-8373-E18C-62F9D5095455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40552" y="5158740"/>
              <a:ext cx="310896" cy="896112"/>
            </a:xfrm>
            <a:prstGeom prst="rect">
              <a:avLst/>
            </a:prstGeom>
          </p:spPr>
        </p:pic>
        <p:sp>
          <p:nvSpPr>
            <p:cNvPr id="72" name="object 71">
              <a:extLst>
                <a:ext uri="{FF2B5EF4-FFF2-40B4-BE49-F238E27FC236}">
                  <a16:creationId xmlns:a16="http://schemas.microsoft.com/office/drawing/2014/main" id="{7CE0A07E-8290-1A4C-DE02-607BE5C5C229}"/>
                </a:ext>
              </a:extLst>
            </p:cNvPr>
            <p:cNvSpPr/>
            <p:nvPr/>
          </p:nvSpPr>
          <p:spPr>
            <a:xfrm>
              <a:off x="6037072" y="5181600"/>
              <a:ext cx="118110" cy="697865"/>
            </a:xfrm>
            <a:custGeom>
              <a:avLst/>
              <a:gdLst/>
              <a:ahLst/>
              <a:cxnLst/>
              <a:rect l="l" t="t" r="r" b="b"/>
              <a:pathLst>
                <a:path w="118110" h="697864">
                  <a:moveTo>
                    <a:pt x="14097" y="581380"/>
                  </a:moveTo>
                  <a:lnTo>
                    <a:pt x="8127" y="584911"/>
                  </a:lnTo>
                  <a:lnTo>
                    <a:pt x="2031" y="588441"/>
                  </a:lnTo>
                  <a:lnTo>
                    <a:pt x="0" y="596226"/>
                  </a:lnTo>
                  <a:lnTo>
                    <a:pt x="3555" y="602284"/>
                  </a:lnTo>
                  <a:lnTo>
                    <a:pt x="58927" y="697280"/>
                  </a:lnTo>
                  <a:lnTo>
                    <a:pt x="73614" y="672084"/>
                  </a:lnTo>
                  <a:lnTo>
                    <a:pt x="46227" y="672084"/>
                  </a:lnTo>
                  <a:lnTo>
                    <a:pt x="46227" y="625188"/>
                  </a:lnTo>
                  <a:lnTo>
                    <a:pt x="25400" y="589483"/>
                  </a:lnTo>
                  <a:lnTo>
                    <a:pt x="21970" y="583425"/>
                  </a:lnTo>
                  <a:lnTo>
                    <a:pt x="14097" y="581380"/>
                  </a:lnTo>
                  <a:close/>
                </a:path>
                <a:path w="118110" h="697864">
                  <a:moveTo>
                    <a:pt x="46227" y="625188"/>
                  </a:moveTo>
                  <a:lnTo>
                    <a:pt x="46227" y="672084"/>
                  </a:lnTo>
                  <a:lnTo>
                    <a:pt x="71627" y="672084"/>
                  </a:lnTo>
                  <a:lnTo>
                    <a:pt x="71627" y="665683"/>
                  </a:lnTo>
                  <a:lnTo>
                    <a:pt x="48005" y="665683"/>
                  </a:lnTo>
                  <a:lnTo>
                    <a:pt x="58927" y="646959"/>
                  </a:lnTo>
                  <a:lnTo>
                    <a:pt x="46227" y="625188"/>
                  </a:lnTo>
                  <a:close/>
                </a:path>
                <a:path w="118110" h="697864">
                  <a:moveTo>
                    <a:pt x="103758" y="581380"/>
                  </a:moveTo>
                  <a:lnTo>
                    <a:pt x="95885" y="583425"/>
                  </a:lnTo>
                  <a:lnTo>
                    <a:pt x="92455" y="589483"/>
                  </a:lnTo>
                  <a:lnTo>
                    <a:pt x="71627" y="625188"/>
                  </a:lnTo>
                  <a:lnTo>
                    <a:pt x="71627" y="672084"/>
                  </a:lnTo>
                  <a:lnTo>
                    <a:pt x="73614" y="672084"/>
                  </a:lnTo>
                  <a:lnTo>
                    <a:pt x="114300" y="602284"/>
                  </a:lnTo>
                  <a:lnTo>
                    <a:pt x="117855" y="596226"/>
                  </a:lnTo>
                  <a:lnTo>
                    <a:pt x="115824" y="588441"/>
                  </a:lnTo>
                  <a:lnTo>
                    <a:pt x="109727" y="584911"/>
                  </a:lnTo>
                  <a:lnTo>
                    <a:pt x="103758" y="581380"/>
                  </a:lnTo>
                  <a:close/>
                </a:path>
                <a:path w="118110" h="697864">
                  <a:moveTo>
                    <a:pt x="58927" y="646959"/>
                  </a:moveTo>
                  <a:lnTo>
                    <a:pt x="48005" y="665683"/>
                  </a:lnTo>
                  <a:lnTo>
                    <a:pt x="69850" y="665683"/>
                  </a:lnTo>
                  <a:lnTo>
                    <a:pt x="58927" y="646959"/>
                  </a:lnTo>
                  <a:close/>
                </a:path>
                <a:path w="118110" h="697864">
                  <a:moveTo>
                    <a:pt x="71627" y="625188"/>
                  </a:moveTo>
                  <a:lnTo>
                    <a:pt x="58927" y="646959"/>
                  </a:lnTo>
                  <a:lnTo>
                    <a:pt x="69850" y="665683"/>
                  </a:lnTo>
                  <a:lnTo>
                    <a:pt x="71627" y="665683"/>
                  </a:lnTo>
                  <a:lnTo>
                    <a:pt x="71627" y="625188"/>
                  </a:lnTo>
                  <a:close/>
                </a:path>
                <a:path w="118110" h="697864">
                  <a:moveTo>
                    <a:pt x="71627" y="0"/>
                  </a:moveTo>
                  <a:lnTo>
                    <a:pt x="46227" y="0"/>
                  </a:lnTo>
                  <a:lnTo>
                    <a:pt x="46227" y="625188"/>
                  </a:lnTo>
                  <a:lnTo>
                    <a:pt x="58927" y="646959"/>
                  </a:lnTo>
                  <a:lnTo>
                    <a:pt x="71627" y="625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2">
            <a:extLst>
              <a:ext uri="{FF2B5EF4-FFF2-40B4-BE49-F238E27FC236}">
                <a16:creationId xmlns:a16="http://schemas.microsoft.com/office/drawing/2014/main" id="{15D343C4-EC52-1828-D6BF-69D322C7E1B3}"/>
              </a:ext>
            </a:extLst>
          </p:cNvPr>
          <p:cNvGrpSpPr/>
          <p:nvPr/>
        </p:nvGrpSpPr>
        <p:grpSpPr>
          <a:xfrm>
            <a:off x="4187952" y="5158740"/>
            <a:ext cx="5260975" cy="1004569"/>
            <a:chOff x="4187952" y="5158740"/>
            <a:chExt cx="5260975" cy="1004569"/>
          </a:xfrm>
        </p:grpSpPr>
        <p:pic>
          <p:nvPicPr>
            <p:cNvPr id="74" name="object 73">
              <a:extLst>
                <a:ext uri="{FF2B5EF4-FFF2-40B4-BE49-F238E27FC236}">
                  <a16:creationId xmlns:a16="http://schemas.microsoft.com/office/drawing/2014/main" id="{9BFD8BBE-3504-9290-651D-EB6BE7D954E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87952" y="5158740"/>
              <a:ext cx="310896" cy="896112"/>
            </a:xfrm>
            <a:prstGeom prst="rect">
              <a:avLst/>
            </a:prstGeom>
          </p:spPr>
        </p:pic>
        <p:sp>
          <p:nvSpPr>
            <p:cNvPr id="75" name="object 74">
              <a:extLst>
                <a:ext uri="{FF2B5EF4-FFF2-40B4-BE49-F238E27FC236}">
                  <a16:creationId xmlns:a16="http://schemas.microsoft.com/office/drawing/2014/main" id="{E97FF283-80F5-BD90-9BEE-4C289CCD1DE2}"/>
                </a:ext>
              </a:extLst>
            </p:cNvPr>
            <p:cNvSpPr/>
            <p:nvPr/>
          </p:nvSpPr>
          <p:spPr>
            <a:xfrm>
              <a:off x="4284472" y="5181600"/>
              <a:ext cx="118110" cy="697865"/>
            </a:xfrm>
            <a:custGeom>
              <a:avLst/>
              <a:gdLst/>
              <a:ahLst/>
              <a:cxnLst/>
              <a:rect l="l" t="t" r="r" b="b"/>
              <a:pathLst>
                <a:path w="118110" h="697864">
                  <a:moveTo>
                    <a:pt x="14097" y="581380"/>
                  </a:moveTo>
                  <a:lnTo>
                    <a:pt x="8127" y="584911"/>
                  </a:lnTo>
                  <a:lnTo>
                    <a:pt x="2031" y="588441"/>
                  </a:lnTo>
                  <a:lnTo>
                    <a:pt x="0" y="596226"/>
                  </a:lnTo>
                  <a:lnTo>
                    <a:pt x="3555" y="602284"/>
                  </a:lnTo>
                  <a:lnTo>
                    <a:pt x="58927" y="697280"/>
                  </a:lnTo>
                  <a:lnTo>
                    <a:pt x="73614" y="672084"/>
                  </a:lnTo>
                  <a:lnTo>
                    <a:pt x="46227" y="672084"/>
                  </a:lnTo>
                  <a:lnTo>
                    <a:pt x="46227" y="625188"/>
                  </a:lnTo>
                  <a:lnTo>
                    <a:pt x="25400" y="589483"/>
                  </a:lnTo>
                  <a:lnTo>
                    <a:pt x="21970" y="583425"/>
                  </a:lnTo>
                  <a:lnTo>
                    <a:pt x="14097" y="581380"/>
                  </a:lnTo>
                  <a:close/>
                </a:path>
                <a:path w="118110" h="697864">
                  <a:moveTo>
                    <a:pt x="46227" y="625188"/>
                  </a:moveTo>
                  <a:lnTo>
                    <a:pt x="46227" y="672084"/>
                  </a:lnTo>
                  <a:lnTo>
                    <a:pt x="71627" y="672084"/>
                  </a:lnTo>
                  <a:lnTo>
                    <a:pt x="71627" y="665683"/>
                  </a:lnTo>
                  <a:lnTo>
                    <a:pt x="48005" y="665683"/>
                  </a:lnTo>
                  <a:lnTo>
                    <a:pt x="58927" y="646959"/>
                  </a:lnTo>
                  <a:lnTo>
                    <a:pt x="46227" y="625188"/>
                  </a:lnTo>
                  <a:close/>
                </a:path>
                <a:path w="118110" h="697864">
                  <a:moveTo>
                    <a:pt x="103758" y="581380"/>
                  </a:moveTo>
                  <a:lnTo>
                    <a:pt x="95885" y="583425"/>
                  </a:lnTo>
                  <a:lnTo>
                    <a:pt x="92455" y="589483"/>
                  </a:lnTo>
                  <a:lnTo>
                    <a:pt x="71627" y="625188"/>
                  </a:lnTo>
                  <a:lnTo>
                    <a:pt x="71627" y="672084"/>
                  </a:lnTo>
                  <a:lnTo>
                    <a:pt x="73614" y="672084"/>
                  </a:lnTo>
                  <a:lnTo>
                    <a:pt x="114300" y="602284"/>
                  </a:lnTo>
                  <a:lnTo>
                    <a:pt x="117855" y="596226"/>
                  </a:lnTo>
                  <a:lnTo>
                    <a:pt x="115824" y="588441"/>
                  </a:lnTo>
                  <a:lnTo>
                    <a:pt x="109727" y="584911"/>
                  </a:lnTo>
                  <a:lnTo>
                    <a:pt x="103758" y="581380"/>
                  </a:lnTo>
                  <a:close/>
                </a:path>
                <a:path w="118110" h="697864">
                  <a:moveTo>
                    <a:pt x="58927" y="646959"/>
                  </a:moveTo>
                  <a:lnTo>
                    <a:pt x="48005" y="665683"/>
                  </a:lnTo>
                  <a:lnTo>
                    <a:pt x="69850" y="665683"/>
                  </a:lnTo>
                  <a:lnTo>
                    <a:pt x="58927" y="646959"/>
                  </a:lnTo>
                  <a:close/>
                </a:path>
                <a:path w="118110" h="697864">
                  <a:moveTo>
                    <a:pt x="71627" y="625188"/>
                  </a:moveTo>
                  <a:lnTo>
                    <a:pt x="58927" y="646959"/>
                  </a:lnTo>
                  <a:lnTo>
                    <a:pt x="69850" y="665683"/>
                  </a:lnTo>
                  <a:lnTo>
                    <a:pt x="71627" y="665683"/>
                  </a:lnTo>
                  <a:lnTo>
                    <a:pt x="71627" y="625188"/>
                  </a:lnTo>
                  <a:close/>
                </a:path>
                <a:path w="118110" h="697864">
                  <a:moveTo>
                    <a:pt x="71627" y="0"/>
                  </a:moveTo>
                  <a:lnTo>
                    <a:pt x="46227" y="0"/>
                  </a:lnTo>
                  <a:lnTo>
                    <a:pt x="46227" y="625188"/>
                  </a:lnTo>
                  <a:lnTo>
                    <a:pt x="58927" y="646959"/>
                  </a:lnTo>
                  <a:lnTo>
                    <a:pt x="71627" y="625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5">
              <a:extLst>
                <a:ext uri="{FF2B5EF4-FFF2-40B4-BE49-F238E27FC236}">
                  <a16:creationId xmlns:a16="http://schemas.microsoft.com/office/drawing/2014/main" id="{9A264FEB-136E-184E-3545-56C5A797CECD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26552" y="5852160"/>
              <a:ext cx="1222248" cy="310896"/>
            </a:xfrm>
            <a:prstGeom prst="rect">
              <a:avLst/>
            </a:prstGeom>
          </p:spPr>
        </p:pic>
        <p:sp>
          <p:nvSpPr>
            <p:cNvPr id="77" name="object 76">
              <a:extLst>
                <a:ext uri="{FF2B5EF4-FFF2-40B4-BE49-F238E27FC236}">
                  <a16:creationId xmlns:a16="http://schemas.microsoft.com/office/drawing/2014/main" id="{2C9E0886-C4F7-DD36-EB97-E23221CDBEA7}"/>
                </a:ext>
              </a:extLst>
            </p:cNvPr>
            <p:cNvSpPr/>
            <p:nvPr/>
          </p:nvSpPr>
          <p:spPr>
            <a:xfrm>
              <a:off x="8382000" y="5928461"/>
              <a:ext cx="911225" cy="118110"/>
            </a:xfrm>
            <a:custGeom>
              <a:avLst/>
              <a:gdLst/>
              <a:ahLst/>
              <a:cxnLst/>
              <a:rect l="l" t="t" r="r" b="b"/>
              <a:pathLst>
                <a:path w="911225" h="118110">
                  <a:moveTo>
                    <a:pt x="100965" y="0"/>
                  </a:moveTo>
                  <a:lnTo>
                    <a:pt x="0" y="58953"/>
                  </a:lnTo>
                  <a:lnTo>
                    <a:pt x="100965" y="117906"/>
                  </a:lnTo>
                  <a:lnTo>
                    <a:pt x="108839" y="115862"/>
                  </a:lnTo>
                  <a:lnTo>
                    <a:pt x="112268" y="109804"/>
                  </a:lnTo>
                  <a:lnTo>
                    <a:pt x="115824" y="103746"/>
                  </a:lnTo>
                  <a:lnTo>
                    <a:pt x="113792" y="95961"/>
                  </a:lnTo>
                  <a:lnTo>
                    <a:pt x="72077" y="71653"/>
                  </a:lnTo>
                  <a:lnTo>
                    <a:pt x="25146" y="71653"/>
                  </a:lnTo>
                  <a:lnTo>
                    <a:pt x="25146" y="46253"/>
                  </a:lnTo>
                  <a:lnTo>
                    <a:pt x="72088" y="46253"/>
                  </a:lnTo>
                  <a:lnTo>
                    <a:pt x="113792" y="21932"/>
                  </a:lnTo>
                  <a:lnTo>
                    <a:pt x="115824" y="14160"/>
                  </a:lnTo>
                  <a:lnTo>
                    <a:pt x="112268" y="8102"/>
                  </a:lnTo>
                  <a:lnTo>
                    <a:pt x="108839" y="2044"/>
                  </a:lnTo>
                  <a:lnTo>
                    <a:pt x="100965" y="0"/>
                  </a:lnTo>
                  <a:close/>
                </a:path>
                <a:path w="911225" h="118110">
                  <a:moveTo>
                    <a:pt x="860537" y="58953"/>
                  </a:moveTo>
                  <a:lnTo>
                    <a:pt x="797178" y="95961"/>
                  </a:lnTo>
                  <a:lnTo>
                    <a:pt x="795147" y="103746"/>
                  </a:lnTo>
                  <a:lnTo>
                    <a:pt x="798576" y="109804"/>
                  </a:lnTo>
                  <a:lnTo>
                    <a:pt x="802131" y="115862"/>
                  </a:lnTo>
                  <a:lnTo>
                    <a:pt x="810005" y="117906"/>
                  </a:lnTo>
                  <a:lnTo>
                    <a:pt x="889202" y="71653"/>
                  </a:lnTo>
                  <a:lnTo>
                    <a:pt x="885825" y="71653"/>
                  </a:lnTo>
                  <a:lnTo>
                    <a:pt x="885825" y="69926"/>
                  </a:lnTo>
                  <a:lnTo>
                    <a:pt x="879348" y="69926"/>
                  </a:lnTo>
                  <a:lnTo>
                    <a:pt x="860537" y="58953"/>
                  </a:lnTo>
                  <a:close/>
                </a:path>
                <a:path w="911225" h="118110">
                  <a:moveTo>
                    <a:pt x="72088" y="46253"/>
                  </a:moveTo>
                  <a:lnTo>
                    <a:pt x="25146" y="46253"/>
                  </a:lnTo>
                  <a:lnTo>
                    <a:pt x="25146" y="71653"/>
                  </a:lnTo>
                  <a:lnTo>
                    <a:pt x="72077" y="71653"/>
                  </a:lnTo>
                  <a:lnTo>
                    <a:pt x="69117" y="69926"/>
                  </a:lnTo>
                  <a:lnTo>
                    <a:pt x="31496" y="69926"/>
                  </a:lnTo>
                  <a:lnTo>
                    <a:pt x="31496" y="47980"/>
                  </a:lnTo>
                  <a:lnTo>
                    <a:pt x="69126" y="47980"/>
                  </a:lnTo>
                  <a:lnTo>
                    <a:pt x="72088" y="46253"/>
                  </a:lnTo>
                  <a:close/>
                </a:path>
                <a:path w="911225" h="118110">
                  <a:moveTo>
                    <a:pt x="838766" y="46253"/>
                  </a:moveTo>
                  <a:lnTo>
                    <a:pt x="72088" y="46253"/>
                  </a:lnTo>
                  <a:lnTo>
                    <a:pt x="50309" y="58954"/>
                  </a:lnTo>
                  <a:lnTo>
                    <a:pt x="72077" y="71653"/>
                  </a:lnTo>
                  <a:lnTo>
                    <a:pt x="838766" y="71653"/>
                  </a:lnTo>
                  <a:lnTo>
                    <a:pt x="860537" y="58953"/>
                  </a:lnTo>
                  <a:lnTo>
                    <a:pt x="838766" y="46253"/>
                  </a:lnTo>
                  <a:close/>
                </a:path>
                <a:path w="911225" h="118110">
                  <a:moveTo>
                    <a:pt x="889202" y="46253"/>
                  </a:moveTo>
                  <a:lnTo>
                    <a:pt x="885825" y="46253"/>
                  </a:lnTo>
                  <a:lnTo>
                    <a:pt x="885825" y="71653"/>
                  </a:lnTo>
                  <a:lnTo>
                    <a:pt x="889202" y="71653"/>
                  </a:lnTo>
                  <a:lnTo>
                    <a:pt x="910971" y="58953"/>
                  </a:lnTo>
                  <a:lnTo>
                    <a:pt x="889202" y="46253"/>
                  </a:lnTo>
                  <a:close/>
                </a:path>
                <a:path w="911225" h="118110">
                  <a:moveTo>
                    <a:pt x="31496" y="47980"/>
                  </a:moveTo>
                  <a:lnTo>
                    <a:pt x="31496" y="69926"/>
                  </a:lnTo>
                  <a:lnTo>
                    <a:pt x="50309" y="58954"/>
                  </a:lnTo>
                  <a:lnTo>
                    <a:pt x="31496" y="47980"/>
                  </a:lnTo>
                  <a:close/>
                </a:path>
                <a:path w="911225" h="118110">
                  <a:moveTo>
                    <a:pt x="50309" y="58954"/>
                  </a:moveTo>
                  <a:lnTo>
                    <a:pt x="31496" y="69926"/>
                  </a:lnTo>
                  <a:lnTo>
                    <a:pt x="69117" y="69926"/>
                  </a:lnTo>
                  <a:lnTo>
                    <a:pt x="50309" y="58954"/>
                  </a:lnTo>
                  <a:close/>
                </a:path>
                <a:path w="911225" h="118110">
                  <a:moveTo>
                    <a:pt x="879348" y="47980"/>
                  </a:moveTo>
                  <a:lnTo>
                    <a:pt x="860537" y="58953"/>
                  </a:lnTo>
                  <a:lnTo>
                    <a:pt x="879348" y="69926"/>
                  </a:lnTo>
                  <a:lnTo>
                    <a:pt x="879348" y="47980"/>
                  </a:lnTo>
                  <a:close/>
                </a:path>
                <a:path w="911225" h="118110">
                  <a:moveTo>
                    <a:pt x="885825" y="47980"/>
                  </a:moveTo>
                  <a:lnTo>
                    <a:pt x="879348" y="47980"/>
                  </a:lnTo>
                  <a:lnTo>
                    <a:pt x="879348" y="69926"/>
                  </a:lnTo>
                  <a:lnTo>
                    <a:pt x="885825" y="69926"/>
                  </a:lnTo>
                  <a:lnTo>
                    <a:pt x="885825" y="47980"/>
                  </a:lnTo>
                  <a:close/>
                </a:path>
                <a:path w="911225" h="118110">
                  <a:moveTo>
                    <a:pt x="69126" y="47980"/>
                  </a:moveTo>
                  <a:lnTo>
                    <a:pt x="31496" y="47980"/>
                  </a:lnTo>
                  <a:lnTo>
                    <a:pt x="50311" y="58953"/>
                  </a:lnTo>
                  <a:lnTo>
                    <a:pt x="69126" y="47980"/>
                  </a:lnTo>
                  <a:close/>
                </a:path>
                <a:path w="911225" h="118110">
                  <a:moveTo>
                    <a:pt x="810005" y="0"/>
                  </a:moveTo>
                  <a:lnTo>
                    <a:pt x="802131" y="2044"/>
                  </a:lnTo>
                  <a:lnTo>
                    <a:pt x="798576" y="8102"/>
                  </a:lnTo>
                  <a:lnTo>
                    <a:pt x="795147" y="14160"/>
                  </a:lnTo>
                  <a:lnTo>
                    <a:pt x="797178" y="21932"/>
                  </a:lnTo>
                  <a:lnTo>
                    <a:pt x="803148" y="25476"/>
                  </a:lnTo>
                  <a:lnTo>
                    <a:pt x="860537" y="58953"/>
                  </a:lnTo>
                  <a:lnTo>
                    <a:pt x="879348" y="47980"/>
                  </a:lnTo>
                  <a:lnTo>
                    <a:pt x="885825" y="47980"/>
                  </a:lnTo>
                  <a:lnTo>
                    <a:pt x="885825" y="46253"/>
                  </a:lnTo>
                  <a:lnTo>
                    <a:pt x="889202" y="46253"/>
                  </a:lnTo>
                  <a:lnTo>
                    <a:pt x="810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557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949F-76B9-7C6B-3ADA-400BBC5D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complete picture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38878-4C17-637E-2650-C26F58331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buffer: For storing the outstanding data coming from outer levels of caches. </a:t>
            </a:r>
          </a:p>
          <a:p>
            <a:r>
              <a:rPr lang="en-US" dirty="0"/>
              <a:t>MSHRs: For storing outstanding misses </a:t>
            </a:r>
          </a:p>
          <a:p>
            <a:r>
              <a:rPr lang="en-US" dirty="0"/>
              <a:t>Writeback q: For storing pending writeback requests to the next level. </a:t>
            </a:r>
          </a:p>
          <a:p>
            <a:r>
              <a:rPr lang="en-US" dirty="0"/>
              <a:t>All these structures are used between two levels of the memory hierarchy 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CE146-DBCA-2C79-F109-3D1D689F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A9748-84C7-C1E6-85D8-2D0CAE8F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48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932D-0D5E-E8BC-E836-735145F1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94AC-063A-2569-599A-ED9502C0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understand some terms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45C2-598C-6916-31F5-C8B11BA7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Hit, Miss (miss rate or MPKI), Miss penalty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Sequence of events in a typical cache hierarchy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Reduce hit time, miss rate, MPKI, and miss penalty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MPKI and not miss rate?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F9B66-7F60-5841-C055-199BB35E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328D6-1893-5870-3455-CD958F4D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23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2762-32DD-E050-3EC7-2483F8DD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MPKI vs Miss 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2036-D0E1-C72F-B458-6B04D1762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MPKI: Misses per Kilo instructions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Provides the global picture of the effect of caches on performance.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Miss rate is local to that cache (myopic view).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BE3BC-790A-C4F5-63F0-A313FA72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B1F16-28B8-D47E-55B1-23D43921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48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BB22-2A39-E605-7F55-2EBCECBB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hierarchy contd.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98C85-5420-866D-DA64-C12797C9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3EB57-B70F-C0A4-B986-13F2AC0C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23A50EDA-640D-F852-151D-12906C14FE81}"/>
              </a:ext>
            </a:extLst>
          </p:cNvPr>
          <p:cNvGrpSpPr/>
          <p:nvPr/>
        </p:nvGrpSpPr>
        <p:grpSpPr>
          <a:xfrm>
            <a:off x="7848603" y="5737690"/>
            <a:ext cx="2057400" cy="991235"/>
            <a:chOff x="7200900" y="5471146"/>
            <a:chExt cx="2057400" cy="991235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599357BE-A772-46C1-8783-DC718FE68C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0900" y="5471146"/>
              <a:ext cx="2057400" cy="990627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C5FF01A0-97CA-BF3D-FE32-43256D28B784}"/>
                </a:ext>
              </a:extLst>
            </p:cNvPr>
            <p:cNvSpPr/>
            <p:nvPr/>
          </p:nvSpPr>
          <p:spPr>
            <a:xfrm>
              <a:off x="7239000" y="5486400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8288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828800" y="914400"/>
                  </a:lnTo>
                  <a:lnTo>
                    <a:pt x="1876982" y="906630"/>
                  </a:lnTo>
                  <a:lnTo>
                    <a:pt x="1918819" y="884994"/>
                  </a:lnTo>
                  <a:lnTo>
                    <a:pt x="1951805" y="852003"/>
                  </a:lnTo>
                  <a:lnTo>
                    <a:pt x="1973433" y="810168"/>
                  </a:lnTo>
                  <a:lnTo>
                    <a:pt x="1981200" y="762000"/>
                  </a:lnTo>
                  <a:lnTo>
                    <a:pt x="1981200" y="152400"/>
                  </a:lnTo>
                  <a:lnTo>
                    <a:pt x="1973433" y="104217"/>
                  </a:lnTo>
                  <a:lnTo>
                    <a:pt x="1951805" y="62380"/>
                  </a:lnTo>
                  <a:lnTo>
                    <a:pt x="1918819" y="29394"/>
                  </a:lnTo>
                  <a:lnTo>
                    <a:pt x="1876982" y="776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4189542F-773F-F1E9-CDCE-E3F2CA0EC519}"/>
                </a:ext>
              </a:extLst>
            </p:cNvPr>
            <p:cNvSpPr/>
            <p:nvPr/>
          </p:nvSpPr>
          <p:spPr>
            <a:xfrm>
              <a:off x="7239000" y="5486400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828800" y="0"/>
                  </a:lnTo>
                  <a:lnTo>
                    <a:pt x="1876982" y="7766"/>
                  </a:lnTo>
                  <a:lnTo>
                    <a:pt x="1918819" y="29394"/>
                  </a:lnTo>
                  <a:lnTo>
                    <a:pt x="1951805" y="62380"/>
                  </a:lnTo>
                  <a:lnTo>
                    <a:pt x="1973433" y="104217"/>
                  </a:lnTo>
                  <a:lnTo>
                    <a:pt x="1981200" y="152400"/>
                  </a:lnTo>
                  <a:lnTo>
                    <a:pt x="1981200" y="762000"/>
                  </a:lnTo>
                  <a:lnTo>
                    <a:pt x="1973433" y="810168"/>
                  </a:lnTo>
                  <a:lnTo>
                    <a:pt x="1951805" y="852003"/>
                  </a:lnTo>
                  <a:lnTo>
                    <a:pt x="1918819" y="884994"/>
                  </a:lnTo>
                  <a:lnTo>
                    <a:pt x="1876982" y="906630"/>
                  </a:lnTo>
                  <a:lnTo>
                    <a:pt x="1828800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6">
            <a:extLst>
              <a:ext uri="{FF2B5EF4-FFF2-40B4-BE49-F238E27FC236}">
                <a16:creationId xmlns:a16="http://schemas.microsoft.com/office/drawing/2014/main" id="{3B29B2E3-6C01-35C4-392A-70EA168A4BA8}"/>
              </a:ext>
            </a:extLst>
          </p:cNvPr>
          <p:cNvGrpSpPr/>
          <p:nvPr/>
        </p:nvGrpSpPr>
        <p:grpSpPr>
          <a:xfrm>
            <a:off x="7848603" y="3680290"/>
            <a:ext cx="2057400" cy="991235"/>
            <a:chOff x="7200900" y="3413746"/>
            <a:chExt cx="2057400" cy="991235"/>
          </a:xfrm>
        </p:grpSpPr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C16DFD41-C7A2-D38C-D8E3-40E636B9B8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0900" y="3413746"/>
              <a:ext cx="2057400" cy="990627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0882B440-01A3-1536-917A-A35BBD06386B}"/>
                </a:ext>
              </a:extLst>
            </p:cNvPr>
            <p:cNvSpPr/>
            <p:nvPr/>
          </p:nvSpPr>
          <p:spPr>
            <a:xfrm>
              <a:off x="7239000" y="3429000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8288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828800" y="914400"/>
                  </a:lnTo>
                  <a:lnTo>
                    <a:pt x="1876982" y="906633"/>
                  </a:lnTo>
                  <a:lnTo>
                    <a:pt x="1918819" y="885005"/>
                  </a:lnTo>
                  <a:lnTo>
                    <a:pt x="1951805" y="852019"/>
                  </a:lnTo>
                  <a:lnTo>
                    <a:pt x="1973433" y="810182"/>
                  </a:lnTo>
                  <a:lnTo>
                    <a:pt x="1981200" y="762000"/>
                  </a:lnTo>
                  <a:lnTo>
                    <a:pt x="1981200" y="152400"/>
                  </a:lnTo>
                  <a:lnTo>
                    <a:pt x="1973433" y="104217"/>
                  </a:lnTo>
                  <a:lnTo>
                    <a:pt x="1951805" y="62380"/>
                  </a:lnTo>
                  <a:lnTo>
                    <a:pt x="1918819" y="29394"/>
                  </a:lnTo>
                  <a:lnTo>
                    <a:pt x="1876982" y="776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24B4A046-EE49-629F-E219-8DF59E4C4154}"/>
                </a:ext>
              </a:extLst>
            </p:cNvPr>
            <p:cNvSpPr/>
            <p:nvPr/>
          </p:nvSpPr>
          <p:spPr>
            <a:xfrm>
              <a:off x="7239000" y="3429000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828800" y="0"/>
                  </a:lnTo>
                  <a:lnTo>
                    <a:pt x="1876982" y="7766"/>
                  </a:lnTo>
                  <a:lnTo>
                    <a:pt x="1918819" y="29394"/>
                  </a:lnTo>
                  <a:lnTo>
                    <a:pt x="1951805" y="62380"/>
                  </a:lnTo>
                  <a:lnTo>
                    <a:pt x="1973433" y="104217"/>
                  </a:lnTo>
                  <a:lnTo>
                    <a:pt x="1981200" y="152400"/>
                  </a:lnTo>
                  <a:lnTo>
                    <a:pt x="1981200" y="762000"/>
                  </a:lnTo>
                  <a:lnTo>
                    <a:pt x="1973433" y="810182"/>
                  </a:lnTo>
                  <a:lnTo>
                    <a:pt x="1951805" y="852019"/>
                  </a:lnTo>
                  <a:lnTo>
                    <a:pt x="1918819" y="885005"/>
                  </a:lnTo>
                  <a:lnTo>
                    <a:pt x="1876982" y="906633"/>
                  </a:lnTo>
                  <a:lnTo>
                    <a:pt x="18288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46A19942-BEDE-9443-2522-0A20ADCAC7C8}"/>
              </a:ext>
            </a:extLst>
          </p:cNvPr>
          <p:cNvGrpSpPr/>
          <p:nvPr/>
        </p:nvGrpSpPr>
        <p:grpSpPr>
          <a:xfrm>
            <a:off x="7848603" y="1851490"/>
            <a:ext cx="2057400" cy="991235"/>
            <a:chOff x="7200900" y="1584946"/>
            <a:chExt cx="2057400" cy="991235"/>
          </a:xfrm>
        </p:grpSpPr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213DEF21-C04A-BEA7-1BD4-162C9397B7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0900" y="1584946"/>
              <a:ext cx="2057400" cy="990627"/>
            </a:xfrm>
            <a:prstGeom prst="rect">
              <a:avLst/>
            </a:prstGeom>
          </p:spPr>
        </p:pic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64EB5E3D-5C66-860E-CCED-1381230103B0}"/>
                </a:ext>
              </a:extLst>
            </p:cNvPr>
            <p:cNvSpPr/>
            <p:nvPr/>
          </p:nvSpPr>
          <p:spPr>
            <a:xfrm>
              <a:off x="7239000" y="160019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8288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828800" y="914400"/>
                  </a:lnTo>
                  <a:lnTo>
                    <a:pt x="1876982" y="906633"/>
                  </a:lnTo>
                  <a:lnTo>
                    <a:pt x="1918819" y="885005"/>
                  </a:lnTo>
                  <a:lnTo>
                    <a:pt x="1951805" y="852019"/>
                  </a:lnTo>
                  <a:lnTo>
                    <a:pt x="1973433" y="810182"/>
                  </a:lnTo>
                  <a:lnTo>
                    <a:pt x="1981200" y="762000"/>
                  </a:lnTo>
                  <a:lnTo>
                    <a:pt x="1981200" y="152400"/>
                  </a:lnTo>
                  <a:lnTo>
                    <a:pt x="1973433" y="104217"/>
                  </a:lnTo>
                  <a:lnTo>
                    <a:pt x="1951805" y="62380"/>
                  </a:lnTo>
                  <a:lnTo>
                    <a:pt x="1918819" y="29394"/>
                  </a:lnTo>
                  <a:lnTo>
                    <a:pt x="1876982" y="776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8A47DC60-A3AE-504B-A316-5F4BDE74CF7C}"/>
                </a:ext>
              </a:extLst>
            </p:cNvPr>
            <p:cNvSpPr/>
            <p:nvPr/>
          </p:nvSpPr>
          <p:spPr>
            <a:xfrm>
              <a:off x="7239000" y="160019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828800" y="0"/>
                  </a:lnTo>
                  <a:lnTo>
                    <a:pt x="1876982" y="7766"/>
                  </a:lnTo>
                  <a:lnTo>
                    <a:pt x="1918819" y="29394"/>
                  </a:lnTo>
                  <a:lnTo>
                    <a:pt x="1951805" y="62380"/>
                  </a:lnTo>
                  <a:lnTo>
                    <a:pt x="1973433" y="104217"/>
                  </a:lnTo>
                  <a:lnTo>
                    <a:pt x="1981200" y="152400"/>
                  </a:lnTo>
                  <a:lnTo>
                    <a:pt x="1981200" y="762000"/>
                  </a:lnTo>
                  <a:lnTo>
                    <a:pt x="1973433" y="810182"/>
                  </a:lnTo>
                  <a:lnTo>
                    <a:pt x="1951805" y="852019"/>
                  </a:lnTo>
                  <a:lnTo>
                    <a:pt x="1918819" y="885005"/>
                  </a:lnTo>
                  <a:lnTo>
                    <a:pt x="1876982" y="906633"/>
                  </a:lnTo>
                  <a:lnTo>
                    <a:pt x="18288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9B2FC179-8F38-8132-2EDF-115D18AAC747}"/>
              </a:ext>
            </a:extLst>
          </p:cNvPr>
          <p:cNvGrpSpPr/>
          <p:nvPr/>
        </p:nvGrpSpPr>
        <p:grpSpPr>
          <a:xfrm>
            <a:off x="838200" y="1318114"/>
            <a:ext cx="5105400" cy="1330960"/>
            <a:chOff x="190497" y="1051570"/>
            <a:chExt cx="5105400" cy="1330960"/>
          </a:xfrm>
        </p:grpSpPr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07C2F676-F01D-27DB-743E-29D5B5975BC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497" y="1051570"/>
              <a:ext cx="5105405" cy="1295378"/>
            </a:xfrm>
            <a:prstGeom prst="rect">
              <a:avLst/>
            </a:prstGeom>
          </p:spPr>
        </p:pic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3379A7B0-2055-239A-8181-A877DDE6FEA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44" y="1123187"/>
              <a:ext cx="4489704" cy="1258824"/>
            </a:xfrm>
            <a:prstGeom prst="rect">
              <a:avLst/>
            </a:prstGeom>
          </p:spPr>
        </p:pic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E78C50C0-413E-C9E2-7D5C-42B05056A71D}"/>
                </a:ext>
              </a:extLst>
            </p:cNvPr>
            <p:cNvSpPr/>
            <p:nvPr/>
          </p:nvSpPr>
          <p:spPr>
            <a:xfrm>
              <a:off x="228600" y="10667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4826000" y="0"/>
                  </a:moveTo>
                  <a:lnTo>
                    <a:pt x="203200" y="0"/>
                  </a:lnTo>
                  <a:lnTo>
                    <a:pt x="156610" y="5364"/>
                  </a:lnTo>
                  <a:lnTo>
                    <a:pt x="113840" y="20645"/>
                  </a:lnTo>
                  <a:lnTo>
                    <a:pt x="76111" y="44626"/>
                  </a:lnTo>
                  <a:lnTo>
                    <a:pt x="44642" y="76090"/>
                  </a:lnTo>
                  <a:lnTo>
                    <a:pt x="20654" y="113818"/>
                  </a:lnTo>
                  <a:lnTo>
                    <a:pt x="5367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7" y="1062605"/>
                  </a:lnTo>
                  <a:lnTo>
                    <a:pt x="20654" y="1105381"/>
                  </a:lnTo>
                  <a:lnTo>
                    <a:pt x="44642" y="1143109"/>
                  </a:lnTo>
                  <a:lnTo>
                    <a:pt x="76111" y="1174573"/>
                  </a:lnTo>
                  <a:lnTo>
                    <a:pt x="113840" y="1198554"/>
                  </a:lnTo>
                  <a:lnTo>
                    <a:pt x="156610" y="1213835"/>
                  </a:lnTo>
                  <a:lnTo>
                    <a:pt x="203200" y="1219200"/>
                  </a:lnTo>
                  <a:lnTo>
                    <a:pt x="4826000" y="1219200"/>
                  </a:lnTo>
                  <a:lnTo>
                    <a:pt x="4872605" y="1213835"/>
                  </a:lnTo>
                  <a:lnTo>
                    <a:pt x="4915381" y="1198554"/>
                  </a:lnTo>
                  <a:lnTo>
                    <a:pt x="4953109" y="1174573"/>
                  </a:lnTo>
                  <a:lnTo>
                    <a:pt x="4984573" y="1143109"/>
                  </a:lnTo>
                  <a:lnTo>
                    <a:pt x="5008554" y="1105381"/>
                  </a:lnTo>
                  <a:lnTo>
                    <a:pt x="5023835" y="1062605"/>
                  </a:lnTo>
                  <a:lnTo>
                    <a:pt x="5029200" y="1016000"/>
                  </a:lnTo>
                  <a:lnTo>
                    <a:pt x="5029200" y="203200"/>
                  </a:lnTo>
                  <a:lnTo>
                    <a:pt x="5023835" y="156594"/>
                  </a:lnTo>
                  <a:lnTo>
                    <a:pt x="5008554" y="113818"/>
                  </a:lnTo>
                  <a:lnTo>
                    <a:pt x="4984573" y="76090"/>
                  </a:lnTo>
                  <a:lnTo>
                    <a:pt x="4953109" y="44626"/>
                  </a:lnTo>
                  <a:lnTo>
                    <a:pt x="4915381" y="20645"/>
                  </a:lnTo>
                  <a:lnTo>
                    <a:pt x="4872605" y="5364"/>
                  </a:lnTo>
                  <a:lnTo>
                    <a:pt x="4826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5B5B75A9-4FC6-40D5-9BF6-42DB08738634}"/>
                </a:ext>
              </a:extLst>
            </p:cNvPr>
            <p:cNvSpPr/>
            <p:nvPr/>
          </p:nvSpPr>
          <p:spPr>
            <a:xfrm>
              <a:off x="228600" y="10667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203200"/>
                  </a:moveTo>
                  <a:lnTo>
                    <a:pt x="5367" y="156594"/>
                  </a:lnTo>
                  <a:lnTo>
                    <a:pt x="20654" y="113818"/>
                  </a:lnTo>
                  <a:lnTo>
                    <a:pt x="44642" y="76090"/>
                  </a:lnTo>
                  <a:lnTo>
                    <a:pt x="76111" y="44626"/>
                  </a:lnTo>
                  <a:lnTo>
                    <a:pt x="113840" y="20645"/>
                  </a:lnTo>
                  <a:lnTo>
                    <a:pt x="156610" y="5364"/>
                  </a:lnTo>
                  <a:lnTo>
                    <a:pt x="203200" y="0"/>
                  </a:lnTo>
                  <a:lnTo>
                    <a:pt x="4826000" y="0"/>
                  </a:lnTo>
                  <a:lnTo>
                    <a:pt x="4872605" y="5364"/>
                  </a:lnTo>
                  <a:lnTo>
                    <a:pt x="4915381" y="20645"/>
                  </a:lnTo>
                  <a:lnTo>
                    <a:pt x="4953109" y="44626"/>
                  </a:lnTo>
                  <a:lnTo>
                    <a:pt x="4984573" y="76090"/>
                  </a:lnTo>
                  <a:lnTo>
                    <a:pt x="5008554" y="113818"/>
                  </a:lnTo>
                  <a:lnTo>
                    <a:pt x="5023835" y="156594"/>
                  </a:lnTo>
                  <a:lnTo>
                    <a:pt x="5029200" y="203200"/>
                  </a:lnTo>
                  <a:lnTo>
                    <a:pt x="5029200" y="1016000"/>
                  </a:lnTo>
                  <a:lnTo>
                    <a:pt x="5023835" y="1062605"/>
                  </a:lnTo>
                  <a:lnTo>
                    <a:pt x="5008554" y="1105381"/>
                  </a:lnTo>
                  <a:lnTo>
                    <a:pt x="4984573" y="1143109"/>
                  </a:lnTo>
                  <a:lnTo>
                    <a:pt x="4953109" y="1174573"/>
                  </a:lnTo>
                  <a:lnTo>
                    <a:pt x="4915381" y="1198554"/>
                  </a:lnTo>
                  <a:lnTo>
                    <a:pt x="4872605" y="1213835"/>
                  </a:lnTo>
                  <a:lnTo>
                    <a:pt x="4826000" y="1219200"/>
                  </a:lnTo>
                  <a:lnTo>
                    <a:pt x="203200" y="1219200"/>
                  </a:lnTo>
                  <a:lnTo>
                    <a:pt x="156610" y="1213835"/>
                  </a:lnTo>
                  <a:lnTo>
                    <a:pt x="113840" y="1198554"/>
                  </a:lnTo>
                  <a:lnTo>
                    <a:pt x="76111" y="1174573"/>
                  </a:lnTo>
                  <a:lnTo>
                    <a:pt x="44642" y="1143109"/>
                  </a:lnTo>
                  <a:lnTo>
                    <a:pt x="20654" y="1105381"/>
                  </a:lnTo>
                  <a:lnTo>
                    <a:pt x="5367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884B4E3A-37E8-C898-DD2D-1B8427DA5D8C}"/>
              </a:ext>
            </a:extLst>
          </p:cNvPr>
          <p:cNvSpPr txBox="1"/>
          <p:nvPr/>
        </p:nvSpPr>
        <p:spPr>
          <a:xfrm>
            <a:off x="1471983" y="1494634"/>
            <a:ext cx="392620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mbria"/>
                <a:cs typeface="Cambria"/>
              </a:rPr>
              <a:t>Inclusive: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L1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blocks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are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present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 L</a:t>
            </a:r>
            <a:r>
              <a:rPr lang="en-US" sz="2800" spc="-5" dirty="0">
                <a:latin typeface="Cambria"/>
                <a:cs typeface="Cambria"/>
              </a:rPr>
              <a:t>LC</a:t>
            </a:r>
            <a:endParaRPr sz="2800" dirty="0">
              <a:latin typeface="Cambria"/>
              <a:cs typeface="Cambria"/>
            </a:endParaRPr>
          </a:p>
        </p:txBody>
      </p:sp>
      <p:grpSp>
        <p:nvGrpSpPr>
          <p:cNvPr id="24" name="object 23">
            <a:extLst>
              <a:ext uri="{FF2B5EF4-FFF2-40B4-BE49-F238E27FC236}">
                <a16:creationId xmlns:a16="http://schemas.microsoft.com/office/drawing/2014/main" id="{0DF5EA53-1AA4-0D1A-1270-38971F80EB9E}"/>
              </a:ext>
            </a:extLst>
          </p:cNvPr>
          <p:cNvGrpSpPr/>
          <p:nvPr/>
        </p:nvGrpSpPr>
        <p:grpSpPr>
          <a:xfrm>
            <a:off x="838200" y="5051914"/>
            <a:ext cx="5358765" cy="1330960"/>
            <a:chOff x="190497" y="4785370"/>
            <a:chExt cx="5358765" cy="1330960"/>
          </a:xfrm>
        </p:grpSpPr>
        <p:pic>
          <p:nvPicPr>
            <p:cNvPr id="25" name="object 24">
              <a:extLst>
                <a:ext uri="{FF2B5EF4-FFF2-40B4-BE49-F238E27FC236}">
                  <a16:creationId xmlns:a16="http://schemas.microsoft.com/office/drawing/2014/main" id="{309306C0-096D-1F34-D02E-C912632145A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497" y="4785370"/>
              <a:ext cx="5334005" cy="1295378"/>
            </a:xfrm>
            <a:prstGeom prst="rect">
              <a:avLst/>
            </a:prstGeom>
          </p:spPr>
        </p:pic>
        <p:pic>
          <p:nvPicPr>
            <p:cNvPr id="26" name="object 25">
              <a:extLst>
                <a:ext uri="{FF2B5EF4-FFF2-40B4-BE49-F238E27FC236}">
                  <a16:creationId xmlns:a16="http://schemas.microsoft.com/office/drawing/2014/main" id="{3B31A84E-B394-53A7-6FEA-943731BA6F2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644" y="4856988"/>
              <a:ext cx="4968239" cy="1258824"/>
            </a:xfrm>
            <a:prstGeom prst="rect">
              <a:avLst/>
            </a:prstGeom>
          </p:spPr>
        </p:pic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A33AAA04-D15D-CB57-DFD0-3DC9571A6868}"/>
                </a:ext>
              </a:extLst>
            </p:cNvPr>
            <p:cNvSpPr/>
            <p:nvPr/>
          </p:nvSpPr>
          <p:spPr>
            <a:xfrm>
              <a:off x="228600" y="4800600"/>
              <a:ext cx="5257800" cy="1219200"/>
            </a:xfrm>
            <a:custGeom>
              <a:avLst/>
              <a:gdLst/>
              <a:ahLst/>
              <a:cxnLst/>
              <a:rect l="l" t="t" r="r" b="b"/>
              <a:pathLst>
                <a:path w="5257800" h="1219200">
                  <a:moveTo>
                    <a:pt x="5054600" y="0"/>
                  </a:moveTo>
                  <a:lnTo>
                    <a:pt x="203200" y="0"/>
                  </a:lnTo>
                  <a:lnTo>
                    <a:pt x="156610" y="5364"/>
                  </a:lnTo>
                  <a:lnTo>
                    <a:pt x="113840" y="20645"/>
                  </a:lnTo>
                  <a:lnTo>
                    <a:pt x="76111" y="44626"/>
                  </a:lnTo>
                  <a:lnTo>
                    <a:pt x="44642" y="76090"/>
                  </a:lnTo>
                  <a:lnTo>
                    <a:pt x="20654" y="113818"/>
                  </a:lnTo>
                  <a:lnTo>
                    <a:pt x="5367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7" y="1062589"/>
                  </a:lnTo>
                  <a:lnTo>
                    <a:pt x="20654" y="1105359"/>
                  </a:lnTo>
                  <a:lnTo>
                    <a:pt x="44642" y="1143088"/>
                  </a:lnTo>
                  <a:lnTo>
                    <a:pt x="76111" y="1174557"/>
                  </a:lnTo>
                  <a:lnTo>
                    <a:pt x="113840" y="1198545"/>
                  </a:lnTo>
                  <a:lnTo>
                    <a:pt x="156610" y="1213832"/>
                  </a:lnTo>
                  <a:lnTo>
                    <a:pt x="203200" y="1219200"/>
                  </a:lnTo>
                  <a:lnTo>
                    <a:pt x="5054600" y="1219200"/>
                  </a:lnTo>
                  <a:lnTo>
                    <a:pt x="5101205" y="1213832"/>
                  </a:lnTo>
                  <a:lnTo>
                    <a:pt x="5143981" y="1198545"/>
                  </a:lnTo>
                  <a:lnTo>
                    <a:pt x="5181709" y="1174557"/>
                  </a:lnTo>
                  <a:lnTo>
                    <a:pt x="5213173" y="1143088"/>
                  </a:lnTo>
                  <a:lnTo>
                    <a:pt x="5237154" y="1105359"/>
                  </a:lnTo>
                  <a:lnTo>
                    <a:pt x="5252435" y="1062589"/>
                  </a:lnTo>
                  <a:lnTo>
                    <a:pt x="5257800" y="1016000"/>
                  </a:lnTo>
                  <a:lnTo>
                    <a:pt x="5257800" y="203200"/>
                  </a:lnTo>
                  <a:lnTo>
                    <a:pt x="5252435" y="156594"/>
                  </a:lnTo>
                  <a:lnTo>
                    <a:pt x="5237154" y="113818"/>
                  </a:lnTo>
                  <a:lnTo>
                    <a:pt x="5213173" y="76090"/>
                  </a:lnTo>
                  <a:lnTo>
                    <a:pt x="5181709" y="44626"/>
                  </a:lnTo>
                  <a:lnTo>
                    <a:pt x="5143981" y="20645"/>
                  </a:lnTo>
                  <a:lnTo>
                    <a:pt x="5101205" y="5364"/>
                  </a:lnTo>
                  <a:lnTo>
                    <a:pt x="50546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DCE64D97-7054-EB54-63B0-1B781D02407C}"/>
                </a:ext>
              </a:extLst>
            </p:cNvPr>
            <p:cNvSpPr/>
            <p:nvPr/>
          </p:nvSpPr>
          <p:spPr>
            <a:xfrm>
              <a:off x="228600" y="4800600"/>
              <a:ext cx="5257800" cy="1219200"/>
            </a:xfrm>
            <a:custGeom>
              <a:avLst/>
              <a:gdLst/>
              <a:ahLst/>
              <a:cxnLst/>
              <a:rect l="l" t="t" r="r" b="b"/>
              <a:pathLst>
                <a:path w="5257800" h="1219200">
                  <a:moveTo>
                    <a:pt x="0" y="203200"/>
                  </a:moveTo>
                  <a:lnTo>
                    <a:pt x="5367" y="156594"/>
                  </a:lnTo>
                  <a:lnTo>
                    <a:pt x="20654" y="113818"/>
                  </a:lnTo>
                  <a:lnTo>
                    <a:pt x="44642" y="76090"/>
                  </a:lnTo>
                  <a:lnTo>
                    <a:pt x="76111" y="44626"/>
                  </a:lnTo>
                  <a:lnTo>
                    <a:pt x="113840" y="20645"/>
                  </a:lnTo>
                  <a:lnTo>
                    <a:pt x="156610" y="5364"/>
                  </a:lnTo>
                  <a:lnTo>
                    <a:pt x="203200" y="0"/>
                  </a:lnTo>
                  <a:lnTo>
                    <a:pt x="5054600" y="0"/>
                  </a:lnTo>
                  <a:lnTo>
                    <a:pt x="5101205" y="5364"/>
                  </a:lnTo>
                  <a:lnTo>
                    <a:pt x="5143981" y="20645"/>
                  </a:lnTo>
                  <a:lnTo>
                    <a:pt x="5181709" y="44626"/>
                  </a:lnTo>
                  <a:lnTo>
                    <a:pt x="5213173" y="76090"/>
                  </a:lnTo>
                  <a:lnTo>
                    <a:pt x="5237154" y="113818"/>
                  </a:lnTo>
                  <a:lnTo>
                    <a:pt x="5252435" y="156594"/>
                  </a:lnTo>
                  <a:lnTo>
                    <a:pt x="5257800" y="203200"/>
                  </a:lnTo>
                  <a:lnTo>
                    <a:pt x="5257800" y="1016000"/>
                  </a:lnTo>
                  <a:lnTo>
                    <a:pt x="5252435" y="1062589"/>
                  </a:lnTo>
                  <a:lnTo>
                    <a:pt x="5237154" y="1105359"/>
                  </a:lnTo>
                  <a:lnTo>
                    <a:pt x="5213173" y="1143088"/>
                  </a:lnTo>
                  <a:lnTo>
                    <a:pt x="5181709" y="1174557"/>
                  </a:lnTo>
                  <a:lnTo>
                    <a:pt x="5143981" y="1198545"/>
                  </a:lnTo>
                  <a:lnTo>
                    <a:pt x="5101205" y="1213832"/>
                  </a:lnTo>
                  <a:lnTo>
                    <a:pt x="5054600" y="1219200"/>
                  </a:lnTo>
                  <a:lnTo>
                    <a:pt x="203200" y="1219200"/>
                  </a:lnTo>
                  <a:lnTo>
                    <a:pt x="156610" y="1213832"/>
                  </a:lnTo>
                  <a:lnTo>
                    <a:pt x="113840" y="1198545"/>
                  </a:lnTo>
                  <a:lnTo>
                    <a:pt x="76111" y="1174557"/>
                  </a:lnTo>
                  <a:lnTo>
                    <a:pt x="44642" y="1143088"/>
                  </a:lnTo>
                  <a:lnTo>
                    <a:pt x="20654" y="1105359"/>
                  </a:lnTo>
                  <a:lnTo>
                    <a:pt x="5367" y="1062589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8">
            <a:extLst>
              <a:ext uri="{FF2B5EF4-FFF2-40B4-BE49-F238E27FC236}">
                <a16:creationId xmlns:a16="http://schemas.microsoft.com/office/drawing/2014/main" id="{CC4D1569-379F-FBCE-B439-3C40ECC72EC8}"/>
              </a:ext>
            </a:extLst>
          </p:cNvPr>
          <p:cNvGrpSpPr/>
          <p:nvPr/>
        </p:nvGrpSpPr>
        <p:grpSpPr>
          <a:xfrm>
            <a:off x="838200" y="3146914"/>
            <a:ext cx="5105400" cy="1330960"/>
            <a:chOff x="190497" y="2880370"/>
            <a:chExt cx="5105400" cy="1330960"/>
          </a:xfrm>
        </p:grpSpPr>
        <p:pic>
          <p:nvPicPr>
            <p:cNvPr id="30" name="object 29">
              <a:extLst>
                <a:ext uri="{FF2B5EF4-FFF2-40B4-BE49-F238E27FC236}">
                  <a16:creationId xmlns:a16="http://schemas.microsoft.com/office/drawing/2014/main" id="{DD5892C4-EFAF-D917-73D5-2B1BD3CEBBE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497" y="2880370"/>
              <a:ext cx="5105405" cy="1295378"/>
            </a:xfrm>
            <a:prstGeom prst="rect">
              <a:avLst/>
            </a:prstGeom>
          </p:spPr>
        </p:pic>
        <p:pic>
          <p:nvPicPr>
            <p:cNvPr id="31" name="object 30">
              <a:extLst>
                <a:ext uri="{FF2B5EF4-FFF2-40B4-BE49-F238E27FC236}">
                  <a16:creationId xmlns:a16="http://schemas.microsoft.com/office/drawing/2014/main" id="{A5ED9F68-8DAF-B873-93C6-99003B91B2E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644" y="2951988"/>
              <a:ext cx="4543044" cy="1258824"/>
            </a:xfrm>
            <a:prstGeom prst="rect">
              <a:avLst/>
            </a:prstGeom>
          </p:spPr>
        </p:pic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38F3F62C-C30C-D99A-B016-372B53C303F4}"/>
                </a:ext>
              </a:extLst>
            </p:cNvPr>
            <p:cNvSpPr/>
            <p:nvPr/>
          </p:nvSpPr>
          <p:spPr>
            <a:xfrm>
              <a:off x="228600" y="2895600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4826000" y="0"/>
                  </a:moveTo>
                  <a:lnTo>
                    <a:pt x="203200" y="0"/>
                  </a:lnTo>
                  <a:lnTo>
                    <a:pt x="156610" y="5364"/>
                  </a:lnTo>
                  <a:lnTo>
                    <a:pt x="113840" y="20645"/>
                  </a:lnTo>
                  <a:lnTo>
                    <a:pt x="76111" y="44626"/>
                  </a:lnTo>
                  <a:lnTo>
                    <a:pt x="44642" y="76090"/>
                  </a:lnTo>
                  <a:lnTo>
                    <a:pt x="20654" y="113818"/>
                  </a:lnTo>
                  <a:lnTo>
                    <a:pt x="5367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7" y="1062605"/>
                  </a:lnTo>
                  <a:lnTo>
                    <a:pt x="20654" y="1105381"/>
                  </a:lnTo>
                  <a:lnTo>
                    <a:pt x="44642" y="1143109"/>
                  </a:lnTo>
                  <a:lnTo>
                    <a:pt x="76111" y="1174573"/>
                  </a:lnTo>
                  <a:lnTo>
                    <a:pt x="113840" y="1198554"/>
                  </a:lnTo>
                  <a:lnTo>
                    <a:pt x="156610" y="1213835"/>
                  </a:lnTo>
                  <a:lnTo>
                    <a:pt x="203200" y="1219200"/>
                  </a:lnTo>
                  <a:lnTo>
                    <a:pt x="4826000" y="1219200"/>
                  </a:lnTo>
                  <a:lnTo>
                    <a:pt x="4872605" y="1213835"/>
                  </a:lnTo>
                  <a:lnTo>
                    <a:pt x="4915381" y="1198554"/>
                  </a:lnTo>
                  <a:lnTo>
                    <a:pt x="4953109" y="1174573"/>
                  </a:lnTo>
                  <a:lnTo>
                    <a:pt x="4984573" y="1143109"/>
                  </a:lnTo>
                  <a:lnTo>
                    <a:pt x="5008554" y="1105381"/>
                  </a:lnTo>
                  <a:lnTo>
                    <a:pt x="5023835" y="1062605"/>
                  </a:lnTo>
                  <a:lnTo>
                    <a:pt x="5029200" y="1016000"/>
                  </a:lnTo>
                  <a:lnTo>
                    <a:pt x="5029200" y="203200"/>
                  </a:lnTo>
                  <a:lnTo>
                    <a:pt x="5023835" y="156594"/>
                  </a:lnTo>
                  <a:lnTo>
                    <a:pt x="5008554" y="113818"/>
                  </a:lnTo>
                  <a:lnTo>
                    <a:pt x="4984573" y="76090"/>
                  </a:lnTo>
                  <a:lnTo>
                    <a:pt x="4953109" y="44626"/>
                  </a:lnTo>
                  <a:lnTo>
                    <a:pt x="4915381" y="20645"/>
                  </a:lnTo>
                  <a:lnTo>
                    <a:pt x="4872605" y="5364"/>
                  </a:lnTo>
                  <a:lnTo>
                    <a:pt x="4826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3F64E686-18ED-98B8-E376-D27F7F463E13}"/>
                </a:ext>
              </a:extLst>
            </p:cNvPr>
            <p:cNvSpPr/>
            <p:nvPr/>
          </p:nvSpPr>
          <p:spPr>
            <a:xfrm>
              <a:off x="228600" y="2895600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203200"/>
                  </a:moveTo>
                  <a:lnTo>
                    <a:pt x="5367" y="156594"/>
                  </a:lnTo>
                  <a:lnTo>
                    <a:pt x="20654" y="113818"/>
                  </a:lnTo>
                  <a:lnTo>
                    <a:pt x="44642" y="76090"/>
                  </a:lnTo>
                  <a:lnTo>
                    <a:pt x="76111" y="44626"/>
                  </a:lnTo>
                  <a:lnTo>
                    <a:pt x="113840" y="20645"/>
                  </a:lnTo>
                  <a:lnTo>
                    <a:pt x="156610" y="5364"/>
                  </a:lnTo>
                  <a:lnTo>
                    <a:pt x="203200" y="0"/>
                  </a:lnTo>
                  <a:lnTo>
                    <a:pt x="4826000" y="0"/>
                  </a:lnTo>
                  <a:lnTo>
                    <a:pt x="4872605" y="5364"/>
                  </a:lnTo>
                  <a:lnTo>
                    <a:pt x="4915381" y="20645"/>
                  </a:lnTo>
                  <a:lnTo>
                    <a:pt x="4953109" y="44626"/>
                  </a:lnTo>
                  <a:lnTo>
                    <a:pt x="4984573" y="76090"/>
                  </a:lnTo>
                  <a:lnTo>
                    <a:pt x="5008554" y="113818"/>
                  </a:lnTo>
                  <a:lnTo>
                    <a:pt x="5023835" y="156594"/>
                  </a:lnTo>
                  <a:lnTo>
                    <a:pt x="5029200" y="203200"/>
                  </a:lnTo>
                  <a:lnTo>
                    <a:pt x="5029200" y="1016000"/>
                  </a:lnTo>
                  <a:lnTo>
                    <a:pt x="5023835" y="1062605"/>
                  </a:lnTo>
                  <a:lnTo>
                    <a:pt x="5008554" y="1105381"/>
                  </a:lnTo>
                  <a:lnTo>
                    <a:pt x="4984573" y="1143109"/>
                  </a:lnTo>
                  <a:lnTo>
                    <a:pt x="4953109" y="1174573"/>
                  </a:lnTo>
                  <a:lnTo>
                    <a:pt x="4915381" y="1198554"/>
                  </a:lnTo>
                  <a:lnTo>
                    <a:pt x="4872605" y="1213835"/>
                  </a:lnTo>
                  <a:lnTo>
                    <a:pt x="4826000" y="1219200"/>
                  </a:lnTo>
                  <a:lnTo>
                    <a:pt x="203200" y="1219200"/>
                  </a:lnTo>
                  <a:lnTo>
                    <a:pt x="156610" y="1213835"/>
                  </a:lnTo>
                  <a:lnTo>
                    <a:pt x="113840" y="1198554"/>
                  </a:lnTo>
                  <a:lnTo>
                    <a:pt x="76111" y="1174573"/>
                  </a:lnTo>
                  <a:lnTo>
                    <a:pt x="44642" y="1143109"/>
                  </a:lnTo>
                  <a:lnTo>
                    <a:pt x="20654" y="1105381"/>
                  </a:lnTo>
                  <a:lnTo>
                    <a:pt x="5367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3">
            <a:extLst>
              <a:ext uri="{FF2B5EF4-FFF2-40B4-BE49-F238E27FC236}">
                <a16:creationId xmlns:a16="http://schemas.microsoft.com/office/drawing/2014/main" id="{DBA0CD17-1FC1-3467-7946-9752AF51B4C4}"/>
              </a:ext>
            </a:extLst>
          </p:cNvPr>
          <p:cNvSpPr txBox="1"/>
          <p:nvPr/>
        </p:nvSpPr>
        <p:spPr>
          <a:xfrm>
            <a:off x="1471983" y="3324068"/>
            <a:ext cx="4689555" cy="2820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307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mbria"/>
                <a:cs typeface="Cambria"/>
              </a:rPr>
              <a:t>Exclusive: </a:t>
            </a:r>
            <a:r>
              <a:rPr sz="2800" spc="-5" dirty="0">
                <a:latin typeface="Cambria"/>
                <a:cs typeface="Cambria"/>
              </a:rPr>
              <a:t>L1 cache </a:t>
            </a:r>
            <a:r>
              <a:rPr sz="2800" spc="-10" dirty="0">
                <a:latin typeface="Cambria"/>
                <a:cs typeface="Cambria"/>
              </a:rPr>
              <a:t>blocks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are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absent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 L</a:t>
            </a:r>
            <a:r>
              <a:rPr lang="en-US" sz="2800" spc="-5" dirty="0">
                <a:latin typeface="Cambria"/>
                <a:cs typeface="Cambria"/>
              </a:rPr>
              <a:t>LC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50" dirty="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2800" spc="-15" dirty="0">
                <a:latin typeface="Cambria"/>
                <a:cs typeface="Cambria"/>
              </a:rPr>
              <a:t>Non-inclusive: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L1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cache 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blocks </a:t>
            </a:r>
            <a:r>
              <a:rPr sz="2800" spc="-20" dirty="0">
                <a:latin typeface="Cambria"/>
                <a:cs typeface="Cambria"/>
              </a:rPr>
              <a:t>may/may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not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be</a:t>
            </a:r>
            <a:r>
              <a:rPr sz="2800" spc="-5" dirty="0">
                <a:latin typeface="Cambria"/>
                <a:cs typeface="Cambria"/>
              </a:rPr>
              <a:t> in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</a:t>
            </a:r>
            <a:r>
              <a:rPr lang="en-US" sz="2800" spc="-5" dirty="0">
                <a:latin typeface="Cambria"/>
                <a:cs typeface="Cambria"/>
              </a:rPr>
              <a:t>LC</a:t>
            </a:r>
            <a:endParaRPr sz="2800" dirty="0">
              <a:latin typeface="Cambria"/>
              <a:cs typeface="Cambria"/>
            </a:endParaRPr>
          </a:p>
        </p:txBody>
      </p:sp>
      <p:grpSp>
        <p:nvGrpSpPr>
          <p:cNvPr id="35" name="object 34">
            <a:extLst>
              <a:ext uri="{FF2B5EF4-FFF2-40B4-BE49-F238E27FC236}">
                <a16:creationId xmlns:a16="http://schemas.microsoft.com/office/drawing/2014/main" id="{98D94EE0-CD33-9CC2-6840-730206FB41BE}"/>
              </a:ext>
            </a:extLst>
          </p:cNvPr>
          <p:cNvGrpSpPr/>
          <p:nvPr/>
        </p:nvGrpSpPr>
        <p:grpSpPr>
          <a:xfrm>
            <a:off x="7991859" y="1974948"/>
            <a:ext cx="1771014" cy="692150"/>
            <a:chOff x="7344156" y="1708404"/>
            <a:chExt cx="1771014" cy="692150"/>
          </a:xfrm>
        </p:grpSpPr>
        <p:pic>
          <p:nvPicPr>
            <p:cNvPr id="36" name="object 35">
              <a:extLst>
                <a:ext uri="{FF2B5EF4-FFF2-40B4-BE49-F238E27FC236}">
                  <a16:creationId xmlns:a16="http://schemas.microsoft.com/office/drawing/2014/main" id="{F8A6EE02-DE7F-9169-9B9E-54602742ED1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4156" y="1708404"/>
              <a:ext cx="1770888" cy="387096"/>
            </a:xfrm>
            <a:prstGeom prst="rect">
              <a:avLst/>
            </a:prstGeom>
          </p:spPr>
        </p:pic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542F607E-5D76-A6AA-E745-D1E4576C9099}"/>
                </a:ext>
              </a:extLst>
            </p:cNvPr>
            <p:cNvSpPr/>
            <p:nvPr/>
          </p:nvSpPr>
          <p:spPr>
            <a:xfrm>
              <a:off x="7391400" y="1735696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69">
                  <a:moveTo>
                    <a:pt x="1676400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76400" y="293128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3D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FAFD93A3-40A4-C931-FF5E-4FFC08A77CA0}"/>
                </a:ext>
              </a:extLst>
            </p:cNvPr>
            <p:cNvSpPr/>
            <p:nvPr/>
          </p:nvSpPr>
          <p:spPr>
            <a:xfrm>
              <a:off x="7391400" y="1735696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69">
                  <a:moveTo>
                    <a:pt x="0" y="293128"/>
                  </a:moveTo>
                  <a:lnTo>
                    <a:pt x="1676400" y="293128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8">
              <a:extLst>
                <a:ext uri="{FF2B5EF4-FFF2-40B4-BE49-F238E27FC236}">
                  <a16:creationId xmlns:a16="http://schemas.microsoft.com/office/drawing/2014/main" id="{67FBC306-5DCE-983C-BEB6-92C44A8B65E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4156" y="2013204"/>
              <a:ext cx="1770888" cy="387096"/>
            </a:xfrm>
            <a:prstGeom prst="rect">
              <a:avLst/>
            </a:prstGeom>
          </p:spPr>
        </p:pic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7FDEF1E2-D45C-95EB-FD5D-6FC4870B7B0B}"/>
                </a:ext>
              </a:extLst>
            </p:cNvPr>
            <p:cNvSpPr/>
            <p:nvPr/>
          </p:nvSpPr>
          <p:spPr>
            <a:xfrm>
              <a:off x="7391400" y="2040496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69">
                  <a:moveTo>
                    <a:pt x="1676400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76400" y="293128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CA260C7B-9FAA-74D4-CBFA-B3523AFA9A96}"/>
                </a:ext>
              </a:extLst>
            </p:cNvPr>
            <p:cNvSpPr/>
            <p:nvPr/>
          </p:nvSpPr>
          <p:spPr>
            <a:xfrm>
              <a:off x="7391400" y="2040496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69">
                  <a:moveTo>
                    <a:pt x="0" y="293128"/>
                  </a:moveTo>
                  <a:lnTo>
                    <a:pt x="1676400" y="293128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1">
            <a:extLst>
              <a:ext uri="{FF2B5EF4-FFF2-40B4-BE49-F238E27FC236}">
                <a16:creationId xmlns:a16="http://schemas.microsoft.com/office/drawing/2014/main" id="{12F90AF9-C2D1-98DE-E9ED-1B81DC97B8E4}"/>
              </a:ext>
            </a:extLst>
          </p:cNvPr>
          <p:cNvGrpSpPr/>
          <p:nvPr/>
        </p:nvGrpSpPr>
        <p:grpSpPr>
          <a:xfrm>
            <a:off x="8001010" y="1327247"/>
            <a:ext cx="1752600" cy="416559"/>
            <a:chOff x="7353307" y="1060703"/>
            <a:chExt cx="1752600" cy="416559"/>
          </a:xfrm>
        </p:grpSpPr>
        <p:pic>
          <p:nvPicPr>
            <p:cNvPr id="43" name="object 42">
              <a:extLst>
                <a:ext uri="{FF2B5EF4-FFF2-40B4-BE49-F238E27FC236}">
                  <a16:creationId xmlns:a16="http://schemas.microsoft.com/office/drawing/2014/main" id="{80493A8A-3D7B-70C0-31C0-44D28869027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3307" y="1060703"/>
              <a:ext cx="1752584" cy="416051"/>
            </a:xfrm>
            <a:prstGeom prst="rect">
              <a:avLst/>
            </a:prstGeom>
          </p:spPr>
        </p:pic>
        <p:sp>
          <p:nvSpPr>
            <p:cNvPr id="44" name="object 43">
              <a:extLst>
                <a:ext uri="{FF2B5EF4-FFF2-40B4-BE49-F238E27FC236}">
                  <a16:creationId xmlns:a16="http://schemas.microsoft.com/office/drawing/2014/main" id="{88A761F7-6F38-011E-6AD9-98A68647D50A}"/>
                </a:ext>
              </a:extLst>
            </p:cNvPr>
            <p:cNvSpPr/>
            <p:nvPr/>
          </p:nvSpPr>
          <p:spPr>
            <a:xfrm>
              <a:off x="7391399" y="1078471"/>
              <a:ext cx="1676400" cy="340995"/>
            </a:xfrm>
            <a:custGeom>
              <a:avLst/>
              <a:gdLst/>
              <a:ahLst/>
              <a:cxnLst/>
              <a:rect l="l" t="t" r="r" b="b"/>
              <a:pathLst>
                <a:path w="1676400" h="340994">
                  <a:moveTo>
                    <a:pt x="1676400" y="0"/>
                  </a:moveTo>
                  <a:lnTo>
                    <a:pt x="0" y="0"/>
                  </a:lnTo>
                  <a:lnTo>
                    <a:pt x="0" y="340753"/>
                  </a:lnTo>
                  <a:lnTo>
                    <a:pt x="1676400" y="340753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72233C44-24E1-1A62-658B-1B39A58C75AA}"/>
                </a:ext>
              </a:extLst>
            </p:cNvPr>
            <p:cNvSpPr/>
            <p:nvPr/>
          </p:nvSpPr>
          <p:spPr>
            <a:xfrm>
              <a:off x="7391399" y="1078471"/>
              <a:ext cx="1676400" cy="340995"/>
            </a:xfrm>
            <a:custGeom>
              <a:avLst/>
              <a:gdLst/>
              <a:ahLst/>
              <a:cxnLst/>
              <a:rect l="l" t="t" r="r" b="b"/>
              <a:pathLst>
                <a:path w="1676400" h="340994">
                  <a:moveTo>
                    <a:pt x="0" y="340753"/>
                  </a:moveTo>
                  <a:lnTo>
                    <a:pt x="1676400" y="340753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34075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5">
            <a:extLst>
              <a:ext uri="{FF2B5EF4-FFF2-40B4-BE49-F238E27FC236}">
                <a16:creationId xmlns:a16="http://schemas.microsoft.com/office/drawing/2014/main" id="{5DCFBB03-C088-0639-713F-D59B7D7AF535}"/>
              </a:ext>
            </a:extLst>
          </p:cNvPr>
          <p:cNvGrpSpPr/>
          <p:nvPr/>
        </p:nvGrpSpPr>
        <p:grpSpPr>
          <a:xfrm>
            <a:off x="7991859" y="3756503"/>
            <a:ext cx="1742439" cy="692150"/>
            <a:chOff x="7344156" y="3489959"/>
            <a:chExt cx="1742439" cy="692150"/>
          </a:xfrm>
        </p:grpSpPr>
        <p:pic>
          <p:nvPicPr>
            <p:cNvPr id="47" name="object 46">
              <a:extLst>
                <a:ext uri="{FF2B5EF4-FFF2-40B4-BE49-F238E27FC236}">
                  <a16:creationId xmlns:a16="http://schemas.microsoft.com/office/drawing/2014/main" id="{D36BB9B8-B3D0-C9D3-5E0C-537CDF9DA9E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4156" y="3489959"/>
              <a:ext cx="1741931" cy="387095"/>
            </a:xfrm>
            <a:prstGeom prst="rect">
              <a:avLst/>
            </a:prstGeom>
          </p:spPr>
        </p:pic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9FD4A343-8FDD-E7D3-AFA1-6842F73F37B6}"/>
                </a:ext>
              </a:extLst>
            </p:cNvPr>
            <p:cNvSpPr/>
            <p:nvPr/>
          </p:nvSpPr>
          <p:spPr>
            <a:xfrm>
              <a:off x="7391400" y="3516871"/>
              <a:ext cx="1647825" cy="293370"/>
            </a:xfrm>
            <a:custGeom>
              <a:avLst/>
              <a:gdLst/>
              <a:ahLst/>
              <a:cxnLst/>
              <a:rect l="l" t="t" r="r" b="b"/>
              <a:pathLst>
                <a:path w="1647825" h="293370">
                  <a:moveTo>
                    <a:pt x="1647825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47825" y="293128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3D29F4E7-AA7F-466B-395D-8DBB29AF0ADC}"/>
                </a:ext>
              </a:extLst>
            </p:cNvPr>
            <p:cNvSpPr/>
            <p:nvPr/>
          </p:nvSpPr>
          <p:spPr>
            <a:xfrm>
              <a:off x="7391400" y="3516871"/>
              <a:ext cx="1647825" cy="293370"/>
            </a:xfrm>
            <a:custGeom>
              <a:avLst/>
              <a:gdLst/>
              <a:ahLst/>
              <a:cxnLst/>
              <a:rect l="l" t="t" r="r" b="b"/>
              <a:pathLst>
                <a:path w="1647825" h="293370">
                  <a:moveTo>
                    <a:pt x="0" y="293128"/>
                  </a:moveTo>
                  <a:lnTo>
                    <a:pt x="1647825" y="293128"/>
                  </a:lnTo>
                  <a:lnTo>
                    <a:pt x="1647825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9">
              <a:extLst>
                <a:ext uri="{FF2B5EF4-FFF2-40B4-BE49-F238E27FC236}">
                  <a16:creationId xmlns:a16="http://schemas.microsoft.com/office/drawing/2014/main" id="{214659E2-14C5-DE2D-842F-5FD04E91B42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4156" y="3794759"/>
              <a:ext cx="1741931" cy="387095"/>
            </a:xfrm>
            <a:prstGeom prst="rect">
              <a:avLst/>
            </a:prstGeom>
          </p:spPr>
        </p:pic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69B0983A-1006-C3A6-30C4-A9FBB234DFA3}"/>
                </a:ext>
              </a:extLst>
            </p:cNvPr>
            <p:cNvSpPr/>
            <p:nvPr/>
          </p:nvSpPr>
          <p:spPr>
            <a:xfrm>
              <a:off x="7391400" y="3821671"/>
              <a:ext cx="1647825" cy="293370"/>
            </a:xfrm>
            <a:custGeom>
              <a:avLst/>
              <a:gdLst/>
              <a:ahLst/>
              <a:cxnLst/>
              <a:rect l="l" t="t" r="r" b="b"/>
              <a:pathLst>
                <a:path w="1647825" h="293370">
                  <a:moveTo>
                    <a:pt x="1647825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47825" y="293128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90683C07-4C12-F6B7-CFD1-21079B37CAAE}"/>
                </a:ext>
              </a:extLst>
            </p:cNvPr>
            <p:cNvSpPr/>
            <p:nvPr/>
          </p:nvSpPr>
          <p:spPr>
            <a:xfrm>
              <a:off x="7391400" y="3821671"/>
              <a:ext cx="1647825" cy="293370"/>
            </a:xfrm>
            <a:custGeom>
              <a:avLst/>
              <a:gdLst/>
              <a:ahLst/>
              <a:cxnLst/>
              <a:rect l="l" t="t" r="r" b="b"/>
              <a:pathLst>
                <a:path w="1647825" h="293370">
                  <a:moveTo>
                    <a:pt x="0" y="293128"/>
                  </a:moveTo>
                  <a:lnTo>
                    <a:pt x="1647825" y="293128"/>
                  </a:lnTo>
                  <a:lnTo>
                    <a:pt x="1647825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2">
            <a:extLst>
              <a:ext uri="{FF2B5EF4-FFF2-40B4-BE49-F238E27FC236}">
                <a16:creationId xmlns:a16="http://schemas.microsoft.com/office/drawing/2014/main" id="{CB88C6AC-74CA-DC3C-6E60-0A4A41A8AE0C}"/>
              </a:ext>
            </a:extLst>
          </p:cNvPr>
          <p:cNvGrpSpPr/>
          <p:nvPr/>
        </p:nvGrpSpPr>
        <p:grpSpPr>
          <a:xfrm>
            <a:off x="8001003" y="3107312"/>
            <a:ext cx="1724025" cy="417830"/>
            <a:chOff x="7353300" y="2840768"/>
            <a:chExt cx="1724025" cy="417830"/>
          </a:xfrm>
        </p:grpSpPr>
        <p:pic>
          <p:nvPicPr>
            <p:cNvPr id="54" name="object 53">
              <a:extLst>
                <a:ext uri="{FF2B5EF4-FFF2-40B4-BE49-F238E27FC236}">
                  <a16:creationId xmlns:a16="http://schemas.microsoft.com/office/drawing/2014/main" id="{BB017F82-A4FD-7410-206B-9BCFB8935EF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53300" y="2840768"/>
              <a:ext cx="1723643" cy="417511"/>
            </a:xfrm>
            <a:prstGeom prst="rect">
              <a:avLst/>
            </a:prstGeom>
          </p:spPr>
        </p:pic>
        <p:sp>
          <p:nvSpPr>
            <p:cNvPr id="55" name="object 54">
              <a:extLst>
                <a:ext uri="{FF2B5EF4-FFF2-40B4-BE49-F238E27FC236}">
                  <a16:creationId xmlns:a16="http://schemas.microsoft.com/office/drawing/2014/main" id="{619E287A-A734-1D28-A4CD-3A626FA35C73}"/>
                </a:ext>
              </a:extLst>
            </p:cNvPr>
            <p:cNvSpPr/>
            <p:nvPr/>
          </p:nvSpPr>
          <p:spPr>
            <a:xfrm>
              <a:off x="7391400" y="2859646"/>
              <a:ext cx="1647825" cy="340995"/>
            </a:xfrm>
            <a:custGeom>
              <a:avLst/>
              <a:gdLst/>
              <a:ahLst/>
              <a:cxnLst/>
              <a:rect l="l" t="t" r="r" b="b"/>
              <a:pathLst>
                <a:path w="1647825" h="340994">
                  <a:moveTo>
                    <a:pt x="1647825" y="0"/>
                  </a:moveTo>
                  <a:lnTo>
                    <a:pt x="0" y="0"/>
                  </a:lnTo>
                  <a:lnTo>
                    <a:pt x="0" y="340753"/>
                  </a:lnTo>
                  <a:lnTo>
                    <a:pt x="1647825" y="340753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D3D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5">
              <a:extLst>
                <a:ext uri="{FF2B5EF4-FFF2-40B4-BE49-F238E27FC236}">
                  <a16:creationId xmlns:a16="http://schemas.microsoft.com/office/drawing/2014/main" id="{9E87D089-4088-982D-D855-9EBF7907DF3C}"/>
                </a:ext>
              </a:extLst>
            </p:cNvPr>
            <p:cNvSpPr/>
            <p:nvPr/>
          </p:nvSpPr>
          <p:spPr>
            <a:xfrm>
              <a:off x="7391400" y="2859646"/>
              <a:ext cx="1647825" cy="340995"/>
            </a:xfrm>
            <a:custGeom>
              <a:avLst/>
              <a:gdLst/>
              <a:ahLst/>
              <a:cxnLst/>
              <a:rect l="l" t="t" r="r" b="b"/>
              <a:pathLst>
                <a:path w="1647825" h="340994">
                  <a:moveTo>
                    <a:pt x="0" y="340753"/>
                  </a:moveTo>
                  <a:lnTo>
                    <a:pt x="1647825" y="340753"/>
                  </a:lnTo>
                  <a:lnTo>
                    <a:pt x="1647825" y="0"/>
                  </a:lnTo>
                  <a:lnTo>
                    <a:pt x="0" y="0"/>
                  </a:lnTo>
                  <a:lnTo>
                    <a:pt x="0" y="34075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6">
            <a:extLst>
              <a:ext uri="{FF2B5EF4-FFF2-40B4-BE49-F238E27FC236}">
                <a16:creationId xmlns:a16="http://schemas.microsoft.com/office/drawing/2014/main" id="{55A01C4E-E19B-1125-0DA3-4AFD08EA357F}"/>
              </a:ext>
            </a:extLst>
          </p:cNvPr>
          <p:cNvGrpSpPr/>
          <p:nvPr/>
        </p:nvGrpSpPr>
        <p:grpSpPr>
          <a:xfrm>
            <a:off x="7991859" y="5890103"/>
            <a:ext cx="1771014" cy="692150"/>
            <a:chOff x="7344156" y="5623559"/>
            <a:chExt cx="1771014" cy="692150"/>
          </a:xfrm>
        </p:grpSpPr>
        <p:pic>
          <p:nvPicPr>
            <p:cNvPr id="58" name="object 57">
              <a:extLst>
                <a:ext uri="{FF2B5EF4-FFF2-40B4-BE49-F238E27FC236}">
                  <a16:creationId xmlns:a16="http://schemas.microsoft.com/office/drawing/2014/main" id="{2FF1DC5C-0568-30D1-38EF-E2B19AFF7344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44156" y="5623559"/>
              <a:ext cx="1770888" cy="387096"/>
            </a:xfrm>
            <a:prstGeom prst="rect">
              <a:avLst/>
            </a:prstGeom>
          </p:spPr>
        </p:pic>
        <p:sp>
          <p:nvSpPr>
            <p:cNvPr id="59" name="object 58">
              <a:extLst>
                <a:ext uri="{FF2B5EF4-FFF2-40B4-BE49-F238E27FC236}">
                  <a16:creationId xmlns:a16="http://schemas.microsoft.com/office/drawing/2014/main" id="{51916934-41A3-84CF-ECB8-642458C11C90}"/>
                </a:ext>
              </a:extLst>
            </p:cNvPr>
            <p:cNvSpPr/>
            <p:nvPr/>
          </p:nvSpPr>
          <p:spPr>
            <a:xfrm>
              <a:off x="7391400" y="5650471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70">
                  <a:moveTo>
                    <a:pt x="1676400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76400" y="293128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9">
              <a:extLst>
                <a:ext uri="{FF2B5EF4-FFF2-40B4-BE49-F238E27FC236}">
                  <a16:creationId xmlns:a16="http://schemas.microsoft.com/office/drawing/2014/main" id="{CD29DF9B-E6FB-6E85-91DA-83B92220EE5C}"/>
                </a:ext>
              </a:extLst>
            </p:cNvPr>
            <p:cNvSpPr/>
            <p:nvPr/>
          </p:nvSpPr>
          <p:spPr>
            <a:xfrm>
              <a:off x="7391400" y="5650471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70">
                  <a:moveTo>
                    <a:pt x="0" y="293128"/>
                  </a:moveTo>
                  <a:lnTo>
                    <a:pt x="1676400" y="293128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0">
              <a:extLst>
                <a:ext uri="{FF2B5EF4-FFF2-40B4-BE49-F238E27FC236}">
                  <a16:creationId xmlns:a16="http://schemas.microsoft.com/office/drawing/2014/main" id="{1485CDA4-7202-E123-C7B1-4C099449CC6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44156" y="5928359"/>
              <a:ext cx="1770888" cy="387096"/>
            </a:xfrm>
            <a:prstGeom prst="rect">
              <a:avLst/>
            </a:prstGeom>
          </p:spPr>
        </p:pic>
        <p:sp>
          <p:nvSpPr>
            <p:cNvPr id="62" name="object 61">
              <a:extLst>
                <a:ext uri="{FF2B5EF4-FFF2-40B4-BE49-F238E27FC236}">
                  <a16:creationId xmlns:a16="http://schemas.microsoft.com/office/drawing/2014/main" id="{D7E315D7-CB54-EBA4-22D7-615459C792AB}"/>
                </a:ext>
              </a:extLst>
            </p:cNvPr>
            <p:cNvSpPr/>
            <p:nvPr/>
          </p:nvSpPr>
          <p:spPr>
            <a:xfrm>
              <a:off x="7391400" y="5955271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70">
                  <a:moveTo>
                    <a:pt x="1676400" y="0"/>
                  </a:moveTo>
                  <a:lnTo>
                    <a:pt x="0" y="0"/>
                  </a:lnTo>
                  <a:lnTo>
                    <a:pt x="0" y="293128"/>
                  </a:lnTo>
                  <a:lnTo>
                    <a:pt x="1676400" y="293128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2">
              <a:extLst>
                <a:ext uri="{FF2B5EF4-FFF2-40B4-BE49-F238E27FC236}">
                  <a16:creationId xmlns:a16="http://schemas.microsoft.com/office/drawing/2014/main" id="{E98C0300-07D4-10AC-0272-F8694B817DD7}"/>
                </a:ext>
              </a:extLst>
            </p:cNvPr>
            <p:cNvSpPr/>
            <p:nvPr/>
          </p:nvSpPr>
          <p:spPr>
            <a:xfrm>
              <a:off x="7391400" y="5955271"/>
              <a:ext cx="1676400" cy="293370"/>
            </a:xfrm>
            <a:custGeom>
              <a:avLst/>
              <a:gdLst/>
              <a:ahLst/>
              <a:cxnLst/>
              <a:rect l="l" t="t" r="r" b="b"/>
              <a:pathLst>
                <a:path w="1676400" h="293370">
                  <a:moveTo>
                    <a:pt x="0" y="293128"/>
                  </a:moveTo>
                  <a:lnTo>
                    <a:pt x="1676400" y="293128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2931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3">
            <a:extLst>
              <a:ext uri="{FF2B5EF4-FFF2-40B4-BE49-F238E27FC236}">
                <a16:creationId xmlns:a16="http://schemas.microsoft.com/office/drawing/2014/main" id="{4E668C36-D91C-5B79-B5C6-0C29BEF187B9}"/>
              </a:ext>
            </a:extLst>
          </p:cNvPr>
          <p:cNvGrpSpPr/>
          <p:nvPr/>
        </p:nvGrpSpPr>
        <p:grpSpPr>
          <a:xfrm>
            <a:off x="8000993" y="5231735"/>
            <a:ext cx="1762125" cy="436245"/>
            <a:chOff x="7353290" y="4965191"/>
            <a:chExt cx="1762125" cy="436245"/>
          </a:xfrm>
        </p:grpSpPr>
        <p:pic>
          <p:nvPicPr>
            <p:cNvPr id="65" name="object 64">
              <a:extLst>
                <a:ext uri="{FF2B5EF4-FFF2-40B4-BE49-F238E27FC236}">
                  <a16:creationId xmlns:a16="http://schemas.microsoft.com/office/drawing/2014/main" id="{07F51DBE-3485-C284-CBDC-7AF0DC1A8FA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3290" y="4974367"/>
              <a:ext cx="1447818" cy="417511"/>
            </a:xfrm>
            <a:prstGeom prst="rect">
              <a:avLst/>
            </a:prstGeom>
          </p:spPr>
        </p:pic>
        <p:sp>
          <p:nvSpPr>
            <p:cNvPr id="66" name="object 65">
              <a:extLst>
                <a:ext uri="{FF2B5EF4-FFF2-40B4-BE49-F238E27FC236}">
                  <a16:creationId xmlns:a16="http://schemas.microsoft.com/office/drawing/2014/main" id="{43BEB504-2B2E-A094-8961-FDF028E0DC11}"/>
                </a:ext>
              </a:extLst>
            </p:cNvPr>
            <p:cNvSpPr/>
            <p:nvPr/>
          </p:nvSpPr>
          <p:spPr>
            <a:xfrm>
              <a:off x="7391400" y="4993246"/>
              <a:ext cx="1371600" cy="340995"/>
            </a:xfrm>
            <a:custGeom>
              <a:avLst/>
              <a:gdLst/>
              <a:ahLst/>
              <a:cxnLst/>
              <a:rect l="l" t="t" r="r" b="b"/>
              <a:pathLst>
                <a:path w="1371600" h="340995">
                  <a:moveTo>
                    <a:pt x="1371600" y="0"/>
                  </a:moveTo>
                  <a:lnTo>
                    <a:pt x="0" y="0"/>
                  </a:lnTo>
                  <a:lnTo>
                    <a:pt x="0" y="340753"/>
                  </a:lnTo>
                  <a:lnTo>
                    <a:pt x="1371600" y="34075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3D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6">
              <a:extLst>
                <a:ext uri="{FF2B5EF4-FFF2-40B4-BE49-F238E27FC236}">
                  <a16:creationId xmlns:a16="http://schemas.microsoft.com/office/drawing/2014/main" id="{A57902F3-BE51-A115-5C21-FF5296F1E81E}"/>
                </a:ext>
              </a:extLst>
            </p:cNvPr>
            <p:cNvSpPr/>
            <p:nvPr/>
          </p:nvSpPr>
          <p:spPr>
            <a:xfrm>
              <a:off x="7391400" y="4993246"/>
              <a:ext cx="1371600" cy="340995"/>
            </a:xfrm>
            <a:custGeom>
              <a:avLst/>
              <a:gdLst/>
              <a:ahLst/>
              <a:cxnLst/>
              <a:rect l="l" t="t" r="r" b="b"/>
              <a:pathLst>
                <a:path w="1371600" h="340995">
                  <a:moveTo>
                    <a:pt x="0" y="340753"/>
                  </a:moveTo>
                  <a:lnTo>
                    <a:pt x="1371600" y="340753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4075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7">
              <a:extLst>
                <a:ext uri="{FF2B5EF4-FFF2-40B4-BE49-F238E27FC236}">
                  <a16:creationId xmlns:a16="http://schemas.microsoft.com/office/drawing/2014/main" id="{DE000E2B-3FB1-D64C-ECAF-4E73B60EA10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15756" y="4965191"/>
              <a:ext cx="399288" cy="435863"/>
            </a:xfrm>
            <a:prstGeom prst="rect">
              <a:avLst/>
            </a:prstGeom>
          </p:spPr>
        </p:pic>
        <p:sp>
          <p:nvSpPr>
            <p:cNvPr id="69" name="object 68">
              <a:extLst>
                <a:ext uri="{FF2B5EF4-FFF2-40B4-BE49-F238E27FC236}">
                  <a16:creationId xmlns:a16="http://schemas.microsoft.com/office/drawing/2014/main" id="{D143A119-C8C2-533D-B70C-52C08D3F40DC}"/>
                </a:ext>
              </a:extLst>
            </p:cNvPr>
            <p:cNvSpPr/>
            <p:nvPr/>
          </p:nvSpPr>
          <p:spPr>
            <a:xfrm>
              <a:off x="8763000" y="4993246"/>
              <a:ext cx="304800" cy="340995"/>
            </a:xfrm>
            <a:custGeom>
              <a:avLst/>
              <a:gdLst/>
              <a:ahLst/>
              <a:cxnLst/>
              <a:rect l="l" t="t" r="r" b="b"/>
              <a:pathLst>
                <a:path w="304800" h="340995">
                  <a:moveTo>
                    <a:pt x="304800" y="0"/>
                  </a:moveTo>
                  <a:lnTo>
                    <a:pt x="0" y="0"/>
                  </a:lnTo>
                  <a:lnTo>
                    <a:pt x="0" y="340753"/>
                  </a:lnTo>
                  <a:lnTo>
                    <a:pt x="304800" y="340753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9">
              <a:extLst>
                <a:ext uri="{FF2B5EF4-FFF2-40B4-BE49-F238E27FC236}">
                  <a16:creationId xmlns:a16="http://schemas.microsoft.com/office/drawing/2014/main" id="{3FA616DC-62EB-5646-CAF8-AFD3C775905D}"/>
                </a:ext>
              </a:extLst>
            </p:cNvPr>
            <p:cNvSpPr/>
            <p:nvPr/>
          </p:nvSpPr>
          <p:spPr>
            <a:xfrm>
              <a:off x="8763000" y="4993246"/>
              <a:ext cx="304800" cy="340995"/>
            </a:xfrm>
            <a:custGeom>
              <a:avLst/>
              <a:gdLst/>
              <a:ahLst/>
              <a:cxnLst/>
              <a:rect l="l" t="t" r="r" b="b"/>
              <a:pathLst>
                <a:path w="304800" h="340995">
                  <a:moveTo>
                    <a:pt x="0" y="340753"/>
                  </a:moveTo>
                  <a:lnTo>
                    <a:pt x="304800" y="340753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4075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0">
            <a:extLst>
              <a:ext uri="{FF2B5EF4-FFF2-40B4-BE49-F238E27FC236}">
                <a16:creationId xmlns:a16="http://schemas.microsoft.com/office/drawing/2014/main" id="{4142DD46-E94E-7D20-6119-D730DDE06CA3}"/>
              </a:ext>
            </a:extLst>
          </p:cNvPr>
          <p:cNvSpPr txBox="1"/>
          <p:nvPr/>
        </p:nvSpPr>
        <p:spPr>
          <a:xfrm>
            <a:off x="6980938" y="1366110"/>
            <a:ext cx="213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L1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2" name="object 71">
            <a:extLst>
              <a:ext uri="{FF2B5EF4-FFF2-40B4-BE49-F238E27FC236}">
                <a16:creationId xmlns:a16="http://schemas.microsoft.com/office/drawing/2014/main" id="{ACD73F90-111D-658C-052A-F86517E132A9}"/>
              </a:ext>
            </a:extLst>
          </p:cNvPr>
          <p:cNvSpPr txBox="1"/>
          <p:nvPr/>
        </p:nvSpPr>
        <p:spPr>
          <a:xfrm>
            <a:off x="6934964" y="2170146"/>
            <a:ext cx="302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L</a:t>
            </a:r>
            <a:r>
              <a:rPr sz="1600" spc="-15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913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1D13-D9CA-40D9-9B2E-1C81FCEA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Inclusiveness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EAF7C-EA46-4E7A-B5B3-9A63FA496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D2A9E58-298B-4D86-AF49-B4EFAF11322D}"/>
              </a:ext>
            </a:extLst>
          </p:cNvPr>
          <p:cNvSpPr txBox="1"/>
          <p:nvPr/>
        </p:nvSpPr>
        <p:spPr>
          <a:xfrm>
            <a:off x="10784110" y="3663149"/>
            <a:ext cx="330200" cy="12979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mbria"/>
                <a:cs typeface="Cambria"/>
              </a:rPr>
              <a:t>BackI</a:t>
            </a:r>
            <a:r>
              <a:rPr sz="2400" spc="-40" dirty="0">
                <a:latin typeface="Cambria"/>
                <a:cs typeface="Cambria"/>
              </a:rPr>
              <a:t>n</a:t>
            </a:r>
            <a:r>
              <a:rPr sz="2400" spc="-50" dirty="0">
                <a:latin typeface="Cambria"/>
                <a:cs typeface="Cambria"/>
              </a:rPr>
              <a:t>v</a:t>
            </a:r>
            <a:r>
              <a:rPr sz="2400" spc="-5" dirty="0">
                <a:latin typeface="Cambria"/>
                <a:cs typeface="Cambria"/>
              </a:rPr>
              <a:t>al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FB21C70-60DB-49DC-9FF0-FD9F6C5A72F0}"/>
              </a:ext>
            </a:extLst>
          </p:cNvPr>
          <p:cNvSpPr txBox="1"/>
          <p:nvPr/>
        </p:nvSpPr>
        <p:spPr>
          <a:xfrm>
            <a:off x="4911851" y="3291873"/>
            <a:ext cx="2586355" cy="743585"/>
          </a:xfrm>
          <a:prstGeom prst="rect">
            <a:avLst/>
          </a:prstGeom>
          <a:solidFill>
            <a:srgbClr val="F2F2F2"/>
          </a:solidFill>
          <a:ln w="508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L1/</a:t>
            </a:r>
            <a:r>
              <a:rPr sz="2400" spc="-25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FBD7DD9-79C8-4A4B-B262-6CA4661E663A}"/>
              </a:ext>
            </a:extLst>
          </p:cNvPr>
          <p:cNvSpPr txBox="1"/>
          <p:nvPr/>
        </p:nvSpPr>
        <p:spPr>
          <a:xfrm>
            <a:off x="4116201" y="4460098"/>
            <a:ext cx="4177665" cy="956310"/>
          </a:xfrm>
          <a:prstGeom prst="rect">
            <a:avLst/>
          </a:prstGeom>
          <a:solidFill>
            <a:srgbClr val="91D050"/>
          </a:solidFill>
          <a:ln w="508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L</a:t>
            </a:r>
            <a:r>
              <a:rPr sz="2400" spc="-40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355B0F9-E1A2-4C20-B1B1-DC108F982225}"/>
              </a:ext>
            </a:extLst>
          </p:cNvPr>
          <p:cNvSpPr/>
          <p:nvPr/>
        </p:nvSpPr>
        <p:spPr>
          <a:xfrm>
            <a:off x="1297935" y="2017476"/>
            <a:ext cx="0" cy="3675379"/>
          </a:xfrm>
          <a:custGeom>
            <a:avLst/>
            <a:gdLst/>
            <a:ahLst/>
            <a:cxnLst/>
            <a:rect l="l" t="t" r="r" b="b"/>
            <a:pathLst>
              <a:path h="3675379">
                <a:moveTo>
                  <a:pt x="0" y="3674882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E8E7324-2BBB-412F-A759-013D8071D302}"/>
              </a:ext>
            </a:extLst>
          </p:cNvPr>
          <p:cNvSpPr/>
          <p:nvPr/>
        </p:nvSpPr>
        <p:spPr>
          <a:xfrm>
            <a:off x="2168270" y="3612739"/>
            <a:ext cx="0" cy="2079625"/>
          </a:xfrm>
          <a:custGeom>
            <a:avLst/>
            <a:gdLst/>
            <a:ahLst/>
            <a:cxnLst/>
            <a:rect l="l" t="t" r="r" b="b"/>
            <a:pathLst>
              <a:path h="2079625">
                <a:moveTo>
                  <a:pt x="0" y="2079619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5F008204-75FC-4F01-8862-B5CB059CB301}"/>
              </a:ext>
            </a:extLst>
          </p:cNvPr>
          <p:cNvSpPr/>
          <p:nvPr/>
        </p:nvSpPr>
        <p:spPr>
          <a:xfrm>
            <a:off x="1733169" y="5443435"/>
            <a:ext cx="435609" cy="733425"/>
          </a:xfrm>
          <a:custGeom>
            <a:avLst/>
            <a:gdLst/>
            <a:ahLst/>
            <a:cxnLst/>
            <a:rect l="l" t="t" r="r" b="b"/>
            <a:pathLst>
              <a:path w="435610" h="733425">
                <a:moveTo>
                  <a:pt x="0" y="733424"/>
                </a:moveTo>
                <a:lnTo>
                  <a:pt x="70570" y="723827"/>
                </a:lnTo>
                <a:lnTo>
                  <a:pt x="137518" y="696041"/>
                </a:lnTo>
                <a:lnTo>
                  <a:pt x="199945" y="651575"/>
                </a:lnTo>
                <a:lnTo>
                  <a:pt x="229184" y="623558"/>
                </a:lnTo>
                <a:lnTo>
                  <a:pt x="256956" y="591937"/>
                </a:lnTo>
                <a:lnTo>
                  <a:pt x="283151" y="556901"/>
                </a:lnTo>
                <a:lnTo>
                  <a:pt x="307655" y="518637"/>
                </a:lnTo>
                <a:lnTo>
                  <a:pt x="330358" y="477335"/>
                </a:lnTo>
                <a:lnTo>
                  <a:pt x="351146" y="433183"/>
                </a:lnTo>
                <a:lnTo>
                  <a:pt x="369908" y="386370"/>
                </a:lnTo>
                <a:lnTo>
                  <a:pt x="386532" y="337083"/>
                </a:lnTo>
                <a:lnTo>
                  <a:pt x="400906" y="285513"/>
                </a:lnTo>
                <a:lnTo>
                  <a:pt x="412918" y="231847"/>
                </a:lnTo>
                <a:lnTo>
                  <a:pt x="422455" y="176274"/>
                </a:lnTo>
                <a:lnTo>
                  <a:pt x="429406" y="118983"/>
                </a:lnTo>
                <a:lnTo>
                  <a:pt x="433659" y="60162"/>
                </a:lnTo>
                <a:lnTo>
                  <a:pt x="435101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8D7AF37-6C01-4711-845C-B2137182E4A5}"/>
              </a:ext>
            </a:extLst>
          </p:cNvPr>
          <p:cNvSpPr/>
          <p:nvPr/>
        </p:nvSpPr>
        <p:spPr>
          <a:xfrm>
            <a:off x="1297935" y="5443435"/>
            <a:ext cx="435609" cy="733425"/>
          </a:xfrm>
          <a:custGeom>
            <a:avLst/>
            <a:gdLst/>
            <a:ahLst/>
            <a:cxnLst/>
            <a:rect l="l" t="t" r="r" b="b"/>
            <a:pathLst>
              <a:path w="435610" h="733425">
                <a:moveTo>
                  <a:pt x="435233" y="733424"/>
                </a:moveTo>
                <a:lnTo>
                  <a:pt x="364626" y="723827"/>
                </a:lnTo>
                <a:lnTo>
                  <a:pt x="297650" y="696041"/>
                </a:lnTo>
                <a:lnTo>
                  <a:pt x="235201" y="651575"/>
                </a:lnTo>
                <a:lnTo>
                  <a:pt x="205953" y="623558"/>
                </a:lnTo>
                <a:lnTo>
                  <a:pt x="178173" y="591937"/>
                </a:lnTo>
                <a:lnTo>
                  <a:pt x="151972" y="556901"/>
                </a:lnTo>
                <a:lnTo>
                  <a:pt x="127462" y="518637"/>
                </a:lnTo>
                <a:lnTo>
                  <a:pt x="104755" y="477335"/>
                </a:lnTo>
                <a:lnTo>
                  <a:pt x="83963" y="433183"/>
                </a:lnTo>
                <a:lnTo>
                  <a:pt x="65198" y="386370"/>
                </a:lnTo>
                <a:lnTo>
                  <a:pt x="48572" y="337083"/>
                </a:lnTo>
                <a:lnTo>
                  <a:pt x="34197" y="285513"/>
                </a:lnTo>
                <a:lnTo>
                  <a:pt x="22184" y="231847"/>
                </a:lnTo>
                <a:lnTo>
                  <a:pt x="12646" y="176274"/>
                </a:lnTo>
                <a:lnTo>
                  <a:pt x="5695" y="118983"/>
                </a:lnTo>
                <a:lnTo>
                  <a:pt x="1442" y="60162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8208A70A-EB96-4C4A-AA2A-DC28A7148D08}"/>
              </a:ext>
            </a:extLst>
          </p:cNvPr>
          <p:cNvSpPr/>
          <p:nvPr/>
        </p:nvSpPr>
        <p:spPr>
          <a:xfrm>
            <a:off x="2168270" y="4910166"/>
            <a:ext cx="1550035" cy="152400"/>
          </a:xfrm>
          <a:custGeom>
            <a:avLst/>
            <a:gdLst/>
            <a:ahLst/>
            <a:cxnLst/>
            <a:rect l="l" t="t" r="r" b="b"/>
            <a:pathLst>
              <a:path w="1550035" h="152400">
                <a:moveTo>
                  <a:pt x="1397767" y="0"/>
                </a:moveTo>
                <a:lnTo>
                  <a:pt x="1397685" y="50886"/>
                </a:lnTo>
                <a:lnTo>
                  <a:pt x="1423034" y="50922"/>
                </a:lnTo>
                <a:lnTo>
                  <a:pt x="1423034" y="101726"/>
                </a:lnTo>
                <a:lnTo>
                  <a:pt x="1397604" y="101726"/>
                </a:lnTo>
                <a:lnTo>
                  <a:pt x="1397523" y="152399"/>
                </a:lnTo>
                <a:lnTo>
                  <a:pt x="1499284" y="101726"/>
                </a:lnTo>
                <a:lnTo>
                  <a:pt x="1423034" y="101726"/>
                </a:lnTo>
                <a:lnTo>
                  <a:pt x="1499357" y="101690"/>
                </a:lnTo>
                <a:lnTo>
                  <a:pt x="1550045" y="76449"/>
                </a:lnTo>
                <a:lnTo>
                  <a:pt x="1397767" y="0"/>
                </a:lnTo>
                <a:close/>
              </a:path>
              <a:path w="1550035" h="152400">
                <a:moveTo>
                  <a:pt x="1397685" y="50886"/>
                </a:moveTo>
                <a:lnTo>
                  <a:pt x="1397604" y="101690"/>
                </a:lnTo>
                <a:lnTo>
                  <a:pt x="1423034" y="101726"/>
                </a:lnTo>
                <a:lnTo>
                  <a:pt x="1423034" y="50922"/>
                </a:lnTo>
                <a:lnTo>
                  <a:pt x="1397685" y="50886"/>
                </a:lnTo>
                <a:close/>
              </a:path>
              <a:path w="1550035" h="152400">
                <a:moveTo>
                  <a:pt x="0" y="48899"/>
                </a:moveTo>
                <a:lnTo>
                  <a:pt x="0" y="99690"/>
                </a:lnTo>
                <a:lnTo>
                  <a:pt x="1397604" y="101690"/>
                </a:lnTo>
                <a:lnTo>
                  <a:pt x="1397685" y="50886"/>
                </a:lnTo>
                <a:lnTo>
                  <a:pt x="0" y="48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1E7A453A-37C3-4D00-8609-A87F2CCAD666}"/>
              </a:ext>
            </a:extLst>
          </p:cNvPr>
          <p:cNvSpPr/>
          <p:nvPr/>
        </p:nvSpPr>
        <p:spPr>
          <a:xfrm>
            <a:off x="2168270" y="3536264"/>
            <a:ext cx="1550035" cy="152400"/>
          </a:xfrm>
          <a:custGeom>
            <a:avLst/>
            <a:gdLst/>
            <a:ahLst/>
            <a:cxnLst/>
            <a:rect l="l" t="t" r="r" b="b"/>
            <a:pathLst>
              <a:path w="1550035" h="152400">
                <a:moveTo>
                  <a:pt x="1397767" y="0"/>
                </a:moveTo>
                <a:lnTo>
                  <a:pt x="1397685" y="50773"/>
                </a:lnTo>
                <a:lnTo>
                  <a:pt x="1423034" y="50810"/>
                </a:lnTo>
                <a:lnTo>
                  <a:pt x="1423034" y="101620"/>
                </a:lnTo>
                <a:lnTo>
                  <a:pt x="1397604" y="101620"/>
                </a:lnTo>
                <a:lnTo>
                  <a:pt x="1397523" y="152399"/>
                </a:lnTo>
                <a:lnTo>
                  <a:pt x="1499531" y="101620"/>
                </a:lnTo>
                <a:lnTo>
                  <a:pt x="1423034" y="101620"/>
                </a:lnTo>
                <a:lnTo>
                  <a:pt x="1499604" y="101583"/>
                </a:lnTo>
                <a:lnTo>
                  <a:pt x="1550045" y="76474"/>
                </a:lnTo>
                <a:lnTo>
                  <a:pt x="1397767" y="0"/>
                </a:lnTo>
                <a:close/>
              </a:path>
              <a:path w="1550035" h="152400">
                <a:moveTo>
                  <a:pt x="1397685" y="50773"/>
                </a:moveTo>
                <a:lnTo>
                  <a:pt x="1397604" y="101583"/>
                </a:lnTo>
                <a:lnTo>
                  <a:pt x="1423034" y="101620"/>
                </a:lnTo>
                <a:lnTo>
                  <a:pt x="1423034" y="50810"/>
                </a:lnTo>
                <a:lnTo>
                  <a:pt x="1397685" y="50773"/>
                </a:lnTo>
                <a:close/>
              </a:path>
              <a:path w="1550035" h="152400">
                <a:moveTo>
                  <a:pt x="0" y="48767"/>
                </a:moveTo>
                <a:lnTo>
                  <a:pt x="0" y="99578"/>
                </a:lnTo>
                <a:lnTo>
                  <a:pt x="1397604" y="101583"/>
                </a:lnTo>
                <a:lnTo>
                  <a:pt x="1397685" y="50773"/>
                </a:lnTo>
                <a:lnTo>
                  <a:pt x="0" y="48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C99A99E-642B-47A4-8747-5A5BC9E02833}"/>
              </a:ext>
            </a:extLst>
          </p:cNvPr>
          <p:cNvSpPr txBox="1"/>
          <p:nvPr/>
        </p:nvSpPr>
        <p:spPr>
          <a:xfrm>
            <a:off x="5666998" y="5564317"/>
            <a:ext cx="8407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vic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spc="-15" dirty="0">
                <a:latin typeface="Cambria"/>
                <a:cs typeface="Cambria"/>
              </a:rPr>
              <a:t>im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B646325C-BAD8-4903-8C7B-AF64E137D60F}"/>
              </a:ext>
            </a:extLst>
          </p:cNvPr>
          <p:cNvSpPr txBox="1"/>
          <p:nvPr/>
        </p:nvSpPr>
        <p:spPr>
          <a:xfrm>
            <a:off x="299109" y="5181411"/>
            <a:ext cx="2673350" cy="130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304415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400" dirty="0">
                <a:latin typeface="Cambria"/>
                <a:cs typeface="Cambria"/>
              </a:rPr>
              <a:t>me</a:t>
            </a:r>
            <a:r>
              <a:rPr sz="2400" spc="-10" dirty="0">
                <a:latin typeface="Cambria"/>
                <a:cs typeface="Cambria"/>
              </a:rPr>
              <a:t>m</a:t>
            </a:r>
            <a:r>
              <a:rPr sz="2400" dirty="0">
                <a:latin typeface="Cambria"/>
                <a:cs typeface="Cambria"/>
              </a:rPr>
              <a:t>ory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0B56BD36-C12F-4E9A-8C99-872BA8DCE1F6}"/>
              </a:ext>
            </a:extLst>
          </p:cNvPr>
          <p:cNvSpPr txBox="1"/>
          <p:nvPr/>
        </p:nvSpPr>
        <p:spPr>
          <a:xfrm>
            <a:off x="2603756" y="3816040"/>
            <a:ext cx="3689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f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spc="-5" dirty="0">
                <a:latin typeface="Cambria"/>
                <a:cs typeface="Cambria"/>
              </a:rPr>
              <a:t>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AAAA1AF4-F48B-4B16-BB1E-75999AE22231}"/>
              </a:ext>
            </a:extLst>
          </p:cNvPr>
          <p:cNvSpPr txBox="1"/>
          <p:nvPr/>
        </p:nvSpPr>
        <p:spPr>
          <a:xfrm>
            <a:off x="1493009" y="1994725"/>
            <a:ext cx="168528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Co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spc="-15" dirty="0">
                <a:latin typeface="Cambria"/>
                <a:cs typeface="Cambria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spc="-15" dirty="0">
                <a:latin typeface="Cambria"/>
                <a:cs typeface="Cambria"/>
              </a:rPr>
              <a:t>equest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361575E-4F95-4166-B7C3-3DF6541FE6E3}"/>
              </a:ext>
            </a:extLst>
          </p:cNvPr>
          <p:cNvSpPr/>
          <p:nvPr/>
        </p:nvSpPr>
        <p:spPr>
          <a:xfrm>
            <a:off x="9846441" y="3611702"/>
            <a:ext cx="0" cy="1991360"/>
          </a:xfrm>
          <a:custGeom>
            <a:avLst/>
            <a:gdLst/>
            <a:ahLst/>
            <a:cxnLst/>
            <a:rect l="l" t="t" r="r" b="b"/>
            <a:pathLst>
              <a:path h="1991360">
                <a:moveTo>
                  <a:pt x="0" y="0"/>
                </a:moveTo>
                <a:lnTo>
                  <a:pt x="0" y="1991313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6F36650E-F370-4A65-862C-9C7089810ADF}"/>
              </a:ext>
            </a:extLst>
          </p:cNvPr>
          <p:cNvSpPr/>
          <p:nvPr/>
        </p:nvSpPr>
        <p:spPr>
          <a:xfrm>
            <a:off x="7895843" y="3535380"/>
            <a:ext cx="1950720" cy="152400"/>
          </a:xfrm>
          <a:custGeom>
            <a:avLst/>
            <a:gdLst/>
            <a:ahLst/>
            <a:cxnLst/>
            <a:rect l="l" t="t" r="r" b="b"/>
            <a:pathLst>
              <a:path w="1950720" h="152400">
                <a:moveTo>
                  <a:pt x="152278" y="0"/>
                </a:moveTo>
                <a:lnTo>
                  <a:pt x="0" y="76321"/>
                </a:lnTo>
                <a:lnTo>
                  <a:pt x="152399" y="152399"/>
                </a:lnTo>
                <a:lnTo>
                  <a:pt x="152359" y="101620"/>
                </a:lnTo>
                <a:lnTo>
                  <a:pt x="127010" y="101620"/>
                </a:lnTo>
                <a:lnTo>
                  <a:pt x="127010" y="50810"/>
                </a:lnTo>
                <a:lnTo>
                  <a:pt x="152318" y="50792"/>
                </a:lnTo>
                <a:lnTo>
                  <a:pt x="152278" y="0"/>
                </a:lnTo>
                <a:close/>
              </a:path>
              <a:path w="1950720" h="152400">
                <a:moveTo>
                  <a:pt x="152318" y="50792"/>
                </a:moveTo>
                <a:lnTo>
                  <a:pt x="127010" y="50810"/>
                </a:lnTo>
                <a:lnTo>
                  <a:pt x="127010" y="101620"/>
                </a:lnTo>
                <a:lnTo>
                  <a:pt x="152359" y="101602"/>
                </a:lnTo>
                <a:lnTo>
                  <a:pt x="152318" y="50792"/>
                </a:lnTo>
                <a:close/>
              </a:path>
              <a:path w="1950720" h="152400">
                <a:moveTo>
                  <a:pt x="152359" y="101602"/>
                </a:moveTo>
                <a:lnTo>
                  <a:pt x="127010" y="101620"/>
                </a:lnTo>
                <a:lnTo>
                  <a:pt x="152359" y="101620"/>
                </a:lnTo>
                <a:close/>
              </a:path>
              <a:path w="1950720" h="152400">
                <a:moveTo>
                  <a:pt x="1950598" y="49529"/>
                </a:moveTo>
                <a:lnTo>
                  <a:pt x="152318" y="50792"/>
                </a:lnTo>
                <a:lnTo>
                  <a:pt x="152359" y="101602"/>
                </a:lnTo>
                <a:lnTo>
                  <a:pt x="1950598" y="100340"/>
                </a:lnTo>
                <a:lnTo>
                  <a:pt x="1950598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6451EA0D-DDEE-41C2-A3CE-1775381E7668}"/>
              </a:ext>
            </a:extLst>
          </p:cNvPr>
          <p:cNvSpPr/>
          <p:nvPr/>
        </p:nvSpPr>
        <p:spPr>
          <a:xfrm>
            <a:off x="7895843" y="5627338"/>
            <a:ext cx="1992630" cy="2540"/>
          </a:xfrm>
          <a:custGeom>
            <a:avLst/>
            <a:gdLst/>
            <a:ahLst/>
            <a:cxnLst/>
            <a:rect l="l" t="t" r="r" b="b"/>
            <a:pathLst>
              <a:path w="1992629" h="2539">
                <a:moveTo>
                  <a:pt x="0" y="0"/>
                </a:moveTo>
                <a:lnTo>
                  <a:pt x="1992111" y="2154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2DD2CD7F-8B5E-47DD-A76B-C27A7CF967E5}"/>
              </a:ext>
            </a:extLst>
          </p:cNvPr>
          <p:cNvSpPr txBox="1"/>
          <p:nvPr/>
        </p:nvSpPr>
        <p:spPr>
          <a:xfrm>
            <a:off x="8454904" y="3163380"/>
            <a:ext cx="6477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vict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71044820-8D2B-4F7B-B054-BCD7E2D14AAD}"/>
              </a:ext>
            </a:extLst>
          </p:cNvPr>
          <p:cNvSpPr/>
          <p:nvPr/>
        </p:nvSpPr>
        <p:spPr>
          <a:xfrm>
            <a:off x="7819643" y="5414991"/>
            <a:ext cx="152400" cy="762000"/>
          </a:xfrm>
          <a:custGeom>
            <a:avLst/>
            <a:gdLst/>
            <a:ahLst/>
            <a:cxnLst/>
            <a:rect l="l" t="t" r="r" b="b"/>
            <a:pathLst>
              <a:path w="152400" h="762000">
                <a:moveTo>
                  <a:pt x="50797" y="609468"/>
                </a:moveTo>
                <a:lnTo>
                  <a:pt x="0" y="609468"/>
                </a:lnTo>
                <a:lnTo>
                  <a:pt x="76199" y="761868"/>
                </a:lnTo>
                <a:lnTo>
                  <a:pt x="139695" y="634877"/>
                </a:lnTo>
                <a:lnTo>
                  <a:pt x="50797" y="634877"/>
                </a:lnTo>
                <a:lnTo>
                  <a:pt x="50797" y="609468"/>
                </a:lnTo>
                <a:close/>
              </a:path>
              <a:path w="152400" h="762000">
                <a:moveTo>
                  <a:pt x="101589" y="0"/>
                </a:moveTo>
                <a:lnTo>
                  <a:pt x="50797" y="0"/>
                </a:lnTo>
                <a:lnTo>
                  <a:pt x="50797" y="634877"/>
                </a:lnTo>
                <a:lnTo>
                  <a:pt x="101589" y="634877"/>
                </a:lnTo>
                <a:lnTo>
                  <a:pt x="101589" y="0"/>
                </a:lnTo>
                <a:close/>
              </a:path>
              <a:path w="152400" h="762000">
                <a:moveTo>
                  <a:pt x="152399" y="609468"/>
                </a:moveTo>
                <a:lnTo>
                  <a:pt x="101589" y="609468"/>
                </a:lnTo>
                <a:lnTo>
                  <a:pt x="101589" y="634877"/>
                </a:lnTo>
                <a:lnTo>
                  <a:pt x="139695" y="634877"/>
                </a:lnTo>
                <a:lnTo>
                  <a:pt x="152399" y="609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695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DABE-9A88-4298-93B8-AF2D1899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Non-inclusive (Commercial machines)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AEDCB-5065-42A2-9B63-F9327B89CC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B21EC84C-73A4-467F-BA03-E8FD78ECBEA4}"/>
              </a:ext>
            </a:extLst>
          </p:cNvPr>
          <p:cNvSpPr txBox="1"/>
          <p:nvPr/>
        </p:nvSpPr>
        <p:spPr>
          <a:xfrm>
            <a:off x="4908130" y="3334279"/>
            <a:ext cx="2599690" cy="701040"/>
          </a:xfrm>
          <a:prstGeom prst="rect">
            <a:avLst/>
          </a:prstGeom>
          <a:solidFill>
            <a:srgbClr val="F2F2F2"/>
          </a:solidFill>
          <a:ln w="508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L1/</a:t>
            </a:r>
            <a:r>
              <a:rPr sz="2400" spc="-25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C9E03B03-5741-417B-A7DE-488A490951E5}"/>
              </a:ext>
            </a:extLst>
          </p:cNvPr>
          <p:cNvSpPr txBox="1"/>
          <p:nvPr/>
        </p:nvSpPr>
        <p:spPr>
          <a:xfrm>
            <a:off x="4108152" y="4435107"/>
            <a:ext cx="4199890" cy="901065"/>
          </a:xfrm>
          <a:prstGeom prst="rect">
            <a:avLst/>
          </a:prstGeom>
          <a:solidFill>
            <a:srgbClr val="91D050"/>
          </a:solidFill>
          <a:ln w="508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L</a:t>
            </a:r>
            <a:r>
              <a:rPr sz="2400" spc="-40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AE104FAA-A992-4567-9ED8-E4FB3032E112}"/>
              </a:ext>
            </a:extLst>
          </p:cNvPr>
          <p:cNvSpPr/>
          <p:nvPr/>
        </p:nvSpPr>
        <p:spPr>
          <a:xfrm>
            <a:off x="1275286" y="2133471"/>
            <a:ext cx="0" cy="3463290"/>
          </a:xfrm>
          <a:custGeom>
            <a:avLst/>
            <a:gdLst/>
            <a:ahLst/>
            <a:cxnLst/>
            <a:rect l="l" t="t" r="r" b="b"/>
            <a:pathLst>
              <a:path h="3463290">
                <a:moveTo>
                  <a:pt x="0" y="3462899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4C472A0F-A38B-4B79-B44A-0B73A6ED5FFD}"/>
              </a:ext>
            </a:extLst>
          </p:cNvPr>
          <p:cNvSpPr/>
          <p:nvPr/>
        </p:nvSpPr>
        <p:spPr>
          <a:xfrm>
            <a:off x="2150209" y="3636622"/>
            <a:ext cx="0" cy="1960245"/>
          </a:xfrm>
          <a:custGeom>
            <a:avLst/>
            <a:gdLst/>
            <a:ahLst/>
            <a:cxnLst/>
            <a:rect l="l" t="t" r="r" b="b"/>
            <a:pathLst>
              <a:path h="1960245">
                <a:moveTo>
                  <a:pt x="0" y="1959748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D75465C5-CA3C-4688-9789-1B79822CC8BE}"/>
              </a:ext>
            </a:extLst>
          </p:cNvPr>
          <p:cNvSpPr/>
          <p:nvPr/>
        </p:nvSpPr>
        <p:spPr>
          <a:xfrm>
            <a:off x="1712674" y="5361805"/>
            <a:ext cx="438150" cy="691515"/>
          </a:xfrm>
          <a:custGeom>
            <a:avLst/>
            <a:gdLst/>
            <a:ahLst/>
            <a:cxnLst/>
            <a:rect l="l" t="t" r="r" b="b"/>
            <a:pathLst>
              <a:path w="438150" h="691514">
                <a:moveTo>
                  <a:pt x="0" y="691133"/>
                </a:moveTo>
                <a:lnTo>
                  <a:pt x="70984" y="682089"/>
                </a:lnTo>
                <a:lnTo>
                  <a:pt x="138316" y="655905"/>
                </a:lnTo>
                <a:lnTo>
                  <a:pt x="201097" y="614002"/>
                </a:lnTo>
                <a:lnTo>
                  <a:pt x="230499" y="587600"/>
                </a:lnTo>
                <a:lnTo>
                  <a:pt x="258426" y="557802"/>
                </a:lnTo>
                <a:lnTo>
                  <a:pt x="284765" y="524785"/>
                </a:lnTo>
                <a:lnTo>
                  <a:pt x="309404" y="488727"/>
                </a:lnTo>
                <a:lnTo>
                  <a:pt x="332230" y="449806"/>
                </a:lnTo>
                <a:lnTo>
                  <a:pt x="353131" y="408200"/>
                </a:lnTo>
                <a:lnTo>
                  <a:pt x="371995" y="364086"/>
                </a:lnTo>
                <a:lnTo>
                  <a:pt x="388708" y="317641"/>
                </a:lnTo>
                <a:lnTo>
                  <a:pt x="403158" y="269045"/>
                </a:lnTo>
                <a:lnTo>
                  <a:pt x="415233" y="218474"/>
                </a:lnTo>
                <a:lnTo>
                  <a:pt x="424821" y="166106"/>
                </a:lnTo>
                <a:lnTo>
                  <a:pt x="431809" y="112119"/>
                </a:lnTo>
                <a:lnTo>
                  <a:pt x="436084" y="56691"/>
                </a:lnTo>
                <a:lnTo>
                  <a:pt x="437534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2B8920AF-1DAB-412E-BDEB-8D2880DEAFED}"/>
              </a:ext>
            </a:extLst>
          </p:cNvPr>
          <p:cNvSpPr/>
          <p:nvPr/>
        </p:nvSpPr>
        <p:spPr>
          <a:xfrm>
            <a:off x="1275286" y="5361805"/>
            <a:ext cx="437515" cy="691515"/>
          </a:xfrm>
          <a:custGeom>
            <a:avLst/>
            <a:gdLst/>
            <a:ahLst/>
            <a:cxnLst/>
            <a:rect l="l" t="t" r="r" b="b"/>
            <a:pathLst>
              <a:path w="437514" h="691514">
                <a:moveTo>
                  <a:pt x="437387" y="691133"/>
                </a:moveTo>
                <a:lnTo>
                  <a:pt x="366443" y="682089"/>
                </a:lnTo>
                <a:lnTo>
                  <a:pt x="299142" y="655905"/>
                </a:lnTo>
                <a:lnTo>
                  <a:pt x="236386" y="614002"/>
                </a:lnTo>
                <a:lnTo>
                  <a:pt x="206994" y="587600"/>
                </a:lnTo>
                <a:lnTo>
                  <a:pt x="179076" y="557802"/>
                </a:lnTo>
                <a:lnTo>
                  <a:pt x="152744" y="524785"/>
                </a:lnTo>
                <a:lnTo>
                  <a:pt x="128111" y="488727"/>
                </a:lnTo>
                <a:lnTo>
                  <a:pt x="105290" y="449806"/>
                </a:lnTo>
                <a:lnTo>
                  <a:pt x="84393" y="408200"/>
                </a:lnTo>
                <a:lnTo>
                  <a:pt x="65532" y="364086"/>
                </a:lnTo>
                <a:lnTo>
                  <a:pt x="48822" y="317641"/>
                </a:lnTo>
                <a:lnTo>
                  <a:pt x="34373" y="269045"/>
                </a:lnTo>
                <a:lnTo>
                  <a:pt x="22299" y="218474"/>
                </a:lnTo>
                <a:lnTo>
                  <a:pt x="12712" y="166106"/>
                </a:lnTo>
                <a:lnTo>
                  <a:pt x="5724" y="112119"/>
                </a:lnTo>
                <a:lnTo>
                  <a:pt x="1449" y="56691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FC6E9269-49B5-4D04-A642-DA4121C3AEDE}"/>
              </a:ext>
            </a:extLst>
          </p:cNvPr>
          <p:cNvSpPr/>
          <p:nvPr/>
        </p:nvSpPr>
        <p:spPr>
          <a:xfrm>
            <a:off x="2150209" y="4854945"/>
            <a:ext cx="1558290" cy="152400"/>
          </a:xfrm>
          <a:custGeom>
            <a:avLst/>
            <a:gdLst/>
            <a:ahLst/>
            <a:cxnLst/>
            <a:rect l="l" t="t" r="r" b="b"/>
            <a:pathLst>
              <a:path w="1558289" h="152400">
                <a:moveTo>
                  <a:pt x="1405737" y="0"/>
                </a:moveTo>
                <a:lnTo>
                  <a:pt x="1405656" y="50770"/>
                </a:lnTo>
                <a:lnTo>
                  <a:pt x="1431157" y="50804"/>
                </a:lnTo>
                <a:lnTo>
                  <a:pt x="1431035" y="101608"/>
                </a:lnTo>
                <a:lnTo>
                  <a:pt x="1405574" y="101608"/>
                </a:lnTo>
                <a:lnTo>
                  <a:pt x="1405493" y="152399"/>
                </a:lnTo>
                <a:lnTo>
                  <a:pt x="1507333" y="101608"/>
                </a:lnTo>
                <a:lnTo>
                  <a:pt x="1431035" y="101608"/>
                </a:lnTo>
                <a:lnTo>
                  <a:pt x="1507401" y="101574"/>
                </a:lnTo>
                <a:lnTo>
                  <a:pt x="1558015" y="76331"/>
                </a:lnTo>
                <a:lnTo>
                  <a:pt x="1405737" y="0"/>
                </a:lnTo>
                <a:close/>
              </a:path>
              <a:path w="1558289" h="152400">
                <a:moveTo>
                  <a:pt x="1405656" y="50770"/>
                </a:moveTo>
                <a:lnTo>
                  <a:pt x="1405575" y="101574"/>
                </a:lnTo>
                <a:lnTo>
                  <a:pt x="1431035" y="101608"/>
                </a:lnTo>
                <a:lnTo>
                  <a:pt x="1431157" y="50804"/>
                </a:lnTo>
                <a:lnTo>
                  <a:pt x="1405656" y="50770"/>
                </a:lnTo>
                <a:close/>
              </a:path>
              <a:path w="1558289" h="152400">
                <a:moveTo>
                  <a:pt x="0" y="48899"/>
                </a:moveTo>
                <a:lnTo>
                  <a:pt x="0" y="99703"/>
                </a:lnTo>
                <a:lnTo>
                  <a:pt x="1405575" y="101574"/>
                </a:lnTo>
                <a:lnTo>
                  <a:pt x="1405656" y="50770"/>
                </a:lnTo>
                <a:lnTo>
                  <a:pt x="0" y="48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558DA542-0424-4ED3-A151-D0C8FB8E36EA}"/>
              </a:ext>
            </a:extLst>
          </p:cNvPr>
          <p:cNvSpPr/>
          <p:nvPr/>
        </p:nvSpPr>
        <p:spPr>
          <a:xfrm>
            <a:off x="2150209" y="3560178"/>
            <a:ext cx="1558290" cy="152400"/>
          </a:xfrm>
          <a:custGeom>
            <a:avLst/>
            <a:gdLst/>
            <a:ahLst/>
            <a:cxnLst/>
            <a:rect l="l" t="t" r="r" b="b"/>
            <a:pathLst>
              <a:path w="1558289" h="152400">
                <a:moveTo>
                  <a:pt x="1405737" y="0"/>
                </a:moveTo>
                <a:lnTo>
                  <a:pt x="1405656" y="50897"/>
                </a:lnTo>
                <a:lnTo>
                  <a:pt x="1431157" y="50932"/>
                </a:lnTo>
                <a:lnTo>
                  <a:pt x="1431035" y="101742"/>
                </a:lnTo>
                <a:lnTo>
                  <a:pt x="1405574" y="101742"/>
                </a:lnTo>
                <a:lnTo>
                  <a:pt x="1405493" y="152399"/>
                </a:lnTo>
                <a:lnTo>
                  <a:pt x="1507215" y="101742"/>
                </a:lnTo>
                <a:lnTo>
                  <a:pt x="1431035" y="101742"/>
                </a:lnTo>
                <a:lnTo>
                  <a:pt x="1507284" y="101708"/>
                </a:lnTo>
                <a:lnTo>
                  <a:pt x="1558015" y="76443"/>
                </a:lnTo>
                <a:lnTo>
                  <a:pt x="1405737" y="0"/>
                </a:lnTo>
                <a:close/>
              </a:path>
              <a:path w="1558289" h="152400">
                <a:moveTo>
                  <a:pt x="1405656" y="50897"/>
                </a:moveTo>
                <a:lnTo>
                  <a:pt x="1405574" y="101708"/>
                </a:lnTo>
                <a:lnTo>
                  <a:pt x="1431035" y="101742"/>
                </a:lnTo>
                <a:lnTo>
                  <a:pt x="1431157" y="50932"/>
                </a:lnTo>
                <a:lnTo>
                  <a:pt x="1405656" y="50897"/>
                </a:lnTo>
                <a:close/>
              </a:path>
              <a:path w="1558289" h="152400">
                <a:moveTo>
                  <a:pt x="0" y="49011"/>
                </a:moveTo>
                <a:lnTo>
                  <a:pt x="0" y="99821"/>
                </a:lnTo>
                <a:lnTo>
                  <a:pt x="1405574" y="101708"/>
                </a:lnTo>
                <a:lnTo>
                  <a:pt x="1405656" y="50897"/>
                </a:lnTo>
                <a:lnTo>
                  <a:pt x="0" y="490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6F66BF38-241B-4927-BACF-645EBE752AA7}"/>
              </a:ext>
            </a:extLst>
          </p:cNvPr>
          <p:cNvSpPr txBox="1"/>
          <p:nvPr/>
        </p:nvSpPr>
        <p:spPr>
          <a:xfrm>
            <a:off x="2587584" y="5119972"/>
            <a:ext cx="36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BEEF4BD1-F2A4-4E71-B602-8525AA767074}"/>
              </a:ext>
            </a:extLst>
          </p:cNvPr>
          <p:cNvSpPr txBox="1"/>
          <p:nvPr/>
        </p:nvSpPr>
        <p:spPr>
          <a:xfrm>
            <a:off x="2587584" y="3833079"/>
            <a:ext cx="36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A037EA5D-B692-4E4F-AD69-9BFFC1828F70}"/>
              </a:ext>
            </a:extLst>
          </p:cNvPr>
          <p:cNvSpPr txBox="1"/>
          <p:nvPr/>
        </p:nvSpPr>
        <p:spPr>
          <a:xfrm>
            <a:off x="1471123" y="2117054"/>
            <a:ext cx="168528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Co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spc="-15" dirty="0">
                <a:latin typeface="Cambria"/>
                <a:cs typeface="Cambria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spc="-15" dirty="0">
                <a:latin typeface="Cambria"/>
                <a:cs typeface="Cambria"/>
              </a:rPr>
              <a:t>equest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05A3BBFF-14C2-4C23-8758-B1EEC6188A5C}"/>
              </a:ext>
            </a:extLst>
          </p:cNvPr>
          <p:cNvSpPr/>
          <p:nvPr/>
        </p:nvSpPr>
        <p:spPr>
          <a:xfrm>
            <a:off x="7914739" y="5335766"/>
            <a:ext cx="152400" cy="717550"/>
          </a:xfrm>
          <a:custGeom>
            <a:avLst/>
            <a:gdLst/>
            <a:ahLst/>
            <a:cxnLst/>
            <a:rect l="l" t="t" r="r" b="b"/>
            <a:pathLst>
              <a:path w="152400" h="717550">
                <a:moveTo>
                  <a:pt x="50797" y="564773"/>
                </a:moveTo>
                <a:lnTo>
                  <a:pt x="0" y="564773"/>
                </a:lnTo>
                <a:lnTo>
                  <a:pt x="76199" y="717173"/>
                </a:lnTo>
                <a:lnTo>
                  <a:pt x="139702" y="590168"/>
                </a:lnTo>
                <a:lnTo>
                  <a:pt x="50797" y="590168"/>
                </a:lnTo>
                <a:lnTo>
                  <a:pt x="50797" y="564773"/>
                </a:lnTo>
                <a:close/>
              </a:path>
              <a:path w="152400" h="717550">
                <a:moveTo>
                  <a:pt x="101589" y="0"/>
                </a:moveTo>
                <a:lnTo>
                  <a:pt x="50797" y="0"/>
                </a:lnTo>
                <a:lnTo>
                  <a:pt x="50797" y="590168"/>
                </a:lnTo>
                <a:lnTo>
                  <a:pt x="101589" y="590168"/>
                </a:lnTo>
                <a:lnTo>
                  <a:pt x="101589" y="0"/>
                </a:lnTo>
                <a:close/>
              </a:path>
              <a:path w="152400" h="717550">
                <a:moveTo>
                  <a:pt x="152399" y="564773"/>
                </a:moveTo>
                <a:lnTo>
                  <a:pt x="101589" y="564773"/>
                </a:lnTo>
                <a:lnTo>
                  <a:pt x="101589" y="590168"/>
                </a:lnTo>
                <a:lnTo>
                  <a:pt x="139702" y="590168"/>
                </a:lnTo>
                <a:lnTo>
                  <a:pt x="152399" y="564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5DA3DFDD-0D92-4570-8612-E628DBEA51A9}"/>
              </a:ext>
            </a:extLst>
          </p:cNvPr>
          <p:cNvSpPr txBox="1"/>
          <p:nvPr/>
        </p:nvSpPr>
        <p:spPr>
          <a:xfrm>
            <a:off x="387808" y="5420200"/>
            <a:ext cx="6323965" cy="93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vic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spc="-15" dirty="0">
                <a:latin typeface="Cambria"/>
                <a:cs typeface="Cambria"/>
              </a:rPr>
              <a:t>im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400" spc="-20" dirty="0">
                <a:latin typeface="Cambria"/>
                <a:cs typeface="Cambria"/>
              </a:rPr>
              <a:t>mem</a:t>
            </a:r>
            <a:r>
              <a:rPr sz="2400" spc="-25" dirty="0">
                <a:latin typeface="Cambria"/>
                <a:cs typeface="Cambria"/>
              </a:rPr>
              <a:t>o</a:t>
            </a:r>
            <a:r>
              <a:rPr sz="2400" spc="-15" dirty="0">
                <a:latin typeface="Cambria"/>
                <a:cs typeface="Cambria"/>
              </a:rPr>
              <a:t>ry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3760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A970-D279-4069-B0AA-6EAECAEC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Exclusive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DE67E-BC01-4DD7-BB74-8C99D8747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E41D318C-52FC-4BFA-80C4-3F1DF337651F}"/>
              </a:ext>
            </a:extLst>
          </p:cNvPr>
          <p:cNvSpPr/>
          <p:nvPr/>
        </p:nvSpPr>
        <p:spPr>
          <a:xfrm>
            <a:off x="4843789" y="3305069"/>
            <a:ext cx="2329815" cy="730250"/>
          </a:xfrm>
          <a:custGeom>
            <a:avLst/>
            <a:gdLst/>
            <a:ahLst/>
            <a:cxnLst/>
            <a:rect l="l" t="t" r="r" b="b"/>
            <a:pathLst>
              <a:path w="2329815" h="730250">
                <a:moveTo>
                  <a:pt x="0" y="729889"/>
                </a:moveTo>
                <a:lnTo>
                  <a:pt x="2329683" y="729889"/>
                </a:lnTo>
                <a:lnTo>
                  <a:pt x="2329683" y="0"/>
                </a:lnTo>
                <a:lnTo>
                  <a:pt x="0" y="0"/>
                </a:lnTo>
                <a:lnTo>
                  <a:pt x="0" y="72988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CF7B6BEA-9050-411E-9B6A-3D382C9F363D}"/>
              </a:ext>
            </a:extLst>
          </p:cNvPr>
          <p:cNvSpPr/>
          <p:nvPr/>
        </p:nvSpPr>
        <p:spPr>
          <a:xfrm>
            <a:off x="4843789" y="3305069"/>
            <a:ext cx="2329815" cy="730250"/>
          </a:xfrm>
          <a:custGeom>
            <a:avLst/>
            <a:gdLst/>
            <a:ahLst/>
            <a:cxnLst/>
            <a:rect l="l" t="t" r="r" b="b"/>
            <a:pathLst>
              <a:path w="2329815" h="730250">
                <a:moveTo>
                  <a:pt x="0" y="729889"/>
                </a:moveTo>
                <a:lnTo>
                  <a:pt x="2329683" y="729889"/>
                </a:lnTo>
                <a:lnTo>
                  <a:pt x="2329683" y="0"/>
                </a:lnTo>
                <a:lnTo>
                  <a:pt x="0" y="0"/>
                </a:lnTo>
                <a:lnTo>
                  <a:pt x="0" y="729889"/>
                </a:lnTo>
                <a:close/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8B2D81E9-EA60-4B6A-AD40-6850ABFA7582}"/>
              </a:ext>
            </a:extLst>
          </p:cNvPr>
          <p:cNvSpPr txBox="1"/>
          <p:nvPr/>
        </p:nvSpPr>
        <p:spPr>
          <a:xfrm>
            <a:off x="5589670" y="3525153"/>
            <a:ext cx="8388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mbria"/>
                <a:cs typeface="Cambria"/>
              </a:rPr>
              <a:t>L1/</a:t>
            </a:r>
            <a:r>
              <a:rPr sz="2400" spc="-25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AF5E4DFF-F2AD-4180-A0B4-0B102AEFC52C}"/>
              </a:ext>
            </a:extLst>
          </p:cNvPr>
          <p:cNvSpPr txBox="1"/>
          <p:nvPr/>
        </p:nvSpPr>
        <p:spPr>
          <a:xfrm>
            <a:off x="4127022" y="4451998"/>
            <a:ext cx="3763645" cy="938530"/>
          </a:xfrm>
          <a:prstGeom prst="rect">
            <a:avLst/>
          </a:prstGeom>
          <a:solidFill>
            <a:srgbClr val="91D050"/>
          </a:solidFill>
          <a:ln w="508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L</a:t>
            </a:r>
            <a:r>
              <a:rPr sz="2400" spc="-25" dirty="0">
                <a:latin typeface="Cambria"/>
                <a:cs typeface="Cambria"/>
              </a:rPr>
              <a:t>L</a:t>
            </a:r>
            <a:r>
              <a:rPr sz="240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67BAD6E8-A210-41C4-A5E6-CA4D1B8F0E6E}"/>
              </a:ext>
            </a:extLst>
          </p:cNvPr>
          <p:cNvSpPr/>
          <p:nvPr/>
        </p:nvSpPr>
        <p:spPr>
          <a:xfrm>
            <a:off x="1588154" y="2053759"/>
            <a:ext cx="0" cy="3608704"/>
          </a:xfrm>
          <a:custGeom>
            <a:avLst/>
            <a:gdLst/>
            <a:ahLst/>
            <a:cxnLst/>
            <a:rect l="l" t="t" r="r" b="b"/>
            <a:pathLst>
              <a:path h="3608704">
                <a:moveTo>
                  <a:pt x="0" y="36082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214B9B39-0C6B-4857-AF58-3E966C6D17B9}"/>
              </a:ext>
            </a:extLst>
          </p:cNvPr>
          <p:cNvSpPr/>
          <p:nvPr/>
        </p:nvSpPr>
        <p:spPr>
          <a:xfrm>
            <a:off x="2372251" y="3620034"/>
            <a:ext cx="0" cy="2042160"/>
          </a:xfrm>
          <a:custGeom>
            <a:avLst/>
            <a:gdLst/>
            <a:ahLst/>
            <a:cxnLst/>
            <a:rect l="l" t="t" r="r" b="b"/>
            <a:pathLst>
              <a:path h="2042160">
                <a:moveTo>
                  <a:pt x="0" y="2041925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76C6A535-4882-4DE6-92EF-E7635A40D3A4}"/>
              </a:ext>
            </a:extLst>
          </p:cNvPr>
          <p:cNvSpPr/>
          <p:nvPr/>
        </p:nvSpPr>
        <p:spPr>
          <a:xfrm>
            <a:off x="1980203" y="5417608"/>
            <a:ext cx="392430" cy="720090"/>
          </a:xfrm>
          <a:custGeom>
            <a:avLst/>
            <a:gdLst/>
            <a:ahLst/>
            <a:cxnLst/>
            <a:rect l="l" t="t" r="r" b="b"/>
            <a:pathLst>
              <a:path w="392430" h="720089">
                <a:moveTo>
                  <a:pt x="0" y="720089"/>
                </a:moveTo>
                <a:lnTo>
                  <a:pt x="63593" y="710667"/>
                </a:lnTo>
                <a:lnTo>
                  <a:pt x="123919" y="683385"/>
                </a:lnTo>
                <a:lnTo>
                  <a:pt x="180170" y="639727"/>
                </a:lnTo>
                <a:lnTo>
                  <a:pt x="231540" y="581174"/>
                </a:lnTo>
                <a:lnTo>
                  <a:pt x="255142" y="546774"/>
                </a:lnTo>
                <a:lnTo>
                  <a:pt x="277222" y="509206"/>
                </a:lnTo>
                <a:lnTo>
                  <a:pt x="297677" y="468655"/>
                </a:lnTo>
                <a:lnTo>
                  <a:pt x="316407" y="425305"/>
                </a:lnTo>
                <a:lnTo>
                  <a:pt x="333312" y="379343"/>
                </a:lnTo>
                <a:lnTo>
                  <a:pt x="348289" y="330953"/>
                </a:lnTo>
                <a:lnTo>
                  <a:pt x="361240" y="280320"/>
                </a:lnTo>
                <a:lnTo>
                  <a:pt x="372062" y="227630"/>
                </a:lnTo>
                <a:lnTo>
                  <a:pt x="380655" y="173068"/>
                </a:lnTo>
                <a:lnTo>
                  <a:pt x="386917" y="116819"/>
                </a:lnTo>
                <a:lnTo>
                  <a:pt x="390749" y="59067"/>
                </a:lnTo>
                <a:lnTo>
                  <a:pt x="392048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19B4E12D-1A76-4D44-87F2-7D9B6C97218D}"/>
              </a:ext>
            </a:extLst>
          </p:cNvPr>
          <p:cNvSpPr/>
          <p:nvPr/>
        </p:nvSpPr>
        <p:spPr>
          <a:xfrm>
            <a:off x="1588154" y="5417608"/>
            <a:ext cx="392430" cy="720090"/>
          </a:xfrm>
          <a:custGeom>
            <a:avLst/>
            <a:gdLst/>
            <a:ahLst/>
            <a:cxnLst/>
            <a:rect l="l" t="t" r="r" b="b"/>
            <a:pathLst>
              <a:path w="392430" h="720089">
                <a:moveTo>
                  <a:pt x="392048" y="720089"/>
                </a:moveTo>
                <a:lnTo>
                  <a:pt x="328452" y="710667"/>
                </a:lnTo>
                <a:lnTo>
                  <a:pt x="268124" y="683385"/>
                </a:lnTo>
                <a:lnTo>
                  <a:pt x="211872" y="639727"/>
                </a:lnTo>
                <a:lnTo>
                  <a:pt x="160502" y="581174"/>
                </a:lnTo>
                <a:lnTo>
                  <a:pt x="136901" y="546774"/>
                </a:lnTo>
                <a:lnTo>
                  <a:pt x="114822" y="509206"/>
                </a:lnTo>
                <a:lnTo>
                  <a:pt x="94367" y="468655"/>
                </a:lnTo>
                <a:lnTo>
                  <a:pt x="75637" y="425305"/>
                </a:lnTo>
                <a:lnTo>
                  <a:pt x="58734" y="379343"/>
                </a:lnTo>
                <a:lnTo>
                  <a:pt x="43756" y="330953"/>
                </a:lnTo>
                <a:lnTo>
                  <a:pt x="30806" y="280320"/>
                </a:lnTo>
                <a:lnTo>
                  <a:pt x="19985" y="227630"/>
                </a:lnTo>
                <a:lnTo>
                  <a:pt x="11393" y="173068"/>
                </a:lnTo>
                <a:lnTo>
                  <a:pt x="5130" y="116819"/>
                </a:lnTo>
                <a:lnTo>
                  <a:pt x="1299" y="59067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510BE7B5-B84F-4A21-A713-8064FEDCFA6D}"/>
              </a:ext>
            </a:extLst>
          </p:cNvPr>
          <p:cNvSpPr/>
          <p:nvPr/>
        </p:nvSpPr>
        <p:spPr>
          <a:xfrm>
            <a:off x="2372251" y="3543591"/>
            <a:ext cx="1396365" cy="152400"/>
          </a:xfrm>
          <a:custGeom>
            <a:avLst/>
            <a:gdLst/>
            <a:ahLst/>
            <a:cxnLst/>
            <a:rect l="l" t="t" r="r" b="b"/>
            <a:pathLst>
              <a:path w="1396364" h="152400">
                <a:moveTo>
                  <a:pt x="1244077" y="0"/>
                </a:moveTo>
                <a:lnTo>
                  <a:pt x="1243996" y="50771"/>
                </a:lnTo>
                <a:lnTo>
                  <a:pt x="1269376" y="50810"/>
                </a:lnTo>
                <a:lnTo>
                  <a:pt x="1269223" y="101589"/>
                </a:lnTo>
                <a:lnTo>
                  <a:pt x="1243915" y="101589"/>
                </a:lnTo>
                <a:lnTo>
                  <a:pt x="1243833" y="152399"/>
                </a:lnTo>
                <a:lnTo>
                  <a:pt x="1345862" y="101589"/>
                </a:lnTo>
                <a:lnTo>
                  <a:pt x="1269223" y="101589"/>
                </a:lnTo>
                <a:lnTo>
                  <a:pt x="1345937" y="101552"/>
                </a:lnTo>
                <a:lnTo>
                  <a:pt x="1396355" y="76443"/>
                </a:lnTo>
                <a:lnTo>
                  <a:pt x="1244077" y="0"/>
                </a:lnTo>
                <a:close/>
              </a:path>
              <a:path w="1396364" h="152400">
                <a:moveTo>
                  <a:pt x="1243996" y="50771"/>
                </a:moveTo>
                <a:lnTo>
                  <a:pt x="1243915" y="101552"/>
                </a:lnTo>
                <a:lnTo>
                  <a:pt x="1269223" y="101589"/>
                </a:lnTo>
                <a:lnTo>
                  <a:pt x="1269376" y="50810"/>
                </a:lnTo>
                <a:lnTo>
                  <a:pt x="1243996" y="50771"/>
                </a:lnTo>
                <a:close/>
              </a:path>
              <a:path w="1396364" h="152400">
                <a:moveTo>
                  <a:pt x="0" y="48889"/>
                </a:moveTo>
                <a:lnTo>
                  <a:pt x="0" y="99700"/>
                </a:lnTo>
                <a:lnTo>
                  <a:pt x="1243915" y="101552"/>
                </a:lnTo>
                <a:lnTo>
                  <a:pt x="1243996" y="50771"/>
                </a:lnTo>
                <a:lnTo>
                  <a:pt x="0" y="4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24459D81-783B-44E5-90B2-AC3CA2667F25}"/>
              </a:ext>
            </a:extLst>
          </p:cNvPr>
          <p:cNvSpPr/>
          <p:nvPr/>
        </p:nvSpPr>
        <p:spPr>
          <a:xfrm>
            <a:off x="9286767" y="3620034"/>
            <a:ext cx="0" cy="1347470"/>
          </a:xfrm>
          <a:custGeom>
            <a:avLst/>
            <a:gdLst/>
            <a:ahLst/>
            <a:cxnLst/>
            <a:rect l="l" t="t" r="r" b="b"/>
            <a:pathLst>
              <a:path h="1347470">
                <a:moveTo>
                  <a:pt x="0" y="134685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67D44D55-1D5D-4814-AD3D-C3F82822618B}"/>
              </a:ext>
            </a:extLst>
          </p:cNvPr>
          <p:cNvSpPr/>
          <p:nvPr/>
        </p:nvSpPr>
        <p:spPr>
          <a:xfrm>
            <a:off x="7173619" y="3617901"/>
            <a:ext cx="2113280" cy="2540"/>
          </a:xfrm>
          <a:custGeom>
            <a:avLst/>
            <a:gdLst/>
            <a:ahLst/>
            <a:cxnLst/>
            <a:rect l="l" t="t" r="r" b="b"/>
            <a:pathLst>
              <a:path w="2113279" h="2539">
                <a:moveTo>
                  <a:pt x="2113147" y="2133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A4423363-8B5E-47A5-894D-3B91C0B9D8FE}"/>
              </a:ext>
            </a:extLst>
          </p:cNvPr>
          <p:cNvSpPr/>
          <p:nvPr/>
        </p:nvSpPr>
        <p:spPr>
          <a:xfrm>
            <a:off x="7968873" y="4918117"/>
            <a:ext cx="1356360" cy="152400"/>
          </a:xfrm>
          <a:custGeom>
            <a:avLst/>
            <a:gdLst/>
            <a:ahLst/>
            <a:cxnLst/>
            <a:rect l="l" t="t" r="r" b="b"/>
            <a:pathLst>
              <a:path w="1356359" h="152400">
                <a:moveTo>
                  <a:pt x="150875" y="0"/>
                </a:moveTo>
                <a:lnTo>
                  <a:pt x="0" y="79116"/>
                </a:lnTo>
                <a:lnTo>
                  <a:pt x="153802" y="152399"/>
                </a:lnTo>
                <a:lnTo>
                  <a:pt x="152836" y="102107"/>
                </a:lnTo>
                <a:lnTo>
                  <a:pt x="127406" y="102107"/>
                </a:lnTo>
                <a:lnTo>
                  <a:pt x="126491" y="51303"/>
                </a:lnTo>
                <a:lnTo>
                  <a:pt x="151851" y="50816"/>
                </a:lnTo>
                <a:lnTo>
                  <a:pt x="150875" y="0"/>
                </a:lnTo>
                <a:close/>
              </a:path>
              <a:path w="1356359" h="152400">
                <a:moveTo>
                  <a:pt x="151851" y="50816"/>
                </a:moveTo>
                <a:lnTo>
                  <a:pt x="126491" y="51303"/>
                </a:lnTo>
                <a:lnTo>
                  <a:pt x="127406" y="102107"/>
                </a:lnTo>
                <a:lnTo>
                  <a:pt x="152827" y="101619"/>
                </a:lnTo>
                <a:lnTo>
                  <a:pt x="151851" y="50816"/>
                </a:lnTo>
                <a:close/>
              </a:path>
              <a:path w="1356359" h="152400">
                <a:moveTo>
                  <a:pt x="152827" y="101619"/>
                </a:moveTo>
                <a:lnTo>
                  <a:pt x="127406" y="102107"/>
                </a:lnTo>
                <a:lnTo>
                  <a:pt x="152836" y="102107"/>
                </a:lnTo>
                <a:lnTo>
                  <a:pt x="152827" y="101619"/>
                </a:lnTo>
                <a:close/>
              </a:path>
              <a:path w="1356359" h="152400">
                <a:moveTo>
                  <a:pt x="1354714" y="27681"/>
                </a:moveTo>
                <a:lnTo>
                  <a:pt x="151851" y="50816"/>
                </a:lnTo>
                <a:lnTo>
                  <a:pt x="152827" y="101619"/>
                </a:lnTo>
                <a:lnTo>
                  <a:pt x="1355750" y="78485"/>
                </a:lnTo>
                <a:lnTo>
                  <a:pt x="1354714" y="276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A4F70576-3775-48B6-BC6E-4715341A3890}"/>
              </a:ext>
            </a:extLst>
          </p:cNvPr>
          <p:cNvSpPr txBox="1"/>
          <p:nvPr/>
        </p:nvSpPr>
        <p:spPr>
          <a:xfrm>
            <a:off x="7611638" y="3136787"/>
            <a:ext cx="8407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vic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spc="-15" dirty="0">
                <a:latin typeface="Cambria"/>
                <a:cs typeface="Cambria"/>
              </a:rPr>
              <a:t>im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5BA15125-0EC3-480D-AD18-10D66C17FC92}"/>
              </a:ext>
            </a:extLst>
          </p:cNvPr>
          <p:cNvSpPr txBox="1"/>
          <p:nvPr/>
        </p:nvSpPr>
        <p:spPr>
          <a:xfrm>
            <a:off x="8507751" y="5129291"/>
            <a:ext cx="36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2FF00B-64EA-4B12-9E55-7106E2A87AE3}"/>
              </a:ext>
            </a:extLst>
          </p:cNvPr>
          <p:cNvSpPr txBox="1"/>
          <p:nvPr/>
        </p:nvSpPr>
        <p:spPr>
          <a:xfrm>
            <a:off x="2768744" y="3790964"/>
            <a:ext cx="36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2922E583-2F92-4345-BE63-90B12004815C}"/>
              </a:ext>
            </a:extLst>
          </p:cNvPr>
          <p:cNvSpPr txBox="1"/>
          <p:nvPr/>
        </p:nvSpPr>
        <p:spPr>
          <a:xfrm>
            <a:off x="1771666" y="2032896"/>
            <a:ext cx="168465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Co</a:t>
            </a:r>
            <a:r>
              <a:rPr sz="2400" spc="-35" dirty="0">
                <a:latin typeface="Cambria"/>
                <a:cs typeface="Cambria"/>
              </a:rPr>
              <a:t>r</a:t>
            </a:r>
            <a:r>
              <a:rPr sz="2400" dirty="0">
                <a:latin typeface="Cambria"/>
                <a:cs typeface="Cambria"/>
              </a:rPr>
              <a:t>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dirty="0">
                <a:latin typeface="Cambria"/>
                <a:cs typeface="Cambria"/>
              </a:rPr>
              <a:t>eq</a:t>
            </a:r>
            <a:r>
              <a:rPr sz="2400" spc="-15" dirty="0">
                <a:latin typeface="Cambria"/>
                <a:cs typeface="Cambria"/>
              </a:rPr>
              <a:t>u</a:t>
            </a:r>
            <a:r>
              <a:rPr sz="2400" dirty="0">
                <a:latin typeface="Cambria"/>
                <a:cs typeface="Cambria"/>
              </a:rPr>
              <a:t>est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611DDB8C-856F-46F9-B6D8-6BA2A512AFAC}"/>
              </a:ext>
            </a:extLst>
          </p:cNvPr>
          <p:cNvSpPr txBox="1"/>
          <p:nvPr/>
        </p:nvSpPr>
        <p:spPr>
          <a:xfrm>
            <a:off x="800901" y="6085215"/>
            <a:ext cx="112331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me</a:t>
            </a:r>
            <a:r>
              <a:rPr sz="2400" spc="-10" dirty="0">
                <a:latin typeface="Cambria"/>
                <a:cs typeface="Cambria"/>
              </a:rPr>
              <a:t>m</a:t>
            </a:r>
            <a:r>
              <a:rPr sz="2400" dirty="0">
                <a:latin typeface="Cambria"/>
                <a:cs typeface="Cambria"/>
              </a:rPr>
              <a:t>ory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0EC1CAF4-C2F4-4AF3-ACAA-947E9579F0E4}"/>
              </a:ext>
            </a:extLst>
          </p:cNvPr>
          <p:cNvSpPr txBox="1"/>
          <p:nvPr/>
        </p:nvSpPr>
        <p:spPr>
          <a:xfrm>
            <a:off x="5602750" y="5537715"/>
            <a:ext cx="8407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vic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spc="-15" dirty="0">
                <a:latin typeface="Cambria"/>
                <a:cs typeface="Cambria"/>
              </a:rPr>
              <a:t>im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60E0E9C7-BD58-4E67-8563-3615EAA8FEC4}"/>
              </a:ext>
            </a:extLst>
          </p:cNvPr>
          <p:cNvSpPr/>
          <p:nvPr/>
        </p:nvSpPr>
        <p:spPr>
          <a:xfrm>
            <a:off x="7530479" y="5390426"/>
            <a:ext cx="152400" cy="747395"/>
          </a:xfrm>
          <a:custGeom>
            <a:avLst/>
            <a:gdLst/>
            <a:ahLst/>
            <a:cxnLst/>
            <a:rect l="l" t="t" r="r" b="b"/>
            <a:pathLst>
              <a:path w="152400" h="747395">
                <a:moveTo>
                  <a:pt x="50797" y="594872"/>
                </a:moveTo>
                <a:lnTo>
                  <a:pt x="0" y="594872"/>
                </a:lnTo>
                <a:lnTo>
                  <a:pt x="76199" y="747272"/>
                </a:lnTo>
                <a:lnTo>
                  <a:pt x="139702" y="620267"/>
                </a:lnTo>
                <a:lnTo>
                  <a:pt x="50797" y="620267"/>
                </a:lnTo>
                <a:lnTo>
                  <a:pt x="50797" y="594872"/>
                </a:lnTo>
                <a:close/>
              </a:path>
              <a:path w="152400" h="747395">
                <a:moveTo>
                  <a:pt x="101589" y="0"/>
                </a:moveTo>
                <a:lnTo>
                  <a:pt x="50797" y="0"/>
                </a:lnTo>
                <a:lnTo>
                  <a:pt x="50797" y="620267"/>
                </a:lnTo>
                <a:lnTo>
                  <a:pt x="101589" y="620267"/>
                </a:lnTo>
                <a:lnTo>
                  <a:pt x="101589" y="0"/>
                </a:lnTo>
                <a:close/>
              </a:path>
              <a:path w="152400" h="747395">
                <a:moveTo>
                  <a:pt x="152399" y="594872"/>
                </a:moveTo>
                <a:lnTo>
                  <a:pt x="101589" y="594872"/>
                </a:lnTo>
                <a:lnTo>
                  <a:pt x="101589" y="620267"/>
                </a:lnTo>
                <a:lnTo>
                  <a:pt x="139702" y="620267"/>
                </a:lnTo>
                <a:lnTo>
                  <a:pt x="152399" y="594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833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137F-750C-35F3-80FC-149DF407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applications and cache behaviors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DD883-BA11-D307-C286-870A4897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E221F-24A7-602B-2609-0C291B63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3AFE430-087A-8D8C-71BC-192108AA7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12192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6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47392</TotalTime>
  <Words>403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Small story so far</vt:lpstr>
      <vt:lpstr>What About Writes (STOREs)?</vt:lpstr>
      <vt:lpstr>What About Writes (STOREs)?</vt:lpstr>
      <vt:lpstr>What About Writes (STOREs)?</vt:lpstr>
      <vt:lpstr>What About Writes (STOREs)?</vt:lpstr>
      <vt:lpstr>Cache Hierarchy</vt:lpstr>
      <vt:lpstr>The complete picture </vt:lpstr>
      <vt:lpstr>Let’s understand some terms </vt:lpstr>
      <vt:lpstr>MPKI vs Miss rate</vt:lpstr>
      <vt:lpstr>Cache hierarchy contd.</vt:lpstr>
      <vt:lpstr>Inclusiveness</vt:lpstr>
      <vt:lpstr>Non-inclusive (Commercial machines)</vt:lpstr>
      <vt:lpstr>Exclusive</vt:lpstr>
      <vt:lpstr>Types of applications and cache behaviors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955</cp:revision>
  <dcterms:created xsi:type="dcterms:W3CDTF">2021-05-31T06:57:48Z</dcterms:created>
  <dcterms:modified xsi:type="dcterms:W3CDTF">2025-08-14T14:53:02Z</dcterms:modified>
</cp:coreProperties>
</file>