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7713" r:id="rId3"/>
    <p:sldId id="7939" r:id="rId4"/>
    <p:sldId id="7745" r:id="rId5"/>
    <p:sldId id="257" r:id="rId6"/>
    <p:sldId id="7916" r:id="rId7"/>
    <p:sldId id="7722" r:id="rId8"/>
    <p:sldId id="7723" r:id="rId9"/>
    <p:sldId id="7917" r:id="rId10"/>
    <p:sldId id="7918" r:id="rId11"/>
    <p:sldId id="7724" r:id="rId12"/>
    <p:sldId id="7725" r:id="rId13"/>
    <p:sldId id="298" r:id="rId14"/>
    <p:sldId id="7320" r:id="rId15"/>
    <p:sldId id="302" r:id="rId16"/>
    <p:sldId id="303" r:id="rId17"/>
    <p:sldId id="304" r:id="rId18"/>
    <p:sldId id="305" r:id="rId19"/>
    <p:sldId id="300" r:id="rId20"/>
    <p:sldId id="306" r:id="rId21"/>
    <p:sldId id="7887" r:id="rId22"/>
    <p:sldId id="263" r:id="rId23"/>
    <p:sldId id="7931" r:id="rId24"/>
    <p:sldId id="264" r:id="rId25"/>
    <p:sldId id="7869" r:id="rId26"/>
    <p:sldId id="7891" r:id="rId27"/>
    <p:sldId id="7870" r:id="rId28"/>
    <p:sldId id="266" r:id="rId29"/>
    <p:sldId id="7871" r:id="rId30"/>
    <p:sldId id="794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Macintosh%20HD:Users:droh:Google%20Drive:ics3:mem:cpumemgap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8880015299171499"/>
          <c:y val="6.0185185185185203E-2"/>
          <c:w val="0.51180020900165302"/>
          <c:h val="0.80722222222222195"/>
        </c:manualLayout>
      </c:layout>
      <c:lineChart>
        <c:grouping val="standar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Disk seek time</c:v>
                </c:pt>
              </c:strCache>
            </c:strRef>
          </c:tx>
          <c:spPr>
            <a:ln w="12700" cmpd="sng">
              <a:solidFill>
                <a:schemeClr val="tx1"/>
              </a:solidFill>
            </a:ln>
          </c:spPr>
          <c:marker>
            <c:symbol val="diamond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data!$B$2:$B$9</c:f>
              <c:numCache>
                <c:formatCode>#,##0</c:formatCode>
                <c:ptCount val="8"/>
                <c:pt idx="0">
                  <c:v>75000000</c:v>
                </c:pt>
                <c:pt idx="1">
                  <c:v>28000000</c:v>
                </c:pt>
                <c:pt idx="2">
                  <c:v>10000000</c:v>
                </c:pt>
                <c:pt idx="3">
                  <c:v>8000000</c:v>
                </c:pt>
                <c:pt idx="4">
                  <c:v>6000000</c:v>
                </c:pt>
                <c:pt idx="5">
                  <c:v>5000000</c:v>
                </c:pt>
                <c:pt idx="6">
                  <c:v>3000000</c:v>
                </c:pt>
                <c:pt idx="7">
                  <c:v>3000000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55-4854-A420-53247DE33734}"/>
            </c:ext>
          </c:extLst>
        </c:ser>
        <c:ser>
          <c:idx val="1"/>
          <c:order val="1"/>
          <c:tx>
            <c:strRef>
              <c:f>data!$C$1</c:f>
              <c:strCache>
                <c:ptCount val="1"/>
                <c:pt idx="0">
                  <c:v>SSD access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triangle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data!$C$2:$C$9</c:f>
              <c:numCache>
                <c:formatCode>General</c:formatCode>
                <c:ptCount val="8"/>
                <c:pt idx="7" formatCode="#,##0">
                  <c:v>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55-4854-A420-53247DE33734}"/>
            </c:ext>
          </c:extLst>
        </c:ser>
        <c:ser>
          <c:idx val="3"/>
          <c:order val="2"/>
          <c:tx>
            <c:strRef>
              <c:f>data!$D$1</c:f>
              <c:strCache>
                <c:ptCount val="1"/>
                <c:pt idx="0">
                  <c:v>DRAM access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data!$D$2:$D$9</c:f>
              <c:numCache>
                <c:formatCode>#,##0</c:formatCode>
                <c:ptCount val="8"/>
                <c:pt idx="0" formatCode="General">
                  <c:v>200</c:v>
                </c:pt>
                <c:pt idx="1">
                  <c:v>100</c:v>
                </c:pt>
                <c:pt idx="2" formatCode="General">
                  <c:v>70</c:v>
                </c:pt>
                <c:pt idx="3" formatCode="General">
                  <c:v>60</c:v>
                </c:pt>
                <c:pt idx="4" formatCode="General">
                  <c:v>55</c:v>
                </c:pt>
                <c:pt idx="5" formatCode="General">
                  <c:v>50</c:v>
                </c:pt>
                <c:pt idx="6" formatCode="General">
                  <c:v>40</c:v>
                </c:pt>
                <c:pt idx="7" formatCode="General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455-4854-A420-53247DE33734}"/>
            </c:ext>
          </c:extLst>
        </c:ser>
        <c:ser>
          <c:idx val="4"/>
          <c:order val="3"/>
          <c:tx>
            <c:strRef>
              <c:f>data!$E$1</c:f>
              <c:strCache>
                <c:ptCount val="1"/>
                <c:pt idx="0">
                  <c:v>SRAM access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circle"/>
            <c:size val="8"/>
            <c:spPr>
              <a:solidFill>
                <a:schemeClr val="tx1"/>
              </a:solidFill>
              <a:ln>
                <a:noFill/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data!$E$2:$E$9</c:f>
              <c:numCache>
                <c:formatCode>General</c:formatCode>
                <c:ptCount val="8"/>
                <c:pt idx="0">
                  <c:v>150</c:v>
                </c:pt>
                <c:pt idx="1">
                  <c:v>35</c:v>
                </c:pt>
                <c:pt idx="2">
                  <c:v>15</c:v>
                </c:pt>
                <c:pt idx="3">
                  <c:v>3</c:v>
                </c:pt>
                <c:pt idx="4">
                  <c:v>2.5</c:v>
                </c:pt>
                <c:pt idx="5">
                  <c:v>2</c:v>
                </c:pt>
                <c:pt idx="6">
                  <c:v>1.5</c:v>
                </c:pt>
                <c:pt idx="7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455-4854-A420-53247DE33734}"/>
            </c:ext>
          </c:extLst>
        </c:ser>
        <c:ser>
          <c:idx val="5"/>
          <c:order val="4"/>
          <c:tx>
            <c:strRef>
              <c:f>data!$F$1</c:f>
              <c:strCache>
                <c:ptCount val="1"/>
                <c:pt idx="0">
                  <c:v>CPU cycle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8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data!$F$2:$F$9</c:f>
              <c:numCache>
                <c:formatCode>General</c:formatCode>
                <c:ptCount val="8"/>
                <c:pt idx="0">
                  <c:v>166</c:v>
                </c:pt>
                <c:pt idx="1">
                  <c:v>50</c:v>
                </c:pt>
                <c:pt idx="2">
                  <c:v>6</c:v>
                </c:pt>
                <c:pt idx="3">
                  <c:v>1.6</c:v>
                </c:pt>
                <c:pt idx="4">
                  <c:v>0.3</c:v>
                </c:pt>
                <c:pt idx="5">
                  <c:v>0.5</c:v>
                </c:pt>
                <c:pt idx="6">
                  <c:v>0.4</c:v>
                </c:pt>
                <c:pt idx="7">
                  <c:v>0.33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455-4854-A420-53247DE33734}"/>
            </c:ext>
          </c:extLst>
        </c:ser>
        <c:ser>
          <c:idx val="6"/>
          <c:order val="5"/>
          <c:tx>
            <c:strRef>
              <c:f>data!$G$1</c:f>
              <c:strCache>
                <c:ptCount val="1"/>
                <c:pt idx="0">
                  <c:v>Effective CPU cycle time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circle"/>
            <c:size val="8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</c:spPr>
          </c:marker>
          <c:cat>
            <c:numRef>
              <c:f>data!$A$2:$A$9</c:f>
              <c:numCache>
                <c:formatCode>General</c:formatCode>
                <c:ptCount val="8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2003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</c:numCache>
            </c:numRef>
          </c:cat>
          <c:val>
            <c:numRef>
              <c:f>data!$G$2:$G$9</c:f>
              <c:numCache>
                <c:formatCode>General</c:formatCode>
                <c:ptCount val="8"/>
                <c:pt idx="4">
                  <c:v>0.3</c:v>
                </c:pt>
                <c:pt idx="5">
                  <c:v>0.25</c:v>
                </c:pt>
                <c:pt idx="6">
                  <c:v>0.1</c:v>
                </c:pt>
                <c:pt idx="7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455-4854-A420-53247DE33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477312"/>
        <c:axId val="90479616"/>
      </c:lineChart>
      <c:catAx>
        <c:axId val="904773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txPr>
          <a:bodyPr rot="0" vert="horz" anchor="ctr" anchorCtr="1"/>
          <a:lstStyle/>
          <a:p>
            <a:pPr>
              <a:defRPr/>
            </a:pPr>
            <a:endParaRPr lang="en-US"/>
          </a:p>
        </c:txPr>
        <c:crossAx val="90479616"/>
        <c:crossesAt val="0"/>
        <c:auto val="1"/>
        <c:lblAlgn val="ctr"/>
        <c:lblOffset val="100"/>
        <c:noMultiLvlLbl val="0"/>
      </c:catAx>
      <c:valAx>
        <c:axId val="90479616"/>
        <c:scaling>
          <c:logBase val="10"/>
          <c:orientation val="minMax"/>
          <c:min val="0.0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Time (ns)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crossAx val="90477312"/>
        <c:crosses val="autoZero"/>
        <c:crossBetween val="between"/>
        <c:minorUnit val="10"/>
      </c:valAx>
      <c:spPr>
        <a:ln>
          <a:noFill/>
        </a:ln>
      </c:spPr>
    </c:plotArea>
    <c:legend>
      <c:legendPos val="r"/>
      <c:overlay val="0"/>
      <c:spPr>
        <a:ln>
          <a:solidFill>
            <a:schemeClr val="tx1"/>
          </a:solidFill>
        </a:ln>
      </c:sp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A42C2B-CAE5-4810-82E4-3470D2516DF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5A69804-947F-4095-8277-E27F43C4FBC0}">
      <dgm:prSet/>
      <dgm:spPr/>
      <dgm:t>
        <a:bodyPr/>
        <a:lstStyle/>
        <a:p>
          <a:r>
            <a:rPr lang="en-US"/>
            <a:t>Over-engineer </a:t>
          </a:r>
        </a:p>
      </dgm:t>
    </dgm:pt>
    <dgm:pt modelId="{FA7BAAB2-7447-4715-9F0F-4886C5E0BFC8}" type="parTrans" cxnId="{5F161AFB-A4E8-4F07-A289-814E5A5C06BF}">
      <dgm:prSet/>
      <dgm:spPr/>
      <dgm:t>
        <a:bodyPr/>
        <a:lstStyle/>
        <a:p>
          <a:endParaRPr lang="en-US"/>
        </a:p>
      </dgm:t>
    </dgm:pt>
    <dgm:pt modelId="{E317A3BB-D1B4-4508-BE3B-E8FD97E345D3}" type="sibTrans" cxnId="{5F161AFB-A4E8-4F07-A289-814E5A5C06BF}">
      <dgm:prSet/>
      <dgm:spPr/>
      <dgm:t>
        <a:bodyPr/>
        <a:lstStyle/>
        <a:p>
          <a:endParaRPr lang="en-US"/>
        </a:p>
      </dgm:t>
    </dgm:pt>
    <dgm:pt modelId="{32CDB4CA-9A02-4E38-AE45-DBF35AF13B97}">
      <dgm:prSet/>
      <dgm:spPr/>
      <dgm:t>
        <a:bodyPr/>
        <a:lstStyle/>
        <a:p>
          <a:r>
            <a:rPr lang="en-US"/>
            <a:t>Over-think</a:t>
          </a:r>
        </a:p>
      </dgm:t>
    </dgm:pt>
    <dgm:pt modelId="{DD3DAAA1-2020-4D9D-BC11-52F6D95AFEC1}" type="parTrans" cxnId="{EAE6E1A4-8B61-40FB-BB2B-4E8F0F980DD2}">
      <dgm:prSet/>
      <dgm:spPr/>
      <dgm:t>
        <a:bodyPr/>
        <a:lstStyle/>
        <a:p>
          <a:endParaRPr lang="en-US"/>
        </a:p>
      </dgm:t>
    </dgm:pt>
    <dgm:pt modelId="{2DC1485D-847B-40F6-BC0D-B93C7539C7A5}" type="sibTrans" cxnId="{EAE6E1A4-8B61-40FB-BB2B-4E8F0F980DD2}">
      <dgm:prSet/>
      <dgm:spPr/>
      <dgm:t>
        <a:bodyPr/>
        <a:lstStyle/>
        <a:p>
          <a:endParaRPr lang="en-US"/>
        </a:p>
      </dgm:t>
    </dgm:pt>
    <dgm:pt modelId="{AC46FF2F-6E1D-434D-BF49-96BAEFA2FC59}">
      <dgm:prSet/>
      <dgm:spPr/>
      <dgm:t>
        <a:bodyPr/>
        <a:lstStyle/>
        <a:p>
          <a:r>
            <a:rPr lang="en-US"/>
            <a:t>Over …………………..</a:t>
          </a:r>
        </a:p>
      </dgm:t>
    </dgm:pt>
    <dgm:pt modelId="{41C1933D-B195-445F-B822-59A47A2BCA7A}" type="parTrans" cxnId="{26FE787F-774A-40D9-92A7-097BE96196B6}">
      <dgm:prSet/>
      <dgm:spPr/>
      <dgm:t>
        <a:bodyPr/>
        <a:lstStyle/>
        <a:p>
          <a:endParaRPr lang="en-US"/>
        </a:p>
      </dgm:t>
    </dgm:pt>
    <dgm:pt modelId="{B3049367-904E-4744-A27A-2E3C40472EEA}" type="sibTrans" cxnId="{26FE787F-774A-40D9-92A7-097BE96196B6}">
      <dgm:prSet/>
      <dgm:spPr/>
      <dgm:t>
        <a:bodyPr/>
        <a:lstStyle/>
        <a:p>
          <a:endParaRPr lang="en-US"/>
        </a:p>
      </dgm:t>
    </dgm:pt>
    <dgm:pt modelId="{64D43E08-BF25-4307-A2D9-3AF54F21F0DB}" type="pres">
      <dgm:prSet presAssocID="{D8A42C2B-CAE5-4810-82E4-3470D2516DF7}" presName="linear" presStyleCnt="0">
        <dgm:presLayoutVars>
          <dgm:animLvl val="lvl"/>
          <dgm:resizeHandles val="exact"/>
        </dgm:presLayoutVars>
      </dgm:prSet>
      <dgm:spPr/>
    </dgm:pt>
    <dgm:pt modelId="{F0EB8455-093F-4727-9709-ACE90F2016F3}" type="pres">
      <dgm:prSet presAssocID="{85A69804-947F-4095-8277-E27F43C4FB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70553C-B5E8-43C8-84B2-65AF9FE53D79}" type="pres">
      <dgm:prSet presAssocID="{E317A3BB-D1B4-4508-BE3B-E8FD97E345D3}" presName="spacer" presStyleCnt="0"/>
      <dgm:spPr/>
    </dgm:pt>
    <dgm:pt modelId="{FF5EF1AA-9523-4929-82B8-FE13DEA1EE1F}" type="pres">
      <dgm:prSet presAssocID="{32CDB4CA-9A02-4E38-AE45-DBF35AF13B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E85E344-A422-48B0-A14D-DAEB5834B5A9}" type="pres">
      <dgm:prSet presAssocID="{2DC1485D-847B-40F6-BC0D-B93C7539C7A5}" presName="spacer" presStyleCnt="0"/>
      <dgm:spPr/>
    </dgm:pt>
    <dgm:pt modelId="{D4FE2B5D-B4EC-4F2D-B00F-661BCD3A5433}" type="pres">
      <dgm:prSet presAssocID="{AC46FF2F-6E1D-434D-BF49-96BAEFA2FC5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D81270A-A726-484A-9ED4-3DA157ECE5CC}" type="presOf" srcId="{AC46FF2F-6E1D-434D-BF49-96BAEFA2FC59}" destId="{D4FE2B5D-B4EC-4F2D-B00F-661BCD3A5433}" srcOrd="0" destOrd="0" presId="urn:microsoft.com/office/officeart/2005/8/layout/vList2"/>
    <dgm:cxn modelId="{F138BE0D-FF62-42FE-9BCC-6564C8DEE792}" type="presOf" srcId="{32CDB4CA-9A02-4E38-AE45-DBF35AF13B97}" destId="{FF5EF1AA-9523-4929-82B8-FE13DEA1EE1F}" srcOrd="0" destOrd="0" presId="urn:microsoft.com/office/officeart/2005/8/layout/vList2"/>
    <dgm:cxn modelId="{26FE787F-774A-40D9-92A7-097BE96196B6}" srcId="{D8A42C2B-CAE5-4810-82E4-3470D2516DF7}" destId="{AC46FF2F-6E1D-434D-BF49-96BAEFA2FC59}" srcOrd="2" destOrd="0" parTransId="{41C1933D-B195-445F-B822-59A47A2BCA7A}" sibTransId="{B3049367-904E-4744-A27A-2E3C40472EEA}"/>
    <dgm:cxn modelId="{18CB6E85-C3BE-4997-A7CE-99499689B96F}" type="presOf" srcId="{85A69804-947F-4095-8277-E27F43C4FBC0}" destId="{F0EB8455-093F-4727-9709-ACE90F2016F3}" srcOrd="0" destOrd="0" presId="urn:microsoft.com/office/officeart/2005/8/layout/vList2"/>
    <dgm:cxn modelId="{B3429A94-7733-4720-9BFE-E860BAD29297}" type="presOf" srcId="{D8A42C2B-CAE5-4810-82E4-3470D2516DF7}" destId="{64D43E08-BF25-4307-A2D9-3AF54F21F0DB}" srcOrd="0" destOrd="0" presId="urn:microsoft.com/office/officeart/2005/8/layout/vList2"/>
    <dgm:cxn modelId="{EAE6E1A4-8B61-40FB-BB2B-4E8F0F980DD2}" srcId="{D8A42C2B-CAE5-4810-82E4-3470D2516DF7}" destId="{32CDB4CA-9A02-4E38-AE45-DBF35AF13B97}" srcOrd="1" destOrd="0" parTransId="{DD3DAAA1-2020-4D9D-BC11-52F6D95AFEC1}" sibTransId="{2DC1485D-847B-40F6-BC0D-B93C7539C7A5}"/>
    <dgm:cxn modelId="{5F161AFB-A4E8-4F07-A289-814E5A5C06BF}" srcId="{D8A42C2B-CAE5-4810-82E4-3470D2516DF7}" destId="{85A69804-947F-4095-8277-E27F43C4FBC0}" srcOrd="0" destOrd="0" parTransId="{FA7BAAB2-7447-4715-9F0F-4886C5E0BFC8}" sibTransId="{E317A3BB-D1B4-4508-BE3B-E8FD97E345D3}"/>
    <dgm:cxn modelId="{68C1A65F-33D8-46E5-9875-2F738F466720}" type="presParOf" srcId="{64D43E08-BF25-4307-A2D9-3AF54F21F0DB}" destId="{F0EB8455-093F-4727-9709-ACE90F2016F3}" srcOrd="0" destOrd="0" presId="urn:microsoft.com/office/officeart/2005/8/layout/vList2"/>
    <dgm:cxn modelId="{8EF99542-12CA-4B3F-8190-38D2A44F572F}" type="presParOf" srcId="{64D43E08-BF25-4307-A2D9-3AF54F21F0DB}" destId="{BC70553C-B5E8-43C8-84B2-65AF9FE53D79}" srcOrd="1" destOrd="0" presId="urn:microsoft.com/office/officeart/2005/8/layout/vList2"/>
    <dgm:cxn modelId="{C17E6F51-C227-471C-A832-B61383CC29A8}" type="presParOf" srcId="{64D43E08-BF25-4307-A2D9-3AF54F21F0DB}" destId="{FF5EF1AA-9523-4929-82B8-FE13DEA1EE1F}" srcOrd="2" destOrd="0" presId="urn:microsoft.com/office/officeart/2005/8/layout/vList2"/>
    <dgm:cxn modelId="{25CB3D16-0129-434B-B829-2A042A6048D5}" type="presParOf" srcId="{64D43E08-BF25-4307-A2D9-3AF54F21F0DB}" destId="{CE85E344-A422-48B0-A14D-DAEB5834B5A9}" srcOrd="3" destOrd="0" presId="urn:microsoft.com/office/officeart/2005/8/layout/vList2"/>
    <dgm:cxn modelId="{3B38C835-7DFC-49DC-BE7F-932A11890D8D}" type="presParOf" srcId="{64D43E08-BF25-4307-A2D9-3AF54F21F0DB}" destId="{D4FE2B5D-B4EC-4F2D-B00F-661BCD3A543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B8455-093F-4727-9709-ACE90F2016F3}">
      <dsp:nvSpPr>
        <dsp:cNvPr id="0" name=""/>
        <dsp:cNvSpPr/>
      </dsp:nvSpPr>
      <dsp:spPr>
        <a:xfrm>
          <a:off x="0" y="1077390"/>
          <a:ext cx="4828172" cy="10793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Over-engineer </a:t>
          </a:r>
        </a:p>
      </dsp:txBody>
      <dsp:txXfrm>
        <a:off x="52688" y="1130078"/>
        <a:ext cx="4722796" cy="973949"/>
      </dsp:txXfrm>
    </dsp:sp>
    <dsp:sp modelId="{FF5EF1AA-9523-4929-82B8-FE13DEA1EE1F}">
      <dsp:nvSpPr>
        <dsp:cNvPr id="0" name=""/>
        <dsp:cNvSpPr/>
      </dsp:nvSpPr>
      <dsp:spPr>
        <a:xfrm>
          <a:off x="0" y="2286315"/>
          <a:ext cx="4828172" cy="1079325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Over-think</a:t>
          </a:r>
        </a:p>
      </dsp:txBody>
      <dsp:txXfrm>
        <a:off x="52688" y="2339003"/>
        <a:ext cx="4722796" cy="973949"/>
      </dsp:txXfrm>
    </dsp:sp>
    <dsp:sp modelId="{D4FE2B5D-B4EC-4F2D-B00F-661BCD3A5433}">
      <dsp:nvSpPr>
        <dsp:cNvPr id="0" name=""/>
        <dsp:cNvSpPr/>
      </dsp:nvSpPr>
      <dsp:spPr>
        <a:xfrm>
          <a:off x="0" y="3495240"/>
          <a:ext cx="4828172" cy="107932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Over …………………..</a:t>
          </a:r>
        </a:p>
      </dsp:txBody>
      <dsp:txXfrm>
        <a:off x="52688" y="3547928"/>
        <a:ext cx="4722796" cy="9739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02-08-2024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Architecture-2024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03544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L1-Performance, Performance, and Performance</a:t>
            </a: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C4C064-7D69-C1A6-0E95-5EE8A6D35D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/>
        </p:blipFill>
        <p:spPr>
          <a:xfrm>
            <a:off x="20" y="12193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CF4ED5-D427-718C-F0A3-7FD102B7A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Join Piazza if you are part of CS683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49850-697C-6F70-70B6-D04D21FE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399AD-11F5-B4BE-3E7E-5E778C5FB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35505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oin operated binoculars overlook city at night">
            <a:extLst>
              <a:ext uri="{FF2B5EF4-FFF2-40B4-BE49-F238E27FC236}">
                <a16:creationId xmlns:a16="http://schemas.microsoft.com/office/drawing/2014/main" id="{3573A0B0-B41D-B09E-AE2C-1200C52FFC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87A5FD-EA9D-EB53-FBE6-67817E7DD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5422947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Programmer’s 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17EA5-D20F-18E0-ACA7-3A1F748F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9436F-6A9C-8B0E-8A48-22D1A52E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89565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potlight on a dark foggy stage">
            <a:extLst>
              <a:ext uri="{FF2B5EF4-FFF2-40B4-BE49-F238E27FC236}">
                <a16:creationId xmlns:a16="http://schemas.microsoft.com/office/drawing/2014/main" id="{B6D08AC2-EF7E-14FA-0EEB-6FC4E24A47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71" b="285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A6CDC2-03CE-4A2B-8510-25D79BAD8256}"/>
              </a:ext>
            </a:extLst>
          </p:cNvPr>
          <p:cNvSpPr txBox="1">
            <a:spLocks/>
          </p:cNvSpPr>
          <p:nvPr/>
        </p:nvSpPr>
        <p:spPr>
          <a:xfrm>
            <a:off x="404552" y="3091928"/>
            <a:ext cx="1114127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dirty="0">
                <a:solidFill>
                  <a:schemeClr val="bg1"/>
                </a:solidFill>
              </a:rPr>
              <a:t>Let’s start with programming for Performance </a:t>
            </a:r>
          </a:p>
          <a:p>
            <a:pPr>
              <a:spcAft>
                <a:spcPts val="600"/>
              </a:spcAft>
            </a:pPr>
            <a:r>
              <a:rPr lang="en-US" sz="6600" dirty="0">
                <a:solidFill>
                  <a:schemeClr val="bg1"/>
                </a:solidFill>
              </a:rPr>
              <a:t>(know your architecture)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DC9E-2814-42EB-862D-70613CE2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9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AE1FD92-6B4B-4F7E-ADCD-6EC18FE22C7F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5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449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DACD7-5491-A18E-AEF2-848FF5C6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Performance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DBD8-ECEC-9B31-8C84-7823E1CE6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62912"/>
            <a:ext cx="6857796" cy="4277167"/>
          </a:xfrm>
        </p:spPr>
        <p:txBody>
          <a:bodyPr anchor="ctr">
            <a:normAutofit fontScale="85000" lnSpcReduction="20000"/>
          </a:bodyPr>
          <a:lstStyle/>
          <a:p>
            <a:r>
              <a:rPr lang="en-US" sz="2800" dirty="0"/>
              <a:t>100,000x speedup since the first processor </a:t>
            </a:r>
            <a:r>
              <a:rPr lang="en-US" sz="2800" dirty="0">
                <a:sym typeface="Wingdings" panose="05000000000000000000" pitchFamily="2" charset="2"/>
              </a:rPr>
              <a:t> </a:t>
            </a:r>
          </a:p>
          <a:p>
            <a:pPr marL="0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[1971:</a:t>
            </a:r>
          </a:p>
          <a:p>
            <a:pPr marL="0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92500 instructions per second, 640B RAM</a:t>
            </a:r>
          </a:p>
          <a:p>
            <a:pPr marL="0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2024: </a:t>
            </a:r>
          </a:p>
          <a:p>
            <a:pPr marL="0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10s of billion instructions per second, TB of RAM]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Automobile industry: really slow  Imagine tata motors providing 2X speedup every 18 months  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Game of trade-offs btw. What is the price per performance? </a:t>
            </a:r>
            <a:endParaRPr lang="en-IN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E515C-63CD-5537-A9DB-9052B7E3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1672" y="6356350"/>
            <a:ext cx="3293034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IN" sz="1800"/>
              <a:t>Advanced Computer Architecture</a:t>
            </a:r>
          </a:p>
        </p:txBody>
      </p:sp>
      <p:pic>
        <p:nvPicPr>
          <p:cNvPr id="7" name="Picture 6" descr="Speedometer">
            <a:extLst>
              <a:ext uri="{FF2B5EF4-FFF2-40B4-BE49-F238E27FC236}">
                <a16:creationId xmlns:a16="http://schemas.microsoft.com/office/drawing/2014/main" id="{EA8B1526-2DEE-2595-5991-3C81D5748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56" r="24703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7E4A6-2D2B-EB8E-442F-2480EC5A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7869" y="6356350"/>
            <a:ext cx="17684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IN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312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D4230-E697-2E6C-26E1-42D7556A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53C67-6CDD-A773-3A9B-574B3D03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704B81-56BE-31D7-CA94-7C6142DC6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46697"/>
            <a:ext cx="5734050" cy="2486025"/>
          </a:xfrm>
        </p:spPr>
      </p:pic>
      <p:sp>
        <p:nvSpPr>
          <p:cNvPr id="7" name="CustomShape 1">
            <a:extLst>
              <a:ext uri="{FF2B5EF4-FFF2-40B4-BE49-F238E27FC236}">
                <a16:creationId xmlns:a16="http://schemas.microsoft.com/office/drawing/2014/main" id="{FDCE7CF0-1AEE-10F3-339B-FB0B11DDA7FE}"/>
              </a:ext>
            </a:extLst>
          </p:cNvPr>
          <p:cNvSpPr/>
          <p:nvPr/>
        </p:nvSpPr>
        <p:spPr>
          <a:xfrm>
            <a:off x="603044" y="910473"/>
            <a:ext cx="9134713" cy="1940677"/>
          </a:xfrm>
          <a:prstGeom prst="rect">
            <a:avLst/>
          </a:prstGeom>
          <a:noFill/>
          <a:ln cap="rnd">
            <a:solidFill>
              <a:schemeClr val="tx1">
                <a:lumMod val="50000"/>
                <a:lumOff val="50000"/>
              </a:schemeClr>
            </a:solidFill>
            <a:custDash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void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CS683(</a:t>
            </a: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*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arr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size) {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9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for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0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;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&lt; size-</a:t>
            </a:r>
            <a:r>
              <a:rPr lang="en-US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1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; ++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arr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[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] =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arr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[i+</a:t>
            </a:r>
            <a:r>
              <a:rPr lang="en-US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1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];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}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C70B1FA2-11A9-D259-2555-7838B37856A7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6360492" y="1661058"/>
            <a:ext cx="1791097" cy="4171279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9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B033E-431E-CB46-2184-4DF90CAF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A5C53-1682-3EC1-7DFD-9AA5720AA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65492-874A-89D0-3F24-08FEF0DF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pic>
        <p:nvPicPr>
          <p:cNvPr id="6" name="Picture 2" descr="Image result for clockimage">
            <a:extLst>
              <a:ext uri="{FF2B5EF4-FFF2-40B4-BE49-F238E27FC236}">
                <a16:creationId xmlns:a16="http://schemas.microsoft.com/office/drawing/2014/main" id="{1DAF0994-74DC-EF7C-A12C-D42DD8034E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893" y="1690688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F80F88-7B71-13FF-3925-457D35E381FB}"/>
              </a:ext>
            </a:extLst>
          </p:cNvPr>
          <p:cNvSpPr/>
          <p:nvPr/>
        </p:nvSpPr>
        <p:spPr>
          <a:xfrm>
            <a:off x="3821181" y="4271933"/>
            <a:ext cx="7354319" cy="1129553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CPU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FEC25-C8B5-A40D-75B0-16D47BCA9F7A}"/>
              </a:ext>
            </a:extLst>
          </p:cNvPr>
          <p:cNvSpPr txBox="1"/>
          <p:nvPr/>
        </p:nvSpPr>
        <p:spPr>
          <a:xfrm>
            <a:off x="4026554" y="4544321"/>
            <a:ext cx="7789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CPU time: Time spent running a program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938490-A976-6CF8-E8B4-15BF35222957}"/>
              </a:ext>
            </a:extLst>
          </p:cNvPr>
          <p:cNvSpPr/>
          <p:nvPr/>
        </p:nvSpPr>
        <p:spPr>
          <a:xfrm>
            <a:off x="3821181" y="1606371"/>
            <a:ext cx="8224711" cy="1872822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CPU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1DD13-AD81-D06F-1BE8-B65636DDEFBA}"/>
              </a:ext>
            </a:extLst>
          </p:cNvPr>
          <p:cNvSpPr txBox="1"/>
          <p:nvPr/>
        </p:nvSpPr>
        <p:spPr>
          <a:xfrm>
            <a:off x="3821181" y="1680270"/>
            <a:ext cx="77895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Execution time: CPU time + IO waiting</a:t>
            </a:r>
          </a:p>
          <a:p>
            <a:endParaRPr lang="en-IN" sz="3200" dirty="0"/>
          </a:p>
          <a:p>
            <a:r>
              <a:rPr lang="en-IN" sz="3200" dirty="0"/>
              <a:t>CPU time: User time + System (OS) time</a:t>
            </a:r>
          </a:p>
        </p:txBody>
      </p:sp>
      <p:graphicFrame>
        <p:nvGraphicFramePr>
          <p:cNvPr id="11" name="Object 6">
            <a:hlinkClick r:id="" action="ppaction://ole?verb=0"/>
            <a:extLst>
              <a:ext uri="{FF2B5EF4-FFF2-40B4-BE49-F238E27FC236}">
                <a16:creationId xmlns:a16="http://schemas.microsoft.com/office/drawing/2014/main" id="{59C5CEA1-C1F5-EBB5-F601-D917AA8D2D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349532"/>
              </p:ext>
            </p:extLst>
          </p:nvPr>
        </p:nvGraphicFramePr>
        <p:xfrm>
          <a:off x="716132" y="3969964"/>
          <a:ext cx="3765177" cy="232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3051000" imgH="3278160" progId="MS_ClipArt_Gallery.2">
                  <p:embed/>
                </p:oleObj>
              </mc:Choice>
              <mc:Fallback>
                <p:oleObj name="Clip" r:id="rId3" imgW="3051000" imgH="3278160" progId="MS_ClipArt_Gallery.2">
                  <p:embed/>
                  <p:pic>
                    <p:nvPicPr>
                      <p:cNvPr id="12" name="Object 6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8A6B09A5-41C0-47AD-B1F1-AFFD628F063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32" y="3969964"/>
                        <a:ext cx="3765177" cy="232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433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AA8E-5E0F-528D-EABB-9B345416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3D101-D66D-0870-5EFB-A60935C9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0496E-62C4-A81C-6B17-62B197924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8C0D79F-9F0D-2253-AFDA-E810FEF7B4B2}"/>
              </a:ext>
            </a:extLst>
          </p:cNvPr>
          <p:cNvSpPr/>
          <p:nvPr/>
        </p:nvSpPr>
        <p:spPr>
          <a:xfrm>
            <a:off x="838200" y="1825751"/>
            <a:ext cx="4817745" cy="3211830"/>
          </a:xfrm>
          <a:custGeom>
            <a:avLst/>
            <a:gdLst/>
            <a:ahLst/>
            <a:cxnLst/>
            <a:rect l="l" t="t" r="r" b="b"/>
            <a:pathLst>
              <a:path w="4817745" h="3211829">
                <a:moveTo>
                  <a:pt x="4817364" y="0"/>
                </a:moveTo>
                <a:lnTo>
                  <a:pt x="0" y="0"/>
                </a:lnTo>
                <a:lnTo>
                  <a:pt x="0" y="3211830"/>
                </a:lnTo>
                <a:lnTo>
                  <a:pt x="4817364" y="3211830"/>
                </a:lnTo>
                <a:lnTo>
                  <a:pt x="481736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A53550F-AD22-B51B-DC1E-8BFB512EE347}"/>
              </a:ext>
            </a:extLst>
          </p:cNvPr>
          <p:cNvSpPr txBox="1"/>
          <p:nvPr/>
        </p:nvSpPr>
        <p:spPr>
          <a:xfrm>
            <a:off x="916939" y="1840484"/>
            <a:ext cx="2988945" cy="114744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  <a:tabLst>
                <a:tab pos="1141095" algn="l"/>
                <a:tab pos="1423670" algn="l"/>
              </a:tabLst>
            </a:pPr>
            <a:r>
              <a:rPr sz="1800" spc="240" dirty="0">
                <a:latin typeface="Trebuchet MS"/>
                <a:cs typeface="Trebuchet MS"/>
              </a:rPr>
              <a:t>#define	</a:t>
            </a:r>
            <a:r>
              <a:rPr sz="1800" spc="-45" dirty="0">
                <a:latin typeface="Trebuchet MS"/>
                <a:cs typeface="Trebuchet MS"/>
              </a:rPr>
              <a:t>N	</a:t>
            </a:r>
            <a:r>
              <a:rPr sz="1800" spc="155" dirty="0">
                <a:latin typeface="Trebuchet MS"/>
                <a:cs typeface="Trebuchet MS"/>
              </a:rPr>
              <a:t>32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36100"/>
              </a:lnSpc>
              <a:spcBef>
                <a:spcPts val="5"/>
              </a:spcBef>
              <a:tabLst>
                <a:tab pos="999490" algn="l"/>
                <a:tab pos="1141095" algn="l"/>
                <a:tab pos="1423670" algn="l"/>
                <a:tab pos="2129155" algn="l"/>
                <a:tab pos="2410460" algn="l"/>
              </a:tabLst>
            </a:pPr>
            <a:r>
              <a:rPr sz="1800" spc="125" dirty="0">
                <a:latin typeface="Trebuchet MS"/>
                <a:cs typeface="Trebuchet MS"/>
              </a:rPr>
              <a:t>#</a:t>
            </a:r>
            <a:r>
              <a:rPr sz="1800" spc="135" dirty="0">
                <a:latin typeface="Trebuchet MS"/>
                <a:cs typeface="Trebuchet MS"/>
              </a:rPr>
              <a:t>d</a:t>
            </a:r>
            <a:r>
              <a:rPr sz="1800" spc="130" dirty="0">
                <a:latin typeface="Trebuchet MS"/>
                <a:cs typeface="Trebuchet MS"/>
              </a:rPr>
              <a:t>e</a:t>
            </a:r>
            <a:r>
              <a:rPr sz="1800" spc="580" dirty="0">
                <a:latin typeface="Trebuchet MS"/>
                <a:cs typeface="Trebuchet MS"/>
              </a:rPr>
              <a:t>f</a:t>
            </a:r>
            <a:r>
              <a:rPr sz="1800" spc="459" dirty="0">
                <a:latin typeface="Trebuchet MS"/>
                <a:cs typeface="Trebuchet MS"/>
              </a:rPr>
              <a:t>i</a:t>
            </a:r>
            <a:r>
              <a:rPr sz="1800" spc="120" dirty="0">
                <a:latin typeface="Trebuchet MS"/>
                <a:cs typeface="Trebuchet MS"/>
              </a:rPr>
              <a:t>n</a:t>
            </a:r>
            <a:r>
              <a:rPr sz="1800" spc="125" dirty="0">
                <a:latin typeface="Trebuchet MS"/>
                <a:cs typeface="Trebuchet MS"/>
              </a:rPr>
              <a:t>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60" dirty="0">
                <a:latin typeface="Trebuchet MS"/>
                <a:cs typeface="Trebuchet MS"/>
              </a:rPr>
              <a:t>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155" dirty="0">
                <a:latin typeface="Trebuchet MS"/>
                <a:cs typeface="Trebuchet MS"/>
              </a:rPr>
              <a:t>1</a:t>
            </a:r>
            <a:r>
              <a:rPr sz="1800" spc="160" dirty="0">
                <a:latin typeface="Trebuchet MS"/>
                <a:cs typeface="Trebuchet MS"/>
              </a:rPr>
              <a:t>0</a:t>
            </a:r>
            <a:r>
              <a:rPr sz="1800" spc="165" dirty="0">
                <a:latin typeface="Trebuchet MS"/>
                <a:cs typeface="Trebuchet MS"/>
              </a:rPr>
              <a:t>2</a:t>
            </a:r>
            <a:r>
              <a:rPr sz="1800" spc="160" dirty="0">
                <a:latin typeface="Trebuchet MS"/>
                <a:cs typeface="Trebuchet MS"/>
              </a:rPr>
              <a:t>4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445" dirty="0">
                <a:latin typeface="Trebuchet MS"/>
                <a:cs typeface="Trebuchet MS"/>
              </a:rPr>
              <a:t>*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165" dirty="0">
                <a:latin typeface="Trebuchet MS"/>
                <a:cs typeface="Trebuchet MS"/>
              </a:rPr>
              <a:t>1</a:t>
            </a:r>
            <a:r>
              <a:rPr sz="1800" spc="155" dirty="0">
                <a:latin typeface="Trebuchet MS"/>
                <a:cs typeface="Trebuchet MS"/>
              </a:rPr>
              <a:t>0</a:t>
            </a:r>
            <a:r>
              <a:rPr sz="1800" spc="170" dirty="0">
                <a:latin typeface="Trebuchet MS"/>
                <a:cs typeface="Trebuchet MS"/>
              </a:rPr>
              <a:t>2</a:t>
            </a:r>
            <a:r>
              <a:rPr sz="1800" spc="114" dirty="0">
                <a:latin typeface="Trebuchet MS"/>
                <a:cs typeface="Trebuchet MS"/>
              </a:rPr>
              <a:t>4  </a:t>
            </a:r>
            <a:r>
              <a:rPr sz="1800" spc="195" dirty="0">
                <a:latin typeface="Trebuchet MS"/>
                <a:cs typeface="Trebuchet MS"/>
              </a:rPr>
              <a:t>double	</a:t>
            </a:r>
            <a:r>
              <a:rPr sz="1800" spc="270" dirty="0">
                <a:latin typeface="Trebuchet MS"/>
                <a:cs typeface="Trebuchet MS"/>
              </a:rPr>
              <a:t>A[N][N];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F073F49F-C8D9-F0E6-637D-3A37695FE380}"/>
              </a:ext>
            </a:extLst>
          </p:cNvPr>
          <p:cNvGraphicFramePr>
            <a:graphicFrameLocks noGrp="1"/>
          </p:cNvGraphicFramePr>
          <p:nvPr/>
        </p:nvGraphicFramePr>
        <p:xfrm>
          <a:off x="897889" y="3466396"/>
          <a:ext cx="3877310" cy="10291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366">
                <a:tc>
                  <a:txBody>
                    <a:bodyPr/>
                    <a:lstStyle/>
                    <a:p>
                      <a:pPr marR="64135" algn="r">
                        <a:lnSpc>
                          <a:spcPts val="2020"/>
                        </a:lnSpc>
                        <a:tabLst>
                          <a:tab pos="563245" algn="l"/>
                          <a:tab pos="1128395" algn="l"/>
                          <a:tab pos="1410970" algn="l"/>
                          <a:tab pos="1833880" algn="l"/>
                        </a:tabLst>
                      </a:pPr>
                      <a:r>
                        <a:rPr sz="1800" spc="325" dirty="0">
                          <a:latin typeface="Trebuchet MS"/>
                          <a:cs typeface="Trebuchet MS"/>
                        </a:rPr>
                        <a:t>for	</a:t>
                      </a:r>
                      <a:r>
                        <a:rPr sz="1800" spc="480" dirty="0">
                          <a:latin typeface="Trebuchet MS"/>
                          <a:cs typeface="Trebuchet MS"/>
                        </a:rPr>
                        <a:t>(it	</a:t>
                      </a:r>
                      <a:r>
                        <a:rPr sz="1800" spc="160" dirty="0">
                          <a:latin typeface="Trebuchet MS"/>
                          <a:cs typeface="Trebuchet MS"/>
                        </a:rPr>
                        <a:t>=	</a:t>
                      </a:r>
                      <a:r>
                        <a:rPr sz="1800" spc="300" dirty="0">
                          <a:latin typeface="Trebuchet MS"/>
                          <a:cs typeface="Trebuchet MS"/>
                        </a:rPr>
                        <a:t>0;	</a:t>
                      </a:r>
                      <a:r>
                        <a:rPr sz="1800" spc="484" dirty="0">
                          <a:latin typeface="Trebuchet MS"/>
                          <a:cs typeface="Trebuchet MS"/>
                        </a:rPr>
                        <a:t>it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202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&lt;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020"/>
                        </a:lnSpc>
                        <a:tabLst>
                          <a:tab pos="492125" algn="l"/>
                        </a:tabLst>
                      </a:pPr>
                      <a:r>
                        <a:rPr sz="1800" spc="250" dirty="0">
                          <a:latin typeface="Trebuchet MS"/>
                          <a:cs typeface="Trebuchet MS"/>
                        </a:rPr>
                        <a:t>T;	</a:t>
                      </a:r>
                      <a:r>
                        <a:rPr sz="1800" spc="350" dirty="0">
                          <a:latin typeface="Trebuchet MS"/>
                          <a:cs typeface="Trebuchet MS"/>
                        </a:rPr>
                        <a:t>it++)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888"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564515" algn="l"/>
                          <a:tab pos="987425" algn="l"/>
                          <a:tab pos="1270000" algn="l"/>
                          <a:tab pos="1692910" algn="l"/>
                        </a:tabLst>
                      </a:pPr>
                      <a:r>
                        <a:rPr sz="1800" spc="330" dirty="0">
                          <a:latin typeface="Trebuchet MS"/>
                          <a:cs typeface="Trebuchet MS"/>
                        </a:rPr>
                        <a:t>for	</a:t>
                      </a:r>
                      <a:r>
                        <a:rPr sz="1800" spc="445" dirty="0">
                          <a:latin typeface="Trebuchet MS"/>
                          <a:cs typeface="Trebuchet MS"/>
                        </a:rPr>
                        <a:t>(j	</a:t>
                      </a:r>
                      <a:r>
                        <a:rPr sz="1800" spc="160" dirty="0">
                          <a:latin typeface="Trebuchet MS"/>
                          <a:cs typeface="Trebuchet MS"/>
                        </a:rPr>
                        <a:t>=	</a:t>
                      </a:r>
                      <a:r>
                        <a:rPr sz="1800" spc="305" dirty="0">
                          <a:latin typeface="Trebuchet MS"/>
                          <a:cs typeface="Trebuchet MS"/>
                        </a:rPr>
                        <a:t>0;	</a:t>
                      </a:r>
                      <a:r>
                        <a:rPr sz="1800" spc="445" dirty="0">
                          <a:latin typeface="Trebuchet MS"/>
                          <a:cs typeface="Trebuchet MS"/>
                        </a:rPr>
                        <a:t>j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&lt;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495934" algn="l"/>
                        </a:tabLst>
                      </a:pPr>
                      <a:r>
                        <a:rPr sz="1800" spc="200" dirty="0">
                          <a:latin typeface="Trebuchet MS"/>
                          <a:cs typeface="Trebuchet MS"/>
                        </a:rPr>
                        <a:t>N;	</a:t>
                      </a:r>
                      <a:r>
                        <a:rPr sz="1800" spc="305" dirty="0">
                          <a:latin typeface="Trebuchet MS"/>
                          <a:cs typeface="Trebuchet MS"/>
                        </a:rPr>
                        <a:t>j++)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4"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565150" algn="l"/>
                          <a:tab pos="988694" algn="l"/>
                          <a:tab pos="1271270" algn="l"/>
                        </a:tabLst>
                      </a:pPr>
                      <a:r>
                        <a:rPr sz="1800" spc="330" dirty="0">
                          <a:latin typeface="Trebuchet MS"/>
                          <a:cs typeface="Trebuchet MS"/>
                        </a:rPr>
                        <a:t>for	</a:t>
                      </a:r>
                      <a:r>
                        <a:rPr sz="1800" spc="520" dirty="0">
                          <a:latin typeface="Trebuchet MS"/>
                          <a:cs typeface="Trebuchet MS"/>
                        </a:rPr>
                        <a:t>(i	</a:t>
                      </a:r>
                      <a:r>
                        <a:rPr sz="1800" spc="160" dirty="0">
                          <a:latin typeface="Trebuchet MS"/>
                          <a:cs typeface="Trebuchet MS"/>
                        </a:rPr>
                        <a:t>=	</a:t>
                      </a:r>
                      <a:r>
                        <a:rPr sz="1800" spc="300" dirty="0">
                          <a:latin typeface="Trebuchet MS"/>
                          <a:cs typeface="Trebuchet MS"/>
                        </a:rPr>
                        <a:t>0;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i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354330" algn="l"/>
                          <a:tab pos="778510" algn="l"/>
                        </a:tabLst>
                      </a:pPr>
                      <a:r>
                        <a:rPr sz="1800" spc="160" dirty="0">
                          <a:latin typeface="Trebuchet MS"/>
                          <a:cs typeface="Trebuchet MS"/>
                        </a:rPr>
                        <a:t>&lt;	</a:t>
                      </a:r>
                      <a:r>
                        <a:rPr sz="1800" spc="200" dirty="0">
                          <a:latin typeface="Trebuchet MS"/>
                          <a:cs typeface="Trebuchet MS"/>
                        </a:rPr>
                        <a:t>N;	</a:t>
                      </a:r>
                      <a:r>
                        <a:rPr sz="1800" spc="340" dirty="0">
                          <a:latin typeface="Trebuchet MS"/>
                          <a:cs typeface="Trebuchet MS"/>
                        </a:rPr>
                        <a:t>i++)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6">
            <a:extLst>
              <a:ext uri="{FF2B5EF4-FFF2-40B4-BE49-F238E27FC236}">
                <a16:creationId xmlns:a16="http://schemas.microsoft.com/office/drawing/2014/main" id="{28D2C8A5-4E04-034A-8434-128B33BE9EE0}"/>
              </a:ext>
            </a:extLst>
          </p:cNvPr>
          <p:cNvSpPr txBox="1"/>
          <p:nvPr/>
        </p:nvSpPr>
        <p:spPr>
          <a:xfrm>
            <a:off x="1764538" y="4558029"/>
            <a:ext cx="1860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1095" algn="l"/>
                <a:tab pos="1564640" algn="l"/>
              </a:tabLst>
            </a:pPr>
            <a:r>
              <a:rPr sz="1800" spc="300" dirty="0">
                <a:latin typeface="Trebuchet MS"/>
                <a:cs typeface="Trebuchet MS"/>
              </a:rPr>
              <a:t>A</a:t>
            </a:r>
            <a:r>
              <a:rPr sz="1800" spc="190" dirty="0">
                <a:latin typeface="Trebuchet MS"/>
                <a:cs typeface="Trebuchet MS"/>
              </a:rPr>
              <a:t>[</a:t>
            </a:r>
            <a:r>
              <a:rPr sz="1800" spc="590" dirty="0">
                <a:latin typeface="Trebuchet MS"/>
                <a:cs typeface="Trebuchet MS"/>
              </a:rPr>
              <a:t>i</a:t>
            </a:r>
            <a:r>
              <a:rPr sz="1800" spc="450" dirty="0">
                <a:latin typeface="Trebuchet MS"/>
                <a:cs typeface="Trebuchet MS"/>
              </a:rPr>
              <a:t>]</a:t>
            </a:r>
            <a:r>
              <a:rPr sz="1800" spc="440" dirty="0">
                <a:latin typeface="Trebuchet MS"/>
                <a:cs typeface="Trebuchet MS"/>
              </a:rPr>
              <a:t>[</a:t>
            </a:r>
            <a:r>
              <a:rPr sz="1800" spc="445" dirty="0">
                <a:latin typeface="Trebuchet MS"/>
                <a:cs typeface="Trebuchet MS"/>
              </a:rPr>
              <a:t>j]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170" dirty="0">
                <a:latin typeface="Trebuchet MS"/>
                <a:cs typeface="Trebuchet MS"/>
              </a:rPr>
              <a:t>+</a:t>
            </a:r>
            <a:r>
              <a:rPr sz="1800" spc="160" dirty="0">
                <a:latin typeface="Trebuchet MS"/>
                <a:cs typeface="Trebuchet MS"/>
              </a:rPr>
              <a:t>=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165" dirty="0">
                <a:latin typeface="Trebuchet MS"/>
                <a:cs typeface="Trebuchet MS"/>
              </a:rPr>
              <a:t>1</a:t>
            </a:r>
            <a:r>
              <a:rPr sz="1800" spc="445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BE005DFD-34AF-E602-D87C-CDD33DF17581}"/>
              </a:ext>
            </a:extLst>
          </p:cNvPr>
          <p:cNvGraphicFramePr>
            <a:graphicFrameLocks noGrp="1"/>
          </p:cNvGraphicFramePr>
          <p:nvPr/>
        </p:nvGraphicFramePr>
        <p:xfrm>
          <a:off x="6232397" y="1845622"/>
          <a:ext cx="3255008" cy="40209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8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747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020"/>
                        </a:lnSpc>
                        <a:buFont typeface="Arial MT"/>
                        <a:buChar char="•"/>
                        <a:tabLst>
                          <a:tab pos="259715" algn="l"/>
                          <a:tab pos="260350" algn="l"/>
                        </a:tabLst>
                      </a:pPr>
                      <a:r>
                        <a:rPr sz="1800" spc="235" dirty="0">
                          <a:latin typeface="Trebuchet MS"/>
                          <a:cs typeface="Trebuchet MS"/>
                        </a:rPr>
                        <a:t>#define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2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020"/>
                        </a:lnSpc>
                      </a:pPr>
                      <a:r>
                        <a:rPr sz="1800" spc="155" dirty="0">
                          <a:latin typeface="Trebuchet MS"/>
                          <a:cs typeface="Trebuchet MS"/>
                        </a:rPr>
                        <a:t>32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959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259715" algn="l"/>
                          <a:tab pos="260350" algn="l"/>
                        </a:tabLst>
                      </a:pPr>
                      <a:r>
                        <a:rPr sz="1800" spc="235" dirty="0">
                          <a:latin typeface="Trebuchet MS"/>
                          <a:cs typeface="Trebuchet MS"/>
                        </a:rPr>
                        <a:t>#define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160" dirty="0">
                          <a:latin typeface="Trebuchet MS"/>
                          <a:cs typeface="Trebuchet MS"/>
                        </a:rPr>
                        <a:t>1024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*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165" dirty="0">
                          <a:latin typeface="Trebuchet MS"/>
                          <a:cs typeface="Trebuchet MS"/>
                        </a:rPr>
                        <a:t>1024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959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695"/>
                        </a:spcBef>
                        <a:buFont typeface="Arial MT"/>
                        <a:buChar char="•"/>
                        <a:tabLst>
                          <a:tab pos="259715" algn="l"/>
                          <a:tab pos="260350" algn="l"/>
                        </a:tabLst>
                      </a:pPr>
                      <a:r>
                        <a:rPr sz="1800" spc="235" dirty="0">
                          <a:latin typeface="Trebuchet MS"/>
                          <a:cs typeface="Trebuchet MS"/>
                        </a:rPr>
                        <a:t>#define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2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26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800" spc="145" dirty="0">
                          <a:latin typeface="Trebuchet MS"/>
                          <a:cs typeface="Trebuchet MS"/>
                        </a:rPr>
                        <a:t>128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2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259715" algn="l"/>
                          <a:tab pos="260350" algn="l"/>
                        </a:tabLst>
                      </a:pPr>
                      <a:r>
                        <a:rPr sz="1800" spc="235" dirty="0">
                          <a:latin typeface="Trebuchet MS"/>
                          <a:cs typeface="Trebuchet MS"/>
                        </a:rPr>
                        <a:t>#define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160" dirty="0">
                          <a:latin typeface="Trebuchet MS"/>
                          <a:cs typeface="Trebuchet MS"/>
                        </a:rPr>
                        <a:t>1024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*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165" dirty="0">
                          <a:latin typeface="Trebuchet MS"/>
                          <a:cs typeface="Trebuchet MS"/>
                        </a:rPr>
                        <a:t>1024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695"/>
                        </a:spcBef>
                        <a:buFont typeface="Arial MT"/>
                        <a:buChar char="•"/>
                        <a:tabLst>
                          <a:tab pos="259715" algn="l"/>
                          <a:tab pos="260350" algn="l"/>
                        </a:tabLst>
                      </a:pPr>
                      <a:r>
                        <a:rPr sz="1800" spc="235" dirty="0">
                          <a:latin typeface="Trebuchet MS"/>
                          <a:cs typeface="Trebuchet MS"/>
                        </a:rPr>
                        <a:t>#define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2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26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800" spc="145" dirty="0">
                          <a:latin typeface="Trebuchet MS"/>
                          <a:cs typeface="Trebuchet MS"/>
                        </a:rPr>
                        <a:t>256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2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714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259715" algn="l"/>
                          <a:tab pos="260350" algn="l"/>
                        </a:tabLst>
                      </a:pPr>
                      <a:r>
                        <a:rPr sz="1800" spc="235" dirty="0">
                          <a:latin typeface="Trebuchet MS"/>
                          <a:cs typeface="Trebuchet MS"/>
                        </a:rPr>
                        <a:t>#define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160" dirty="0">
                          <a:latin typeface="Trebuchet MS"/>
                          <a:cs typeface="Trebuchet MS"/>
                        </a:rPr>
                        <a:t>1024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*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165" dirty="0">
                          <a:latin typeface="Trebuchet MS"/>
                          <a:cs typeface="Trebuchet MS"/>
                        </a:rPr>
                        <a:t>1024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115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695"/>
                        </a:spcBef>
                        <a:buFont typeface="Arial MT"/>
                        <a:buChar char="•"/>
                        <a:tabLst>
                          <a:tab pos="259715" algn="l"/>
                          <a:tab pos="260350" algn="l"/>
                        </a:tabLst>
                      </a:pPr>
                      <a:r>
                        <a:rPr sz="1800" spc="235" dirty="0">
                          <a:latin typeface="Trebuchet MS"/>
                          <a:cs typeface="Trebuchet MS"/>
                        </a:rPr>
                        <a:t>#define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2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26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800" spc="145" dirty="0">
                          <a:latin typeface="Trebuchet MS"/>
                          <a:cs typeface="Trebuchet MS"/>
                        </a:rPr>
                        <a:t>4096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2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35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259715" algn="l"/>
                          <a:tab pos="260350" algn="l"/>
                        </a:tabLst>
                      </a:pPr>
                      <a:r>
                        <a:rPr sz="1800" spc="235" dirty="0">
                          <a:latin typeface="Trebuchet MS"/>
                          <a:cs typeface="Trebuchet MS"/>
                        </a:rPr>
                        <a:t>#define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160" dirty="0">
                          <a:latin typeface="Trebuchet MS"/>
                          <a:cs typeface="Trebuchet MS"/>
                        </a:rPr>
                        <a:t>1024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*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165" dirty="0">
                          <a:latin typeface="Trebuchet MS"/>
                          <a:cs typeface="Trebuchet MS"/>
                        </a:rPr>
                        <a:t>1024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1" name="object 8">
            <a:extLst>
              <a:ext uri="{FF2B5EF4-FFF2-40B4-BE49-F238E27FC236}">
                <a16:creationId xmlns:a16="http://schemas.microsoft.com/office/drawing/2014/main" id="{E681E663-6E9A-4407-5920-42E9786FBB0D}"/>
              </a:ext>
            </a:extLst>
          </p:cNvPr>
          <p:cNvGrpSpPr/>
          <p:nvPr/>
        </p:nvGrpSpPr>
        <p:grpSpPr>
          <a:xfrm>
            <a:off x="9747377" y="1623060"/>
            <a:ext cx="2248535" cy="898525"/>
            <a:chOff x="9747377" y="1623060"/>
            <a:chExt cx="2248535" cy="898525"/>
          </a:xfrm>
        </p:grpSpPr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557D6FEC-8B6F-E531-4538-DA188C48A84C}"/>
                </a:ext>
              </a:extLst>
            </p:cNvPr>
            <p:cNvSpPr/>
            <p:nvPr/>
          </p:nvSpPr>
          <p:spPr>
            <a:xfrm>
              <a:off x="9756902" y="1632585"/>
              <a:ext cx="2229485" cy="879475"/>
            </a:xfrm>
            <a:custGeom>
              <a:avLst/>
              <a:gdLst/>
              <a:ahLst/>
              <a:cxnLst/>
              <a:rect l="l" t="t" r="r" b="b"/>
              <a:pathLst>
                <a:path w="2229484" h="879475">
                  <a:moveTo>
                    <a:pt x="2228977" y="366394"/>
                  </a:moveTo>
                  <a:lnTo>
                    <a:pt x="225678" y="366394"/>
                  </a:lnTo>
                  <a:lnTo>
                    <a:pt x="225678" y="732789"/>
                  </a:lnTo>
                  <a:lnTo>
                    <a:pt x="233154" y="779097"/>
                  </a:lnTo>
                  <a:lnTo>
                    <a:pt x="253968" y="819326"/>
                  </a:lnTo>
                  <a:lnTo>
                    <a:pt x="285700" y="851058"/>
                  </a:lnTo>
                  <a:lnTo>
                    <a:pt x="325929" y="871872"/>
                  </a:lnTo>
                  <a:lnTo>
                    <a:pt x="372237" y="879348"/>
                  </a:lnTo>
                  <a:lnTo>
                    <a:pt x="2082419" y="879348"/>
                  </a:lnTo>
                  <a:lnTo>
                    <a:pt x="2128726" y="871872"/>
                  </a:lnTo>
                  <a:lnTo>
                    <a:pt x="2168955" y="851058"/>
                  </a:lnTo>
                  <a:lnTo>
                    <a:pt x="2200687" y="819326"/>
                  </a:lnTo>
                  <a:lnTo>
                    <a:pt x="2221501" y="779097"/>
                  </a:lnTo>
                  <a:lnTo>
                    <a:pt x="2228977" y="732789"/>
                  </a:lnTo>
                  <a:lnTo>
                    <a:pt x="2228977" y="366394"/>
                  </a:lnTo>
                  <a:close/>
                </a:path>
                <a:path w="2229484" h="879475">
                  <a:moveTo>
                    <a:pt x="2082419" y="0"/>
                  </a:moveTo>
                  <a:lnTo>
                    <a:pt x="372237" y="0"/>
                  </a:lnTo>
                  <a:lnTo>
                    <a:pt x="325929" y="7475"/>
                  </a:lnTo>
                  <a:lnTo>
                    <a:pt x="285700" y="28289"/>
                  </a:lnTo>
                  <a:lnTo>
                    <a:pt x="253968" y="60021"/>
                  </a:lnTo>
                  <a:lnTo>
                    <a:pt x="233154" y="100250"/>
                  </a:lnTo>
                  <a:lnTo>
                    <a:pt x="225678" y="146557"/>
                  </a:lnTo>
                  <a:lnTo>
                    <a:pt x="0" y="395986"/>
                  </a:lnTo>
                  <a:lnTo>
                    <a:pt x="225678" y="366394"/>
                  </a:lnTo>
                  <a:lnTo>
                    <a:pt x="2228977" y="366394"/>
                  </a:lnTo>
                  <a:lnTo>
                    <a:pt x="2228977" y="146557"/>
                  </a:lnTo>
                  <a:lnTo>
                    <a:pt x="2221501" y="100250"/>
                  </a:lnTo>
                  <a:lnTo>
                    <a:pt x="2200687" y="60021"/>
                  </a:lnTo>
                  <a:lnTo>
                    <a:pt x="2168955" y="28289"/>
                  </a:lnTo>
                  <a:lnTo>
                    <a:pt x="2128726" y="7475"/>
                  </a:lnTo>
                  <a:lnTo>
                    <a:pt x="2082419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1D6BE2B6-D26D-F98E-4C10-7EDCD62A86B2}"/>
                </a:ext>
              </a:extLst>
            </p:cNvPr>
            <p:cNvSpPr/>
            <p:nvPr/>
          </p:nvSpPr>
          <p:spPr>
            <a:xfrm>
              <a:off x="9756902" y="1632585"/>
              <a:ext cx="2229485" cy="879475"/>
            </a:xfrm>
            <a:custGeom>
              <a:avLst/>
              <a:gdLst/>
              <a:ahLst/>
              <a:cxnLst/>
              <a:rect l="l" t="t" r="r" b="b"/>
              <a:pathLst>
                <a:path w="2229484" h="879475">
                  <a:moveTo>
                    <a:pt x="225678" y="146557"/>
                  </a:moveTo>
                  <a:lnTo>
                    <a:pt x="233154" y="100250"/>
                  </a:lnTo>
                  <a:lnTo>
                    <a:pt x="253968" y="60021"/>
                  </a:lnTo>
                  <a:lnTo>
                    <a:pt x="285700" y="28289"/>
                  </a:lnTo>
                  <a:lnTo>
                    <a:pt x="325929" y="7475"/>
                  </a:lnTo>
                  <a:lnTo>
                    <a:pt x="372237" y="0"/>
                  </a:lnTo>
                  <a:lnTo>
                    <a:pt x="559562" y="0"/>
                  </a:lnTo>
                  <a:lnTo>
                    <a:pt x="1060323" y="0"/>
                  </a:lnTo>
                  <a:lnTo>
                    <a:pt x="2082419" y="0"/>
                  </a:lnTo>
                  <a:lnTo>
                    <a:pt x="2128726" y="7475"/>
                  </a:lnTo>
                  <a:lnTo>
                    <a:pt x="2168955" y="28289"/>
                  </a:lnTo>
                  <a:lnTo>
                    <a:pt x="2200687" y="60021"/>
                  </a:lnTo>
                  <a:lnTo>
                    <a:pt x="2221501" y="100250"/>
                  </a:lnTo>
                  <a:lnTo>
                    <a:pt x="2228977" y="146557"/>
                  </a:lnTo>
                  <a:lnTo>
                    <a:pt x="2228977" y="366394"/>
                  </a:lnTo>
                  <a:lnTo>
                    <a:pt x="2228977" y="732789"/>
                  </a:lnTo>
                  <a:lnTo>
                    <a:pt x="2221501" y="779097"/>
                  </a:lnTo>
                  <a:lnTo>
                    <a:pt x="2200687" y="819326"/>
                  </a:lnTo>
                  <a:lnTo>
                    <a:pt x="2168955" y="851058"/>
                  </a:lnTo>
                  <a:lnTo>
                    <a:pt x="2128726" y="871872"/>
                  </a:lnTo>
                  <a:lnTo>
                    <a:pt x="2082419" y="879348"/>
                  </a:lnTo>
                  <a:lnTo>
                    <a:pt x="1060323" y="879348"/>
                  </a:lnTo>
                  <a:lnTo>
                    <a:pt x="559562" y="879348"/>
                  </a:lnTo>
                  <a:lnTo>
                    <a:pt x="372237" y="879348"/>
                  </a:lnTo>
                  <a:lnTo>
                    <a:pt x="325929" y="871872"/>
                  </a:lnTo>
                  <a:lnTo>
                    <a:pt x="285700" y="851058"/>
                  </a:lnTo>
                  <a:lnTo>
                    <a:pt x="253968" y="819326"/>
                  </a:lnTo>
                  <a:lnTo>
                    <a:pt x="233154" y="779097"/>
                  </a:lnTo>
                  <a:lnTo>
                    <a:pt x="225678" y="732789"/>
                  </a:lnTo>
                  <a:lnTo>
                    <a:pt x="225678" y="366394"/>
                  </a:lnTo>
                  <a:lnTo>
                    <a:pt x="0" y="395986"/>
                  </a:lnTo>
                  <a:lnTo>
                    <a:pt x="225678" y="14655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1">
            <a:extLst>
              <a:ext uri="{FF2B5EF4-FFF2-40B4-BE49-F238E27FC236}">
                <a16:creationId xmlns:a16="http://schemas.microsoft.com/office/drawing/2014/main" id="{1E42241F-0707-80D5-FD34-9DFCCA7CABC9}"/>
              </a:ext>
            </a:extLst>
          </p:cNvPr>
          <p:cNvSpPr txBox="1"/>
          <p:nvPr/>
        </p:nvSpPr>
        <p:spPr>
          <a:xfrm>
            <a:off x="10635233" y="1907540"/>
            <a:ext cx="698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235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2">
            <a:extLst>
              <a:ext uri="{FF2B5EF4-FFF2-40B4-BE49-F238E27FC236}">
                <a16:creationId xmlns:a16="http://schemas.microsoft.com/office/drawing/2014/main" id="{AF5F6848-1C3A-5F47-091F-B2C09B7DE73F}"/>
              </a:ext>
            </a:extLst>
          </p:cNvPr>
          <p:cNvGrpSpPr/>
          <p:nvPr/>
        </p:nvGrpSpPr>
        <p:grpSpPr>
          <a:xfrm>
            <a:off x="9747377" y="2757677"/>
            <a:ext cx="2248535" cy="899160"/>
            <a:chOff x="9747377" y="2757677"/>
            <a:chExt cx="2248535" cy="899160"/>
          </a:xfrm>
        </p:grpSpPr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BFA3DB5B-079D-AC2F-BCDE-91BB51BBBF7C}"/>
                </a:ext>
              </a:extLst>
            </p:cNvPr>
            <p:cNvSpPr/>
            <p:nvPr/>
          </p:nvSpPr>
          <p:spPr>
            <a:xfrm>
              <a:off x="9756902" y="2767202"/>
              <a:ext cx="2229485" cy="880110"/>
            </a:xfrm>
            <a:custGeom>
              <a:avLst/>
              <a:gdLst/>
              <a:ahLst/>
              <a:cxnLst/>
              <a:rect l="l" t="t" r="r" b="b"/>
              <a:pathLst>
                <a:path w="2229484" h="880110">
                  <a:moveTo>
                    <a:pt x="2228977" y="366775"/>
                  </a:moveTo>
                  <a:lnTo>
                    <a:pt x="225678" y="366775"/>
                  </a:lnTo>
                  <a:lnTo>
                    <a:pt x="225678" y="733425"/>
                  </a:lnTo>
                  <a:lnTo>
                    <a:pt x="233155" y="779794"/>
                  </a:lnTo>
                  <a:lnTo>
                    <a:pt x="253976" y="820061"/>
                  </a:lnTo>
                  <a:lnTo>
                    <a:pt x="285727" y="851812"/>
                  </a:lnTo>
                  <a:lnTo>
                    <a:pt x="325994" y="872633"/>
                  </a:lnTo>
                  <a:lnTo>
                    <a:pt x="372364" y="880110"/>
                  </a:lnTo>
                  <a:lnTo>
                    <a:pt x="2082292" y="880110"/>
                  </a:lnTo>
                  <a:lnTo>
                    <a:pt x="2128661" y="872633"/>
                  </a:lnTo>
                  <a:lnTo>
                    <a:pt x="2168928" y="851812"/>
                  </a:lnTo>
                  <a:lnTo>
                    <a:pt x="2200679" y="820061"/>
                  </a:lnTo>
                  <a:lnTo>
                    <a:pt x="2221500" y="779794"/>
                  </a:lnTo>
                  <a:lnTo>
                    <a:pt x="2228977" y="733425"/>
                  </a:lnTo>
                  <a:lnTo>
                    <a:pt x="2228977" y="366775"/>
                  </a:lnTo>
                  <a:close/>
                </a:path>
                <a:path w="2229484" h="880110">
                  <a:moveTo>
                    <a:pt x="2082292" y="0"/>
                  </a:moveTo>
                  <a:lnTo>
                    <a:pt x="372364" y="0"/>
                  </a:lnTo>
                  <a:lnTo>
                    <a:pt x="325994" y="7476"/>
                  </a:lnTo>
                  <a:lnTo>
                    <a:pt x="285727" y="28297"/>
                  </a:lnTo>
                  <a:lnTo>
                    <a:pt x="253976" y="60048"/>
                  </a:lnTo>
                  <a:lnTo>
                    <a:pt x="233155" y="100315"/>
                  </a:lnTo>
                  <a:lnTo>
                    <a:pt x="225678" y="146685"/>
                  </a:lnTo>
                  <a:lnTo>
                    <a:pt x="0" y="396367"/>
                  </a:lnTo>
                  <a:lnTo>
                    <a:pt x="225678" y="366775"/>
                  </a:lnTo>
                  <a:lnTo>
                    <a:pt x="2228977" y="366775"/>
                  </a:lnTo>
                  <a:lnTo>
                    <a:pt x="2228977" y="146685"/>
                  </a:lnTo>
                  <a:lnTo>
                    <a:pt x="2221500" y="100315"/>
                  </a:lnTo>
                  <a:lnTo>
                    <a:pt x="2200679" y="60048"/>
                  </a:lnTo>
                  <a:lnTo>
                    <a:pt x="2168928" y="28297"/>
                  </a:lnTo>
                  <a:lnTo>
                    <a:pt x="2128661" y="7476"/>
                  </a:lnTo>
                  <a:lnTo>
                    <a:pt x="2082292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6A2FBEE9-BF90-1F25-C3F3-6AEDC273DF41}"/>
                </a:ext>
              </a:extLst>
            </p:cNvPr>
            <p:cNvSpPr/>
            <p:nvPr/>
          </p:nvSpPr>
          <p:spPr>
            <a:xfrm>
              <a:off x="9756902" y="2767202"/>
              <a:ext cx="2229485" cy="880110"/>
            </a:xfrm>
            <a:custGeom>
              <a:avLst/>
              <a:gdLst/>
              <a:ahLst/>
              <a:cxnLst/>
              <a:rect l="l" t="t" r="r" b="b"/>
              <a:pathLst>
                <a:path w="2229484" h="880110">
                  <a:moveTo>
                    <a:pt x="225678" y="146685"/>
                  </a:moveTo>
                  <a:lnTo>
                    <a:pt x="233155" y="100315"/>
                  </a:lnTo>
                  <a:lnTo>
                    <a:pt x="253976" y="60048"/>
                  </a:lnTo>
                  <a:lnTo>
                    <a:pt x="285727" y="28297"/>
                  </a:lnTo>
                  <a:lnTo>
                    <a:pt x="325994" y="7476"/>
                  </a:lnTo>
                  <a:lnTo>
                    <a:pt x="372364" y="0"/>
                  </a:lnTo>
                  <a:lnTo>
                    <a:pt x="559562" y="0"/>
                  </a:lnTo>
                  <a:lnTo>
                    <a:pt x="1060323" y="0"/>
                  </a:lnTo>
                  <a:lnTo>
                    <a:pt x="2082292" y="0"/>
                  </a:lnTo>
                  <a:lnTo>
                    <a:pt x="2128661" y="7476"/>
                  </a:lnTo>
                  <a:lnTo>
                    <a:pt x="2168928" y="28297"/>
                  </a:lnTo>
                  <a:lnTo>
                    <a:pt x="2200679" y="60048"/>
                  </a:lnTo>
                  <a:lnTo>
                    <a:pt x="2221500" y="100315"/>
                  </a:lnTo>
                  <a:lnTo>
                    <a:pt x="2228977" y="146685"/>
                  </a:lnTo>
                  <a:lnTo>
                    <a:pt x="2228977" y="366775"/>
                  </a:lnTo>
                  <a:lnTo>
                    <a:pt x="2228977" y="733425"/>
                  </a:lnTo>
                  <a:lnTo>
                    <a:pt x="2221500" y="779794"/>
                  </a:lnTo>
                  <a:lnTo>
                    <a:pt x="2200679" y="820061"/>
                  </a:lnTo>
                  <a:lnTo>
                    <a:pt x="2168928" y="851812"/>
                  </a:lnTo>
                  <a:lnTo>
                    <a:pt x="2128661" y="872633"/>
                  </a:lnTo>
                  <a:lnTo>
                    <a:pt x="2082292" y="880110"/>
                  </a:lnTo>
                  <a:lnTo>
                    <a:pt x="1060323" y="880110"/>
                  </a:lnTo>
                  <a:lnTo>
                    <a:pt x="559562" y="880110"/>
                  </a:lnTo>
                  <a:lnTo>
                    <a:pt x="372364" y="880110"/>
                  </a:lnTo>
                  <a:lnTo>
                    <a:pt x="325994" y="872633"/>
                  </a:lnTo>
                  <a:lnTo>
                    <a:pt x="285727" y="851812"/>
                  </a:lnTo>
                  <a:lnTo>
                    <a:pt x="253976" y="820061"/>
                  </a:lnTo>
                  <a:lnTo>
                    <a:pt x="233155" y="779794"/>
                  </a:lnTo>
                  <a:lnTo>
                    <a:pt x="225678" y="733425"/>
                  </a:lnTo>
                  <a:lnTo>
                    <a:pt x="225678" y="366775"/>
                  </a:lnTo>
                  <a:lnTo>
                    <a:pt x="0" y="396367"/>
                  </a:lnTo>
                  <a:lnTo>
                    <a:pt x="225678" y="14668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5">
            <a:extLst>
              <a:ext uri="{FF2B5EF4-FFF2-40B4-BE49-F238E27FC236}">
                <a16:creationId xmlns:a16="http://schemas.microsoft.com/office/drawing/2014/main" id="{E87B4322-6175-04B4-607D-7CBBCA485B49}"/>
              </a:ext>
            </a:extLst>
          </p:cNvPr>
          <p:cNvSpPr txBox="1"/>
          <p:nvPr/>
        </p:nvSpPr>
        <p:spPr>
          <a:xfrm>
            <a:off x="10635233" y="3042920"/>
            <a:ext cx="697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240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6">
            <a:extLst>
              <a:ext uri="{FF2B5EF4-FFF2-40B4-BE49-F238E27FC236}">
                <a16:creationId xmlns:a16="http://schemas.microsoft.com/office/drawing/2014/main" id="{AC8198DD-E328-21D2-8271-32957883552F}"/>
              </a:ext>
            </a:extLst>
          </p:cNvPr>
          <p:cNvGrpSpPr/>
          <p:nvPr/>
        </p:nvGrpSpPr>
        <p:grpSpPr>
          <a:xfrm>
            <a:off x="9747377" y="3893058"/>
            <a:ext cx="2248535" cy="899160"/>
            <a:chOff x="9747377" y="3893058"/>
            <a:chExt cx="2248535" cy="899160"/>
          </a:xfrm>
        </p:grpSpPr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2FC2536E-6016-36A5-8DC7-86E8BFEB79C9}"/>
                </a:ext>
              </a:extLst>
            </p:cNvPr>
            <p:cNvSpPr/>
            <p:nvPr/>
          </p:nvSpPr>
          <p:spPr>
            <a:xfrm>
              <a:off x="9756902" y="3902583"/>
              <a:ext cx="2229485" cy="880110"/>
            </a:xfrm>
            <a:custGeom>
              <a:avLst/>
              <a:gdLst/>
              <a:ahLst/>
              <a:cxnLst/>
              <a:rect l="l" t="t" r="r" b="b"/>
              <a:pathLst>
                <a:path w="2229484" h="880110">
                  <a:moveTo>
                    <a:pt x="2228977" y="366776"/>
                  </a:moveTo>
                  <a:lnTo>
                    <a:pt x="225678" y="366776"/>
                  </a:lnTo>
                  <a:lnTo>
                    <a:pt x="225678" y="733425"/>
                  </a:lnTo>
                  <a:lnTo>
                    <a:pt x="233155" y="779794"/>
                  </a:lnTo>
                  <a:lnTo>
                    <a:pt x="253976" y="820061"/>
                  </a:lnTo>
                  <a:lnTo>
                    <a:pt x="285727" y="851812"/>
                  </a:lnTo>
                  <a:lnTo>
                    <a:pt x="325994" y="872633"/>
                  </a:lnTo>
                  <a:lnTo>
                    <a:pt x="372364" y="880110"/>
                  </a:lnTo>
                  <a:lnTo>
                    <a:pt x="2082292" y="880110"/>
                  </a:lnTo>
                  <a:lnTo>
                    <a:pt x="2128661" y="872633"/>
                  </a:lnTo>
                  <a:lnTo>
                    <a:pt x="2168928" y="851812"/>
                  </a:lnTo>
                  <a:lnTo>
                    <a:pt x="2200679" y="820061"/>
                  </a:lnTo>
                  <a:lnTo>
                    <a:pt x="2221500" y="779794"/>
                  </a:lnTo>
                  <a:lnTo>
                    <a:pt x="2228977" y="733425"/>
                  </a:lnTo>
                  <a:lnTo>
                    <a:pt x="2228977" y="366776"/>
                  </a:lnTo>
                  <a:close/>
                </a:path>
                <a:path w="2229484" h="880110">
                  <a:moveTo>
                    <a:pt x="2082292" y="0"/>
                  </a:moveTo>
                  <a:lnTo>
                    <a:pt x="372364" y="0"/>
                  </a:lnTo>
                  <a:lnTo>
                    <a:pt x="325994" y="7476"/>
                  </a:lnTo>
                  <a:lnTo>
                    <a:pt x="285727" y="28297"/>
                  </a:lnTo>
                  <a:lnTo>
                    <a:pt x="253976" y="60048"/>
                  </a:lnTo>
                  <a:lnTo>
                    <a:pt x="233155" y="100315"/>
                  </a:lnTo>
                  <a:lnTo>
                    <a:pt x="225678" y="146685"/>
                  </a:lnTo>
                  <a:lnTo>
                    <a:pt x="0" y="396367"/>
                  </a:lnTo>
                  <a:lnTo>
                    <a:pt x="225678" y="366776"/>
                  </a:lnTo>
                  <a:lnTo>
                    <a:pt x="2228977" y="366776"/>
                  </a:lnTo>
                  <a:lnTo>
                    <a:pt x="2228977" y="146685"/>
                  </a:lnTo>
                  <a:lnTo>
                    <a:pt x="2221500" y="100315"/>
                  </a:lnTo>
                  <a:lnTo>
                    <a:pt x="2200679" y="60048"/>
                  </a:lnTo>
                  <a:lnTo>
                    <a:pt x="2168928" y="28297"/>
                  </a:lnTo>
                  <a:lnTo>
                    <a:pt x="2128661" y="7476"/>
                  </a:lnTo>
                  <a:lnTo>
                    <a:pt x="2082292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C786CB79-D1B7-3F67-AD81-C00065538AC3}"/>
                </a:ext>
              </a:extLst>
            </p:cNvPr>
            <p:cNvSpPr/>
            <p:nvPr/>
          </p:nvSpPr>
          <p:spPr>
            <a:xfrm>
              <a:off x="9756902" y="3902583"/>
              <a:ext cx="2229485" cy="880110"/>
            </a:xfrm>
            <a:custGeom>
              <a:avLst/>
              <a:gdLst/>
              <a:ahLst/>
              <a:cxnLst/>
              <a:rect l="l" t="t" r="r" b="b"/>
              <a:pathLst>
                <a:path w="2229484" h="880110">
                  <a:moveTo>
                    <a:pt x="225678" y="146685"/>
                  </a:moveTo>
                  <a:lnTo>
                    <a:pt x="233155" y="100315"/>
                  </a:lnTo>
                  <a:lnTo>
                    <a:pt x="253976" y="60048"/>
                  </a:lnTo>
                  <a:lnTo>
                    <a:pt x="285727" y="28297"/>
                  </a:lnTo>
                  <a:lnTo>
                    <a:pt x="325994" y="7476"/>
                  </a:lnTo>
                  <a:lnTo>
                    <a:pt x="372364" y="0"/>
                  </a:lnTo>
                  <a:lnTo>
                    <a:pt x="559562" y="0"/>
                  </a:lnTo>
                  <a:lnTo>
                    <a:pt x="1060323" y="0"/>
                  </a:lnTo>
                  <a:lnTo>
                    <a:pt x="2082292" y="0"/>
                  </a:lnTo>
                  <a:lnTo>
                    <a:pt x="2128661" y="7476"/>
                  </a:lnTo>
                  <a:lnTo>
                    <a:pt x="2168928" y="28297"/>
                  </a:lnTo>
                  <a:lnTo>
                    <a:pt x="2200679" y="60048"/>
                  </a:lnTo>
                  <a:lnTo>
                    <a:pt x="2221500" y="100315"/>
                  </a:lnTo>
                  <a:lnTo>
                    <a:pt x="2228977" y="146685"/>
                  </a:lnTo>
                  <a:lnTo>
                    <a:pt x="2228977" y="366776"/>
                  </a:lnTo>
                  <a:lnTo>
                    <a:pt x="2228977" y="733425"/>
                  </a:lnTo>
                  <a:lnTo>
                    <a:pt x="2221500" y="779794"/>
                  </a:lnTo>
                  <a:lnTo>
                    <a:pt x="2200679" y="820061"/>
                  </a:lnTo>
                  <a:lnTo>
                    <a:pt x="2168928" y="851812"/>
                  </a:lnTo>
                  <a:lnTo>
                    <a:pt x="2128661" y="872633"/>
                  </a:lnTo>
                  <a:lnTo>
                    <a:pt x="2082292" y="880110"/>
                  </a:lnTo>
                  <a:lnTo>
                    <a:pt x="1060323" y="880110"/>
                  </a:lnTo>
                  <a:lnTo>
                    <a:pt x="559562" y="880110"/>
                  </a:lnTo>
                  <a:lnTo>
                    <a:pt x="372364" y="880110"/>
                  </a:lnTo>
                  <a:lnTo>
                    <a:pt x="325994" y="872633"/>
                  </a:lnTo>
                  <a:lnTo>
                    <a:pt x="285727" y="851812"/>
                  </a:lnTo>
                  <a:lnTo>
                    <a:pt x="253976" y="820061"/>
                  </a:lnTo>
                  <a:lnTo>
                    <a:pt x="233155" y="779794"/>
                  </a:lnTo>
                  <a:lnTo>
                    <a:pt x="225678" y="733425"/>
                  </a:lnTo>
                  <a:lnTo>
                    <a:pt x="225678" y="366776"/>
                  </a:lnTo>
                  <a:lnTo>
                    <a:pt x="0" y="396367"/>
                  </a:lnTo>
                  <a:lnTo>
                    <a:pt x="225678" y="14668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9">
            <a:extLst>
              <a:ext uri="{FF2B5EF4-FFF2-40B4-BE49-F238E27FC236}">
                <a16:creationId xmlns:a16="http://schemas.microsoft.com/office/drawing/2014/main" id="{A9EC6421-ADBD-6776-F34F-C88A74214021}"/>
              </a:ext>
            </a:extLst>
          </p:cNvPr>
          <p:cNvSpPr txBox="1"/>
          <p:nvPr/>
        </p:nvSpPr>
        <p:spPr>
          <a:xfrm>
            <a:off x="10635233" y="4178300"/>
            <a:ext cx="698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420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0">
            <a:extLst>
              <a:ext uri="{FF2B5EF4-FFF2-40B4-BE49-F238E27FC236}">
                <a16:creationId xmlns:a16="http://schemas.microsoft.com/office/drawing/2014/main" id="{7D1193B1-5E6D-71A6-4B0D-56E9EA60E2AD}"/>
              </a:ext>
            </a:extLst>
          </p:cNvPr>
          <p:cNvGrpSpPr/>
          <p:nvPr/>
        </p:nvGrpSpPr>
        <p:grpSpPr>
          <a:xfrm>
            <a:off x="9747377" y="5028438"/>
            <a:ext cx="2248535" cy="898525"/>
            <a:chOff x="9747377" y="5028438"/>
            <a:chExt cx="2248535" cy="898525"/>
          </a:xfrm>
        </p:grpSpPr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DCD3387A-6844-E4BD-F5B9-3076930464C6}"/>
                </a:ext>
              </a:extLst>
            </p:cNvPr>
            <p:cNvSpPr/>
            <p:nvPr/>
          </p:nvSpPr>
          <p:spPr>
            <a:xfrm>
              <a:off x="9756902" y="5037963"/>
              <a:ext cx="2229485" cy="879475"/>
            </a:xfrm>
            <a:custGeom>
              <a:avLst/>
              <a:gdLst/>
              <a:ahLst/>
              <a:cxnLst/>
              <a:rect l="l" t="t" r="r" b="b"/>
              <a:pathLst>
                <a:path w="2229484" h="879475">
                  <a:moveTo>
                    <a:pt x="2228977" y="366395"/>
                  </a:moveTo>
                  <a:lnTo>
                    <a:pt x="225678" y="366395"/>
                  </a:lnTo>
                  <a:lnTo>
                    <a:pt x="225678" y="732790"/>
                  </a:lnTo>
                  <a:lnTo>
                    <a:pt x="233154" y="779111"/>
                  </a:lnTo>
                  <a:lnTo>
                    <a:pt x="253968" y="819343"/>
                  </a:lnTo>
                  <a:lnTo>
                    <a:pt x="285700" y="851069"/>
                  </a:lnTo>
                  <a:lnTo>
                    <a:pt x="325929" y="871875"/>
                  </a:lnTo>
                  <a:lnTo>
                    <a:pt x="372237" y="879348"/>
                  </a:lnTo>
                  <a:lnTo>
                    <a:pt x="2082419" y="879348"/>
                  </a:lnTo>
                  <a:lnTo>
                    <a:pt x="2128726" y="871875"/>
                  </a:lnTo>
                  <a:lnTo>
                    <a:pt x="2168955" y="851069"/>
                  </a:lnTo>
                  <a:lnTo>
                    <a:pt x="2200687" y="819343"/>
                  </a:lnTo>
                  <a:lnTo>
                    <a:pt x="2221501" y="779111"/>
                  </a:lnTo>
                  <a:lnTo>
                    <a:pt x="2228977" y="732790"/>
                  </a:lnTo>
                  <a:lnTo>
                    <a:pt x="2228977" y="366395"/>
                  </a:lnTo>
                  <a:close/>
                </a:path>
                <a:path w="2229484" h="879475">
                  <a:moveTo>
                    <a:pt x="2082419" y="0"/>
                  </a:moveTo>
                  <a:lnTo>
                    <a:pt x="372237" y="0"/>
                  </a:lnTo>
                  <a:lnTo>
                    <a:pt x="325929" y="7475"/>
                  </a:lnTo>
                  <a:lnTo>
                    <a:pt x="285700" y="28289"/>
                  </a:lnTo>
                  <a:lnTo>
                    <a:pt x="253968" y="60021"/>
                  </a:lnTo>
                  <a:lnTo>
                    <a:pt x="233154" y="100250"/>
                  </a:lnTo>
                  <a:lnTo>
                    <a:pt x="225678" y="146557"/>
                  </a:lnTo>
                  <a:lnTo>
                    <a:pt x="0" y="395986"/>
                  </a:lnTo>
                  <a:lnTo>
                    <a:pt x="225678" y="366395"/>
                  </a:lnTo>
                  <a:lnTo>
                    <a:pt x="2228977" y="366395"/>
                  </a:lnTo>
                  <a:lnTo>
                    <a:pt x="2228977" y="146557"/>
                  </a:lnTo>
                  <a:lnTo>
                    <a:pt x="2221501" y="100250"/>
                  </a:lnTo>
                  <a:lnTo>
                    <a:pt x="2200687" y="60021"/>
                  </a:lnTo>
                  <a:lnTo>
                    <a:pt x="2168955" y="28289"/>
                  </a:lnTo>
                  <a:lnTo>
                    <a:pt x="2128726" y="7475"/>
                  </a:lnTo>
                  <a:lnTo>
                    <a:pt x="2082419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29A8B9AA-34BA-BB65-620C-1059237D7CEC}"/>
                </a:ext>
              </a:extLst>
            </p:cNvPr>
            <p:cNvSpPr/>
            <p:nvPr/>
          </p:nvSpPr>
          <p:spPr>
            <a:xfrm>
              <a:off x="9756902" y="5037963"/>
              <a:ext cx="2229485" cy="879475"/>
            </a:xfrm>
            <a:custGeom>
              <a:avLst/>
              <a:gdLst/>
              <a:ahLst/>
              <a:cxnLst/>
              <a:rect l="l" t="t" r="r" b="b"/>
              <a:pathLst>
                <a:path w="2229484" h="879475">
                  <a:moveTo>
                    <a:pt x="225678" y="146557"/>
                  </a:moveTo>
                  <a:lnTo>
                    <a:pt x="233154" y="100250"/>
                  </a:lnTo>
                  <a:lnTo>
                    <a:pt x="253968" y="60021"/>
                  </a:lnTo>
                  <a:lnTo>
                    <a:pt x="285700" y="28289"/>
                  </a:lnTo>
                  <a:lnTo>
                    <a:pt x="325929" y="7475"/>
                  </a:lnTo>
                  <a:lnTo>
                    <a:pt x="372237" y="0"/>
                  </a:lnTo>
                  <a:lnTo>
                    <a:pt x="559562" y="0"/>
                  </a:lnTo>
                  <a:lnTo>
                    <a:pt x="1060323" y="0"/>
                  </a:lnTo>
                  <a:lnTo>
                    <a:pt x="2082419" y="0"/>
                  </a:lnTo>
                  <a:lnTo>
                    <a:pt x="2128726" y="7475"/>
                  </a:lnTo>
                  <a:lnTo>
                    <a:pt x="2168955" y="28289"/>
                  </a:lnTo>
                  <a:lnTo>
                    <a:pt x="2200687" y="60021"/>
                  </a:lnTo>
                  <a:lnTo>
                    <a:pt x="2221501" y="100250"/>
                  </a:lnTo>
                  <a:lnTo>
                    <a:pt x="2228977" y="146557"/>
                  </a:lnTo>
                  <a:lnTo>
                    <a:pt x="2228977" y="366395"/>
                  </a:lnTo>
                  <a:lnTo>
                    <a:pt x="2228977" y="732790"/>
                  </a:lnTo>
                  <a:lnTo>
                    <a:pt x="2221501" y="779111"/>
                  </a:lnTo>
                  <a:lnTo>
                    <a:pt x="2200687" y="819343"/>
                  </a:lnTo>
                  <a:lnTo>
                    <a:pt x="2168955" y="851069"/>
                  </a:lnTo>
                  <a:lnTo>
                    <a:pt x="2128726" y="871875"/>
                  </a:lnTo>
                  <a:lnTo>
                    <a:pt x="2082419" y="879348"/>
                  </a:lnTo>
                  <a:lnTo>
                    <a:pt x="1060323" y="879348"/>
                  </a:lnTo>
                  <a:lnTo>
                    <a:pt x="559562" y="879348"/>
                  </a:lnTo>
                  <a:lnTo>
                    <a:pt x="372237" y="879348"/>
                  </a:lnTo>
                  <a:lnTo>
                    <a:pt x="325929" y="871875"/>
                  </a:lnTo>
                  <a:lnTo>
                    <a:pt x="285700" y="851069"/>
                  </a:lnTo>
                  <a:lnTo>
                    <a:pt x="253968" y="819343"/>
                  </a:lnTo>
                  <a:lnTo>
                    <a:pt x="233154" y="779111"/>
                  </a:lnTo>
                  <a:lnTo>
                    <a:pt x="225678" y="732790"/>
                  </a:lnTo>
                  <a:lnTo>
                    <a:pt x="225678" y="366395"/>
                  </a:lnTo>
                  <a:lnTo>
                    <a:pt x="0" y="395986"/>
                  </a:lnTo>
                  <a:lnTo>
                    <a:pt x="225678" y="14655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3">
            <a:extLst>
              <a:ext uri="{FF2B5EF4-FFF2-40B4-BE49-F238E27FC236}">
                <a16:creationId xmlns:a16="http://schemas.microsoft.com/office/drawing/2014/main" id="{69ED4F3F-FA91-20B9-9560-17B5EB9450FC}"/>
              </a:ext>
            </a:extLst>
          </p:cNvPr>
          <p:cNvSpPr txBox="1"/>
          <p:nvPr/>
        </p:nvSpPr>
        <p:spPr>
          <a:xfrm>
            <a:off x="10635233" y="5313679"/>
            <a:ext cx="698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750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ms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4284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2F8A-2D14-4875-CEF3-61426564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one is better? Why?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0915C-944C-18DB-5B55-1016C11AA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D0EDB-B844-0D7B-E00E-E1FE31B1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4EDC7AF-29A4-8EA3-34ED-D913B523F0DC}"/>
              </a:ext>
            </a:extLst>
          </p:cNvPr>
          <p:cNvSpPr/>
          <p:nvPr/>
        </p:nvSpPr>
        <p:spPr>
          <a:xfrm>
            <a:off x="838200" y="1825751"/>
            <a:ext cx="5181600" cy="2678430"/>
          </a:xfrm>
          <a:custGeom>
            <a:avLst/>
            <a:gdLst/>
            <a:ahLst/>
            <a:cxnLst/>
            <a:rect l="l" t="t" r="r" b="b"/>
            <a:pathLst>
              <a:path w="5181600" h="2678429">
                <a:moveTo>
                  <a:pt x="5181600" y="0"/>
                </a:moveTo>
                <a:lnTo>
                  <a:pt x="0" y="0"/>
                </a:lnTo>
                <a:lnTo>
                  <a:pt x="0" y="2678430"/>
                </a:lnTo>
                <a:lnTo>
                  <a:pt x="5181600" y="2678430"/>
                </a:lnTo>
                <a:lnTo>
                  <a:pt x="51816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DCC2089-A29E-0208-096E-CAC4A0553D5A}"/>
              </a:ext>
            </a:extLst>
          </p:cNvPr>
          <p:cNvSpPr txBox="1"/>
          <p:nvPr/>
        </p:nvSpPr>
        <p:spPr>
          <a:xfrm>
            <a:off x="916939" y="2264105"/>
            <a:ext cx="4539615" cy="163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 marR="5080" indent="-311785">
              <a:lnSpc>
                <a:spcPct val="131800"/>
              </a:lnSpc>
              <a:spcBef>
                <a:spcPts val="100"/>
              </a:spcBef>
              <a:tabLst>
                <a:tab pos="635635" algn="l"/>
                <a:tab pos="1102360" algn="l"/>
                <a:tab pos="1412875" algn="l"/>
                <a:tab pos="1724025" algn="l"/>
                <a:tab pos="2035810" algn="l"/>
                <a:tab pos="2191385" algn="l"/>
                <a:tab pos="2501900" algn="l"/>
                <a:tab pos="2813685" algn="l"/>
                <a:tab pos="3124200" algn="l"/>
                <a:tab pos="3591560" algn="l"/>
                <a:tab pos="4370070" algn="l"/>
              </a:tabLst>
            </a:pPr>
            <a:r>
              <a:rPr sz="2000" spc="375" dirty="0">
                <a:latin typeface="Trebuchet MS"/>
                <a:cs typeface="Trebuchet MS"/>
              </a:rPr>
              <a:t>fo</a:t>
            </a:r>
            <a:r>
              <a:rPr sz="2000" spc="325" dirty="0">
                <a:latin typeface="Trebuchet MS"/>
                <a:cs typeface="Trebuchet MS"/>
              </a:rPr>
              <a:t>r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480" dirty="0">
                <a:latin typeface="Trebuchet MS"/>
                <a:cs typeface="Trebuchet MS"/>
              </a:rPr>
              <a:t>(</a:t>
            </a:r>
            <a:r>
              <a:rPr sz="2000" spc="409" dirty="0">
                <a:latin typeface="Trebuchet MS"/>
                <a:cs typeface="Trebuchet MS"/>
              </a:rPr>
              <a:t>in</a:t>
            </a:r>
            <a:r>
              <a:rPr sz="2000" spc="395" dirty="0">
                <a:latin typeface="Trebuchet MS"/>
                <a:cs typeface="Trebuchet MS"/>
              </a:rPr>
              <a:t>t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655" dirty="0">
                <a:latin typeface="Trebuchet MS"/>
                <a:cs typeface="Trebuchet MS"/>
              </a:rPr>
              <a:t>i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180" dirty="0">
                <a:latin typeface="Trebuchet MS"/>
                <a:cs typeface="Trebuchet MS"/>
              </a:rPr>
              <a:t>=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170" dirty="0">
                <a:latin typeface="Trebuchet MS"/>
                <a:cs typeface="Trebuchet MS"/>
              </a:rPr>
              <a:t>0</a:t>
            </a:r>
            <a:r>
              <a:rPr sz="2000" spc="495" dirty="0">
                <a:latin typeface="Trebuchet MS"/>
                <a:cs typeface="Trebuchet MS"/>
              </a:rPr>
              <a:t>;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655" dirty="0">
                <a:latin typeface="Trebuchet MS"/>
                <a:cs typeface="Trebuchet MS"/>
              </a:rPr>
              <a:t>i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180" dirty="0">
                <a:latin typeface="Trebuchet MS"/>
                <a:cs typeface="Trebuchet MS"/>
              </a:rPr>
              <a:t>&lt;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370" dirty="0">
                <a:latin typeface="Trebuchet MS"/>
                <a:cs typeface="Trebuchet MS"/>
              </a:rPr>
              <a:t>n</a:t>
            </a:r>
            <a:r>
              <a:rPr sz="2000" spc="250" dirty="0">
                <a:latin typeface="Trebuchet MS"/>
                <a:cs typeface="Trebuchet MS"/>
              </a:rPr>
              <a:t>;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645" dirty="0">
                <a:latin typeface="Trebuchet MS"/>
                <a:cs typeface="Trebuchet MS"/>
              </a:rPr>
              <a:t>i</a:t>
            </a:r>
            <a:r>
              <a:rPr sz="2000" spc="175" dirty="0">
                <a:latin typeface="Trebuchet MS"/>
                <a:cs typeface="Trebuchet MS"/>
              </a:rPr>
              <a:t>+</a:t>
            </a:r>
            <a:r>
              <a:rPr sz="2000" spc="165" dirty="0">
                <a:latin typeface="Trebuchet MS"/>
                <a:cs typeface="Trebuchet MS"/>
              </a:rPr>
              <a:t>+</a:t>
            </a:r>
            <a:r>
              <a:rPr sz="2000" spc="495" dirty="0">
                <a:latin typeface="Trebuchet MS"/>
                <a:cs typeface="Trebuchet MS"/>
              </a:rPr>
              <a:t>)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434" dirty="0">
                <a:latin typeface="Trebuchet MS"/>
                <a:cs typeface="Trebuchet MS"/>
              </a:rPr>
              <a:t>{  </a:t>
            </a:r>
            <a:r>
              <a:rPr sz="2000" spc="475" dirty="0">
                <a:latin typeface="Trebuchet MS"/>
                <a:cs typeface="Trebuchet MS"/>
              </a:rPr>
              <a:t>z[i]	</a:t>
            </a:r>
            <a:r>
              <a:rPr sz="2000" spc="180" dirty="0">
                <a:latin typeface="Trebuchet MS"/>
                <a:cs typeface="Trebuchet MS"/>
              </a:rPr>
              <a:t>=	</a:t>
            </a:r>
            <a:r>
              <a:rPr sz="2000" spc="459" dirty="0">
                <a:latin typeface="Trebuchet MS"/>
                <a:cs typeface="Trebuchet MS"/>
              </a:rPr>
              <a:t>x[i]	</a:t>
            </a:r>
            <a:r>
              <a:rPr sz="2000" spc="495" dirty="0">
                <a:latin typeface="Trebuchet MS"/>
                <a:cs typeface="Trebuchet MS"/>
              </a:rPr>
              <a:t>–	</a:t>
            </a:r>
            <a:r>
              <a:rPr sz="2000" spc="465" dirty="0">
                <a:latin typeface="Trebuchet MS"/>
                <a:cs typeface="Trebuchet MS"/>
              </a:rPr>
              <a:t>y[i];</a:t>
            </a:r>
            <a:endParaRPr sz="2000">
              <a:latin typeface="Trebuchet MS"/>
              <a:cs typeface="Trebuchet MS"/>
            </a:endParaRPr>
          </a:p>
          <a:p>
            <a:pPr marL="323850">
              <a:lnSpc>
                <a:spcPct val="100000"/>
              </a:lnSpc>
              <a:spcBef>
                <a:spcPts val="755"/>
              </a:spcBef>
              <a:tabLst>
                <a:tab pos="1102360" algn="l"/>
                <a:tab pos="1414145" algn="l"/>
                <a:tab pos="2190750" algn="l"/>
                <a:tab pos="2501900" algn="l"/>
              </a:tabLst>
            </a:pPr>
            <a:r>
              <a:rPr sz="2000" spc="475" dirty="0">
                <a:latin typeface="Trebuchet MS"/>
                <a:cs typeface="Trebuchet MS"/>
              </a:rPr>
              <a:t>z[i]	</a:t>
            </a:r>
            <a:r>
              <a:rPr sz="2000" spc="180" dirty="0">
                <a:latin typeface="Trebuchet MS"/>
                <a:cs typeface="Trebuchet MS"/>
              </a:rPr>
              <a:t>=	</a:t>
            </a:r>
            <a:r>
              <a:rPr sz="2000" spc="475" dirty="0">
                <a:latin typeface="Trebuchet MS"/>
                <a:cs typeface="Trebuchet MS"/>
              </a:rPr>
              <a:t>z[i]	</a:t>
            </a:r>
            <a:r>
              <a:rPr sz="2000" spc="495" dirty="0">
                <a:latin typeface="Trebuchet MS"/>
                <a:cs typeface="Trebuchet MS"/>
              </a:rPr>
              <a:t>*	</a:t>
            </a:r>
            <a:r>
              <a:rPr sz="2000" spc="475" dirty="0">
                <a:latin typeface="Trebuchet MS"/>
                <a:cs typeface="Trebuchet MS"/>
              </a:rPr>
              <a:t>z[i];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000" spc="495" dirty="0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2607EEB-2177-5E4F-8C54-E5914DF58DB3}"/>
              </a:ext>
            </a:extLst>
          </p:cNvPr>
          <p:cNvSpPr/>
          <p:nvPr/>
        </p:nvSpPr>
        <p:spPr>
          <a:xfrm>
            <a:off x="6172200" y="1825751"/>
            <a:ext cx="5181600" cy="2678430"/>
          </a:xfrm>
          <a:custGeom>
            <a:avLst/>
            <a:gdLst/>
            <a:ahLst/>
            <a:cxnLst/>
            <a:rect l="l" t="t" r="r" b="b"/>
            <a:pathLst>
              <a:path w="5181600" h="2678429">
                <a:moveTo>
                  <a:pt x="5181600" y="0"/>
                </a:moveTo>
                <a:lnTo>
                  <a:pt x="0" y="0"/>
                </a:lnTo>
                <a:lnTo>
                  <a:pt x="0" y="2678430"/>
                </a:lnTo>
                <a:lnTo>
                  <a:pt x="5181600" y="2678430"/>
                </a:lnTo>
                <a:lnTo>
                  <a:pt x="51816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72053C22-2438-FD95-F404-0DAC647F3912}"/>
              </a:ext>
            </a:extLst>
          </p:cNvPr>
          <p:cNvSpPr txBox="1"/>
          <p:nvPr/>
        </p:nvSpPr>
        <p:spPr>
          <a:xfrm>
            <a:off x="6251447" y="1863039"/>
            <a:ext cx="4539615" cy="243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 marR="5080" indent="-311785">
              <a:lnSpc>
                <a:spcPct val="131700"/>
              </a:lnSpc>
              <a:spcBef>
                <a:spcPts val="100"/>
              </a:spcBef>
              <a:tabLst>
                <a:tab pos="635635" algn="l"/>
                <a:tab pos="1102360" algn="l"/>
                <a:tab pos="1412875" algn="l"/>
                <a:tab pos="1724025" algn="l"/>
                <a:tab pos="2035810" algn="l"/>
                <a:tab pos="2190750" algn="l"/>
                <a:tab pos="2501900" algn="l"/>
                <a:tab pos="2813685" algn="l"/>
                <a:tab pos="3124200" algn="l"/>
                <a:tab pos="3591560" algn="l"/>
                <a:tab pos="4370070" algn="l"/>
              </a:tabLst>
            </a:pPr>
            <a:r>
              <a:rPr sz="2000" spc="375" dirty="0">
                <a:latin typeface="Trebuchet MS"/>
                <a:cs typeface="Trebuchet MS"/>
              </a:rPr>
              <a:t>fo</a:t>
            </a:r>
            <a:r>
              <a:rPr sz="2000" spc="325" dirty="0">
                <a:latin typeface="Trebuchet MS"/>
                <a:cs typeface="Trebuchet MS"/>
              </a:rPr>
              <a:t>r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480" dirty="0">
                <a:latin typeface="Trebuchet MS"/>
                <a:cs typeface="Trebuchet MS"/>
              </a:rPr>
              <a:t>(</a:t>
            </a:r>
            <a:r>
              <a:rPr sz="2000" spc="409" dirty="0">
                <a:latin typeface="Trebuchet MS"/>
                <a:cs typeface="Trebuchet MS"/>
              </a:rPr>
              <a:t>in</a:t>
            </a:r>
            <a:r>
              <a:rPr sz="2000" spc="395" dirty="0">
                <a:latin typeface="Trebuchet MS"/>
                <a:cs typeface="Trebuchet MS"/>
              </a:rPr>
              <a:t>t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655" dirty="0">
                <a:latin typeface="Trebuchet MS"/>
                <a:cs typeface="Trebuchet MS"/>
              </a:rPr>
              <a:t>i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180" dirty="0">
                <a:latin typeface="Trebuchet MS"/>
                <a:cs typeface="Trebuchet MS"/>
              </a:rPr>
              <a:t>=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170" dirty="0">
                <a:latin typeface="Trebuchet MS"/>
                <a:cs typeface="Trebuchet MS"/>
              </a:rPr>
              <a:t>0</a:t>
            </a:r>
            <a:r>
              <a:rPr sz="2000" spc="495" dirty="0">
                <a:latin typeface="Trebuchet MS"/>
                <a:cs typeface="Trebuchet MS"/>
              </a:rPr>
              <a:t>;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655" dirty="0">
                <a:latin typeface="Trebuchet MS"/>
                <a:cs typeface="Trebuchet MS"/>
              </a:rPr>
              <a:t>i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180" dirty="0">
                <a:latin typeface="Trebuchet MS"/>
                <a:cs typeface="Trebuchet MS"/>
              </a:rPr>
              <a:t>&lt;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370" dirty="0">
                <a:latin typeface="Trebuchet MS"/>
                <a:cs typeface="Trebuchet MS"/>
              </a:rPr>
              <a:t>n</a:t>
            </a:r>
            <a:r>
              <a:rPr sz="2000" spc="250" dirty="0">
                <a:latin typeface="Trebuchet MS"/>
                <a:cs typeface="Trebuchet MS"/>
              </a:rPr>
              <a:t>;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645" dirty="0">
                <a:latin typeface="Trebuchet MS"/>
                <a:cs typeface="Trebuchet MS"/>
              </a:rPr>
              <a:t>i</a:t>
            </a:r>
            <a:r>
              <a:rPr sz="2000" spc="175" dirty="0">
                <a:latin typeface="Trebuchet MS"/>
                <a:cs typeface="Trebuchet MS"/>
              </a:rPr>
              <a:t>+</a:t>
            </a:r>
            <a:r>
              <a:rPr sz="2000" spc="165" dirty="0">
                <a:latin typeface="Trebuchet MS"/>
                <a:cs typeface="Trebuchet MS"/>
              </a:rPr>
              <a:t>+</a:t>
            </a:r>
            <a:r>
              <a:rPr sz="2000" spc="495" dirty="0">
                <a:latin typeface="Trebuchet MS"/>
                <a:cs typeface="Trebuchet MS"/>
              </a:rPr>
              <a:t>)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434" dirty="0">
                <a:latin typeface="Trebuchet MS"/>
                <a:cs typeface="Trebuchet MS"/>
              </a:rPr>
              <a:t>{  </a:t>
            </a:r>
            <a:r>
              <a:rPr sz="2000" spc="475" dirty="0">
                <a:latin typeface="Trebuchet MS"/>
                <a:cs typeface="Trebuchet MS"/>
              </a:rPr>
              <a:t>z[i]	</a:t>
            </a:r>
            <a:r>
              <a:rPr sz="2000" spc="180" dirty="0">
                <a:latin typeface="Trebuchet MS"/>
                <a:cs typeface="Trebuchet MS"/>
              </a:rPr>
              <a:t>=	</a:t>
            </a:r>
            <a:r>
              <a:rPr sz="2000" spc="459" dirty="0">
                <a:latin typeface="Trebuchet MS"/>
                <a:cs typeface="Trebuchet MS"/>
              </a:rPr>
              <a:t>x[i]	</a:t>
            </a:r>
            <a:r>
              <a:rPr sz="2000" spc="495" dirty="0">
                <a:latin typeface="Trebuchet MS"/>
                <a:cs typeface="Trebuchet MS"/>
              </a:rPr>
              <a:t>–	</a:t>
            </a:r>
            <a:r>
              <a:rPr sz="2000" spc="470" dirty="0">
                <a:latin typeface="Trebuchet MS"/>
                <a:cs typeface="Trebuchet MS"/>
              </a:rPr>
              <a:t>y[i];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spc="495" dirty="0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  <a:p>
            <a:pPr marL="323850" marR="5080" indent="-311785">
              <a:lnSpc>
                <a:spcPct val="131700"/>
              </a:lnSpc>
              <a:tabLst>
                <a:tab pos="635635" algn="l"/>
                <a:tab pos="1102360" algn="l"/>
                <a:tab pos="1412875" algn="l"/>
                <a:tab pos="1724025" algn="l"/>
                <a:tab pos="2035810" algn="l"/>
                <a:tab pos="2190750" algn="l"/>
                <a:tab pos="2501265" algn="l"/>
                <a:tab pos="2813685" algn="l"/>
                <a:tab pos="3124200" algn="l"/>
                <a:tab pos="3591560" algn="l"/>
                <a:tab pos="4370070" algn="l"/>
              </a:tabLst>
            </a:pPr>
            <a:r>
              <a:rPr sz="2000" spc="375" dirty="0">
                <a:latin typeface="Trebuchet MS"/>
                <a:cs typeface="Trebuchet MS"/>
              </a:rPr>
              <a:t>fo</a:t>
            </a:r>
            <a:r>
              <a:rPr sz="2000" spc="325" dirty="0">
                <a:latin typeface="Trebuchet MS"/>
                <a:cs typeface="Trebuchet MS"/>
              </a:rPr>
              <a:t>r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480" dirty="0">
                <a:latin typeface="Trebuchet MS"/>
                <a:cs typeface="Trebuchet MS"/>
              </a:rPr>
              <a:t>(</a:t>
            </a:r>
            <a:r>
              <a:rPr sz="2000" spc="409" dirty="0">
                <a:latin typeface="Trebuchet MS"/>
                <a:cs typeface="Trebuchet MS"/>
              </a:rPr>
              <a:t>in</a:t>
            </a:r>
            <a:r>
              <a:rPr sz="2000" spc="395" dirty="0">
                <a:latin typeface="Trebuchet MS"/>
                <a:cs typeface="Trebuchet MS"/>
              </a:rPr>
              <a:t>t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655" dirty="0">
                <a:latin typeface="Trebuchet MS"/>
                <a:cs typeface="Trebuchet MS"/>
              </a:rPr>
              <a:t>i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180" dirty="0">
                <a:latin typeface="Trebuchet MS"/>
                <a:cs typeface="Trebuchet MS"/>
              </a:rPr>
              <a:t>=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170" dirty="0">
                <a:latin typeface="Trebuchet MS"/>
                <a:cs typeface="Trebuchet MS"/>
              </a:rPr>
              <a:t>0</a:t>
            </a:r>
            <a:r>
              <a:rPr sz="2000" spc="495" dirty="0">
                <a:latin typeface="Trebuchet MS"/>
                <a:cs typeface="Trebuchet MS"/>
              </a:rPr>
              <a:t>;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655" dirty="0">
                <a:latin typeface="Trebuchet MS"/>
                <a:cs typeface="Trebuchet MS"/>
              </a:rPr>
              <a:t>i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180" dirty="0">
                <a:latin typeface="Trebuchet MS"/>
                <a:cs typeface="Trebuchet MS"/>
              </a:rPr>
              <a:t>&lt;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370" dirty="0">
                <a:latin typeface="Trebuchet MS"/>
                <a:cs typeface="Trebuchet MS"/>
              </a:rPr>
              <a:t>n</a:t>
            </a:r>
            <a:r>
              <a:rPr sz="2000" spc="250" dirty="0">
                <a:latin typeface="Trebuchet MS"/>
                <a:cs typeface="Trebuchet MS"/>
              </a:rPr>
              <a:t>;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645" dirty="0">
                <a:latin typeface="Trebuchet MS"/>
                <a:cs typeface="Trebuchet MS"/>
              </a:rPr>
              <a:t>i</a:t>
            </a:r>
            <a:r>
              <a:rPr sz="2000" spc="175" dirty="0">
                <a:latin typeface="Trebuchet MS"/>
                <a:cs typeface="Trebuchet MS"/>
              </a:rPr>
              <a:t>+</a:t>
            </a:r>
            <a:r>
              <a:rPr sz="2000" spc="165" dirty="0">
                <a:latin typeface="Trebuchet MS"/>
                <a:cs typeface="Trebuchet MS"/>
              </a:rPr>
              <a:t>+</a:t>
            </a:r>
            <a:r>
              <a:rPr sz="2000" spc="495" dirty="0">
                <a:latin typeface="Trebuchet MS"/>
                <a:cs typeface="Trebuchet MS"/>
              </a:rPr>
              <a:t>)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434" dirty="0">
                <a:latin typeface="Trebuchet MS"/>
                <a:cs typeface="Trebuchet MS"/>
              </a:rPr>
              <a:t>{  </a:t>
            </a:r>
            <a:r>
              <a:rPr sz="2000" spc="475" dirty="0">
                <a:latin typeface="Trebuchet MS"/>
                <a:cs typeface="Trebuchet MS"/>
              </a:rPr>
              <a:t>z[i]	</a:t>
            </a:r>
            <a:r>
              <a:rPr sz="2000" spc="180" dirty="0">
                <a:latin typeface="Trebuchet MS"/>
                <a:cs typeface="Trebuchet MS"/>
              </a:rPr>
              <a:t>=	</a:t>
            </a:r>
            <a:r>
              <a:rPr sz="2000" spc="475" dirty="0">
                <a:latin typeface="Trebuchet MS"/>
                <a:cs typeface="Trebuchet MS"/>
              </a:rPr>
              <a:t>z[i]	</a:t>
            </a:r>
            <a:r>
              <a:rPr sz="2000" spc="495" dirty="0">
                <a:latin typeface="Trebuchet MS"/>
                <a:cs typeface="Trebuchet MS"/>
              </a:rPr>
              <a:t>*	</a:t>
            </a:r>
            <a:r>
              <a:rPr sz="2000" spc="475" dirty="0">
                <a:latin typeface="Trebuchet MS"/>
                <a:cs typeface="Trebuchet MS"/>
              </a:rPr>
              <a:t>z[i];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spc="495" dirty="0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0" name="object 7">
            <a:extLst>
              <a:ext uri="{FF2B5EF4-FFF2-40B4-BE49-F238E27FC236}">
                <a16:creationId xmlns:a16="http://schemas.microsoft.com/office/drawing/2014/main" id="{54840F06-8050-0716-B7DE-2A34CF3948C4}"/>
              </a:ext>
            </a:extLst>
          </p:cNvPr>
          <p:cNvGrpSpPr/>
          <p:nvPr/>
        </p:nvGrpSpPr>
        <p:grpSpPr>
          <a:xfrm>
            <a:off x="829324" y="4538726"/>
            <a:ext cx="5837555" cy="1527810"/>
            <a:chOff x="829324" y="4538726"/>
            <a:chExt cx="5837555" cy="1527810"/>
          </a:xfrm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98990F59-0822-5C5E-C67C-AD8D20B0604C}"/>
                </a:ext>
              </a:extLst>
            </p:cNvPr>
            <p:cNvSpPr/>
            <p:nvPr/>
          </p:nvSpPr>
          <p:spPr>
            <a:xfrm>
              <a:off x="838849" y="4548251"/>
              <a:ext cx="5818505" cy="1508760"/>
            </a:xfrm>
            <a:custGeom>
              <a:avLst/>
              <a:gdLst/>
              <a:ahLst/>
              <a:cxnLst/>
              <a:rect l="l" t="t" r="r" b="b"/>
              <a:pathLst>
                <a:path w="5818505" h="1508760">
                  <a:moveTo>
                    <a:pt x="5428219" y="0"/>
                  </a:moveTo>
                  <a:lnTo>
                    <a:pt x="3931905" y="295782"/>
                  </a:lnTo>
                  <a:lnTo>
                    <a:pt x="3825746" y="287696"/>
                  </a:lnTo>
                  <a:lnTo>
                    <a:pt x="3718844" y="280535"/>
                  </a:lnTo>
                  <a:lnTo>
                    <a:pt x="3611313" y="274294"/>
                  </a:lnTo>
                  <a:lnTo>
                    <a:pt x="3503264" y="268967"/>
                  </a:lnTo>
                  <a:lnTo>
                    <a:pt x="3394813" y="264549"/>
                  </a:lnTo>
                  <a:lnTo>
                    <a:pt x="3286072" y="261033"/>
                  </a:lnTo>
                  <a:lnTo>
                    <a:pt x="3177156" y="258414"/>
                  </a:lnTo>
                  <a:lnTo>
                    <a:pt x="3068176" y="256686"/>
                  </a:lnTo>
                  <a:lnTo>
                    <a:pt x="2959248" y="255842"/>
                  </a:lnTo>
                  <a:lnTo>
                    <a:pt x="2850485" y="255878"/>
                  </a:lnTo>
                  <a:lnTo>
                    <a:pt x="2741999" y="256788"/>
                  </a:lnTo>
                  <a:lnTo>
                    <a:pt x="2633905" y="258565"/>
                  </a:lnTo>
                  <a:lnTo>
                    <a:pt x="2526316" y="261204"/>
                  </a:lnTo>
                  <a:lnTo>
                    <a:pt x="2419346" y="264700"/>
                  </a:lnTo>
                  <a:lnTo>
                    <a:pt x="2313108" y="269045"/>
                  </a:lnTo>
                  <a:lnTo>
                    <a:pt x="2207715" y="274235"/>
                  </a:lnTo>
                  <a:lnTo>
                    <a:pt x="2103282" y="280264"/>
                  </a:lnTo>
                  <a:lnTo>
                    <a:pt x="1999921" y="287126"/>
                  </a:lnTo>
                  <a:lnTo>
                    <a:pt x="1897747" y="294814"/>
                  </a:lnTo>
                  <a:lnTo>
                    <a:pt x="1796872" y="303324"/>
                  </a:lnTo>
                  <a:lnTo>
                    <a:pt x="1697410" y="312650"/>
                  </a:lnTo>
                  <a:lnTo>
                    <a:pt x="1599475" y="322785"/>
                  </a:lnTo>
                  <a:lnTo>
                    <a:pt x="1503180" y="333724"/>
                  </a:lnTo>
                  <a:lnTo>
                    <a:pt x="1408639" y="345461"/>
                  </a:lnTo>
                  <a:lnTo>
                    <a:pt x="1362062" y="351627"/>
                  </a:lnTo>
                  <a:lnTo>
                    <a:pt x="1315965" y="357991"/>
                  </a:lnTo>
                  <a:lnTo>
                    <a:pt x="1270364" y="364551"/>
                  </a:lnTo>
                  <a:lnTo>
                    <a:pt x="1225272" y="371307"/>
                  </a:lnTo>
                  <a:lnTo>
                    <a:pt x="1180704" y="378258"/>
                  </a:lnTo>
                  <a:lnTo>
                    <a:pt x="1136673" y="385403"/>
                  </a:lnTo>
                  <a:lnTo>
                    <a:pt x="1093194" y="392742"/>
                  </a:lnTo>
                  <a:lnTo>
                    <a:pt x="1050282" y="400274"/>
                  </a:lnTo>
                  <a:lnTo>
                    <a:pt x="1007950" y="407999"/>
                  </a:lnTo>
                  <a:lnTo>
                    <a:pt x="966212" y="415915"/>
                  </a:lnTo>
                  <a:lnTo>
                    <a:pt x="925083" y="424022"/>
                  </a:lnTo>
                  <a:lnTo>
                    <a:pt x="884577" y="432319"/>
                  </a:lnTo>
                  <a:lnTo>
                    <a:pt x="844708" y="440805"/>
                  </a:lnTo>
                  <a:lnTo>
                    <a:pt x="805490" y="449480"/>
                  </a:lnTo>
                  <a:lnTo>
                    <a:pt x="766938" y="458343"/>
                  </a:lnTo>
                  <a:lnTo>
                    <a:pt x="707733" y="472633"/>
                  </a:lnTo>
                  <a:lnTo>
                    <a:pt x="650923" y="487203"/>
                  </a:lnTo>
                  <a:lnTo>
                    <a:pt x="596506" y="502041"/>
                  </a:lnTo>
                  <a:lnTo>
                    <a:pt x="544479" y="517136"/>
                  </a:lnTo>
                  <a:lnTo>
                    <a:pt x="494839" y="532476"/>
                  </a:lnTo>
                  <a:lnTo>
                    <a:pt x="447586" y="548050"/>
                  </a:lnTo>
                  <a:lnTo>
                    <a:pt x="402715" y="563846"/>
                  </a:lnTo>
                  <a:lnTo>
                    <a:pt x="360226" y="579852"/>
                  </a:lnTo>
                  <a:lnTo>
                    <a:pt x="320116" y="596057"/>
                  </a:lnTo>
                  <a:lnTo>
                    <a:pt x="282382" y="612449"/>
                  </a:lnTo>
                  <a:lnTo>
                    <a:pt x="247023" y="629017"/>
                  </a:lnTo>
                  <a:lnTo>
                    <a:pt x="183417" y="662633"/>
                  </a:lnTo>
                  <a:lnTo>
                    <a:pt x="129282" y="696814"/>
                  </a:lnTo>
                  <a:lnTo>
                    <a:pt x="84598" y="731465"/>
                  </a:lnTo>
                  <a:lnTo>
                    <a:pt x="49348" y="766495"/>
                  </a:lnTo>
                  <a:lnTo>
                    <a:pt x="23513" y="801810"/>
                  </a:lnTo>
                  <a:lnTo>
                    <a:pt x="7076" y="837319"/>
                  </a:lnTo>
                  <a:lnTo>
                    <a:pt x="0" y="890742"/>
                  </a:lnTo>
                  <a:lnTo>
                    <a:pt x="2320" y="908546"/>
                  </a:lnTo>
                  <a:lnTo>
                    <a:pt x="23285" y="961785"/>
                  </a:lnTo>
                  <a:lnTo>
                    <a:pt x="48911" y="997017"/>
                  </a:lnTo>
                  <a:lnTo>
                    <a:pt x="83833" y="1031934"/>
                  </a:lnTo>
                  <a:lnTo>
                    <a:pt x="128035" y="1066441"/>
                  </a:lnTo>
                  <a:lnTo>
                    <a:pt x="181498" y="1100447"/>
                  </a:lnTo>
                  <a:lnTo>
                    <a:pt x="244204" y="1133859"/>
                  </a:lnTo>
                  <a:lnTo>
                    <a:pt x="279017" y="1150313"/>
                  </a:lnTo>
                  <a:lnTo>
                    <a:pt x="316135" y="1166584"/>
                  </a:lnTo>
                  <a:lnTo>
                    <a:pt x="355553" y="1182660"/>
                  </a:lnTo>
                  <a:lnTo>
                    <a:pt x="397272" y="1198530"/>
                  </a:lnTo>
                  <a:lnTo>
                    <a:pt x="441287" y="1214182"/>
                  </a:lnTo>
                  <a:lnTo>
                    <a:pt x="487597" y="1229604"/>
                  </a:lnTo>
                  <a:lnTo>
                    <a:pt x="536200" y="1244786"/>
                  </a:lnTo>
                  <a:lnTo>
                    <a:pt x="587093" y="1259714"/>
                  </a:lnTo>
                  <a:lnTo>
                    <a:pt x="640274" y="1274378"/>
                  </a:lnTo>
                  <a:lnTo>
                    <a:pt x="695740" y="1288766"/>
                  </a:lnTo>
                  <a:lnTo>
                    <a:pt x="753491" y="1302867"/>
                  </a:lnTo>
                  <a:lnTo>
                    <a:pt x="813522" y="1316669"/>
                  </a:lnTo>
                  <a:lnTo>
                    <a:pt x="875832" y="1330160"/>
                  </a:lnTo>
                  <a:lnTo>
                    <a:pt x="940420" y="1343329"/>
                  </a:lnTo>
                  <a:lnTo>
                    <a:pt x="983995" y="1351782"/>
                  </a:lnTo>
                  <a:lnTo>
                    <a:pt x="1028143" y="1360010"/>
                  </a:lnTo>
                  <a:lnTo>
                    <a:pt x="1072845" y="1368015"/>
                  </a:lnTo>
                  <a:lnTo>
                    <a:pt x="1118089" y="1375797"/>
                  </a:lnTo>
                  <a:lnTo>
                    <a:pt x="1163857" y="1383355"/>
                  </a:lnTo>
                  <a:lnTo>
                    <a:pt x="1210135" y="1390691"/>
                  </a:lnTo>
                  <a:lnTo>
                    <a:pt x="1256908" y="1397803"/>
                  </a:lnTo>
                  <a:lnTo>
                    <a:pt x="1304159" y="1404693"/>
                  </a:lnTo>
                  <a:lnTo>
                    <a:pt x="1351874" y="1411359"/>
                  </a:lnTo>
                  <a:lnTo>
                    <a:pt x="1400038" y="1417804"/>
                  </a:lnTo>
                  <a:lnTo>
                    <a:pt x="1448634" y="1424025"/>
                  </a:lnTo>
                  <a:lnTo>
                    <a:pt x="1497648" y="1430025"/>
                  </a:lnTo>
                  <a:lnTo>
                    <a:pt x="1547065" y="1435803"/>
                  </a:lnTo>
                  <a:lnTo>
                    <a:pt x="1596868" y="1441358"/>
                  </a:lnTo>
                  <a:lnTo>
                    <a:pt x="1647043" y="1446692"/>
                  </a:lnTo>
                  <a:lnTo>
                    <a:pt x="1697574" y="1451804"/>
                  </a:lnTo>
                  <a:lnTo>
                    <a:pt x="1799644" y="1461363"/>
                  </a:lnTo>
                  <a:lnTo>
                    <a:pt x="1902955" y="1470037"/>
                  </a:lnTo>
                  <a:lnTo>
                    <a:pt x="2007383" y="1477827"/>
                  </a:lnTo>
                  <a:lnTo>
                    <a:pt x="2112807" y="1484734"/>
                  </a:lnTo>
                  <a:lnTo>
                    <a:pt x="2219104" y="1490759"/>
                  </a:lnTo>
                  <a:lnTo>
                    <a:pt x="2326150" y="1495904"/>
                  </a:lnTo>
                  <a:lnTo>
                    <a:pt x="2433823" y="1500169"/>
                  </a:lnTo>
                  <a:lnTo>
                    <a:pt x="2542000" y="1503555"/>
                  </a:lnTo>
                  <a:lnTo>
                    <a:pt x="2650559" y="1506064"/>
                  </a:lnTo>
                  <a:lnTo>
                    <a:pt x="2759376" y="1507697"/>
                  </a:lnTo>
                  <a:lnTo>
                    <a:pt x="2868329" y="1508455"/>
                  </a:lnTo>
                  <a:lnTo>
                    <a:pt x="2977295" y="1508339"/>
                  </a:lnTo>
                  <a:lnTo>
                    <a:pt x="3086151" y="1507349"/>
                  </a:lnTo>
                  <a:lnTo>
                    <a:pt x="3194775" y="1505488"/>
                  </a:lnTo>
                  <a:lnTo>
                    <a:pt x="3303044" y="1502757"/>
                  </a:lnTo>
                  <a:lnTo>
                    <a:pt x="3410834" y="1499156"/>
                  </a:lnTo>
                  <a:lnTo>
                    <a:pt x="3518024" y="1494686"/>
                  </a:lnTo>
                  <a:lnTo>
                    <a:pt x="3624490" y="1489349"/>
                  </a:lnTo>
                  <a:lnTo>
                    <a:pt x="3730109" y="1483146"/>
                  </a:lnTo>
                  <a:lnTo>
                    <a:pt x="3834760" y="1476078"/>
                  </a:lnTo>
                  <a:lnTo>
                    <a:pt x="3938318" y="1468146"/>
                  </a:lnTo>
                  <a:lnTo>
                    <a:pt x="4040662" y="1459351"/>
                  </a:lnTo>
                  <a:lnTo>
                    <a:pt x="4141668" y="1449694"/>
                  </a:lnTo>
                  <a:lnTo>
                    <a:pt x="4241214" y="1439177"/>
                  </a:lnTo>
                  <a:lnTo>
                    <a:pt x="4290401" y="1433596"/>
                  </a:lnTo>
                  <a:lnTo>
                    <a:pt x="4339177" y="1427800"/>
                  </a:lnTo>
                  <a:lnTo>
                    <a:pt x="4387526" y="1421790"/>
                  </a:lnTo>
                  <a:lnTo>
                    <a:pt x="4435434" y="1415565"/>
                  </a:lnTo>
                  <a:lnTo>
                    <a:pt x="4482884" y="1409126"/>
                  </a:lnTo>
                  <a:lnTo>
                    <a:pt x="4529862" y="1402473"/>
                  </a:lnTo>
                  <a:lnTo>
                    <a:pt x="4576352" y="1395606"/>
                  </a:lnTo>
                  <a:lnTo>
                    <a:pt x="4622339" y="1388524"/>
                  </a:lnTo>
                  <a:lnTo>
                    <a:pt x="4667807" y="1381229"/>
                  </a:lnTo>
                  <a:lnTo>
                    <a:pt x="4712742" y="1373721"/>
                  </a:lnTo>
                  <a:lnTo>
                    <a:pt x="4757127" y="1365999"/>
                  </a:lnTo>
                  <a:lnTo>
                    <a:pt x="4800948" y="1358063"/>
                  </a:lnTo>
                  <a:lnTo>
                    <a:pt x="4844188" y="1349915"/>
                  </a:lnTo>
                  <a:lnTo>
                    <a:pt x="4886834" y="1341553"/>
                  </a:lnTo>
                  <a:lnTo>
                    <a:pt x="4928868" y="1332978"/>
                  </a:lnTo>
                  <a:lnTo>
                    <a:pt x="4970277" y="1324191"/>
                  </a:lnTo>
                  <a:lnTo>
                    <a:pt x="5011045" y="1315191"/>
                  </a:lnTo>
                  <a:lnTo>
                    <a:pt x="5051156" y="1305979"/>
                  </a:lnTo>
                  <a:lnTo>
                    <a:pt x="5110360" y="1291684"/>
                  </a:lnTo>
                  <a:lnTo>
                    <a:pt x="5167170" y="1277111"/>
                  </a:lnTo>
                  <a:lnTo>
                    <a:pt x="5221587" y="1262269"/>
                  </a:lnTo>
                  <a:lnTo>
                    <a:pt x="5273614" y="1247170"/>
                  </a:lnTo>
                  <a:lnTo>
                    <a:pt x="5323253" y="1231827"/>
                  </a:lnTo>
                  <a:lnTo>
                    <a:pt x="5370506" y="1216251"/>
                  </a:lnTo>
                  <a:lnTo>
                    <a:pt x="5415376" y="1200453"/>
                  </a:lnTo>
                  <a:lnTo>
                    <a:pt x="5457865" y="1184445"/>
                  </a:lnTo>
                  <a:lnTo>
                    <a:pt x="5497974" y="1168238"/>
                  </a:lnTo>
                  <a:lnTo>
                    <a:pt x="5535708" y="1151844"/>
                  </a:lnTo>
                  <a:lnTo>
                    <a:pt x="5571067" y="1135275"/>
                  </a:lnTo>
                  <a:lnTo>
                    <a:pt x="5634671" y="1101656"/>
                  </a:lnTo>
                  <a:lnTo>
                    <a:pt x="5688805" y="1067475"/>
                  </a:lnTo>
                  <a:lnTo>
                    <a:pt x="5733487" y="1032823"/>
                  </a:lnTo>
                  <a:lnTo>
                    <a:pt x="5768736" y="997793"/>
                  </a:lnTo>
                  <a:lnTo>
                    <a:pt x="5794569" y="962478"/>
                  </a:lnTo>
                  <a:lnTo>
                    <a:pt x="5811005" y="926971"/>
                  </a:lnTo>
                  <a:lnTo>
                    <a:pt x="5818080" y="873551"/>
                  </a:lnTo>
                  <a:lnTo>
                    <a:pt x="5815759" y="855748"/>
                  </a:lnTo>
                  <a:lnTo>
                    <a:pt x="5794792" y="802513"/>
                  </a:lnTo>
                  <a:lnTo>
                    <a:pt x="5769166" y="767284"/>
                  </a:lnTo>
                  <a:lnTo>
                    <a:pt x="5734243" y="732371"/>
                  </a:lnTo>
                  <a:lnTo>
                    <a:pt x="5690041" y="697867"/>
                  </a:lnTo>
                  <a:lnTo>
                    <a:pt x="5636578" y="663864"/>
                  </a:lnTo>
                  <a:lnTo>
                    <a:pt x="5573873" y="630456"/>
                  </a:lnTo>
                  <a:lnTo>
                    <a:pt x="5539060" y="614003"/>
                  </a:lnTo>
                  <a:lnTo>
                    <a:pt x="5501943" y="597734"/>
                  </a:lnTo>
                  <a:lnTo>
                    <a:pt x="5462525" y="581659"/>
                  </a:lnTo>
                  <a:lnTo>
                    <a:pt x="5420807" y="565791"/>
                  </a:lnTo>
                  <a:lnTo>
                    <a:pt x="5376793" y="550141"/>
                  </a:lnTo>
                  <a:lnTo>
                    <a:pt x="5330484" y="534720"/>
                  </a:lnTo>
                  <a:lnTo>
                    <a:pt x="5281882" y="519541"/>
                  </a:lnTo>
                  <a:lnTo>
                    <a:pt x="5230990" y="504614"/>
                  </a:lnTo>
                  <a:lnTo>
                    <a:pt x="5177811" y="489951"/>
                  </a:lnTo>
                  <a:lnTo>
                    <a:pt x="5122345" y="475564"/>
                  </a:lnTo>
                  <a:lnTo>
                    <a:pt x="5064597" y="461464"/>
                  </a:lnTo>
                  <a:lnTo>
                    <a:pt x="5004567" y="447663"/>
                  </a:lnTo>
                  <a:lnTo>
                    <a:pt x="4942259" y="434173"/>
                  </a:lnTo>
                  <a:lnTo>
                    <a:pt x="4877674" y="421005"/>
                  </a:lnTo>
                  <a:lnTo>
                    <a:pt x="5428219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E69B541B-5AC3-B591-AF1B-8DC20F13A97E}"/>
                </a:ext>
              </a:extLst>
            </p:cNvPr>
            <p:cNvSpPr/>
            <p:nvPr/>
          </p:nvSpPr>
          <p:spPr>
            <a:xfrm>
              <a:off x="838849" y="4548251"/>
              <a:ext cx="5818505" cy="1508760"/>
            </a:xfrm>
            <a:custGeom>
              <a:avLst/>
              <a:gdLst/>
              <a:ahLst/>
              <a:cxnLst/>
              <a:rect l="l" t="t" r="r" b="b"/>
              <a:pathLst>
                <a:path w="5818505" h="1508760">
                  <a:moveTo>
                    <a:pt x="5428219" y="0"/>
                  </a:moveTo>
                  <a:lnTo>
                    <a:pt x="4877674" y="421005"/>
                  </a:lnTo>
                  <a:lnTo>
                    <a:pt x="4942259" y="434173"/>
                  </a:lnTo>
                  <a:lnTo>
                    <a:pt x="5004567" y="447663"/>
                  </a:lnTo>
                  <a:lnTo>
                    <a:pt x="5064597" y="461464"/>
                  </a:lnTo>
                  <a:lnTo>
                    <a:pt x="5122345" y="475564"/>
                  </a:lnTo>
                  <a:lnTo>
                    <a:pt x="5177811" y="489951"/>
                  </a:lnTo>
                  <a:lnTo>
                    <a:pt x="5230990" y="504614"/>
                  </a:lnTo>
                  <a:lnTo>
                    <a:pt x="5281882" y="519541"/>
                  </a:lnTo>
                  <a:lnTo>
                    <a:pt x="5330484" y="534720"/>
                  </a:lnTo>
                  <a:lnTo>
                    <a:pt x="5376793" y="550141"/>
                  </a:lnTo>
                  <a:lnTo>
                    <a:pt x="5420807" y="565791"/>
                  </a:lnTo>
                  <a:lnTo>
                    <a:pt x="5462525" y="581659"/>
                  </a:lnTo>
                  <a:lnTo>
                    <a:pt x="5501943" y="597734"/>
                  </a:lnTo>
                  <a:lnTo>
                    <a:pt x="5539060" y="614003"/>
                  </a:lnTo>
                  <a:lnTo>
                    <a:pt x="5573873" y="630456"/>
                  </a:lnTo>
                  <a:lnTo>
                    <a:pt x="5636578" y="663864"/>
                  </a:lnTo>
                  <a:lnTo>
                    <a:pt x="5690041" y="697867"/>
                  </a:lnTo>
                  <a:lnTo>
                    <a:pt x="5734243" y="732371"/>
                  </a:lnTo>
                  <a:lnTo>
                    <a:pt x="5769166" y="767284"/>
                  </a:lnTo>
                  <a:lnTo>
                    <a:pt x="5794792" y="802513"/>
                  </a:lnTo>
                  <a:lnTo>
                    <a:pt x="5811103" y="837966"/>
                  </a:lnTo>
                  <a:lnTo>
                    <a:pt x="5818080" y="873551"/>
                  </a:lnTo>
                  <a:lnTo>
                    <a:pt x="5818063" y="891363"/>
                  </a:lnTo>
                  <a:lnTo>
                    <a:pt x="5803961" y="944743"/>
                  </a:lnTo>
                  <a:lnTo>
                    <a:pt x="5782828" y="980166"/>
                  </a:lnTo>
                  <a:lnTo>
                    <a:pt x="5752290" y="1015349"/>
                  </a:lnTo>
                  <a:lnTo>
                    <a:pt x="5712326" y="1050202"/>
                  </a:lnTo>
                  <a:lnTo>
                    <a:pt x="5662920" y="1084630"/>
                  </a:lnTo>
                  <a:lnTo>
                    <a:pt x="5604054" y="1118542"/>
                  </a:lnTo>
                  <a:lnTo>
                    <a:pt x="5535708" y="1151844"/>
                  </a:lnTo>
                  <a:lnTo>
                    <a:pt x="5497974" y="1168238"/>
                  </a:lnTo>
                  <a:lnTo>
                    <a:pt x="5457865" y="1184445"/>
                  </a:lnTo>
                  <a:lnTo>
                    <a:pt x="5415376" y="1200453"/>
                  </a:lnTo>
                  <a:lnTo>
                    <a:pt x="5370506" y="1216251"/>
                  </a:lnTo>
                  <a:lnTo>
                    <a:pt x="5323253" y="1231827"/>
                  </a:lnTo>
                  <a:lnTo>
                    <a:pt x="5273614" y="1247170"/>
                  </a:lnTo>
                  <a:lnTo>
                    <a:pt x="5221587" y="1262269"/>
                  </a:lnTo>
                  <a:lnTo>
                    <a:pt x="5167170" y="1277111"/>
                  </a:lnTo>
                  <a:lnTo>
                    <a:pt x="5110360" y="1291684"/>
                  </a:lnTo>
                  <a:lnTo>
                    <a:pt x="5051156" y="1305979"/>
                  </a:lnTo>
                  <a:lnTo>
                    <a:pt x="5011045" y="1315191"/>
                  </a:lnTo>
                  <a:lnTo>
                    <a:pt x="4970277" y="1324191"/>
                  </a:lnTo>
                  <a:lnTo>
                    <a:pt x="4928868" y="1332978"/>
                  </a:lnTo>
                  <a:lnTo>
                    <a:pt x="4886834" y="1341553"/>
                  </a:lnTo>
                  <a:lnTo>
                    <a:pt x="4844188" y="1349915"/>
                  </a:lnTo>
                  <a:lnTo>
                    <a:pt x="4800948" y="1358063"/>
                  </a:lnTo>
                  <a:lnTo>
                    <a:pt x="4757127" y="1365999"/>
                  </a:lnTo>
                  <a:lnTo>
                    <a:pt x="4712742" y="1373721"/>
                  </a:lnTo>
                  <a:lnTo>
                    <a:pt x="4667807" y="1381229"/>
                  </a:lnTo>
                  <a:lnTo>
                    <a:pt x="4622339" y="1388524"/>
                  </a:lnTo>
                  <a:lnTo>
                    <a:pt x="4576352" y="1395606"/>
                  </a:lnTo>
                  <a:lnTo>
                    <a:pt x="4529862" y="1402473"/>
                  </a:lnTo>
                  <a:lnTo>
                    <a:pt x="4482884" y="1409126"/>
                  </a:lnTo>
                  <a:lnTo>
                    <a:pt x="4435434" y="1415565"/>
                  </a:lnTo>
                  <a:lnTo>
                    <a:pt x="4387526" y="1421790"/>
                  </a:lnTo>
                  <a:lnTo>
                    <a:pt x="4339177" y="1427800"/>
                  </a:lnTo>
                  <a:lnTo>
                    <a:pt x="4290401" y="1433596"/>
                  </a:lnTo>
                  <a:lnTo>
                    <a:pt x="4241214" y="1439177"/>
                  </a:lnTo>
                  <a:lnTo>
                    <a:pt x="4191631" y="1444543"/>
                  </a:lnTo>
                  <a:lnTo>
                    <a:pt x="4141668" y="1449694"/>
                  </a:lnTo>
                  <a:lnTo>
                    <a:pt x="4091340" y="1454630"/>
                  </a:lnTo>
                  <a:lnTo>
                    <a:pt x="4040662" y="1459351"/>
                  </a:lnTo>
                  <a:lnTo>
                    <a:pt x="3989650" y="1463856"/>
                  </a:lnTo>
                  <a:lnTo>
                    <a:pt x="3938318" y="1468146"/>
                  </a:lnTo>
                  <a:lnTo>
                    <a:pt x="3886683" y="1472220"/>
                  </a:lnTo>
                  <a:lnTo>
                    <a:pt x="3834760" y="1476078"/>
                  </a:lnTo>
                  <a:lnTo>
                    <a:pt x="3782563" y="1479720"/>
                  </a:lnTo>
                  <a:lnTo>
                    <a:pt x="3730109" y="1483146"/>
                  </a:lnTo>
                  <a:lnTo>
                    <a:pt x="3677413" y="1486356"/>
                  </a:lnTo>
                  <a:lnTo>
                    <a:pt x="3624490" y="1489349"/>
                  </a:lnTo>
                  <a:lnTo>
                    <a:pt x="3571355" y="1492126"/>
                  </a:lnTo>
                  <a:lnTo>
                    <a:pt x="3518024" y="1494686"/>
                  </a:lnTo>
                  <a:lnTo>
                    <a:pt x="3464512" y="1497029"/>
                  </a:lnTo>
                  <a:lnTo>
                    <a:pt x="3410834" y="1499156"/>
                  </a:lnTo>
                  <a:lnTo>
                    <a:pt x="3357006" y="1501065"/>
                  </a:lnTo>
                  <a:lnTo>
                    <a:pt x="3303044" y="1502757"/>
                  </a:lnTo>
                  <a:lnTo>
                    <a:pt x="3248961" y="1504231"/>
                  </a:lnTo>
                  <a:lnTo>
                    <a:pt x="3194775" y="1505488"/>
                  </a:lnTo>
                  <a:lnTo>
                    <a:pt x="3140500" y="1506528"/>
                  </a:lnTo>
                  <a:lnTo>
                    <a:pt x="3086151" y="1507349"/>
                  </a:lnTo>
                  <a:lnTo>
                    <a:pt x="3031744" y="1507953"/>
                  </a:lnTo>
                  <a:lnTo>
                    <a:pt x="2977295" y="1508339"/>
                  </a:lnTo>
                  <a:lnTo>
                    <a:pt x="2922818" y="1508506"/>
                  </a:lnTo>
                  <a:lnTo>
                    <a:pt x="2868329" y="1508455"/>
                  </a:lnTo>
                  <a:lnTo>
                    <a:pt x="2813843" y="1508185"/>
                  </a:lnTo>
                  <a:lnTo>
                    <a:pt x="2759376" y="1507697"/>
                  </a:lnTo>
                  <a:lnTo>
                    <a:pt x="2704942" y="1506990"/>
                  </a:lnTo>
                  <a:lnTo>
                    <a:pt x="2650559" y="1506064"/>
                  </a:lnTo>
                  <a:lnTo>
                    <a:pt x="2596239" y="1504919"/>
                  </a:lnTo>
                  <a:lnTo>
                    <a:pt x="2542000" y="1503555"/>
                  </a:lnTo>
                  <a:lnTo>
                    <a:pt x="2487856" y="1501972"/>
                  </a:lnTo>
                  <a:lnTo>
                    <a:pt x="2433823" y="1500169"/>
                  </a:lnTo>
                  <a:lnTo>
                    <a:pt x="2379915" y="1498146"/>
                  </a:lnTo>
                  <a:lnTo>
                    <a:pt x="2326150" y="1495904"/>
                  </a:lnTo>
                  <a:lnTo>
                    <a:pt x="2272541" y="1493441"/>
                  </a:lnTo>
                  <a:lnTo>
                    <a:pt x="2219104" y="1490759"/>
                  </a:lnTo>
                  <a:lnTo>
                    <a:pt x="2165854" y="1487857"/>
                  </a:lnTo>
                  <a:lnTo>
                    <a:pt x="2112807" y="1484734"/>
                  </a:lnTo>
                  <a:lnTo>
                    <a:pt x="2059978" y="1481391"/>
                  </a:lnTo>
                  <a:lnTo>
                    <a:pt x="2007383" y="1477827"/>
                  </a:lnTo>
                  <a:lnTo>
                    <a:pt x="1955037" y="1474042"/>
                  </a:lnTo>
                  <a:lnTo>
                    <a:pt x="1902955" y="1470037"/>
                  </a:lnTo>
                  <a:lnTo>
                    <a:pt x="1851152" y="1465810"/>
                  </a:lnTo>
                  <a:lnTo>
                    <a:pt x="1799644" y="1461363"/>
                  </a:lnTo>
                  <a:lnTo>
                    <a:pt x="1748446" y="1456694"/>
                  </a:lnTo>
                  <a:lnTo>
                    <a:pt x="1697574" y="1451804"/>
                  </a:lnTo>
                  <a:lnTo>
                    <a:pt x="1647043" y="1446692"/>
                  </a:lnTo>
                  <a:lnTo>
                    <a:pt x="1596868" y="1441358"/>
                  </a:lnTo>
                  <a:lnTo>
                    <a:pt x="1547065" y="1435803"/>
                  </a:lnTo>
                  <a:lnTo>
                    <a:pt x="1497648" y="1430025"/>
                  </a:lnTo>
                  <a:lnTo>
                    <a:pt x="1448634" y="1424025"/>
                  </a:lnTo>
                  <a:lnTo>
                    <a:pt x="1400038" y="1417804"/>
                  </a:lnTo>
                  <a:lnTo>
                    <a:pt x="1351874" y="1411359"/>
                  </a:lnTo>
                  <a:lnTo>
                    <a:pt x="1304159" y="1404693"/>
                  </a:lnTo>
                  <a:lnTo>
                    <a:pt x="1256908" y="1397803"/>
                  </a:lnTo>
                  <a:lnTo>
                    <a:pt x="1210135" y="1390691"/>
                  </a:lnTo>
                  <a:lnTo>
                    <a:pt x="1163857" y="1383355"/>
                  </a:lnTo>
                  <a:lnTo>
                    <a:pt x="1118089" y="1375797"/>
                  </a:lnTo>
                  <a:lnTo>
                    <a:pt x="1072845" y="1368015"/>
                  </a:lnTo>
                  <a:lnTo>
                    <a:pt x="1028143" y="1360010"/>
                  </a:lnTo>
                  <a:lnTo>
                    <a:pt x="983995" y="1351782"/>
                  </a:lnTo>
                  <a:lnTo>
                    <a:pt x="940420" y="1343329"/>
                  </a:lnTo>
                  <a:lnTo>
                    <a:pt x="875832" y="1330160"/>
                  </a:lnTo>
                  <a:lnTo>
                    <a:pt x="813522" y="1316669"/>
                  </a:lnTo>
                  <a:lnTo>
                    <a:pt x="753491" y="1302867"/>
                  </a:lnTo>
                  <a:lnTo>
                    <a:pt x="695740" y="1288766"/>
                  </a:lnTo>
                  <a:lnTo>
                    <a:pt x="640274" y="1274378"/>
                  </a:lnTo>
                  <a:lnTo>
                    <a:pt x="587093" y="1259714"/>
                  </a:lnTo>
                  <a:lnTo>
                    <a:pt x="536200" y="1244786"/>
                  </a:lnTo>
                  <a:lnTo>
                    <a:pt x="487597" y="1229604"/>
                  </a:lnTo>
                  <a:lnTo>
                    <a:pt x="441287" y="1214182"/>
                  </a:lnTo>
                  <a:lnTo>
                    <a:pt x="397272" y="1198530"/>
                  </a:lnTo>
                  <a:lnTo>
                    <a:pt x="355553" y="1182660"/>
                  </a:lnTo>
                  <a:lnTo>
                    <a:pt x="316135" y="1166584"/>
                  </a:lnTo>
                  <a:lnTo>
                    <a:pt x="279017" y="1150313"/>
                  </a:lnTo>
                  <a:lnTo>
                    <a:pt x="244204" y="1133859"/>
                  </a:lnTo>
                  <a:lnTo>
                    <a:pt x="181498" y="1100447"/>
                  </a:lnTo>
                  <a:lnTo>
                    <a:pt x="128035" y="1066441"/>
                  </a:lnTo>
                  <a:lnTo>
                    <a:pt x="83833" y="1031934"/>
                  </a:lnTo>
                  <a:lnTo>
                    <a:pt x="48911" y="997017"/>
                  </a:lnTo>
                  <a:lnTo>
                    <a:pt x="23285" y="961785"/>
                  </a:lnTo>
                  <a:lnTo>
                    <a:pt x="6976" y="926329"/>
                  </a:lnTo>
                  <a:lnTo>
                    <a:pt x="0" y="890742"/>
                  </a:lnTo>
                  <a:lnTo>
                    <a:pt x="17" y="872929"/>
                  </a:lnTo>
                  <a:lnTo>
                    <a:pt x="14121" y="819546"/>
                  </a:lnTo>
                  <a:lnTo>
                    <a:pt x="35255" y="784123"/>
                  </a:lnTo>
                  <a:lnTo>
                    <a:pt x="65795" y="748938"/>
                  </a:lnTo>
                  <a:lnTo>
                    <a:pt x="105760" y="714086"/>
                  </a:lnTo>
                  <a:lnTo>
                    <a:pt x="155167" y="679659"/>
                  </a:lnTo>
                  <a:lnTo>
                    <a:pt x="214035" y="645749"/>
                  </a:lnTo>
                  <a:lnTo>
                    <a:pt x="282382" y="612449"/>
                  </a:lnTo>
                  <a:lnTo>
                    <a:pt x="320116" y="596057"/>
                  </a:lnTo>
                  <a:lnTo>
                    <a:pt x="360226" y="579852"/>
                  </a:lnTo>
                  <a:lnTo>
                    <a:pt x="402715" y="563846"/>
                  </a:lnTo>
                  <a:lnTo>
                    <a:pt x="447586" y="548050"/>
                  </a:lnTo>
                  <a:lnTo>
                    <a:pt x="494839" y="532476"/>
                  </a:lnTo>
                  <a:lnTo>
                    <a:pt x="544479" y="517136"/>
                  </a:lnTo>
                  <a:lnTo>
                    <a:pt x="596506" y="502041"/>
                  </a:lnTo>
                  <a:lnTo>
                    <a:pt x="650923" y="487203"/>
                  </a:lnTo>
                  <a:lnTo>
                    <a:pt x="707733" y="472633"/>
                  </a:lnTo>
                  <a:lnTo>
                    <a:pt x="766938" y="458343"/>
                  </a:lnTo>
                  <a:lnTo>
                    <a:pt x="805490" y="449480"/>
                  </a:lnTo>
                  <a:lnTo>
                    <a:pt x="844708" y="440805"/>
                  </a:lnTo>
                  <a:lnTo>
                    <a:pt x="884577" y="432319"/>
                  </a:lnTo>
                  <a:lnTo>
                    <a:pt x="925083" y="424022"/>
                  </a:lnTo>
                  <a:lnTo>
                    <a:pt x="966212" y="415915"/>
                  </a:lnTo>
                  <a:lnTo>
                    <a:pt x="1007950" y="407999"/>
                  </a:lnTo>
                  <a:lnTo>
                    <a:pt x="1050282" y="400274"/>
                  </a:lnTo>
                  <a:lnTo>
                    <a:pt x="1093194" y="392742"/>
                  </a:lnTo>
                  <a:lnTo>
                    <a:pt x="1136673" y="385403"/>
                  </a:lnTo>
                  <a:lnTo>
                    <a:pt x="1180704" y="378258"/>
                  </a:lnTo>
                  <a:lnTo>
                    <a:pt x="1225272" y="371307"/>
                  </a:lnTo>
                  <a:lnTo>
                    <a:pt x="1270364" y="364551"/>
                  </a:lnTo>
                  <a:lnTo>
                    <a:pt x="1315965" y="357991"/>
                  </a:lnTo>
                  <a:lnTo>
                    <a:pt x="1362062" y="351627"/>
                  </a:lnTo>
                  <a:lnTo>
                    <a:pt x="1408639" y="345461"/>
                  </a:lnTo>
                  <a:lnTo>
                    <a:pt x="1455683" y="339493"/>
                  </a:lnTo>
                  <a:lnTo>
                    <a:pt x="1503180" y="333724"/>
                  </a:lnTo>
                  <a:lnTo>
                    <a:pt x="1551115" y="328155"/>
                  </a:lnTo>
                  <a:lnTo>
                    <a:pt x="1599475" y="322785"/>
                  </a:lnTo>
                  <a:lnTo>
                    <a:pt x="1648245" y="317617"/>
                  </a:lnTo>
                  <a:lnTo>
                    <a:pt x="1697410" y="312650"/>
                  </a:lnTo>
                  <a:lnTo>
                    <a:pt x="1746957" y="307886"/>
                  </a:lnTo>
                  <a:lnTo>
                    <a:pt x="1796872" y="303324"/>
                  </a:lnTo>
                  <a:lnTo>
                    <a:pt x="1847140" y="298967"/>
                  </a:lnTo>
                  <a:lnTo>
                    <a:pt x="1897747" y="294814"/>
                  </a:lnTo>
                  <a:lnTo>
                    <a:pt x="1948679" y="290867"/>
                  </a:lnTo>
                  <a:lnTo>
                    <a:pt x="1999921" y="287126"/>
                  </a:lnTo>
                  <a:lnTo>
                    <a:pt x="2051460" y="283591"/>
                  </a:lnTo>
                  <a:lnTo>
                    <a:pt x="2103282" y="280264"/>
                  </a:lnTo>
                  <a:lnTo>
                    <a:pt x="2155372" y="277145"/>
                  </a:lnTo>
                  <a:lnTo>
                    <a:pt x="2207715" y="274235"/>
                  </a:lnTo>
                  <a:lnTo>
                    <a:pt x="2260299" y="271535"/>
                  </a:lnTo>
                  <a:lnTo>
                    <a:pt x="2313108" y="269045"/>
                  </a:lnTo>
                  <a:lnTo>
                    <a:pt x="2366128" y="266767"/>
                  </a:lnTo>
                  <a:lnTo>
                    <a:pt x="2419346" y="264700"/>
                  </a:lnTo>
                  <a:lnTo>
                    <a:pt x="2472747" y="262845"/>
                  </a:lnTo>
                  <a:lnTo>
                    <a:pt x="2526316" y="261204"/>
                  </a:lnTo>
                  <a:lnTo>
                    <a:pt x="2580040" y="259777"/>
                  </a:lnTo>
                  <a:lnTo>
                    <a:pt x="2633905" y="258565"/>
                  </a:lnTo>
                  <a:lnTo>
                    <a:pt x="2687896" y="257569"/>
                  </a:lnTo>
                  <a:lnTo>
                    <a:pt x="2741999" y="256788"/>
                  </a:lnTo>
                  <a:lnTo>
                    <a:pt x="2796200" y="256224"/>
                  </a:lnTo>
                  <a:lnTo>
                    <a:pt x="2850485" y="255878"/>
                  </a:lnTo>
                  <a:lnTo>
                    <a:pt x="2904839" y="255751"/>
                  </a:lnTo>
                  <a:lnTo>
                    <a:pt x="2959248" y="255842"/>
                  </a:lnTo>
                  <a:lnTo>
                    <a:pt x="3013699" y="256154"/>
                  </a:lnTo>
                  <a:lnTo>
                    <a:pt x="3068176" y="256686"/>
                  </a:lnTo>
                  <a:lnTo>
                    <a:pt x="3122667" y="257439"/>
                  </a:lnTo>
                  <a:lnTo>
                    <a:pt x="3177156" y="258414"/>
                  </a:lnTo>
                  <a:lnTo>
                    <a:pt x="3231629" y="259612"/>
                  </a:lnTo>
                  <a:lnTo>
                    <a:pt x="3286072" y="261033"/>
                  </a:lnTo>
                  <a:lnTo>
                    <a:pt x="3340472" y="262679"/>
                  </a:lnTo>
                  <a:lnTo>
                    <a:pt x="3394813" y="264549"/>
                  </a:lnTo>
                  <a:lnTo>
                    <a:pt x="3449082" y="266645"/>
                  </a:lnTo>
                  <a:lnTo>
                    <a:pt x="3503264" y="268967"/>
                  </a:lnTo>
                  <a:lnTo>
                    <a:pt x="3557346" y="271517"/>
                  </a:lnTo>
                  <a:lnTo>
                    <a:pt x="3611313" y="274294"/>
                  </a:lnTo>
                  <a:lnTo>
                    <a:pt x="3665150" y="277300"/>
                  </a:lnTo>
                  <a:lnTo>
                    <a:pt x="3718844" y="280535"/>
                  </a:lnTo>
                  <a:lnTo>
                    <a:pt x="3772381" y="284000"/>
                  </a:lnTo>
                  <a:lnTo>
                    <a:pt x="3825746" y="287696"/>
                  </a:lnTo>
                  <a:lnTo>
                    <a:pt x="3878925" y="291623"/>
                  </a:lnTo>
                  <a:lnTo>
                    <a:pt x="3931905" y="295782"/>
                  </a:lnTo>
                  <a:lnTo>
                    <a:pt x="5428219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0">
            <a:extLst>
              <a:ext uri="{FF2B5EF4-FFF2-40B4-BE49-F238E27FC236}">
                <a16:creationId xmlns:a16="http://schemas.microsoft.com/office/drawing/2014/main" id="{6B3AFD8F-5B23-9928-22C0-C3E830AC9F05}"/>
              </a:ext>
            </a:extLst>
          </p:cNvPr>
          <p:cNvSpPr txBox="1"/>
          <p:nvPr/>
        </p:nvSpPr>
        <p:spPr>
          <a:xfrm>
            <a:off x="1824735" y="5032502"/>
            <a:ext cx="38461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15" dirty="0">
                <a:latin typeface="Calibri"/>
                <a:cs typeface="Calibri"/>
              </a:rPr>
              <a:t>version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more </a:t>
            </a:r>
            <a:r>
              <a:rPr sz="2400" spc="-15" dirty="0">
                <a:latin typeface="Calibri"/>
                <a:cs typeface="Calibri"/>
              </a:rPr>
              <a:t>efficient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large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arrays?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643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64ED-3E76-A3D3-062E-26579D43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Spell it out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F01E8-F1DB-1D0A-0395-9254D906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F9640-44E2-2463-A4F5-FB02BD1D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3FCB852C-FFC6-E5CE-3306-8FB3412FA4BB}"/>
              </a:ext>
            </a:extLst>
          </p:cNvPr>
          <p:cNvGrpSpPr>
            <a:grpSpLocks/>
          </p:cNvGrpSpPr>
          <p:nvPr/>
        </p:nvGrpSpPr>
        <p:grpSpPr bwMode="auto">
          <a:xfrm>
            <a:off x="680502" y="2087962"/>
            <a:ext cx="10830995" cy="2078183"/>
            <a:chOff x="528" y="1824"/>
            <a:chExt cx="4424" cy="767"/>
          </a:xfrm>
          <a:solidFill>
            <a:schemeClr val="bg1"/>
          </a:solidFill>
        </p:grpSpPr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A4ED3D91-D3AF-F3C3-AE54-9279EE46A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1832"/>
              <a:ext cx="1040" cy="56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14">
              <a:extLst>
                <a:ext uri="{FF2B5EF4-FFF2-40B4-BE49-F238E27FC236}">
                  <a16:creationId xmlns:a16="http://schemas.microsoft.com/office/drawing/2014/main" id="{62335E68-CAFF-2F52-82F0-2E454DD6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824"/>
              <a:ext cx="1240" cy="57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B4060059-D8B6-AFCB-6D1D-BBD619BC7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" y="1832"/>
              <a:ext cx="1336" cy="56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16">
              <a:extLst>
                <a:ext uri="{FF2B5EF4-FFF2-40B4-BE49-F238E27FC236}">
                  <a16:creationId xmlns:a16="http://schemas.microsoft.com/office/drawing/2014/main" id="{66D65084-F107-DEA4-F1A0-7E3AA6059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1840"/>
              <a:ext cx="964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Instructions</a:t>
              </a:r>
            </a:p>
          </p:txBody>
        </p:sp>
        <p:sp>
          <p:nvSpPr>
            <p:cNvPr id="11" name="Rectangle 17">
              <a:extLst>
                <a:ext uri="{FF2B5EF4-FFF2-40B4-BE49-F238E27FC236}">
                  <a16:creationId xmlns:a16="http://schemas.microsoft.com/office/drawing/2014/main" id="{99EB5CDA-3445-704E-63F7-D0C3E155A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840"/>
              <a:ext cx="72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Cycles</a:t>
              </a:r>
            </a:p>
          </p:txBody>
        </p:sp>
        <p:sp>
          <p:nvSpPr>
            <p:cNvPr id="12" name="Rectangle 18">
              <a:extLst>
                <a:ext uri="{FF2B5EF4-FFF2-40B4-BE49-F238E27FC236}">
                  <a16:creationId xmlns:a16="http://schemas.microsoft.com/office/drawing/2014/main" id="{ADCA6FCB-A6CC-B61A-B161-5D67F3C61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" y="2120"/>
              <a:ext cx="775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Program</a:t>
              </a:r>
            </a:p>
          </p:txBody>
        </p:sp>
        <p:sp>
          <p:nvSpPr>
            <p:cNvPr id="13" name="Rectangle 19">
              <a:extLst>
                <a:ext uri="{FF2B5EF4-FFF2-40B4-BE49-F238E27FC236}">
                  <a16:creationId xmlns:a16="http://schemas.microsoft.com/office/drawing/2014/main" id="{C2F329B0-868E-BD07-C56A-4C9F2FF7F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112"/>
              <a:ext cx="87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14" name="Rectangle 20">
              <a:extLst>
                <a:ext uri="{FF2B5EF4-FFF2-40B4-BE49-F238E27FC236}">
                  <a16:creationId xmlns:a16="http://schemas.microsoft.com/office/drawing/2014/main" id="{AA03513B-2B62-2674-6861-D25327D6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" y="1864"/>
              <a:ext cx="41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</a:t>
              </a:r>
            </a:p>
          </p:txBody>
        </p:sp>
        <p:sp>
          <p:nvSpPr>
            <p:cNvPr id="15" name="Rectangle 21">
              <a:extLst>
                <a:ext uri="{FF2B5EF4-FFF2-40B4-BE49-F238E27FC236}">
                  <a16:creationId xmlns:a16="http://schemas.microsoft.com/office/drawing/2014/main" id="{DD6BDABE-5C8E-9C86-763D-7EFF8DA14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" y="2128"/>
              <a:ext cx="471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Cycle</a:t>
              </a:r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53DCB56A-5A46-B290-44AA-B42C4BC2A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48"/>
              <a:ext cx="974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(code size)</a:t>
              </a:r>
            </a:p>
          </p:txBody>
        </p:sp>
        <p:sp>
          <p:nvSpPr>
            <p:cNvPr id="17" name="Text Box 23">
              <a:extLst>
                <a:ext uri="{FF2B5EF4-FFF2-40B4-BE49-F238E27FC236}">
                  <a16:creationId xmlns:a16="http://schemas.microsoft.com/office/drawing/2014/main" id="{CE7BADFF-07A9-E488-6702-CEE64EA696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918"/>
              <a:ext cx="185" cy="1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18" name="Text Box 24">
              <a:extLst>
                <a:ext uri="{FF2B5EF4-FFF2-40B4-BE49-F238E27FC236}">
                  <a16:creationId xmlns:a16="http://schemas.microsoft.com/office/drawing/2014/main" id="{C7E756D8-3EE8-A4C3-8F49-0B46E9F4B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966"/>
              <a:ext cx="201" cy="1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19" name="Text Box 25">
              <a:extLst>
                <a:ext uri="{FF2B5EF4-FFF2-40B4-BE49-F238E27FC236}">
                  <a16:creationId xmlns:a16="http://schemas.microsoft.com/office/drawing/2014/main" id="{FCB39CB1-5FE2-5CFF-48CC-F6AE2A171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966"/>
              <a:ext cx="201" cy="1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CEF04D98-61C8-619C-1803-1099A8C86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112"/>
              <a:ext cx="1056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95453138-D895-F8D2-3D15-74F1FF4BE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112"/>
              <a:ext cx="1056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362F3DDC-5658-436A-63E4-F7B7A0A3E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112"/>
              <a:ext cx="864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36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7DBDA614-EE65-BB20-500A-311A38BA7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448"/>
              <a:ext cx="49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(CPI)</a:t>
              </a:r>
            </a:p>
          </p:txBody>
        </p:sp>
        <p:sp>
          <p:nvSpPr>
            <p:cNvPr id="24" name="Rectangle 30">
              <a:extLst>
                <a:ext uri="{FF2B5EF4-FFF2-40B4-BE49-F238E27FC236}">
                  <a16:creationId xmlns:a16="http://schemas.microsoft.com/office/drawing/2014/main" id="{2C5927DB-B5D1-2F01-1C69-96BC9718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48"/>
              <a:ext cx="1016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(cycle time)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7018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F958-3184-865E-13A3-FFFFA7DA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Cycles per Instruction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EC3FA-D230-04C2-F368-4AF514A9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EBDD2-93A0-E3FA-48B5-EB0A4520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EC07041-A291-C246-7196-B8104E033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6" y="1639768"/>
            <a:ext cx="10515600" cy="3406546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Instructions:  </a:t>
            </a:r>
            <a:r>
              <a:rPr lang="en-IN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mean the DYANMIC (ADD, MUL, JUMP, LOAD/STORE) ones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5830E69C-8AB4-7543-C75F-B6C2BC9408DB}"/>
              </a:ext>
            </a:extLst>
          </p:cNvPr>
          <p:cNvSpPr/>
          <p:nvPr/>
        </p:nvSpPr>
        <p:spPr>
          <a:xfrm>
            <a:off x="847487" y="2703255"/>
            <a:ext cx="9134713" cy="1940677"/>
          </a:xfrm>
          <a:prstGeom prst="rect">
            <a:avLst/>
          </a:prstGeom>
          <a:noFill/>
          <a:ln cap="rnd">
            <a:solidFill>
              <a:schemeClr val="tx1">
                <a:lumMod val="50000"/>
                <a:lumOff val="50000"/>
              </a:schemeClr>
            </a:solidFill>
            <a:custDash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void </a:t>
            </a: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CS683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*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arr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size) {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9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for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3200" b="0" strike="noStrike" spc="-1" dirty="0">
                <a:solidFill>
                  <a:srgbClr val="008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0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;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&lt; size-</a:t>
            </a:r>
            <a:r>
              <a:rPr lang="en-US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1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; ++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arr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[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] =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arr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[i+</a:t>
            </a:r>
            <a:r>
              <a:rPr lang="en-US" sz="3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1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];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}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C0592C-A53C-E399-AAB1-35EDD1BBFA55}"/>
              </a:ext>
            </a:extLst>
          </p:cNvPr>
          <p:cNvCxnSpPr/>
          <p:nvPr/>
        </p:nvCxnSpPr>
        <p:spPr>
          <a:xfrm flipV="1">
            <a:off x="400967" y="2410691"/>
            <a:ext cx="10063290" cy="28996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610813-3DBE-4872-1B9F-9CD434A611E5}"/>
              </a:ext>
            </a:extLst>
          </p:cNvPr>
          <p:cNvCxnSpPr>
            <a:cxnSpLocks/>
          </p:cNvCxnSpPr>
          <p:nvPr/>
        </p:nvCxnSpPr>
        <p:spPr>
          <a:xfrm>
            <a:off x="400967" y="2523157"/>
            <a:ext cx="10547384" cy="294980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968230-2DC6-6597-E82A-E3F8E90BB9A2}"/>
              </a:ext>
            </a:extLst>
          </p:cNvPr>
          <p:cNvSpPr/>
          <p:nvPr/>
        </p:nvSpPr>
        <p:spPr>
          <a:xfrm>
            <a:off x="606340" y="5252460"/>
            <a:ext cx="10801656" cy="1129553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CPU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1D3E2-0F6F-4619-EFA3-116A915A027E}"/>
              </a:ext>
            </a:extLst>
          </p:cNvPr>
          <p:cNvSpPr txBox="1"/>
          <p:nvPr/>
        </p:nvSpPr>
        <p:spPr>
          <a:xfrm>
            <a:off x="635681" y="5294194"/>
            <a:ext cx="106891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All instructions are not the </a:t>
            </a:r>
            <a:r>
              <a:rPr lang="en-IN" sz="3200" dirty="0">
                <a:solidFill>
                  <a:srgbClr val="C00000"/>
                </a:solidFill>
              </a:rPr>
              <a:t>SAME</a:t>
            </a:r>
          </a:p>
          <a:p>
            <a:r>
              <a:rPr lang="en-IN" sz="3200" dirty="0"/>
              <a:t>So, cycles per instruction is not a </a:t>
            </a:r>
            <a:r>
              <a:rPr lang="en-IN" sz="3200" dirty="0">
                <a:solidFill>
                  <a:srgbClr val="C00000"/>
                </a:solidFill>
              </a:rPr>
              <a:t>constant</a:t>
            </a:r>
          </a:p>
        </p:txBody>
      </p:sp>
    </p:spTree>
    <p:extLst>
      <p:ext uri="{BB962C8B-B14F-4D97-AF65-F5344CB8AC3E}">
        <p14:creationId xmlns:p14="http://schemas.microsoft.com/office/powerpoint/2010/main" val="120243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olourful pins linked with threads">
            <a:extLst>
              <a:ext uri="{FF2B5EF4-FFF2-40B4-BE49-F238E27FC236}">
                <a16:creationId xmlns:a16="http://schemas.microsoft.com/office/drawing/2014/main" id="{FB35F5DD-592D-967C-09DC-C3E7044B3E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13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E08EE-FE45-414F-84BD-4A3BA6DCA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From Theory to Practice:</a:t>
            </a:r>
            <a:br>
              <a:rPr lang="en-US" sz="6600" dirty="0">
                <a:solidFill>
                  <a:schemeClr val="bg1"/>
                </a:solidFill>
              </a:rPr>
            </a:br>
            <a:r>
              <a:rPr lang="en-US" sz="6600" dirty="0">
                <a:solidFill>
                  <a:schemeClr val="bg1"/>
                </a:solidFill>
              </a:rPr>
              <a:t>Performance-101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3642F-29B7-4E32-A11B-4026F64A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9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AE1FD92-6B4B-4F7E-ADCD-6EC18FE22C7F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13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4232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ACD8D-181A-4D08-8A02-D8619228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Language: No Big Deal!! AI/ML &amp;&amp; Python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C30B2-D9BF-458E-84DD-F333C3692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492875"/>
            <a:ext cx="2980083" cy="228600"/>
          </a:xfrm>
        </p:spPr>
        <p:txBody>
          <a:bodyPr/>
          <a:lstStyle/>
          <a:p>
            <a:fld id="{AAE1FD92-6B4B-4F7E-ADCD-6EC18FE22C7F}" type="slidenum">
              <a:rPr lang="en-IN" smtClean="0"/>
              <a:t>14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0305E-41EB-4088-8D3F-DF2AF3972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17" y="1510748"/>
            <a:ext cx="10475844" cy="5257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C4B949-4309-425D-ABFF-AB002ADF2BE1}"/>
              </a:ext>
            </a:extLst>
          </p:cNvPr>
          <p:cNvSpPr/>
          <p:nvPr/>
        </p:nvSpPr>
        <p:spPr>
          <a:xfrm>
            <a:off x="1267239" y="2295939"/>
            <a:ext cx="1023731" cy="39806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8DD9EA-C724-4DE6-B9B2-86CCE580D38B}"/>
              </a:ext>
            </a:extLst>
          </p:cNvPr>
          <p:cNvSpPr/>
          <p:nvPr/>
        </p:nvSpPr>
        <p:spPr>
          <a:xfrm rot="5400000">
            <a:off x="9455627" y="2151582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C85C05-F045-44E4-83C4-CEBFE41FF148}"/>
              </a:ext>
            </a:extLst>
          </p:cNvPr>
          <p:cNvSpPr/>
          <p:nvPr/>
        </p:nvSpPr>
        <p:spPr>
          <a:xfrm rot="5400000">
            <a:off x="7879588" y="2794635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054216-D089-4BBB-BC51-E1D2EC937D2E}"/>
              </a:ext>
            </a:extLst>
          </p:cNvPr>
          <p:cNvSpPr/>
          <p:nvPr/>
        </p:nvSpPr>
        <p:spPr>
          <a:xfrm rot="5400000">
            <a:off x="6279388" y="3677225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8FE339-339A-4DCD-A006-2E40A9DA17B3}"/>
              </a:ext>
            </a:extLst>
          </p:cNvPr>
          <p:cNvSpPr/>
          <p:nvPr/>
        </p:nvSpPr>
        <p:spPr>
          <a:xfrm rot="5400000">
            <a:off x="4666806" y="4214675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6B403D-D21A-452A-9B57-EB5DA52C964F}"/>
              </a:ext>
            </a:extLst>
          </p:cNvPr>
          <p:cNvSpPr/>
          <p:nvPr/>
        </p:nvSpPr>
        <p:spPr>
          <a:xfrm rot="5400000">
            <a:off x="2950749" y="5359043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504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7A815-41DF-426A-8153-2F57741D4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OK. So??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27AA6-EFA5-44C1-BA59-9AD783D2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2980083" cy="365125"/>
          </a:xfrm>
        </p:spPr>
        <p:txBody>
          <a:bodyPr/>
          <a:lstStyle/>
          <a:p>
            <a:fld id="{AAE1FD92-6B4B-4F7E-ADCD-6EC18FE22C7F}" type="slidenum">
              <a:rPr lang="en-IN" smtClean="0"/>
              <a:t>15</a:t>
            </a:fld>
            <a:endParaRPr lang="en-IN" dirty="0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8B8EBA57-0070-47CD-B988-A0E245AEC85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AEF14F-F019-45E2-8655-CD5C24FA9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17" y="1510748"/>
            <a:ext cx="10475844" cy="52578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9973F81-0759-4F05-A92A-E4DA2FEB93A4}"/>
              </a:ext>
            </a:extLst>
          </p:cNvPr>
          <p:cNvSpPr/>
          <p:nvPr/>
        </p:nvSpPr>
        <p:spPr>
          <a:xfrm>
            <a:off x="1267239" y="2295939"/>
            <a:ext cx="1023731" cy="39806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5C4775B-81D1-4A64-9529-E9C274102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17" y="1510748"/>
            <a:ext cx="10475844" cy="52578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6CAE65F-1092-4001-95DB-7A1D16172FED}"/>
              </a:ext>
            </a:extLst>
          </p:cNvPr>
          <p:cNvSpPr/>
          <p:nvPr/>
        </p:nvSpPr>
        <p:spPr>
          <a:xfrm rot="5400000">
            <a:off x="9455627" y="2151582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630B3C-C339-46B7-B2C4-E6EB0E85CC51}"/>
              </a:ext>
            </a:extLst>
          </p:cNvPr>
          <p:cNvSpPr/>
          <p:nvPr/>
        </p:nvSpPr>
        <p:spPr>
          <a:xfrm rot="5400000">
            <a:off x="7879588" y="2794635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59DA93-AB71-43F0-802D-BA713C392327}"/>
              </a:ext>
            </a:extLst>
          </p:cNvPr>
          <p:cNvSpPr/>
          <p:nvPr/>
        </p:nvSpPr>
        <p:spPr>
          <a:xfrm rot="5400000">
            <a:off x="6279388" y="3677225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219C9-9E19-4849-997E-65EE541D821C}"/>
              </a:ext>
            </a:extLst>
          </p:cNvPr>
          <p:cNvSpPr/>
          <p:nvPr/>
        </p:nvSpPr>
        <p:spPr>
          <a:xfrm rot="5400000">
            <a:off x="4666806" y="4214675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78D4B9-3C27-40E5-B940-B205F36B4E63}"/>
              </a:ext>
            </a:extLst>
          </p:cNvPr>
          <p:cNvSpPr/>
          <p:nvPr/>
        </p:nvSpPr>
        <p:spPr>
          <a:xfrm>
            <a:off x="1419639" y="2448339"/>
            <a:ext cx="1023731" cy="39806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446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1641-2B6C-4DF2-BC82-59C15D4B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Seriously??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ABD15-A082-4E9C-9BC8-B2EB3545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428961"/>
            <a:ext cx="2980083" cy="292514"/>
          </a:xfrm>
        </p:spPr>
        <p:txBody>
          <a:bodyPr/>
          <a:lstStyle/>
          <a:p>
            <a:fld id="{AAE1FD92-6B4B-4F7E-ADCD-6EC18FE22C7F}" type="slidenum">
              <a:rPr lang="en-IN" smtClean="0"/>
              <a:t>16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C46736-7061-47BC-95BD-77DA8E1189FC}"/>
              </a:ext>
            </a:extLst>
          </p:cNvPr>
          <p:cNvSpPr/>
          <p:nvPr/>
        </p:nvSpPr>
        <p:spPr>
          <a:xfrm>
            <a:off x="1267239" y="2295939"/>
            <a:ext cx="1023731" cy="39806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22D690-A555-42DA-A5B3-A6F60A5CC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17" y="1510748"/>
            <a:ext cx="10475844" cy="5257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19021F-E9E0-49AD-9D01-EFEF2BCD2B5A}"/>
              </a:ext>
            </a:extLst>
          </p:cNvPr>
          <p:cNvSpPr/>
          <p:nvPr/>
        </p:nvSpPr>
        <p:spPr>
          <a:xfrm rot="5400000">
            <a:off x="9455627" y="2151582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315A4D-5908-4221-8199-EAD47E2614BC}"/>
              </a:ext>
            </a:extLst>
          </p:cNvPr>
          <p:cNvSpPr/>
          <p:nvPr/>
        </p:nvSpPr>
        <p:spPr>
          <a:xfrm rot="5400000">
            <a:off x="7879588" y="2794635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126F48-D2D3-44DA-8084-AB486179EC9E}"/>
              </a:ext>
            </a:extLst>
          </p:cNvPr>
          <p:cNvSpPr/>
          <p:nvPr/>
        </p:nvSpPr>
        <p:spPr>
          <a:xfrm rot="5400000">
            <a:off x="6279388" y="3677225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9F726A-1400-4B71-B9EC-11A464EE401F}"/>
              </a:ext>
            </a:extLst>
          </p:cNvPr>
          <p:cNvSpPr/>
          <p:nvPr/>
        </p:nvSpPr>
        <p:spPr>
          <a:xfrm>
            <a:off x="1419639" y="2448339"/>
            <a:ext cx="1023731" cy="39806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92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B2EB-4630-4009-9422-8BD177CD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That’s It!! You can’t do better </a:t>
            </a:r>
            <a:r>
              <a:rPr lang="en-IN" dirty="0">
                <a:sym typeface="Wingdings" panose="05000000000000000000" pitchFamily="2" charset="2"/>
              </a:rPr>
              <a:t>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72DFB-1304-499D-8943-F30EBD57D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8961"/>
            <a:ext cx="2886456" cy="339586"/>
          </a:xfrm>
        </p:spPr>
        <p:txBody>
          <a:bodyPr/>
          <a:lstStyle/>
          <a:p>
            <a:fld id="{AAE1FD92-6B4B-4F7E-ADCD-6EC18FE22C7F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675B1-7EB5-47FD-92A4-79BD58795E75}"/>
              </a:ext>
            </a:extLst>
          </p:cNvPr>
          <p:cNvSpPr/>
          <p:nvPr/>
        </p:nvSpPr>
        <p:spPr>
          <a:xfrm>
            <a:off x="1267239" y="2295939"/>
            <a:ext cx="1023731" cy="39806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511CB-3A0C-4F11-BF4F-851157827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17" y="1510748"/>
            <a:ext cx="10475844" cy="5257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AAE009-D1DE-4AA7-A4C3-EAEFF2CD90D7}"/>
              </a:ext>
            </a:extLst>
          </p:cNvPr>
          <p:cNvSpPr/>
          <p:nvPr/>
        </p:nvSpPr>
        <p:spPr>
          <a:xfrm rot="5400000">
            <a:off x="9455627" y="2151582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F4AD9D-B794-413D-A22A-3EB5723B65C5}"/>
              </a:ext>
            </a:extLst>
          </p:cNvPr>
          <p:cNvSpPr/>
          <p:nvPr/>
        </p:nvSpPr>
        <p:spPr>
          <a:xfrm rot="5400000">
            <a:off x="7879588" y="2794635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ADF077-A973-4244-AEE6-44F0739E4349}"/>
              </a:ext>
            </a:extLst>
          </p:cNvPr>
          <p:cNvSpPr/>
          <p:nvPr/>
        </p:nvSpPr>
        <p:spPr>
          <a:xfrm>
            <a:off x="1419639" y="2448339"/>
            <a:ext cx="1023731" cy="39806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213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E0DE-9D24-4465-8B48-C5E0FE145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the hell? This is insane 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ED2D9-3D0C-4E6C-AD6D-BF1E5407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5187" y="6428961"/>
            <a:ext cx="2825496" cy="308483"/>
          </a:xfrm>
        </p:spPr>
        <p:txBody>
          <a:bodyPr/>
          <a:lstStyle/>
          <a:p>
            <a:fld id="{AAE1FD92-6B4B-4F7E-ADCD-6EC18FE22C7F}" type="slidenum">
              <a:rPr lang="en-IN" smtClean="0"/>
              <a:t>18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0924C4-5C7E-462E-95D8-FFF8082A4165}"/>
              </a:ext>
            </a:extLst>
          </p:cNvPr>
          <p:cNvSpPr/>
          <p:nvPr/>
        </p:nvSpPr>
        <p:spPr>
          <a:xfrm>
            <a:off x="1267239" y="2295939"/>
            <a:ext cx="1023731" cy="39806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FA6B0C-FAF6-4C44-BC2B-40BFA993C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17" y="1491836"/>
            <a:ext cx="10475844" cy="5257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55C247-7C3A-48C2-BD59-52A43627CC5B}"/>
              </a:ext>
            </a:extLst>
          </p:cNvPr>
          <p:cNvSpPr/>
          <p:nvPr/>
        </p:nvSpPr>
        <p:spPr>
          <a:xfrm rot="5400000">
            <a:off x="9455627" y="2151582"/>
            <a:ext cx="201936" cy="490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6A507C-B46A-4E04-A309-5630AD14EE13}"/>
              </a:ext>
            </a:extLst>
          </p:cNvPr>
          <p:cNvSpPr/>
          <p:nvPr/>
        </p:nvSpPr>
        <p:spPr>
          <a:xfrm>
            <a:off x="1419639" y="2448339"/>
            <a:ext cx="1023731" cy="39806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735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C9EA4-1A10-40F7-8005-3931AFA0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19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0C7DD2-0363-4E87-9AF5-BE78127B4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8" y="0"/>
            <a:ext cx="12090523" cy="702181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83BCFF-06D7-49B5-B461-15B6078FA287}"/>
              </a:ext>
            </a:extLst>
          </p:cNvPr>
          <p:cNvSpPr/>
          <p:nvPr/>
        </p:nvSpPr>
        <p:spPr>
          <a:xfrm>
            <a:off x="8995318" y="5971479"/>
            <a:ext cx="3003395" cy="88652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>
                <a:solidFill>
                  <a:srgbClr val="C00000"/>
                </a:solidFill>
              </a:rPr>
              <a:t>62,806X</a:t>
            </a:r>
          </a:p>
        </p:txBody>
      </p:sp>
    </p:spTree>
    <p:extLst>
      <p:ext uri="{BB962C8B-B14F-4D97-AF65-F5344CB8AC3E}">
        <p14:creationId xmlns:p14="http://schemas.microsoft.com/office/powerpoint/2010/main" val="391184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D151-C8A5-451E-8197-EFEA3FC7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Welcome to CS683, again !!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70691-8BE5-42C1-82B9-F6661B2E4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3385" y="6418311"/>
            <a:ext cx="2845139" cy="303164"/>
          </a:xfrm>
        </p:spPr>
        <p:txBody>
          <a:bodyPr/>
          <a:lstStyle/>
          <a:p>
            <a:fld id="{AAE1FD92-6B4B-4F7E-ADCD-6EC18FE22C7F}" type="slidenum">
              <a:rPr lang="en-IN" smtClean="0"/>
              <a:t>20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C05381-2511-4BFC-B722-DE1ABE666821}"/>
              </a:ext>
            </a:extLst>
          </p:cNvPr>
          <p:cNvSpPr/>
          <p:nvPr/>
        </p:nvSpPr>
        <p:spPr>
          <a:xfrm>
            <a:off x="1267239" y="2295939"/>
            <a:ext cx="1023731" cy="39806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1B8AC4-671C-4C3C-9AE6-D18C7A17D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17" y="1510748"/>
            <a:ext cx="10475844" cy="5257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43B730-9FB5-4A1F-93E5-EC1B51262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908" y="155490"/>
            <a:ext cx="1744831" cy="1744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B24930-1672-48A2-8C33-B88FD0C5C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013" y="3605813"/>
            <a:ext cx="16668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5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1FA10E-71D7-4C85-959A-469B0DC36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77F870-CF5C-45AC-8915-06EF587E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One in a crowd">
            <a:extLst>
              <a:ext uri="{FF2B5EF4-FFF2-40B4-BE49-F238E27FC236}">
                <a16:creationId xmlns:a16="http://schemas.microsoft.com/office/drawing/2014/main" id="{7207C270-33F4-128F-21DF-97AF8239D0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7734" b="17266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479ACF-7068-B2DA-44A7-3769FC647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103120"/>
            <a:ext cx="7151090" cy="2651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Let’s Jump into Memory Hierarchy, why?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78AC9-1E6D-066C-D4CD-8E98468E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4774E-EBCB-89B8-181B-EBCD41D8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21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74611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24A0-5A71-4B8D-8355-1C429FBA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From where does these zeros come from?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E5546-9A3D-48F1-8026-8E99B5D7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2248" y="6359360"/>
            <a:ext cx="2743200" cy="365125"/>
          </a:xfrm>
        </p:spPr>
        <p:txBody>
          <a:bodyPr/>
          <a:lstStyle/>
          <a:p>
            <a:fld id="{AAE1FD92-6B4B-4F7E-ADCD-6EC18FE22C7F}" type="slidenum">
              <a:rPr lang="en-IN" smtClean="0"/>
              <a:t>22</a:t>
            </a:fld>
            <a:endParaRPr lang="en-IN" dirty="0"/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C428E808-7BA2-4C3B-84DB-1B7890222441}"/>
              </a:ext>
            </a:extLst>
          </p:cNvPr>
          <p:cNvSpPr/>
          <p:nvPr/>
        </p:nvSpPr>
        <p:spPr>
          <a:xfrm>
            <a:off x="930965" y="1547106"/>
            <a:ext cx="6705600" cy="31491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25CBEB-722E-470A-9416-84D38C03481C}"/>
              </a:ext>
            </a:extLst>
          </p:cNvPr>
          <p:cNvCxnSpPr/>
          <p:nvPr/>
        </p:nvCxnSpPr>
        <p:spPr>
          <a:xfrm>
            <a:off x="1921565" y="2983419"/>
            <a:ext cx="762000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8B7E4EB9-AC9F-4B6E-9424-D1A6C30E9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041793" y="2514796"/>
            <a:ext cx="2746642" cy="86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6482FC9B-CA40-4B5A-8AF4-170A567BF117}"/>
              </a:ext>
            </a:extLst>
          </p:cNvPr>
          <p:cNvSpPr/>
          <p:nvPr/>
        </p:nvSpPr>
        <p:spPr>
          <a:xfrm rot="16200000">
            <a:off x="4689305" y="2590622"/>
            <a:ext cx="1932121" cy="609598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 L3 </a:t>
            </a: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6BF0FBD1-9DA2-4103-A823-C7ADF54DEB5B}"/>
              </a:ext>
            </a:extLst>
          </p:cNvPr>
          <p:cNvSpPr/>
          <p:nvPr/>
        </p:nvSpPr>
        <p:spPr>
          <a:xfrm rot="16200000">
            <a:off x="2563550" y="2609897"/>
            <a:ext cx="914400" cy="674370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21B307-9DA3-4F02-BFB4-9156E0DCD3F0}"/>
              </a:ext>
            </a:extLst>
          </p:cNvPr>
          <p:cNvCxnSpPr>
            <a:stCxn id="9" idx="2"/>
          </p:cNvCxnSpPr>
          <p:nvPr/>
        </p:nvCxnSpPr>
        <p:spPr>
          <a:xfrm flipV="1">
            <a:off x="3357935" y="2947080"/>
            <a:ext cx="684530" cy="2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4">
            <a:extLst>
              <a:ext uri="{FF2B5EF4-FFF2-40B4-BE49-F238E27FC236}">
                <a16:creationId xmlns:a16="http://schemas.microsoft.com/office/drawing/2014/main" id="{94D31CF3-5832-4F8F-88E9-DD7B3DEFF5C2}"/>
              </a:ext>
            </a:extLst>
          </p:cNvPr>
          <p:cNvSpPr/>
          <p:nvPr/>
        </p:nvSpPr>
        <p:spPr>
          <a:xfrm rot="16200000">
            <a:off x="3738301" y="2641646"/>
            <a:ext cx="1219199" cy="610869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9DC965-B07F-4208-8C2B-F08ADAA4A014}"/>
              </a:ext>
            </a:extLst>
          </p:cNvPr>
          <p:cNvCxnSpPr/>
          <p:nvPr/>
        </p:nvCxnSpPr>
        <p:spPr>
          <a:xfrm flipV="1">
            <a:off x="4666036" y="2947079"/>
            <a:ext cx="684529" cy="2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1A9DCE-4C67-42DF-92F9-0F48C545E871}"/>
              </a:ext>
            </a:extLst>
          </p:cNvPr>
          <p:cNvCxnSpPr/>
          <p:nvPr/>
        </p:nvCxnSpPr>
        <p:spPr>
          <a:xfrm>
            <a:off x="7255566" y="2983589"/>
            <a:ext cx="1752598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FFA17D1-890B-4D04-8D4A-5E6553D4AE32}"/>
              </a:ext>
            </a:extLst>
          </p:cNvPr>
          <p:cNvSpPr txBox="1"/>
          <p:nvPr/>
        </p:nvSpPr>
        <p:spPr>
          <a:xfrm>
            <a:off x="2454965" y="3324639"/>
            <a:ext cx="1405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2 Cycles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D6B8F6-2D99-4F05-B84D-B1C86BDA1607}"/>
              </a:ext>
            </a:extLst>
          </p:cNvPr>
          <p:cNvSpPr txBox="1"/>
          <p:nvPr/>
        </p:nvSpPr>
        <p:spPr>
          <a:xfrm>
            <a:off x="3651486" y="3704616"/>
            <a:ext cx="1546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12 Cycles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0AFBC2-A0FF-482B-9DB0-F4C1B8C515AF}"/>
              </a:ext>
            </a:extLst>
          </p:cNvPr>
          <p:cNvSpPr txBox="1"/>
          <p:nvPr/>
        </p:nvSpPr>
        <p:spPr>
          <a:xfrm>
            <a:off x="4969565" y="4005974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30 Cycles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90868-4D9A-4D34-8A6C-7A68BF685404}"/>
              </a:ext>
            </a:extLst>
          </p:cNvPr>
          <p:cNvSpPr txBox="1"/>
          <p:nvPr/>
        </p:nvSpPr>
        <p:spPr>
          <a:xfrm>
            <a:off x="9046511" y="4319614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200 Cycles</a:t>
            </a:r>
          </a:p>
        </p:txBody>
      </p:sp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AEDD25ED-E321-4EE6-B566-F2D1B1BD266A}"/>
              </a:ext>
            </a:extLst>
          </p:cNvPr>
          <p:cNvSpPr/>
          <p:nvPr/>
        </p:nvSpPr>
        <p:spPr>
          <a:xfrm rot="16200000">
            <a:off x="5508681" y="2720754"/>
            <a:ext cx="2819399" cy="674370"/>
          </a:xfrm>
          <a:prstGeom prst="roundRect">
            <a:avLst/>
          </a:prstGeom>
          <a:solidFill>
            <a:srgbClr val="00B050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DRAM Contr.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516908-F571-493C-BBAD-69939BF39F05}"/>
              </a:ext>
            </a:extLst>
          </p:cNvPr>
          <p:cNvCxnSpPr/>
          <p:nvPr/>
        </p:nvCxnSpPr>
        <p:spPr>
          <a:xfrm>
            <a:off x="5960165" y="2947083"/>
            <a:ext cx="621030" cy="0"/>
          </a:xfrm>
          <a:prstGeom prst="straightConnector1">
            <a:avLst/>
          </a:prstGeom>
          <a:ln w="57150" cmpd="sng">
            <a:solidFill>
              <a:srgbClr val="8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31">
            <a:extLst>
              <a:ext uri="{FF2B5EF4-FFF2-40B4-BE49-F238E27FC236}">
                <a16:creationId xmlns:a16="http://schemas.microsoft.com/office/drawing/2014/main" id="{CD0945F8-CE8F-4D95-AEEB-E1093C3BF51A}"/>
              </a:ext>
            </a:extLst>
          </p:cNvPr>
          <p:cNvSpPr/>
          <p:nvPr/>
        </p:nvSpPr>
        <p:spPr>
          <a:xfrm rot="16200000">
            <a:off x="1008845" y="2640519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BF60EF9-C9D1-47C6-BB76-9716BF304205}"/>
              </a:ext>
            </a:extLst>
          </p:cNvPr>
          <p:cNvSpPr/>
          <p:nvPr/>
        </p:nvSpPr>
        <p:spPr>
          <a:xfrm>
            <a:off x="195859" y="5185013"/>
            <a:ext cx="10801656" cy="1539472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CPU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285AEB-377B-49D4-86CE-120646C1B10B}"/>
              </a:ext>
            </a:extLst>
          </p:cNvPr>
          <p:cNvSpPr txBox="1"/>
          <p:nvPr/>
        </p:nvSpPr>
        <p:spPr>
          <a:xfrm>
            <a:off x="195859" y="5129607"/>
            <a:ext cx="106891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Memory stores </a:t>
            </a:r>
            <a:r>
              <a:rPr lang="en-IN" sz="3200" dirty="0">
                <a:solidFill>
                  <a:srgbClr val="C00000"/>
                </a:solidFill>
              </a:rPr>
              <a:t>CODE and DATA</a:t>
            </a:r>
          </a:p>
          <a:p>
            <a:r>
              <a:rPr lang="en-IN" sz="3200" dirty="0"/>
              <a:t>Processor accesses through </a:t>
            </a:r>
            <a:r>
              <a:rPr lang="en-IN" sz="3200" dirty="0">
                <a:solidFill>
                  <a:srgbClr val="C00000"/>
                </a:solidFill>
              </a:rPr>
              <a:t>LOADs (reads) and STOREs(writes)</a:t>
            </a:r>
          </a:p>
          <a:p>
            <a:r>
              <a:rPr lang="en-IN" sz="3200" dirty="0">
                <a:solidFill>
                  <a:srgbClr val="C00000"/>
                </a:solidFill>
              </a:rPr>
              <a:t>Memory Wall</a:t>
            </a:r>
          </a:p>
        </p:txBody>
      </p:sp>
      <p:pic>
        <p:nvPicPr>
          <p:cNvPr id="24" name="Picture 23" descr="https://upload.wikimedia.org/wikipedia/commons/d/d1/Brick_wall_close-up_view.jpg">
            <a:extLst>
              <a:ext uri="{FF2B5EF4-FFF2-40B4-BE49-F238E27FC236}">
                <a16:creationId xmlns:a16="http://schemas.microsoft.com/office/drawing/2014/main" id="{F8D2F7E6-18A1-4DF3-B2B8-B6B01D4E6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779" y="1629461"/>
            <a:ext cx="1341385" cy="2633664"/>
          </a:xfrm>
          <a:prstGeom prst="rect">
            <a:avLst/>
          </a:prstGeom>
          <a:noFill/>
          <a:scene3d>
            <a:camera prst="isometricOffAxis1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CB3063-B60F-7A24-7243-255667EE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0682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  <p:bldP spid="15" grpId="0"/>
      <p:bldP spid="16" grpId="0"/>
      <p:bldP spid="17" grpId="0"/>
      <p:bldP spid="18" grpId="0"/>
      <p:bldP spid="19" grpId="0" animBg="1"/>
      <p:bldP spid="21" grpId="0" animBg="1"/>
      <p:bldP spid="22" grpId="0" animBg="1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ce and pins on a board game">
            <a:extLst>
              <a:ext uri="{FF2B5EF4-FFF2-40B4-BE49-F238E27FC236}">
                <a16:creationId xmlns:a16="http://schemas.microsoft.com/office/drawing/2014/main" id="{DB144257-EB70-D2DB-096A-7556F492B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3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5A281-6E96-9793-36CB-48C6AD41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The game of latency and bandwidth starts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96955-A441-9AA0-2E4D-687A06AEE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BBFE8-97FA-9BB1-C05C-7607BF1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9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23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60282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8461-EBEB-4F41-BCD4-18FFACBC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Hang on!! I got the Mantra!!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8CF88-94CC-4963-9F1B-01C14F32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24</a:t>
            </a:fld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189776-D1C6-42E0-87E4-BC142057BE1F}"/>
              </a:ext>
            </a:extLst>
          </p:cNvPr>
          <p:cNvSpPr/>
          <p:nvPr/>
        </p:nvSpPr>
        <p:spPr>
          <a:xfrm>
            <a:off x="264482" y="1419669"/>
            <a:ext cx="8288013" cy="88237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9012B-67CE-4005-8888-63F5C2E30520}"/>
              </a:ext>
            </a:extLst>
          </p:cNvPr>
          <p:cNvSpPr txBox="1"/>
          <p:nvPr/>
        </p:nvSpPr>
        <p:spPr>
          <a:xfrm>
            <a:off x="287398" y="1344683"/>
            <a:ext cx="106891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Reduction in DRAM accesses ~ </a:t>
            </a:r>
          </a:p>
          <a:p>
            <a:r>
              <a:rPr lang="en-IN" sz="3200" dirty="0"/>
              <a:t>Reduction in CPI (cycles per instruction)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3F3359-285C-469D-995C-5C891A739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82" y="2583722"/>
            <a:ext cx="4163668" cy="31059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9482F26-D180-4D84-9A08-800EF2C2EABC}"/>
              </a:ext>
            </a:extLst>
          </p:cNvPr>
          <p:cNvSpPr/>
          <p:nvPr/>
        </p:nvSpPr>
        <p:spPr>
          <a:xfrm>
            <a:off x="4479799" y="2302039"/>
            <a:ext cx="30224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</a:pPr>
            <a:r>
              <a:rPr lang="en-US" altLang="en-US" sz="6000" dirty="0">
                <a:solidFill>
                  <a:srgbClr val="C00000"/>
                </a:solidFill>
              </a:rPr>
              <a:t>WRONG!</a:t>
            </a: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333A7959-1FA8-47B8-8A51-485774FE1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8150" y="3357911"/>
            <a:ext cx="6548438" cy="105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/>
              <a:t>  First Law of Performance:</a:t>
            </a:r>
          </a:p>
          <a:p>
            <a:pPr lvl="1">
              <a:spcBef>
                <a:spcPct val="20000"/>
              </a:spcBef>
            </a:pPr>
            <a:r>
              <a:rPr lang="en-US" altLang="en-US" sz="3600" dirty="0"/>
              <a:t>Make the common case </a:t>
            </a:r>
            <a:r>
              <a:rPr lang="en-US" altLang="en-US" sz="3600" dirty="0">
                <a:solidFill>
                  <a:srgbClr val="C00000"/>
                </a:solidFill>
              </a:rPr>
              <a:t>fast</a:t>
            </a:r>
          </a:p>
        </p:txBody>
      </p:sp>
      <p:sp>
        <p:nvSpPr>
          <p:cNvPr id="12" name="Text Box 286">
            <a:extLst>
              <a:ext uri="{FF2B5EF4-FFF2-40B4-BE49-F238E27FC236}">
                <a16:creationId xmlns:a16="http://schemas.microsoft.com/office/drawing/2014/main" id="{F942F45F-576F-43CC-AEA2-91F262A25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8150" y="4428845"/>
            <a:ext cx="7577138" cy="1425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/>
              <a:t>  Second Law of Performance: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en-US" sz="3600" dirty="0"/>
              <a:t>Make the fast case </a:t>
            </a:r>
            <a:r>
              <a:rPr lang="en-US" altLang="en-US" sz="3600" dirty="0">
                <a:solidFill>
                  <a:srgbClr val="C00000"/>
                </a:solidFill>
              </a:rPr>
              <a:t>common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dirty="0">
                <a:solidFill>
                  <a:srgbClr val="C00000"/>
                </a:solidFill>
              </a:rPr>
              <a:t>Amdahl’s law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98DC1ED-2058-4368-9BD9-F394ADAF50BD}"/>
              </a:ext>
            </a:extLst>
          </p:cNvPr>
          <p:cNvSpPr/>
          <p:nvPr/>
        </p:nvSpPr>
        <p:spPr>
          <a:xfrm>
            <a:off x="1155618" y="5735525"/>
            <a:ext cx="9670856" cy="723805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758C3E-51E2-4038-9E15-8878330CC403}"/>
              </a:ext>
            </a:extLst>
          </p:cNvPr>
          <p:cNvSpPr txBox="1"/>
          <p:nvPr/>
        </p:nvSpPr>
        <p:spPr>
          <a:xfrm>
            <a:off x="1155618" y="5812713"/>
            <a:ext cx="10689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What if your program is not memory intensive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8C4557-6E21-495C-BDDC-D3420EEEA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626" y="5954757"/>
            <a:ext cx="1086584" cy="72380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E6B74CF-C441-C3CA-E1CC-114F5673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0950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  <p:bldP spid="12" grpId="0"/>
      <p:bldP spid="13" grpId="0" animBg="1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0584C-E3DE-6A09-B283-5497B9AF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600"/>
              <a:t>Do not ignore the uncommon too </a:t>
            </a:r>
            <a:endParaRPr lang="en-IN" sz="4600"/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217DA-1F6A-28B8-2526-4B8948DE6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800" dirty="0"/>
              <a:t>Give me an example for a credit point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endParaRPr lang="en-IN" sz="2800" dirty="0"/>
          </a:p>
        </p:txBody>
      </p:sp>
      <p:pic>
        <p:nvPicPr>
          <p:cNvPr id="14" name="Picture 6" descr="Hot chocolate in a cafe facing window">
            <a:extLst>
              <a:ext uri="{FF2B5EF4-FFF2-40B4-BE49-F238E27FC236}">
                <a16:creationId xmlns:a16="http://schemas.microsoft.com/office/drawing/2014/main" id="{71FC58DA-7872-535D-EC40-F678B81CF2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83" r="13964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2C299-C680-C6CB-69B0-7898F5E0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IN" sz="1800">
                <a:solidFill>
                  <a:srgbClr val="FFFFFF"/>
                </a:solidFill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C3A9D-7056-BDFE-327D-648AC60F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25</a:t>
            </a:fld>
            <a:endParaRPr lang="en-IN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24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gnifying glass on clear background">
            <a:extLst>
              <a:ext uri="{FF2B5EF4-FFF2-40B4-BE49-F238E27FC236}">
                <a16:creationId xmlns:a16="http://schemas.microsoft.com/office/drawing/2014/main" id="{66216E33-D36A-95C7-F00A-FC40DC785E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BC7E8-0757-58EE-6B15-0226E50A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9272016" cy="152098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Let’s Pause and understand: 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The game of “common” and “uncommon”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EDF5D-1C99-E3BC-955D-03F4C9DE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2058B-CABE-2A9E-6A13-61F9ED9F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26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759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9E04CA-8512-D2E9-7658-0D0FBE82E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Do not</a:t>
            </a:r>
            <a:endParaRPr lang="en-IN" sz="480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EAE5-F626-0D65-B23A-B2C3739F3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040112" y="4032504"/>
            <a:ext cx="3657600" cy="6400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IN" sz="1000">
                <a:solidFill>
                  <a:schemeClr val="tx2"/>
                </a:solidFill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D6DCC-017D-F5AD-A10B-89E180A5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872" y="6217920"/>
            <a:ext cx="640080" cy="64008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B8651ABE-1138-46C6-9A43-7FCD4EB2550C}" type="slidenum">
              <a:rPr lang="en-IN" sz="1600">
                <a:solidFill>
                  <a:schemeClr val="tx2"/>
                </a:solidFill>
              </a:rPr>
              <a:pPr algn="ctr">
                <a:spcAft>
                  <a:spcPts val="600"/>
                </a:spcAft>
              </a:pPr>
              <a:t>27</a:t>
            </a:fld>
            <a:endParaRPr lang="en-IN" sz="160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524C325-C4C0-9CA5-3DFD-C0F1462DF8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384606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7623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6661E-FF88-4467-B2F7-210653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10,000 Feet View on Caches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93A09-7F71-49FD-B578-B807F0FE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1FD92-6B4B-4F7E-ADCD-6EC18FE22C7F}" type="slidenum">
              <a:rPr lang="en-IN" smtClean="0"/>
              <a:t>28</a:t>
            </a:fld>
            <a:endParaRPr lang="en-IN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17B6A65-8B92-4119-AA36-3899FAE47A14}"/>
              </a:ext>
            </a:extLst>
          </p:cNvPr>
          <p:cNvGraphicFramePr>
            <a:graphicFrameLocks/>
          </p:cNvGraphicFramePr>
          <p:nvPr/>
        </p:nvGraphicFramePr>
        <p:xfrm>
          <a:off x="343569" y="1773942"/>
          <a:ext cx="8421687" cy="4728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961EF7-B79A-4B06-9D3A-000156C1A52F}"/>
              </a:ext>
            </a:extLst>
          </p:cNvPr>
          <p:cNvSpPr/>
          <p:nvPr/>
        </p:nvSpPr>
        <p:spPr>
          <a:xfrm>
            <a:off x="7320091" y="1555145"/>
            <a:ext cx="4317728" cy="1256513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D4C27-925E-422C-821A-4B97480F591D}"/>
              </a:ext>
            </a:extLst>
          </p:cNvPr>
          <p:cNvSpPr txBox="1"/>
          <p:nvPr/>
        </p:nvSpPr>
        <p:spPr>
          <a:xfrm>
            <a:off x="7359209" y="1636900"/>
            <a:ext cx="43177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$$: Cache</a:t>
            </a:r>
          </a:p>
          <a:p>
            <a:r>
              <a:rPr lang="en-IN" sz="3200" dirty="0"/>
              <a:t>Speculation technique</a:t>
            </a:r>
          </a:p>
          <a:p>
            <a:endParaRPr lang="en-IN" sz="3200" dirty="0"/>
          </a:p>
        </p:txBody>
      </p:sp>
      <p:pic>
        <p:nvPicPr>
          <p:cNvPr id="2050" name="Picture 2" descr="Image result for smiley confused image">
            <a:extLst>
              <a:ext uri="{FF2B5EF4-FFF2-40B4-BE49-F238E27FC236}">
                <a16:creationId xmlns:a16="http://schemas.microsoft.com/office/drawing/2014/main" id="{99BBCAC5-3251-40AB-A6FC-B1C17CBEA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8451" y="2880708"/>
            <a:ext cx="1499980" cy="147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E3E5CA-A598-4C73-B51A-0B5F7CDAB898}"/>
              </a:ext>
            </a:extLst>
          </p:cNvPr>
          <p:cNvSpPr/>
          <p:nvPr/>
        </p:nvSpPr>
        <p:spPr>
          <a:xfrm>
            <a:off x="7320091" y="5090450"/>
            <a:ext cx="4317728" cy="1256513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511C9E-1EA4-4BE1-A04B-2F95DBE1A5E7}"/>
              </a:ext>
            </a:extLst>
          </p:cNvPr>
          <p:cNvSpPr txBox="1"/>
          <p:nvPr/>
        </p:nvSpPr>
        <p:spPr>
          <a:xfrm>
            <a:off x="7359209" y="5172205"/>
            <a:ext cx="43177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Speculation works because of </a:t>
            </a:r>
            <a:r>
              <a:rPr lang="en-IN" sz="3200" dirty="0">
                <a:solidFill>
                  <a:srgbClr val="C00000"/>
                </a:solidFill>
              </a:rPr>
              <a:t>locality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073E84-E0E6-5AC4-5E5E-6A5E08C1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6523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/>
      <p:bldP spid="9" grpId="0" animBg="1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view of a puzzle game">
            <a:extLst>
              <a:ext uri="{FF2B5EF4-FFF2-40B4-BE49-F238E27FC236}">
                <a16:creationId xmlns:a16="http://schemas.microsoft.com/office/drawing/2014/main" id="{BAF940B3-188B-0FC0-7EBF-D4445B2D5B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0" b="1495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035F5-7110-14B5-29BA-853E54D5D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Caches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16FD1-AC97-9020-CEBB-E97E120F8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Hardware hash tables </a:t>
            </a:r>
            <a:r>
              <a:rPr lang="en-US" sz="3200" dirty="0">
                <a:solidFill>
                  <a:srgbClr val="FFFFFF"/>
                </a:solidFill>
                <a:sym typeface="Wingdings" panose="05000000000000000000" pitchFamily="2" charset="2"/>
              </a:rPr>
              <a:t></a:t>
            </a:r>
          </a:p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sym typeface="Wingdings" panose="05000000000000000000" pitchFamily="2" charset="2"/>
              </a:rPr>
              <a:t>Catch </a:t>
            </a:r>
            <a:r>
              <a:rPr lang="en-US" sz="3200">
                <a:solidFill>
                  <a:srgbClr val="FFFFFF"/>
                </a:solidFill>
                <a:sym typeface="Wingdings" panose="05000000000000000000" pitchFamily="2" charset="2"/>
              </a:rPr>
              <a:t>the cache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1CC11-776C-ABF8-F357-FF107B72F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1F53F-E922-ECCD-21AE-3B7E709E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29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34395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CC85-CEDF-0EE5-87EE-AC205460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054A5-E888-23C7-A654-A1A11206A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IPC/CPI </a:t>
            </a:r>
          </a:p>
          <a:p>
            <a:r>
              <a:rPr lang="en-US" dirty="0"/>
              <a:t>Latency/Bandwidth </a:t>
            </a:r>
          </a:p>
          <a:p>
            <a:r>
              <a:rPr lang="en-US" dirty="0"/>
              <a:t>Common case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E6246-91AD-519A-DC83-B0E71238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0F75E-5031-2E90-95BC-4EBFDA4F7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49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43928</TotalTime>
  <Words>917</Words>
  <Application>Microsoft Office PowerPoint</Application>
  <PresentationFormat>Widescreen</PresentationFormat>
  <Paragraphs>217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Arial MT</vt:lpstr>
      <vt:lpstr>Calibri</vt:lpstr>
      <vt:lpstr>Calibri Light</vt:lpstr>
      <vt:lpstr>Cambria</vt:lpstr>
      <vt:lpstr>Courier New</vt:lpstr>
      <vt:lpstr>Times New Roman</vt:lpstr>
      <vt:lpstr>Trebuchet MS</vt:lpstr>
      <vt:lpstr>Wingdings</vt:lpstr>
      <vt:lpstr>Office Theme</vt:lpstr>
      <vt:lpstr>Clip</vt:lpstr>
      <vt:lpstr>CS683: Advanced Computer Architecture-2024</vt:lpstr>
      <vt:lpstr>Phones (smart/non-smart) on silence plz, Thanks </vt:lpstr>
      <vt:lpstr>Join Piazza if you are part of CS683 </vt:lpstr>
      <vt:lpstr>Programmer’s view</vt:lpstr>
      <vt:lpstr>PowerPoint Presentation</vt:lpstr>
      <vt:lpstr>Performance</vt:lpstr>
      <vt:lpstr>PowerPoint Presentation</vt:lpstr>
      <vt:lpstr>Performance</vt:lpstr>
      <vt:lpstr>Example</vt:lpstr>
      <vt:lpstr>Which one is better? Why?</vt:lpstr>
      <vt:lpstr>Spell it out</vt:lpstr>
      <vt:lpstr>Cycles per Instruction</vt:lpstr>
      <vt:lpstr>From Theory to Practice: Performance-101</vt:lpstr>
      <vt:lpstr>Language: No Big Deal!! AI/ML &amp;&amp; Python  </vt:lpstr>
      <vt:lpstr>OK. So??</vt:lpstr>
      <vt:lpstr>Seriously??</vt:lpstr>
      <vt:lpstr>That’s It!! You can’t do better </vt:lpstr>
      <vt:lpstr>What the hell? This is insane !!</vt:lpstr>
      <vt:lpstr>PowerPoint Presentation</vt:lpstr>
      <vt:lpstr>Welcome to CS683, again !! </vt:lpstr>
      <vt:lpstr>Let’s Jump into Memory Hierarchy, why?</vt:lpstr>
      <vt:lpstr>From where does these zeros come from?</vt:lpstr>
      <vt:lpstr>The game of latency and bandwidth starts</vt:lpstr>
      <vt:lpstr>Hang on!! I got the Mantra!! </vt:lpstr>
      <vt:lpstr>Do not ignore the uncommon too </vt:lpstr>
      <vt:lpstr>Let’s Pause and understand:   The game of “common” and “uncommon”</vt:lpstr>
      <vt:lpstr>Do not</vt:lpstr>
      <vt:lpstr>10,000 Feet View on Caches</vt:lpstr>
      <vt:lpstr>Caches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907</cp:revision>
  <dcterms:created xsi:type="dcterms:W3CDTF">2021-05-31T06:57:48Z</dcterms:created>
  <dcterms:modified xsi:type="dcterms:W3CDTF">2024-08-02T10:48:08Z</dcterms:modified>
</cp:coreProperties>
</file>