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7713" r:id="rId3"/>
    <p:sldId id="7756" r:id="rId4"/>
    <p:sldId id="7726" r:id="rId5"/>
    <p:sldId id="7727" r:id="rId6"/>
    <p:sldId id="7729" r:id="rId7"/>
    <p:sldId id="7907" r:id="rId8"/>
    <p:sldId id="7730" r:id="rId9"/>
    <p:sldId id="7731" r:id="rId10"/>
    <p:sldId id="7733" r:id="rId11"/>
    <p:sldId id="7734" r:id="rId12"/>
    <p:sldId id="7759" r:id="rId13"/>
    <p:sldId id="7760" r:id="rId14"/>
    <p:sldId id="7761" r:id="rId15"/>
    <p:sldId id="7762" r:id="rId16"/>
    <p:sldId id="7763" r:id="rId17"/>
    <p:sldId id="7764" r:id="rId18"/>
    <p:sldId id="790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45" autoAdjust="0"/>
    <p:restoredTop sz="94660"/>
  </p:normalViewPr>
  <p:slideViewPr>
    <p:cSldViewPr snapToGrid="0">
      <p:cViewPr varScale="1">
        <p:scale>
          <a:sx n="76" d="100"/>
          <a:sy n="76" d="100"/>
        </p:scale>
        <p:origin x="40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Computer Architecture-2024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603544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L6-Cache Management Techniques and Hardware Prefetching!!</a:t>
            </a: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https://www.cse.iitb.ac.in/~biswa/courses.html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Mobile device with apps">
            <a:extLst>
              <a:ext uri="{FF2B5EF4-FFF2-40B4-BE49-F238E27FC236}">
                <a16:creationId xmlns:a16="http://schemas.microsoft.com/office/drawing/2014/main" id="{499258FC-0B4F-B55F-8BE7-27FDBBECB2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66" t="9091" r="7497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1FD530-68E2-E9B7-6F08-048EC5C5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1122363"/>
            <a:ext cx="6654339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Phones (smart/non-smart) on silence plz, Thanks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C138F-E156-6AB7-33C7-AD41381E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CAD9A-A941-12C0-CA7F-8C702A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1985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Graph on document with pen">
            <a:extLst>
              <a:ext uri="{FF2B5EF4-FFF2-40B4-BE49-F238E27FC236}">
                <a16:creationId xmlns:a16="http://schemas.microsoft.com/office/drawing/2014/main" id="{BD83B350-44A8-3239-E15F-C260113E4D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510" b="1422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C78D9A-2C96-0CAE-E879-A37CF4AE3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Reducing Miss rate (MPKI)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51B8B1-78F7-9F44-7E3B-FD4DE5922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2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5C4F1-7EBE-C38E-0EE6-019392507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72409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EBAF7-B981-3A84-93C7-883686FA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Content Management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759772-B1FF-88E6-FB9F-73FA2E60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CCA843-09A1-D912-8DF8-E9BE788CC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4</a:t>
            </a:fld>
            <a:endParaRPr lang="en-IN" dirty="0"/>
          </a:p>
        </p:txBody>
      </p:sp>
      <p:grpSp>
        <p:nvGrpSpPr>
          <p:cNvPr id="6" name="object 2">
            <a:extLst>
              <a:ext uri="{FF2B5EF4-FFF2-40B4-BE49-F238E27FC236}">
                <a16:creationId xmlns:a16="http://schemas.microsoft.com/office/drawing/2014/main" id="{C6120722-D4A0-8BBD-EA31-1D6B93C14621}"/>
              </a:ext>
            </a:extLst>
          </p:cNvPr>
          <p:cNvGrpSpPr/>
          <p:nvPr/>
        </p:nvGrpSpPr>
        <p:grpSpPr>
          <a:xfrm>
            <a:off x="1257301" y="2220100"/>
            <a:ext cx="8153400" cy="1066800"/>
            <a:chOff x="1257301" y="1813572"/>
            <a:chExt cx="8153400" cy="1066800"/>
          </a:xfrm>
        </p:grpSpPr>
        <p:pic>
          <p:nvPicPr>
            <p:cNvPr id="7" name="object 3">
              <a:extLst>
                <a:ext uri="{FF2B5EF4-FFF2-40B4-BE49-F238E27FC236}">
                  <a16:creationId xmlns:a16="http://schemas.microsoft.com/office/drawing/2014/main" id="{09B808F8-CAA4-1964-F7E9-A39C6B9DA5C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301" y="1813572"/>
              <a:ext cx="8153396" cy="1066774"/>
            </a:xfrm>
            <a:prstGeom prst="rect">
              <a:avLst/>
            </a:prstGeom>
          </p:spPr>
        </p:pic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05E610CB-3ED7-4B02-EA1F-B82ED62301ED}"/>
                </a:ext>
              </a:extLst>
            </p:cNvPr>
            <p:cNvSpPr/>
            <p:nvPr/>
          </p:nvSpPr>
          <p:spPr>
            <a:xfrm>
              <a:off x="1295400" y="1828799"/>
              <a:ext cx="8077200" cy="990600"/>
            </a:xfrm>
            <a:custGeom>
              <a:avLst/>
              <a:gdLst/>
              <a:ahLst/>
              <a:cxnLst/>
              <a:rect l="l" t="t" r="r" b="b"/>
              <a:pathLst>
                <a:path w="8077200" h="990600">
                  <a:moveTo>
                    <a:pt x="79121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7912100" y="990600"/>
                  </a:lnTo>
                  <a:lnTo>
                    <a:pt x="7955991" y="984702"/>
                  </a:lnTo>
                  <a:lnTo>
                    <a:pt x="7995430" y="968059"/>
                  </a:lnTo>
                  <a:lnTo>
                    <a:pt x="8028844" y="942244"/>
                  </a:lnTo>
                  <a:lnTo>
                    <a:pt x="8054659" y="908830"/>
                  </a:lnTo>
                  <a:lnTo>
                    <a:pt x="8071302" y="869391"/>
                  </a:lnTo>
                  <a:lnTo>
                    <a:pt x="8077200" y="825500"/>
                  </a:lnTo>
                  <a:lnTo>
                    <a:pt x="8077200" y="165100"/>
                  </a:lnTo>
                  <a:lnTo>
                    <a:pt x="8071302" y="121208"/>
                  </a:lnTo>
                  <a:lnTo>
                    <a:pt x="8054659" y="81769"/>
                  </a:lnTo>
                  <a:lnTo>
                    <a:pt x="8028844" y="48355"/>
                  </a:lnTo>
                  <a:lnTo>
                    <a:pt x="7995430" y="22540"/>
                  </a:lnTo>
                  <a:lnTo>
                    <a:pt x="7955991" y="5897"/>
                  </a:lnTo>
                  <a:lnTo>
                    <a:pt x="7912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8ACCA8EB-FC09-9F29-44A4-634C92CAABFE}"/>
                </a:ext>
              </a:extLst>
            </p:cNvPr>
            <p:cNvSpPr/>
            <p:nvPr/>
          </p:nvSpPr>
          <p:spPr>
            <a:xfrm>
              <a:off x="1295400" y="1828799"/>
              <a:ext cx="8077200" cy="990600"/>
            </a:xfrm>
            <a:custGeom>
              <a:avLst/>
              <a:gdLst/>
              <a:ahLst/>
              <a:cxnLst/>
              <a:rect l="l" t="t" r="r" b="b"/>
              <a:pathLst>
                <a:path w="80772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7912100" y="0"/>
                  </a:lnTo>
                  <a:lnTo>
                    <a:pt x="7955991" y="5897"/>
                  </a:lnTo>
                  <a:lnTo>
                    <a:pt x="7995430" y="22540"/>
                  </a:lnTo>
                  <a:lnTo>
                    <a:pt x="8028844" y="48355"/>
                  </a:lnTo>
                  <a:lnTo>
                    <a:pt x="8054659" y="81769"/>
                  </a:lnTo>
                  <a:lnTo>
                    <a:pt x="8071302" y="121208"/>
                  </a:lnTo>
                  <a:lnTo>
                    <a:pt x="8077200" y="165100"/>
                  </a:lnTo>
                  <a:lnTo>
                    <a:pt x="8077200" y="825500"/>
                  </a:lnTo>
                  <a:lnTo>
                    <a:pt x="8071302" y="869391"/>
                  </a:lnTo>
                  <a:lnTo>
                    <a:pt x="8054659" y="908830"/>
                  </a:lnTo>
                  <a:lnTo>
                    <a:pt x="8028844" y="942244"/>
                  </a:lnTo>
                  <a:lnTo>
                    <a:pt x="7995430" y="968059"/>
                  </a:lnTo>
                  <a:lnTo>
                    <a:pt x="7955991" y="984702"/>
                  </a:lnTo>
                  <a:lnTo>
                    <a:pt x="79121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8">
            <a:extLst>
              <a:ext uri="{FF2B5EF4-FFF2-40B4-BE49-F238E27FC236}">
                <a16:creationId xmlns:a16="http://schemas.microsoft.com/office/drawing/2014/main" id="{1C534A84-DF08-E6E6-3B0C-E0C836685AD6}"/>
              </a:ext>
            </a:extLst>
          </p:cNvPr>
          <p:cNvGrpSpPr/>
          <p:nvPr/>
        </p:nvGrpSpPr>
        <p:grpSpPr>
          <a:xfrm>
            <a:off x="265175" y="1278255"/>
            <a:ext cx="11440795" cy="1216660"/>
            <a:chOff x="265175" y="871727"/>
            <a:chExt cx="11440795" cy="1216660"/>
          </a:xfrm>
        </p:grpSpPr>
        <p:pic>
          <p:nvPicPr>
            <p:cNvPr id="11" name="object 19">
              <a:extLst>
                <a:ext uri="{FF2B5EF4-FFF2-40B4-BE49-F238E27FC236}">
                  <a16:creationId xmlns:a16="http://schemas.microsoft.com/office/drawing/2014/main" id="{888D3645-55F0-0664-E20C-2B02638203B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5" y="966215"/>
              <a:ext cx="11372088" cy="925067"/>
            </a:xfrm>
            <a:prstGeom prst="rect">
              <a:avLst/>
            </a:prstGeom>
          </p:spPr>
        </p:pic>
        <p:pic>
          <p:nvPicPr>
            <p:cNvPr id="12" name="object 20">
              <a:extLst>
                <a:ext uri="{FF2B5EF4-FFF2-40B4-BE49-F238E27FC236}">
                  <a16:creationId xmlns:a16="http://schemas.microsoft.com/office/drawing/2014/main" id="{985E084B-F103-CE01-5F5B-BFAA84E65A0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75" y="871727"/>
              <a:ext cx="10238232" cy="1216152"/>
            </a:xfrm>
            <a:prstGeom prst="rect">
              <a:avLst/>
            </a:prstGeom>
          </p:spPr>
        </p:pic>
        <p:sp>
          <p:nvSpPr>
            <p:cNvPr id="13" name="object 21">
              <a:extLst>
                <a:ext uri="{FF2B5EF4-FFF2-40B4-BE49-F238E27FC236}">
                  <a16:creationId xmlns:a16="http://schemas.microsoft.com/office/drawing/2014/main" id="{980F5961-9272-E242-2EAB-34624772D18A}"/>
                </a:ext>
              </a:extLst>
            </p:cNvPr>
            <p:cNvSpPr/>
            <p:nvPr/>
          </p:nvSpPr>
          <p:spPr>
            <a:xfrm>
              <a:off x="380999" y="990599"/>
              <a:ext cx="11277600" cy="830580"/>
            </a:xfrm>
            <a:custGeom>
              <a:avLst/>
              <a:gdLst/>
              <a:ahLst/>
              <a:cxnLst/>
              <a:rect l="l" t="t" r="r" b="b"/>
              <a:pathLst>
                <a:path w="11277600" h="830580">
                  <a:moveTo>
                    <a:pt x="11139170" y="0"/>
                  </a:moveTo>
                  <a:lnTo>
                    <a:pt x="138379" y="0"/>
                  </a:lnTo>
                  <a:lnTo>
                    <a:pt x="94639" y="7057"/>
                  </a:lnTo>
                  <a:lnTo>
                    <a:pt x="56652" y="26708"/>
                  </a:lnTo>
                  <a:lnTo>
                    <a:pt x="26698" y="56674"/>
                  </a:lnTo>
                  <a:lnTo>
                    <a:pt x="7054" y="94674"/>
                  </a:lnTo>
                  <a:lnTo>
                    <a:pt x="0" y="138429"/>
                  </a:lnTo>
                  <a:lnTo>
                    <a:pt x="0" y="691896"/>
                  </a:lnTo>
                  <a:lnTo>
                    <a:pt x="7054" y="735637"/>
                  </a:lnTo>
                  <a:lnTo>
                    <a:pt x="26698" y="773606"/>
                  </a:lnTo>
                  <a:lnTo>
                    <a:pt x="56652" y="803535"/>
                  </a:lnTo>
                  <a:lnTo>
                    <a:pt x="94639" y="823155"/>
                  </a:lnTo>
                  <a:lnTo>
                    <a:pt x="138379" y="830199"/>
                  </a:lnTo>
                  <a:lnTo>
                    <a:pt x="11139170" y="830199"/>
                  </a:lnTo>
                  <a:lnTo>
                    <a:pt x="11182925" y="823155"/>
                  </a:lnTo>
                  <a:lnTo>
                    <a:pt x="11220925" y="803535"/>
                  </a:lnTo>
                  <a:lnTo>
                    <a:pt x="11250891" y="773606"/>
                  </a:lnTo>
                  <a:lnTo>
                    <a:pt x="11270542" y="735637"/>
                  </a:lnTo>
                  <a:lnTo>
                    <a:pt x="11277600" y="691896"/>
                  </a:lnTo>
                  <a:lnTo>
                    <a:pt x="11277600" y="138429"/>
                  </a:lnTo>
                  <a:lnTo>
                    <a:pt x="11270542" y="94674"/>
                  </a:lnTo>
                  <a:lnTo>
                    <a:pt x="11250891" y="56674"/>
                  </a:lnTo>
                  <a:lnTo>
                    <a:pt x="11220925" y="26708"/>
                  </a:lnTo>
                  <a:lnTo>
                    <a:pt x="11182925" y="7057"/>
                  </a:lnTo>
                  <a:lnTo>
                    <a:pt x="1113917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22">
              <a:extLst>
                <a:ext uri="{FF2B5EF4-FFF2-40B4-BE49-F238E27FC236}">
                  <a16:creationId xmlns:a16="http://schemas.microsoft.com/office/drawing/2014/main" id="{D4C616CF-A9D4-F34B-EE6D-8C816718E22A}"/>
                </a:ext>
              </a:extLst>
            </p:cNvPr>
            <p:cNvSpPr/>
            <p:nvPr/>
          </p:nvSpPr>
          <p:spPr>
            <a:xfrm>
              <a:off x="380999" y="990599"/>
              <a:ext cx="11277600" cy="830580"/>
            </a:xfrm>
            <a:custGeom>
              <a:avLst/>
              <a:gdLst/>
              <a:ahLst/>
              <a:cxnLst/>
              <a:rect l="l" t="t" r="r" b="b"/>
              <a:pathLst>
                <a:path w="11277600" h="830580">
                  <a:moveTo>
                    <a:pt x="0" y="138429"/>
                  </a:moveTo>
                  <a:lnTo>
                    <a:pt x="7054" y="94674"/>
                  </a:lnTo>
                  <a:lnTo>
                    <a:pt x="26698" y="56674"/>
                  </a:lnTo>
                  <a:lnTo>
                    <a:pt x="56652" y="26708"/>
                  </a:lnTo>
                  <a:lnTo>
                    <a:pt x="94639" y="7057"/>
                  </a:lnTo>
                  <a:lnTo>
                    <a:pt x="138379" y="0"/>
                  </a:lnTo>
                  <a:lnTo>
                    <a:pt x="11139170" y="0"/>
                  </a:lnTo>
                  <a:lnTo>
                    <a:pt x="11182925" y="7057"/>
                  </a:lnTo>
                  <a:lnTo>
                    <a:pt x="11220925" y="26708"/>
                  </a:lnTo>
                  <a:lnTo>
                    <a:pt x="11250891" y="56674"/>
                  </a:lnTo>
                  <a:lnTo>
                    <a:pt x="11270542" y="94674"/>
                  </a:lnTo>
                  <a:lnTo>
                    <a:pt x="11277600" y="138429"/>
                  </a:lnTo>
                  <a:lnTo>
                    <a:pt x="11277600" y="691896"/>
                  </a:lnTo>
                  <a:lnTo>
                    <a:pt x="11270542" y="735637"/>
                  </a:lnTo>
                  <a:lnTo>
                    <a:pt x="11250891" y="773606"/>
                  </a:lnTo>
                  <a:lnTo>
                    <a:pt x="11220925" y="803535"/>
                  </a:lnTo>
                  <a:lnTo>
                    <a:pt x="11182925" y="823155"/>
                  </a:lnTo>
                  <a:lnTo>
                    <a:pt x="11139170" y="830199"/>
                  </a:lnTo>
                  <a:lnTo>
                    <a:pt x="138379" y="830199"/>
                  </a:lnTo>
                  <a:lnTo>
                    <a:pt x="94639" y="823155"/>
                  </a:lnTo>
                  <a:lnTo>
                    <a:pt x="56652" y="803535"/>
                  </a:lnTo>
                  <a:lnTo>
                    <a:pt x="26698" y="773606"/>
                  </a:lnTo>
                  <a:lnTo>
                    <a:pt x="7054" y="735637"/>
                  </a:lnTo>
                  <a:lnTo>
                    <a:pt x="0" y="691896"/>
                  </a:lnTo>
                  <a:lnTo>
                    <a:pt x="0" y="13842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23">
            <a:extLst>
              <a:ext uri="{FF2B5EF4-FFF2-40B4-BE49-F238E27FC236}">
                <a16:creationId xmlns:a16="http://schemas.microsoft.com/office/drawing/2014/main" id="{016ECD2A-F4FA-67F5-E63E-23D88C23F9E1}"/>
              </a:ext>
            </a:extLst>
          </p:cNvPr>
          <p:cNvGrpSpPr/>
          <p:nvPr/>
        </p:nvGrpSpPr>
        <p:grpSpPr>
          <a:xfrm>
            <a:off x="265175" y="3294523"/>
            <a:ext cx="11431905" cy="1906905"/>
            <a:chOff x="265175" y="2887995"/>
            <a:chExt cx="11431905" cy="1906905"/>
          </a:xfrm>
        </p:grpSpPr>
        <p:pic>
          <p:nvPicPr>
            <p:cNvPr id="16" name="object 24">
              <a:extLst>
                <a:ext uri="{FF2B5EF4-FFF2-40B4-BE49-F238E27FC236}">
                  <a16:creationId xmlns:a16="http://schemas.microsoft.com/office/drawing/2014/main" id="{FB91E242-E175-54F7-2C26-AFD092D261F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901" y="2887995"/>
              <a:ext cx="11353797" cy="906749"/>
            </a:xfrm>
            <a:prstGeom prst="rect">
              <a:avLst/>
            </a:prstGeom>
          </p:spPr>
        </p:pic>
        <p:pic>
          <p:nvPicPr>
            <p:cNvPr id="17" name="object 25">
              <a:extLst>
                <a:ext uri="{FF2B5EF4-FFF2-40B4-BE49-F238E27FC236}">
                  <a16:creationId xmlns:a16="http://schemas.microsoft.com/office/drawing/2014/main" id="{25B5DC56-6A41-6F19-1620-A31423C6228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175" y="2991611"/>
              <a:ext cx="9037320" cy="804671"/>
            </a:xfrm>
            <a:prstGeom prst="rect">
              <a:avLst/>
            </a:prstGeom>
          </p:spPr>
        </p:pic>
        <p:sp>
          <p:nvSpPr>
            <p:cNvPr id="18" name="object 26">
              <a:extLst>
                <a:ext uri="{FF2B5EF4-FFF2-40B4-BE49-F238E27FC236}">
                  <a16:creationId xmlns:a16="http://schemas.microsoft.com/office/drawing/2014/main" id="{DA043F5F-CFE6-70D5-E2E6-978F1D21E5F0}"/>
                </a:ext>
              </a:extLst>
            </p:cNvPr>
            <p:cNvSpPr/>
            <p:nvPr/>
          </p:nvSpPr>
          <p:spPr>
            <a:xfrm>
              <a:off x="380999" y="2903600"/>
              <a:ext cx="11277600" cy="830580"/>
            </a:xfrm>
            <a:custGeom>
              <a:avLst/>
              <a:gdLst/>
              <a:ahLst/>
              <a:cxnLst/>
              <a:rect l="l" t="t" r="r" b="b"/>
              <a:pathLst>
                <a:path w="11277600" h="830579">
                  <a:moveTo>
                    <a:pt x="11139170" y="0"/>
                  </a:moveTo>
                  <a:lnTo>
                    <a:pt x="138379" y="0"/>
                  </a:lnTo>
                  <a:lnTo>
                    <a:pt x="94639" y="7043"/>
                  </a:lnTo>
                  <a:lnTo>
                    <a:pt x="56652" y="26663"/>
                  </a:lnTo>
                  <a:lnTo>
                    <a:pt x="26698" y="56592"/>
                  </a:lnTo>
                  <a:lnTo>
                    <a:pt x="7054" y="94561"/>
                  </a:lnTo>
                  <a:lnTo>
                    <a:pt x="0" y="138302"/>
                  </a:lnTo>
                  <a:lnTo>
                    <a:pt x="0" y="691769"/>
                  </a:lnTo>
                  <a:lnTo>
                    <a:pt x="7054" y="735524"/>
                  </a:lnTo>
                  <a:lnTo>
                    <a:pt x="26698" y="773524"/>
                  </a:lnTo>
                  <a:lnTo>
                    <a:pt x="56652" y="803490"/>
                  </a:lnTo>
                  <a:lnTo>
                    <a:pt x="94639" y="823141"/>
                  </a:lnTo>
                  <a:lnTo>
                    <a:pt x="138379" y="830199"/>
                  </a:lnTo>
                  <a:lnTo>
                    <a:pt x="11139170" y="830199"/>
                  </a:lnTo>
                  <a:lnTo>
                    <a:pt x="11182925" y="823141"/>
                  </a:lnTo>
                  <a:lnTo>
                    <a:pt x="11220925" y="803490"/>
                  </a:lnTo>
                  <a:lnTo>
                    <a:pt x="11250891" y="773524"/>
                  </a:lnTo>
                  <a:lnTo>
                    <a:pt x="11270542" y="735524"/>
                  </a:lnTo>
                  <a:lnTo>
                    <a:pt x="11277600" y="691769"/>
                  </a:lnTo>
                  <a:lnTo>
                    <a:pt x="11277600" y="138302"/>
                  </a:lnTo>
                  <a:lnTo>
                    <a:pt x="11270542" y="94561"/>
                  </a:lnTo>
                  <a:lnTo>
                    <a:pt x="11250891" y="56592"/>
                  </a:lnTo>
                  <a:lnTo>
                    <a:pt x="11220925" y="26663"/>
                  </a:lnTo>
                  <a:lnTo>
                    <a:pt x="11182925" y="7043"/>
                  </a:lnTo>
                  <a:lnTo>
                    <a:pt x="1113917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7">
              <a:extLst>
                <a:ext uri="{FF2B5EF4-FFF2-40B4-BE49-F238E27FC236}">
                  <a16:creationId xmlns:a16="http://schemas.microsoft.com/office/drawing/2014/main" id="{CBECAD76-4DF2-83BE-EC8B-130EB2E903D5}"/>
                </a:ext>
              </a:extLst>
            </p:cNvPr>
            <p:cNvSpPr/>
            <p:nvPr/>
          </p:nvSpPr>
          <p:spPr>
            <a:xfrm>
              <a:off x="380999" y="2903600"/>
              <a:ext cx="11277600" cy="830580"/>
            </a:xfrm>
            <a:custGeom>
              <a:avLst/>
              <a:gdLst/>
              <a:ahLst/>
              <a:cxnLst/>
              <a:rect l="l" t="t" r="r" b="b"/>
              <a:pathLst>
                <a:path w="11277600" h="830579">
                  <a:moveTo>
                    <a:pt x="0" y="138302"/>
                  </a:moveTo>
                  <a:lnTo>
                    <a:pt x="7054" y="94561"/>
                  </a:lnTo>
                  <a:lnTo>
                    <a:pt x="26698" y="56592"/>
                  </a:lnTo>
                  <a:lnTo>
                    <a:pt x="56652" y="26663"/>
                  </a:lnTo>
                  <a:lnTo>
                    <a:pt x="94639" y="7043"/>
                  </a:lnTo>
                  <a:lnTo>
                    <a:pt x="138379" y="0"/>
                  </a:lnTo>
                  <a:lnTo>
                    <a:pt x="11139170" y="0"/>
                  </a:lnTo>
                  <a:lnTo>
                    <a:pt x="11182925" y="7043"/>
                  </a:lnTo>
                  <a:lnTo>
                    <a:pt x="11220925" y="26663"/>
                  </a:lnTo>
                  <a:lnTo>
                    <a:pt x="11250891" y="56592"/>
                  </a:lnTo>
                  <a:lnTo>
                    <a:pt x="11270542" y="94561"/>
                  </a:lnTo>
                  <a:lnTo>
                    <a:pt x="11277600" y="138302"/>
                  </a:lnTo>
                  <a:lnTo>
                    <a:pt x="11277600" y="691769"/>
                  </a:lnTo>
                  <a:lnTo>
                    <a:pt x="11270542" y="735524"/>
                  </a:lnTo>
                  <a:lnTo>
                    <a:pt x="11250891" y="773524"/>
                  </a:lnTo>
                  <a:lnTo>
                    <a:pt x="11220925" y="803490"/>
                  </a:lnTo>
                  <a:lnTo>
                    <a:pt x="11182925" y="823141"/>
                  </a:lnTo>
                  <a:lnTo>
                    <a:pt x="11139170" y="830199"/>
                  </a:lnTo>
                  <a:lnTo>
                    <a:pt x="138379" y="830199"/>
                  </a:lnTo>
                  <a:lnTo>
                    <a:pt x="94639" y="823141"/>
                  </a:lnTo>
                  <a:lnTo>
                    <a:pt x="56652" y="803490"/>
                  </a:lnTo>
                  <a:lnTo>
                    <a:pt x="26698" y="773524"/>
                  </a:lnTo>
                  <a:lnTo>
                    <a:pt x="7054" y="735524"/>
                  </a:lnTo>
                  <a:lnTo>
                    <a:pt x="0" y="691769"/>
                  </a:lnTo>
                  <a:lnTo>
                    <a:pt x="0" y="13830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8">
              <a:extLst>
                <a:ext uri="{FF2B5EF4-FFF2-40B4-BE49-F238E27FC236}">
                  <a16:creationId xmlns:a16="http://schemas.microsoft.com/office/drawing/2014/main" id="{8893BFD4-ABCB-5184-E301-B1A2D5ABE029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8156" y="3709415"/>
              <a:ext cx="8171688" cy="1085088"/>
            </a:xfrm>
            <a:prstGeom prst="rect">
              <a:avLst/>
            </a:prstGeom>
          </p:spPr>
        </p:pic>
        <p:sp>
          <p:nvSpPr>
            <p:cNvPr id="21" name="object 29">
              <a:extLst>
                <a:ext uri="{FF2B5EF4-FFF2-40B4-BE49-F238E27FC236}">
                  <a16:creationId xmlns:a16="http://schemas.microsoft.com/office/drawing/2014/main" id="{48FDC895-1AF5-2EB6-FEB4-EA0B15D4BB50}"/>
                </a:ext>
              </a:extLst>
            </p:cNvPr>
            <p:cNvSpPr/>
            <p:nvPr/>
          </p:nvSpPr>
          <p:spPr>
            <a:xfrm>
              <a:off x="1295400" y="3733799"/>
              <a:ext cx="8077200" cy="990600"/>
            </a:xfrm>
            <a:custGeom>
              <a:avLst/>
              <a:gdLst/>
              <a:ahLst/>
              <a:cxnLst/>
              <a:rect l="l" t="t" r="r" b="b"/>
              <a:pathLst>
                <a:path w="8077200" h="990600">
                  <a:moveTo>
                    <a:pt x="79121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7912100" y="990600"/>
                  </a:lnTo>
                  <a:lnTo>
                    <a:pt x="7955991" y="984702"/>
                  </a:lnTo>
                  <a:lnTo>
                    <a:pt x="7995430" y="968059"/>
                  </a:lnTo>
                  <a:lnTo>
                    <a:pt x="8028844" y="942244"/>
                  </a:lnTo>
                  <a:lnTo>
                    <a:pt x="8054659" y="908830"/>
                  </a:lnTo>
                  <a:lnTo>
                    <a:pt x="8071302" y="869391"/>
                  </a:lnTo>
                  <a:lnTo>
                    <a:pt x="8077200" y="825500"/>
                  </a:lnTo>
                  <a:lnTo>
                    <a:pt x="8077200" y="165100"/>
                  </a:lnTo>
                  <a:lnTo>
                    <a:pt x="8071302" y="121208"/>
                  </a:lnTo>
                  <a:lnTo>
                    <a:pt x="8054659" y="81769"/>
                  </a:lnTo>
                  <a:lnTo>
                    <a:pt x="8028844" y="48355"/>
                  </a:lnTo>
                  <a:lnTo>
                    <a:pt x="7995430" y="22540"/>
                  </a:lnTo>
                  <a:lnTo>
                    <a:pt x="7955991" y="5897"/>
                  </a:lnTo>
                  <a:lnTo>
                    <a:pt x="7912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30">
              <a:extLst>
                <a:ext uri="{FF2B5EF4-FFF2-40B4-BE49-F238E27FC236}">
                  <a16:creationId xmlns:a16="http://schemas.microsoft.com/office/drawing/2014/main" id="{4EE450DA-0ECC-508B-1266-2BE9B2FA4029}"/>
                </a:ext>
              </a:extLst>
            </p:cNvPr>
            <p:cNvSpPr/>
            <p:nvPr/>
          </p:nvSpPr>
          <p:spPr>
            <a:xfrm>
              <a:off x="1295400" y="3733799"/>
              <a:ext cx="8077200" cy="990600"/>
            </a:xfrm>
            <a:custGeom>
              <a:avLst/>
              <a:gdLst/>
              <a:ahLst/>
              <a:cxnLst/>
              <a:rect l="l" t="t" r="r" b="b"/>
              <a:pathLst>
                <a:path w="80772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7912100" y="0"/>
                  </a:lnTo>
                  <a:lnTo>
                    <a:pt x="7955991" y="5897"/>
                  </a:lnTo>
                  <a:lnTo>
                    <a:pt x="7995430" y="22540"/>
                  </a:lnTo>
                  <a:lnTo>
                    <a:pt x="8028844" y="48355"/>
                  </a:lnTo>
                  <a:lnTo>
                    <a:pt x="8054659" y="81769"/>
                  </a:lnTo>
                  <a:lnTo>
                    <a:pt x="8071302" y="121208"/>
                  </a:lnTo>
                  <a:lnTo>
                    <a:pt x="8077200" y="165100"/>
                  </a:lnTo>
                  <a:lnTo>
                    <a:pt x="8077200" y="825500"/>
                  </a:lnTo>
                  <a:lnTo>
                    <a:pt x="8071302" y="869391"/>
                  </a:lnTo>
                  <a:lnTo>
                    <a:pt x="8054659" y="908830"/>
                  </a:lnTo>
                  <a:lnTo>
                    <a:pt x="8028844" y="942244"/>
                  </a:lnTo>
                  <a:lnTo>
                    <a:pt x="7995430" y="968059"/>
                  </a:lnTo>
                  <a:lnTo>
                    <a:pt x="7955991" y="984702"/>
                  </a:lnTo>
                  <a:lnTo>
                    <a:pt x="79121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31">
            <a:extLst>
              <a:ext uri="{FF2B5EF4-FFF2-40B4-BE49-F238E27FC236}">
                <a16:creationId xmlns:a16="http://schemas.microsoft.com/office/drawing/2014/main" id="{16F3155F-0087-46E1-3B2A-FB69783ED77C}"/>
              </a:ext>
            </a:extLst>
          </p:cNvPr>
          <p:cNvSpPr txBox="1"/>
          <p:nvPr/>
        </p:nvSpPr>
        <p:spPr>
          <a:xfrm>
            <a:off x="500278" y="5170171"/>
            <a:ext cx="10328275" cy="1241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Cambria"/>
                <a:cs typeface="Cambria"/>
              </a:rPr>
              <a:t>Cache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Promotion</a:t>
            </a:r>
            <a:r>
              <a:rPr sz="2700" spc="10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Policy:</a:t>
            </a:r>
            <a:r>
              <a:rPr sz="2700" spc="25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On </a:t>
            </a:r>
            <a:r>
              <a:rPr sz="2700" dirty="0">
                <a:latin typeface="Cambria"/>
                <a:cs typeface="Cambria"/>
              </a:rPr>
              <a:t>a</a:t>
            </a:r>
            <a:r>
              <a:rPr sz="2700" spc="-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future</a:t>
            </a:r>
            <a:r>
              <a:rPr sz="2700" spc="2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hit</a:t>
            </a:r>
            <a:r>
              <a:rPr sz="2700" spc="1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(block</a:t>
            </a:r>
            <a:r>
              <a:rPr sz="2700" spc="35" dirty="0">
                <a:latin typeface="Cambria"/>
                <a:cs typeface="Cambria"/>
              </a:rPr>
              <a:t> </a:t>
            </a:r>
            <a:r>
              <a:rPr sz="2700" i="1" spc="-5" dirty="0">
                <a:latin typeface="Cambria"/>
                <a:cs typeface="Cambria"/>
              </a:rPr>
              <a:t>i</a:t>
            </a:r>
            <a:r>
              <a:rPr sz="2700" spc="-5" dirty="0">
                <a:latin typeface="Cambria"/>
                <a:cs typeface="Cambria"/>
              </a:rPr>
              <a:t>), </a:t>
            </a:r>
            <a:r>
              <a:rPr sz="2700" spc="-20" dirty="0">
                <a:latin typeface="Cambria"/>
                <a:cs typeface="Cambria"/>
              </a:rPr>
              <a:t>promote</a:t>
            </a:r>
            <a:r>
              <a:rPr sz="2700" spc="20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to</a:t>
            </a:r>
            <a:r>
              <a:rPr sz="2700" spc="-5" dirty="0">
                <a:latin typeface="Cambria"/>
                <a:cs typeface="Cambria"/>
              </a:rPr>
              <a:t> </a:t>
            </a:r>
            <a:r>
              <a:rPr sz="2700" spc="-30" dirty="0">
                <a:latin typeface="Cambria"/>
                <a:cs typeface="Cambria"/>
              </a:rPr>
              <a:t>MRU</a:t>
            </a:r>
            <a:endParaRPr sz="2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00" dirty="0">
              <a:latin typeface="Cambria"/>
              <a:cs typeface="Cambria"/>
            </a:endParaRPr>
          </a:p>
          <a:p>
            <a:pPr marL="421005">
              <a:lnSpc>
                <a:spcPct val="100000"/>
              </a:lnSpc>
            </a:pPr>
            <a:r>
              <a:rPr sz="2700" spc="-30" dirty="0">
                <a:solidFill>
                  <a:srgbClr val="C00000"/>
                </a:solidFill>
                <a:latin typeface="Cambria"/>
                <a:cs typeface="Cambria"/>
              </a:rPr>
              <a:t>LRU</a:t>
            </a: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causes</a:t>
            </a:r>
            <a:r>
              <a:rPr sz="2700" spc="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15" dirty="0">
                <a:solidFill>
                  <a:srgbClr val="C00000"/>
                </a:solidFill>
                <a:latin typeface="Cambria"/>
                <a:cs typeface="Cambria"/>
              </a:rPr>
              <a:t>thrashing</a:t>
            </a:r>
            <a:r>
              <a:rPr sz="2700" spc="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when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working</a:t>
            </a:r>
            <a:r>
              <a:rPr sz="2700" spc="-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set</a:t>
            </a:r>
            <a:r>
              <a:rPr sz="2700" spc="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&gt;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 cache</a:t>
            </a:r>
            <a:r>
              <a:rPr sz="2700" spc="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size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24" name="object 32">
            <a:extLst>
              <a:ext uri="{FF2B5EF4-FFF2-40B4-BE49-F238E27FC236}">
                <a16:creationId xmlns:a16="http://schemas.microsoft.com/office/drawing/2014/main" id="{8AFE2C7B-780F-6ECE-56F5-A81BA7ABA304}"/>
              </a:ext>
            </a:extLst>
          </p:cNvPr>
          <p:cNvSpPr txBox="1"/>
          <p:nvPr/>
        </p:nvSpPr>
        <p:spPr>
          <a:xfrm>
            <a:off x="2925826" y="27687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5" name="object 33">
            <a:extLst>
              <a:ext uri="{FF2B5EF4-FFF2-40B4-BE49-F238E27FC236}">
                <a16:creationId xmlns:a16="http://schemas.microsoft.com/office/drawing/2014/main" id="{B335C7CD-8FCA-4312-FD57-5398395CFD8E}"/>
              </a:ext>
            </a:extLst>
          </p:cNvPr>
          <p:cNvSpPr txBox="1"/>
          <p:nvPr/>
        </p:nvSpPr>
        <p:spPr>
          <a:xfrm>
            <a:off x="3687826" y="27687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b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6" name="object 34">
            <a:extLst>
              <a:ext uri="{FF2B5EF4-FFF2-40B4-BE49-F238E27FC236}">
                <a16:creationId xmlns:a16="http://schemas.microsoft.com/office/drawing/2014/main" id="{7BA4C57B-5B31-579A-1D5B-B30551E0CE90}"/>
              </a:ext>
            </a:extLst>
          </p:cNvPr>
          <p:cNvSpPr txBox="1"/>
          <p:nvPr/>
        </p:nvSpPr>
        <p:spPr>
          <a:xfrm>
            <a:off x="4449826" y="27687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c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7" name="object 35">
            <a:extLst>
              <a:ext uri="{FF2B5EF4-FFF2-40B4-BE49-F238E27FC236}">
                <a16:creationId xmlns:a16="http://schemas.microsoft.com/office/drawing/2014/main" id="{44357DCC-2CB0-51D0-BF5A-C09358E7BD70}"/>
              </a:ext>
            </a:extLst>
          </p:cNvPr>
          <p:cNvSpPr txBox="1"/>
          <p:nvPr/>
        </p:nvSpPr>
        <p:spPr>
          <a:xfrm>
            <a:off x="5211826" y="27687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d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8" name="object 36">
            <a:extLst>
              <a:ext uri="{FF2B5EF4-FFF2-40B4-BE49-F238E27FC236}">
                <a16:creationId xmlns:a16="http://schemas.microsoft.com/office/drawing/2014/main" id="{34B4622B-45C4-5FF0-9245-EECBF16DADC8}"/>
              </a:ext>
            </a:extLst>
          </p:cNvPr>
          <p:cNvSpPr txBox="1"/>
          <p:nvPr/>
        </p:nvSpPr>
        <p:spPr>
          <a:xfrm>
            <a:off x="5973826" y="27687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9" name="object 37">
            <a:extLst>
              <a:ext uri="{FF2B5EF4-FFF2-40B4-BE49-F238E27FC236}">
                <a16:creationId xmlns:a16="http://schemas.microsoft.com/office/drawing/2014/main" id="{6C647EA0-DA29-0A1E-8E97-14A66D32EF86}"/>
              </a:ext>
            </a:extLst>
          </p:cNvPr>
          <p:cNvSpPr txBox="1"/>
          <p:nvPr/>
        </p:nvSpPr>
        <p:spPr>
          <a:xfrm>
            <a:off x="6735826" y="27687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f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0" name="object 38">
            <a:extLst>
              <a:ext uri="{FF2B5EF4-FFF2-40B4-BE49-F238E27FC236}">
                <a16:creationId xmlns:a16="http://schemas.microsoft.com/office/drawing/2014/main" id="{C46D13F8-A267-D8B1-C5B1-1B75B28BDDB7}"/>
              </a:ext>
            </a:extLst>
          </p:cNvPr>
          <p:cNvSpPr txBox="1"/>
          <p:nvPr/>
        </p:nvSpPr>
        <p:spPr>
          <a:xfrm>
            <a:off x="7497826" y="27687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g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1" name="object 39">
            <a:extLst>
              <a:ext uri="{FF2B5EF4-FFF2-40B4-BE49-F238E27FC236}">
                <a16:creationId xmlns:a16="http://schemas.microsoft.com/office/drawing/2014/main" id="{DFEF284E-924A-818A-3D85-6347F722E832}"/>
              </a:ext>
            </a:extLst>
          </p:cNvPr>
          <p:cNvSpPr txBox="1"/>
          <p:nvPr/>
        </p:nvSpPr>
        <p:spPr>
          <a:xfrm>
            <a:off x="8259826" y="2768728"/>
            <a:ext cx="533400" cy="3810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h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32" name="object 40">
            <a:extLst>
              <a:ext uri="{FF2B5EF4-FFF2-40B4-BE49-F238E27FC236}">
                <a16:creationId xmlns:a16="http://schemas.microsoft.com/office/drawing/2014/main" id="{ADCBE687-0700-FC14-700A-6C8AF59DB878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59098" y="2844928"/>
            <a:ext cx="228600" cy="152400"/>
          </a:xfrm>
          <a:prstGeom prst="rect">
            <a:avLst/>
          </a:prstGeom>
        </p:spPr>
      </p:pic>
      <p:pic>
        <p:nvPicPr>
          <p:cNvPr id="33" name="object 41">
            <a:extLst>
              <a:ext uri="{FF2B5EF4-FFF2-40B4-BE49-F238E27FC236}">
                <a16:creationId xmlns:a16="http://schemas.microsoft.com/office/drawing/2014/main" id="{8F4DC23C-A7F0-A2A3-C7CA-D7AD5A68EC52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21098" y="2844928"/>
            <a:ext cx="228600" cy="152400"/>
          </a:xfrm>
          <a:prstGeom prst="rect">
            <a:avLst/>
          </a:prstGeom>
        </p:spPr>
      </p:pic>
      <p:pic>
        <p:nvPicPr>
          <p:cNvPr id="34" name="object 42">
            <a:extLst>
              <a:ext uri="{FF2B5EF4-FFF2-40B4-BE49-F238E27FC236}">
                <a16:creationId xmlns:a16="http://schemas.microsoft.com/office/drawing/2014/main" id="{11321AFA-A678-F68C-6CC0-39FCB6985BF7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83098" y="2844928"/>
            <a:ext cx="228600" cy="152400"/>
          </a:xfrm>
          <a:prstGeom prst="rect">
            <a:avLst/>
          </a:prstGeom>
        </p:spPr>
      </p:pic>
      <p:pic>
        <p:nvPicPr>
          <p:cNvPr id="35" name="object 43">
            <a:extLst>
              <a:ext uri="{FF2B5EF4-FFF2-40B4-BE49-F238E27FC236}">
                <a16:creationId xmlns:a16="http://schemas.microsoft.com/office/drawing/2014/main" id="{053E3812-4223-179D-79FA-2DD4A261938F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45098" y="2844928"/>
            <a:ext cx="228600" cy="152400"/>
          </a:xfrm>
          <a:prstGeom prst="rect">
            <a:avLst/>
          </a:prstGeom>
        </p:spPr>
      </p:pic>
      <p:pic>
        <p:nvPicPr>
          <p:cNvPr id="36" name="object 44">
            <a:extLst>
              <a:ext uri="{FF2B5EF4-FFF2-40B4-BE49-F238E27FC236}">
                <a16:creationId xmlns:a16="http://schemas.microsoft.com/office/drawing/2014/main" id="{5D8DD185-02CE-234C-6E6A-18C6CC357444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07098" y="2844928"/>
            <a:ext cx="228600" cy="152400"/>
          </a:xfrm>
          <a:prstGeom prst="rect">
            <a:avLst/>
          </a:prstGeom>
        </p:spPr>
      </p:pic>
      <p:pic>
        <p:nvPicPr>
          <p:cNvPr id="37" name="object 45">
            <a:extLst>
              <a:ext uri="{FF2B5EF4-FFF2-40B4-BE49-F238E27FC236}">
                <a16:creationId xmlns:a16="http://schemas.microsoft.com/office/drawing/2014/main" id="{CD4E2A72-FE6F-16CF-7B1D-FDBE80085A3F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69098" y="2844928"/>
            <a:ext cx="228600" cy="152400"/>
          </a:xfrm>
          <a:prstGeom prst="rect">
            <a:avLst/>
          </a:prstGeom>
        </p:spPr>
      </p:pic>
      <p:pic>
        <p:nvPicPr>
          <p:cNvPr id="38" name="object 46">
            <a:extLst>
              <a:ext uri="{FF2B5EF4-FFF2-40B4-BE49-F238E27FC236}">
                <a16:creationId xmlns:a16="http://schemas.microsoft.com/office/drawing/2014/main" id="{417EC53D-5CF0-E38B-7DE4-DD091509178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31098" y="2844928"/>
            <a:ext cx="228600" cy="152400"/>
          </a:xfrm>
          <a:prstGeom prst="rect">
            <a:avLst/>
          </a:prstGeom>
        </p:spPr>
      </p:pic>
      <p:sp>
        <p:nvSpPr>
          <p:cNvPr id="39" name="object 47">
            <a:extLst>
              <a:ext uri="{FF2B5EF4-FFF2-40B4-BE49-F238E27FC236}">
                <a16:creationId xmlns:a16="http://schemas.microsoft.com/office/drawing/2014/main" id="{30D1AE9C-2EBA-482E-689E-534061FC16A4}"/>
              </a:ext>
            </a:extLst>
          </p:cNvPr>
          <p:cNvSpPr txBox="1"/>
          <p:nvPr/>
        </p:nvSpPr>
        <p:spPr>
          <a:xfrm>
            <a:off x="500278" y="1379220"/>
            <a:ext cx="9688830" cy="1350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Cambria"/>
                <a:cs typeface="Cambria"/>
              </a:rPr>
              <a:t>Cache</a:t>
            </a:r>
            <a:r>
              <a:rPr sz="2700" spc="1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Eviction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Policy:</a:t>
            </a:r>
            <a:r>
              <a:rPr sz="2700" spc="25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On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</a:t>
            </a:r>
            <a:r>
              <a:rPr sz="2700" spc="-5" dirty="0">
                <a:latin typeface="Cambria"/>
                <a:cs typeface="Cambria"/>
              </a:rPr>
              <a:t> miss</a:t>
            </a:r>
            <a:r>
              <a:rPr sz="2700" spc="1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(block</a:t>
            </a:r>
            <a:r>
              <a:rPr sz="2700" spc="35" dirty="0">
                <a:latin typeface="Cambria"/>
                <a:cs typeface="Cambria"/>
              </a:rPr>
              <a:t> </a:t>
            </a:r>
            <a:r>
              <a:rPr sz="2700" i="1" spc="-5" dirty="0">
                <a:latin typeface="Cambria"/>
                <a:cs typeface="Cambria"/>
              </a:rPr>
              <a:t>i</a:t>
            </a:r>
            <a:r>
              <a:rPr sz="2700" spc="-5" dirty="0">
                <a:latin typeface="Cambria"/>
                <a:cs typeface="Cambria"/>
              </a:rPr>
              <a:t>),</a:t>
            </a:r>
            <a:r>
              <a:rPr sz="2700" spc="-10" dirty="0">
                <a:latin typeface="Cambria"/>
                <a:cs typeface="Cambria"/>
              </a:rPr>
              <a:t> which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block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to</a:t>
            </a:r>
            <a:r>
              <a:rPr sz="2700" spc="-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evict </a:t>
            </a:r>
            <a:r>
              <a:rPr sz="2700" spc="-58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(replace)</a:t>
            </a:r>
            <a:r>
              <a:rPr sz="2700" spc="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?</a:t>
            </a:r>
            <a:endParaRPr sz="2700">
              <a:latin typeface="Cambria"/>
              <a:cs typeface="Cambria"/>
            </a:endParaRPr>
          </a:p>
          <a:p>
            <a:pPr marL="2401570">
              <a:lnSpc>
                <a:spcPct val="100000"/>
              </a:lnSpc>
              <a:spcBef>
                <a:spcPts val="1065"/>
              </a:spcBef>
              <a:tabLst>
                <a:tab pos="7701280" algn="l"/>
              </a:tabLst>
            </a:pPr>
            <a:r>
              <a:rPr sz="2400" spc="-20" dirty="0">
                <a:latin typeface="Cambria"/>
                <a:cs typeface="Cambria"/>
              </a:rPr>
              <a:t>MRU	LRU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0" name="object 48">
            <a:extLst>
              <a:ext uri="{FF2B5EF4-FFF2-40B4-BE49-F238E27FC236}">
                <a16:creationId xmlns:a16="http://schemas.microsoft.com/office/drawing/2014/main" id="{3E1BFBDE-8E23-3EF3-D345-83CB6A7945E5}"/>
              </a:ext>
            </a:extLst>
          </p:cNvPr>
          <p:cNvSpPr txBox="1"/>
          <p:nvPr/>
        </p:nvSpPr>
        <p:spPr>
          <a:xfrm>
            <a:off x="1526794" y="2650821"/>
            <a:ext cx="9163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"/>
                <a:cs typeface="Cambria"/>
              </a:rPr>
              <a:t>SET</a:t>
            </a:r>
            <a:r>
              <a:rPr sz="2800" spc="-8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1" name="object 49">
            <a:extLst>
              <a:ext uri="{FF2B5EF4-FFF2-40B4-BE49-F238E27FC236}">
                <a16:creationId xmlns:a16="http://schemas.microsoft.com/office/drawing/2014/main" id="{932862BC-8AF6-7277-8CB3-BB01D6215906}"/>
              </a:ext>
            </a:extLst>
          </p:cNvPr>
          <p:cNvSpPr txBox="1"/>
          <p:nvPr/>
        </p:nvSpPr>
        <p:spPr>
          <a:xfrm>
            <a:off x="2925826" y="4597528"/>
            <a:ext cx="533400" cy="381000"/>
          </a:xfrm>
          <a:prstGeom prst="rect">
            <a:avLst/>
          </a:prstGeom>
          <a:solidFill>
            <a:srgbClr val="94B3D6"/>
          </a:solidFill>
          <a:ln w="1270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i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2" name="object 50">
            <a:extLst>
              <a:ext uri="{FF2B5EF4-FFF2-40B4-BE49-F238E27FC236}">
                <a16:creationId xmlns:a16="http://schemas.microsoft.com/office/drawing/2014/main" id="{0EDF6A8E-22A7-428D-5449-0C3A42A2B695}"/>
              </a:ext>
            </a:extLst>
          </p:cNvPr>
          <p:cNvSpPr txBox="1"/>
          <p:nvPr/>
        </p:nvSpPr>
        <p:spPr>
          <a:xfrm>
            <a:off x="3687826" y="45975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3" name="object 51">
            <a:extLst>
              <a:ext uri="{FF2B5EF4-FFF2-40B4-BE49-F238E27FC236}">
                <a16:creationId xmlns:a16="http://schemas.microsoft.com/office/drawing/2014/main" id="{6FB6DE8F-4C60-A0B8-1532-955ABB00964C}"/>
              </a:ext>
            </a:extLst>
          </p:cNvPr>
          <p:cNvSpPr txBox="1"/>
          <p:nvPr/>
        </p:nvSpPr>
        <p:spPr>
          <a:xfrm>
            <a:off x="4449826" y="45975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b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4" name="object 52">
            <a:extLst>
              <a:ext uri="{FF2B5EF4-FFF2-40B4-BE49-F238E27FC236}">
                <a16:creationId xmlns:a16="http://schemas.microsoft.com/office/drawing/2014/main" id="{DDCE6DB1-8002-7810-2B29-76598EF42ED8}"/>
              </a:ext>
            </a:extLst>
          </p:cNvPr>
          <p:cNvSpPr txBox="1"/>
          <p:nvPr/>
        </p:nvSpPr>
        <p:spPr>
          <a:xfrm>
            <a:off x="5211826" y="45975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c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5" name="object 53">
            <a:extLst>
              <a:ext uri="{FF2B5EF4-FFF2-40B4-BE49-F238E27FC236}">
                <a16:creationId xmlns:a16="http://schemas.microsoft.com/office/drawing/2014/main" id="{B7871F53-2D0D-A31C-9A3D-976D5AA92CC7}"/>
              </a:ext>
            </a:extLst>
          </p:cNvPr>
          <p:cNvSpPr txBox="1"/>
          <p:nvPr/>
        </p:nvSpPr>
        <p:spPr>
          <a:xfrm>
            <a:off x="5973826" y="45975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d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6" name="object 54">
            <a:extLst>
              <a:ext uri="{FF2B5EF4-FFF2-40B4-BE49-F238E27FC236}">
                <a16:creationId xmlns:a16="http://schemas.microsoft.com/office/drawing/2014/main" id="{AD4B8EB1-A396-4F85-843C-7E563C0696C4}"/>
              </a:ext>
            </a:extLst>
          </p:cNvPr>
          <p:cNvSpPr txBox="1"/>
          <p:nvPr/>
        </p:nvSpPr>
        <p:spPr>
          <a:xfrm>
            <a:off x="6735826" y="45975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7" name="object 55">
            <a:extLst>
              <a:ext uri="{FF2B5EF4-FFF2-40B4-BE49-F238E27FC236}">
                <a16:creationId xmlns:a16="http://schemas.microsoft.com/office/drawing/2014/main" id="{CFEA5B84-9910-0B5C-5004-D68DD46488F5}"/>
              </a:ext>
            </a:extLst>
          </p:cNvPr>
          <p:cNvSpPr txBox="1"/>
          <p:nvPr/>
        </p:nvSpPr>
        <p:spPr>
          <a:xfrm>
            <a:off x="7497826" y="45975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f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8" name="object 56">
            <a:extLst>
              <a:ext uri="{FF2B5EF4-FFF2-40B4-BE49-F238E27FC236}">
                <a16:creationId xmlns:a16="http://schemas.microsoft.com/office/drawing/2014/main" id="{6328949A-31CA-A3D7-5D01-48450E00F27C}"/>
              </a:ext>
            </a:extLst>
          </p:cNvPr>
          <p:cNvSpPr txBox="1"/>
          <p:nvPr/>
        </p:nvSpPr>
        <p:spPr>
          <a:xfrm>
            <a:off x="8259826" y="45975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g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9" name="object 57">
            <a:extLst>
              <a:ext uri="{FF2B5EF4-FFF2-40B4-BE49-F238E27FC236}">
                <a16:creationId xmlns:a16="http://schemas.microsoft.com/office/drawing/2014/main" id="{D6B25437-1478-02CE-E033-CAA337287B2C}"/>
              </a:ext>
            </a:extLst>
          </p:cNvPr>
          <p:cNvGrpSpPr/>
          <p:nvPr/>
        </p:nvGrpSpPr>
        <p:grpSpPr>
          <a:xfrm>
            <a:off x="3459098" y="4673728"/>
            <a:ext cx="4800600" cy="152400"/>
            <a:chOff x="3459098" y="4267200"/>
            <a:chExt cx="4800600" cy="152400"/>
          </a:xfrm>
        </p:grpSpPr>
        <p:pic>
          <p:nvPicPr>
            <p:cNvPr id="50" name="object 58">
              <a:extLst>
                <a:ext uri="{FF2B5EF4-FFF2-40B4-BE49-F238E27FC236}">
                  <a16:creationId xmlns:a16="http://schemas.microsoft.com/office/drawing/2014/main" id="{698BE73B-09CF-9C8D-A169-294234727BD2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9098" y="4267200"/>
              <a:ext cx="228600" cy="152400"/>
            </a:xfrm>
            <a:prstGeom prst="rect">
              <a:avLst/>
            </a:prstGeom>
          </p:spPr>
        </p:pic>
        <p:pic>
          <p:nvPicPr>
            <p:cNvPr id="51" name="object 59">
              <a:extLst>
                <a:ext uri="{FF2B5EF4-FFF2-40B4-BE49-F238E27FC236}">
                  <a16:creationId xmlns:a16="http://schemas.microsoft.com/office/drawing/2014/main" id="{D2D9F6D9-46C1-6AD9-A6C7-4F3AEA8481B1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21098" y="4267200"/>
              <a:ext cx="228600" cy="152400"/>
            </a:xfrm>
            <a:prstGeom prst="rect">
              <a:avLst/>
            </a:prstGeom>
          </p:spPr>
        </p:pic>
        <p:pic>
          <p:nvPicPr>
            <p:cNvPr id="52" name="object 60">
              <a:extLst>
                <a:ext uri="{FF2B5EF4-FFF2-40B4-BE49-F238E27FC236}">
                  <a16:creationId xmlns:a16="http://schemas.microsoft.com/office/drawing/2014/main" id="{CEBB3233-9D2E-0C87-2F81-12F8F57A47AD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83098" y="4267200"/>
              <a:ext cx="228600" cy="152400"/>
            </a:xfrm>
            <a:prstGeom prst="rect">
              <a:avLst/>
            </a:prstGeom>
          </p:spPr>
        </p:pic>
        <p:pic>
          <p:nvPicPr>
            <p:cNvPr id="53" name="object 61">
              <a:extLst>
                <a:ext uri="{FF2B5EF4-FFF2-40B4-BE49-F238E27FC236}">
                  <a16:creationId xmlns:a16="http://schemas.microsoft.com/office/drawing/2014/main" id="{2310F9E3-FB41-12E2-1156-4991EFEBFE74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45098" y="4267200"/>
              <a:ext cx="228600" cy="152400"/>
            </a:xfrm>
            <a:prstGeom prst="rect">
              <a:avLst/>
            </a:prstGeom>
          </p:spPr>
        </p:pic>
        <p:pic>
          <p:nvPicPr>
            <p:cNvPr id="54" name="object 62">
              <a:extLst>
                <a:ext uri="{FF2B5EF4-FFF2-40B4-BE49-F238E27FC236}">
                  <a16:creationId xmlns:a16="http://schemas.microsoft.com/office/drawing/2014/main" id="{7DD45EA9-BA83-ED26-4984-6F351257798A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07098" y="4267200"/>
              <a:ext cx="228600" cy="152400"/>
            </a:xfrm>
            <a:prstGeom prst="rect">
              <a:avLst/>
            </a:prstGeom>
          </p:spPr>
        </p:pic>
        <p:pic>
          <p:nvPicPr>
            <p:cNvPr id="55" name="object 63">
              <a:extLst>
                <a:ext uri="{FF2B5EF4-FFF2-40B4-BE49-F238E27FC236}">
                  <a16:creationId xmlns:a16="http://schemas.microsoft.com/office/drawing/2014/main" id="{749D50BB-767E-B428-3F2C-917455445972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9098" y="4267200"/>
              <a:ext cx="228600" cy="152400"/>
            </a:xfrm>
            <a:prstGeom prst="rect">
              <a:avLst/>
            </a:prstGeom>
          </p:spPr>
        </p:pic>
        <p:pic>
          <p:nvPicPr>
            <p:cNvPr id="56" name="object 64">
              <a:extLst>
                <a:ext uri="{FF2B5EF4-FFF2-40B4-BE49-F238E27FC236}">
                  <a16:creationId xmlns:a16="http://schemas.microsoft.com/office/drawing/2014/main" id="{83D71767-9E0E-5C27-5A5C-5762F642847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31098" y="4267200"/>
              <a:ext cx="228600" cy="152400"/>
            </a:xfrm>
            <a:prstGeom prst="rect">
              <a:avLst/>
            </a:prstGeom>
          </p:spPr>
        </p:pic>
      </p:grpSp>
      <p:sp>
        <p:nvSpPr>
          <p:cNvPr id="57" name="object 65">
            <a:extLst>
              <a:ext uri="{FF2B5EF4-FFF2-40B4-BE49-F238E27FC236}">
                <a16:creationId xmlns:a16="http://schemas.microsoft.com/office/drawing/2014/main" id="{D26A52BA-5BF1-0F53-3D02-F267A0EE8B6F}"/>
              </a:ext>
            </a:extLst>
          </p:cNvPr>
          <p:cNvSpPr txBox="1"/>
          <p:nvPr/>
        </p:nvSpPr>
        <p:spPr>
          <a:xfrm>
            <a:off x="500278" y="3498469"/>
            <a:ext cx="8488680" cy="1059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Cambria"/>
                <a:cs typeface="Cambria"/>
              </a:rPr>
              <a:t>Cache</a:t>
            </a:r>
            <a:r>
              <a:rPr sz="2700" spc="1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Insertion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Policy:</a:t>
            </a:r>
            <a:r>
              <a:rPr sz="2700" spc="25" dirty="0">
                <a:latin typeface="Cambria"/>
                <a:cs typeface="Cambria"/>
              </a:rPr>
              <a:t> </a:t>
            </a:r>
            <a:r>
              <a:rPr sz="2700" spc="-15" dirty="0">
                <a:latin typeface="Cambria"/>
                <a:cs typeface="Cambria"/>
              </a:rPr>
              <a:t>New</a:t>
            </a:r>
            <a:r>
              <a:rPr sz="2700" spc="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block</a:t>
            </a:r>
            <a:r>
              <a:rPr sz="2700" spc="30" dirty="0">
                <a:latin typeface="Cambria"/>
                <a:cs typeface="Cambria"/>
              </a:rPr>
              <a:t> </a:t>
            </a:r>
            <a:r>
              <a:rPr sz="2700" i="1" dirty="0">
                <a:latin typeface="Cambria"/>
                <a:cs typeface="Cambria"/>
              </a:rPr>
              <a:t>i</a:t>
            </a:r>
            <a:r>
              <a:rPr sz="2700" i="1" spc="-1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inserted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15" dirty="0">
                <a:latin typeface="Cambria"/>
                <a:cs typeface="Cambria"/>
              </a:rPr>
              <a:t>into</a:t>
            </a:r>
            <a:r>
              <a:rPr sz="2700" spc="-5" dirty="0">
                <a:latin typeface="Cambria"/>
                <a:cs typeface="Cambria"/>
              </a:rPr>
              <a:t> </a:t>
            </a:r>
            <a:r>
              <a:rPr sz="2700" spc="-45" dirty="0">
                <a:latin typeface="Cambria"/>
                <a:cs typeface="Cambria"/>
              </a:rPr>
              <a:t>MRU.</a:t>
            </a:r>
            <a:endParaRPr sz="2700">
              <a:latin typeface="Cambria"/>
              <a:cs typeface="Cambria"/>
            </a:endParaRPr>
          </a:p>
          <a:p>
            <a:pPr marL="2401570">
              <a:lnSpc>
                <a:spcPct val="100000"/>
              </a:lnSpc>
              <a:spcBef>
                <a:spcPts val="2020"/>
              </a:spcBef>
              <a:tabLst>
                <a:tab pos="7701280" algn="l"/>
              </a:tabLst>
            </a:pPr>
            <a:r>
              <a:rPr sz="2400" spc="-20" dirty="0">
                <a:latin typeface="Cambria"/>
                <a:cs typeface="Cambria"/>
              </a:rPr>
              <a:t>MRU	LRU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8" name="object 66">
            <a:extLst>
              <a:ext uri="{FF2B5EF4-FFF2-40B4-BE49-F238E27FC236}">
                <a16:creationId xmlns:a16="http://schemas.microsoft.com/office/drawing/2014/main" id="{4CDA609D-AE3C-1038-8953-9E7D3CED432F}"/>
              </a:ext>
            </a:extLst>
          </p:cNvPr>
          <p:cNvSpPr txBox="1"/>
          <p:nvPr/>
        </p:nvSpPr>
        <p:spPr>
          <a:xfrm>
            <a:off x="1526794" y="4480306"/>
            <a:ext cx="91694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mbria"/>
                <a:cs typeface="Cambria"/>
              </a:rPr>
              <a:t>SET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</a:t>
            </a:r>
            <a:endParaRPr sz="2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998468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CDD6-343C-F574-79B2-0BF375B89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Cache Access Patterns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F66C1-ED8E-E6A7-6699-43EEBA97B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0824B-7B02-3346-A7BD-5C0A34FD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5</a:t>
            </a:fld>
            <a:endParaRPr lang="en-IN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EE3C5BDA-6E84-80C5-6148-4BBEE9F0E802}"/>
              </a:ext>
            </a:extLst>
          </p:cNvPr>
          <p:cNvGrpSpPr/>
          <p:nvPr/>
        </p:nvGrpSpPr>
        <p:grpSpPr>
          <a:xfrm>
            <a:off x="108204" y="1557544"/>
            <a:ext cx="7931150" cy="873760"/>
            <a:chOff x="108204" y="1203976"/>
            <a:chExt cx="7931150" cy="87376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1595FEB6-1DC4-7E53-FC2C-5FE44232027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498" y="1203976"/>
              <a:ext cx="7848603" cy="838167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7DD08483-CAC1-36A2-2694-B850784BF42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204" y="1272540"/>
              <a:ext cx="7114032" cy="804672"/>
            </a:xfrm>
            <a:prstGeom prst="rect">
              <a:avLst/>
            </a:prstGeom>
          </p:spPr>
        </p:pic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57F95176-1355-16B7-2616-DF8EE4564A26}"/>
                </a:ext>
              </a:extLst>
            </p:cNvPr>
            <p:cNvSpPr/>
            <p:nvPr/>
          </p:nvSpPr>
          <p:spPr>
            <a:xfrm>
              <a:off x="228600" y="1219200"/>
              <a:ext cx="7772400" cy="762000"/>
            </a:xfrm>
            <a:custGeom>
              <a:avLst/>
              <a:gdLst/>
              <a:ahLst/>
              <a:cxnLst/>
              <a:rect l="l" t="t" r="r" b="b"/>
              <a:pathLst>
                <a:path w="7772400" h="762000">
                  <a:moveTo>
                    <a:pt x="7645400" y="0"/>
                  </a:moveTo>
                  <a:lnTo>
                    <a:pt x="127000" y="0"/>
                  </a:lnTo>
                  <a:lnTo>
                    <a:pt x="77565" y="9985"/>
                  </a:lnTo>
                  <a:lnTo>
                    <a:pt x="37196" y="37211"/>
                  </a:lnTo>
                  <a:lnTo>
                    <a:pt x="9980" y="77581"/>
                  </a:lnTo>
                  <a:lnTo>
                    <a:pt x="0" y="127000"/>
                  </a:lnTo>
                  <a:lnTo>
                    <a:pt x="0" y="635000"/>
                  </a:lnTo>
                  <a:lnTo>
                    <a:pt x="9980" y="684418"/>
                  </a:lnTo>
                  <a:lnTo>
                    <a:pt x="37196" y="724788"/>
                  </a:lnTo>
                  <a:lnTo>
                    <a:pt x="77565" y="752014"/>
                  </a:lnTo>
                  <a:lnTo>
                    <a:pt x="127000" y="762000"/>
                  </a:lnTo>
                  <a:lnTo>
                    <a:pt x="7645400" y="762000"/>
                  </a:lnTo>
                  <a:lnTo>
                    <a:pt x="7694818" y="752014"/>
                  </a:lnTo>
                  <a:lnTo>
                    <a:pt x="7735189" y="724788"/>
                  </a:lnTo>
                  <a:lnTo>
                    <a:pt x="7762414" y="684418"/>
                  </a:lnTo>
                  <a:lnTo>
                    <a:pt x="7772400" y="635000"/>
                  </a:lnTo>
                  <a:lnTo>
                    <a:pt x="7772400" y="127000"/>
                  </a:lnTo>
                  <a:lnTo>
                    <a:pt x="7762414" y="77581"/>
                  </a:lnTo>
                  <a:lnTo>
                    <a:pt x="7735189" y="37211"/>
                  </a:lnTo>
                  <a:lnTo>
                    <a:pt x="7694818" y="9985"/>
                  </a:lnTo>
                  <a:lnTo>
                    <a:pt x="76454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E5A05A9-3D9E-035F-588B-5219E080EC34}"/>
                </a:ext>
              </a:extLst>
            </p:cNvPr>
            <p:cNvSpPr/>
            <p:nvPr/>
          </p:nvSpPr>
          <p:spPr>
            <a:xfrm>
              <a:off x="228600" y="1219200"/>
              <a:ext cx="7772400" cy="762000"/>
            </a:xfrm>
            <a:custGeom>
              <a:avLst/>
              <a:gdLst/>
              <a:ahLst/>
              <a:cxnLst/>
              <a:rect l="l" t="t" r="r" b="b"/>
              <a:pathLst>
                <a:path w="7772400" h="762000">
                  <a:moveTo>
                    <a:pt x="0" y="127000"/>
                  </a:moveTo>
                  <a:lnTo>
                    <a:pt x="9980" y="77581"/>
                  </a:lnTo>
                  <a:lnTo>
                    <a:pt x="37196" y="37211"/>
                  </a:lnTo>
                  <a:lnTo>
                    <a:pt x="77565" y="9985"/>
                  </a:lnTo>
                  <a:lnTo>
                    <a:pt x="127000" y="0"/>
                  </a:lnTo>
                  <a:lnTo>
                    <a:pt x="7645400" y="0"/>
                  </a:lnTo>
                  <a:lnTo>
                    <a:pt x="7694818" y="9985"/>
                  </a:lnTo>
                  <a:lnTo>
                    <a:pt x="7735189" y="37211"/>
                  </a:lnTo>
                  <a:lnTo>
                    <a:pt x="7762414" y="77581"/>
                  </a:lnTo>
                  <a:lnTo>
                    <a:pt x="7772400" y="127000"/>
                  </a:lnTo>
                  <a:lnTo>
                    <a:pt x="7772400" y="635000"/>
                  </a:lnTo>
                  <a:lnTo>
                    <a:pt x="7762414" y="684418"/>
                  </a:lnTo>
                  <a:lnTo>
                    <a:pt x="7735189" y="724788"/>
                  </a:lnTo>
                  <a:lnTo>
                    <a:pt x="7694818" y="752014"/>
                  </a:lnTo>
                  <a:lnTo>
                    <a:pt x="7645400" y="762000"/>
                  </a:lnTo>
                  <a:lnTo>
                    <a:pt x="127000" y="762000"/>
                  </a:lnTo>
                  <a:lnTo>
                    <a:pt x="77565" y="752014"/>
                  </a:lnTo>
                  <a:lnTo>
                    <a:pt x="37196" y="724788"/>
                  </a:lnTo>
                  <a:lnTo>
                    <a:pt x="9980" y="684418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8">
            <a:extLst>
              <a:ext uri="{FF2B5EF4-FFF2-40B4-BE49-F238E27FC236}">
                <a16:creationId xmlns:a16="http://schemas.microsoft.com/office/drawing/2014/main" id="{99AE0D57-FC35-4043-6480-1FC0A871A07C}"/>
              </a:ext>
            </a:extLst>
          </p:cNvPr>
          <p:cNvSpPr txBox="1"/>
          <p:nvPr/>
        </p:nvSpPr>
        <p:spPr>
          <a:xfrm>
            <a:off x="319125" y="1726438"/>
            <a:ext cx="671258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15" dirty="0">
                <a:latin typeface="Cambria"/>
                <a:cs typeface="Cambria"/>
              </a:rPr>
              <a:t>Recency</a:t>
            </a:r>
            <a:r>
              <a:rPr sz="2700" spc="20" dirty="0">
                <a:latin typeface="Cambria"/>
                <a:cs typeface="Cambria"/>
              </a:rPr>
              <a:t> </a:t>
            </a:r>
            <a:r>
              <a:rPr sz="2700" spc="-15" dirty="0">
                <a:latin typeface="Cambria"/>
                <a:cs typeface="Cambria"/>
              </a:rPr>
              <a:t>friendly</a:t>
            </a:r>
            <a:r>
              <a:rPr sz="2700" spc="20" dirty="0"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(a</a:t>
            </a:r>
            <a:r>
              <a:rPr sz="2400" spc="-7" baseline="-20833" dirty="0">
                <a:solidFill>
                  <a:srgbClr val="C00000"/>
                </a:solidFill>
                <a:latin typeface="Cambria"/>
                <a:cs typeface="Cambria"/>
              </a:rPr>
              <a:t>1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</a:t>
            </a:r>
            <a:r>
              <a:rPr sz="2700" spc="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2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,….a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k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</a:t>
            </a:r>
            <a:r>
              <a:rPr sz="2700" spc="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700" baseline="-20061" dirty="0">
                <a:solidFill>
                  <a:srgbClr val="C00000"/>
                </a:solidFill>
                <a:latin typeface="Cambria"/>
                <a:cs typeface="Cambria"/>
              </a:rPr>
              <a:t>k-1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,</a:t>
            </a: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….a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2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</a:t>
            </a: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700" baseline="-20061" dirty="0">
                <a:solidFill>
                  <a:srgbClr val="C00000"/>
                </a:solidFill>
                <a:latin typeface="Cambria"/>
                <a:cs typeface="Cambria"/>
              </a:rPr>
              <a:t>1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)</a:t>
            </a:r>
            <a:r>
              <a:rPr sz="2700" baseline="24691" dirty="0">
                <a:solidFill>
                  <a:srgbClr val="C00000"/>
                </a:solidFill>
                <a:latin typeface="Cambria"/>
                <a:cs typeface="Cambria"/>
              </a:rPr>
              <a:t>N</a:t>
            </a:r>
            <a:endParaRPr sz="2700" baseline="24691">
              <a:latin typeface="Cambria"/>
              <a:cs typeface="Cambria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EA5D9DDC-89D6-58D3-3980-C58BF3DAAB9E}"/>
              </a:ext>
            </a:extLst>
          </p:cNvPr>
          <p:cNvGrpSpPr/>
          <p:nvPr/>
        </p:nvGrpSpPr>
        <p:grpSpPr>
          <a:xfrm>
            <a:off x="108205" y="2776744"/>
            <a:ext cx="7931150" cy="873760"/>
            <a:chOff x="108205" y="2423176"/>
            <a:chExt cx="7931150" cy="873760"/>
          </a:xfrm>
        </p:grpSpPr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CA900568-AE7E-D1B3-1354-9D96C2A0317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498" y="2423176"/>
              <a:ext cx="7848603" cy="838167"/>
            </a:xfrm>
            <a:prstGeom prst="rect">
              <a:avLst/>
            </a:prstGeom>
          </p:spPr>
        </p:pic>
        <p:pic>
          <p:nvPicPr>
            <p:cNvPr id="14" name="object 11">
              <a:extLst>
                <a:ext uri="{FF2B5EF4-FFF2-40B4-BE49-F238E27FC236}">
                  <a16:creationId xmlns:a16="http://schemas.microsoft.com/office/drawing/2014/main" id="{620E975C-C56D-B591-0C3B-CB0A0090658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05" y="2491740"/>
              <a:ext cx="7101840" cy="804672"/>
            </a:xfrm>
            <a:prstGeom prst="rect">
              <a:avLst/>
            </a:prstGeom>
          </p:spPr>
        </p:pic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2E2210CA-AB65-9266-B54E-E1639E6C0426}"/>
                </a:ext>
              </a:extLst>
            </p:cNvPr>
            <p:cNvSpPr/>
            <p:nvPr/>
          </p:nvSpPr>
          <p:spPr>
            <a:xfrm>
              <a:off x="228600" y="2438400"/>
              <a:ext cx="7772400" cy="762000"/>
            </a:xfrm>
            <a:custGeom>
              <a:avLst/>
              <a:gdLst/>
              <a:ahLst/>
              <a:cxnLst/>
              <a:rect l="l" t="t" r="r" b="b"/>
              <a:pathLst>
                <a:path w="7772400" h="762000">
                  <a:moveTo>
                    <a:pt x="7645400" y="0"/>
                  </a:moveTo>
                  <a:lnTo>
                    <a:pt x="127000" y="0"/>
                  </a:lnTo>
                  <a:lnTo>
                    <a:pt x="77565" y="9985"/>
                  </a:lnTo>
                  <a:lnTo>
                    <a:pt x="37196" y="37211"/>
                  </a:lnTo>
                  <a:lnTo>
                    <a:pt x="9980" y="77581"/>
                  </a:lnTo>
                  <a:lnTo>
                    <a:pt x="0" y="127000"/>
                  </a:lnTo>
                  <a:lnTo>
                    <a:pt x="0" y="635000"/>
                  </a:lnTo>
                  <a:lnTo>
                    <a:pt x="9980" y="684418"/>
                  </a:lnTo>
                  <a:lnTo>
                    <a:pt x="37196" y="724788"/>
                  </a:lnTo>
                  <a:lnTo>
                    <a:pt x="77565" y="752014"/>
                  </a:lnTo>
                  <a:lnTo>
                    <a:pt x="127000" y="762000"/>
                  </a:lnTo>
                  <a:lnTo>
                    <a:pt x="7645400" y="762000"/>
                  </a:lnTo>
                  <a:lnTo>
                    <a:pt x="7694818" y="752014"/>
                  </a:lnTo>
                  <a:lnTo>
                    <a:pt x="7735189" y="724788"/>
                  </a:lnTo>
                  <a:lnTo>
                    <a:pt x="7762414" y="684418"/>
                  </a:lnTo>
                  <a:lnTo>
                    <a:pt x="7772400" y="635000"/>
                  </a:lnTo>
                  <a:lnTo>
                    <a:pt x="7772400" y="127000"/>
                  </a:lnTo>
                  <a:lnTo>
                    <a:pt x="7762414" y="77581"/>
                  </a:lnTo>
                  <a:lnTo>
                    <a:pt x="7735189" y="37211"/>
                  </a:lnTo>
                  <a:lnTo>
                    <a:pt x="7694818" y="9985"/>
                  </a:lnTo>
                  <a:lnTo>
                    <a:pt x="76454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4157C570-149E-8E5D-B0AE-71B469E9B5F4}"/>
                </a:ext>
              </a:extLst>
            </p:cNvPr>
            <p:cNvSpPr/>
            <p:nvPr/>
          </p:nvSpPr>
          <p:spPr>
            <a:xfrm>
              <a:off x="228600" y="2438400"/>
              <a:ext cx="7772400" cy="762000"/>
            </a:xfrm>
            <a:custGeom>
              <a:avLst/>
              <a:gdLst/>
              <a:ahLst/>
              <a:cxnLst/>
              <a:rect l="l" t="t" r="r" b="b"/>
              <a:pathLst>
                <a:path w="7772400" h="762000">
                  <a:moveTo>
                    <a:pt x="0" y="127000"/>
                  </a:moveTo>
                  <a:lnTo>
                    <a:pt x="9980" y="77581"/>
                  </a:lnTo>
                  <a:lnTo>
                    <a:pt x="37196" y="37211"/>
                  </a:lnTo>
                  <a:lnTo>
                    <a:pt x="77565" y="9985"/>
                  </a:lnTo>
                  <a:lnTo>
                    <a:pt x="127000" y="0"/>
                  </a:lnTo>
                  <a:lnTo>
                    <a:pt x="7645400" y="0"/>
                  </a:lnTo>
                  <a:lnTo>
                    <a:pt x="7694818" y="9985"/>
                  </a:lnTo>
                  <a:lnTo>
                    <a:pt x="7735189" y="37211"/>
                  </a:lnTo>
                  <a:lnTo>
                    <a:pt x="7762414" y="77581"/>
                  </a:lnTo>
                  <a:lnTo>
                    <a:pt x="7772400" y="127000"/>
                  </a:lnTo>
                  <a:lnTo>
                    <a:pt x="7772400" y="635000"/>
                  </a:lnTo>
                  <a:lnTo>
                    <a:pt x="7762414" y="684418"/>
                  </a:lnTo>
                  <a:lnTo>
                    <a:pt x="7735189" y="724788"/>
                  </a:lnTo>
                  <a:lnTo>
                    <a:pt x="7694818" y="752014"/>
                  </a:lnTo>
                  <a:lnTo>
                    <a:pt x="7645400" y="762000"/>
                  </a:lnTo>
                  <a:lnTo>
                    <a:pt x="127000" y="762000"/>
                  </a:lnTo>
                  <a:lnTo>
                    <a:pt x="77565" y="752014"/>
                  </a:lnTo>
                  <a:lnTo>
                    <a:pt x="37196" y="724788"/>
                  </a:lnTo>
                  <a:lnTo>
                    <a:pt x="9980" y="684418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4">
            <a:extLst>
              <a:ext uri="{FF2B5EF4-FFF2-40B4-BE49-F238E27FC236}">
                <a16:creationId xmlns:a16="http://schemas.microsoft.com/office/drawing/2014/main" id="{4A1EBF45-EBD8-A0AE-7E2F-DAD4BCC75562}"/>
              </a:ext>
            </a:extLst>
          </p:cNvPr>
          <p:cNvSpPr txBox="1"/>
          <p:nvPr/>
        </p:nvSpPr>
        <p:spPr>
          <a:xfrm>
            <a:off x="319125" y="2946019"/>
            <a:ext cx="372364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15" dirty="0">
                <a:latin typeface="Cambria"/>
                <a:cs typeface="Cambria"/>
              </a:rPr>
              <a:t>Thrashing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(a</a:t>
            </a:r>
            <a:r>
              <a:rPr sz="2400" spc="-7" baseline="-20833" dirty="0">
                <a:solidFill>
                  <a:srgbClr val="C00000"/>
                </a:solidFill>
                <a:latin typeface="Cambria"/>
                <a:cs typeface="Cambria"/>
              </a:rPr>
              <a:t>1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</a:t>
            </a: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2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,….a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k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)</a:t>
            </a:r>
            <a:r>
              <a:rPr sz="2700" spc="-7" baseline="24691" dirty="0">
                <a:solidFill>
                  <a:srgbClr val="C00000"/>
                </a:solidFill>
                <a:latin typeface="Cambria"/>
                <a:cs typeface="Cambria"/>
              </a:rPr>
              <a:t>N</a:t>
            </a:r>
            <a:endParaRPr sz="2700" baseline="24691">
              <a:latin typeface="Cambria"/>
              <a:cs typeface="Cambria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CE394044-5DCB-1B22-93D5-919FD14A9B6E}"/>
              </a:ext>
            </a:extLst>
          </p:cNvPr>
          <p:cNvSpPr txBox="1"/>
          <p:nvPr/>
        </p:nvSpPr>
        <p:spPr>
          <a:xfrm>
            <a:off x="5374385" y="2956687"/>
            <a:ext cx="1619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mbria"/>
                <a:cs typeface="Cambria"/>
              </a:rPr>
              <a:t>[k</a:t>
            </a:r>
            <a:r>
              <a:rPr sz="1800" spc="-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"/>
                <a:cs typeface="Cambria"/>
              </a:rPr>
              <a:t>&gt;</a:t>
            </a:r>
            <a:r>
              <a:rPr sz="1800" spc="-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Cambria"/>
                <a:cs typeface="Cambria"/>
              </a:rPr>
              <a:t>cache</a:t>
            </a:r>
            <a:r>
              <a:rPr sz="1800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"/>
                <a:cs typeface="Cambria"/>
              </a:rPr>
              <a:t>size]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9" name="object 16">
            <a:extLst>
              <a:ext uri="{FF2B5EF4-FFF2-40B4-BE49-F238E27FC236}">
                <a16:creationId xmlns:a16="http://schemas.microsoft.com/office/drawing/2014/main" id="{D0AAFE5F-851B-139C-2A57-91E3B2528B44}"/>
              </a:ext>
            </a:extLst>
          </p:cNvPr>
          <p:cNvGrpSpPr/>
          <p:nvPr/>
        </p:nvGrpSpPr>
        <p:grpSpPr>
          <a:xfrm>
            <a:off x="108204" y="3995944"/>
            <a:ext cx="7931150" cy="873760"/>
            <a:chOff x="108204" y="3642376"/>
            <a:chExt cx="7931150" cy="873760"/>
          </a:xfrm>
        </p:grpSpPr>
        <p:pic>
          <p:nvPicPr>
            <p:cNvPr id="20" name="object 17">
              <a:extLst>
                <a:ext uri="{FF2B5EF4-FFF2-40B4-BE49-F238E27FC236}">
                  <a16:creationId xmlns:a16="http://schemas.microsoft.com/office/drawing/2014/main" id="{888A0D1E-0F71-3B3E-059F-AC648CDB6E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498" y="3642376"/>
              <a:ext cx="7848603" cy="838167"/>
            </a:xfrm>
            <a:prstGeom prst="rect">
              <a:avLst/>
            </a:prstGeom>
          </p:spPr>
        </p:pic>
        <p:pic>
          <p:nvPicPr>
            <p:cNvPr id="21" name="object 18">
              <a:extLst>
                <a:ext uri="{FF2B5EF4-FFF2-40B4-BE49-F238E27FC236}">
                  <a16:creationId xmlns:a16="http://schemas.microsoft.com/office/drawing/2014/main" id="{B4372025-8449-D326-3CB2-124CE7D392A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204" y="3710939"/>
              <a:ext cx="5507736" cy="804672"/>
            </a:xfrm>
            <a:prstGeom prst="rect">
              <a:avLst/>
            </a:prstGeom>
          </p:spPr>
        </p:pic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1C80E129-8BDC-42AE-FDA2-001877FCA8CE}"/>
                </a:ext>
              </a:extLst>
            </p:cNvPr>
            <p:cNvSpPr/>
            <p:nvPr/>
          </p:nvSpPr>
          <p:spPr>
            <a:xfrm>
              <a:off x="228600" y="3657599"/>
              <a:ext cx="7772400" cy="762000"/>
            </a:xfrm>
            <a:custGeom>
              <a:avLst/>
              <a:gdLst/>
              <a:ahLst/>
              <a:cxnLst/>
              <a:rect l="l" t="t" r="r" b="b"/>
              <a:pathLst>
                <a:path w="7772400" h="762000">
                  <a:moveTo>
                    <a:pt x="7645400" y="0"/>
                  </a:moveTo>
                  <a:lnTo>
                    <a:pt x="127000" y="0"/>
                  </a:lnTo>
                  <a:lnTo>
                    <a:pt x="77565" y="9985"/>
                  </a:lnTo>
                  <a:lnTo>
                    <a:pt x="37196" y="37210"/>
                  </a:lnTo>
                  <a:lnTo>
                    <a:pt x="9980" y="77581"/>
                  </a:lnTo>
                  <a:lnTo>
                    <a:pt x="0" y="127000"/>
                  </a:lnTo>
                  <a:lnTo>
                    <a:pt x="0" y="635000"/>
                  </a:lnTo>
                  <a:lnTo>
                    <a:pt x="9980" y="684418"/>
                  </a:lnTo>
                  <a:lnTo>
                    <a:pt x="37196" y="724788"/>
                  </a:lnTo>
                  <a:lnTo>
                    <a:pt x="77565" y="752014"/>
                  </a:lnTo>
                  <a:lnTo>
                    <a:pt x="127000" y="762000"/>
                  </a:lnTo>
                  <a:lnTo>
                    <a:pt x="7645400" y="762000"/>
                  </a:lnTo>
                  <a:lnTo>
                    <a:pt x="7694818" y="752014"/>
                  </a:lnTo>
                  <a:lnTo>
                    <a:pt x="7735189" y="724789"/>
                  </a:lnTo>
                  <a:lnTo>
                    <a:pt x="7762414" y="684418"/>
                  </a:lnTo>
                  <a:lnTo>
                    <a:pt x="7772400" y="635000"/>
                  </a:lnTo>
                  <a:lnTo>
                    <a:pt x="7772400" y="127000"/>
                  </a:lnTo>
                  <a:lnTo>
                    <a:pt x="7762414" y="77581"/>
                  </a:lnTo>
                  <a:lnTo>
                    <a:pt x="7735189" y="37211"/>
                  </a:lnTo>
                  <a:lnTo>
                    <a:pt x="7694818" y="9985"/>
                  </a:lnTo>
                  <a:lnTo>
                    <a:pt x="76454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E7336688-75C4-88C8-BBC7-6D47AB4BFDD3}"/>
                </a:ext>
              </a:extLst>
            </p:cNvPr>
            <p:cNvSpPr/>
            <p:nvPr/>
          </p:nvSpPr>
          <p:spPr>
            <a:xfrm>
              <a:off x="228600" y="3657599"/>
              <a:ext cx="7772400" cy="762000"/>
            </a:xfrm>
            <a:custGeom>
              <a:avLst/>
              <a:gdLst/>
              <a:ahLst/>
              <a:cxnLst/>
              <a:rect l="l" t="t" r="r" b="b"/>
              <a:pathLst>
                <a:path w="7772400" h="762000">
                  <a:moveTo>
                    <a:pt x="0" y="127000"/>
                  </a:moveTo>
                  <a:lnTo>
                    <a:pt x="9980" y="77581"/>
                  </a:lnTo>
                  <a:lnTo>
                    <a:pt x="37196" y="37210"/>
                  </a:lnTo>
                  <a:lnTo>
                    <a:pt x="77565" y="9985"/>
                  </a:lnTo>
                  <a:lnTo>
                    <a:pt x="127000" y="0"/>
                  </a:lnTo>
                  <a:lnTo>
                    <a:pt x="7645400" y="0"/>
                  </a:lnTo>
                  <a:lnTo>
                    <a:pt x="7694818" y="9985"/>
                  </a:lnTo>
                  <a:lnTo>
                    <a:pt x="7735189" y="37211"/>
                  </a:lnTo>
                  <a:lnTo>
                    <a:pt x="7762414" y="77581"/>
                  </a:lnTo>
                  <a:lnTo>
                    <a:pt x="7772400" y="127000"/>
                  </a:lnTo>
                  <a:lnTo>
                    <a:pt x="7772400" y="635000"/>
                  </a:lnTo>
                  <a:lnTo>
                    <a:pt x="7762414" y="684418"/>
                  </a:lnTo>
                  <a:lnTo>
                    <a:pt x="7735189" y="724789"/>
                  </a:lnTo>
                  <a:lnTo>
                    <a:pt x="7694818" y="752014"/>
                  </a:lnTo>
                  <a:lnTo>
                    <a:pt x="7645400" y="762000"/>
                  </a:lnTo>
                  <a:lnTo>
                    <a:pt x="127000" y="762000"/>
                  </a:lnTo>
                  <a:lnTo>
                    <a:pt x="77565" y="752014"/>
                  </a:lnTo>
                  <a:lnTo>
                    <a:pt x="37196" y="724788"/>
                  </a:lnTo>
                  <a:lnTo>
                    <a:pt x="9980" y="684418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1">
            <a:extLst>
              <a:ext uri="{FF2B5EF4-FFF2-40B4-BE49-F238E27FC236}">
                <a16:creationId xmlns:a16="http://schemas.microsoft.com/office/drawing/2014/main" id="{A7527E2C-6D29-E61C-9DA8-D3BD344C52FF}"/>
              </a:ext>
            </a:extLst>
          </p:cNvPr>
          <p:cNvGrpSpPr/>
          <p:nvPr/>
        </p:nvGrpSpPr>
        <p:grpSpPr>
          <a:xfrm>
            <a:off x="108204" y="5291344"/>
            <a:ext cx="7931150" cy="873760"/>
            <a:chOff x="108204" y="4937776"/>
            <a:chExt cx="7931150" cy="873760"/>
          </a:xfrm>
        </p:grpSpPr>
        <p:pic>
          <p:nvPicPr>
            <p:cNvPr id="25" name="object 22">
              <a:extLst>
                <a:ext uri="{FF2B5EF4-FFF2-40B4-BE49-F238E27FC236}">
                  <a16:creationId xmlns:a16="http://schemas.microsoft.com/office/drawing/2014/main" id="{141C7569-315A-0F66-B5D0-70C8030820D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498" y="4937776"/>
              <a:ext cx="7848603" cy="838167"/>
            </a:xfrm>
            <a:prstGeom prst="rect">
              <a:avLst/>
            </a:prstGeom>
          </p:spPr>
        </p:pic>
        <p:pic>
          <p:nvPicPr>
            <p:cNvPr id="26" name="object 23">
              <a:extLst>
                <a:ext uri="{FF2B5EF4-FFF2-40B4-BE49-F238E27FC236}">
                  <a16:creationId xmlns:a16="http://schemas.microsoft.com/office/drawing/2014/main" id="{D2A52B92-F472-41ED-B211-749290E205E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204" y="5006339"/>
              <a:ext cx="4840224" cy="804672"/>
            </a:xfrm>
            <a:prstGeom prst="rect">
              <a:avLst/>
            </a:prstGeom>
          </p:spPr>
        </p:pic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797A1A70-205C-2CC7-73AA-4A92FB89BD9D}"/>
                </a:ext>
              </a:extLst>
            </p:cNvPr>
            <p:cNvSpPr/>
            <p:nvPr/>
          </p:nvSpPr>
          <p:spPr>
            <a:xfrm>
              <a:off x="228600" y="4952999"/>
              <a:ext cx="7772400" cy="762000"/>
            </a:xfrm>
            <a:custGeom>
              <a:avLst/>
              <a:gdLst/>
              <a:ahLst/>
              <a:cxnLst/>
              <a:rect l="l" t="t" r="r" b="b"/>
              <a:pathLst>
                <a:path w="7772400" h="762000">
                  <a:moveTo>
                    <a:pt x="7645400" y="0"/>
                  </a:moveTo>
                  <a:lnTo>
                    <a:pt x="127000" y="0"/>
                  </a:lnTo>
                  <a:lnTo>
                    <a:pt x="77565" y="9985"/>
                  </a:lnTo>
                  <a:lnTo>
                    <a:pt x="37196" y="37210"/>
                  </a:lnTo>
                  <a:lnTo>
                    <a:pt x="9980" y="77581"/>
                  </a:lnTo>
                  <a:lnTo>
                    <a:pt x="0" y="127000"/>
                  </a:lnTo>
                  <a:lnTo>
                    <a:pt x="0" y="635000"/>
                  </a:lnTo>
                  <a:lnTo>
                    <a:pt x="9980" y="684434"/>
                  </a:lnTo>
                  <a:lnTo>
                    <a:pt x="37196" y="724803"/>
                  </a:lnTo>
                  <a:lnTo>
                    <a:pt x="77565" y="752019"/>
                  </a:lnTo>
                  <a:lnTo>
                    <a:pt x="127000" y="762000"/>
                  </a:lnTo>
                  <a:lnTo>
                    <a:pt x="7645400" y="762000"/>
                  </a:lnTo>
                  <a:lnTo>
                    <a:pt x="7694818" y="752019"/>
                  </a:lnTo>
                  <a:lnTo>
                    <a:pt x="7735189" y="724803"/>
                  </a:lnTo>
                  <a:lnTo>
                    <a:pt x="7762414" y="684434"/>
                  </a:lnTo>
                  <a:lnTo>
                    <a:pt x="7772400" y="635000"/>
                  </a:lnTo>
                  <a:lnTo>
                    <a:pt x="7772400" y="127000"/>
                  </a:lnTo>
                  <a:lnTo>
                    <a:pt x="7762414" y="77581"/>
                  </a:lnTo>
                  <a:lnTo>
                    <a:pt x="7735189" y="37211"/>
                  </a:lnTo>
                  <a:lnTo>
                    <a:pt x="7694818" y="9985"/>
                  </a:lnTo>
                  <a:lnTo>
                    <a:pt x="76454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5">
              <a:extLst>
                <a:ext uri="{FF2B5EF4-FFF2-40B4-BE49-F238E27FC236}">
                  <a16:creationId xmlns:a16="http://schemas.microsoft.com/office/drawing/2014/main" id="{DAC2B0EA-637F-59E8-CF86-8F81B48DED75}"/>
                </a:ext>
              </a:extLst>
            </p:cNvPr>
            <p:cNvSpPr/>
            <p:nvPr/>
          </p:nvSpPr>
          <p:spPr>
            <a:xfrm>
              <a:off x="228600" y="4952999"/>
              <a:ext cx="7772400" cy="762000"/>
            </a:xfrm>
            <a:custGeom>
              <a:avLst/>
              <a:gdLst/>
              <a:ahLst/>
              <a:cxnLst/>
              <a:rect l="l" t="t" r="r" b="b"/>
              <a:pathLst>
                <a:path w="7772400" h="762000">
                  <a:moveTo>
                    <a:pt x="0" y="127000"/>
                  </a:moveTo>
                  <a:lnTo>
                    <a:pt x="9980" y="77581"/>
                  </a:lnTo>
                  <a:lnTo>
                    <a:pt x="37196" y="37210"/>
                  </a:lnTo>
                  <a:lnTo>
                    <a:pt x="77565" y="9985"/>
                  </a:lnTo>
                  <a:lnTo>
                    <a:pt x="127000" y="0"/>
                  </a:lnTo>
                  <a:lnTo>
                    <a:pt x="7645400" y="0"/>
                  </a:lnTo>
                  <a:lnTo>
                    <a:pt x="7694818" y="9985"/>
                  </a:lnTo>
                  <a:lnTo>
                    <a:pt x="7735189" y="37211"/>
                  </a:lnTo>
                  <a:lnTo>
                    <a:pt x="7762414" y="77581"/>
                  </a:lnTo>
                  <a:lnTo>
                    <a:pt x="7772400" y="127000"/>
                  </a:lnTo>
                  <a:lnTo>
                    <a:pt x="7772400" y="635000"/>
                  </a:lnTo>
                  <a:lnTo>
                    <a:pt x="7762414" y="684434"/>
                  </a:lnTo>
                  <a:lnTo>
                    <a:pt x="7735189" y="724803"/>
                  </a:lnTo>
                  <a:lnTo>
                    <a:pt x="7694818" y="752019"/>
                  </a:lnTo>
                  <a:lnTo>
                    <a:pt x="7645400" y="762000"/>
                  </a:lnTo>
                  <a:lnTo>
                    <a:pt x="127000" y="762000"/>
                  </a:lnTo>
                  <a:lnTo>
                    <a:pt x="77565" y="752019"/>
                  </a:lnTo>
                  <a:lnTo>
                    <a:pt x="37196" y="724803"/>
                  </a:lnTo>
                  <a:lnTo>
                    <a:pt x="9980" y="684434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6">
            <a:extLst>
              <a:ext uri="{FF2B5EF4-FFF2-40B4-BE49-F238E27FC236}">
                <a16:creationId xmlns:a16="http://schemas.microsoft.com/office/drawing/2014/main" id="{D5F5B799-577D-BFD3-3CF2-587169467F18}"/>
              </a:ext>
            </a:extLst>
          </p:cNvPr>
          <p:cNvSpPr txBox="1"/>
          <p:nvPr/>
        </p:nvSpPr>
        <p:spPr>
          <a:xfrm>
            <a:off x="306425" y="4165472"/>
            <a:ext cx="4418330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latin typeface="Cambria"/>
                <a:cs typeface="Cambria"/>
              </a:rPr>
              <a:t>Streaming</a:t>
            </a:r>
            <a:r>
              <a:rPr sz="2700" dirty="0"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(a</a:t>
            </a:r>
            <a:r>
              <a:rPr sz="2400" spc="-7" baseline="-20833" dirty="0">
                <a:solidFill>
                  <a:srgbClr val="C00000"/>
                </a:solidFill>
                <a:latin typeface="Cambria"/>
                <a:cs typeface="Cambria"/>
              </a:rPr>
              <a:t>1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 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2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,….a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∞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)</a:t>
            </a:r>
            <a:r>
              <a:rPr sz="2700" spc="-7" baseline="24691" dirty="0">
                <a:solidFill>
                  <a:srgbClr val="C00000"/>
                </a:solidFill>
                <a:latin typeface="Cambria"/>
                <a:cs typeface="Cambria"/>
              </a:rPr>
              <a:t>N</a:t>
            </a:r>
            <a:endParaRPr sz="2700" baseline="24691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60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2740"/>
              </a:spcBef>
            </a:pPr>
            <a:r>
              <a:rPr sz="2700" spc="-10" dirty="0">
                <a:latin typeface="Cambria"/>
                <a:cs typeface="Cambria"/>
              </a:rPr>
              <a:t>Combination</a:t>
            </a:r>
            <a:r>
              <a:rPr sz="2700" spc="-5" dirty="0">
                <a:latin typeface="Cambria"/>
                <a:cs typeface="Cambria"/>
              </a:rPr>
              <a:t> of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spc="-35" dirty="0">
                <a:latin typeface="Cambria"/>
                <a:cs typeface="Cambria"/>
              </a:rPr>
              <a:t>above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three</a:t>
            </a:r>
            <a:endParaRPr sz="27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23320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48D9-6522-36AE-0DAC-59DD9D400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LRU limitations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B78684-4842-7F5A-A3ED-CF138934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B9314-15E6-FB70-B965-35EF019C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6</a:t>
            </a:fld>
            <a:endParaRPr lang="en-IN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8D5ADBD2-FCE0-769B-7674-D88BB78FB802}"/>
              </a:ext>
            </a:extLst>
          </p:cNvPr>
          <p:cNvGrpSpPr/>
          <p:nvPr/>
        </p:nvGrpSpPr>
        <p:grpSpPr>
          <a:xfrm>
            <a:off x="443483" y="1245249"/>
            <a:ext cx="5387340" cy="1066800"/>
            <a:chOff x="272795" y="975372"/>
            <a:chExt cx="5387340" cy="106680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370B6AA1-5D54-0D5F-1017-44A972FF32C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899" y="975372"/>
              <a:ext cx="5257800" cy="1066774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2D565FDB-362B-4F5E-639F-1A755A6867C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795" y="1158239"/>
              <a:ext cx="5387340" cy="804672"/>
            </a:xfrm>
            <a:prstGeom prst="rect">
              <a:avLst/>
            </a:prstGeom>
          </p:spPr>
        </p:pic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C2367159-9635-5CBA-245D-F134743C7115}"/>
                </a:ext>
              </a:extLst>
            </p:cNvPr>
            <p:cNvSpPr/>
            <p:nvPr/>
          </p:nvSpPr>
          <p:spPr>
            <a:xfrm>
              <a:off x="381000" y="990599"/>
              <a:ext cx="5181600" cy="990600"/>
            </a:xfrm>
            <a:custGeom>
              <a:avLst/>
              <a:gdLst/>
              <a:ahLst/>
              <a:cxnLst/>
              <a:rect l="l" t="t" r="r" b="b"/>
              <a:pathLst>
                <a:path w="5181600" h="990600">
                  <a:moveTo>
                    <a:pt x="50165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5016500" y="990600"/>
                  </a:lnTo>
                  <a:lnTo>
                    <a:pt x="5060391" y="984702"/>
                  </a:lnTo>
                  <a:lnTo>
                    <a:pt x="5099830" y="968059"/>
                  </a:lnTo>
                  <a:lnTo>
                    <a:pt x="5133244" y="942244"/>
                  </a:lnTo>
                  <a:lnTo>
                    <a:pt x="5159059" y="908830"/>
                  </a:lnTo>
                  <a:lnTo>
                    <a:pt x="5175702" y="869391"/>
                  </a:lnTo>
                  <a:lnTo>
                    <a:pt x="5181600" y="825500"/>
                  </a:lnTo>
                  <a:lnTo>
                    <a:pt x="5181600" y="165100"/>
                  </a:lnTo>
                  <a:lnTo>
                    <a:pt x="5175702" y="121208"/>
                  </a:lnTo>
                  <a:lnTo>
                    <a:pt x="5159059" y="81769"/>
                  </a:lnTo>
                  <a:lnTo>
                    <a:pt x="5133244" y="48355"/>
                  </a:lnTo>
                  <a:lnTo>
                    <a:pt x="5099830" y="22540"/>
                  </a:lnTo>
                  <a:lnTo>
                    <a:pt x="5060391" y="5897"/>
                  </a:lnTo>
                  <a:lnTo>
                    <a:pt x="50165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62E80300-307D-26C3-1393-3711790E12BB}"/>
                </a:ext>
              </a:extLst>
            </p:cNvPr>
            <p:cNvSpPr/>
            <p:nvPr/>
          </p:nvSpPr>
          <p:spPr>
            <a:xfrm>
              <a:off x="381000" y="990599"/>
              <a:ext cx="5181600" cy="990600"/>
            </a:xfrm>
            <a:custGeom>
              <a:avLst/>
              <a:gdLst/>
              <a:ahLst/>
              <a:cxnLst/>
              <a:rect l="l" t="t" r="r" b="b"/>
              <a:pathLst>
                <a:path w="51816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5016500" y="0"/>
                  </a:lnTo>
                  <a:lnTo>
                    <a:pt x="5060391" y="5897"/>
                  </a:lnTo>
                  <a:lnTo>
                    <a:pt x="5099830" y="22540"/>
                  </a:lnTo>
                  <a:lnTo>
                    <a:pt x="5133244" y="48355"/>
                  </a:lnTo>
                  <a:lnTo>
                    <a:pt x="5159059" y="81769"/>
                  </a:lnTo>
                  <a:lnTo>
                    <a:pt x="5175702" y="121208"/>
                  </a:lnTo>
                  <a:lnTo>
                    <a:pt x="5181600" y="165100"/>
                  </a:lnTo>
                  <a:lnTo>
                    <a:pt x="5181600" y="825500"/>
                  </a:lnTo>
                  <a:lnTo>
                    <a:pt x="5175702" y="869391"/>
                  </a:lnTo>
                  <a:lnTo>
                    <a:pt x="5159059" y="908830"/>
                  </a:lnTo>
                  <a:lnTo>
                    <a:pt x="5133244" y="942244"/>
                  </a:lnTo>
                  <a:lnTo>
                    <a:pt x="5099830" y="968059"/>
                  </a:lnTo>
                  <a:lnTo>
                    <a:pt x="5060391" y="984702"/>
                  </a:lnTo>
                  <a:lnTo>
                    <a:pt x="50165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8">
            <a:extLst>
              <a:ext uri="{FF2B5EF4-FFF2-40B4-BE49-F238E27FC236}">
                <a16:creationId xmlns:a16="http://schemas.microsoft.com/office/drawing/2014/main" id="{B089A5B7-7F84-BD92-D41F-020710454B74}"/>
              </a:ext>
            </a:extLst>
          </p:cNvPr>
          <p:cNvGrpSpPr/>
          <p:nvPr/>
        </p:nvGrpSpPr>
        <p:grpSpPr>
          <a:xfrm>
            <a:off x="461772" y="2731137"/>
            <a:ext cx="6224270" cy="1628139"/>
            <a:chOff x="291084" y="2461260"/>
            <a:chExt cx="6224270" cy="1628139"/>
          </a:xfrm>
        </p:grpSpPr>
        <p:pic>
          <p:nvPicPr>
            <p:cNvPr id="12" name="object 9">
              <a:extLst>
                <a:ext uri="{FF2B5EF4-FFF2-40B4-BE49-F238E27FC236}">
                  <a16:creationId xmlns:a16="http://schemas.microsoft.com/office/drawing/2014/main" id="{EBD7D8DC-0D83-D659-E004-F30953432FA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900" y="2499350"/>
              <a:ext cx="6172200" cy="1447818"/>
            </a:xfrm>
            <a:prstGeom prst="rect">
              <a:avLst/>
            </a:prstGeom>
          </p:spPr>
        </p:pic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ED406C5E-8827-D920-FABD-ABE59943190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1084" y="2461260"/>
              <a:ext cx="5568696" cy="1627632"/>
            </a:xfrm>
            <a:prstGeom prst="rect">
              <a:avLst/>
            </a:prstGeom>
          </p:spPr>
        </p:pic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93FDBF36-6F55-E533-F9C7-6CB3A36C8616}"/>
                </a:ext>
              </a:extLst>
            </p:cNvPr>
            <p:cNvSpPr/>
            <p:nvPr/>
          </p:nvSpPr>
          <p:spPr>
            <a:xfrm>
              <a:off x="381000" y="2514600"/>
              <a:ext cx="6096000" cy="1371600"/>
            </a:xfrm>
            <a:custGeom>
              <a:avLst/>
              <a:gdLst/>
              <a:ahLst/>
              <a:cxnLst/>
              <a:rect l="l" t="t" r="r" b="b"/>
              <a:pathLst>
                <a:path w="6096000" h="1371600">
                  <a:moveTo>
                    <a:pt x="5867400" y="0"/>
                  </a:moveTo>
                  <a:lnTo>
                    <a:pt x="228600" y="0"/>
                  </a:ln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0" y="1143000"/>
                  </a:lnTo>
                  <a:lnTo>
                    <a:pt x="4644" y="1189066"/>
                  </a:lnTo>
                  <a:lnTo>
                    <a:pt x="17964" y="1231975"/>
                  </a:lnTo>
                  <a:lnTo>
                    <a:pt x="39041" y="1270806"/>
                  </a:lnTo>
                  <a:lnTo>
                    <a:pt x="66955" y="1304639"/>
                  </a:lnTo>
                  <a:lnTo>
                    <a:pt x="100788" y="1332554"/>
                  </a:lnTo>
                  <a:lnTo>
                    <a:pt x="139619" y="1353633"/>
                  </a:lnTo>
                  <a:lnTo>
                    <a:pt x="182529" y="1366955"/>
                  </a:lnTo>
                  <a:lnTo>
                    <a:pt x="228600" y="1371600"/>
                  </a:lnTo>
                  <a:lnTo>
                    <a:pt x="5867400" y="1371600"/>
                  </a:lnTo>
                  <a:lnTo>
                    <a:pt x="5913466" y="1366955"/>
                  </a:lnTo>
                  <a:lnTo>
                    <a:pt x="5956375" y="1353633"/>
                  </a:lnTo>
                  <a:lnTo>
                    <a:pt x="5995206" y="1332554"/>
                  </a:lnTo>
                  <a:lnTo>
                    <a:pt x="6029039" y="1304639"/>
                  </a:lnTo>
                  <a:lnTo>
                    <a:pt x="6056954" y="1270806"/>
                  </a:lnTo>
                  <a:lnTo>
                    <a:pt x="6078033" y="1231975"/>
                  </a:lnTo>
                  <a:lnTo>
                    <a:pt x="6091355" y="1189066"/>
                  </a:lnTo>
                  <a:lnTo>
                    <a:pt x="6096000" y="1143000"/>
                  </a:lnTo>
                  <a:lnTo>
                    <a:pt x="6096000" y="228600"/>
                  </a:lnTo>
                  <a:lnTo>
                    <a:pt x="6091355" y="182533"/>
                  </a:lnTo>
                  <a:lnTo>
                    <a:pt x="6078033" y="139624"/>
                  </a:lnTo>
                  <a:lnTo>
                    <a:pt x="6056954" y="100793"/>
                  </a:lnTo>
                  <a:lnTo>
                    <a:pt x="6029039" y="66960"/>
                  </a:lnTo>
                  <a:lnTo>
                    <a:pt x="5995206" y="39045"/>
                  </a:lnTo>
                  <a:lnTo>
                    <a:pt x="5956375" y="17966"/>
                  </a:lnTo>
                  <a:lnTo>
                    <a:pt x="5913466" y="4644"/>
                  </a:lnTo>
                  <a:lnTo>
                    <a:pt x="58674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3F6513B5-92AD-8D1F-7466-6ED99E152CD3}"/>
                </a:ext>
              </a:extLst>
            </p:cNvPr>
            <p:cNvSpPr/>
            <p:nvPr/>
          </p:nvSpPr>
          <p:spPr>
            <a:xfrm>
              <a:off x="381000" y="2514600"/>
              <a:ext cx="6096000" cy="1371600"/>
            </a:xfrm>
            <a:custGeom>
              <a:avLst/>
              <a:gdLst/>
              <a:ahLst/>
              <a:cxnLst/>
              <a:rect l="l" t="t" r="r" b="b"/>
              <a:pathLst>
                <a:path w="6096000" h="1371600">
                  <a:moveTo>
                    <a:pt x="0" y="228600"/>
                  </a:moveTo>
                  <a:lnTo>
                    <a:pt x="4644" y="182533"/>
                  </a:lnTo>
                  <a:lnTo>
                    <a:pt x="17964" y="139624"/>
                  </a:lnTo>
                  <a:lnTo>
                    <a:pt x="39041" y="100793"/>
                  </a:lnTo>
                  <a:lnTo>
                    <a:pt x="66955" y="66960"/>
                  </a:lnTo>
                  <a:lnTo>
                    <a:pt x="100788" y="39045"/>
                  </a:lnTo>
                  <a:lnTo>
                    <a:pt x="139619" y="17966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5867400" y="0"/>
                  </a:lnTo>
                  <a:lnTo>
                    <a:pt x="5913466" y="4644"/>
                  </a:lnTo>
                  <a:lnTo>
                    <a:pt x="5956375" y="17966"/>
                  </a:lnTo>
                  <a:lnTo>
                    <a:pt x="5995206" y="39045"/>
                  </a:lnTo>
                  <a:lnTo>
                    <a:pt x="6029039" y="66960"/>
                  </a:lnTo>
                  <a:lnTo>
                    <a:pt x="6056954" y="100793"/>
                  </a:lnTo>
                  <a:lnTo>
                    <a:pt x="6078033" y="139624"/>
                  </a:lnTo>
                  <a:lnTo>
                    <a:pt x="6091355" y="182533"/>
                  </a:lnTo>
                  <a:lnTo>
                    <a:pt x="6096000" y="228600"/>
                  </a:lnTo>
                  <a:lnTo>
                    <a:pt x="6096000" y="1143000"/>
                  </a:lnTo>
                  <a:lnTo>
                    <a:pt x="6091355" y="1189066"/>
                  </a:lnTo>
                  <a:lnTo>
                    <a:pt x="6078033" y="1231975"/>
                  </a:lnTo>
                  <a:lnTo>
                    <a:pt x="6056954" y="1270806"/>
                  </a:lnTo>
                  <a:lnTo>
                    <a:pt x="6029039" y="1304639"/>
                  </a:lnTo>
                  <a:lnTo>
                    <a:pt x="5995206" y="1332554"/>
                  </a:lnTo>
                  <a:lnTo>
                    <a:pt x="5956375" y="1353633"/>
                  </a:lnTo>
                  <a:lnTo>
                    <a:pt x="5913466" y="1366955"/>
                  </a:lnTo>
                  <a:lnTo>
                    <a:pt x="5867400" y="1371600"/>
                  </a:lnTo>
                  <a:lnTo>
                    <a:pt x="228600" y="1371600"/>
                  </a:lnTo>
                  <a:lnTo>
                    <a:pt x="182529" y="1366955"/>
                  </a:lnTo>
                  <a:lnTo>
                    <a:pt x="139619" y="1353633"/>
                  </a:lnTo>
                  <a:lnTo>
                    <a:pt x="100788" y="1332554"/>
                  </a:lnTo>
                  <a:lnTo>
                    <a:pt x="66955" y="1304639"/>
                  </a:lnTo>
                  <a:lnTo>
                    <a:pt x="39041" y="1270806"/>
                  </a:lnTo>
                  <a:lnTo>
                    <a:pt x="17964" y="1231975"/>
                  </a:lnTo>
                  <a:lnTo>
                    <a:pt x="4644" y="1189066"/>
                  </a:lnTo>
                  <a:lnTo>
                    <a:pt x="0" y="1143000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3">
            <a:extLst>
              <a:ext uri="{FF2B5EF4-FFF2-40B4-BE49-F238E27FC236}">
                <a16:creationId xmlns:a16="http://schemas.microsoft.com/office/drawing/2014/main" id="{3FC1AA06-7162-EDC4-0A1E-FFC6B61342FB}"/>
              </a:ext>
            </a:extLst>
          </p:cNvPr>
          <p:cNvGrpSpPr/>
          <p:nvPr/>
        </p:nvGrpSpPr>
        <p:grpSpPr>
          <a:xfrm>
            <a:off x="461772" y="4864736"/>
            <a:ext cx="6833870" cy="1628139"/>
            <a:chOff x="291084" y="4594859"/>
            <a:chExt cx="6833870" cy="1628139"/>
          </a:xfrm>
        </p:grpSpPr>
        <p:pic>
          <p:nvPicPr>
            <p:cNvPr id="17" name="object 14">
              <a:extLst>
                <a:ext uri="{FF2B5EF4-FFF2-40B4-BE49-F238E27FC236}">
                  <a16:creationId xmlns:a16="http://schemas.microsoft.com/office/drawing/2014/main" id="{45753F91-1A76-9C9F-4D72-728EAEE3EFA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2902" y="4632950"/>
              <a:ext cx="6781795" cy="1447818"/>
            </a:xfrm>
            <a:prstGeom prst="rect">
              <a:avLst/>
            </a:prstGeom>
          </p:spPr>
        </p:pic>
        <p:pic>
          <p:nvPicPr>
            <p:cNvPr id="18" name="object 15">
              <a:extLst>
                <a:ext uri="{FF2B5EF4-FFF2-40B4-BE49-F238E27FC236}">
                  <a16:creationId xmlns:a16="http://schemas.microsoft.com/office/drawing/2014/main" id="{DF429A17-AFF3-17EA-67C4-75017CF1F4A9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1084" y="4594859"/>
              <a:ext cx="6623304" cy="1627632"/>
            </a:xfrm>
            <a:prstGeom prst="rect">
              <a:avLst/>
            </a:prstGeom>
          </p:spPr>
        </p:pic>
        <p:sp>
          <p:nvSpPr>
            <p:cNvPr id="19" name="object 16">
              <a:extLst>
                <a:ext uri="{FF2B5EF4-FFF2-40B4-BE49-F238E27FC236}">
                  <a16:creationId xmlns:a16="http://schemas.microsoft.com/office/drawing/2014/main" id="{7F7C9911-67C5-3105-5DDC-7BC72B4C7302}"/>
                </a:ext>
              </a:extLst>
            </p:cNvPr>
            <p:cNvSpPr/>
            <p:nvPr/>
          </p:nvSpPr>
          <p:spPr>
            <a:xfrm>
              <a:off x="381000" y="4648199"/>
              <a:ext cx="6705600" cy="1371600"/>
            </a:xfrm>
            <a:custGeom>
              <a:avLst/>
              <a:gdLst/>
              <a:ahLst/>
              <a:cxnLst/>
              <a:rect l="l" t="t" r="r" b="b"/>
              <a:pathLst>
                <a:path w="6705600" h="1371600">
                  <a:moveTo>
                    <a:pt x="6477000" y="0"/>
                  </a:moveTo>
                  <a:lnTo>
                    <a:pt x="228600" y="0"/>
                  </a:ln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0" y="1143000"/>
                  </a:lnTo>
                  <a:lnTo>
                    <a:pt x="4644" y="1189070"/>
                  </a:lnTo>
                  <a:lnTo>
                    <a:pt x="17964" y="1231980"/>
                  </a:lnTo>
                  <a:lnTo>
                    <a:pt x="39041" y="1270811"/>
                  </a:lnTo>
                  <a:lnTo>
                    <a:pt x="66955" y="1304644"/>
                  </a:lnTo>
                  <a:lnTo>
                    <a:pt x="100788" y="1332558"/>
                  </a:lnTo>
                  <a:lnTo>
                    <a:pt x="139619" y="1353635"/>
                  </a:lnTo>
                  <a:lnTo>
                    <a:pt x="182529" y="1366955"/>
                  </a:lnTo>
                  <a:lnTo>
                    <a:pt x="228600" y="1371600"/>
                  </a:lnTo>
                  <a:lnTo>
                    <a:pt x="6477000" y="1371600"/>
                  </a:lnTo>
                  <a:lnTo>
                    <a:pt x="6523066" y="1366955"/>
                  </a:lnTo>
                  <a:lnTo>
                    <a:pt x="6565975" y="1353635"/>
                  </a:lnTo>
                  <a:lnTo>
                    <a:pt x="6604806" y="1332558"/>
                  </a:lnTo>
                  <a:lnTo>
                    <a:pt x="6638639" y="1304644"/>
                  </a:lnTo>
                  <a:lnTo>
                    <a:pt x="6666554" y="1270811"/>
                  </a:lnTo>
                  <a:lnTo>
                    <a:pt x="6687633" y="1231980"/>
                  </a:lnTo>
                  <a:lnTo>
                    <a:pt x="6700955" y="1189070"/>
                  </a:lnTo>
                  <a:lnTo>
                    <a:pt x="6705600" y="1143000"/>
                  </a:lnTo>
                  <a:lnTo>
                    <a:pt x="6705600" y="228600"/>
                  </a:lnTo>
                  <a:lnTo>
                    <a:pt x="6700955" y="182533"/>
                  </a:lnTo>
                  <a:lnTo>
                    <a:pt x="6687633" y="139624"/>
                  </a:lnTo>
                  <a:lnTo>
                    <a:pt x="6666554" y="100793"/>
                  </a:lnTo>
                  <a:lnTo>
                    <a:pt x="6638639" y="66960"/>
                  </a:lnTo>
                  <a:lnTo>
                    <a:pt x="6604806" y="39045"/>
                  </a:lnTo>
                  <a:lnTo>
                    <a:pt x="6565975" y="17966"/>
                  </a:lnTo>
                  <a:lnTo>
                    <a:pt x="6523066" y="4644"/>
                  </a:lnTo>
                  <a:lnTo>
                    <a:pt x="6477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603B7785-B681-3406-1D13-6E19718841E1}"/>
                </a:ext>
              </a:extLst>
            </p:cNvPr>
            <p:cNvSpPr/>
            <p:nvPr/>
          </p:nvSpPr>
          <p:spPr>
            <a:xfrm>
              <a:off x="381000" y="4648199"/>
              <a:ext cx="6705600" cy="1371600"/>
            </a:xfrm>
            <a:custGeom>
              <a:avLst/>
              <a:gdLst/>
              <a:ahLst/>
              <a:cxnLst/>
              <a:rect l="l" t="t" r="r" b="b"/>
              <a:pathLst>
                <a:path w="6705600" h="1371600">
                  <a:moveTo>
                    <a:pt x="0" y="228600"/>
                  </a:moveTo>
                  <a:lnTo>
                    <a:pt x="4644" y="182533"/>
                  </a:lnTo>
                  <a:lnTo>
                    <a:pt x="17964" y="139624"/>
                  </a:lnTo>
                  <a:lnTo>
                    <a:pt x="39041" y="100793"/>
                  </a:lnTo>
                  <a:lnTo>
                    <a:pt x="66955" y="66960"/>
                  </a:lnTo>
                  <a:lnTo>
                    <a:pt x="100788" y="39045"/>
                  </a:lnTo>
                  <a:lnTo>
                    <a:pt x="139619" y="17966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6477000" y="0"/>
                  </a:lnTo>
                  <a:lnTo>
                    <a:pt x="6523066" y="4644"/>
                  </a:lnTo>
                  <a:lnTo>
                    <a:pt x="6565975" y="17966"/>
                  </a:lnTo>
                  <a:lnTo>
                    <a:pt x="6604806" y="39045"/>
                  </a:lnTo>
                  <a:lnTo>
                    <a:pt x="6638639" y="66960"/>
                  </a:lnTo>
                  <a:lnTo>
                    <a:pt x="6666554" y="100793"/>
                  </a:lnTo>
                  <a:lnTo>
                    <a:pt x="6687633" y="139624"/>
                  </a:lnTo>
                  <a:lnTo>
                    <a:pt x="6700955" y="182533"/>
                  </a:lnTo>
                  <a:lnTo>
                    <a:pt x="6705600" y="228600"/>
                  </a:lnTo>
                  <a:lnTo>
                    <a:pt x="6705600" y="1143000"/>
                  </a:lnTo>
                  <a:lnTo>
                    <a:pt x="6700955" y="1189070"/>
                  </a:lnTo>
                  <a:lnTo>
                    <a:pt x="6687633" y="1231980"/>
                  </a:lnTo>
                  <a:lnTo>
                    <a:pt x="6666554" y="1270811"/>
                  </a:lnTo>
                  <a:lnTo>
                    <a:pt x="6638639" y="1304644"/>
                  </a:lnTo>
                  <a:lnTo>
                    <a:pt x="6604806" y="1332558"/>
                  </a:lnTo>
                  <a:lnTo>
                    <a:pt x="6565975" y="1353635"/>
                  </a:lnTo>
                  <a:lnTo>
                    <a:pt x="6523066" y="1366955"/>
                  </a:lnTo>
                  <a:lnTo>
                    <a:pt x="6477000" y="1371600"/>
                  </a:lnTo>
                  <a:lnTo>
                    <a:pt x="228600" y="1371600"/>
                  </a:lnTo>
                  <a:lnTo>
                    <a:pt x="182529" y="1366955"/>
                  </a:lnTo>
                  <a:lnTo>
                    <a:pt x="139619" y="1353635"/>
                  </a:lnTo>
                  <a:lnTo>
                    <a:pt x="100788" y="1332558"/>
                  </a:lnTo>
                  <a:lnTo>
                    <a:pt x="66955" y="1304644"/>
                  </a:lnTo>
                  <a:lnTo>
                    <a:pt x="39041" y="1270811"/>
                  </a:lnTo>
                  <a:lnTo>
                    <a:pt x="17964" y="1231980"/>
                  </a:lnTo>
                  <a:lnTo>
                    <a:pt x="4644" y="1189070"/>
                  </a:lnTo>
                  <a:lnTo>
                    <a:pt x="0" y="1143000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18">
            <a:extLst>
              <a:ext uri="{FF2B5EF4-FFF2-40B4-BE49-F238E27FC236}">
                <a16:creationId xmlns:a16="http://schemas.microsoft.com/office/drawing/2014/main" id="{3F35C514-F227-6E1F-BB8F-80D17D50C845}"/>
              </a:ext>
            </a:extLst>
          </p:cNvPr>
          <p:cNvSpPr txBox="1"/>
          <p:nvPr/>
        </p:nvSpPr>
        <p:spPr>
          <a:xfrm>
            <a:off x="646683" y="1528447"/>
            <a:ext cx="6162675" cy="47602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00"/>
              </a:spcBef>
            </a:pPr>
            <a:r>
              <a:rPr sz="2700" spc="-30" dirty="0">
                <a:latin typeface="Cambria"/>
                <a:cs typeface="Cambria"/>
              </a:rPr>
              <a:t>LRU</a:t>
            </a:r>
            <a:r>
              <a:rPr sz="2700" spc="-15" dirty="0">
                <a:latin typeface="Cambria"/>
                <a:cs typeface="Cambria"/>
              </a:rPr>
              <a:t> exploits</a:t>
            </a:r>
            <a:r>
              <a:rPr sz="2700" spc="30" dirty="0">
                <a:latin typeface="Cambria"/>
                <a:cs typeface="Cambria"/>
              </a:rPr>
              <a:t> </a:t>
            </a:r>
            <a:r>
              <a:rPr sz="2700" spc="-15" dirty="0">
                <a:solidFill>
                  <a:srgbClr val="C00000"/>
                </a:solidFill>
                <a:latin typeface="Cambria"/>
                <a:cs typeface="Cambria"/>
              </a:rPr>
              <a:t>temporal</a:t>
            </a:r>
            <a:r>
              <a:rPr sz="2700" spc="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locality</a:t>
            </a:r>
            <a:endParaRPr sz="27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50">
              <a:latin typeface="Cambria"/>
              <a:cs typeface="Cambria"/>
            </a:endParaRPr>
          </a:p>
          <a:p>
            <a:pPr marL="63500" marR="1172845">
              <a:lnSpc>
                <a:spcPct val="100000"/>
              </a:lnSpc>
            </a:pP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Streaming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data 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(a</a:t>
            </a:r>
            <a:r>
              <a:rPr sz="2700" baseline="-20061" dirty="0">
                <a:solidFill>
                  <a:srgbClr val="C00000"/>
                </a:solidFill>
                <a:latin typeface="Cambria"/>
                <a:cs typeface="Cambria"/>
              </a:rPr>
              <a:t>1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,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2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 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3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,….a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∞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): </a:t>
            </a:r>
            <a:r>
              <a:rPr sz="2700" spc="-5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No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spc="-15" dirty="0">
                <a:latin typeface="Cambria"/>
                <a:cs typeface="Cambria"/>
              </a:rPr>
              <a:t>temporal</a:t>
            </a:r>
            <a:r>
              <a:rPr sz="2700" spc="35" dirty="0">
                <a:latin typeface="Cambria"/>
                <a:cs typeface="Cambria"/>
              </a:rPr>
              <a:t> </a:t>
            </a:r>
            <a:r>
              <a:rPr sz="2700" spc="-35" dirty="0">
                <a:latin typeface="Cambria"/>
                <a:cs typeface="Cambria"/>
              </a:rPr>
              <a:t>locality,</a:t>
            </a:r>
            <a:endParaRPr sz="2700">
              <a:latin typeface="Cambria"/>
              <a:cs typeface="Cambria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2700" spc="-5" dirty="0">
                <a:latin typeface="Cambria"/>
                <a:cs typeface="Cambria"/>
              </a:rPr>
              <a:t>No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spc="-15" dirty="0">
                <a:latin typeface="Cambria"/>
                <a:cs typeface="Cambria"/>
              </a:rPr>
              <a:t>temporal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reuse</a:t>
            </a:r>
            <a:endParaRPr sz="27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00">
              <a:latin typeface="Cambria"/>
              <a:cs typeface="Cambria"/>
            </a:endParaRPr>
          </a:p>
          <a:p>
            <a:pPr marL="63500" marR="43180">
              <a:lnSpc>
                <a:spcPct val="100000"/>
              </a:lnSpc>
            </a:pPr>
            <a:r>
              <a:rPr sz="2700" spc="-15" dirty="0">
                <a:solidFill>
                  <a:srgbClr val="C00000"/>
                </a:solidFill>
                <a:latin typeface="Cambria"/>
                <a:cs typeface="Cambria"/>
              </a:rPr>
              <a:t>Thrashing</a:t>
            </a:r>
            <a:r>
              <a:rPr sz="2700" spc="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data</a:t>
            </a:r>
            <a:r>
              <a:rPr sz="2700" spc="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(a</a:t>
            </a:r>
            <a:r>
              <a:rPr sz="2700" baseline="-20061" dirty="0">
                <a:solidFill>
                  <a:srgbClr val="C00000"/>
                </a:solidFill>
                <a:latin typeface="Cambria"/>
                <a:cs typeface="Cambria"/>
              </a:rPr>
              <a:t>1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,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 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2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</a:t>
            </a:r>
            <a:r>
              <a:rPr sz="2700" spc="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3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,….a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n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)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 [n&gt;c] </a:t>
            </a:r>
            <a:r>
              <a:rPr sz="2700" spc="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40" dirty="0">
                <a:latin typeface="Cambria"/>
                <a:cs typeface="Cambria"/>
              </a:rPr>
              <a:t>Temporal</a:t>
            </a:r>
            <a:r>
              <a:rPr sz="2700" spc="2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locality</a:t>
            </a:r>
            <a:r>
              <a:rPr sz="2700" spc="45" dirty="0">
                <a:latin typeface="Cambria"/>
                <a:cs typeface="Cambria"/>
              </a:rPr>
              <a:t> </a:t>
            </a:r>
            <a:r>
              <a:rPr sz="2700" spc="-15" dirty="0">
                <a:latin typeface="Cambria"/>
                <a:cs typeface="Cambria"/>
              </a:rPr>
              <a:t>exists.</a:t>
            </a:r>
            <a:r>
              <a:rPr sz="2700" spc="-5" dirty="0">
                <a:latin typeface="Cambria"/>
                <a:cs typeface="Cambria"/>
              </a:rPr>
              <a:t> </a:t>
            </a:r>
            <a:r>
              <a:rPr sz="2700" spc="-70" dirty="0">
                <a:latin typeface="Cambria"/>
                <a:cs typeface="Cambria"/>
              </a:rPr>
              <a:t>However,</a:t>
            </a:r>
            <a:r>
              <a:rPr sz="2700" spc="35" dirty="0">
                <a:latin typeface="Cambria"/>
                <a:cs typeface="Cambria"/>
              </a:rPr>
              <a:t> </a:t>
            </a:r>
            <a:r>
              <a:rPr sz="2700" spc="-30" dirty="0">
                <a:latin typeface="Cambria"/>
                <a:cs typeface="Cambria"/>
              </a:rPr>
              <a:t>LRU </a:t>
            </a:r>
            <a:r>
              <a:rPr sz="2700" spc="-58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fails</a:t>
            </a:r>
            <a:r>
              <a:rPr sz="2700" spc="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to</a:t>
            </a:r>
            <a:r>
              <a:rPr sz="2700" spc="10" dirty="0">
                <a:latin typeface="Cambria"/>
                <a:cs typeface="Cambria"/>
              </a:rPr>
              <a:t> </a:t>
            </a:r>
            <a:r>
              <a:rPr sz="2700" spc="-15" dirty="0">
                <a:latin typeface="Cambria"/>
                <a:cs typeface="Cambria"/>
              </a:rPr>
              <a:t>capture.</a:t>
            </a:r>
            <a:endParaRPr sz="27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210193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6" descr="Machine in a laboratory">
            <a:extLst>
              <a:ext uri="{FF2B5EF4-FFF2-40B4-BE49-F238E27FC236}">
                <a16:creationId xmlns:a16="http://schemas.microsoft.com/office/drawing/2014/main" id="{453ADFBD-5D30-78B7-ABE4-C413FD8A69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627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0" name="Rectangle 1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47B124-E22A-3D3B-EE6D-2BDE7B55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BTW, LRU is not implemented</a:t>
            </a:r>
            <a:br>
              <a:rPr lang="en-US" sz="4800">
                <a:solidFill>
                  <a:schemeClr val="bg1"/>
                </a:solidFill>
              </a:rPr>
            </a:br>
            <a:r>
              <a:rPr lang="en-US" sz="4800">
                <a:solidFill>
                  <a:schemeClr val="bg1"/>
                </a:solidFill>
              </a:rPr>
              <a:t>@commercial machines</a:t>
            </a:r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FDFC1-AF16-FA23-1A9F-0413FE692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bg1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3DA5B-3EEB-B475-AD5F-B3F6DB91B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7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28665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B0A0-F2E8-F794-64D4-1286878D8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Bimodal Policy [ISCA ‘07]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1DDC91-BFA1-C320-D538-F341836B6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06F29-BE8F-2D77-214D-9B56D50A3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7F38797-64DA-C6B2-BCE4-77EB111105D5}"/>
              </a:ext>
            </a:extLst>
          </p:cNvPr>
          <p:cNvSpPr txBox="1"/>
          <p:nvPr/>
        </p:nvSpPr>
        <p:spPr>
          <a:xfrm>
            <a:off x="1371600" y="1566672"/>
            <a:ext cx="6359525" cy="176530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>
              <a:lnSpc>
                <a:spcPts val="3354"/>
              </a:lnSpc>
              <a:spcBef>
                <a:spcPts val="170"/>
              </a:spcBef>
              <a:tabLst>
                <a:tab pos="452755" algn="l"/>
              </a:tabLst>
            </a:pPr>
            <a:r>
              <a:rPr sz="2800" spc="-5" dirty="0">
                <a:latin typeface="Cambria"/>
                <a:cs typeface="Cambria"/>
              </a:rPr>
              <a:t>if	(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15" dirty="0">
                <a:solidFill>
                  <a:srgbClr val="C00000"/>
                </a:solidFill>
                <a:latin typeface="Cambria"/>
                <a:cs typeface="Cambria"/>
              </a:rPr>
              <a:t>rand()</a:t>
            </a:r>
            <a:r>
              <a:rPr sz="28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Cambria"/>
                <a:cs typeface="Cambria"/>
              </a:rPr>
              <a:t>&lt; </a:t>
            </a:r>
            <a:r>
              <a:rPr sz="2800" spc="-5" dirty="0">
                <a:latin typeface="Symbol"/>
                <a:cs typeface="Symbol"/>
              </a:rPr>
              <a:t>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mbria"/>
                <a:cs typeface="Cambria"/>
              </a:rPr>
              <a:t>) </a:t>
            </a:r>
            <a:r>
              <a:rPr sz="2800" dirty="0">
                <a:latin typeface="Symbol"/>
                <a:cs typeface="Symbol"/>
              </a:rPr>
              <a:t></a:t>
            </a:r>
            <a:endParaRPr sz="2800">
              <a:latin typeface="Symbol"/>
              <a:cs typeface="Symbol"/>
            </a:endParaRPr>
          </a:p>
          <a:p>
            <a:pPr marL="91440" marR="2298065" indent="457200">
              <a:lnSpc>
                <a:spcPts val="3360"/>
              </a:lnSpc>
              <a:spcBef>
                <a:spcPts val="105"/>
              </a:spcBef>
            </a:pPr>
            <a:r>
              <a:rPr sz="2800" spc="-10" dirty="0">
                <a:latin typeface="Cambria"/>
                <a:cs typeface="Cambria"/>
              </a:rPr>
              <a:t>Insert </a:t>
            </a:r>
            <a:r>
              <a:rPr sz="2800" spc="-5" dirty="0">
                <a:latin typeface="Cambria"/>
                <a:cs typeface="Cambria"/>
              </a:rPr>
              <a:t>at </a:t>
            </a:r>
            <a:r>
              <a:rPr sz="2800" spc="-25" dirty="0">
                <a:latin typeface="Cambria"/>
                <a:cs typeface="Cambria"/>
              </a:rPr>
              <a:t>MRU </a:t>
            </a:r>
            <a:r>
              <a:rPr sz="2800" spc="-5" dirty="0">
                <a:latin typeface="Cambria"/>
                <a:cs typeface="Cambria"/>
              </a:rPr>
              <a:t>position; </a:t>
            </a:r>
            <a:r>
              <a:rPr sz="2800" spc="-60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else</a:t>
            </a:r>
            <a:endParaRPr sz="2800">
              <a:latin typeface="Cambria"/>
              <a:cs typeface="Cambria"/>
            </a:endParaRPr>
          </a:p>
          <a:p>
            <a:pPr marL="548640">
              <a:lnSpc>
                <a:spcPts val="3250"/>
              </a:lnSpc>
            </a:pPr>
            <a:r>
              <a:rPr sz="2800" spc="-10" dirty="0">
                <a:latin typeface="Cambria"/>
                <a:cs typeface="Cambria"/>
              </a:rPr>
              <a:t>Insert</a:t>
            </a:r>
            <a:r>
              <a:rPr sz="2800" spc="-5" dirty="0">
                <a:latin typeface="Cambria"/>
                <a:cs typeface="Cambria"/>
              </a:rPr>
              <a:t> at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LRU </a:t>
            </a:r>
            <a:r>
              <a:rPr sz="2800" spc="-5" dirty="0">
                <a:latin typeface="Cambria"/>
                <a:cs typeface="Cambria"/>
              </a:rPr>
              <a:t>position;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C7E15CC2-BE7B-4B5A-B13C-96A4213C9842}"/>
              </a:ext>
            </a:extLst>
          </p:cNvPr>
          <p:cNvSpPr txBox="1"/>
          <p:nvPr/>
        </p:nvSpPr>
        <p:spPr>
          <a:xfrm>
            <a:off x="638048" y="4069206"/>
            <a:ext cx="10328275" cy="1559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95"/>
              </a:spcBef>
            </a:pPr>
            <a:r>
              <a:rPr sz="2800" spc="-40" dirty="0">
                <a:latin typeface="Cambria"/>
                <a:cs typeface="Cambria"/>
              </a:rPr>
              <a:t>For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small </a:t>
            </a:r>
            <a:r>
              <a:rPr sz="2800" spc="-5" dirty="0">
                <a:latin typeface="Symbol"/>
                <a:cs typeface="Symbol"/>
              </a:rPr>
              <a:t></a:t>
            </a:r>
            <a:r>
              <a:rPr sz="2800" spc="-5" dirty="0">
                <a:latin typeface="Cambria"/>
                <a:cs typeface="Cambria"/>
              </a:rPr>
              <a:t>: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BIP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retains </a:t>
            </a:r>
            <a:r>
              <a:rPr sz="2800" spc="-15" dirty="0">
                <a:latin typeface="Cambria"/>
                <a:cs typeface="Cambria"/>
              </a:rPr>
              <a:t>thrashing</a:t>
            </a:r>
            <a:r>
              <a:rPr sz="2800" spc="2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protection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LRU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insertion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40" dirty="0">
                <a:latin typeface="Cambria"/>
                <a:cs typeface="Cambria"/>
              </a:rPr>
              <a:t>policy.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spc="-15" dirty="0">
                <a:latin typeface="Cambria"/>
                <a:cs typeface="Cambria"/>
              </a:rPr>
              <a:t>Infrequently</a:t>
            </a:r>
            <a:r>
              <a:rPr sz="2800" spc="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insert </a:t>
            </a:r>
            <a:r>
              <a:rPr sz="2800" spc="-10" dirty="0">
                <a:latin typeface="Cambria"/>
                <a:cs typeface="Cambria"/>
              </a:rPr>
              <a:t>lines</a:t>
            </a:r>
            <a:r>
              <a:rPr sz="2800" spc="-5" dirty="0">
                <a:latin typeface="Cambria"/>
                <a:cs typeface="Cambria"/>
              </a:rPr>
              <a:t> in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MRU</a:t>
            </a:r>
            <a:r>
              <a:rPr sz="2800" spc="-5" dirty="0">
                <a:latin typeface="Cambria"/>
                <a:cs typeface="Cambria"/>
              </a:rPr>
              <a:t> position</a:t>
            </a:r>
            <a:endParaRPr sz="2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414809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F3780-6DE5-3108-DE5C-A40325BAF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Insertion Policy (DIP): Celebrated technique in the community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49F1D-3BB9-F9C5-8167-A437811ED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48BE0-C1A1-5643-B517-CA9325F3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9</a:t>
            </a:fld>
            <a:endParaRPr lang="en-IN" dirty="0"/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186B9B7B-ABD6-AF2C-CB7B-E7F2C9462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139602"/>
              </p:ext>
            </p:extLst>
          </p:nvPr>
        </p:nvGraphicFramePr>
        <p:xfrm>
          <a:off x="1197610" y="2585974"/>
          <a:ext cx="2095500" cy="3174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905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69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905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  <p:sp>
        <p:nvSpPr>
          <p:cNvPr id="9" name="object 4">
            <a:extLst>
              <a:ext uri="{FF2B5EF4-FFF2-40B4-BE49-F238E27FC236}">
                <a16:creationId xmlns:a16="http://schemas.microsoft.com/office/drawing/2014/main" id="{CFFDCA1F-78EB-CEE2-0A01-5EC201F9BA9B}"/>
              </a:ext>
            </a:extLst>
          </p:cNvPr>
          <p:cNvSpPr/>
          <p:nvPr/>
        </p:nvSpPr>
        <p:spPr>
          <a:xfrm>
            <a:off x="4061460" y="2573782"/>
            <a:ext cx="2095500" cy="571500"/>
          </a:xfrm>
          <a:custGeom>
            <a:avLst/>
            <a:gdLst/>
            <a:ahLst/>
            <a:cxnLst/>
            <a:rect l="l" t="t" r="r" b="b"/>
            <a:pathLst>
              <a:path w="2095500" h="571500">
                <a:moveTo>
                  <a:pt x="2095500" y="0"/>
                </a:moveTo>
                <a:lnTo>
                  <a:pt x="0" y="0"/>
                </a:lnTo>
                <a:lnTo>
                  <a:pt x="0" y="571500"/>
                </a:lnTo>
                <a:lnTo>
                  <a:pt x="2095500" y="571500"/>
                </a:lnTo>
                <a:lnTo>
                  <a:pt x="2095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F079D96A-0990-362A-5598-70600D8D87C3}"/>
              </a:ext>
            </a:extLst>
          </p:cNvPr>
          <p:cNvSpPr txBox="1"/>
          <p:nvPr/>
        </p:nvSpPr>
        <p:spPr>
          <a:xfrm>
            <a:off x="4061460" y="2573782"/>
            <a:ext cx="2095500" cy="571500"/>
          </a:xfrm>
          <a:prstGeom prst="rect">
            <a:avLst/>
          </a:prstGeom>
          <a:ln w="12700">
            <a:solidFill>
              <a:srgbClr val="003300"/>
            </a:solidFill>
          </a:ln>
        </p:spPr>
        <p:txBody>
          <a:bodyPr vert="horz" wrap="square" lIns="0" tIns="151130" rIns="0" bIns="0" rtlCol="0">
            <a:spAutoFit/>
          </a:bodyPr>
          <a:lstStyle/>
          <a:p>
            <a:pPr marL="318770">
              <a:lnSpc>
                <a:spcPct val="100000"/>
              </a:lnSpc>
              <a:spcBef>
                <a:spcPts val="1190"/>
              </a:spcBef>
            </a:pPr>
            <a:r>
              <a:rPr sz="1700" spc="-5" dirty="0">
                <a:latin typeface="Cambria"/>
                <a:cs typeface="Cambria"/>
              </a:rPr>
              <a:t>SDM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spc="-5" dirty="0">
                <a:latin typeface="Cambria"/>
                <a:cs typeface="Cambria"/>
              </a:rPr>
              <a:t>(LRU-sets)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7DB52D78-0502-DE6E-8AC8-8538E52BF620}"/>
              </a:ext>
            </a:extLst>
          </p:cNvPr>
          <p:cNvSpPr txBox="1"/>
          <p:nvPr/>
        </p:nvSpPr>
        <p:spPr>
          <a:xfrm>
            <a:off x="4061460" y="3716782"/>
            <a:ext cx="2095500" cy="2095500"/>
          </a:xfrm>
          <a:prstGeom prst="rect">
            <a:avLst/>
          </a:prstGeom>
          <a:solidFill>
            <a:srgbClr val="D4D3D5"/>
          </a:solidFill>
          <a:ln w="12700">
            <a:solidFill>
              <a:srgbClr val="00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50">
              <a:latin typeface="Times New Roman"/>
              <a:cs typeface="Times New Roman"/>
            </a:endParaRPr>
          </a:p>
          <a:p>
            <a:pPr marL="429895">
              <a:lnSpc>
                <a:spcPct val="100000"/>
              </a:lnSpc>
            </a:pPr>
            <a:r>
              <a:rPr sz="1700" spc="-15" dirty="0">
                <a:solidFill>
                  <a:srgbClr val="003300"/>
                </a:solidFill>
                <a:latin typeface="Cambria"/>
                <a:cs typeface="Cambria"/>
              </a:rPr>
              <a:t>Follower</a:t>
            </a:r>
            <a:r>
              <a:rPr sz="1700" spc="-40" dirty="0">
                <a:solidFill>
                  <a:srgbClr val="003300"/>
                </a:solidFill>
                <a:latin typeface="Cambria"/>
                <a:cs typeface="Cambria"/>
              </a:rPr>
              <a:t> </a:t>
            </a:r>
            <a:r>
              <a:rPr sz="1700" spc="-5" dirty="0">
                <a:solidFill>
                  <a:srgbClr val="003300"/>
                </a:solidFill>
                <a:latin typeface="Cambria"/>
                <a:cs typeface="Cambria"/>
              </a:rPr>
              <a:t>Sets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EAEC1A21-0A2C-D57F-4E31-9863B5E34F96}"/>
              </a:ext>
            </a:extLst>
          </p:cNvPr>
          <p:cNvSpPr txBox="1"/>
          <p:nvPr/>
        </p:nvSpPr>
        <p:spPr>
          <a:xfrm>
            <a:off x="4061460" y="3145282"/>
            <a:ext cx="2095500" cy="5715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3300"/>
            </a:solidFill>
          </a:ln>
        </p:spPr>
        <p:txBody>
          <a:bodyPr vert="horz" wrap="square" lIns="0" tIns="151130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1190"/>
              </a:spcBef>
            </a:pPr>
            <a:r>
              <a:rPr sz="1700" spc="-5" dirty="0">
                <a:latin typeface="Cambria"/>
                <a:cs typeface="Cambria"/>
              </a:rPr>
              <a:t>SDM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(BIP-sets)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8C59BC47-7F44-01DA-ABBF-45C0F35A5407}"/>
              </a:ext>
            </a:extLst>
          </p:cNvPr>
          <p:cNvSpPr txBox="1"/>
          <p:nvPr/>
        </p:nvSpPr>
        <p:spPr>
          <a:xfrm>
            <a:off x="7280910" y="2903982"/>
            <a:ext cx="1314450" cy="3810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2000" spc="-10" dirty="0">
                <a:latin typeface="Cambria"/>
                <a:cs typeface="Cambria"/>
              </a:rPr>
              <a:t>n-bit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PSEL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4" name="object 9">
            <a:extLst>
              <a:ext uri="{FF2B5EF4-FFF2-40B4-BE49-F238E27FC236}">
                <a16:creationId xmlns:a16="http://schemas.microsoft.com/office/drawing/2014/main" id="{D7A28234-FB0F-5E52-187C-663FBD73AFA4}"/>
              </a:ext>
            </a:extLst>
          </p:cNvPr>
          <p:cNvGrpSpPr/>
          <p:nvPr/>
        </p:nvGrpSpPr>
        <p:grpSpPr>
          <a:xfrm>
            <a:off x="6142672" y="2688208"/>
            <a:ext cx="897255" cy="368300"/>
            <a:chOff x="6081712" y="1822576"/>
            <a:chExt cx="897255" cy="368300"/>
          </a:xfrm>
        </p:grpSpPr>
        <p:sp>
          <p:nvSpPr>
            <p:cNvPr id="15" name="object 10">
              <a:extLst>
                <a:ext uri="{FF2B5EF4-FFF2-40B4-BE49-F238E27FC236}">
                  <a16:creationId xmlns:a16="http://schemas.microsoft.com/office/drawing/2014/main" id="{ABA93390-5A11-109A-5515-1747AAC0E5F0}"/>
                </a:ext>
              </a:extLst>
            </p:cNvPr>
            <p:cNvSpPr/>
            <p:nvPr/>
          </p:nvSpPr>
          <p:spPr>
            <a:xfrm>
              <a:off x="6096000" y="2038476"/>
              <a:ext cx="714375" cy="0"/>
            </a:xfrm>
            <a:custGeom>
              <a:avLst/>
              <a:gdLst/>
              <a:ahLst/>
              <a:cxnLst/>
              <a:rect l="l" t="t" r="r" b="b"/>
              <a:pathLst>
                <a:path w="71437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>
              <a:extLst>
                <a:ext uri="{FF2B5EF4-FFF2-40B4-BE49-F238E27FC236}">
                  <a16:creationId xmlns:a16="http://schemas.microsoft.com/office/drawing/2014/main" id="{803E433A-F926-EFDA-E6B0-C72C1E5C4D81}"/>
                </a:ext>
              </a:extLst>
            </p:cNvPr>
            <p:cNvSpPr/>
            <p:nvPr/>
          </p:nvSpPr>
          <p:spPr>
            <a:xfrm>
              <a:off x="6667500" y="1847976"/>
              <a:ext cx="285750" cy="317500"/>
            </a:xfrm>
            <a:custGeom>
              <a:avLst/>
              <a:gdLst/>
              <a:ahLst/>
              <a:cxnLst/>
              <a:rect l="l" t="t" r="r" b="b"/>
              <a:pathLst>
                <a:path w="285750" h="317500">
                  <a:moveTo>
                    <a:pt x="142875" y="0"/>
                  </a:moveTo>
                  <a:lnTo>
                    <a:pt x="97731" y="8097"/>
                  </a:lnTo>
                  <a:lnTo>
                    <a:pt x="58512" y="30642"/>
                  </a:lnTo>
                  <a:lnTo>
                    <a:pt x="27578" y="65013"/>
                  </a:lnTo>
                  <a:lnTo>
                    <a:pt x="7287" y="108590"/>
                  </a:lnTo>
                  <a:lnTo>
                    <a:pt x="0" y="158750"/>
                  </a:lnTo>
                  <a:lnTo>
                    <a:pt x="7287" y="208896"/>
                  </a:lnTo>
                  <a:lnTo>
                    <a:pt x="27578" y="252441"/>
                  </a:lnTo>
                  <a:lnTo>
                    <a:pt x="58512" y="286775"/>
                  </a:lnTo>
                  <a:lnTo>
                    <a:pt x="97731" y="309288"/>
                  </a:lnTo>
                  <a:lnTo>
                    <a:pt x="142875" y="317373"/>
                  </a:lnTo>
                  <a:lnTo>
                    <a:pt x="188018" y="309288"/>
                  </a:lnTo>
                  <a:lnTo>
                    <a:pt x="227237" y="286775"/>
                  </a:lnTo>
                  <a:lnTo>
                    <a:pt x="258171" y="252441"/>
                  </a:lnTo>
                  <a:lnTo>
                    <a:pt x="278462" y="208896"/>
                  </a:lnTo>
                  <a:lnTo>
                    <a:pt x="285750" y="158750"/>
                  </a:lnTo>
                  <a:lnTo>
                    <a:pt x="278462" y="108590"/>
                  </a:lnTo>
                  <a:lnTo>
                    <a:pt x="258171" y="65013"/>
                  </a:lnTo>
                  <a:lnTo>
                    <a:pt x="227237" y="30642"/>
                  </a:lnTo>
                  <a:lnTo>
                    <a:pt x="188018" y="809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>
              <a:extLst>
                <a:ext uri="{FF2B5EF4-FFF2-40B4-BE49-F238E27FC236}">
                  <a16:creationId xmlns:a16="http://schemas.microsoft.com/office/drawing/2014/main" id="{A79E0D73-9180-B41B-AE06-E6D7406CA40A}"/>
                </a:ext>
              </a:extLst>
            </p:cNvPr>
            <p:cNvSpPr/>
            <p:nvPr/>
          </p:nvSpPr>
          <p:spPr>
            <a:xfrm>
              <a:off x="6667500" y="1847976"/>
              <a:ext cx="285750" cy="317500"/>
            </a:xfrm>
            <a:custGeom>
              <a:avLst/>
              <a:gdLst/>
              <a:ahLst/>
              <a:cxnLst/>
              <a:rect l="l" t="t" r="r" b="b"/>
              <a:pathLst>
                <a:path w="285750" h="317500">
                  <a:moveTo>
                    <a:pt x="0" y="158750"/>
                  </a:moveTo>
                  <a:lnTo>
                    <a:pt x="7287" y="108590"/>
                  </a:lnTo>
                  <a:lnTo>
                    <a:pt x="27578" y="65013"/>
                  </a:lnTo>
                  <a:lnTo>
                    <a:pt x="58512" y="30642"/>
                  </a:lnTo>
                  <a:lnTo>
                    <a:pt x="97731" y="8097"/>
                  </a:lnTo>
                  <a:lnTo>
                    <a:pt x="142875" y="0"/>
                  </a:lnTo>
                  <a:lnTo>
                    <a:pt x="188018" y="8097"/>
                  </a:lnTo>
                  <a:lnTo>
                    <a:pt x="227237" y="30642"/>
                  </a:lnTo>
                  <a:lnTo>
                    <a:pt x="258171" y="65013"/>
                  </a:lnTo>
                  <a:lnTo>
                    <a:pt x="278462" y="108590"/>
                  </a:lnTo>
                  <a:lnTo>
                    <a:pt x="285750" y="158750"/>
                  </a:lnTo>
                  <a:lnTo>
                    <a:pt x="278462" y="208896"/>
                  </a:lnTo>
                  <a:lnTo>
                    <a:pt x="258171" y="252441"/>
                  </a:lnTo>
                  <a:lnTo>
                    <a:pt x="227237" y="286775"/>
                  </a:lnTo>
                  <a:lnTo>
                    <a:pt x="188018" y="309288"/>
                  </a:lnTo>
                  <a:lnTo>
                    <a:pt x="142875" y="317373"/>
                  </a:lnTo>
                  <a:lnTo>
                    <a:pt x="97731" y="309288"/>
                  </a:lnTo>
                  <a:lnTo>
                    <a:pt x="58512" y="286775"/>
                  </a:lnTo>
                  <a:lnTo>
                    <a:pt x="27578" y="252441"/>
                  </a:lnTo>
                  <a:lnTo>
                    <a:pt x="7287" y="208896"/>
                  </a:lnTo>
                  <a:lnTo>
                    <a:pt x="0" y="158750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3">
            <a:extLst>
              <a:ext uri="{FF2B5EF4-FFF2-40B4-BE49-F238E27FC236}">
                <a16:creationId xmlns:a16="http://schemas.microsoft.com/office/drawing/2014/main" id="{CE47F30E-A336-EEAC-5305-9D03A9A932C5}"/>
              </a:ext>
            </a:extLst>
          </p:cNvPr>
          <p:cNvSpPr txBox="1"/>
          <p:nvPr/>
        </p:nvSpPr>
        <p:spPr>
          <a:xfrm>
            <a:off x="6789166" y="2700020"/>
            <a:ext cx="1663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"/>
                <a:cs typeface="Cambria"/>
              </a:rPr>
              <a:t>+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4">
            <a:extLst>
              <a:ext uri="{FF2B5EF4-FFF2-40B4-BE49-F238E27FC236}">
                <a16:creationId xmlns:a16="http://schemas.microsoft.com/office/drawing/2014/main" id="{A8ADDF85-BB4F-E72C-DB8B-C98A3E640054}"/>
              </a:ext>
            </a:extLst>
          </p:cNvPr>
          <p:cNvSpPr txBox="1"/>
          <p:nvPr/>
        </p:nvSpPr>
        <p:spPr>
          <a:xfrm>
            <a:off x="6214110" y="2481198"/>
            <a:ext cx="5270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mbria"/>
                <a:cs typeface="Cambria"/>
              </a:rPr>
              <a:t>miss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0" name="object 15">
            <a:extLst>
              <a:ext uri="{FF2B5EF4-FFF2-40B4-BE49-F238E27FC236}">
                <a16:creationId xmlns:a16="http://schemas.microsoft.com/office/drawing/2014/main" id="{9E03D0D7-B6C9-C169-8D3F-50FFF88ABE2C}"/>
              </a:ext>
            </a:extLst>
          </p:cNvPr>
          <p:cNvGrpSpPr/>
          <p:nvPr/>
        </p:nvGrpSpPr>
        <p:grpSpPr>
          <a:xfrm>
            <a:off x="6142672" y="3196082"/>
            <a:ext cx="897255" cy="368300"/>
            <a:chOff x="6081712" y="2330450"/>
            <a:chExt cx="897255" cy="368300"/>
          </a:xfrm>
        </p:grpSpPr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AEFB5D62-453F-A15B-CF6B-953C78EAB4EB}"/>
                </a:ext>
              </a:extLst>
            </p:cNvPr>
            <p:cNvSpPr/>
            <p:nvPr/>
          </p:nvSpPr>
          <p:spPr>
            <a:xfrm>
              <a:off x="6096000" y="2546222"/>
              <a:ext cx="714375" cy="0"/>
            </a:xfrm>
            <a:custGeom>
              <a:avLst/>
              <a:gdLst/>
              <a:ahLst/>
              <a:cxnLst/>
              <a:rect l="l" t="t" r="r" b="b"/>
              <a:pathLst>
                <a:path w="71437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7">
              <a:extLst>
                <a:ext uri="{FF2B5EF4-FFF2-40B4-BE49-F238E27FC236}">
                  <a16:creationId xmlns:a16="http://schemas.microsoft.com/office/drawing/2014/main" id="{E0348B1C-4A3A-8F2F-6510-BC9A4113F4E3}"/>
                </a:ext>
              </a:extLst>
            </p:cNvPr>
            <p:cNvSpPr/>
            <p:nvPr/>
          </p:nvSpPr>
          <p:spPr>
            <a:xfrm>
              <a:off x="6667500" y="2355850"/>
              <a:ext cx="285750" cy="317500"/>
            </a:xfrm>
            <a:custGeom>
              <a:avLst/>
              <a:gdLst/>
              <a:ahLst/>
              <a:cxnLst/>
              <a:rect l="l" t="t" r="r" b="b"/>
              <a:pathLst>
                <a:path w="285750" h="317500">
                  <a:moveTo>
                    <a:pt x="142875" y="0"/>
                  </a:moveTo>
                  <a:lnTo>
                    <a:pt x="97731" y="8084"/>
                  </a:lnTo>
                  <a:lnTo>
                    <a:pt x="58512" y="30597"/>
                  </a:lnTo>
                  <a:lnTo>
                    <a:pt x="27578" y="64931"/>
                  </a:lnTo>
                  <a:lnTo>
                    <a:pt x="7287" y="108476"/>
                  </a:lnTo>
                  <a:lnTo>
                    <a:pt x="0" y="158623"/>
                  </a:lnTo>
                  <a:lnTo>
                    <a:pt x="7287" y="208782"/>
                  </a:lnTo>
                  <a:lnTo>
                    <a:pt x="27578" y="252359"/>
                  </a:lnTo>
                  <a:lnTo>
                    <a:pt x="58512" y="286730"/>
                  </a:lnTo>
                  <a:lnTo>
                    <a:pt x="97731" y="309275"/>
                  </a:lnTo>
                  <a:lnTo>
                    <a:pt x="142875" y="317373"/>
                  </a:lnTo>
                  <a:lnTo>
                    <a:pt x="188018" y="309275"/>
                  </a:lnTo>
                  <a:lnTo>
                    <a:pt x="227237" y="286730"/>
                  </a:lnTo>
                  <a:lnTo>
                    <a:pt x="258171" y="252359"/>
                  </a:lnTo>
                  <a:lnTo>
                    <a:pt x="278462" y="208782"/>
                  </a:lnTo>
                  <a:lnTo>
                    <a:pt x="285750" y="158623"/>
                  </a:lnTo>
                  <a:lnTo>
                    <a:pt x="278462" y="108476"/>
                  </a:lnTo>
                  <a:lnTo>
                    <a:pt x="258171" y="64931"/>
                  </a:lnTo>
                  <a:lnTo>
                    <a:pt x="227237" y="30597"/>
                  </a:lnTo>
                  <a:lnTo>
                    <a:pt x="188018" y="8084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>
              <a:extLst>
                <a:ext uri="{FF2B5EF4-FFF2-40B4-BE49-F238E27FC236}">
                  <a16:creationId xmlns:a16="http://schemas.microsoft.com/office/drawing/2014/main" id="{74AB119A-CA59-4146-041F-62FCC496F929}"/>
                </a:ext>
              </a:extLst>
            </p:cNvPr>
            <p:cNvSpPr/>
            <p:nvPr/>
          </p:nvSpPr>
          <p:spPr>
            <a:xfrm>
              <a:off x="6667500" y="2355850"/>
              <a:ext cx="285750" cy="317500"/>
            </a:xfrm>
            <a:custGeom>
              <a:avLst/>
              <a:gdLst/>
              <a:ahLst/>
              <a:cxnLst/>
              <a:rect l="l" t="t" r="r" b="b"/>
              <a:pathLst>
                <a:path w="285750" h="317500">
                  <a:moveTo>
                    <a:pt x="0" y="158623"/>
                  </a:moveTo>
                  <a:lnTo>
                    <a:pt x="7287" y="108476"/>
                  </a:lnTo>
                  <a:lnTo>
                    <a:pt x="27578" y="64931"/>
                  </a:lnTo>
                  <a:lnTo>
                    <a:pt x="58512" y="30597"/>
                  </a:lnTo>
                  <a:lnTo>
                    <a:pt x="97731" y="8084"/>
                  </a:lnTo>
                  <a:lnTo>
                    <a:pt x="142875" y="0"/>
                  </a:lnTo>
                  <a:lnTo>
                    <a:pt x="188018" y="8084"/>
                  </a:lnTo>
                  <a:lnTo>
                    <a:pt x="227237" y="30597"/>
                  </a:lnTo>
                  <a:lnTo>
                    <a:pt x="258171" y="64931"/>
                  </a:lnTo>
                  <a:lnTo>
                    <a:pt x="278462" y="108476"/>
                  </a:lnTo>
                  <a:lnTo>
                    <a:pt x="285750" y="158623"/>
                  </a:lnTo>
                  <a:lnTo>
                    <a:pt x="278462" y="208782"/>
                  </a:lnTo>
                  <a:lnTo>
                    <a:pt x="258171" y="252359"/>
                  </a:lnTo>
                  <a:lnTo>
                    <a:pt x="227237" y="286730"/>
                  </a:lnTo>
                  <a:lnTo>
                    <a:pt x="188018" y="309275"/>
                  </a:lnTo>
                  <a:lnTo>
                    <a:pt x="142875" y="317373"/>
                  </a:lnTo>
                  <a:lnTo>
                    <a:pt x="97731" y="309275"/>
                  </a:lnTo>
                  <a:lnTo>
                    <a:pt x="58512" y="286730"/>
                  </a:lnTo>
                  <a:lnTo>
                    <a:pt x="27578" y="252359"/>
                  </a:lnTo>
                  <a:lnTo>
                    <a:pt x="7287" y="208782"/>
                  </a:lnTo>
                  <a:lnTo>
                    <a:pt x="0" y="158623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9">
            <a:extLst>
              <a:ext uri="{FF2B5EF4-FFF2-40B4-BE49-F238E27FC236}">
                <a16:creationId xmlns:a16="http://schemas.microsoft.com/office/drawing/2014/main" id="{F401F5C1-F914-E2E2-D86B-8F5F2BBF9688}"/>
              </a:ext>
            </a:extLst>
          </p:cNvPr>
          <p:cNvSpPr txBox="1"/>
          <p:nvPr/>
        </p:nvSpPr>
        <p:spPr>
          <a:xfrm>
            <a:off x="6795642" y="3208146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"/>
                <a:cs typeface="Cambria"/>
              </a:rPr>
              <a:t>–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0571DCBB-68BF-89FC-6C24-552ABC721A9A}"/>
              </a:ext>
            </a:extLst>
          </p:cNvPr>
          <p:cNvSpPr txBox="1"/>
          <p:nvPr/>
        </p:nvSpPr>
        <p:spPr>
          <a:xfrm>
            <a:off x="6214110" y="3433318"/>
            <a:ext cx="5270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mbria"/>
                <a:cs typeface="Cambria"/>
              </a:rPr>
              <a:t>miss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6" name="object 21">
            <a:extLst>
              <a:ext uri="{FF2B5EF4-FFF2-40B4-BE49-F238E27FC236}">
                <a16:creationId xmlns:a16="http://schemas.microsoft.com/office/drawing/2014/main" id="{25EAFF88-CFB3-BF43-68FF-FBA6752D84B5}"/>
              </a:ext>
            </a:extLst>
          </p:cNvPr>
          <p:cNvGrpSpPr/>
          <p:nvPr/>
        </p:nvGrpSpPr>
        <p:grpSpPr>
          <a:xfrm>
            <a:off x="7003795" y="2829433"/>
            <a:ext cx="248920" cy="528955"/>
            <a:chOff x="6942835" y="1963801"/>
            <a:chExt cx="248920" cy="528955"/>
          </a:xfrm>
        </p:grpSpPr>
        <p:pic>
          <p:nvPicPr>
            <p:cNvPr id="27" name="object 22">
              <a:extLst>
                <a:ext uri="{FF2B5EF4-FFF2-40B4-BE49-F238E27FC236}">
                  <a16:creationId xmlns:a16="http://schemas.microsoft.com/office/drawing/2014/main" id="{042F1017-5931-E743-7502-5CE6D9EA978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4359" y="1963801"/>
              <a:ext cx="247015" cy="201549"/>
            </a:xfrm>
            <a:prstGeom prst="rect">
              <a:avLst/>
            </a:prstGeom>
          </p:spPr>
        </p:pic>
        <p:sp>
          <p:nvSpPr>
            <p:cNvPr id="28" name="object 23">
              <a:extLst>
                <a:ext uri="{FF2B5EF4-FFF2-40B4-BE49-F238E27FC236}">
                  <a16:creationId xmlns:a16="http://schemas.microsoft.com/office/drawing/2014/main" id="{0C44291C-72D6-E17C-009A-47D7D4666128}"/>
                </a:ext>
              </a:extLst>
            </p:cNvPr>
            <p:cNvSpPr/>
            <p:nvPr/>
          </p:nvSpPr>
          <p:spPr>
            <a:xfrm>
              <a:off x="6942835" y="2228850"/>
              <a:ext cx="248920" cy="264160"/>
            </a:xfrm>
            <a:custGeom>
              <a:avLst/>
              <a:gdLst/>
              <a:ahLst/>
              <a:cxnLst/>
              <a:rect l="l" t="t" r="r" b="b"/>
              <a:pathLst>
                <a:path w="248920" h="264160">
                  <a:moveTo>
                    <a:pt x="179416" y="52756"/>
                  </a:moveTo>
                  <a:lnTo>
                    <a:pt x="0" y="244094"/>
                  </a:lnTo>
                  <a:lnTo>
                    <a:pt x="20828" y="263651"/>
                  </a:lnTo>
                  <a:lnTo>
                    <a:pt x="200265" y="72292"/>
                  </a:lnTo>
                  <a:lnTo>
                    <a:pt x="179416" y="52756"/>
                  </a:lnTo>
                  <a:close/>
                </a:path>
                <a:path w="248920" h="264160">
                  <a:moveTo>
                    <a:pt x="235904" y="42290"/>
                  </a:moveTo>
                  <a:lnTo>
                    <a:pt x="189230" y="42290"/>
                  </a:lnTo>
                  <a:lnTo>
                    <a:pt x="210058" y="61849"/>
                  </a:lnTo>
                  <a:lnTo>
                    <a:pt x="200265" y="72292"/>
                  </a:lnTo>
                  <a:lnTo>
                    <a:pt x="221107" y="91821"/>
                  </a:lnTo>
                  <a:lnTo>
                    <a:pt x="235904" y="42290"/>
                  </a:lnTo>
                  <a:close/>
                </a:path>
                <a:path w="248920" h="264160">
                  <a:moveTo>
                    <a:pt x="189230" y="42290"/>
                  </a:moveTo>
                  <a:lnTo>
                    <a:pt x="179416" y="52756"/>
                  </a:lnTo>
                  <a:lnTo>
                    <a:pt x="200265" y="72292"/>
                  </a:lnTo>
                  <a:lnTo>
                    <a:pt x="210058" y="61849"/>
                  </a:lnTo>
                  <a:lnTo>
                    <a:pt x="189230" y="42290"/>
                  </a:lnTo>
                  <a:close/>
                </a:path>
                <a:path w="248920" h="264160">
                  <a:moveTo>
                    <a:pt x="248539" y="0"/>
                  </a:moveTo>
                  <a:lnTo>
                    <a:pt x="158623" y="33274"/>
                  </a:lnTo>
                  <a:lnTo>
                    <a:pt x="179416" y="52756"/>
                  </a:lnTo>
                  <a:lnTo>
                    <a:pt x="189230" y="42290"/>
                  </a:lnTo>
                  <a:lnTo>
                    <a:pt x="235904" y="42290"/>
                  </a:lnTo>
                  <a:lnTo>
                    <a:pt x="2485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4">
            <a:extLst>
              <a:ext uri="{FF2B5EF4-FFF2-40B4-BE49-F238E27FC236}">
                <a16:creationId xmlns:a16="http://schemas.microsoft.com/office/drawing/2014/main" id="{6AE1A251-764F-A76D-CB36-41D22A5D6361}"/>
              </a:ext>
            </a:extLst>
          </p:cNvPr>
          <p:cNvSpPr txBox="1"/>
          <p:nvPr/>
        </p:nvSpPr>
        <p:spPr>
          <a:xfrm>
            <a:off x="7641113" y="3433318"/>
            <a:ext cx="15386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25270" algn="l"/>
              </a:tabLst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	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27611B2E-187B-0A63-8037-57EACFE4B3D1}"/>
              </a:ext>
            </a:extLst>
          </p:cNvPr>
          <p:cNvSpPr/>
          <p:nvPr/>
        </p:nvSpPr>
        <p:spPr>
          <a:xfrm>
            <a:off x="7909305" y="3278632"/>
            <a:ext cx="152400" cy="381000"/>
          </a:xfrm>
          <a:custGeom>
            <a:avLst/>
            <a:gdLst/>
            <a:ahLst/>
            <a:cxnLst/>
            <a:rect l="l" t="t" r="r" b="b"/>
            <a:pathLst>
              <a:path w="152400" h="381000">
                <a:moveTo>
                  <a:pt x="50800" y="228600"/>
                </a:moveTo>
                <a:lnTo>
                  <a:pt x="0" y="228600"/>
                </a:lnTo>
                <a:lnTo>
                  <a:pt x="76200" y="381000"/>
                </a:lnTo>
                <a:lnTo>
                  <a:pt x="139700" y="254000"/>
                </a:lnTo>
                <a:lnTo>
                  <a:pt x="50800" y="254000"/>
                </a:lnTo>
                <a:lnTo>
                  <a:pt x="50800" y="228600"/>
                </a:lnTo>
                <a:close/>
              </a:path>
              <a:path w="152400" h="381000">
                <a:moveTo>
                  <a:pt x="101600" y="0"/>
                </a:moveTo>
                <a:lnTo>
                  <a:pt x="50800" y="0"/>
                </a:lnTo>
                <a:lnTo>
                  <a:pt x="50800" y="254000"/>
                </a:lnTo>
                <a:lnTo>
                  <a:pt x="101600" y="254000"/>
                </a:lnTo>
                <a:lnTo>
                  <a:pt x="101600" y="0"/>
                </a:lnTo>
                <a:close/>
              </a:path>
              <a:path w="152400" h="381000">
                <a:moveTo>
                  <a:pt x="152400" y="228600"/>
                </a:moveTo>
                <a:lnTo>
                  <a:pt x="101600" y="228600"/>
                </a:lnTo>
                <a:lnTo>
                  <a:pt x="101600" y="254000"/>
                </a:lnTo>
                <a:lnTo>
                  <a:pt x="139700" y="254000"/>
                </a:lnTo>
                <a:lnTo>
                  <a:pt x="152400" y="22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785D4AAC-3ED9-BCB3-0D03-A437D7711DBD}"/>
              </a:ext>
            </a:extLst>
          </p:cNvPr>
          <p:cNvSpPr/>
          <p:nvPr/>
        </p:nvSpPr>
        <p:spPr>
          <a:xfrm>
            <a:off x="7638288" y="3723132"/>
            <a:ext cx="1490980" cy="317500"/>
          </a:xfrm>
          <a:custGeom>
            <a:avLst/>
            <a:gdLst/>
            <a:ahLst/>
            <a:cxnLst/>
            <a:rect l="l" t="t" r="r" b="b"/>
            <a:pathLst>
              <a:path w="1490979" h="317500">
                <a:moveTo>
                  <a:pt x="1437513" y="0"/>
                </a:moveTo>
                <a:lnTo>
                  <a:pt x="52958" y="0"/>
                </a:lnTo>
                <a:lnTo>
                  <a:pt x="32361" y="4167"/>
                </a:lnTo>
                <a:lnTo>
                  <a:pt x="15525" y="15525"/>
                </a:lnTo>
                <a:lnTo>
                  <a:pt x="4167" y="32361"/>
                </a:lnTo>
                <a:lnTo>
                  <a:pt x="0" y="52959"/>
                </a:lnTo>
                <a:lnTo>
                  <a:pt x="0" y="264540"/>
                </a:lnTo>
                <a:lnTo>
                  <a:pt x="4167" y="285138"/>
                </a:lnTo>
                <a:lnTo>
                  <a:pt x="15525" y="301974"/>
                </a:lnTo>
                <a:lnTo>
                  <a:pt x="32361" y="313332"/>
                </a:lnTo>
                <a:lnTo>
                  <a:pt x="52958" y="317500"/>
                </a:lnTo>
                <a:lnTo>
                  <a:pt x="1437513" y="317500"/>
                </a:lnTo>
                <a:lnTo>
                  <a:pt x="1458110" y="313332"/>
                </a:lnTo>
                <a:lnTo>
                  <a:pt x="1474946" y="301974"/>
                </a:lnTo>
                <a:lnTo>
                  <a:pt x="1486304" y="285138"/>
                </a:lnTo>
                <a:lnTo>
                  <a:pt x="1490472" y="264540"/>
                </a:lnTo>
                <a:lnTo>
                  <a:pt x="1490472" y="52959"/>
                </a:lnTo>
                <a:lnTo>
                  <a:pt x="1486304" y="32361"/>
                </a:lnTo>
                <a:lnTo>
                  <a:pt x="1474946" y="15525"/>
                </a:lnTo>
                <a:lnTo>
                  <a:pt x="1458110" y="4167"/>
                </a:lnTo>
                <a:lnTo>
                  <a:pt x="143751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74C5A4A7-19B1-CA89-5D76-540A6F34076D}"/>
              </a:ext>
            </a:extLst>
          </p:cNvPr>
          <p:cNvSpPr txBox="1"/>
          <p:nvPr/>
        </p:nvSpPr>
        <p:spPr>
          <a:xfrm>
            <a:off x="7976362" y="3743324"/>
            <a:ext cx="815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mbria"/>
                <a:cs typeface="Cambria"/>
              </a:rPr>
              <a:t>MSB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=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0?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3" name="object 28">
            <a:extLst>
              <a:ext uri="{FF2B5EF4-FFF2-40B4-BE49-F238E27FC236}">
                <a16:creationId xmlns:a16="http://schemas.microsoft.com/office/drawing/2014/main" id="{28D66CC8-20D9-F087-BB6B-8AE0CDA74726}"/>
              </a:ext>
            </a:extLst>
          </p:cNvPr>
          <p:cNvSpPr/>
          <p:nvPr/>
        </p:nvSpPr>
        <p:spPr>
          <a:xfrm>
            <a:off x="8375015" y="4104132"/>
            <a:ext cx="152400" cy="698500"/>
          </a:xfrm>
          <a:custGeom>
            <a:avLst/>
            <a:gdLst/>
            <a:ahLst/>
            <a:cxnLst/>
            <a:rect l="l" t="t" r="r" b="b"/>
            <a:pathLst>
              <a:path w="152400" h="698500">
                <a:moveTo>
                  <a:pt x="50800" y="546100"/>
                </a:moveTo>
                <a:lnTo>
                  <a:pt x="0" y="546100"/>
                </a:lnTo>
                <a:lnTo>
                  <a:pt x="76200" y="698500"/>
                </a:lnTo>
                <a:lnTo>
                  <a:pt x="139700" y="571500"/>
                </a:lnTo>
                <a:lnTo>
                  <a:pt x="50800" y="571500"/>
                </a:lnTo>
                <a:lnTo>
                  <a:pt x="50800" y="546100"/>
                </a:lnTo>
                <a:close/>
              </a:path>
              <a:path w="152400" h="698500">
                <a:moveTo>
                  <a:pt x="101600" y="0"/>
                </a:moveTo>
                <a:lnTo>
                  <a:pt x="50800" y="0"/>
                </a:lnTo>
                <a:lnTo>
                  <a:pt x="50800" y="571500"/>
                </a:lnTo>
                <a:lnTo>
                  <a:pt x="101600" y="571500"/>
                </a:lnTo>
                <a:lnTo>
                  <a:pt x="101600" y="0"/>
                </a:lnTo>
                <a:close/>
              </a:path>
              <a:path w="152400" h="698500">
                <a:moveTo>
                  <a:pt x="152400" y="546100"/>
                </a:moveTo>
                <a:lnTo>
                  <a:pt x="101600" y="546100"/>
                </a:lnTo>
                <a:lnTo>
                  <a:pt x="101600" y="571500"/>
                </a:lnTo>
                <a:lnTo>
                  <a:pt x="139700" y="571500"/>
                </a:lnTo>
                <a:lnTo>
                  <a:pt x="152400" y="546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9">
            <a:extLst>
              <a:ext uri="{FF2B5EF4-FFF2-40B4-BE49-F238E27FC236}">
                <a16:creationId xmlns:a16="http://schemas.microsoft.com/office/drawing/2014/main" id="{CDB46337-0C25-F86A-2EF5-E74936712AB7}"/>
              </a:ext>
            </a:extLst>
          </p:cNvPr>
          <p:cNvSpPr txBox="1"/>
          <p:nvPr/>
        </p:nvSpPr>
        <p:spPr>
          <a:xfrm>
            <a:off x="7053453" y="4126179"/>
            <a:ext cx="748665" cy="523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3335" algn="r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YES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80"/>
              </a:spcBef>
            </a:pPr>
            <a:r>
              <a:rPr sz="1600" spc="-5" dirty="0">
                <a:latin typeface="Cambria"/>
                <a:cs typeface="Cambria"/>
              </a:rPr>
              <a:t>Use</a:t>
            </a:r>
            <a:r>
              <a:rPr sz="1600" spc="-10" dirty="0">
                <a:latin typeface="Cambria"/>
                <a:cs typeface="Cambria"/>
              </a:rPr>
              <a:t> L</a:t>
            </a:r>
            <a:r>
              <a:rPr sz="1600" spc="-40" dirty="0">
                <a:latin typeface="Cambria"/>
                <a:cs typeface="Cambria"/>
              </a:rPr>
              <a:t>R</a:t>
            </a:r>
            <a:r>
              <a:rPr sz="1600" spc="-5" dirty="0">
                <a:latin typeface="Cambria"/>
                <a:cs typeface="Cambria"/>
              </a:rPr>
              <a:t>U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5" name="object 30">
            <a:extLst>
              <a:ext uri="{FF2B5EF4-FFF2-40B4-BE49-F238E27FC236}">
                <a16:creationId xmlns:a16="http://schemas.microsoft.com/office/drawing/2014/main" id="{108B94BD-A00A-41E7-9ED9-74D63D9C119A}"/>
              </a:ext>
            </a:extLst>
          </p:cNvPr>
          <p:cNvSpPr txBox="1"/>
          <p:nvPr/>
        </p:nvSpPr>
        <p:spPr>
          <a:xfrm>
            <a:off x="8496427" y="4090441"/>
            <a:ext cx="692785" cy="570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0170">
              <a:lnSpc>
                <a:spcPct val="111800"/>
              </a:lnSpc>
              <a:spcBef>
                <a:spcPts val="100"/>
              </a:spcBef>
            </a:pPr>
            <a:r>
              <a:rPr sz="1600" dirty="0">
                <a:latin typeface="Cambria"/>
                <a:cs typeface="Cambria"/>
              </a:rPr>
              <a:t>No 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Use</a:t>
            </a:r>
            <a:r>
              <a:rPr sz="1600" spc="-8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BIP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6" name="object 31">
            <a:extLst>
              <a:ext uri="{FF2B5EF4-FFF2-40B4-BE49-F238E27FC236}">
                <a16:creationId xmlns:a16="http://schemas.microsoft.com/office/drawing/2014/main" id="{61541B37-D62F-8CB7-A78E-6A1030641103}"/>
              </a:ext>
            </a:extLst>
          </p:cNvPr>
          <p:cNvSpPr/>
          <p:nvPr/>
        </p:nvSpPr>
        <p:spPr>
          <a:xfrm>
            <a:off x="7900796" y="4104132"/>
            <a:ext cx="152400" cy="698500"/>
          </a:xfrm>
          <a:custGeom>
            <a:avLst/>
            <a:gdLst/>
            <a:ahLst/>
            <a:cxnLst/>
            <a:rect l="l" t="t" r="r" b="b"/>
            <a:pathLst>
              <a:path w="152400" h="698500">
                <a:moveTo>
                  <a:pt x="50800" y="546100"/>
                </a:moveTo>
                <a:lnTo>
                  <a:pt x="0" y="546100"/>
                </a:lnTo>
                <a:lnTo>
                  <a:pt x="76200" y="698500"/>
                </a:lnTo>
                <a:lnTo>
                  <a:pt x="139700" y="571500"/>
                </a:lnTo>
                <a:lnTo>
                  <a:pt x="50800" y="571500"/>
                </a:lnTo>
                <a:lnTo>
                  <a:pt x="50800" y="546100"/>
                </a:lnTo>
                <a:close/>
              </a:path>
              <a:path w="152400" h="698500">
                <a:moveTo>
                  <a:pt x="101600" y="0"/>
                </a:moveTo>
                <a:lnTo>
                  <a:pt x="50800" y="0"/>
                </a:lnTo>
                <a:lnTo>
                  <a:pt x="50800" y="571500"/>
                </a:lnTo>
                <a:lnTo>
                  <a:pt x="101600" y="571500"/>
                </a:lnTo>
                <a:lnTo>
                  <a:pt x="101600" y="0"/>
                </a:lnTo>
                <a:close/>
              </a:path>
              <a:path w="152400" h="698500">
                <a:moveTo>
                  <a:pt x="152400" y="546100"/>
                </a:moveTo>
                <a:lnTo>
                  <a:pt x="101600" y="546100"/>
                </a:lnTo>
                <a:lnTo>
                  <a:pt x="101600" y="571500"/>
                </a:lnTo>
                <a:lnTo>
                  <a:pt x="139700" y="571500"/>
                </a:lnTo>
                <a:lnTo>
                  <a:pt x="152400" y="546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2">
            <a:extLst>
              <a:ext uri="{FF2B5EF4-FFF2-40B4-BE49-F238E27FC236}">
                <a16:creationId xmlns:a16="http://schemas.microsoft.com/office/drawing/2014/main" id="{434516F6-D76F-C822-B075-5BB59136E5CD}"/>
              </a:ext>
            </a:extLst>
          </p:cNvPr>
          <p:cNvGrpSpPr/>
          <p:nvPr/>
        </p:nvGrpSpPr>
        <p:grpSpPr>
          <a:xfrm>
            <a:off x="6206236" y="3777107"/>
            <a:ext cx="2458085" cy="2051050"/>
            <a:chOff x="6145276" y="2911475"/>
            <a:chExt cx="2458085" cy="2051050"/>
          </a:xfrm>
        </p:grpSpPr>
        <p:sp>
          <p:nvSpPr>
            <p:cNvPr id="38" name="object 33">
              <a:extLst>
                <a:ext uri="{FF2B5EF4-FFF2-40B4-BE49-F238E27FC236}">
                  <a16:creationId xmlns:a16="http://schemas.microsoft.com/office/drawing/2014/main" id="{B2382894-BC2D-DD0F-245B-B19FA7AA9349}"/>
                </a:ext>
              </a:extLst>
            </p:cNvPr>
            <p:cNvSpPr/>
            <p:nvPr/>
          </p:nvSpPr>
          <p:spPr>
            <a:xfrm>
              <a:off x="6154801" y="2921000"/>
              <a:ext cx="2032635" cy="2032000"/>
            </a:xfrm>
            <a:custGeom>
              <a:avLst/>
              <a:gdLst/>
              <a:ahLst/>
              <a:cxnLst/>
              <a:rect l="l" t="t" r="r" b="b"/>
              <a:pathLst>
                <a:path w="2032634" h="2032000">
                  <a:moveTo>
                    <a:pt x="0" y="0"/>
                  </a:moveTo>
                  <a:lnTo>
                    <a:pt x="42804" y="8632"/>
                  </a:lnTo>
                  <a:lnTo>
                    <a:pt x="79969" y="32670"/>
                  </a:lnTo>
                  <a:lnTo>
                    <a:pt x="109270" y="69320"/>
                  </a:lnTo>
                  <a:lnTo>
                    <a:pt x="128483" y="115791"/>
                  </a:lnTo>
                  <a:lnTo>
                    <a:pt x="135382" y="169290"/>
                  </a:lnTo>
                  <a:lnTo>
                    <a:pt x="135382" y="1524000"/>
                  </a:lnTo>
                  <a:lnTo>
                    <a:pt x="142293" y="1577499"/>
                  </a:lnTo>
                  <a:lnTo>
                    <a:pt x="161537" y="1623970"/>
                  </a:lnTo>
                  <a:lnTo>
                    <a:pt x="190876" y="1660620"/>
                  </a:lnTo>
                  <a:lnTo>
                    <a:pt x="228073" y="1684658"/>
                  </a:lnTo>
                  <a:lnTo>
                    <a:pt x="270890" y="1693291"/>
                  </a:lnTo>
                  <a:lnTo>
                    <a:pt x="228073" y="1701924"/>
                  </a:lnTo>
                  <a:lnTo>
                    <a:pt x="190876" y="1725969"/>
                  </a:lnTo>
                  <a:lnTo>
                    <a:pt x="161537" y="1762639"/>
                  </a:lnTo>
                  <a:lnTo>
                    <a:pt x="142293" y="1809147"/>
                  </a:lnTo>
                  <a:lnTo>
                    <a:pt x="135382" y="1862708"/>
                  </a:lnTo>
                  <a:lnTo>
                    <a:pt x="128483" y="1916208"/>
                  </a:lnTo>
                  <a:lnTo>
                    <a:pt x="109270" y="1962679"/>
                  </a:lnTo>
                  <a:lnTo>
                    <a:pt x="79969" y="1999329"/>
                  </a:lnTo>
                  <a:lnTo>
                    <a:pt x="42804" y="2023367"/>
                  </a:lnTo>
                  <a:lnTo>
                    <a:pt x="0" y="2032000"/>
                  </a:lnTo>
                </a:path>
                <a:path w="2032634" h="2032000">
                  <a:moveTo>
                    <a:pt x="270890" y="1714500"/>
                  </a:moveTo>
                  <a:lnTo>
                    <a:pt x="2032253" y="171450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4">
              <a:extLst>
                <a:ext uri="{FF2B5EF4-FFF2-40B4-BE49-F238E27FC236}">
                  <a16:creationId xmlns:a16="http://schemas.microsoft.com/office/drawing/2014/main" id="{CAD123A8-B79B-F0D5-DEB2-AF02EEA05A04}"/>
                </a:ext>
              </a:extLst>
            </p:cNvPr>
            <p:cNvSpPr/>
            <p:nvPr/>
          </p:nvSpPr>
          <p:spPr>
            <a:xfrm>
              <a:off x="7780655" y="4000500"/>
              <a:ext cx="813435" cy="127000"/>
            </a:xfrm>
            <a:custGeom>
              <a:avLst/>
              <a:gdLst/>
              <a:ahLst/>
              <a:cxnLst/>
              <a:rect l="l" t="t" r="r" b="b"/>
              <a:pathLst>
                <a:path w="813434" h="127000">
                  <a:moveTo>
                    <a:pt x="0" y="0"/>
                  </a:moveTo>
                  <a:lnTo>
                    <a:pt x="4974" y="24709"/>
                  </a:lnTo>
                  <a:lnTo>
                    <a:pt x="18557" y="44894"/>
                  </a:lnTo>
                  <a:lnTo>
                    <a:pt x="38736" y="58507"/>
                  </a:lnTo>
                  <a:lnTo>
                    <a:pt x="63500" y="63500"/>
                  </a:lnTo>
                  <a:lnTo>
                    <a:pt x="342900" y="63500"/>
                  </a:lnTo>
                  <a:lnTo>
                    <a:pt x="367609" y="68492"/>
                  </a:lnTo>
                  <a:lnTo>
                    <a:pt x="387794" y="82105"/>
                  </a:lnTo>
                  <a:lnTo>
                    <a:pt x="401407" y="102290"/>
                  </a:lnTo>
                  <a:lnTo>
                    <a:pt x="406400" y="127000"/>
                  </a:lnTo>
                  <a:lnTo>
                    <a:pt x="411392" y="102290"/>
                  </a:lnTo>
                  <a:lnTo>
                    <a:pt x="425005" y="82105"/>
                  </a:lnTo>
                  <a:lnTo>
                    <a:pt x="445190" y="68492"/>
                  </a:lnTo>
                  <a:lnTo>
                    <a:pt x="469900" y="63500"/>
                  </a:lnTo>
                  <a:lnTo>
                    <a:pt x="749426" y="63500"/>
                  </a:lnTo>
                  <a:lnTo>
                    <a:pt x="774136" y="58507"/>
                  </a:lnTo>
                  <a:lnTo>
                    <a:pt x="794321" y="44894"/>
                  </a:lnTo>
                  <a:lnTo>
                    <a:pt x="807934" y="24709"/>
                  </a:lnTo>
                  <a:lnTo>
                    <a:pt x="812926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5">
              <a:extLst>
                <a:ext uri="{FF2B5EF4-FFF2-40B4-BE49-F238E27FC236}">
                  <a16:creationId xmlns:a16="http://schemas.microsoft.com/office/drawing/2014/main" id="{13F9CE41-1F0B-D84C-C681-D643CC73235C}"/>
                </a:ext>
              </a:extLst>
            </p:cNvPr>
            <p:cNvSpPr/>
            <p:nvPr/>
          </p:nvSpPr>
          <p:spPr>
            <a:xfrm>
              <a:off x="8187055" y="4127500"/>
              <a:ext cx="0" cy="508000"/>
            </a:xfrm>
            <a:custGeom>
              <a:avLst/>
              <a:gdLst/>
              <a:ahLst/>
              <a:cxnLst/>
              <a:rect l="l" t="t" r="r" b="b"/>
              <a:pathLst>
                <a:path h="508000">
                  <a:moveTo>
                    <a:pt x="0" y="0"/>
                  </a:moveTo>
                  <a:lnTo>
                    <a:pt x="0" y="50800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36">
            <a:extLst>
              <a:ext uri="{FF2B5EF4-FFF2-40B4-BE49-F238E27FC236}">
                <a16:creationId xmlns:a16="http://schemas.microsoft.com/office/drawing/2014/main" id="{A1D55E33-79EF-D2E7-4894-71ACFE13132A}"/>
              </a:ext>
            </a:extLst>
          </p:cNvPr>
          <p:cNvSpPr txBox="1"/>
          <p:nvPr/>
        </p:nvSpPr>
        <p:spPr>
          <a:xfrm>
            <a:off x="1971293" y="1798066"/>
            <a:ext cx="7997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39440" algn="l"/>
              </a:tabLst>
            </a:pPr>
            <a:r>
              <a:rPr sz="1800" spc="-5" dirty="0">
                <a:latin typeface="Calibri"/>
                <a:cs typeface="Calibri"/>
              </a:rPr>
              <a:t>SDM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 </a:t>
            </a:r>
            <a:r>
              <a:rPr sz="1800" spc="-5" dirty="0">
                <a:latin typeface="Calibri"/>
                <a:cs typeface="Calibri"/>
              </a:rPr>
              <a:t>Set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Dueling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monitors	</a:t>
            </a:r>
            <a:r>
              <a:rPr sz="1800" spc="-5" dirty="0">
                <a:latin typeface="Calibri"/>
                <a:cs typeface="Calibri"/>
              </a:rPr>
              <a:t>PSEL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5" dirty="0">
                <a:latin typeface="Calibri"/>
                <a:cs typeface="Calibri"/>
              </a:rPr>
              <a:t> n-bit </a:t>
            </a:r>
            <a:r>
              <a:rPr sz="1800" spc="-10" dirty="0">
                <a:latin typeface="Calibri"/>
                <a:cs typeface="Calibri"/>
              </a:rPr>
              <a:t>saturating</a:t>
            </a:r>
            <a:r>
              <a:rPr sz="1800" spc="-15" dirty="0">
                <a:latin typeface="Calibri"/>
                <a:cs typeface="Calibri"/>
              </a:rPr>
              <a:t> counters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5" dirty="0">
                <a:latin typeface="Calibri"/>
                <a:cs typeface="Calibri"/>
              </a:rPr>
              <a:t> deciding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policy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8015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2CFD7-E25A-D55A-A6CF-6749DA2F0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RRIP [ISCA ‘10]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782FEE-D055-4B6F-D3CB-B500A6ACC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4BC1F2-D889-A428-410E-E99FE67D7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10</a:t>
            </a:fld>
            <a:endParaRPr lang="en-IN" dirty="0"/>
          </a:p>
        </p:txBody>
      </p:sp>
      <p:grpSp>
        <p:nvGrpSpPr>
          <p:cNvPr id="6" name="object 2">
            <a:extLst>
              <a:ext uri="{FF2B5EF4-FFF2-40B4-BE49-F238E27FC236}">
                <a16:creationId xmlns:a16="http://schemas.microsoft.com/office/drawing/2014/main" id="{D8AFEEB8-4554-04BF-8FE9-61CB052EF351}"/>
              </a:ext>
            </a:extLst>
          </p:cNvPr>
          <p:cNvGrpSpPr/>
          <p:nvPr/>
        </p:nvGrpSpPr>
        <p:grpSpPr>
          <a:xfrm>
            <a:off x="291084" y="3427600"/>
            <a:ext cx="11795760" cy="3171444"/>
            <a:chOff x="291084" y="3523488"/>
            <a:chExt cx="11795760" cy="3171444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93B9FD90-7AC3-878B-A36A-0C0B72A1B40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084" y="3633216"/>
              <a:ext cx="10024872" cy="932688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33A40710-3027-9AD8-AF6A-B6F3C3AFDE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283" y="3523488"/>
              <a:ext cx="9323832" cy="1258824"/>
            </a:xfrm>
            <a:prstGeom prst="rect">
              <a:avLst/>
            </a:prstGeom>
          </p:spPr>
        </p:pic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6DD5D145-DFF6-313B-3F76-12A94C01C876}"/>
                </a:ext>
              </a:extLst>
            </p:cNvPr>
            <p:cNvSpPr/>
            <p:nvPr/>
          </p:nvSpPr>
          <p:spPr>
            <a:xfrm>
              <a:off x="338924" y="3657600"/>
              <a:ext cx="9930765" cy="838200"/>
            </a:xfrm>
            <a:custGeom>
              <a:avLst/>
              <a:gdLst/>
              <a:ahLst/>
              <a:cxnLst/>
              <a:rect l="l" t="t" r="r" b="b"/>
              <a:pathLst>
                <a:path w="9930765" h="838200">
                  <a:moveTo>
                    <a:pt x="9790468" y="0"/>
                  </a:moveTo>
                  <a:lnTo>
                    <a:pt x="139699" y="0"/>
                  </a:lnTo>
                  <a:lnTo>
                    <a:pt x="95544" y="7116"/>
                  </a:lnTo>
                  <a:lnTo>
                    <a:pt x="57195" y="26936"/>
                  </a:lnTo>
                  <a:lnTo>
                    <a:pt x="26954" y="57168"/>
                  </a:lnTo>
                  <a:lnTo>
                    <a:pt x="7122" y="95520"/>
                  </a:lnTo>
                  <a:lnTo>
                    <a:pt x="0" y="139700"/>
                  </a:lnTo>
                  <a:lnTo>
                    <a:pt x="0" y="698500"/>
                  </a:lnTo>
                  <a:lnTo>
                    <a:pt x="7122" y="742630"/>
                  </a:lnTo>
                  <a:lnTo>
                    <a:pt x="26954" y="780976"/>
                  </a:lnTo>
                  <a:lnTo>
                    <a:pt x="57195" y="811227"/>
                  </a:lnTo>
                  <a:lnTo>
                    <a:pt x="95544" y="831071"/>
                  </a:lnTo>
                  <a:lnTo>
                    <a:pt x="139699" y="838200"/>
                  </a:lnTo>
                  <a:lnTo>
                    <a:pt x="9790468" y="838200"/>
                  </a:lnTo>
                  <a:lnTo>
                    <a:pt x="9834647" y="831071"/>
                  </a:lnTo>
                  <a:lnTo>
                    <a:pt x="9872999" y="811227"/>
                  </a:lnTo>
                  <a:lnTo>
                    <a:pt x="9903231" y="780976"/>
                  </a:lnTo>
                  <a:lnTo>
                    <a:pt x="9923052" y="742630"/>
                  </a:lnTo>
                  <a:lnTo>
                    <a:pt x="9930168" y="698500"/>
                  </a:lnTo>
                  <a:lnTo>
                    <a:pt x="9930168" y="139700"/>
                  </a:lnTo>
                  <a:lnTo>
                    <a:pt x="9923052" y="95520"/>
                  </a:lnTo>
                  <a:lnTo>
                    <a:pt x="9903231" y="57168"/>
                  </a:lnTo>
                  <a:lnTo>
                    <a:pt x="9872999" y="26936"/>
                  </a:lnTo>
                  <a:lnTo>
                    <a:pt x="9834647" y="7116"/>
                  </a:lnTo>
                  <a:lnTo>
                    <a:pt x="97904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04EA9672-EFD7-ACE6-31D6-B8209D245E31}"/>
                </a:ext>
              </a:extLst>
            </p:cNvPr>
            <p:cNvSpPr/>
            <p:nvPr/>
          </p:nvSpPr>
          <p:spPr>
            <a:xfrm>
              <a:off x="338924" y="3657600"/>
              <a:ext cx="9930765" cy="838200"/>
            </a:xfrm>
            <a:custGeom>
              <a:avLst/>
              <a:gdLst/>
              <a:ahLst/>
              <a:cxnLst/>
              <a:rect l="l" t="t" r="r" b="b"/>
              <a:pathLst>
                <a:path w="9930765" h="838200">
                  <a:moveTo>
                    <a:pt x="0" y="139700"/>
                  </a:moveTo>
                  <a:lnTo>
                    <a:pt x="7122" y="95520"/>
                  </a:lnTo>
                  <a:lnTo>
                    <a:pt x="26954" y="57168"/>
                  </a:lnTo>
                  <a:lnTo>
                    <a:pt x="57195" y="26936"/>
                  </a:lnTo>
                  <a:lnTo>
                    <a:pt x="95544" y="7116"/>
                  </a:lnTo>
                  <a:lnTo>
                    <a:pt x="139699" y="0"/>
                  </a:lnTo>
                  <a:lnTo>
                    <a:pt x="9790468" y="0"/>
                  </a:lnTo>
                  <a:lnTo>
                    <a:pt x="9834647" y="7116"/>
                  </a:lnTo>
                  <a:lnTo>
                    <a:pt x="9872999" y="26936"/>
                  </a:lnTo>
                  <a:lnTo>
                    <a:pt x="9903231" y="57168"/>
                  </a:lnTo>
                  <a:lnTo>
                    <a:pt x="9923052" y="95520"/>
                  </a:lnTo>
                  <a:lnTo>
                    <a:pt x="9930168" y="139700"/>
                  </a:lnTo>
                  <a:lnTo>
                    <a:pt x="9930168" y="698500"/>
                  </a:lnTo>
                  <a:lnTo>
                    <a:pt x="9923052" y="742630"/>
                  </a:lnTo>
                  <a:lnTo>
                    <a:pt x="9903231" y="780976"/>
                  </a:lnTo>
                  <a:lnTo>
                    <a:pt x="9872999" y="811227"/>
                  </a:lnTo>
                  <a:lnTo>
                    <a:pt x="9834647" y="831071"/>
                  </a:lnTo>
                  <a:lnTo>
                    <a:pt x="9790468" y="838200"/>
                  </a:lnTo>
                  <a:lnTo>
                    <a:pt x="139699" y="838200"/>
                  </a:lnTo>
                  <a:lnTo>
                    <a:pt x="95544" y="831071"/>
                  </a:lnTo>
                  <a:lnTo>
                    <a:pt x="57195" y="811227"/>
                  </a:lnTo>
                  <a:lnTo>
                    <a:pt x="26954" y="780976"/>
                  </a:lnTo>
                  <a:lnTo>
                    <a:pt x="7122" y="742630"/>
                  </a:lnTo>
                  <a:lnTo>
                    <a:pt x="0" y="698500"/>
                  </a:lnTo>
                  <a:lnTo>
                    <a:pt x="0" y="139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8">
              <a:extLst>
                <a:ext uri="{FF2B5EF4-FFF2-40B4-BE49-F238E27FC236}">
                  <a16:creationId xmlns:a16="http://schemas.microsoft.com/office/drawing/2014/main" id="{B3D7E244-8811-DEA0-3AA1-DE9F566735A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084" y="4547616"/>
              <a:ext cx="8584692" cy="856488"/>
            </a:xfrm>
            <a:prstGeom prst="rect">
              <a:avLst/>
            </a:prstGeom>
          </p:spPr>
        </p:pic>
        <p:pic>
          <p:nvPicPr>
            <p:cNvPr id="13" name="object 9">
              <a:extLst>
                <a:ext uri="{FF2B5EF4-FFF2-40B4-BE49-F238E27FC236}">
                  <a16:creationId xmlns:a16="http://schemas.microsoft.com/office/drawing/2014/main" id="{3BD33B57-6E14-874F-20BD-E1B8F8365C2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6236" y="4399788"/>
              <a:ext cx="6595871" cy="1258824"/>
            </a:xfrm>
            <a:prstGeom prst="rect">
              <a:avLst/>
            </a:prstGeom>
          </p:spPr>
        </p:pic>
        <p:sp>
          <p:nvSpPr>
            <p:cNvPr id="14" name="object 10">
              <a:extLst>
                <a:ext uri="{FF2B5EF4-FFF2-40B4-BE49-F238E27FC236}">
                  <a16:creationId xmlns:a16="http://schemas.microsoft.com/office/drawing/2014/main" id="{A8885E71-FBD7-5C9F-D3A2-429394EBF53E}"/>
                </a:ext>
              </a:extLst>
            </p:cNvPr>
            <p:cNvSpPr/>
            <p:nvPr/>
          </p:nvSpPr>
          <p:spPr>
            <a:xfrm>
              <a:off x="338924" y="4572000"/>
              <a:ext cx="8489950" cy="762000"/>
            </a:xfrm>
            <a:custGeom>
              <a:avLst/>
              <a:gdLst/>
              <a:ahLst/>
              <a:cxnLst/>
              <a:rect l="l" t="t" r="r" b="b"/>
              <a:pathLst>
                <a:path w="8489950" h="762000">
                  <a:moveTo>
                    <a:pt x="8362353" y="0"/>
                  </a:moveTo>
                  <a:lnTo>
                    <a:pt x="126999" y="0"/>
                  </a:lnTo>
                  <a:lnTo>
                    <a:pt x="77565" y="9985"/>
                  </a:lnTo>
                  <a:lnTo>
                    <a:pt x="37196" y="37210"/>
                  </a:lnTo>
                  <a:lnTo>
                    <a:pt x="9980" y="77581"/>
                  </a:lnTo>
                  <a:lnTo>
                    <a:pt x="0" y="127000"/>
                  </a:lnTo>
                  <a:lnTo>
                    <a:pt x="0" y="635000"/>
                  </a:lnTo>
                  <a:lnTo>
                    <a:pt x="9980" y="684418"/>
                  </a:lnTo>
                  <a:lnTo>
                    <a:pt x="37196" y="724789"/>
                  </a:lnTo>
                  <a:lnTo>
                    <a:pt x="77565" y="752014"/>
                  </a:lnTo>
                  <a:lnTo>
                    <a:pt x="126999" y="762000"/>
                  </a:lnTo>
                  <a:lnTo>
                    <a:pt x="8362353" y="762000"/>
                  </a:lnTo>
                  <a:lnTo>
                    <a:pt x="8411825" y="752014"/>
                  </a:lnTo>
                  <a:lnTo>
                    <a:pt x="8452189" y="724788"/>
                  </a:lnTo>
                  <a:lnTo>
                    <a:pt x="8479385" y="684418"/>
                  </a:lnTo>
                  <a:lnTo>
                    <a:pt x="8489353" y="635000"/>
                  </a:lnTo>
                  <a:lnTo>
                    <a:pt x="8489353" y="127000"/>
                  </a:lnTo>
                  <a:lnTo>
                    <a:pt x="8479385" y="77581"/>
                  </a:lnTo>
                  <a:lnTo>
                    <a:pt x="8452189" y="37211"/>
                  </a:lnTo>
                  <a:lnTo>
                    <a:pt x="8411825" y="9985"/>
                  </a:lnTo>
                  <a:lnTo>
                    <a:pt x="836235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784D5303-4506-D48B-D63B-98170BBF24DE}"/>
                </a:ext>
              </a:extLst>
            </p:cNvPr>
            <p:cNvSpPr/>
            <p:nvPr/>
          </p:nvSpPr>
          <p:spPr>
            <a:xfrm>
              <a:off x="338924" y="4572000"/>
              <a:ext cx="8489950" cy="762000"/>
            </a:xfrm>
            <a:custGeom>
              <a:avLst/>
              <a:gdLst/>
              <a:ahLst/>
              <a:cxnLst/>
              <a:rect l="l" t="t" r="r" b="b"/>
              <a:pathLst>
                <a:path w="8489950" h="762000">
                  <a:moveTo>
                    <a:pt x="0" y="127000"/>
                  </a:moveTo>
                  <a:lnTo>
                    <a:pt x="9980" y="77581"/>
                  </a:lnTo>
                  <a:lnTo>
                    <a:pt x="37196" y="37210"/>
                  </a:lnTo>
                  <a:lnTo>
                    <a:pt x="77565" y="9985"/>
                  </a:lnTo>
                  <a:lnTo>
                    <a:pt x="126999" y="0"/>
                  </a:lnTo>
                  <a:lnTo>
                    <a:pt x="8362353" y="0"/>
                  </a:lnTo>
                  <a:lnTo>
                    <a:pt x="8411825" y="9985"/>
                  </a:lnTo>
                  <a:lnTo>
                    <a:pt x="8452189" y="37211"/>
                  </a:lnTo>
                  <a:lnTo>
                    <a:pt x="8479385" y="77581"/>
                  </a:lnTo>
                  <a:lnTo>
                    <a:pt x="8489353" y="127000"/>
                  </a:lnTo>
                  <a:lnTo>
                    <a:pt x="8489353" y="635000"/>
                  </a:lnTo>
                  <a:lnTo>
                    <a:pt x="8479385" y="684418"/>
                  </a:lnTo>
                  <a:lnTo>
                    <a:pt x="8452189" y="724788"/>
                  </a:lnTo>
                  <a:lnTo>
                    <a:pt x="8411825" y="752014"/>
                  </a:lnTo>
                  <a:lnTo>
                    <a:pt x="8362353" y="762000"/>
                  </a:lnTo>
                  <a:lnTo>
                    <a:pt x="126999" y="762000"/>
                  </a:lnTo>
                  <a:lnTo>
                    <a:pt x="77565" y="752014"/>
                  </a:lnTo>
                  <a:lnTo>
                    <a:pt x="37196" y="724789"/>
                  </a:lnTo>
                  <a:lnTo>
                    <a:pt x="9980" y="684418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2">
              <a:extLst>
                <a:ext uri="{FF2B5EF4-FFF2-40B4-BE49-F238E27FC236}">
                  <a16:creationId xmlns:a16="http://schemas.microsoft.com/office/drawing/2014/main" id="{7CB06946-05F9-1135-51D5-8A1959E5EEB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1084" y="5462016"/>
              <a:ext cx="11795760" cy="1101852"/>
            </a:xfrm>
            <a:prstGeom prst="rect">
              <a:avLst/>
            </a:prstGeom>
          </p:spPr>
        </p:pic>
        <p:pic>
          <p:nvPicPr>
            <p:cNvPr id="17" name="object 13">
              <a:extLst>
                <a:ext uri="{FF2B5EF4-FFF2-40B4-BE49-F238E27FC236}">
                  <a16:creationId xmlns:a16="http://schemas.microsoft.com/office/drawing/2014/main" id="{E33A6E38-B4AF-B6DF-7189-BBDDF78B2D4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8427" y="5436108"/>
              <a:ext cx="9509760" cy="1258824"/>
            </a:xfrm>
            <a:prstGeom prst="rect">
              <a:avLst/>
            </a:prstGeom>
          </p:spPr>
        </p:pic>
        <p:sp>
          <p:nvSpPr>
            <p:cNvPr id="18" name="object 14">
              <a:extLst>
                <a:ext uri="{FF2B5EF4-FFF2-40B4-BE49-F238E27FC236}">
                  <a16:creationId xmlns:a16="http://schemas.microsoft.com/office/drawing/2014/main" id="{3EE07207-3B10-F12E-A0AF-2150F4C31494}"/>
                </a:ext>
              </a:extLst>
            </p:cNvPr>
            <p:cNvSpPr/>
            <p:nvPr/>
          </p:nvSpPr>
          <p:spPr>
            <a:xfrm>
              <a:off x="338924" y="5486400"/>
              <a:ext cx="11701145" cy="1006475"/>
            </a:xfrm>
            <a:custGeom>
              <a:avLst/>
              <a:gdLst/>
              <a:ahLst/>
              <a:cxnLst/>
              <a:rect l="l" t="t" r="r" b="b"/>
              <a:pathLst>
                <a:path w="11701145" h="1006475">
                  <a:moveTo>
                    <a:pt x="11532908" y="0"/>
                  </a:moveTo>
                  <a:lnTo>
                    <a:pt x="167754" y="0"/>
                  </a:lnTo>
                  <a:lnTo>
                    <a:pt x="123159" y="5988"/>
                  </a:lnTo>
                  <a:lnTo>
                    <a:pt x="83086" y="22892"/>
                  </a:lnTo>
                  <a:lnTo>
                    <a:pt x="49134" y="49115"/>
                  </a:lnTo>
                  <a:lnTo>
                    <a:pt x="22903" y="83063"/>
                  </a:lnTo>
                  <a:lnTo>
                    <a:pt x="5992" y="123141"/>
                  </a:lnTo>
                  <a:lnTo>
                    <a:pt x="0" y="167754"/>
                  </a:lnTo>
                  <a:lnTo>
                    <a:pt x="0" y="838733"/>
                  </a:lnTo>
                  <a:lnTo>
                    <a:pt x="5992" y="883327"/>
                  </a:lnTo>
                  <a:lnTo>
                    <a:pt x="22903" y="923398"/>
                  </a:lnTo>
                  <a:lnTo>
                    <a:pt x="49134" y="957346"/>
                  </a:lnTo>
                  <a:lnTo>
                    <a:pt x="83086" y="983574"/>
                  </a:lnTo>
                  <a:lnTo>
                    <a:pt x="123159" y="1000483"/>
                  </a:lnTo>
                  <a:lnTo>
                    <a:pt x="167754" y="1006475"/>
                  </a:lnTo>
                  <a:lnTo>
                    <a:pt x="11532908" y="1006475"/>
                  </a:lnTo>
                  <a:lnTo>
                    <a:pt x="11577526" y="1000483"/>
                  </a:lnTo>
                  <a:lnTo>
                    <a:pt x="11617607" y="983574"/>
                  </a:lnTo>
                  <a:lnTo>
                    <a:pt x="11651557" y="957346"/>
                  </a:lnTo>
                  <a:lnTo>
                    <a:pt x="11677782" y="923398"/>
                  </a:lnTo>
                  <a:lnTo>
                    <a:pt x="11694686" y="883327"/>
                  </a:lnTo>
                  <a:lnTo>
                    <a:pt x="11700675" y="838733"/>
                  </a:lnTo>
                  <a:lnTo>
                    <a:pt x="11700675" y="167754"/>
                  </a:lnTo>
                  <a:lnTo>
                    <a:pt x="11694686" y="123141"/>
                  </a:lnTo>
                  <a:lnTo>
                    <a:pt x="11677782" y="83063"/>
                  </a:lnTo>
                  <a:lnTo>
                    <a:pt x="11651557" y="49115"/>
                  </a:lnTo>
                  <a:lnTo>
                    <a:pt x="11617607" y="22892"/>
                  </a:lnTo>
                  <a:lnTo>
                    <a:pt x="11577526" y="5988"/>
                  </a:lnTo>
                  <a:lnTo>
                    <a:pt x="115329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5">
              <a:extLst>
                <a:ext uri="{FF2B5EF4-FFF2-40B4-BE49-F238E27FC236}">
                  <a16:creationId xmlns:a16="http://schemas.microsoft.com/office/drawing/2014/main" id="{4D708472-3112-2D61-F29C-11D36C1B82CF}"/>
                </a:ext>
              </a:extLst>
            </p:cNvPr>
            <p:cNvSpPr/>
            <p:nvPr/>
          </p:nvSpPr>
          <p:spPr>
            <a:xfrm>
              <a:off x="338924" y="5486400"/>
              <a:ext cx="11701145" cy="1006475"/>
            </a:xfrm>
            <a:custGeom>
              <a:avLst/>
              <a:gdLst/>
              <a:ahLst/>
              <a:cxnLst/>
              <a:rect l="l" t="t" r="r" b="b"/>
              <a:pathLst>
                <a:path w="11701145" h="1006475">
                  <a:moveTo>
                    <a:pt x="0" y="167754"/>
                  </a:moveTo>
                  <a:lnTo>
                    <a:pt x="5992" y="123141"/>
                  </a:lnTo>
                  <a:lnTo>
                    <a:pt x="22903" y="83063"/>
                  </a:lnTo>
                  <a:lnTo>
                    <a:pt x="49134" y="49115"/>
                  </a:lnTo>
                  <a:lnTo>
                    <a:pt x="83086" y="22892"/>
                  </a:lnTo>
                  <a:lnTo>
                    <a:pt x="123159" y="5988"/>
                  </a:lnTo>
                  <a:lnTo>
                    <a:pt x="167754" y="0"/>
                  </a:lnTo>
                  <a:lnTo>
                    <a:pt x="11532908" y="0"/>
                  </a:lnTo>
                  <a:lnTo>
                    <a:pt x="11577526" y="5988"/>
                  </a:lnTo>
                  <a:lnTo>
                    <a:pt x="11617607" y="22892"/>
                  </a:lnTo>
                  <a:lnTo>
                    <a:pt x="11651557" y="49115"/>
                  </a:lnTo>
                  <a:lnTo>
                    <a:pt x="11677782" y="83063"/>
                  </a:lnTo>
                  <a:lnTo>
                    <a:pt x="11694686" y="123141"/>
                  </a:lnTo>
                  <a:lnTo>
                    <a:pt x="11700675" y="167754"/>
                  </a:lnTo>
                  <a:lnTo>
                    <a:pt x="11700675" y="838733"/>
                  </a:lnTo>
                  <a:lnTo>
                    <a:pt x="11694686" y="883327"/>
                  </a:lnTo>
                  <a:lnTo>
                    <a:pt x="11677782" y="923398"/>
                  </a:lnTo>
                  <a:lnTo>
                    <a:pt x="11651557" y="957346"/>
                  </a:lnTo>
                  <a:lnTo>
                    <a:pt x="11617607" y="983574"/>
                  </a:lnTo>
                  <a:lnTo>
                    <a:pt x="11577526" y="1000483"/>
                  </a:lnTo>
                  <a:lnTo>
                    <a:pt x="11532908" y="1006475"/>
                  </a:lnTo>
                  <a:lnTo>
                    <a:pt x="167754" y="1006475"/>
                  </a:lnTo>
                  <a:lnTo>
                    <a:pt x="123159" y="1000483"/>
                  </a:lnTo>
                  <a:lnTo>
                    <a:pt x="83086" y="983574"/>
                  </a:lnTo>
                  <a:lnTo>
                    <a:pt x="49134" y="957346"/>
                  </a:lnTo>
                  <a:lnTo>
                    <a:pt x="22903" y="923398"/>
                  </a:lnTo>
                  <a:lnTo>
                    <a:pt x="5992" y="883327"/>
                  </a:lnTo>
                  <a:lnTo>
                    <a:pt x="0" y="838733"/>
                  </a:lnTo>
                  <a:lnTo>
                    <a:pt x="0" y="16775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18">
            <a:extLst>
              <a:ext uri="{FF2B5EF4-FFF2-40B4-BE49-F238E27FC236}">
                <a16:creationId xmlns:a16="http://schemas.microsoft.com/office/drawing/2014/main" id="{E38C383F-6CDA-D92E-80B5-2FBD877D81A6}"/>
              </a:ext>
            </a:extLst>
          </p:cNvPr>
          <p:cNvSpPr/>
          <p:nvPr/>
        </p:nvSpPr>
        <p:spPr>
          <a:xfrm>
            <a:off x="4484840" y="1418209"/>
            <a:ext cx="228600" cy="435609"/>
          </a:xfrm>
          <a:custGeom>
            <a:avLst/>
            <a:gdLst/>
            <a:ahLst/>
            <a:cxnLst/>
            <a:rect l="l" t="t" r="r" b="b"/>
            <a:pathLst>
              <a:path w="228600" h="435610">
                <a:moveTo>
                  <a:pt x="22062" y="206736"/>
                </a:moveTo>
                <a:lnTo>
                  <a:pt x="12483" y="209930"/>
                </a:lnTo>
                <a:lnTo>
                  <a:pt x="4909" y="216654"/>
                </a:lnTo>
                <a:lnTo>
                  <a:pt x="656" y="225425"/>
                </a:lnTo>
                <a:lnTo>
                  <a:pt x="0" y="235148"/>
                </a:lnTo>
                <a:lnTo>
                  <a:pt x="3212" y="244728"/>
                </a:lnTo>
                <a:lnTo>
                  <a:pt x="113321" y="435101"/>
                </a:lnTo>
                <a:lnTo>
                  <a:pt x="142897" y="384810"/>
                </a:lnTo>
                <a:lnTo>
                  <a:pt x="138975" y="384810"/>
                </a:lnTo>
                <a:lnTo>
                  <a:pt x="88175" y="384555"/>
                </a:lnTo>
                <a:lnTo>
                  <a:pt x="88516" y="290694"/>
                </a:lnTo>
                <a:lnTo>
                  <a:pt x="47154" y="219201"/>
                </a:lnTo>
                <a:lnTo>
                  <a:pt x="40505" y="211681"/>
                </a:lnTo>
                <a:lnTo>
                  <a:pt x="31771" y="207422"/>
                </a:lnTo>
                <a:lnTo>
                  <a:pt x="22062" y="206736"/>
                </a:lnTo>
                <a:close/>
              </a:path>
              <a:path w="228600" h="435610">
                <a:moveTo>
                  <a:pt x="88516" y="290694"/>
                </a:moveTo>
                <a:lnTo>
                  <a:pt x="88175" y="384555"/>
                </a:lnTo>
                <a:lnTo>
                  <a:pt x="138975" y="384810"/>
                </a:lnTo>
                <a:lnTo>
                  <a:pt x="139022" y="371983"/>
                </a:lnTo>
                <a:lnTo>
                  <a:pt x="91604" y="371855"/>
                </a:lnTo>
                <a:lnTo>
                  <a:pt x="113725" y="334266"/>
                </a:lnTo>
                <a:lnTo>
                  <a:pt x="88516" y="290694"/>
                </a:lnTo>
                <a:close/>
              </a:path>
              <a:path w="228600" h="435610">
                <a:moveTo>
                  <a:pt x="206357" y="207404"/>
                </a:moveTo>
                <a:lnTo>
                  <a:pt x="139317" y="290778"/>
                </a:lnTo>
                <a:lnTo>
                  <a:pt x="138975" y="384810"/>
                </a:lnTo>
                <a:lnTo>
                  <a:pt x="142897" y="384810"/>
                </a:lnTo>
                <a:lnTo>
                  <a:pt x="224827" y="245490"/>
                </a:lnTo>
                <a:lnTo>
                  <a:pt x="228189" y="235964"/>
                </a:lnTo>
                <a:lnTo>
                  <a:pt x="227621" y="226234"/>
                </a:lnTo>
                <a:lnTo>
                  <a:pt x="223434" y="217433"/>
                </a:lnTo>
                <a:lnTo>
                  <a:pt x="215937" y="210692"/>
                </a:lnTo>
                <a:lnTo>
                  <a:pt x="206357" y="207404"/>
                </a:lnTo>
                <a:close/>
              </a:path>
              <a:path w="228600" h="435610">
                <a:moveTo>
                  <a:pt x="113725" y="334266"/>
                </a:moveTo>
                <a:lnTo>
                  <a:pt x="91604" y="371855"/>
                </a:lnTo>
                <a:lnTo>
                  <a:pt x="135546" y="371983"/>
                </a:lnTo>
                <a:lnTo>
                  <a:pt x="113725" y="334266"/>
                </a:lnTo>
                <a:close/>
              </a:path>
              <a:path w="228600" h="435610">
                <a:moveTo>
                  <a:pt x="139317" y="290778"/>
                </a:moveTo>
                <a:lnTo>
                  <a:pt x="113725" y="334266"/>
                </a:lnTo>
                <a:lnTo>
                  <a:pt x="135546" y="371983"/>
                </a:lnTo>
                <a:lnTo>
                  <a:pt x="139022" y="371983"/>
                </a:lnTo>
                <a:lnTo>
                  <a:pt x="139317" y="290778"/>
                </a:lnTo>
                <a:close/>
              </a:path>
              <a:path w="228600" h="435610">
                <a:moveTo>
                  <a:pt x="89572" y="0"/>
                </a:moveTo>
                <a:lnTo>
                  <a:pt x="88683" y="244728"/>
                </a:lnTo>
                <a:lnTo>
                  <a:pt x="88565" y="290778"/>
                </a:lnTo>
                <a:lnTo>
                  <a:pt x="113725" y="334266"/>
                </a:lnTo>
                <a:lnTo>
                  <a:pt x="139317" y="290778"/>
                </a:lnTo>
                <a:lnTo>
                  <a:pt x="140372" y="126"/>
                </a:lnTo>
                <a:lnTo>
                  <a:pt x="89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78B2700E-3AA1-625E-1227-C719A9625E26}"/>
              </a:ext>
            </a:extLst>
          </p:cNvPr>
          <p:cNvSpPr txBox="1"/>
          <p:nvPr/>
        </p:nvSpPr>
        <p:spPr>
          <a:xfrm>
            <a:off x="9389491" y="1097737"/>
            <a:ext cx="11169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"/>
                <a:cs typeface="Cambria"/>
              </a:rPr>
              <a:t>RRP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Tail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2E83CAE7-FCF4-5D2F-CCB6-E9320A28C63A}"/>
              </a:ext>
            </a:extLst>
          </p:cNvPr>
          <p:cNvSpPr/>
          <p:nvPr/>
        </p:nvSpPr>
        <p:spPr>
          <a:xfrm>
            <a:off x="9792624" y="1418209"/>
            <a:ext cx="228600" cy="435609"/>
          </a:xfrm>
          <a:custGeom>
            <a:avLst/>
            <a:gdLst/>
            <a:ahLst/>
            <a:cxnLst/>
            <a:rect l="l" t="t" r="r" b="b"/>
            <a:pathLst>
              <a:path w="228600" h="435610">
                <a:moveTo>
                  <a:pt x="22062" y="206736"/>
                </a:moveTo>
                <a:lnTo>
                  <a:pt x="12537" y="209930"/>
                </a:lnTo>
                <a:lnTo>
                  <a:pt x="4945" y="216654"/>
                </a:lnTo>
                <a:lnTo>
                  <a:pt x="662" y="225425"/>
                </a:lnTo>
                <a:lnTo>
                  <a:pt x="0" y="235148"/>
                </a:lnTo>
                <a:lnTo>
                  <a:pt x="3266" y="244728"/>
                </a:lnTo>
                <a:lnTo>
                  <a:pt x="113375" y="435101"/>
                </a:lnTo>
                <a:lnTo>
                  <a:pt x="142950" y="384810"/>
                </a:lnTo>
                <a:lnTo>
                  <a:pt x="138902" y="384810"/>
                </a:lnTo>
                <a:lnTo>
                  <a:pt x="88102" y="384555"/>
                </a:lnTo>
                <a:lnTo>
                  <a:pt x="88444" y="290475"/>
                </a:lnTo>
                <a:lnTo>
                  <a:pt x="47208" y="219201"/>
                </a:lnTo>
                <a:lnTo>
                  <a:pt x="40540" y="211681"/>
                </a:lnTo>
                <a:lnTo>
                  <a:pt x="31777" y="207422"/>
                </a:lnTo>
                <a:lnTo>
                  <a:pt x="22062" y="206736"/>
                </a:lnTo>
                <a:close/>
              </a:path>
              <a:path w="228600" h="435610">
                <a:moveTo>
                  <a:pt x="88444" y="290475"/>
                </a:moveTo>
                <a:lnTo>
                  <a:pt x="88102" y="384555"/>
                </a:lnTo>
                <a:lnTo>
                  <a:pt x="138902" y="384810"/>
                </a:lnTo>
                <a:lnTo>
                  <a:pt x="138948" y="371983"/>
                </a:lnTo>
                <a:lnTo>
                  <a:pt x="91658" y="371855"/>
                </a:lnTo>
                <a:lnTo>
                  <a:pt x="113763" y="334239"/>
                </a:lnTo>
                <a:lnTo>
                  <a:pt x="88444" y="290475"/>
                </a:lnTo>
                <a:close/>
              </a:path>
              <a:path w="228600" h="435610">
                <a:moveTo>
                  <a:pt x="206337" y="207404"/>
                </a:moveTo>
                <a:lnTo>
                  <a:pt x="139243" y="290880"/>
                </a:lnTo>
                <a:lnTo>
                  <a:pt x="138902" y="384810"/>
                </a:lnTo>
                <a:lnTo>
                  <a:pt x="142950" y="384810"/>
                </a:lnTo>
                <a:lnTo>
                  <a:pt x="224881" y="245490"/>
                </a:lnTo>
                <a:lnTo>
                  <a:pt x="228169" y="235964"/>
                </a:lnTo>
                <a:lnTo>
                  <a:pt x="227564" y="226234"/>
                </a:lnTo>
                <a:lnTo>
                  <a:pt x="223363" y="217433"/>
                </a:lnTo>
                <a:lnTo>
                  <a:pt x="215864" y="210692"/>
                </a:lnTo>
                <a:lnTo>
                  <a:pt x="206337" y="207404"/>
                </a:lnTo>
                <a:close/>
              </a:path>
              <a:path w="228600" h="435610">
                <a:moveTo>
                  <a:pt x="113763" y="334239"/>
                </a:moveTo>
                <a:lnTo>
                  <a:pt x="91658" y="371855"/>
                </a:lnTo>
                <a:lnTo>
                  <a:pt x="135600" y="371983"/>
                </a:lnTo>
                <a:lnTo>
                  <a:pt x="113763" y="334239"/>
                </a:lnTo>
                <a:close/>
              </a:path>
              <a:path w="228600" h="435610">
                <a:moveTo>
                  <a:pt x="139243" y="290880"/>
                </a:moveTo>
                <a:lnTo>
                  <a:pt x="113763" y="334239"/>
                </a:lnTo>
                <a:lnTo>
                  <a:pt x="135600" y="371983"/>
                </a:lnTo>
                <a:lnTo>
                  <a:pt x="138948" y="371983"/>
                </a:lnTo>
                <a:lnTo>
                  <a:pt x="139243" y="290880"/>
                </a:lnTo>
                <a:close/>
              </a:path>
              <a:path w="228600" h="435610">
                <a:moveTo>
                  <a:pt x="89499" y="0"/>
                </a:moveTo>
                <a:lnTo>
                  <a:pt x="88444" y="290475"/>
                </a:lnTo>
                <a:lnTo>
                  <a:pt x="113763" y="334239"/>
                </a:lnTo>
                <a:lnTo>
                  <a:pt x="139243" y="290880"/>
                </a:lnTo>
                <a:lnTo>
                  <a:pt x="140299" y="126"/>
                </a:lnTo>
                <a:lnTo>
                  <a:pt x="89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594ED12C-A760-6B9D-449C-3DD16EB69579}"/>
              </a:ext>
            </a:extLst>
          </p:cNvPr>
          <p:cNvSpPr txBox="1"/>
          <p:nvPr/>
        </p:nvSpPr>
        <p:spPr>
          <a:xfrm>
            <a:off x="9414509" y="2488818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3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DA85DB38-3717-0E73-73DF-026B06854437}"/>
              </a:ext>
            </a:extLst>
          </p:cNvPr>
          <p:cNvSpPr txBox="1"/>
          <p:nvPr/>
        </p:nvSpPr>
        <p:spPr>
          <a:xfrm>
            <a:off x="8298306" y="2488818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2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4ADEA980-07F9-1DB5-B408-2422EC6CD2F4}"/>
              </a:ext>
            </a:extLst>
          </p:cNvPr>
          <p:cNvSpPr txBox="1"/>
          <p:nvPr/>
        </p:nvSpPr>
        <p:spPr>
          <a:xfrm>
            <a:off x="6785229" y="2488818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1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6" name="object 24">
            <a:extLst>
              <a:ext uri="{FF2B5EF4-FFF2-40B4-BE49-F238E27FC236}">
                <a16:creationId xmlns:a16="http://schemas.microsoft.com/office/drawing/2014/main" id="{34412822-2BDF-27BF-5B3C-7740AFAF8FF6}"/>
              </a:ext>
            </a:extLst>
          </p:cNvPr>
          <p:cNvSpPr txBox="1"/>
          <p:nvPr/>
        </p:nvSpPr>
        <p:spPr>
          <a:xfrm>
            <a:off x="6071108" y="3022854"/>
            <a:ext cx="4115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64080" algn="l"/>
                <a:tab pos="3055620" algn="l"/>
              </a:tabLst>
            </a:pPr>
            <a:r>
              <a:rPr sz="2400" spc="-5" dirty="0">
                <a:latin typeface="Cambria"/>
                <a:cs typeface="Cambria"/>
              </a:rPr>
              <a:t>‘intermediate’	</a:t>
            </a:r>
            <a:r>
              <a:rPr sz="2400" spc="-10" dirty="0">
                <a:latin typeface="Cambria"/>
                <a:cs typeface="Cambria"/>
              </a:rPr>
              <a:t>‘far’	</a:t>
            </a:r>
            <a:r>
              <a:rPr sz="2400" spc="-5" dirty="0">
                <a:latin typeface="Cambria"/>
                <a:cs typeface="Cambria"/>
              </a:rPr>
              <a:t>‘distant’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0CA0182C-33CD-F300-1A69-B6A52E99B8DD}"/>
              </a:ext>
            </a:extLst>
          </p:cNvPr>
          <p:cNvSpPr txBox="1"/>
          <p:nvPr/>
        </p:nvSpPr>
        <p:spPr>
          <a:xfrm>
            <a:off x="4803775" y="2488818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0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8F67782A-73F0-1F38-FDF8-B90DEB9F8A45}"/>
              </a:ext>
            </a:extLst>
          </p:cNvPr>
          <p:cNvSpPr txBox="1"/>
          <p:nvPr/>
        </p:nvSpPr>
        <p:spPr>
          <a:xfrm>
            <a:off x="4627245" y="2952749"/>
            <a:ext cx="789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"/>
                <a:cs typeface="Cambria"/>
              </a:rPr>
              <a:t>‘near-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372D4B50-641F-CD88-28DC-3F912CD3C0E4}"/>
              </a:ext>
            </a:extLst>
          </p:cNvPr>
          <p:cNvSpPr txBox="1"/>
          <p:nvPr/>
        </p:nvSpPr>
        <p:spPr>
          <a:xfrm>
            <a:off x="78739" y="2225801"/>
            <a:ext cx="3889375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Cambria"/>
                <a:cs typeface="Cambria"/>
              </a:rPr>
              <a:t>Re-reference </a:t>
            </a:r>
            <a:r>
              <a:rPr sz="2400" spc="-5" dirty="0">
                <a:latin typeface="Cambria"/>
                <a:cs typeface="Cambria"/>
              </a:rPr>
              <a:t>Prediction </a:t>
            </a:r>
            <a:r>
              <a:rPr sz="2400" spc="-35" dirty="0">
                <a:latin typeface="Cambria"/>
                <a:cs typeface="Cambria"/>
              </a:rPr>
              <a:t>Value </a:t>
            </a:r>
            <a:r>
              <a:rPr sz="2400" spc="-5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RRPV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(n=2):</a:t>
            </a:r>
            <a:endParaRPr sz="2400">
              <a:latin typeface="Cambria"/>
              <a:cs typeface="Cambria"/>
            </a:endParaRPr>
          </a:p>
          <a:p>
            <a:pPr marL="573405" algn="ctr">
              <a:lnSpc>
                <a:spcPct val="100000"/>
              </a:lnSpc>
              <a:spcBef>
                <a:spcPts val="360"/>
              </a:spcBef>
            </a:pPr>
            <a:r>
              <a:rPr sz="2400" spc="-15" dirty="0">
                <a:latin typeface="Cambria"/>
                <a:cs typeface="Cambria"/>
              </a:rPr>
              <a:t>Qualitative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Prediction: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30" name="object 28">
            <a:extLst>
              <a:ext uri="{FF2B5EF4-FFF2-40B4-BE49-F238E27FC236}">
                <a16:creationId xmlns:a16="http://schemas.microsoft.com/office/drawing/2014/main" id="{E3B8BCA8-D549-44DF-C69E-DE01856F5413}"/>
              </a:ext>
            </a:extLst>
          </p:cNvPr>
          <p:cNvGrpSpPr/>
          <p:nvPr/>
        </p:nvGrpSpPr>
        <p:grpSpPr>
          <a:xfrm>
            <a:off x="4302125" y="1919859"/>
            <a:ext cx="5886450" cy="400050"/>
            <a:chOff x="4302125" y="1895475"/>
            <a:chExt cx="5886450" cy="400050"/>
          </a:xfrm>
        </p:grpSpPr>
        <p:sp>
          <p:nvSpPr>
            <p:cNvPr id="31" name="object 29">
              <a:extLst>
                <a:ext uri="{FF2B5EF4-FFF2-40B4-BE49-F238E27FC236}">
                  <a16:creationId xmlns:a16="http://schemas.microsoft.com/office/drawing/2014/main" id="{6F414250-C094-B34B-69C8-66CD647F3599}"/>
                </a:ext>
              </a:extLst>
            </p:cNvPr>
            <p:cNvSpPr/>
            <p:nvPr/>
          </p:nvSpPr>
          <p:spPr>
            <a:xfrm>
              <a:off x="4311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6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0">
              <a:extLst>
                <a:ext uri="{FF2B5EF4-FFF2-40B4-BE49-F238E27FC236}">
                  <a16:creationId xmlns:a16="http://schemas.microsoft.com/office/drawing/2014/main" id="{5799705C-9A5C-EDE1-7559-3DC9144362E2}"/>
                </a:ext>
              </a:extLst>
            </p:cNvPr>
            <p:cNvSpPr/>
            <p:nvPr/>
          </p:nvSpPr>
          <p:spPr>
            <a:xfrm>
              <a:off x="4311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0" y="381000"/>
                  </a:moveTo>
                  <a:lnTo>
                    <a:pt x="533400" y="3810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1">
              <a:extLst>
                <a:ext uri="{FF2B5EF4-FFF2-40B4-BE49-F238E27FC236}">
                  <a16:creationId xmlns:a16="http://schemas.microsoft.com/office/drawing/2014/main" id="{D0516BC2-A74E-7039-D48B-16B05ED8E802}"/>
                </a:ext>
              </a:extLst>
            </p:cNvPr>
            <p:cNvSpPr/>
            <p:nvPr/>
          </p:nvSpPr>
          <p:spPr>
            <a:xfrm>
              <a:off x="5073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6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2">
              <a:extLst>
                <a:ext uri="{FF2B5EF4-FFF2-40B4-BE49-F238E27FC236}">
                  <a16:creationId xmlns:a16="http://schemas.microsoft.com/office/drawing/2014/main" id="{885EBF49-48BB-3AAD-A78F-86100FBCBE61}"/>
                </a:ext>
              </a:extLst>
            </p:cNvPr>
            <p:cNvSpPr/>
            <p:nvPr/>
          </p:nvSpPr>
          <p:spPr>
            <a:xfrm>
              <a:off x="5073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0" y="381000"/>
                  </a:moveTo>
                  <a:lnTo>
                    <a:pt x="533400" y="3810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3">
              <a:extLst>
                <a:ext uri="{FF2B5EF4-FFF2-40B4-BE49-F238E27FC236}">
                  <a16:creationId xmlns:a16="http://schemas.microsoft.com/office/drawing/2014/main" id="{18F7EDF5-179E-DE80-D4F5-1BDEB88F0E01}"/>
                </a:ext>
              </a:extLst>
            </p:cNvPr>
            <p:cNvSpPr/>
            <p:nvPr/>
          </p:nvSpPr>
          <p:spPr>
            <a:xfrm>
              <a:off x="5835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6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4">
              <a:extLst>
                <a:ext uri="{FF2B5EF4-FFF2-40B4-BE49-F238E27FC236}">
                  <a16:creationId xmlns:a16="http://schemas.microsoft.com/office/drawing/2014/main" id="{931E8FA0-5F8D-EC12-81A8-C2F5FABB4B65}"/>
                </a:ext>
              </a:extLst>
            </p:cNvPr>
            <p:cNvSpPr/>
            <p:nvPr/>
          </p:nvSpPr>
          <p:spPr>
            <a:xfrm>
              <a:off x="5835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0" y="381000"/>
                  </a:moveTo>
                  <a:lnTo>
                    <a:pt x="533400" y="3810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5">
              <a:extLst>
                <a:ext uri="{FF2B5EF4-FFF2-40B4-BE49-F238E27FC236}">
                  <a16:creationId xmlns:a16="http://schemas.microsoft.com/office/drawing/2014/main" id="{2C88BD98-288C-BA6A-0C95-0FFAA91C351A}"/>
                </a:ext>
              </a:extLst>
            </p:cNvPr>
            <p:cNvSpPr/>
            <p:nvPr/>
          </p:nvSpPr>
          <p:spPr>
            <a:xfrm>
              <a:off x="6597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6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6">
              <a:extLst>
                <a:ext uri="{FF2B5EF4-FFF2-40B4-BE49-F238E27FC236}">
                  <a16:creationId xmlns:a16="http://schemas.microsoft.com/office/drawing/2014/main" id="{8C643594-F7F4-103C-F58C-E00F512726DF}"/>
                </a:ext>
              </a:extLst>
            </p:cNvPr>
            <p:cNvSpPr/>
            <p:nvPr/>
          </p:nvSpPr>
          <p:spPr>
            <a:xfrm>
              <a:off x="6597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0" y="381000"/>
                  </a:moveTo>
                  <a:lnTo>
                    <a:pt x="533400" y="3810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7">
              <a:extLst>
                <a:ext uri="{FF2B5EF4-FFF2-40B4-BE49-F238E27FC236}">
                  <a16:creationId xmlns:a16="http://schemas.microsoft.com/office/drawing/2014/main" id="{783E8A53-304E-2E2E-B3DC-591708735320}"/>
                </a:ext>
              </a:extLst>
            </p:cNvPr>
            <p:cNvSpPr/>
            <p:nvPr/>
          </p:nvSpPr>
          <p:spPr>
            <a:xfrm>
              <a:off x="7359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6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8">
              <a:extLst>
                <a:ext uri="{FF2B5EF4-FFF2-40B4-BE49-F238E27FC236}">
                  <a16:creationId xmlns:a16="http://schemas.microsoft.com/office/drawing/2014/main" id="{BBDAE14C-C540-EAF7-62E9-7A14A61BC3D4}"/>
                </a:ext>
              </a:extLst>
            </p:cNvPr>
            <p:cNvSpPr/>
            <p:nvPr/>
          </p:nvSpPr>
          <p:spPr>
            <a:xfrm>
              <a:off x="7359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0" y="381000"/>
                  </a:moveTo>
                  <a:lnTo>
                    <a:pt x="533400" y="3810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9">
              <a:extLst>
                <a:ext uri="{FF2B5EF4-FFF2-40B4-BE49-F238E27FC236}">
                  <a16:creationId xmlns:a16="http://schemas.microsoft.com/office/drawing/2014/main" id="{7BD3C0B7-CA57-8215-880E-E5BEBBACCC09}"/>
                </a:ext>
              </a:extLst>
            </p:cNvPr>
            <p:cNvSpPr/>
            <p:nvPr/>
          </p:nvSpPr>
          <p:spPr>
            <a:xfrm>
              <a:off x="8121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6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0">
              <a:extLst>
                <a:ext uri="{FF2B5EF4-FFF2-40B4-BE49-F238E27FC236}">
                  <a16:creationId xmlns:a16="http://schemas.microsoft.com/office/drawing/2014/main" id="{31A904D2-B838-1120-A64F-69B37A493DEE}"/>
                </a:ext>
              </a:extLst>
            </p:cNvPr>
            <p:cNvSpPr/>
            <p:nvPr/>
          </p:nvSpPr>
          <p:spPr>
            <a:xfrm>
              <a:off x="8121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0" y="381000"/>
                  </a:moveTo>
                  <a:lnTo>
                    <a:pt x="533400" y="3810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1">
              <a:extLst>
                <a:ext uri="{FF2B5EF4-FFF2-40B4-BE49-F238E27FC236}">
                  <a16:creationId xmlns:a16="http://schemas.microsoft.com/office/drawing/2014/main" id="{CA6F6309-93FA-5C45-B0BC-CD909B54B516}"/>
                </a:ext>
              </a:extLst>
            </p:cNvPr>
            <p:cNvSpPr/>
            <p:nvPr/>
          </p:nvSpPr>
          <p:spPr>
            <a:xfrm>
              <a:off x="8883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6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2">
              <a:extLst>
                <a:ext uri="{FF2B5EF4-FFF2-40B4-BE49-F238E27FC236}">
                  <a16:creationId xmlns:a16="http://schemas.microsoft.com/office/drawing/2014/main" id="{D27E6E18-97F2-E935-025F-B71E4021FE5B}"/>
                </a:ext>
              </a:extLst>
            </p:cNvPr>
            <p:cNvSpPr/>
            <p:nvPr/>
          </p:nvSpPr>
          <p:spPr>
            <a:xfrm>
              <a:off x="8883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0" y="381000"/>
                  </a:moveTo>
                  <a:lnTo>
                    <a:pt x="533400" y="3810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3">
              <a:extLst>
                <a:ext uri="{FF2B5EF4-FFF2-40B4-BE49-F238E27FC236}">
                  <a16:creationId xmlns:a16="http://schemas.microsoft.com/office/drawing/2014/main" id="{EBCC7EDB-89FD-C6EA-F559-D4646DAD08BB}"/>
                </a:ext>
              </a:extLst>
            </p:cNvPr>
            <p:cNvSpPr/>
            <p:nvPr/>
          </p:nvSpPr>
          <p:spPr>
            <a:xfrm>
              <a:off x="9645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6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4">
              <a:extLst>
                <a:ext uri="{FF2B5EF4-FFF2-40B4-BE49-F238E27FC236}">
                  <a16:creationId xmlns:a16="http://schemas.microsoft.com/office/drawing/2014/main" id="{3E03F5EE-73CB-E9B4-1C94-8BD0B1A97009}"/>
                </a:ext>
              </a:extLst>
            </p:cNvPr>
            <p:cNvSpPr/>
            <p:nvPr/>
          </p:nvSpPr>
          <p:spPr>
            <a:xfrm>
              <a:off x="9645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0" y="381000"/>
                  </a:moveTo>
                  <a:lnTo>
                    <a:pt x="533400" y="3810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5">
            <a:extLst>
              <a:ext uri="{FF2B5EF4-FFF2-40B4-BE49-F238E27FC236}">
                <a16:creationId xmlns:a16="http://schemas.microsoft.com/office/drawing/2014/main" id="{653AB39D-CBF7-BEE7-99DB-2BA2835BBD61}"/>
              </a:ext>
            </a:extLst>
          </p:cNvPr>
          <p:cNvSpPr txBox="1"/>
          <p:nvPr/>
        </p:nvSpPr>
        <p:spPr>
          <a:xfrm>
            <a:off x="3964940" y="1097737"/>
            <a:ext cx="6035040" cy="1210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"/>
                <a:cs typeface="Cambria"/>
              </a:rPr>
              <a:t>RRP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Head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00">
              <a:latin typeface="Cambria"/>
              <a:cs typeface="Cambria"/>
            </a:endParaRPr>
          </a:p>
          <a:p>
            <a:pPr marL="528955">
              <a:lnSpc>
                <a:spcPct val="100000"/>
              </a:lnSpc>
              <a:tabLst>
                <a:tab pos="1299845" algn="l"/>
                <a:tab pos="2091055" algn="l"/>
                <a:tab pos="2823845" algn="l"/>
                <a:tab pos="3576954" algn="l"/>
                <a:tab pos="4356100" algn="l"/>
                <a:tab pos="5102860" algn="l"/>
                <a:tab pos="5872480" algn="l"/>
              </a:tabLst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h	g	f	e	d	c	b	a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8" name="object 46">
            <a:extLst>
              <a:ext uri="{FF2B5EF4-FFF2-40B4-BE49-F238E27FC236}">
                <a16:creationId xmlns:a16="http://schemas.microsoft.com/office/drawing/2014/main" id="{6661DAEB-13B8-B7F7-87BC-D96EB2D99FE6}"/>
              </a:ext>
            </a:extLst>
          </p:cNvPr>
          <p:cNvGrpSpPr/>
          <p:nvPr/>
        </p:nvGrpSpPr>
        <p:grpSpPr>
          <a:xfrm>
            <a:off x="4845050" y="2005584"/>
            <a:ext cx="5562600" cy="152400"/>
            <a:chOff x="4845050" y="1981200"/>
            <a:chExt cx="5562600" cy="152400"/>
          </a:xfrm>
        </p:grpSpPr>
        <p:pic>
          <p:nvPicPr>
            <p:cNvPr id="49" name="object 47">
              <a:extLst>
                <a:ext uri="{FF2B5EF4-FFF2-40B4-BE49-F238E27FC236}">
                  <a16:creationId xmlns:a16="http://schemas.microsoft.com/office/drawing/2014/main" id="{B123F305-3480-0BB7-900E-EA15D07A55F4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45050" y="1981200"/>
              <a:ext cx="228600" cy="152400"/>
            </a:xfrm>
            <a:prstGeom prst="rect">
              <a:avLst/>
            </a:prstGeom>
          </p:spPr>
        </p:pic>
        <p:pic>
          <p:nvPicPr>
            <p:cNvPr id="50" name="object 48">
              <a:extLst>
                <a:ext uri="{FF2B5EF4-FFF2-40B4-BE49-F238E27FC236}">
                  <a16:creationId xmlns:a16="http://schemas.microsoft.com/office/drawing/2014/main" id="{17BCFD48-243E-A134-612F-68749BB0A75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07050" y="1981200"/>
              <a:ext cx="228600" cy="152400"/>
            </a:xfrm>
            <a:prstGeom prst="rect">
              <a:avLst/>
            </a:prstGeom>
          </p:spPr>
        </p:pic>
        <p:pic>
          <p:nvPicPr>
            <p:cNvPr id="51" name="object 49">
              <a:extLst>
                <a:ext uri="{FF2B5EF4-FFF2-40B4-BE49-F238E27FC236}">
                  <a16:creationId xmlns:a16="http://schemas.microsoft.com/office/drawing/2014/main" id="{D6F77B1C-29CB-31BD-09EF-711B5831AA9C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69050" y="1981200"/>
              <a:ext cx="228600" cy="152400"/>
            </a:xfrm>
            <a:prstGeom prst="rect">
              <a:avLst/>
            </a:prstGeom>
          </p:spPr>
        </p:pic>
        <p:pic>
          <p:nvPicPr>
            <p:cNvPr id="52" name="object 50">
              <a:extLst>
                <a:ext uri="{FF2B5EF4-FFF2-40B4-BE49-F238E27FC236}">
                  <a16:creationId xmlns:a16="http://schemas.microsoft.com/office/drawing/2014/main" id="{9DD0A074-164C-7D20-83AD-FFD3C8D3678A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31050" y="1981200"/>
              <a:ext cx="228600" cy="152400"/>
            </a:xfrm>
            <a:prstGeom prst="rect">
              <a:avLst/>
            </a:prstGeom>
          </p:spPr>
        </p:pic>
        <p:pic>
          <p:nvPicPr>
            <p:cNvPr id="53" name="object 51">
              <a:extLst>
                <a:ext uri="{FF2B5EF4-FFF2-40B4-BE49-F238E27FC236}">
                  <a16:creationId xmlns:a16="http://schemas.microsoft.com/office/drawing/2014/main" id="{B14A0C7B-F5CB-151E-563B-3B37654101E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93050" y="1981200"/>
              <a:ext cx="228600" cy="152400"/>
            </a:xfrm>
            <a:prstGeom prst="rect">
              <a:avLst/>
            </a:prstGeom>
          </p:spPr>
        </p:pic>
        <p:pic>
          <p:nvPicPr>
            <p:cNvPr id="54" name="object 52">
              <a:extLst>
                <a:ext uri="{FF2B5EF4-FFF2-40B4-BE49-F238E27FC236}">
                  <a16:creationId xmlns:a16="http://schemas.microsoft.com/office/drawing/2014/main" id="{7BEE0032-68C4-B0F5-0914-84218FA0B22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5050" y="1981200"/>
              <a:ext cx="228600" cy="152400"/>
            </a:xfrm>
            <a:prstGeom prst="rect">
              <a:avLst/>
            </a:prstGeom>
          </p:spPr>
        </p:pic>
        <p:pic>
          <p:nvPicPr>
            <p:cNvPr id="55" name="object 53">
              <a:extLst>
                <a:ext uri="{FF2B5EF4-FFF2-40B4-BE49-F238E27FC236}">
                  <a16:creationId xmlns:a16="http://schemas.microsoft.com/office/drawing/2014/main" id="{D0464D63-E8B4-4A55-5AC2-67D73412EE42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17050" y="1981200"/>
              <a:ext cx="228600" cy="152400"/>
            </a:xfrm>
            <a:prstGeom prst="rect">
              <a:avLst/>
            </a:prstGeom>
          </p:spPr>
        </p:pic>
        <p:pic>
          <p:nvPicPr>
            <p:cNvPr id="56" name="object 54">
              <a:extLst>
                <a:ext uri="{FF2B5EF4-FFF2-40B4-BE49-F238E27FC236}">
                  <a16:creationId xmlns:a16="http://schemas.microsoft.com/office/drawing/2014/main" id="{2A3EC8E6-8716-EA87-3C42-711A8313BC9F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79050" y="1981200"/>
              <a:ext cx="228600" cy="152400"/>
            </a:xfrm>
            <a:prstGeom prst="rect">
              <a:avLst/>
            </a:prstGeom>
          </p:spPr>
        </p:pic>
      </p:grpSp>
      <p:grpSp>
        <p:nvGrpSpPr>
          <p:cNvPr id="57" name="object 55">
            <a:extLst>
              <a:ext uri="{FF2B5EF4-FFF2-40B4-BE49-F238E27FC236}">
                <a16:creationId xmlns:a16="http://schemas.microsoft.com/office/drawing/2014/main" id="{CED460A6-46B5-88A5-34B5-96DE03B307EC}"/>
              </a:ext>
            </a:extLst>
          </p:cNvPr>
          <p:cNvGrpSpPr/>
          <p:nvPr/>
        </p:nvGrpSpPr>
        <p:grpSpPr>
          <a:xfrm>
            <a:off x="4191000" y="2615184"/>
            <a:ext cx="6216650" cy="606425"/>
            <a:chOff x="4191000" y="2590800"/>
            <a:chExt cx="6216650" cy="606425"/>
          </a:xfrm>
        </p:grpSpPr>
        <p:sp>
          <p:nvSpPr>
            <p:cNvPr id="58" name="object 56">
              <a:extLst>
                <a:ext uri="{FF2B5EF4-FFF2-40B4-BE49-F238E27FC236}">
                  <a16:creationId xmlns:a16="http://schemas.microsoft.com/office/drawing/2014/main" id="{1068020A-37FD-9779-B510-6A96C0AB4C46}"/>
                </a:ext>
              </a:extLst>
            </p:cNvPr>
            <p:cNvSpPr/>
            <p:nvPr/>
          </p:nvSpPr>
          <p:spPr>
            <a:xfrm>
              <a:off x="5716650" y="2590800"/>
              <a:ext cx="3075305" cy="606425"/>
            </a:xfrm>
            <a:custGeom>
              <a:avLst/>
              <a:gdLst/>
              <a:ahLst/>
              <a:cxnLst/>
              <a:rect l="l" t="t" r="r" b="b"/>
              <a:pathLst>
                <a:path w="3075304" h="606425">
                  <a:moveTo>
                    <a:pt x="0" y="0"/>
                  </a:moveTo>
                  <a:lnTo>
                    <a:pt x="0" y="606425"/>
                  </a:lnTo>
                </a:path>
                <a:path w="3075304" h="606425">
                  <a:moveTo>
                    <a:pt x="2284349" y="0"/>
                  </a:moveTo>
                  <a:lnTo>
                    <a:pt x="2284349" y="606425"/>
                  </a:lnTo>
                </a:path>
                <a:path w="3075304" h="606425">
                  <a:moveTo>
                    <a:pt x="3074924" y="0"/>
                  </a:moveTo>
                  <a:lnTo>
                    <a:pt x="3074924" y="606425"/>
                  </a:lnTo>
                </a:path>
              </a:pathLst>
            </a:custGeom>
            <a:ln w="508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7">
              <a:extLst>
                <a:ext uri="{FF2B5EF4-FFF2-40B4-BE49-F238E27FC236}">
                  <a16:creationId xmlns:a16="http://schemas.microsoft.com/office/drawing/2014/main" id="{A5C81D98-7E5D-AA00-AA41-9B3FF8B02128}"/>
                </a:ext>
              </a:extLst>
            </p:cNvPr>
            <p:cNvSpPr/>
            <p:nvPr/>
          </p:nvSpPr>
          <p:spPr>
            <a:xfrm>
              <a:off x="4191000" y="2895600"/>
              <a:ext cx="6216650" cy="0"/>
            </a:xfrm>
            <a:custGeom>
              <a:avLst/>
              <a:gdLst/>
              <a:ahLst/>
              <a:cxnLst/>
              <a:rect l="l" t="t" r="r" b="b"/>
              <a:pathLst>
                <a:path w="6216650">
                  <a:moveTo>
                    <a:pt x="0" y="0"/>
                  </a:moveTo>
                  <a:lnTo>
                    <a:pt x="6216650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58">
            <a:extLst>
              <a:ext uri="{FF2B5EF4-FFF2-40B4-BE49-F238E27FC236}">
                <a16:creationId xmlns:a16="http://schemas.microsoft.com/office/drawing/2014/main" id="{3E2A47B5-7FF4-D309-7D5E-D355C780DCE7}"/>
              </a:ext>
            </a:extLst>
          </p:cNvPr>
          <p:cNvSpPr txBox="1"/>
          <p:nvPr/>
        </p:nvSpPr>
        <p:spPr>
          <a:xfrm>
            <a:off x="1275777" y="3218434"/>
            <a:ext cx="8881745" cy="312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0">
              <a:lnSpc>
                <a:spcPts val="2755"/>
              </a:lnSpc>
              <a:spcBef>
                <a:spcPts val="100"/>
              </a:spcBef>
            </a:pPr>
            <a:r>
              <a:rPr sz="2400" spc="-5" dirty="0">
                <a:latin typeface="Cambria"/>
                <a:cs typeface="Cambria"/>
              </a:rPr>
              <a:t>immediate’</a:t>
            </a:r>
            <a:endParaRPr sz="2400" dirty="0">
              <a:latin typeface="Cambria"/>
              <a:cs typeface="Cambria"/>
            </a:endParaRPr>
          </a:p>
          <a:p>
            <a:pPr marL="15875">
              <a:lnSpc>
                <a:spcPts val="3235"/>
              </a:lnSpc>
            </a:pPr>
            <a:r>
              <a:rPr sz="2800" spc="-5" dirty="0">
                <a:latin typeface="Cambria"/>
                <a:cs typeface="Cambria"/>
              </a:rPr>
              <a:t>Intuition: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New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cache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block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will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not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be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re-referenced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soon.</a:t>
            </a:r>
            <a:endParaRPr sz="2800" dirty="0">
              <a:latin typeface="Cambria"/>
              <a:cs typeface="Cambria"/>
            </a:endParaRPr>
          </a:p>
          <a:p>
            <a:pPr marL="15875">
              <a:lnSpc>
                <a:spcPct val="100000"/>
              </a:lnSpc>
            </a:pPr>
            <a:r>
              <a:rPr sz="2800" spc="-10" dirty="0">
                <a:latin typeface="Cambria"/>
                <a:cs typeface="Cambria"/>
              </a:rPr>
              <a:t>Replaces</a:t>
            </a:r>
            <a:r>
              <a:rPr sz="2800" spc="-3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block with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distant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65" dirty="0">
                <a:latin typeface="Cambria"/>
                <a:cs typeface="Cambria"/>
              </a:rPr>
              <a:t>RRPV.</a:t>
            </a:r>
            <a:endParaRPr sz="2800" dirty="0">
              <a:latin typeface="Cambria"/>
              <a:cs typeface="Cambria"/>
            </a:endParaRPr>
          </a:p>
          <a:p>
            <a:pPr marL="12700" marR="2858135">
              <a:lnSpc>
                <a:spcPct val="100000"/>
              </a:lnSpc>
              <a:spcBef>
                <a:spcPts val="180"/>
              </a:spcBef>
            </a:pPr>
            <a:r>
              <a:rPr sz="2800" spc="-10" dirty="0">
                <a:latin typeface="Cambria"/>
                <a:cs typeface="Cambria"/>
              </a:rPr>
              <a:t>Insert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with</a:t>
            </a:r>
            <a:r>
              <a:rPr sz="2800" spc="-5" dirty="0">
                <a:latin typeface="Cambria"/>
                <a:cs typeface="Cambria"/>
              </a:rPr>
              <a:t> RRPV=2, </a:t>
            </a:r>
            <a:r>
              <a:rPr sz="2800" spc="-15" dirty="0">
                <a:latin typeface="Cambria"/>
                <a:cs typeface="Cambria"/>
              </a:rPr>
              <a:t>Evict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with</a:t>
            </a:r>
            <a:r>
              <a:rPr sz="2800" spc="-5" dirty="0">
                <a:latin typeface="Cambria"/>
                <a:cs typeface="Cambria"/>
              </a:rPr>
              <a:t> RRPV=3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promote</a:t>
            </a:r>
            <a:r>
              <a:rPr sz="2800" spc="-10" dirty="0">
                <a:latin typeface="Cambria"/>
                <a:cs typeface="Cambria"/>
              </a:rPr>
              <a:t> blocks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with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RRPV=0.</a:t>
            </a:r>
            <a:endParaRPr sz="2800" dirty="0">
              <a:latin typeface="Cambria"/>
              <a:cs typeface="Cambria"/>
            </a:endParaRPr>
          </a:p>
          <a:p>
            <a:pPr marL="24130" marR="5080">
              <a:lnSpc>
                <a:spcPct val="100000"/>
              </a:lnSpc>
              <a:spcBef>
                <a:spcPts val="1445"/>
              </a:spcBef>
            </a:pPr>
            <a:r>
              <a:rPr sz="2800" spc="-5" dirty="0">
                <a:latin typeface="Cambria"/>
                <a:cs typeface="Cambria"/>
              </a:rPr>
              <a:t>Static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RRIP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(Single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core)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and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Thread-Aware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Dynamic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RRIP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35" dirty="0">
                <a:latin typeface="Cambria"/>
                <a:cs typeface="Cambria"/>
              </a:rPr>
              <a:t>(SRRIP+BRRIP,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multi-core,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based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on </a:t>
            </a:r>
            <a:r>
              <a:rPr sz="2800" spc="-10" dirty="0">
                <a:latin typeface="Cambria"/>
                <a:cs typeface="Cambria"/>
              </a:rPr>
              <a:t>SDMs).</a:t>
            </a:r>
            <a:endParaRPr sz="28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393886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C4E0-FD92-91D7-D6F3-03B28466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2-bit state machine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716C4A-E145-4634-36A4-4F497BB44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CBFF9-5191-A216-EACD-0421E47C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11</a:t>
            </a:fld>
            <a:endParaRPr lang="en-IN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1AFB0186-90B4-25D8-41F6-C0665C51E03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9525" y="1976627"/>
            <a:ext cx="11871198" cy="2820924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056059B8-E6C9-3522-DE64-66EC9FD254A2}"/>
              </a:ext>
            </a:extLst>
          </p:cNvPr>
          <p:cNvSpPr txBox="1"/>
          <p:nvPr/>
        </p:nvSpPr>
        <p:spPr>
          <a:xfrm>
            <a:off x="406704" y="3174238"/>
            <a:ext cx="9391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0</a:t>
            </a:r>
            <a:endParaRPr sz="2400">
              <a:latin typeface="Cambria"/>
              <a:cs typeface="Cambria"/>
            </a:endParaRPr>
          </a:p>
          <a:p>
            <a:pPr marL="12700" marR="5080" algn="ctr">
              <a:lnSpc>
                <a:spcPct val="100000"/>
              </a:lnSpc>
            </a:pPr>
            <a:r>
              <a:rPr sz="2400" b="1" dirty="0">
                <a:latin typeface="Cambria"/>
                <a:cs typeface="Cambria"/>
              </a:rPr>
              <a:t>Imm</a:t>
            </a:r>
            <a:r>
              <a:rPr sz="2400" b="1" spc="-5" dirty="0">
                <a:latin typeface="Cambria"/>
                <a:cs typeface="Cambria"/>
              </a:rPr>
              <a:t>e</a:t>
            </a:r>
            <a:r>
              <a:rPr sz="2400" b="1" dirty="0">
                <a:latin typeface="Cambria"/>
                <a:cs typeface="Cambria"/>
              </a:rPr>
              <a:t>-  </a:t>
            </a:r>
            <a:r>
              <a:rPr sz="2400" b="1" spc="-15" dirty="0">
                <a:latin typeface="Cambria"/>
                <a:cs typeface="Cambria"/>
              </a:rPr>
              <a:t>diate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630E1E7-2D5D-DF2D-9DDF-0C49B4DC11D4}"/>
              </a:ext>
            </a:extLst>
          </p:cNvPr>
          <p:cNvSpPr txBox="1"/>
          <p:nvPr/>
        </p:nvSpPr>
        <p:spPr>
          <a:xfrm>
            <a:off x="3947286" y="3174238"/>
            <a:ext cx="11671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1</a:t>
            </a:r>
            <a:endParaRPr sz="2400">
              <a:latin typeface="Cambria"/>
              <a:cs typeface="Cambria"/>
            </a:endParaRPr>
          </a:p>
          <a:p>
            <a:pPr marL="12065" marR="5080" indent="1905" algn="ctr">
              <a:lnSpc>
                <a:spcPct val="100000"/>
              </a:lnSpc>
            </a:pPr>
            <a:r>
              <a:rPr sz="2400" b="1" spc="-10" dirty="0">
                <a:latin typeface="Cambria"/>
                <a:cs typeface="Cambria"/>
              </a:rPr>
              <a:t>Inter- </a:t>
            </a:r>
            <a:r>
              <a:rPr sz="2400" b="1" spc="-5" dirty="0">
                <a:latin typeface="Cambria"/>
                <a:cs typeface="Cambria"/>
              </a:rPr>
              <a:t> me</a:t>
            </a:r>
            <a:r>
              <a:rPr sz="2400" b="1" spc="-15" dirty="0">
                <a:latin typeface="Cambria"/>
                <a:cs typeface="Cambria"/>
              </a:rPr>
              <a:t>d</a:t>
            </a:r>
            <a:r>
              <a:rPr sz="2400" b="1" spc="-5" dirty="0">
                <a:latin typeface="Cambria"/>
                <a:cs typeface="Cambria"/>
              </a:rPr>
              <a:t>ia</a:t>
            </a:r>
            <a:r>
              <a:rPr sz="2400" b="1" spc="-40" dirty="0">
                <a:latin typeface="Cambria"/>
                <a:cs typeface="Cambria"/>
              </a:rPr>
              <a:t>t</a:t>
            </a:r>
            <a:r>
              <a:rPr sz="2400" b="1" dirty="0">
                <a:latin typeface="Cambria"/>
                <a:cs typeface="Cambria"/>
              </a:rPr>
              <a:t>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40B1C257-1D9F-BA83-FDD6-F8CD7810B0D8}"/>
              </a:ext>
            </a:extLst>
          </p:cNvPr>
          <p:cNvSpPr txBox="1"/>
          <p:nvPr/>
        </p:nvSpPr>
        <p:spPr>
          <a:xfrm>
            <a:off x="9963150" y="3357117"/>
            <a:ext cx="10128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3</a:t>
            </a:r>
            <a:endParaRPr sz="24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</a:pPr>
            <a:r>
              <a:rPr sz="2400" b="1" spc="-5" dirty="0">
                <a:latin typeface="Cambria"/>
                <a:cs typeface="Cambria"/>
              </a:rPr>
              <a:t>distant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1CD24B72-B80F-6973-779D-315A25FE26FD}"/>
              </a:ext>
            </a:extLst>
          </p:cNvPr>
          <p:cNvSpPr txBox="1"/>
          <p:nvPr/>
        </p:nvSpPr>
        <p:spPr>
          <a:xfrm>
            <a:off x="2071242" y="4745863"/>
            <a:ext cx="1705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0" dirty="0">
                <a:latin typeface="Cambria"/>
                <a:cs typeface="Cambria"/>
              </a:rPr>
              <a:t>re-reference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E61BDCE5-8127-8D36-239D-B5B05670EA9B}"/>
              </a:ext>
            </a:extLst>
          </p:cNvPr>
          <p:cNvSpPr txBox="1"/>
          <p:nvPr/>
        </p:nvSpPr>
        <p:spPr>
          <a:xfrm>
            <a:off x="2147442" y="3398646"/>
            <a:ext cx="8724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876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"/>
                <a:cs typeface="Cambria"/>
              </a:rPr>
              <a:t>No </a:t>
            </a:r>
            <a:r>
              <a:rPr sz="2400" dirty="0">
                <a:latin typeface="Cambria"/>
                <a:cs typeface="Cambria"/>
              </a:rPr>
              <a:t> Vict</a:t>
            </a:r>
            <a:r>
              <a:rPr sz="2400" spc="5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4BE88326-0428-31CF-7047-FE364CCF5C85}"/>
              </a:ext>
            </a:extLst>
          </p:cNvPr>
          <p:cNvSpPr txBox="1"/>
          <p:nvPr/>
        </p:nvSpPr>
        <p:spPr>
          <a:xfrm>
            <a:off x="4385309" y="2347354"/>
            <a:ext cx="17062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0" dirty="0">
                <a:latin typeface="Cambria"/>
                <a:cs typeface="Cambria"/>
              </a:rPr>
              <a:t>re-reference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74093CBB-47FB-D13A-2D4B-50A0E9A183CC}"/>
              </a:ext>
            </a:extLst>
          </p:cNvPr>
          <p:cNvSpPr txBox="1"/>
          <p:nvPr/>
        </p:nvSpPr>
        <p:spPr>
          <a:xfrm>
            <a:off x="10731245" y="4602860"/>
            <a:ext cx="1148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0" dirty="0">
                <a:latin typeface="Cambria"/>
                <a:cs typeface="Cambria"/>
              </a:rPr>
              <a:t>e</a:t>
            </a:r>
            <a:r>
              <a:rPr sz="2400" b="1" dirty="0">
                <a:latin typeface="Cambria"/>
                <a:cs typeface="Cambria"/>
              </a:rPr>
              <a:t>viction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B46785AE-19BA-7287-419E-907B27136656}"/>
              </a:ext>
            </a:extLst>
          </p:cNvPr>
          <p:cNvSpPr txBox="1"/>
          <p:nvPr/>
        </p:nvSpPr>
        <p:spPr>
          <a:xfrm>
            <a:off x="4385309" y="4745863"/>
            <a:ext cx="1706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0" dirty="0">
                <a:latin typeface="Cambria"/>
                <a:cs typeface="Cambria"/>
              </a:rPr>
              <a:t>re-reference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F7FD91BD-0B35-D695-F157-38FD767C2CE5}"/>
              </a:ext>
            </a:extLst>
          </p:cNvPr>
          <p:cNvSpPr txBox="1"/>
          <p:nvPr/>
        </p:nvSpPr>
        <p:spPr>
          <a:xfrm>
            <a:off x="5989701" y="3366261"/>
            <a:ext cx="18205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00"/>
              </a:spcBef>
              <a:tabLst>
                <a:tab pos="1515745" algn="l"/>
              </a:tabLst>
            </a:pPr>
            <a:r>
              <a:rPr sz="2400" spc="-5" dirty="0">
                <a:latin typeface="Cambria"/>
                <a:cs typeface="Cambria"/>
              </a:rPr>
              <a:t>No	</a:t>
            </a:r>
            <a:r>
              <a:rPr sz="3600" b="1" baseline="1157" dirty="0">
                <a:latin typeface="Cambria"/>
                <a:cs typeface="Cambria"/>
              </a:rPr>
              <a:t>2</a:t>
            </a:r>
            <a:endParaRPr sz="3600" baseline="1157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1404620" algn="l"/>
              </a:tabLst>
            </a:pPr>
            <a:r>
              <a:rPr sz="2400" dirty="0">
                <a:latin typeface="Cambria"/>
                <a:cs typeface="Cambria"/>
              </a:rPr>
              <a:t>V</a:t>
            </a:r>
            <a:r>
              <a:rPr sz="2400" spc="5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ctim	</a:t>
            </a:r>
            <a:r>
              <a:rPr sz="3600" b="1" spc="-7" baseline="1157" dirty="0">
                <a:latin typeface="Cambria"/>
                <a:cs typeface="Cambria"/>
              </a:rPr>
              <a:t>far</a:t>
            </a:r>
            <a:endParaRPr sz="3600" baseline="1157" dirty="0">
              <a:latin typeface="Cambria"/>
              <a:cs typeface="Cambria"/>
            </a:endParaRPr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DA2892B0-645A-10F7-42CF-57E2B00DCC41}"/>
              </a:ext>
            </a:extLst>
          </p:cNvPr>
          <p:cNvSpPr txBox="1"/>
          <p:nvPr/>
        </p:nvSpPr>
        <p:spPr>
          <a:xfrm>
            <a:off x="8511667" y="3366261"/>
            <a:ext cx="87121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383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"/>
                <a:cs typeface="Cambria"/>
              </a:rPr>
              <a:t>No </a:t>
            </a:r>
            <a:r>
              <a:rPr sz="2400" dirty="0">
                <a:latin typeface="Cambria"/>
                <a:cs typeface="Cambria"/>
              </a:rPr>
              <a:t> V</a:t>
            </a:r>
            <a:r>
              <a:rPr sz="2400" spc="5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ctim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6A5BD03E-D3E7-2732-C729-73433FC070A2}"/>
              </a:ext>
            </a:extLst>
          </p:cNvPr>
          <p:cNvSpPr txBox="1"/>
          <p:nvPr/>
        </p:nvSpPr>
        <p:spPr>
          <a:xfrm>
            <a:off x="6755383" y="962101"/>
            <a:ext cx="1880870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solidFill>
                  <a:srgbClr val="C00000"/>
                </a:solidFill>
                <a:latin typeface="Cambria"/>
                <a:cs typeface="Cambria"/>
              </a:rPr>
              <a:t>(SRRIP)</a:t>
            </a:r>
            <a:endParaRPr sz="2400">
              <a:latin typeface="Cambria"/>
              <a:cs typeface="Cambria"/>
            </a:endParaRPr>
          </a:p>
          <a:p>
            <a:pPr algn="ctr">
              <a:lnSpc>
                <a:spcPts val="2530"/>
              </a:lnSpc>
            </a:pPr>
            <a:r>
              <a:rPr sz="2400" i="1" spc="-10" dirty="0">
                <a:solidFill>
                  <a:srgbClr val="C00000"/>
                </a:solidFill>
                <a:latin typeface="Cambria"/>
                <a:cs typeface="Cambria"/>
              </a:rPr>
              <a:t>Scan-Resistant</a:t>
            </a:r>
            <a:endParaRPr sz="2400">
              <a:latin typeface="Cambria"/>
              <a:cs typeface="Cambria"/>
            </a:endParaRPr>
          </a:p>
          <a:p>
            <a:pPr marL="68580" algn="ctr">
              <a:lnSpc>
                <a:spcPts val="2530"/>
              </a:lnSpc>
            </a:pPr>
            <a:r>
              <a:rPr sz="2400" b="1" i="1" spc="-5" dirty="0">
                <a:latin typeface="Cambria"/>
                <a:cs typeface="Cambria"/>
              </a:rPr>
              <a:t>insertion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5A852747-7F61-917D-067E-83ECA93E0BF7}"/>
              </a:ext>
            </a:extLst>
          </p:cNvPr>
          <p:cNvSpPr txBox="1"/>
          <p:nvPr/>
        </p:nvSpPr>
        <p:spPr>
          <a:xfrm>
            <a:off x="9231883" y="962101"/>
            <a:ext cx="2176780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C00000"/>
                </a:solidFill>
                <a:latin typeface="Cambria"/>
                <a:cs typeface="Cambria"/>
              </a:rPr>
              <a:t>(</a:t>
            </a:r>
            <a:r>
              <a:rPr sz="2400" i="1" spc="-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i="1" spc="-5" dirty="0">
                <a:solidFill>
                  <a:srgbClr val="C00000"/>
                </a:solidFill>
                <a:latin typeface="Cambria"/>
                <a:cs typeface="Cambria"/>
              </a:rPr>
              <a:t>BRRIP</a:t>
            </a:r>
            <a:r>
              <a:rPr sz="2400" i="1" spc="-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C00000"/>
                </a:solidFill>
                <a:latin typeface="Cambria"/>
                <a:cs typeface="Cambria"/>
              </a:rPr>
              <a:t>)</a:t>
            </a:r>
            <a:endParaRPr sz="2400">
              <a:latin typeface="Cambria"/>
              <a:cs typeface="Cambria"/>
            </a:endParaRPr>
          </a:p>
          <a:p>
            <a:pPr algn="ctr">
              <a:lnSpc>
                <a:spcPts val="2430"/>
              </a:lnSpc>
            </a:pPr>
            <a:r>
              <a:rPr sz="2400" i="1" spc="-10" dirty="0">
                <a:solidFill>
                  <a:srgbClr val="C00000"/>
                </a:solidFill>
                <a:latin typeface="Cambria"/>
                <a:cs typeface="Cambria"/>
              </a:rPr>
              <a:t>Thrash-Resistant</a:t>
            </a:r>
            <a:endParaRPr sz="2400">
              <a:latin typeface="Cambria"/>
              <a:cs typeface="Cambria"/>
            </a:endParaRPr>
          </a:p>
          <a:p>
            <a:pPr marL="19685" algn="ctr">
              <a:lnSpc>
                <a:spcPts val="2430"/>
              </a:lnSpc>
            </a:pPr>
            <a:r>
              <a:rPr sz="2400" b="1" i="1" spc="-5" dirty="0">
                <a:latin typeface="Cambria"/>
                <a:cs typeface="Cambria"/>
              </a:rPr>
              <a:t>insertion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19" name="object 16">
            <a:extLst>
              <a:ext uri="{FF2B5EF4-FFF2-40B4-BE49-F238E27FC236}">
                <a16:creationId xmlns:a16="http://schemas.microsoft.com/office/drawing/2014/main" id="{E215F411-4C1E-77F9-275F-B7BFD388B11A}"/>
              </a:ext>
            </a:extLst>
          </p:cNvPr>
          <p:cNvGrpSpPr/>
          <p:nvPr/>
        </p:nvGrpSpPr>
        <p:grpSpPr>
          <a:xfrm>
            <a:off x="758475" y="4235069"/>
            <a:ext cx="6929628" cy="437388"/>
            <a:chOff x="720851" y="4248912"/>
            <a:chExt cx="6929628" cy="437388"/>
          </a:xfrm>
        </p:grpSpPr>
        <p:pic>
          <p:nvPicPr>
            <p:cNvPr id="20" name="object 17">
              <a:extLst>
                <a:ext uri="{FF2B5EF4-FFF2-40B4-BE49-F238E27FC236}">
                  <a16:creationId xmlns:a16="http://schemas.microsoft.com/office/drawing/2014/main" id="{4319BC38-E0EF-0B46-B8DE-29A109F8AFB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851" y="4248912"/>
              <a:ext cx="6929628" cy="437388"/>
            </a:xfrm>
            <a:prstGeom prst="rect">
              <a:avLst/>
            </a:prstGeom>
          </p:spPr>
        </p:pic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FFD34E65-37BB-07BD-11C7-71CCAA8FC467}"/>
                </a:ext>
              </a:extLst>
            </p:cNvPr>
            <p:cNvSpPr/>
            <p:nvPr/>
          </p:nvSpPr>
          <p:spPr>
            <a:xfrm>
              <a:off x="877125" y="4368038"/>
              <a:ext cx="6731000" cy="244475"/>
            </a:xfrm>
            <a:custGeom>
              <a:avLst/>
              <a:gdLst/>
              <a:ahLst/>
              <a:cxnLst/>
              <a:rect l="l" t="t" r="r" b="b"/>
              <a:pathLst>
                <a:path w="6731000" h="244475">
                  <a:moveTo>
                    <a:pt x="96222" y="39168"/>
                  </a:moveTo>
                  <a:lnTo>
                    <a:pt x="103441" y="41782"/>
                  </a:lnTo>
                  <a:lnTo>
                    <a:pt x="110045" y="44068"/>
                  </a:lnTo>
                  <a:lnTo>
                    <a:pt x="113461" y="51435"/>
                  </a:lnTo>
                  <a:lnTo>
                    <a:pt x="111074" y="58038"/>
                  </a:lnTo>
                  <a:lnTo>
                    <a:pt x="108699" y="64516"/>
                  </a:lnTo>
                  <a:lnTo>
                    <a:pt x="103284" y="67067"/>
                  </a:lnTo>
                  <a:lnTo>
                    <a:pt x="113880" y="69595"/>
                  </a:lnTo>
                  <a:lnTo>
                    <a:pt x="163868" y="80010"/>
                  </a:lnTo>
                  <a:lnTo>
                    <a:pt x="221576" y="90297"/>
                  </a:lnTo>
                  <a:lnTo>
                    <a:pt x="322427" y="105410"/>
                  </a:lnTo>
                  <a:lnTo>
                    <a:pt x="398716" y="115188"/>
                  </a:lnTo>
                  <a:lnTo>
                    <a:pt x="525970" y="129539"/>
                  </a:lnTo>
                  <a:lnTo>
                    <a:pt x="717994" y="147828"/>
                  </a:lnTo>
                  <a:lnTo>
                    <a:pt x="1048956" y="173228"/>
                  </a:lnTo>
                  <a:lnTo>
                    <a:pt x="1424241" y="195580"/>
                  </a:lnTo>
                  <a:lnTo>
                    <a:pt x="1979104" y="219837"/>
                  </a:lnTo>
                  <a:lnTo>
                    <a:pt x="2578163" y="236219"/>
                  </a:lnTo>
                  <a:lnTo>
                    <a:pt x="3359340" y="244220"/>
                  </a:lnTo>
                  <a:lnTo>
                    <a:pt x="4140517" y="236219"/>
                  </a:lnTo>
                  <a:lnTo>
                    <a:pt x="4739576" y="219582"/>
                  </a:lnTo>
                  <a:lnTo>
                    <a:pt x="4759618" y="218820"/>
                  </a:lnTo>
                  <a:lnTo>
                    <a:pt x="3359213" y="218820"/>
                  </a:lnTo>
                  <a:lnTo>
                    <a:pt x="2578544" y="210947"/>
                  </a:lnTo>
                  <a:lnTo>
                    <a:pt x="1979993" y="194437"/>
                  </a:lnTo>
                  <a:lnTo>
                    <a:pt x="1425511" y="170180"/>
                  </a:lnTo>
                  <a:lnTo>
                    <a:pt x="1050607" y="147828"/>
                  </a:lnTo>
                  <a:lnTo>
                    <a:pt x="824801" y="131318"/>
                  </a:lnTo>
                  <a:lnTo>
                    <a:pt x="574103" y="108966"/>
                  </a:lnTo>
                  <a:lnTo>
                    <a:pt x="442277" y="94742"/>
                  </a:lnTo>
                  <a:lnTo>
                    <a:pt x="325716" y="80263"/>
                  </a:lnTo>
                  <a:lnTo>
                    <a:pt x="257060" y="70231"/>
                  </a:lnTo>
                  <a:lnTo>
                    <a:pt x="168427" y="55118"/>
                  </a:lnTo>
                  <a:lnTo>
                    <a:pt x="119354" y="44831"/>
                  </a:lnTo>
                  <a:lnTo>
                    <a:pt x="97942" y="39624"/>
                  </a:lnTo>
                  <a:lnTo>
                    <a:pt x="96222" y="39168"/>
                  </a:lnTo>
                  <a:close/>
                </a:path>
                <a:path w="6731000" h="244475">
                  <a:moveTo>
                    <a:pt x="6699725" y="9043"/>
                  </a:moveTo>
                  <a:lnTo>
                    <a:pt x="6656387" y="28193"/>
                  </a:lnTo>
                  <a:lnTo>
                    <a:pt x="6598983" y="43687"/>
                  </a:lnTo>
                  <a:lnTo>
                    <a:pt x="6549961" y="53975"/>
                  </a:lnTo>
                  <a:lnTo>
                    <a:pt x="6492811" y="64135"/>
                  </a:lnTo>
                  <a:lnTo>
                    <a:pt x="6428041" y="74294"/>
                  </a:lnTo>
                  <a:lnTo>
                    <a:pt x="6355778" y="84200"/>
                  </a:lnTo>
                  <a:lnTo>
                    <a:pt x="6233985" y="98806"/>
                  </a:lnTo>
                  <a:lnTo>
                    <a:pt x="6190043" y="103505"/>
                  </a:lnTo>
                  <a:lnTo>
                    <a:pt x="5998400" y="121919"/>
                  </a:lnTo>
                  <a:lnTo>
                    <a:pt x="5783389" y="139192"/>
                  </a:lnTo>
                  <a:lnTo>
                    <a:pt x="5422455" y="162687"/>
                  </a:lnTo>
                  <a:lnTo>
                    <a:pt x="4882197" y="188849"/>
                  </a:lnTo>
                  <a:lnTo>
                    <a:pt x="4140009" y="210947"/>
                  </a:lnTo>
                  <a:lnTo>
                    <a:pt x="3359213" y="218820"/>
                  </a:lnTo>
                  <a:lnTo>
                    <a:pt x="4759618" y="218820"/>
                  </a:lnTo>
                  <a:lnTo>
                    <a:pt x="5294439" y="195199"/>
                  </a:lnTo>
                  <a:lnTo>
                    <a:pt x="5669724" y="172719"/>
                  </a:lnTo>
                  <a:lnTo>
                    <a:pt x="5895784" y="156082"/>
                  </a:lnTo>
                  <a:lnTo>
                    <a:pt x="6099873" y="138175"/>
                  </a:lnTo>
                  <a:lnTo>
                    <a:pt x="6279324" y="119125"/>
                  </a:lnTo>
                  <a:lnTo>
                    <a:pt x="6359080" y="109347"/>
                  </a:lnTo>
                  <a:lnTo>
                    <a:pt x="6497256" y="89281"/>
                  </a:lnTo>
                  <a:lnTo>
                    <a:pt x="6554914" y="78867"/>
                  </a:lnTo>
                  <a:lnTo>
                    <a:pt x="6604952" y="68325"/>
                  </a:lnTo>
                  <a:lnTo>
                    <a:pt x="6646862" y="57657"/>
                  </a:lnTo>
                  <a:lnTo>
                    <a:pt x="6694360" y="41020"/>
                  </a:lnTo>
                  <a:lnTo>
                    <a:pt x="6714553" y="29718"/>
                  </a:lnTo>
                  <a:lnTo>
                    <a:pt x="6715188" y="29337"/>
                  </a:lnTo>
                  <a:lnTo>
                    <a:pt x="6715696" y="28829"/>
                  </a:lnTo>
                  <a:lnTo>
                    <a:pt x="6716204" y="28448"/>
                  </a:lnTo>
                  <a:lnTo>
                    <a:pt x="6722300" y="22987"/>
                  </a:lnTo>
                  <a:lnTo>
                    <a:pt x="6723062" y="22351"/>
                  </a:lnTo>
                  <a:lnTo>
                    <a:pt x="6723697" y="21462"/>
                  </a:lnTo>
                  <a:lnTo>
                    <a:pt x="6724205" y="20700"/>
                  </a:lnTo>
                  <a:lnTo>
                    <a:pt x="6728777" y="14097"/>
                  </a:lnTo>
                  <a:lnTo>
                    <a:pt x="6729412" y="12573"/>
                  </a:lnTo>
                  <a:lnTo>
                    <a:pt x="6729666" y="11049"/>
                  </a:lnTo>
                  <a:lnTo>
                    <a:pt x="6730029" y="9525"/>
                  </a:lnTo>
                  <a:lnTo>
                    <a:pt x="6699186" y="9525"/>
                  </a:lnTo>
                  <a:lnTo>
                    <a:pt x="6699725" y="9043"/>
                  </a:lnTo>
                  <a:close/>
                </a:path>
                <a:path w="6731000" h="244475">
                  <a:moveTo>
                    <a:pt x="0" y="4318"/>
                  </a:moveTo>
                  <a:lnTo>
                    <a:pt x="19570" y="119761"/>
                  </a:lnTo>
                  <a:lnTo>
                    <a:pt x="26136" y="124332"/>
                  </a:lnTo>
                  <a:lnTo>
                    <a:pt x="39966" y="122047"/>
                  </a:lnTo>
                  <a:lnTo>
                    <a:pt x="44615" y="115443"/>
                  </a:lnTo>
                  <a:lnTo>
                    <a:pt x="32801" y="45877"/>
                  </a:lnTo>
                  <a:lnTo>
                    <a:pt x="25184" y="42799"/>
                  </a:lnTo>
                  <a:lnTo>
                    <a:pt x="13589" y="36956"/>
                  </a:lnTo>
                  <a:lnTo>
                    <a:pt x="9423" y="34417"/>
                  </a:lnTo>
                  <a:lnTo>
                    <a:pt x="22898" y="12954"/>
                  </a:lnTo>
                  <a:lnTo>
                    <a:pt x="23844" y="12954"/>
                  </a:lnTo>
                  <a:lnTo>
                    <a:pt x="0" y="4318"/>
                  </a:lnTo>
                  <a:close/>
                </a:path>
                <a:path w="6731000" h="244475">
                  <a:moveTo>
                    <a:pt x="89107" y="63595"/>
                  </a:moveTo>
                  <a:lnTo>
                    <a:pt x="94818" y="65659"/>
                  </a:lnTo>
                  <a:lnTo>
                    <a:pt x="101422" y="67944"/>
                  </a:lnTo>
                  <a:lnTo>
                    <a:pt x="103284" y="67067"/>
                  </a:lnTo>
                  <a:lnTo>
                    <a:pt x="92062" y="64388"/>
                  </a:lnTo>
                  <a:lnTo>
                    <a:pt x="89107" y="63595"/>
                  </a:lnTo>
                  <a:close/>
                </a:path>
                <a:path w="6731000" h="244475">
                  <a:moveTo>
                    <a:pt x="40590" y="21589"/>
                  </a:moveTo>
                  <a:lnTo>
                    <a:pt x="28676" y="21589"/>
                  </a:lnTo>
                  <a:lnTo>
                    <a:pt x="32326" y="43084"/>
                  </a:lnTo>
                  <a:lnTo>
                    <a:pt x="89107" y="63595"/>
                  </a:lnTo>
                  <a:lnTo>
                    <a:pt x="92062" y="64388"/>
                  </a:lnTo>
                  <a:lnTo>
                    <a:pt x="103284" y="67067"/>
                  </a:lnTo>
                  <a:lnTo>
                    <a:pt x="108699" y="64516"/>
                  </a:lnTo>
                  <a:lnTo>
                    <a:pt x="113461" y="51435"/>
                  </a:lnTo>
                  <a:lnTo>
                    <a:pt x="110045" y="44068"/>
                  </a:lnTo>
                  <a:lnTo>
                    <a:pt x="103441" y="41782"/>
                  </a:lnTo>
                  <a:lnTo>
                    <a:pt x="96222" y="39168"/>
                  </a:lnTo>
                  <a:lnTo>
                    <a:pt x="78765" y="34543"/>
                  </a:lnTo>
                  <a:lnTo>
                    <a:pt x="61810" y="29463"/>
                  </a:lnTo>
                  <a:lnTo>
                    <a:pt x="47091" y="24256"/>
                  </a:lnTo>
                  <a:lnTo>
                    <a:pt x="40590" y="21589"/>
                  </a:lnTo>
                  <a:close/>
                </a:path>
                <a:path w="6731000" h="244475">
                  <a:moveTo>
                    <a:pt x="32326" y="43084"/>
                  </a:moveTo>
                  <a:lnTo>
                    <a:pt x="72186" y="59055"/>
                  </a:lnTo>
                  <a:lnTo>
                    <a:pt x="89107" y="63595"/>
                  </a:lnTo>
                  <a:lnTo>
                    <a:pt x="32326" y="43084"/>
                  </a:lnTo>
                  <a:close/>
                </a:path>
                <a:path w="6731000" h="244475">
                  <a:moveTo>
                    <a:pt x="22898" y="12954"/>
                  </a:moveTo>
                  <a:lnTo>
                    <a:pt x="9423" y="34417"/>
                  </a:lnTo>
                  <a:lnTo>
                    <a:pt x="13589" y="36956"/>
                  </a:lnTo>
                  <a:lnTo>
                    <a:pt x="25184" y="42799"/>
                  </a:lnTo>
                  <a:lnTo>
                    <a:pt x="32801" y="45877"/>
                  </a:lnTo>
                  <a:lnTo>
                    <a:pt x="32326" y="43084"/>
                  </a:lnTo>
                  <a:lnTo>
                    <a:pt x="11849" y="35687"/>
                  </a:lnTo>
                  <a:lnTo>
                    <a:pt x="28676" y="21589"/>
                  </a:lnTo>
                  <a:lnTo>
                    <a:pt x="40590" y="21589"/>
                  </a:lnTo>
                  <a:lnTo>
                    <a:pt x="34709" y="19176"/>
                  </a:lnTo>
                  <a:lnTo>
                    <a:pt x="24955" y="14350"/>
                  </a:lnTo>
                  <a:lnTo>
                    <a:pt x="22898" y="12954"/>
                  </a:lnTo>
                  <a:close/>
                </a:path>
                <a:path w="6731000" h="244475">
                  <a:moveTo>
                    <a:pt x="28676" y="21589"/>
                  </a:moveTo>
                  <a:lnTo>
                    <a:pt x="11849" y="35687"/>
                  </a:lnTo>
                  <a:lnTo>
                    <a:pt x="32326" y="43084"/>
                  </a:lnTo>
                  <a:lnTo>
                    <a:pt x="28676" y="21589"/>
                  </a:lnTo>
                  <a:close/>
                </a:path>
                <a:path w="6731000" h="244475">
                  <a:moveTo>
                    <a:pt x="23844" y="12954"/>
                  </a:moveTo>
                  <a:lnTo>
                    <a:pt x="22898" y="12954"/>
                  </a:lnTo>
                  <a:lnTo>
                    <a:pt x="24955" y="14350"/>
                  </a:lnTo>
                  <a:lnTo>
                    <a:pt x="61810" y="29463"/>
                  </a:lnTo>
                  <a:lnTo>
                    <a:pt x="96222" y="39168"/>
                  </a:lnTo>
                  <a:lnTo>
                    <a:pt x="23844" y="12954"/>
                  </a:lnTo>
                  <a:close/>
                </a:path>
                <a:path w="6731000" h="244475">
                  <a:moveTo>
                    <a:pt x="6700964" y="8255"/>
                  </a:moveTo>
                  <a:lnTo>
                    <a:pt x="6699725" y="9043"/>
                  </a:lnTo>
                  <a:lnTo>
                    <a:pt x="6699186" y="9525"/>
                  </a:lnTo>
                  <a:lnTo>
                    <a:pt x="6700964" y="8255"/>
                  </a:lnTo>
                  <a:close/>
                </a:path>
                <a:path w="6731000" h="244475">
                  <a:moveTo>
                    <a:pt x="6730331" y="8255"/>
                  </a:moveTo>
                  <a:lnTo>
                    <a:pt x="6700964" y="8255"/>
                  </a:lnTo>
                  <a:lnTo>
                    <a:pt x="6699186" y="9525"/>
                  </a:lnTo>
                  <a:lnTo>
                    <a:pt x="6730029" y="9525"/>
                  </a:lnTo>
                  <a:lnTo>
                    <a:pt x="6730331" y="8255"/>
                  </a:lnTo>
                  <a:close/>
                </a:path>
                <a:path w="6731000" h="244475">
                  <a:moveTo>
                    <a:pt x="6704213" y="5033"/>
                  </a:moveTo>
                  <a:lnTo>
                    <a:pt x="6699725" y="9043"/>
                  </a:lnTo>
                  <a:lnTo>
                    <a:pt x="6700964" y="8255"/>
                  </a:lnTo>
                  <a:lnTo>
                    <a:pt x="6730331" y="8255"/>
                  </a:lnTo>
                  <a:lnTo>
                    <a:pt x="6730755" y="6476"/>
                  </a:lnTo>
                  <a:lnTo>
                    <a:pt x="6703250" y="6476"/>
                  </a:lnTo>
                  <a:lnTo>
                    <a:pt x="6704213" y="5033"/>
                  </a:lnTo>
                  <a:close/>
                </a:path>
                <a:path w="6731000" h="244475">
                  <a:moveTo>
                    <a:pt x="6705155" y="4191"/>
                  </a:moveTo>
                  <a:lnTo>
                    <a:pt x="6704213" y="5033"/>
                  </a:lnTo>
                  <a:lnTo>
                    <a:pt x="6703250" y="6476"/>
                  </a:lnTo>
                  <a:lnTo>
                    <a:pt x="6705155" y="4191"/>
                  </a:lnTo>
                  <a:close/>
                </a:path>
                <a:path w="6731000" h="244475">
                  <a:moveTo>
                    <a:pt x="6705273" y="4191"/>
                  </a:moveTo>
                  <a:lnTo>
                    <a:pt x="6703250" y="6476"/>
                  </a:lnTo>
                  <a:lnTo>
                    <a:pt x="6730755" y="6476"/>
                  </a:lnTo>
                  <a:lnTo>
                    <a:pt x="6730936" y="5714"/>
                  </a:lnTo>
                  <a:lnTo>
                    <a:pt x="6729285" y="5334"/>
                  </a:lnTo>
                  <a:lnTo>
                    <a:pt x="6705028" y="5334"/>
                  </a:lnTo>
                  <a:lnTo>
                    <a:pt x="6705273" y="4191"/>
                  </a:lnTo>
                  <a:close/>
                </a:path>
                <a:path w="6731000" h="244475">
                  <a:moveTo>
                    <a:pt x="6706806" y="1143"/>
                  </a:moveTo>
                  <a:lnTo>
                    <a:pt x="6705509" y="3088"/>
                  </a:lnTo>
                  <a:lnTo>
                    <a:pt x="6705028" y="5334"/>
                  </a:lnTo>
                  <a:lnTo>
                    <a:pt x="6706806" y="1143"/>
                  </a:lnTo>
                  <a:close/>
                </a:path>
                <a:path w="6731000" h="244475">
                  <a:moveTo>
                    <a:pt x="6711124" y="1143"/>
                  </a:moveTo>
                  <a:lnTo>
                    <a:pt x="6706806" y="1143"/>
                  </a:lnTo>
                  <a:lnTo>
                    <a:pt x="6705028" y="5334"/>
                  </a:lnTo>
                  <a:lnTo>
                    <a:pt x="6729285" y="5334"/>
                  </a:lnTo>
                  <a:lnTo>
                    <a:pt x="6711124" y="1143"/>
                  </a:lnTo>
                  <a:close/>
                </a:path>
                <a:path w="6731000" h="244475">
                  <a:moveTo>
                    <a:pt x="6705509" y="3088"/>
                  </a:moveTo>
                  <a:lnTo>
                    <a:pt x="6704213" y="5033"/>
                  </a:lnTo>
                  <a:lnTo>
                    <a:pt x="6705155" y="4191"/>
                  </a:lnTo>
                  <a:lnTo>
                    <a:pt x="6705509" y="3088"/>
                  </a:lnTo>
                  <a:close/>
                </a:path>
                <a:path w="6731000" h="244475">
                  <a:moveTo>
                    <a:pt x="6706171" y="0"/>
                  </a:moveTo>
                  <a:lnTo>
                    <a:pt x="6705509" y="3088"/>
                  </a:lnTo>
                  <a:lnTo>
                    <a:pt x="6706806" y="1143"/>
                  </a:lnTo>
                  <a:lnTo>
                    <a:pt x="6711124" y="1143"/>
                  </a:lnTo>
                  <a:lnTo>
                    <a:pt x="670617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19">
            <a:extLst>
              <a:ext uri="{FF2B5EF4-FFF2-40B4-BE49-F238E27FC236}">
                <a16:creationId xmlns:a16="http://schemas.microsoft.com/office/drawing/2014/main" id="{83FD25A9-0017-A9AC-300B-D29D27E9B673}"/>
              </a:ext>
            </a:extLst>
          </p:cNvPr>
          <p:cNvGrpSpPr/>
          <p:nvPr/>
        </p:nvGrpSpPr>
        <p:grpSpPr>
          <a:xfrm>
            <a:off x="598931" y="2666695"/>
            <a:ext cx="10010394" cy="757555"/>
            <a:chOff x="720851" y="2849879"/>
            <a:chExt cx="9804400" cy="439420"/>
          </a:xfrm>
        </p:grpSpPr>
        <p:pic>
          <p:nvPicPr>
            <p:cNvPr id="23" name="object 20">
              <a:extLst>
                <a:ext uri="{FF2B5EF4-FFF2-40B4-BE49-F238E27FC236}">
                  <a16:creationId xmlns:a16="http://schemas.microsoft.com/office/drawing/2014/main" id="{4B00EC90-59B6-6208-8F62-88ACC270D95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851" y="2849879"/>
              <a:ext cx="9803892" cy="438912"/>
            </a:xfrm>
            <a:prstGeom prst="rect">
              <a:avLst/>
            </a:prstGeom>
          </p:spPr>
        </p:pic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01763D77-F748-6071-98E8-CCD457B6DF0A}"/>
                </a:ext>
              </a:extLst>
            </p:cNvPr>
            <p:cNvSpPr/>
            <p:nvPr/>
          </p:nvSpPr>
          <p:spPr>
            <a:xfrm>
              <a:off x="877112" y="2872739"/>
              <a:ext cx="9604375" cy="245110"/>
            </a:xfrm>
            <a:custGeom>
              <a:avLst/>
              <a:gdLst/>
              <a:ahLst/>
              <a:cxnLst/>
              <a:rect l="l" t="t" r="r" b="b"/>
              <a:pathLst>
                <a:path w="9604375" h="245110">
                  <a:moveTo>
                    <a:pt x="9579280" y="242748"/>
                  </a:moveTo>
                  <a:lnTo>
                    <a:pt x="9580067" y="245110"/>
                  </a:lnTo>
                  <a:lnTo>
                    <a:pt x="9581222" y="244738"/>
                  </a:lnTo>
                  <a:lnTo>
                    <a:pt x="9579280" y="242748"/>
                  </a:lnTo>
                  <a:close/>
                </a:path>
                <a:path w="9604375" h="245110">
                  <a:moveTo>
                    <a:pt x="9578289" y="239775"/>
                  </a:moveTo>
                  <a:lnTo>
                    <a:pt x="9579280" y="242748"/>
                  </a:lnTo>
                  <a:lnTo>
                    <a:pt x="9581222" y="244738"/>
                  </a:lnTo>
                  <a:lnTo>
                    <a:pt x="9578289" y="239775"/>
                  </a:lnTo>
                  <a:close/>
                </a:path>
                <a:path w="9604375" h="245110">
                  <a:moveTo>
                    <a:pt x="9596681" y="239775"/>
                  </a:moveTo>
                  <a:lnTo>
                    <a:pt x="9578289" y="239775"/>
                  </a:lnTo>
                  <a:lnTo>
                    <a:pt x="9581259" y="244727"/>
                  </a:lnTo>
                  <a:lnTo>
                    <a:pt x="9596681" y="239775"/>
                  </a:lnTo>
                  <a:close/>
                </a:path>
                <a:path w="9604375" h="245110">
                  <a:moveTo>
                    <a:pt x="9577155" y="240572"/>
                  </a:moveTo>
                  <a:lnTo>
                    <a:pt x="9579280" y="242748"/>
                  </a:lnTo>
                  <a:lnTo>
                    <a:pt x="9578797" y="241300"/>
                  </a:lnTo>
                  <a:lnTo>
                    <a:pt x="9578289" y="241300"/>
                  </a:lnTo>
                  <a:lnTo>
                    <a:pt x="9577155" y="240572"/>
                  </a:lnTo>
                  <a:close/>
                </a:path>
                <a:path w="9604375" h="245110">
                  <a:moveTo>
                    <a:pt x="9576130" y="239522"/>
                  </a:moveTo>
                  <a:lnTo>
                    <a:pt x="9577155" y="240572"/>
                  </a:lnTo>
                  <a:lnTo>
                    <a:pt x="9578289" y="241300"/>
                  </a:lnTo>
                  <a:lnTo>
                    <a:pt x="9576130" y="239522"/>
                  </a:lnTo>
                  <a:close/>
                </a:path>
                <a:path w="9604375" h="245110">
                  <a:moveTo>
                    <a:pt x="9597472" y="239522"/>
                  </a:moveTo>
                  <a:lnTo>
                    <a:pt x="9576130" y="239522"/>
                  </a:lnTo>
                  <a:lnTo>
                    <a:pt x="9578289" y="241300"/>
                  </a:lnTo>
                  <a:lnTo>
                    <a:pt x="9578797" y="241300"/>
                  </a:lnTo>
                  <a:lnTo>
                    <a:pt x="9578289" y="239775"/>
                  </a:lnTo>
                  <a:lnTo>
                    <a:pt x="9596681" y="239775"/>
                  </a:lnTo>
                  <a:lnTo>
                    <a:pt x="9597472" y="239522"/>
                  </a:lnTo>
                  <a:close/>
                </a:path>
                <a:path w="9604375" h="245110">
                  <a:moveTo>
                    <a:pt x="9570576" y="236350"/>
                  </a:moveTo>
                  <a:lnTo>
                    <a:pt x="9577155" y="240572"/>
                  </a:lnTo>
                  <a:lnTo>
                    <a:pt x="9576130" y="239522"/>
                  </a:lnTo>
                  <a:lnTo>
                    <a:pt x="9597472" y="239522"/>
                  </a:lnTo>
                  <a:lnTo>
                    <a:pt x="9604197" y="237362"/>
                  </a:lnTo>
                  <a:lnTo>
                    <a:pt x="9603985" y="236727"/>
                  </a:lnTo>
                  <a:lnTo>
                    <a:pt x="9571431" y="236727"/>
                  </a:lnTo>
                  <a:lnTo>
                    <a:pt x="9570576" y="236350"/>
                  </a:lnTo>
                  <a:close/>
                </a:path>
                <a:path w="9604375" h="245110">
                  <a:moveTo>
                    <a:pt x="40652" y="123825"/>
                  </a:moveTo>
                  <a:lnTo>
                    <a:pt x="33578" y="127635"/>
                  </a:lnTo>
                  <a:lnTo>
                    <a:pt x="0" y="239649"/>
                  </a:lnTo>
                  <a:lnTo>
                    <a:pt x="24578" y="234061"/>
                  </a:lnTo>
                  <a:lnTo>
                    <a:pt x="23571" y="234061"/>
                  </a:lnTo>
                  <a:lnTo>
                    <a:pt x="13258" y="210820"/>
                  </a:lnTo>
                  <a:lnTo>
                    <a:pt x="23380" y="206375"/>
                  </a:lnTo>
                  <a:lnTo>
                    <a:pt x="37978" y="201381"/>
                  </a:lnTo>
                  <a:lnTo>
                    <a:pt x="57835" y="135127"/>
                  </a:lnTo>
                  <a:lnTo>
                    <a:pt x="57843" y="134747"/>
                  </a:lnTo>
                  <a:lnTo>
                    <a:pt x="54089" y="127762"/>
                  </a:lnTo>
                  <a:lnTo>
                    <a:pt x="47371" y="125857"/>
                  </a:lnTo>
                  <a:lnTo>
                    <a:pt x="40652" y="123825"/>
                  </a:lnTo>
                  <a:close/>
                </a:path>
                <a:path w="9604375" h="245110">
                  <a:moveTo>
                    <a:pt x="9569780" y="235838"/>
                  </a:moveTo>
                  <a:lnTo>
                    <a:pt x="9570576" y="236350"/>
                  </a:lnTo>
                  <a:lnTo>
                    <a:pt x="9571431" y="236727"/>
                  </a:lnTo>
                  <a:lnTo>
                    <a:pt x="9569780" y="235838"/>
                  </a:lnTo>
                  <a:close/>
                </a:path>
                <a:path w="9604375" h="245110">
                  <a:moveTo>
                    <a:pt x="9603689" y="235838"/>
                  </a:moveTo>
                  <a:lnTo>
                    <a:pt x="9569780" y="235838"/>
                  </a:lnTo>
                  <a:lnTo>
                    <a:pt x="9571431" y="236727"/>
                  </a:lnTo>
                  <a:lnTo>
                    <a:pt x="9603985" y="236727"/>
                  </a:lnTo>
                  <a:lnTo>
                    <a:pt x="9603689" y="235838"/>
                  </a:lnTo>
                  <a:close/>
                </a:path>
                <a:path w="9604375" h="245110">
                  <a:moveTo>
                    <a:pt x="6799750" y="25400"/>
                  </a:moveTo>
                  <a:lnTo>
                    <a:pt x="4795977" y="25400"/>
                  </a:lnTo>
                  <a:lnTo>
                    <a:pt x="5245049" y="26670"/>
                  </a:lnTo>
                  <a:lnTo>
                    <a:pt x="6765747" y="49911"/>
                  </a:lnTo>
                  <a:lnTo>
                    <a:pt x="7920812" y="88900"/>
                  </a:lnTo>
                  <a:lnTo>
                    <a:pt x="8636457" y="126746"/>
                  </a:lnTo>
                  <a:lnTo>
                    <a:pt x="8961704" y="150240"/>
                  </a:lnTo>
                  <a:lnTo>
                    <a:pt x="9178620" y="169925"/>
                  </a:lnTo>
                  <a:lnTo>
                    <a:pt x="9313748" y="185165"/>
                  </a:lnTo>
                  <a:lnTo>
                    <a:pt x="9389821" y="195452"/>
                  </a:lnTo>
                  <a:lnTo>
                    <a:pt x="9454083" y="205867"/>
                  </a:lnTo>
                  <a:lnTo>
                    <a:pt x="9506153" y="216281"/>
                  </a:lnTo>
                  <a:lnTo>
                    <a:pt x="9545142" y="226440"/>
                  </a:lnTo>
                  <a:lnTo>
                    <a:pt x="9570576" y="236350"/>
                  </a:lnTo>
                  <a:lnTo>
                    <a:pt x="9569780" y="235838"/>
                  </a:lnTo>
                  <a:lnTo>
                    <a:pt x="9603689" y="235838"/>
                  </a:lnTo>
                  <a:lnTo>
                    <a:pt x="9602419" y="232029"/>
                  </a:lnTo>
                  <a:lnTo>
                    <a:pt x="9601911" y="230124"/>
                  </a:lnTo>
                  <a:lnTo>
                    <a:pt x="9600895" y="228473"/>
                  </a:lnTo>
                  <a:lnTo>
                    <a:pt x="9594164" y="221742"/>
                  </a:lnTo>
                  <a:lnTo>
                    <a:pt x="9593529" y="220980"/>
                  </a:lnTo>
                  <a:lnTo>
                    <a:pt x="9592767" y="220345"/>
                  </a:lnTo>
                  <a:lnTo>
                    <a:pt x="9592005" y="219837"/>
                  </a:lnTo>
                  <a:lnTo>
                    <a:pt x="9583369" y="214502"/>
                  </a:lnTo>
                  <a:lnTo>
                    <a:pt x="9582861" y="214122"/>
                  </a:lnTo>
                  <a:lnTo>
                    <a:pt x="9582353" y="213868"/>
                  </a:lnTo>
                  <a:lnTo>
                    <a:pt x="9581718" y="213613"/>
                  </a:lnTo>
                  <a:lnTo>
                    <a:pt x="9569780" y="208280"/>
                  </a:lnTo>
                  <a:lnTo>
                    <a:pt x="9512122" y="191643"/>
                  </a:lnTo>
                  <a:lnTo>
                    <a:pt x="9458782" y="180848"/>
                  </a:lnTo>
                  <a:lnTo>
                    <a:pt x="9393758" y="170307"/>
                  </a:lnTo>
                  <a:lnTo>
                    <a:pt x="9274505" y="154812"/>
                  </a:lnTo>
                  <a:lnTo>
                    <a:pt x="9130741" y="139700"/>
                  </a:lnTo>
                  <a:lnTo>
                    <a:pt x="8840419" y="115315"/>
                  </a:lnTo>
                  <a:lnTo>
                    <a:pt x="8338769" y="83820"/>
                  </a:lnTo>
                  <a:lnTo>
                    <a:pt x="7367854" y="42163"/>
                  </a:lnTo>
                  <a:lnTo>
                    <a:pt x="6799750" y="25400"/>
                  </a:lnTo>
                  <a:close/>
                </a:path>
                <a:path w="9604375" h="245110">
                  <a:moveTo>
                    <a:pt x="37978" y="201381"/>
                  </a:moveTo>
                  <a:lnTo>
                    <a:pt x="23380" y="206375"/>
                  </a:lnTo>
                  <a:lnTo>
                    <a:pt x="13258" y="210820"/>
                  </a:lnTo>
                  <a:lnTo>
                    <a:pt x="23571" y="234061"/>
                  </a:lnTo>
                  <a:lnTo>
                    <a:pt x="31762" y="230377"/>
                  </a:lnTo>
                  <a:lnTo>
                    <a:pt x="44101" y="226060"/>
                  </a:lnTo>
                  <a:lnTo>
                    <a:pt x="30581" y="226060"/>
                  </a:lnTo>
                  <a:lnTo>
                    <a:pt x="15595" y="210058"/>
                  </a:lnTo>
                  <a:lnTo>
                    <a:pt x="36824" y="205231"/>
                  </a:lnTo>
                  <a:lnTo>
                    <a:pt x="37978" y="201381"/>
                  </a:lnTo>
                  <a:close/>
                </a:path>
                <a:path w="9604375" h="245110">
                  <a:moveTo>
                    <a:pt x="117411" y="208429"/>
                  </a:moveTo>
                  <a:lnTo>
                    <a:pt x="64312" y="220218"/>
                  </a:lnTo>
                  <a:lnTo>
                    <a:pt x="23571" y="234061"/>
                  </a:lnTo>
                  <a:lnTo>
                    <a:pt x="24578" y="234061"/>
                  </a:lnTo>
                  <a:lnTo>
                    <a:pt x="114096" y="213740"/>
                  </a:lnTo>
                  <a:lnTo>
                    <a:pt x="117411" y="208429"/>
                  </a:lnTo>
                  <a:close/>
                </a:path>
                <a:path w="9604375" h="245110">
                  <a:moveTo>
                    <a:pt x="36824" y="205231"/>
                  </a:moveTo>
                  <a:lnTo>
                    <a:pt x="15595" y="210058"/>
                  </a:lnTo>
                  <a:lnTo>
                    <a:pt x="30581" y="226060"/>
                  </a:lnTo>
                  <a:lnTo>
                    <a:pt x="36824" y="205231"/>
                  </a:lnTo>
                  <a:close/>
                </a:path>
                <a:path w="9604375" h="245110">
                  <a:moveTo>
                    <a:pt x="108458" y="188975"/>
                  </a:moveTo>
                  <a:lnTo>
                    <a:pt x="36824" y="205231"/>
                  </a:lnTo>
                  <a:lnTo>
                    <a:pt x="30581" y="226060"/>
                  </a:lnTo>
                  <a:lnTo>
                    <a:pt x="44101" y="226060"/>
                  </a:lnTo>
                  <a:lnTo>
                    <a:pt x="46278" y="225298"/>
                  </a:lnTo>
                  <a:lnTo>
                    <a:pt x="64312" y="220218"/>
                  </a:lnTo>
                  <a:lnTo>
                    <a:pt x="85636" y="214884"/>
                  </a:lnTo>
                  <a:lnTo>
                    <a:pt x="110109" y="209804"/>
                  </a:lnTo>
                  <a:lnTo>
                    <a:pt x="117411" y="208429"/>
                  </a:lnTo>
                  <a:lnTo>
                    <a:pt x="118376" y="206883"/>
                  </a:lnTo>
                  <a:lnTo>
                    <a:pt x="116814" y="200151"/>
                  </a:lnTo>
                  <a:lnTo>
                    <a:pt x="115265" y="193294"/>
                  </a:lnTo>
                  <a:lnTo>
                    <a:pt x="108458" y="188975"/>
                  </a:lnTo>
                  <a:close/>
                </a:path>
                <a:path w="9604375" h="245110">
                  <a:moveTo>
                    <a:pt x="239710" y="188975"/>
                  </a:moveTo>
                  <a:lnTo>
                    <a:pt x="108458" y="188975"/>
                  </a:lnTo>
                  <a:lnTo>
                    <a:pt x="115265" y="193294"/>
                  </a:lnTo>
                  <a:lnTo>
                    <a:pt x="117099" y="201381"/>
                  </a:lnTo>
                  <a:lnTo>
                    <a:pt x="118376" y="206883"/>
                  </a:lnTo>
                  <a:lnTo>
                    <a:pt x="117411" y="208429"/>
                  </a:lnTo>
                  <a:lnTo>
                    <a:pt x="137769" y="204597"/>
                  </a:lnTo>
                  <a:lnTo>
                    <a:pt x="168452" y="199389"/>
                  </a:lnTo>
                  <a:lnTo>
                    <a:pt x="238721" y="189102"/>
                  </a:lnTo>
                  <a:lnTo>
                    <a:pt x="239710" y="188975"/>
                  </a:lnTo>
                  <a:close/>
                </a:path>
                <a:path w="9604375" h="245110">
                  <a:moveTo>
                    <a:pt x="4796104" y="0"/>
                  </a:moveTo>
                  <a:lnTo>
                    <a:pt x="3681044" y="7874"/>
                  </a:lnTo>
                  <a:lnTo>
                    <a:pt x="2224354" y="41910"/>
                  </a:lnTo>
                  <a:lnTo>
                    <a:pt x="1253312" y="83185"/>
                  </a:lnTo>
                  <a:lnTo>
                    <a:pt x="688924" y="119252"/>
                  </a:lnTo>
                  <a:lnTo>
                    <a:pt x="461467" y="138684"/>
                  </a:lnTo>
                  <a:lnTo>
                    <a:pt x="317817" y="153670"/>
                  </a:lnTo>
                  <a:lnTo>
                    <a:pt x="235521" y="163957"/>
                  </a:lnTo>
                  <a:lnTo>
                    <a:pt x="164630" y="174371"/>
                  </a:lnTo>
                  <a:lnTo>
                    <a:pt x="105422" y="184785"/>
                  </a:lnTo>
                  <a:lnTo>
                    <a:pt x="58254" y="195452"/>
                  </a:lnTo>
                  <a:lnTo>
                    <a:pt x="36824" y="205231"/>
                  </a:lnTo>
                  <a:lnTo>
                    <a:pt x="108458" y="188975"/>
                  </a:lnTo>
                  <a:lnTo>
                    <a:pt x="239710" y="188975"/>
                  </a:lnTo>
                  <a:lnTo>
                    <a:pt x="320636" y="178943"/>
                  </a:lnTo>
                  <a:lnTo>
                    <a:pt x="463880" y="163957"/>
                  </a:lnTo>
                  <a:lnTo>
                    <a:pt x="690829" y="144525"/>
                  </a:lnTo>
                  <a:lnTo>
                    <a:pt x="1254709" y="108585"/>
                  </a:lnTo>
                  <a:lnTo>
                    <a:pt x="2225243" y="67310"/>
                  </a:lnTo>
                  <a:lnTo>
                    <a:pt x="3681298" y="33274"/>
                  </a:lnTo>
                  <a:lnTo>
                    <a:pt x="6799750" y="25400"/>
                  </a:lnTo>
                  <a:lnTo>
                    <a:pt x="5245176" y="1270"/>
                  </a:lnTo>
                  <a:lnTo>
                    <a:pt x="479610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90668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Electronic circuit board">
            <a:extLst>
              <a:ext uri="{FF2B5EF4-FFF2-40B4-BE49-F238E27FC236}">
                <a16:creationId xmlns:a16="http://schemas.microsoft.com/office/drawing/2014/main" id="{8D387A83-F038-115A-4069-9FD2E6CB91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573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878860-BC0A-5579-ABF0-ED55EBB21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Reducing Miss rate, Nah, Miss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62886-ED3A-B029-A74B-CCDA1074C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Hardware Prefetching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ADE9F-98D4-8266-BD87-9FAC440E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2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CA6BD-3D8C-91C3-C5CC-266CEC6B9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12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1934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A8C16-5129-6716-28AE-5311D008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Prefetching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55E0D-FDC8-05D0-431D-D460002D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DAC80-D56E-97C7-5EB5-5A754FA5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13</a:t>
            </a:fld>
            <a:endParaRPr lang="en-IN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E510F880-38B6-2AE6-88D2-5F135AE17BDC}"/>
              </a:ext>
            </a:extLst>
          </p:cNvPr>
          <p:cNvGrpSpPr/>
          <p:nvPr/>
        </p:nvGrpSpPr>
        <p:grpSpPr>
          <a:xfrm>
            <a:off x="222250" y="1453642"/>
            <a:ext cx="10909300" cy="1252855"/>
            <a:chOff x="222250" y="1136650"/>
            <a:chExt cx="10909300" cy="1252855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5C4406EE-37DB-72AE-E99D-CC4F68C633F9}"/>
                </a:ext>
              </a:extLst>
            </p:cNvPr>
            <p:cNvSpPr/>
            <p:nvPr/>
          </p:nvSpPr>
          <p:spPr>
            <a:xfrm>
              <a:off x="228600" y="1143000"/>
              <a:ext cx="10896600" cy="1240155"/>
            </a:xfrm>
            <a:custGeom>
              <a:avLst/>
              <a:gdLst/>
              <a:ahLst/>
              <a:cxnLst/>
              <a:rect l="l" t="t" r="r" b="b"/>
              <a:pathLst>
                <a:path w="10896600" h="1240155">
                  <a:moveTo>
                    <a:pt x="10689971" y="0"/>
                  </a:moveTo>
                  <a:lnTo>
                    <a:pt x="206641" y="0"/>
                  </a:lnTo>
                  <a:lnTo>
                    <a:pt x="159261" y="5454"/>
                  </a:lnTo>
                  <a:lnTo>
                    <a:pt x="115767" y="20992"/>
                  </a:lnTo>
                  <a:lnTo>
                    <a:pt x="77399" y="45376"/>
                  </a:lnTo>
                  <a:lnTo>
                    <a:pt x="45397" y="77370"/>
                  </a:lnTo>
                  <a:lnTo>
                    <a:pt x="21003" y="115734"/>
                  </a:lnTo>
                  <a:lnTo>
                    <a:pt x="5457" y="159233"/>
                  </a:lnTo>
                  <a:lnTo>
                    <a:pt x="0" y="206628"/>
                  </a:lnTo>
                  <a:lnTo>
                    <a:pt x="0" y="1033145"/>
                  </a:lnTo>
                  <a:lnTo>
                    <a:pt x="5457" y="1080547"/>
                  </a:lnTo>
                  <a:lnTo>
                    <a:pt x="21003" y="1124064"/>
                  </a:lnTo>
                  <a:lnTo>
                    <a:pt x="45397" y="1162453"/>
                  </a:lnTo>
                  <a:lnTo>
                    <a:pt x="77399" y="1194474"/>
                  </a:lnTo>
                  <a:lnTo>
                    <a:pt x="115767" y="1218883"/>
                  </a:lnTo>
                  <a:lnTo>
                    <a:pt x="159261" y="1234439"/>
                  </a:lnTo>
                  <a:lnTo>
                    <a:pt x="206641" y="1239901"/>
                  </a:lnTo>
                  <a:lnTo>
                    <a:pt x="10689971" y="1239901"/>
                  </a:lnTo>
                  <a:lnTo>
                    <a:pt x="10737366" y="1234439"/>
                  </a:lnTo>
                  <a:lnTo>
                    <a:pt x="10780865" y="1218883"/>
                  </a:lnTo>
                  <a:lnTo>
                    <a:pt x="10819229" y="1194474"/>
                  </a:lnTo>
                  <a:lnTo>
                    <a:pt x="10851223" y="1162453"/>
                  </a:lnTo>
                  <a:lnTo>
                    <a:pt x="10875607" y="1124064"/>
                  </a:lnTo>
                  <a:lnTo>
                    <a:pt x="10891145" y="1080547"/>
                  </a:lnTo>
                  <a:lnTo>
                    <a:pt x="10896600" y="1033145"/>
                  </a:lnTo>
                  <a:lnTo>
                    <a:pt x="10896600" y="206628"/>
                  </a:lnTo>
                  <a:lnTo>
                    <a:pt x="10891145" y="159233"/>
                  </a:lnTo>
                  <a:lnTo>
                    <a:pt x="10875607" y="115734"/>
                  </a:lnTo>
                  <a:lnTo>
                    <a:pt x="10851223" y="77370"/>
                  </a:lnTo>
                  <a:lnTo>
                    <a:pt x="10819229" y="45376"/>
                  </a:lnTo>
                  <a:lnTo>
                    <a:pt x="10780865" y="20992"/>
                  </a:lnTo>
                  <a:lnTo>
                    <a:pt x="10737366" y="5454"/>
                  </a:lnTo>
                  <a:lnTo>
                    <a:pt x="1068997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B538BFF9-04D6-3265-83E7-E5E4F1C50015}"/>
                </a:ext>
              </a:extLst>
            </p:cNvPr>
            <p:cNvSpPr/>
            <p:nvPr/>
          </p:nvSpPr>
          <p:spPr>
            <a:xfrm>
              <a:off x="228600" y="1143000"/>
              <a:ext cx="10896600" cy="1240155"/>
            </a:xfrm>
            <a:custGeom>
              <a:avLst/>
              <a:gdLst/>
              <a:ahLst/>
              <a:cxnLst/>
              <a:rect l="l" t="t" r="r" b="b"/>
              <a:pathLst>
                <a:path w="10896600" h="1240155">
                  <a:moveTo>
                    <a:pt x="0" y="206628"/>
                  </a:moveTo>
                  <a:lnTo>
                    <a:pt x="5457" y="159233"/>
                  </a:lnTo>
                  <a:lnTo>
                    <a:pt x="21003" y="115734"/>
                  </a:lnTo>
                  <a:lnTo>
                    <a:pt x="45397" y="77370"/>
                  </a:lnTo>
                  <a:lnTo>
                    <a:pt x="77399" y="45376"/>
                  </a:lnTo>
                  <a:lnTo>
                    <a:pt x="115767" y="20992"/>
                  </a:lnTo>
                  <a:lnTo>
                    <a:pt x="159261" y="5454"/>
                  </a:lnTo>
                  <a:lnTo>
                    <a:pt x="206641" y="0"/>
                  </a:lnTo>
                  <a:lnTo>
                    <a:pt x="10689971" y="0"/>
                  </a:lnTo>
                  <a:lnTo>
                    <a:pt x="10737366" y="5454"/>
                  </a:lnTo>
                  <a:lnTo>
                    <a:pt x="10780865" y="20992"/>
                  </a:lnTo>
                  <a:lnTo>
                    <a:pt x="10819229" y="45376"/>
                  </a:lnTo>
                  <a:lnTo>
                    <a:pt x="10851223" y="77370"/>
                  </a:lnTo>
                  <a:lnTo>
                    <a:pt x="10875607" y="115734"/>
                  </a:lnTo>
                  <a:lnTo>
                    <a:pt x="10891145" y="159233"/>
                  </a:lnTo>
                  <a:lnTo>
                    <a:pt x="10896600" y="206628"/>
                  </a:lnTo>
                  <a:lnTo>
                    <a:pt x="10896600" y="1033145"/>
                  </a:lnTo>
                  <a:lnTo>
                    <a:pt x="10891145" y="1080547"/>
                  </a:lnTo>
                  <a:lnTo>
                    <a:pt x="10875607" y="1124064"/>
                  </a:lnTo>
                  <a:lnTo>
                    <a:pt x="10851223" y="1162453"/>
                  </a:lnTo>
                  <a:lnTo>
                    <a:pt x="10819229" y="1194474"/>
                  </a:lnTo>
                  <a:lnTo>
                    <a:pt x="10780865" y="1218883"/>
                  </a:lnTo>
                  <a:lnTo>
                    <a:pt x="10737366" y="1234439"/>
                  </a:lnTo>
                  <a:lnTo>
                    <a:pt x="10689971" y="1239901"/>
                  </a:lnTo>
                  <a:lnTo>
                    <a:pt x="206641" y="1239901"/>
                  </a:lnTo>
                  <a:lnTo>
                    <a:pt x="159261" y="1234439"/>
                  </a:lnTo>
                  <a:lnTo>
                    <a:pt x="115767" y="1218883"/>
                  </a:lnTo>
                  <a:lnTo>
                    <a:pt x="77399" y="1194474"/>
                  </a:lnTo>
                  <a:lnTo>
                    <a:pt x="45397" y="1162453"/>
                  </a:lnTo>
                  <a:lnTo>
                    <a:pt x="21003" y="1124064"/>
                  </a:lnTo>
                  <a:lnTo>
                    <a:pt x="5457" y="1080547"/>
                  </a:lnTo>
                  <a:lnTo>
                    <a:pt x="0" y="1033145"/>
                  </a:lnTo>
                  <a:lnTo>
                    <a:pt x="0" y="20662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6">
            <a:extLst>
              <a:ext uri="{FF2B5EF4-FFF2-40B4-BE49-F238E27FC236}">
                <a16:creationId xmlns:a16="http://schemas.microsoft.com/office/drawing/2014/main" id="{540BB1B7-19C9-E9BE-38C8-C49D50F2BBF5}"/>
              </a:ext>
            </a:extLst>
          </p:cNvPr>
          <p:cNvGrpSpPr/>
          <p:nvPr/>
        </p:nvGrpSpPr>
        <p:grpSpPr>
          <a:xfrm>
            <a:off x="222250" y="2880740"/>
            <a:ext cx="10680700" cy="1252855"/>
            <a:chOff x="222250" y="2563748"/>
            <a:chExt cx="10680700" cy="1252855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3973757-B8FD-320D-B9FE-1D06A2A92D00}"/>
                </a:ext>
              </a:extLst>
            </p:cNvPr>
            <p:cNvSpPr/>
            <p:nvPr/>
          </p:nvSpPr>
          <p:spPr>
            <a:xfrm>
              <a:off x="228600" y="2570098"/>
              <a:ext cx="10668000" cy="1240155"/>
            </a:xfrm>
            <a:custGeom>
              <a:avLst/>
              <a:gdLst/>
              <a:ahLst/>
              <a:cxnLst/>
              <a:rect l="l" t="t" r="r" b="b"/>
              <a:pathLst>
                <a:path w="10668000" h="1240154">
                  <a:moveTo>
                    <a:pt x="10461371" y="0"/>
                  </a:moveTo>
                  <a:lnTo>
                    <a:pt x="206641" y="0"/>
                  </a:lnTo>
                  <a:lnTo>
                    <a:pt x="159261" y="5461"/>
                  </a:lnTo>
                  <a:lnTo>
                    <a:pt x="115767" y="21017"/>
                  </a:lnTo>
                  <a:lnTo>
                    <a:pt x="77399" y="45426"/>
                  </a:lnTo>
                  <a:lnTo>
                    <a:pt x="45397" y="77447"/>
                  </a:lnTo>
                  <a:lnTo>
                    <a:pt x="21003" y="115836"/>
                  </a:lnTo>
                  <a:lnTo>
                    <a:pt x="5457" y="159353"/>
                  </a:lnTo>
                  <a:lnTo>
                    <a:pt x="0" y="206755"/>
                  </a:lnTo>
                  <a:lnTo>
                    <a:pt x="0" y="1033272"/>
                  </a:lnTo>
                  <a:lnTo>
                    <a:pt x="5457" y="1080667"/>
                  </a:lnTo>
                  <a:lnTo>
                    <a:pt x="21003" y="1124166"/>
                  </a:lnTo>
                  <a:lnTo>
                    <a:pt x="45397" y="1162530"/>
                  </a:lnTo>
                  <a:lnTo>
                    <a:pt x="77399" y="1194524"/>
                  </a:lnTo>
                  <a:lnTo>
                    <a:pt x="115767" y="1218908"/>
                  </a:lnTo>
                  <a:lnTo>
                    <a:pt x="159261" y="1234446"/>
                  </a:lnTo>
                  <a:lnTo>
                    <a:pt x="206641" y="1239901"/>
                  </a:lnTo>
                  <a:lnTo>
                    <a:pt x="10461371" y="1239901"/>
                  </a:lnTo>
                  <a:lnTo>
                    <a:pt x="10508766" y="1234446"/>
                  </a:lnTo>
                  <a:lnTo>
                    <a:pt x="10552265" y="1218908"/>
                  </a:lnTo>
                  <a:lnTo>
                    <a:pt x="10590629" y="1194524"/>
                  </a:lnTo>
                  <a:lnTo>
                    <a:pt x="10622623" y="1162530"/>
                  </a:lnTo>
                  <a:lnTo>
                    <a:pt x="10647007" y="1124166"/>
                  </a:lnTo>
                  <a:lnTo>
                    <a:pt x="10662545" y="1080667"/>
                  </a:lnTo>
                  <a:lnTo>
                    <a:pt x="10668000" y="1033272"/>
                  </a:lnTo>
                  <a:lnTo>
                    <a:pt x="10668000" y="206755"/>
                  </a:lnTo>
                  <a:lnTo>
                    <a:pt x="10662545" y="159353"/>
                  </a:lnTo>
                  <a:lnTo>
                    <a:pt x="10647007" y="115836"/>
                  </a:lnTo>
                  <a:lnTo>
                    <a:pt x="10622623" y="77447"/>
                  </a:lnTo>
                  <a:lnTo>
                    <a:pt x="10590629" y="45426"/>
                  </a:lnTo>
                  <a:lnTo>
                    <a:pt x="10552265" y="21017"/>
                  </a:lnTo>
                  <a:lnTo>
                    <a:pt x="10508766" y="5461"/>
                  </a:lnTo>
                  <a:lnTo>
                    <a:pt x="1046137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DD8CB618-1819-EE4D-A92F-8D3DFDC2C5F1}"/>
                </a:ext>
              </a:extLst>
            </p:cNvPr>
            <p:cNvSpPr/>
            <p:nvPr/>
          </p:nvSpPr>
          <p:spPr>
            <a:xfrm>
              <a:off x="228600" y="2570098"/>
              <a:ext cx="10668000" cy="1240155"/>
            </a:xfrm>
            <a:custGeom>
              <a:avLst/>
              <a:gdLst/>
              <a:ahLst/>
              <a:cxnLst/>
              <a:rect l="l" t="t" r="r" b="b"/>
              <a:pathLst>
                <a:path w="10668000" h="1240154">
                  <a:moveTo>
                    <a:pt x="0" y="206755"/>
                  </a:moveTo>
                  <a:lnTo>
                    <a:pt x="5457" y="159353"/>
                  </a:lnTo>
                  <a:lnTo>
                    <a:pt x="21003" y="115836"/>
                  </a:lnTo>
                  <a:lnTo>
                    <a:pt x="45397" y="77447"/>
                  </a:lnTo>
                  <a:lnTo>
                    <a:pt x="77399" y="45426"/>
                  </a:lnTo>
                  <a:lnTo>
                    <a:pt x="115767" y="21017"/>
                  </a:lnTo>
                  <a:lnTo>
                    <a:pt x="159261" y="5461"/>
                  </a:lnTo>
                  <a:lnTo>
                    <a:pt x="206641" y="0"/>
                  </a:lnTo>
                  <a:lnTo>
                    <a:pt x="10461371" y="0"/>
                  </a:lnTo>
                  <a:lnTo>
                    <a:pt x="10508766" y="5461"/>
                  </a:lnTo>
                  <a:lnTo>
                    <a:pt x="10552265" y="21017"/>
                  </a:lnTo>
                  <a:lnTo>
                    <a:pt x="10590629" y="45426"/>
                  </a:lnTo>
                  <a:lnTo>
                    <a:pt x="10622623" y="77447"/>
                  </a:lnTo>
                  <a:lnTo>
                    <a:pt x="10647007" y="115836"/>
                  </a:lnTo>
                  <a:lnTo>
                    <a:pt x="10662545" y="159353"/>
                  </a:lnTo>
                  <a:lnTo>
                    <a:pt x="10668000" y="206755"/>
                  </a:lnTo>
                  <a:lnTo>
                    <a:pt x="10668000" y="1033272"/>
                  </a:lnTo>
                  <a:lnTo>
                    <a:pt x="10662545" y="1080667"/>
                  </a:lnTo>
                  <a:lnTo>
                    <a:pt x="10647007" y="1124166"/>
                  </a:lnTo>
                  <a:lnTo>
                    <a:pt x="10622623" y="1162530"/>
                  </a:lnTo>
                  <a:lnTo>
                    <a:pt x="10590629" y="1194524"/>
                  </a:lnTo>
                  <a:lnTo>
                    <a:pt x="10552265" y="1218908"/>
                  </a:lnTo>
                  <a:lnTo>
                    <a:pt x="10508766" y="1234446"/>
                  </a:lnTo>
                  <a:lnTo>
                    <a:pt x="10461371" y="1239901"/>
                  </a:lnTo>
                  <a:lnTo>
                    <a:pt x="206641" y="1239901"/>
                  </a:lnTo>
                  <a:lnTo>
                    <a:pt x="159261" y="1234446"/>
                  </a:lnTo>
                  <a:lnTo>
                    <a:pt x="115767" y="1218908"/>
                  </a:lnTo>
                  <a:lnTo>
                    <a:pt x="77399" y="1194524"/>
                  </a:lnTo>
                  <a:lnTo>
                    <a:pt x="45397" y="1162530"/>
                  </a:lnTo>
                  <a:lnTo>
                    <a:pt x="21003" y="1124166"/>
                  </a:lnTo>
                  <a:lnTo>
                    <a:pt x="5457" y="1080667"/>
                  </a:lnTo>
                  <a:lnTo>
                    <a:pt x="0" y="1033272"/>
                  </a:lnTo>
                  <a:lnTo>
                    <a:pt x="0" y="20675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9">
            <a:extLst>
              <a:ext uri="{FF2B5EF4-FFF2-40B4-BE49-F238E27FC236}">
                <a16:creationId xmlns:a16="http://schemas.microsoft.com/office/drawing/2014/main" id="{E52F6B1B-1EA4-80C9-D4BB-BABA696A2BA2}"/>
              </a:ext>
            </a:extLst>
          </p:cNvPr>
          <p:cNvGrpSpPr/>
          <p:nvPr/>
        </p:nvGrpSpPr>
        <p:grpSpPr>
          <a:xfrm>
            <a:off x="222250" y="4785740"/>
            <a:ext cx="11671300" cy="1252855"/>
            <a:chOff x="222250" y="4468748"/>
            <a:chExt cx="11671300" cy="1252855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9FE4E965-04D9-FC23-7C33-02070EB2F9D6}"/>
                </a:ext>
              </a:extLst>
            </p:cNvPr>
            <p:cNvSpPr/>
            <p:nvPr/>
          </p:nvSpPr>
          <p:spPr>
            <a:xfrm>
              <a:off x="228600" y="4475098"/>
              <a:ext cx="11658600" cy="1240155"/>
            </a:xfrm>
            <a:custGeom>
              <a:avLst/>
              <a:gdLst/>
              <a:ahLst/>
              <a:cxnLst/>
              <a:rect l="l" t="t" r="r" b="b"/>
              <a:pathLst>
                <a:path w="11658600" h="1240154">
                  <a:moveTo>
                    <a:pt x="11451971" y="0"/>
                  </a:moveTo>
                  <a:lnTo>
                    <a:pt x="206641" y="0"/>
                  </a:lnTo>
                  <a:lnTo>
                    <a:pt x="159261" y="5461"/>
                  </a:lnTo>
                  <a:lnTo>
                    <a:pt x="115767" y="21017"/>
                  </a:lnTo>
                  <a:lnTo>
                    <a:pt x="77399" y="45426"/>
                  </a:lnTo>
                  <a:lnTo>
                    <a:pt x="45397" y="77447"/>
                  </a:lnTo>
                  <a:lnTo>
                    <a:pt x="21003" y="115836"/>
                  </a:lnTo>
                  <a:lnTo>
                    <a:pt x="5457" y="159353"/>
                  </a:lnTo>
                  <a:lnTo>
                    <a:pt x="0" y="206756"/>
                  </a:lnTo>
                  <a:lnTo>
                    <a:pt x="0" y="1033272"/>
                  </a:lnTo>
                  <a:lnTo>
                    <a:pt x="5457" y="1080647"/>
                  </a:lnTo>
                  <a:lnTo>
                    <a:pt x="21003" y="1124138"/>
                  </a:lnTo>
                  <a:lnTo>
                    <a:pt x="45397" y="1162504"/>
                  </a:lnTo>
                  <a:lnTo>
                    <a:pt x="77399" y="1194504"/>
                  </a:lnTo>
                  <a:lnTo>
                    <a:pt x="115767" y="1218897"/>
                  </a:lnTo>
                  <a:lnTo>
                    <a:pt x="159261" y="1234443"/>
                  </a:lnTo>
                  <a:lnTo>
                    <a:pt x="206641" y="1239901"/>
                  </a:lnTo>
                  <a:lnTo>
                    <a:pt x="11451971" y="1239901"/>
                  </a:lnTo>
                  <a:lnTo>
                    <a:pt x="11499366" y="1234443"/>
                  </a:lnTo>
                  <a:lnTo>
                    <a:pt x="11542865" y="1218897"/>
                  </a:lnTo>
                  <a:lnTo>
                    <a:pt x="11581229" y="1194504"/>
                  </a:lnTo>
                  <a:lnTo>
                    <a:pt x="11613223" y="1162504"/>
                  </a:lnTo>
                  <a:lnTo>
                    <a:pt x="11637607" y="1124138"/>
                  </a:lnTo>
                  <a:lnTo>
                    <a:pt x="11653145" y="1080647"/>
                  </a:lnTo>
                  <a:lnTo>
                    <a:pt x="11658600" y="1033272"/>
                  </a:lnTo>
                  <a:lnTo>
                    <a:pt x="11658600" y="206756"/>
                  </a:lnTo>
                  <a:lnTo>
                    <a:pt x="11653145" y="159353"/>
                  </a:lnTo>
                  <a:lnTo>
                    <a:pt x="11637607" y="115836"/>
                  </a:lnTo>
                  <a:lnTo>
                    <a:pt x="11613223" y="77447"/>
                  </a:lnTo>
                  <a:lnTo>
                    <a:pt x="11581229" y="45426"/>
                  </a:lnTo>
                  <a:lnTo>
                    <a:pt x="11542865" y="21017"/>
                  </a:lnTo>
                  <a:lnTo>
                    <a:pt x="11499366" y="5461"/>
                  </a:lnTo>
                  <a:lnTo>
                    <a:pt x="1145197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7B5F93DB-2DA5-4A0B-A4EB-F1C2CF382109}"/>
                </a:ext>
              </a:extLst>
            </p:cNvPr>
            <p:cNvSpPr/>
            <p:nvPr/>
          </p:nvSpPr>
          <p:spPr>
            <a:xfrm>
              <a:off x="228600" y="4475098"/>
              <a:ext cx="11658600" cy="1240155"/>
            </a:xfrm>
            <a:custGeom>
              <a:avLst/>
              <a:gdLst/>
              <a:ahLst/>
              <a:cxnLst/>
              <a:rect l="l" t="t" r="r" b="b"/>
              <a:pathLst>
                <a:path w="11658600" h="1240154">
                  <a:moveTo>
                    <a:pt x="0" y="206756"/>
                  </a:moveTo>
                  <a:lnTo>
                    <a:pt x="5457" y="159353"/>
                  </a:lnTo>
                  <a:lnTo>
                    <a:pt x="21003" y="115836"/>
                  </a:lnTo>
                  <a:lnTo>
                    <a:pt x="45397" y="77447"/>
                  </a:lnTo>
                  <a:lnTo>
                    <a:pt x="77399" y="45426"/>
                  </a:lnTo>
                  <a:lnTo>
                    <a:pt x="115767" y="21017"/>
                  </a:lnTo>
                  <a:lnTo>
                    <a:pt x="159261" y="5461"/>
                  </a:lnTo>
                  <a:lnTo>
                    <a:pt x="206641" y="0"/>
                  </a:lnTo>
                  <a:lnTo>
                    <a:pt x="11451971" y="0"/>
                  </a:lnTo>
                  <a:lnTo>
                    <a:pt x="11499366" y="5461"/>
                  </a:lnTo>
                  <a:lnTo>
                    <a:pt x="11542865" y="21017"/>
                  </a:lnTo>
                  <a:lnTo>
                    <a:pt x="11581229" y="45426"/>
                  </a:lnTo>
                  <a:lnTo>
                    <a:pt x="11613223" y="77447"/>
                  </a:lnTo>
                  <a:lnTo>
                    <a:pt x="11637607" y="115836"/>
                  </a:lnTo>
                  <a:lnTo>
                    <a:pt x="11653145" y="159353"/>
                  </a:lnTo>
                  <a:lnTo>
                    <a:pt x="11658600" y="206756"/>
                  </a:lnTo>
                  <a:lnTo>
                    <a:pt x="11658600" y="1033272"/>
                  </a:lnTo>
                  <a:lnTo>
                    <a:pt x="11653145" y="1080647"/>
                  </a:lnTo>
                  <a:lnTo>
                    <a:pt x="11637607" y="1124138"/>
                  </a:lnTo>
                  <a:lnTo>
                    <a:pt x="11613223" y="1162504"/>
                  </a:lnTo>
                  <a:lnTo>
                    <a:pt x="11581229" y="1194504"/>
                  </a:lnTo>
                  <a:lnTo>
                    <a:pt x="11542865" y="1218897"/>
                  </a:lnTo>
                  <a:lnTo>
                    <a:pt x="11499366" y="1234443"/>
                  </a:lnTo>
                  <a:lnTo>
                    <a:pt x="11451971" y="1239901"/>
                  </a:lnTo>
                  <a:lnTo>
                    <a:pt x="206641" y="1239901"/>
                  </a:lnTo>
                  <a:lnTo>
                    <a:pt x="159261" y="1234443"/>
                  </a:lnTo>
                  <a:lnTo>
                    <a:pt x="115767" y="1218897"/>
                  </a:lnTo>
                  <a:lnTo>
                    <a:pt x="77399" y="1194504"/>
                  </a:lnTo>
                  <a:lnTo>
                    <a:pt x="45397" y="1162504"/>
                  </a:lnTo>
                  <a:lnTo>
                    <a:pt x="21003" y="1124138"/>
                  </a:lnTo>
                  <a:lnTo>
                    <a:pt x="5457" y="1080647"/>
                  </a:lnTo>
                  <a:lnTo>
                    <a:pt x="0" y="1033272"/>
                  </a:lnTo>
                  <a:lnTo>
                    <a:pt x="0" y="20675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2">
            <a:extLst>
              <a:ext uri="{FF2B5EF4-FFF2-40B4-BE49-F238E27FC236}">
                <a16:creationId xmlns:a16="http://schemas.microsoft.com/office/drawing/2014/main" id="{5FE11AB9-0FC4-0D9E-CC54-B63FC057AB70}"/>
              </a:ext>
            </a:extLst>
          </p:cNvPr>
          <p:cNvSpPr txBox="1"/>
          <p:nvPr/>
        </p:nvSpPr>
        <p:spPr>
          <a:xfrm>
            <a:off x="535635" y="1631696"/>
            <a:ext cx="10521950" cy="4211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C00000"/>
                </a:solidFill>
                <a:latin typeface="Cambria"/>
                <a:cs typeface="Cambria"/>
              </a:rPr>
              <a:t>What?</a:t>
            </a:r>
            <a:endParaRPr sz="2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C00000"/>
                </a:solidFill>
                <a:latin typeface="Cambria"/>
                <a:cs typeface="Cambria"/>
              </a:rPr>
              <a:t>Latency-hiding technique </a:t>
            </a:r>
            <a:r>
              <a:rPr sz="2800" i="1" spc="-5" dirty="0">
                <a:latin typeface="Cambria"/>
                <a:cs typeface="Cambria"/>
              </a:rPr>
              <a:t>-</a:t>
            </a:r>
            <a:r>
              <a:rPr sz="2800" i="1" spc="-1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Fetches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data</a:t>
            </a:r>
            <a:r>
              <a:rPr sz="2800" spc="-15" dirty="0">
                <a:latin typeface="Cambria"/>
                <a:cs typeface="Cambria"/>
              </a:rPr>
              <a:t> before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 </a:t>
            </a:r>
            <a:r>
              <a:rPr sz="2800" spc="-15" dirty="0">
                <a:latin typeface="Cambria"/>
                <a:cs typeface="Cambria"/>
              </a:rPr>
              <a:t>core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demands.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8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i="1" spc="-15" dirty="0">
                <a:solidFill>
                  <a:srgbClr val="C00000"/>
                </a:solidFill>
                <a:latin typeface="Cambria"/>
                <a:cs typeface="Cambria"/>
              </a:rPr>
              <a:t>Why?</a:t>
            </a:r>
            <a:endParaRPr sz="2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Cambria"/>
                <a:cs typeface="Cambria"/>
              </a:rPr>
              <a:t>Off-chip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DRAM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latency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has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grown</a:t>
            </a:r>
            <a:r>
              <a:rPr sz="2800" spc="-5" dirty="0">
                <a:latin typeface="Cambria"/>
                <a:cs typeface="Cambria"/>
              </a:rPr>
              <a:t> up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to</a:t>
            </a:r>
            <a:r>
              <a:rPr sz="2800" spc="-5" dirty="0">
                <a:latin typeface="Cambria"/>
                <a:cs typeface="Cambria"/>
              </a:rPr>
              <a:t> 400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to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800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cycles.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3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7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i="1" spc="-10" dirty="0">
                <a:solidFill>
                  <a:srgbClr val="C00000"/>
                </a:solidFill>
                <a:latin typeface="Cambria"/>
                <a:cs typeface="Cambria"/>
              </a:rPr>
              <a:t>How?</a:t>
            </a:r>
            <a:endParaRPr sz="2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spc="-20" dirty="0">
                <a:latin typeface="Cambria"/>
                <a:cs typeface="Cambria"/>
              </a:rPr>
              <a:t>By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observing/predicting</a:t>
            </a:r>
            <a:r>
              <a:rPr sz="2800" spc="4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demand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access </a:t>
            </a:r>
            <a:r>
              <a:rPr sz="2800" spc="-25" dirty="0">
                <a:latin typeface="Cambria"/>
                <a:cs typeface="Cambria"/>
              </a:rPr>
              <a:t>(LOAD/STORE)</a:t>
            </a:r>
            <a:r>
              <a:rPr sz="2800" spc="4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patterns.</a:t>
            </a:r>
            <a:endParaRPr sz="28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270893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235E2-80E3-2EA3-3D06-9DE904F5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42F8F-A24B-0605-2F0B-C31D1948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CAB1D-62E2-8099-4876-934CE17D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14</a:t>
            </a:fld>
            <a:endParaRPr lang="en-IN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5EDAE925-61CF-199E-A500-E01A6F679DFA}"/>
              </a:ext>
            </a:extLst>
          </p:cNvPr>
          <p:cNvGrpSpPr/>
          <p:nvPr/>
        </p:nvGrpSpPr>
        <p:grpSpPr>
          <a:xfrm>
            <a:off x="5754624" y="1416494"/>
            <a:ext cx="4584065" cy="2714625"/>
            <a:chOff x="5791200" y="1277238"/>
            <a:chExt cx="4584065" cy="2714625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D5AAB816-C2BA-BA3A-4815-B0D17FEB95A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1141" y="1277238"/>
              <a:ext cx="1033705" cy="2714585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98F516BF-4F47-D7F1-6E34-49E940CA925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7282" y="1732787"/>
              <a:ext cx="986055" cy="1609343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487E7896-9A07-63C5-6CB6-0C113394C37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91200" y="1670304"/>
              <a:ext cx="1152144" cy="1508760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52A7E920-4F77-6DD6-0A78-7B7E82458B7F}"/>
                </a:ext>
              </a:extLst>
            </p:cNvPr>
            <p:cNvSpPr/>
            <p:nvPr/>
          </p:nvSpPr>
          <p:spPr>
            <a:xfrm>
              <a:off x="5840857" y="1752600"/>
              <a:ext cx="899160" cy="1524000"/>
            </a:xfrm>
            <a:custGeom>
              <a:avLst/>
              <a:gdLst/>
              <a:ahLst/>
              <a:cxnLst/>
              <a:rect l="l" t="t" r="r" b="b"/>
              <a:pathLst>
                <a:path w="899159" h="1524000">
                  <a:moveTo>
                    <a:pt x="749299" y="0"/>
                  </a:moveTo>
                  <a:lnTo>
                    <a:pt x="149859" y="0"/>
                  </a:lnTo>
                  <a:lnTo>
                    <a:pt x="102526" y="7636"/>
                  </a:lnTo>
                  <a:lnTo>
                    <a:pt x="61392" y="28903"/>
                  </a:lnTo>
                  <a:lnTo>
                    <a:pt x="28939" y="61337"/>
                  </a:lnTo>
                  <a:lnTo>
                    <a:pt x="7648" y="102477"/>
                  </a:lnTo>
                  <a:lnTo>
                    <a:pt x="0" y="149860"/>
                  </a:lnTo>
                  <a:lnTo>
                    <a:pt x="0" y="1374139"/>
                  </a:lnTo>
                  <a:lnTo>
                    <a:pt x="7648" y="1421522"/>
                  </a:lnTo>
                  <a:lnTo>
                    <a:pt x="28939" y="1462662"/>
                  </a:lnTo>
                  <a:lnTo>
                    <a:pt x="61392" y="1495096"/>
                  </a:lnTo>
                  <a:lnTo>
                    <a:pt x="102526" y="1516363"/>
                  </a:lnTo>
                  <a:lnTo>
                    <a:pt x="149859" y="1524000"/>
                  </a:lnTo>
                  <a:lnTo>
                    <a:pt x="749299" y="1524000"/>
                  </a:lnTo>
                  <a:lnTo>
                    <a:pt x="796682" y="1516363"/>
                  </a:lnTo>
                  <a:lnTo>
                    <a:pt x="837822" y="1495096"/>
                  </a:lnTo>
                  <a:lnTo>
                    <a:pt x="870256" y="1462662"/>
                  </a:lnTo>
                  <a:lnTo>
                    <a:pt x="891523" y="1421522"/>
                  </a:lnTo>
                  <a:lnTo>
                    <a:pt x="899160" y="1374139"/>
                  </a:lnTo>
                  <a:lnTo>
                    <a:pt x="899160" y="149860"/>
                  </a:lnTo>
                  <a:lnTo>
                    <a:pt x="891523" y="102477"/>
                  </a:lnTo>
                  <a:lnTo>
                    <a:pt x="870256" y="61337"/>
                  </a:lnTo>
                  <a:lnTo>
                    <a:pt x="837822" y="28903"/>
                  </a:lnTo>
                  <a:lnTo>
                    <a:pt x="796682" y="7636"/>
                  </a:lnTo>
                  <a:lnTo>
                    <a:pt x="749299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6E4780D9-1DDE-B03D-32B4-4428BF225F46}"/>
                </a:ext>
              </a:extLst>
            </p:cNvPr>
            <p:cNvSpPr/>
            <p:nvPr/>
          </p:nvSpPr>
          <p:spPr>
            <a:xfrm>
              <a:off x="5840857" y="1752600"/>
              <a:ext cx="899160" cy="1524000"/>
            </a:xfrm>
            <a:custGeom>
              <a:avLst/>
              <a:gdLst/>
              <a:ahLst/>
              <a:cxnLst/>
              <a:rect l="l" t="t" r="r" b="b"/>
              <a:pathLst>
                <a:path w="899159" h="1524000">
                  <a:moveTo>
                    <a:pt x="149859" y="1524000"/>
                  </a:moveTo>
                  <a:lnTo>
                    <a:pt x="102526" y="1516363"/>
                  </a:lnTo>
                  <a:lnTo>
                    <a:pt x="61392" y="1495096"/>
                  </a:lnTo>
                  <a:lnTo>
                    <a:pt x="28939" y="1462662"/>
                  </a:lnTo>
                  <a:lnTo>
                    <a:pt x="7648" y="1421522"/>
                  </a:lnTo>
                  <a:lnTo>
                    <a:pt x="0" y="1374139"/>
                  </a:lnTo>
                  <a:lnTo>
                    <a:pt x="0" y="149860"/>
                  </a:lnTo>
                  <a:lnTo>
                    <a:pt x="7648" y="102477"/>
                  </a:lnTo>
                  <a:lnTo>
                    <a:pt x="28939" y="61337"/>
                  </a:lnTo>
                  <a:lnTo>
                    <a:pt x="61392" y="28903"/>
                  </a:lnTo>
                  <a:lnTo>
                    <a:pt x="102526" y="7636"/>
                  </a:lnTo>
                  <a:lnTo>
                    <a:pt x="149859" y="0"/>
                  </a:lnTo>
                  <a:lnTo>
                    <a:pt x="749299" y="0"/>
                  </a:lnTo>
                  <a:lnTo>
                    <a:pt x="796682" y="7636"/>
                  </a:lnTo>
                  <a:lnTo>
                    <a:pt x="837822" y="28903"/>
                  </a:lnTo>
                  <a:lnTo>
                    <a:pt x="870256" y="61337"/>
                  </a:lnTo>
                  <a:lnTo>
                    <a:pt x="891523" y="102477"/>
                  </a:lnTo>
                  <a:lnTo>
                    <a:pt x="899160" y="149860"/>
                  </a:lnTo>
                  <a:lnTo>
                    <a:pt x="899160" y="1374139"/>
                  </a:lnTo>
                  <a:lnTo>
                    <a:pt x="891523" y="1421522"/>
                  </a:lnTo>
                  <a:lnTo>
                    <a:pt x="870256" y="1462662"/>
                  </a:lnTo>
                  <a:lnTo>
                    <a:pt x="837822" y="1495096"/>
                  </a:lnTo>
                  <a:lnTo>
                    <a:pt x="796682" y="1516363"/>
                  </a:lnTo>
                  <a:lnTo>
                    <a:pt x="749299" y="1524000"/>
                  </a:lnTo>
                  <a:lnTo>
                    <a:pt x="149859" y="1524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E70E73EA-A714-7A0F-793E-CD9DC7A77303}"/>
              </a:ext>
            </a:extLst>
          </p:cNvPr>
          <p:cNvSpPr txBox="1"/>
          <p:nvPr/>
        </p:nvSpPr>
        <p:spPr>
          <a:xfrm>
            <a:off x="6031890" y="2349229"/>
            <a:ext cx="533400" cy="4978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900"/>
              </a:lnSpc>
            </a:pPr>
            <a:r>
              <a:rPr sz="4000" b="1" dirty="0">
                <a:solidFill>
                  <a:srgbClr val="FFFFFF"/>
                </a:solidFill>
                <a:latin typeface="Calibri"/>
                <a:cs typeface="Calibri"/>
              </a:rPr>
              <a:t>L2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3" name="object 10">
            <a:extLst>
              <a:ext uri="{FF2B5EF4-FFF2-40B4-BE49-F238E27FC236}">
                <a16:creationId xmlns:a16="http://schemas.microsoft.com/office/drawing/2014/main" id="{AD5054DA-62D8-B5B6-EE8A-431736FB60D1}"/>
              </a:ext>
            </a:extLst>
          </p:cNvPr>
          <p:cNvGrpSpPr/>
          <p:nvPr/>
        </p:nvGrpSpPr>
        <p:grpSpPr>
          <a:xfrm>
            <a:off x="3069335" y="2481644"/>
            <a:ext cx="6472555" cy="3743325"/>
            <a:chOff x="3105911" y="2342388"/>
            <a:chExt cx="6472555" cy="3743325"/>
          </a:xfrm>
        </p:grpSpPr>
        <p:pic>
          <p:nvPicPr>
            <p:cNvPr id="14" name="object 11">
              <a:extLst>
                <a:ext uri="{FF2B5EF4-FFF2-40B4-BE49-F238E27FC236}">
                  <a16:creationId xmlns:a16="http://schemas.microsoft.com/office/drawing/2014/main" id="{5EE56617-0107-713F-1BBA-44C342B2023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05911" y="2342388"/>
              <a:ext cx="3032760" cy="594360"/>
            </a:xfrm>
            <a:prstGeom prst="rect">
              <a:avLst/>
            </a:prstGeom>
          </p:spPr>
        </p:pic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F1B54A47-050D-BC30-2868-A555C6498E8F}"/>
                </a:ext>
              </a:extLst>
            </p:cNvPr>
            <p:cNvSpPr/>
            <p:nvPr/>
          </p:nvSpPr>
          <p:spPr>
            <a:xfrm>
              <a:off x="3402329" y="2491599"/>
              <a:ext cx="2439035" cy="257175"/>
            </a:xfrm>
            <a:custGeom>
              <a:avLst/>
              <a:gdLst/>
              <a:ahLst/>
              <a:cxnLst/>
              <a:rect l="l" t="t" r="r" b="b"/>
              <a:pathLst>
                <a:path w="2439035" h="257175">
                  <a:moveTo>
                    <a:pt x="224532" y="0"/>
                  </a:moveTo>
                  <a:lnTo>
                    <a:pt x="213741" y="3696"/>
                  </a:lnTo>
                  <a:lnTo>
                    <a:pt x="0" y="128410"/>
                  </a:lnTo>
                  <a:lnTo>
                    <a:pt x="213741" y="252997"/>
                  </a:lnTo>
                  <a:lnTo>
                    <a:pt x="224532" y="256694"/>
                  </a:lnTo>
                  <a:lnTo>
                    <a:pt x="235489" y="255998"/>
                  </a:lnTo>
                  <a:lnTo>
                    <a:pt x="245352" y="251229"/>
                  </a:lnTo>
                  <a:lnTo>
                    <a:pt x="252857" y="242710"/>
                  </a:lnTo>
                  <a:lnTo>
                    <a:pt x="256553" y="231993"/>
                  </a:lnTo>
                  <a:lnTo>
                    <a:pt x="255857" y="221073"/>
                  </a:lnTo>
                  <a:lnTo>
                    <a:pt x="251088" y="211224"/>
                  </a:lnTo>
                  <a:lnTo>
                    <a:pt x="242570" y="203721"/>
                  </a:lnTo>
                  <a:lnTo>
                    <a:pt x="162501" y="156985"/>
                  </a:lnTo>
                  <a:lnTo>
                    <a:pt x="56769" y="156985"/>
                  </a:lnTo>
                  <a:lnTo>
                    <a:pt x="56769" y="99835"/>
                  </a:lnTo>
                  <a:lnTo>
                    <a:pt x="162284" y="99835"/>
                  </a:lnTo>
                  <a:lnTo>
                    <a:pt x="242570" y="52972"/>
                  </a:lnTo>
                  <a:lnTo>
                    <a:pt x="251088" y="45469"/>
                  </a:lnTo>
                  <a:lnTo>
                    <a:pt x="255857" y="35621"/>
                  </a:lnTo>
                  <a:lnTo>
                    <a:pt x="256553" y="24701"/>
                  </a:lnTo>
                  <a:lnTo>
                    <a:pt x="252857" y="13983"/>
                  </a:lnTo>
                  <a:lnTo>
                    <a:pt x="245352" y="5464"/>
                  </a:lnTo>
                  <a:lnTo>
                    <a:pt x="235489" y="696"/>
                  </a:lnTo>
                  <a:lnTo>
                    <a:pt x="224532" y="0"/>
                  </a:lnTo>
                  <a:close/>
                </a:path>
                <a:path w="2439035" h="257175">
                  <a:moveTo>
                    <a:pt x="2325215" y="128347"/>
                  </a:moveTo>
                  <a:lnTo>
                    <a:pt x="2196084" y="203721"/>
                  </a:lnTo>
                  <a:lnTo>
                    <a:pt x="2187638" y="211224"/>
                  </a:lnTo>
                  <a:lnTo>
                    <a:pt x="2182907" y="221073"/>
                  </a:lnTo>
                  <a:lnTo>
                    <a:pt x="2182225" y="231993"/>
                  </a:lnTo>
                  <a:lnTo>
                    <a:pt x="2185924" y="242710"/>
                  </a:lnTo>
                  <a:lnTo>
                    <a:pt x="2193426" y="251229"/>
                  </a:lnTo>
                  <a:lnTo>
                    <a:pt x="2203275" y="255998"/>
                  </a:lnTo>
                  <a:lnTo>
                    <a:pt x="2214195" y="256694"/>
                  </a:lnTo>
                  <a:lnTo>
                    <a:pt x="2224913" y="252997"/>
                  </a:lnTo>
                  <a:lnTo>
                    <a:pt x="2389630" y="156985"/>
                  </a:lnTo>
                  <a:lnTo>
                    <a:pt x="2382012" y="156985"/>
                  </a:lnTo>
                  <a:lnTo>
                    <a:pt x="2382012" y="153048"/>
                  </a:lnTo>
                  <a:lnTo>
                    <a:pt x="2367534" y="153048"/>
                  </a:lnTo>
                  <a:lnTo>
                    <a:pt x="2325215" y="128347"/>
                  </a:lnTo>
                  <a:close/>
                </a:path>
                <a:path w="2439035" h="257175">
                  <a:moveTo>
                    <a:pt x="162284" y="99835"/>
                  </a:moveTo>
                  <a:lnTo>
                    <a:pt x="56769" y="99835"/>
                  </a:lnTo>
                  <a:lnTo>
                    <a:pt x="56769" y="156985"/>
                  </a:lnTo>
                  <a:lnTo>
                    <a:pt x="162501" y="156985"/>
                  </a:lnTo>
                  <a:lnTo>
                    <a:pt x="155757" y="153048"/>
                  </a:lnTo>
                  <a:lnTo>
                    <a:pt x="71120" y="153048"/>
                  </a:lnTo>
                  <a:lnTo>
                    <a:pt x="71120" y="103645"/>
                  </a:lnTo>
                  <a:lnTo>
                    <a:pt x="155757" y="103645"/>
                  </a:lnTo>
                  <a:lnTo>
                    <a:pt x="162284" y="99835"/>
                  </a:lnTo>
                  <a:close/>
                </a:path>
                <a:path w="2439035" h="257175">
                  <a:moveTo>
                    <a:pt x="2276369" y="99835"/>
                  </a:moveTo>
                  <a:lnTo>
                    <a:pt x="162284" y="99835"/>
                  </a:lnTo>
                  <a:lnTo>
                    <a:pt x="113438" y="128347"/>
                  </a:lnTo>
                  <a:lnTo>
                    <a:pt x="162501" y="156985"/>
                  </a:lnTo>
                  <a:lnTo>
                    <a:pt x="2276152" y="156985"/>
                  </a:lnTo>
                  <a:lnTo>
                    <a:pt x="2325215" y="128347"/>
                  </a:lnTo>
                  <a:lnTo>
                    <a:pt x="2276369" y="99835"/>
                  </a:lnTo>
                  <a:close/>
                </a:path>
                <a:path w="2439035" h="257175">
                  <a:moveTo>
                    <a:pt x="2389680" y="99835"/>
                  </a:moveTo>
                  <a:lnTo>
                    <a:pt x="2382012" y="99835"/>
                  </a:lnTo>
                  <a:lnTo>
                    <a:pt x="2382012" y="156985"/>
                  </a:lnTo>
                  <a:lnTo>
                    <a:pt x="2389630" y="156985"/>
                  </a:lnTo>
                  <a:lnTo>
                    <a:pt x="2438654" y="128410"/>
                  </a:lnTo>
                  <a:lnTo>
                    <a:pt x="2389680" y="99835"/>
                  </a:lnTo>
                  <a:close/>
                </a:path>
                <a:path w="2439035" h="257175">
                  <a:moveTo>
                    <a:pt x="71120" y="103645"/>
                  </a:moveTo>
                  <a:lnTo>
                    <a:pt x="71120" y="153048"/>
                  </a:lnTo>
                  <a:lnTo>
                    <a:pt x="113438" y="128347"/>
                  </a:lnTo>
                  <a:lnTo>
                    <a:pt x="71120" y="103645"/>
                  </a:lnTo>
                  <a:close/>
                </a:path>
                <a:path w="2439035" h="257175">
                  <a:moveTo>
                    <a:pt x="113438" y="128347"/>
                  </a:moveTo>
                  <a:lnTo>
                    <a:pt x="71120" y="153048"/>
                  </a:lnTo>
                  <a:lnTo>
                    <a:pt x="155757" y="153048"/>
                  </a:lnTo>
                  <a:lnTo>
                    <a:pt x="113438" y="128347"/>
                  </a:lnTo>
                  <a:close/>
                </a:path>
                <a:path w="2439035" h="257175">
                  <a:moveTo>
                    <a:pt x="2367534" y="103645"/>
                  </a:moveTo>
                  <a:lnTo>
                    <a:pt x="2325215" y="128347"/>
                  </a:lnTo>
                  <a:lnTo>
                    <a:pt x="2367534" y="153048"/>
                  </a:lnTo>
                  <a:lnTo>
                    <a:pt x="2367534" y="103645"/>
                  </a:lnTo>
                  <a:close/>
                </a:path>
                <a:path w="2439035" h="257175">
                  <a:moveTo>
                    <a:pt x="2382012" y="103645"/>
                  </a:moveTo>
                  <a:lnTo>
                    <a:pt x="2367534" y="103645"/>
                  </a:lnTo>
                  <a:lnTo>
                    <a:pt x="2367534" y="153048"/>
                  </a:lnTo>
                  <a:lnTo>
                    <a:pt x="2382012" y="153048"/>
                  </a:lnTo>
                  <a:lnTo>
                    <a:pt x="2382012" y="103645"/>
                  </a:lnTo>
                  <a:close/>
                </a:path>
                <a:path w="2439035" h="257175">
                  <a:moveTo>
                    <a:pt x="155757" y="103645"/>
                  </a:moveTo>
                  <a:lnTo>
                    <a:pt x="71120" y="103645"/>
                  </a:lnTo>
                  <a:lnTo>
                    <a:pt x="113438" y="128347"/>
                  </a:lnTo>
                  <a:lnTo>
                    <a:pt x="155757" y="103645"/>
                  </a:lnTo>
                  <a:close/>
                </a:path>
                <a:path w="2439035" h="257175">
                  <a:moveTo>
                    <a:pt x="2214195" y="0"/>
                  </a:moveTo>
                  <a:lnTo>
                    <a:pt x="2203275" y="696"/>
                  </a:lnTo>
                  <a:lnTo>
                    <a:pt x="2193426" y="5464"/>
                  </a:lnTo>
                  <a:lnTo>
                    <a:pt x="2185924" y="13983"/>
                  </a:lnTo>
                  <a:lnTo>
                    <a:pt x="2182225" y="24701"/>
                  </a:lnTo>
                  <a:lnTo>
                    <a:pt x="2182907" y="35621"/>
                  </a:lnTo>
                  <a:lnTo>
                    <a:pt x="2187638" y="45469"/>
                  </a:lnTo>
                  <a:lnTo>
                    <a:pt x="2196084" y="52972"/>
                  </a:lnTo>
                  <a:lnTo>
                    <a:pt x="2325215" y="128347"/>
                  </a:lnTo>
                  <a:lnTo>
                    <a:pt x="2367534" y="103645"/>
                  </a:lnTo>
                  <a:lnTo>
                    <a:pt x="2382012" y="103645"/>
                  </a:lnTo>
                  <a:lnTo>
                    <a:pt x="2382012" y="99835"/>
                  </a:lnTo>
                  <a:lnTo>
                    <a:pt x="2389680" y="99835"/>
                  </a:lnTo>
                  <a:lnTo>
                    <a:pt x="2224913" y="3696"/>
                  </a:lnTo>
                  <a:lnTo>
                    <a:pt x="2214195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3">
              <a:extLst>
                <a:ext uri="{FF2B5EF4-FFF2-40B4-BE49-F238E27FC236}">
                  <a16:creationId xmlns:a16="http://schemas.microsoft.com/office/drawing/2014/main" id="{E29E97D1-5153-EB73-9677-0B6D81266AF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91883" y="2372868"/>
              <a:ext cx="2886455" cy="594360"/>
            </a:xfrm>
            <a:prstGeom prst="rect">
              <a:avLst/>
            </a:prstGeom>
          </p:spPr>
        </p:pic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3DA73A67-EACF-C607-EA2B-03815FB8BDDB}"/>
                </a:ext>
              </a:extLst>
            </p:cNvPr>
            <p:cNvSpPr/>
            <p:nvPr/>
          </p:nvSpPr>
          <p:spPr>
            <a:xfrm>
              <a:off x="6733921" y="2522224"/>
              <a:ext cx="2546985" cy="257175"/>
            </a:xfrm>
            <a:custGeom>
              <a:avLst/>
              <a:gdLst/>
              <a:ahLst/>
              <a:cxnLst/>
              <a:rect l="l" t="t" r="r" b="b"/>
              <a:pathLst>
                <a:path w="2546984" h="257175">
                  <a:moveTo>
                    <a:pt x="2433519" y="128345"/>
                  </a:moveTo>
                  <a:lnTo>
                    <a:pt x="2304414" y="203704"/>
                  </a:lnTo>
                  <a:lnTo>
                    <a:pt x="2295896" y="211262"/>
                  </a:lnTo>
                  <a:lnTo>
                    <a:pt x="2291127" y="221118"/>
                  </a:lnTo>
                  <a:lnTo>
                    <a:pt x="2290431" y="232046"/>
                  </a:lnTo>
                  <a:lnTo>
                    <a:pt x="2294128" y="242820"/>
                  </a:lnTo>
                  <a:lnTo>
                    <a:pt x="2301630" y="251267"/>
                  </a:lnTo>
                  <a:lnTo>
                    <a:pt x="2311479" y="256012"/>
                  </a:lnTo>
                  <a:lnTo>
                    <a:pt x="2322399" y="256732"/>
                  </a:lnTo>
                  <a:lnTo>
                    <a:pt x="2333117" y="253107"/>
                  </a:lnTo>
                  <a:lnTo>
                    <a:pt x="2497982" y="156968"/>
                  </a:lnTo>
                  <a:lnTo>
                    <a:pt x="2490215" y="156968"/>
                  </a:lnTo>
                  <a:lnTo>
                    <a:pt x="2490215" y="153031"/>
                  </a:lnTo>
                  <a:lnTo>
                    <a:pt x="2475864" y="153031"/>
                  </a:lnTo>
                  <a:lnTo>
                    <a:pt x="2433519" y="128345"/>
                  </a:lnTo>
                  <a:close/>
                </a:path>
                <a:path w="2546984" h="257175">
                  <a:moveTo>
                    <a:pt x="2384584" y="99818"/>
                  </a:moveTo>
                  <a:lnTo>
                    <a:pt x="0" y="99818"/>
                  </a:lnTo>
                  <a:lnTo>
                    <a:pt x="0" y="156968"/>
                  </a:lnTo>
                  <a:lnTo>
                    <a:pt x="2384483" y="156968"/>
                  </a:lnTo>
                  <a:lnTo>
                    <a:pt x="2433519" y="128345"/>
                  </a:lnTo>
                  <a:lnTo>
                    <a:pt x="2384584" y="99818"/>
                  </a:lnTo>
                  <a:close/>
                </a:path>
                <a:path w="2546984" h="257175">
                  <a:moveTo>
                    <a:pt x="2497982" y="99818"/>
                  </a:moveTo>
                  <a:lnTo>
                    <a:pt x="2490215" y="99818"/>
                  </a:lnTo>
                  <a:lnTo>
                    <a:pt x="2490215" y="156968"/>
                  </a:lnTo>
                  <a:lnTo>
                    <a:pt x="2497982" y="156968"/>
                  </a:lnTo>
                  <a:lnTo>
                    <a:pt x="2546984" y="128393"/>
                  </a:lnTo>
                  <a:lnTo>
                    <a:pt x="2497982" y="99818"/>
                  </a:lnTo>
                  <a:close/>
                </a:path>
                <a:path w="2546984" h="257175">
                  <a:moveTo>
                    <a:pt x="2475864" y="103628"/>
                  </a:moveTo>
                  <a:lnTo>
                    <a:pt x="2433519" y="128345"/>
                  </a:lnTo>
                  <a:lnTo>
                    <a:pt x="2475864" y="153031"/>
                  </a:lnTo>
                  <a:lnTo>
                    <a:pt x="2475864" y="103628"/>
                  </a:lnTo>
                  <a:close/>
                </a:path>
                <a:path w="2546984" h="257175">
                  <a:moveTo>
                    <a:pt x="2490215" y="103628"/>
                  </a:moveTo>
                  <a:lnTo>
                    <a:pt x="2475864" y="103628"/>
                  </a:lnTo>
                  <a:lnTo>
                    <a:pt x="2475864" y="153031"/>
                  </a:lnTo>
                  <a:lnTo>
                    <a:pt x="2490215" y="153031"/>
                  </a:lnTo>
                  <a:lnTo>
                    <a:pt x="2490215" y="103628"/>
                  </a:lnTo>
                  <a:close/>
                </a:path>
                <a:path w="2546984" h="257175">
                  <a:moveTo>
                    <a:pt x="2322399" y="0"/>
                  </a:moveTo>
                  <a:lnTo>
                    <a:pt x="2311479" y="726"/>
                  </a:lnTo>
                  <a:lnTo>
                    <a:pt x="2301630" y="5500"/>
                  </a:lnTo>
                  <a:lnTo>
                    <a:pt x="2294128" y="13966"/>
                  </a:lnTo>
                  <a:lnTo>
                    <a:pt x="2290431" y="24685"/>
                  </a:lnTo>
                  <a:lnTo>
                    <a:pt x="2291127" y="35619"/>
                  </a:lnTo>
                  <a:lnTo>
                    <a:pt x="2295896" y="45505"/>
                  </a:lnTo>
                  <a:lnTo>
                    <a:pt x="2304414" y="53082"/>
                  </a:lnTo>
                  <a:lnTo>
                    <a:pt x="2433519" y="128345"/>
                  </a:lnTo>
                  <a:lnTo>
                    <a:pt x="2475864" y="103628"/>
                  </a:lnTo>
                  <a:lnTo>
                    <a:pt x="2490215" y="103628"/>
                  </a:lnTo>
                  <a:lnTo>
                    <a:pt x="2490215" y="99818"/>
                  </a:lnTo>
                  <a:lnTo>
                    <a:pt x="2497982" y="99818"/>
                  </a:lnTo>
                  <a:lnTo>
                    <a:pt x="2333117" y="3679"/>
                  </a:lnTo>
                  <a:lnTo>
                    <a:pt x="2322399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5">
              <a:extLst>
                <a:ext uri="{FF2B5EF4-FFF2-40B4-BE49-F238E27FC236}">
                  <a16:creationId xmlns:a16="http://schemas.microsoft.com/office/drawing/2014/main" id="{E7B502C4-8D94-93B9-2A1B-F3CEBE7FFC9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40100" y="5009400"/>
              <a:ext cx="2932166" cy="1075918"/>
            </a:xfrm>
            <a:prstGeom prst="rect">
              <a:avLst/>
            </a:prstGeom>
          </p:spPr>
        </p:pic>
        <p:pic>
          <p:nvPicPr>
            <p:cNvPr id="19" name="object 16">
              <a:extLst>
                <a:ext uri="{FF2B5EF4-FFF2-40B4-BE49-F238E27FC236}">
                  <a16:creationId xmlns:a16="http://schemas.microsoft.com/office/drawing/2014/main" id="{36D3F979-A56F-18C5-6D97-77BF2D691FC6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43372" y="5140452"/>
              <a:ext cx="2418587" cy="938784"/>
            </a:xfrm>
            <a:prstGeom prst="rect">
              <a:avLst/>
            </a:prstGeom>
          </p:spPr>
        </p:pic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844C0F5A-75D0-20EB-C457-CF26B527A3E8}"/>
                </a:ext>
              </a:extLst>
            </p:cNvPr>
            <p:cNvSpPr/>
            <p:nvPr/>
          </p:nvSpPr>
          <p:spPr>
            <a:xfrm>
              <a:off x="5383657" y="5029200"/>
              <a:ext cx="2844800" cy="990600"/>
            </a:xfrm>
            <a:custGeom>
              <a:avLst/>
              <a:gdLst/>
              <a:ahLst/>
              <a:cxnLst/>
              <a:rect l="l" t="t" r="r" b="b"/>
              <a:pathLst>
                <a:path w="2844800" h="990600">
                  <a:moveTo>
                    <a:pt x="2679699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2679699" y="990600"/>
                  </a:lnTo>
                  <a:lnTo>
                    <a:pt x="2723591" y="984702"/>
                  </a:lnTo>
                  <a:lnTo>
                    <a:pt x="2763030" y="968059"/>
                  </a:lnTo>
                  <a:lnTo>
                    <a:pt x="2796444" y="942244"/>
                  </a:lnTo>
                  <a:lnTo>
                    <a:pt x="2822259" y="908830"/>
                  </a:lnTo>
                  <a:lnTo>
                    <a:pt x="2838902" y="869391"/>
                  </a:lnTo>
                  <a:lnTo>
                    <a:pt x="2844799" y="825500"/>
                  </a:lnTo>
                  <a:lnTo>
                    <a:pt x="2844799" y="165100"/>
                  </a:lnTo>
                  <a:lnTo>
                    <a:pt x="2838902" y="121208"/>
                  </a:lnTo>
                  <a:lnTo>
                    <a:pt x="2822259" y="81769"/>
                  </a:lnTo>
                  <a:lnTo>
                    <a:pt x="2796444" y="48355"/>
                  </a:lnTo>
                  <a:lnTo>
                    <a:pt x="2763030" y="22540"/>
                  </a:lnTo>
                  <a:lnTo>
                    <a:pt x="2723591" y="5897"/>
                  </a:lnTo>
                  <a:lnTo>
                    <a:pt x="267969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A960BF49-CCCB-99DA-A238-52AC328D25FC}"/>
                </a:ext>
              </a:extLst>
            </p:cNvPr>
            <p:cNvSpPr/>
            <p:nvPr/>
          </p:nvSpPr>
          <p:spPr>
            <a:xfrm>
              <a:off x="5383657" y="5029200"/>
              <a:ext cx="2844800" cy="990600"/>
            </a:xfrm>
            <a:custGeom>
              <a:avLst/>
              <a:gdLst/>
              <a:ahLst/>
              <a:cxnLst/>
              <a:rect l="l" t="t" r="r" b="b"/>
              <a:pathLst>
                <a:path w="28448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2679699" y="0"/>
                  </a:lnTo>
                  <a:lnTo>
                    <a:pt x="2723591" y="5897"/>
                  </a:lnTo>
                  <a:lnTo>
                    <a:pt x="2763030" y="22540"/>
                  </a:lnTo>
                  <a:lnTo>
                    <a:pt x="2796444" y="48355"/>
                  </a:lnTo>
                  <a:lnTo>
                    <a:pt x="2822259" y="81769"/>
                  </a:lnTo>
                  <a:lnTo>
                    <a:pt x="2838902" y="121208"/>
                  </a:lnTo>
                  <a:lnTo>
                    <a:pt x="2844799" y="165100"/>
                  </a:lnTo>
                  <a:lnTo>
                    <a:pt x="2844799" y="825500"/>
                  </a:lnTo>
                  <a:lnTo>
                    <a:pt x="2838902" y="869391"/>
                  </a:lnTo>
                  <a:lnTo>
                    <a:pt x="2822259" y="908830"/>
                  </a:lnTo>
                  <a:lnTo>
                    <a:pt x="2796444" y="942244"/>
                  </a:lnTo>
                  <a:lnTo>
                    <a:pt x="2763030" y="968059"/>
                  </a:lnTo>
                  <a:lnTo>
                    <a:pt x="2723591" y="984702"/>
                  </a:lnTo>
                  <a:lnTo>
                    <a:pt x="2679699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19">
            <a:extLst>
              <a:ext uri="{FF2B5EF4-FFF2-40B4-BE49-F238E27FC236}">
                <a16:creationId xmlns:a16="http://schemas.microsoft.com/office/drawing/2014/main" id="{1B2EDAE2-186C-0D87-F98E-8D2D2E03DFDA}"/>
              </a:ext>
            </a:extLst>
          </p:cNvPr>
          <p:cNvSpPr txBox="1"/>
          <p:nvPr/>
        </p:nvSpPr>
        <p:spPr>
          <a:xfrm>
            <a:off x="5880862" y="5382527"/>
            <a:ext cx="178053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Prefetcher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3" name="object 20">
            <a:extLst>
              <a:ext uri="{FF2B5EF4-FFF2-40B4-BE49-F238E27FC236}">
                <a16:creationId xmlns:a16="http://schemas.microsoft.com/office/drawing/2014/main" id="{313D6B44-F0E1-3506-67C6-385BD9B6BBF4}"/>
              </a:ext>
            </a:extLst>
          </p:cNvPr>
          <p:cNvGrpSpPr/>
          <p:nvPr/>
        </p:nvGrpSpPr>
        <p:grpSpPr>
          <a:xfrm>
            <a:off x="4672583" y="2783395"/>
            <a:ext cx="3895725" cy="3115310"/>
            <a:chOff x="4709159" y="2644139"/>
            <a:chExt cx="3895725" cy="3115310"/>
          </a:xfrm>
        </p:grpSpPr>
        <p:pic>
          <p:nvPicPr>
            <p:cNvPr id="24" name="object 21">
              <a:extLst>
                <a:ext uri="{FF2B5EF4-FFF2-40B4-BE49-F238E27FC236}">
                  <a16:creationId xmlns:a16="http://schemas.microsoft.com/office/drawing/2014/main" id="{250EAAA1-EB03-563E-B15D-33253E9A51D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09159" y="2644139"/>
              <a:ext cx="890015" cy="3115056"/>
            </a:xfrm>
            <a:prstGeom prst="rect">
              <a:avLst/>
            </a:prstGeom>
          </p:spPr>
        </p:pic>
        <p:sp>
          <p:nvSpPr>
            <p:cNvPr id="25" name="object 22">
              <a:extLst>
                <a:ext uri="{FF2B5EF4-FFF2-40B4-BE49-F238E27FC236}">
                  <a16:creationId xmlns:a16="http://schemas.microsoft.com/office/drawing/2014/main" id="{9E832594-CA10-DB48-8DC2-32E96CDE2877}"/>
                </a:ext>
              </a:extLst>
            </p:cNvPr>
            <p:cNvSpPr/>
            <p:nvPr/>
          </p:nvSpPr>
          <p:spPr>
            <a:xfrm>
              <a:off x="4752339" y="2666999"/>
              <a:ext cx="631825" cy="2943225"/>
            </a:xfrm>
            <a:custGeom>
              <a:avLst/>
              <a:gdLst/>
              <a:ahLst/>
              <a:cxnLst/>
              <a:rect l="l" t="t" r="r" b="b"/>
              <a:pathLst>
                <a:path w="631825" h="2943225">
                  <a:moveTo>
                    <a:pt x="5715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57150" y="228600"/>
                  </a:lnTo>
                  <a:lnTo>
                    <a:pt x="57150" y="0"/>
                  </a:lnTo>
                  <a:close/>
                </a:path>
                <a:path w="631825" h="2943225">
                  <a:moveTo>
                    <a:pt x="57150" y="400050"/>
                  </a:moveTo>
                  <a:lnTo>
                    <a:pt x="0" y="400050"/>
                  </a:lnTo>
                  <a:lnTo>
                    <a:pt x="0" y="628650"/>
                  </a:lnTo>
                  <a:lnTo>
                    <a:pt x="57150" y="628650"/>
                  </a:lnTo>
                  <a:lnTo>
                    <a:pt x="57150" y="400050"/>
                  </a:lnTo>
                  <a:close/>
                </a:path>
                <a:path w="631825" h="2943225">
                  <a:moveTo>
                    <a:pt x="57150" y="800100"/>
                  </a:moveTo>
                  <a:lnTo>
                    <a:pt x="0" y="800100"/>
                  </a:lnTo>
                  <a:lnTo>
                    <a:pt x="0" y="1028700"/>
                  </a:lnTo>
                  <a:lnTo>
                    <a:pt x="57150" y="1028700"/>
                  </a:lnTo>
                  <a:lnTo>
                    <a:pt x="57150" y="800100"/>
                  </a:lnTo>
                  <a:close/>
                </a:path>
                <a:path w="631825" h="2943225">
                  <a:moveTo>
                    <a:pt x="57150" y="1200150"/>
                  </a:moveTo>
                  <a:lnTo>
                    <a:pt x="0" y="1200150"/>
                  </a:lnTo>
                  <a:lnTo>
                    <a:pt x="0" y="1428750"/>
                  </a:lnTo>
                  <a:lnTo>
                    <a:pt x="57150" y="1428750"/>
                  </a:lnTo>
                  <a:lnTo>
                    <a:pt x="57150" y="1200150"/>
                  </a:lnTo>
                  <a:close/>
                </a:path>
                <a:path w="631825" h="2943225">
                  <a:moveTo>
                    <a:pt x="57150" y="1600200"/>
                  </a:moveTo>
                  <a:lnTo>
                    <a:pt x="0" y="1600200"/>
                  </a:lnTo>
                  <a:lnTo>
                    <a:pt x="0" y="1828800"/>
                  </a:lnTo>
                  <a:lnTo>
                    <a:pt x="57150" y="1828800"/>
                  </a:lnTo>
                  <a:lnTo>
                    <a:pt x="57150" y="1600200"/>
                  </a:lnTo>
                  <a:close/>
                </a:path>
                <a:path w="631825" h="2943225">
                  <a:moveTo>
                    <a:pt x="57150" y="2000250"/>
                  </a:moveTo>
                  <a:lnTo>
                    <a:pt x="0" y="2000250"/>
                  </a:lnTo>
                  <a:lnTo>
                    <a:pt x="0" y="2228850"/>
                  </a:lnTo>
                  <a:lnTo>
                    <a:pt x="57150" y="2228850"/>
                  </a:lnTo>
                  <a:lnTo>
                    <a:pt x="57150" y="2000250"/>
                  </a:lnTo>
                  <a:close/>
                </a:path>
                <a:path w="631825" h="2943225">
                  <a:moveTo>
                    <a:pt x="57150" y="2400300"/>
                  </a:moveTo>
                  <a:lnTo>
                    <a:pt x="0" y="2400300"/>
                  </a:lnTo>
                  <a:lnTo>
                    <a:pt x="0" y="2628900"/>
                  </a:lnTo>
                  <a:lnTo>
                    <a:pt x="57150" y="2628900"/>
                  </a:lnTo>
                  <a:lnTo>
                    <a:pt x="57150" y="2400300"/>
                  </a:lnTo>
                  <a:close/>
                </a:path>
                <a:path w="631825" h="2943225">
                  <a:moveTo>
                    <a:pt x="57150" y="2800350"/>
                  </a:moveTo>
                  <a:lnTo>
                    <a:pt x="0" y="2800350"/>
                  </a:lnTo>
                  <a:lnTo>
                    <a:pt x="0" y="2857500"/>
                  </a:lnTo>
                  <a:lnTo>
                    <a:pt x="2250" y="2868608"/>
                  </a:lnTo>
                  <a:lnTo>
                    <a:pt x="8382" y="2877692"/>
                  </a:lnTo>
                  <a:lnTo>
                    <a:pt x="17466" y="2883824"/>
                  </a:lnTo>
                  <a:lnTo>
                    <a:pt x="28575" y="2886075"/>
                  </a:lnTo>
                  <a:lnTo>
                    <a:pt x="200025" y="2886075"/>
                  </a:lnTo>
                  <a:lnTo>
                    <a:pt x="200025" y="2857500"/>
                  </a:lnTo>
                  <a:lnTo>
                    <a:pt x="57150" y="2857500"/>
                  </a:lnTo>
                  <a:lnTo>
                    <a:pt x="28575" y="2828925"/>
                  </a:lnTo>
                  <a:lnTo>
                    <a:pt x="57150" y="2828925"/>
                  </a:lnTo>
                  <a:lnTo>
                    <a:pt x="57150" y="2800350"/>
                  </a:lnTo>
                  <a:close/>
                </a:path>
                <a:path w="631825" h="2943225">
                  <a:moveTo>
                    <a:pt x="57150" y="2828925"/>
                  </a:moveTo>
                  <a:lnTo>
                    <a:pt x="28575" y="2828925"/>
                  </a:lnTo>
                  <a:lnTo>
                    <a:pt x="57150" y="2857500"/>
                  </a:lnTo>
                  <a:lnTo>
                    <a:pt x="57150" y="2828925"/>
                  </a:lnTo>
                  <a:close/>
                </a:path>
                <a:path w="631825" h="2943225">
                  <a:moveTo>
                    <a:pt x="200025" y="2828925"/>
                  </a:moveTo>
                  <a:lnTo>
                    <a:pt x="57150" y="2828925"/>
                  </a:lnTo>
                  <a:lnTo>
                    <a:pt x="57150" y="2857500"/>
                  </a:lnTo>
                  <a:lnTo>
                    <a:pt x="200025" y="2857500"/>
                  </a:lnTo>
                  <a:lnTo>
                    <a:pt x="200025" y="2828925"/>
                  </a:lnTo>
                  <a:close/>
                </a:path>
                <a:path w="631825" h="2943225">
                  <a:moveTo>
                    <a:pt x="459867" y="2771775"/>
                  </a:moveTo>
                  <a:lnTo>
                    <a:pt x="459867" y="2943225"/>
                  </a:lnTo>
                  <a:lnTo>
                    <a:pt x="574167" y="2886075"/>
                  </a:lnTo>
                  <a:lnTo>
                    <a:pt x="488442" y="2886075"/>
                  </a:lnTo>
                  <a:lnTo>
                    <a:pt x="488442" y="2828925"/>
                  </a:lnTo>
                  <a:lnTo>
                    <a:pt x="574167" y="2828925"/>
                  </a:lnTo>
                  <a:lnTo>
                    <a:pt x="459867" y="2771775"/>
                  </a:lnTo>
                  <a:close/>
                </a:path>
                <a:path w="631825" h="2943225">
                  <a:moveTo>
                    <a:pt x="459867" y="2828925"/>
                  </a:moveTo>
                  <a:lnTo>
                    <a:pt x="371475" y="2828925"/>
                  </a:lnTo>
                  <a:lnTo>
                    <a:pt x="371475" y="2886075"/>
                  </a:lnTo>
                  <a:lnTo>
                    <a:pt x="459867" y="2886075"/>
                  </a:lnTo>
                  <a:lnTo>
                    <a:pt x="459867" y="2828925"/>
                  </a:lnTo>
                  <a:close/>
                </a:path>
                <a:path w="631825" h="2943225">
                  <a:moveTo>
                    <a:pt x="574167" y="2828925"/>
                  </a:moveTo>
                  <a:lnTo>
                    <a:pt x="488442" y="2828925"/>
                  </a:lnTo>
                  <a:lnTo>
                    <a:pt x="488442" y="2886075"/>
                  </a:lnTo>
                  <a:lnTo>
                    <a:pt x="574167" y="2886075"/>
                  </a:lnTo>
                  <a:lnTo>
                    <a:pt x="631317" y="2857500"/>
                  </a:lnTo>
                  <a:lnTo>
                    <a:pt x="574167" y="2828925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3">
              <a:extLst>
                <a:ext uri="{FF2B5EF4-FFF2-40B4-BE49-F238E27FC236}">
                  <a16:creationId xmlns:a16="http://schemas.microsoft.com/office/drawing/2014/main" id="{A911F02C-B170-7289-31DD-331A5A2C800F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74663" y="3081527"/>
              <a:ext cx="2529840" cy="2534412"/>
            </a:xfrm>
            <a:prstGeom prst="rect">
              <a:avLst/>
            </a:prstGeom>
          </p:spPr>
        </p:pic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AD81F515-B243-B0AF-A565-3BE4BE652CD2}"/>
                </a:ext>
              </a:extLst>
            </p:cNvPr>
            <p:cNvSpPr/>
            <p:nvPr/>
          </p:nvSpPr>
          <p:spPr>
            <a:xfrm>
              <a:off x="6204711" y="3276599"/>
              <a:ext cx="2357120" cy="2276475"/>
            </a:xfrm>
            <a:custGeom>
              <a:avLst/>
              <a:gdLst/>
              <a:ahLst/>
              <a:cxnLst/>
              <a:rect l="l" t="t" r="r" b="b"/>
              <a:pathLst>
                <a:path w="2357120" h="2276475">
                  <a:moveTo>
                    <a:pt x="2252344" y="2219325"/>
                  </a:moveTo>
                  <a:lnTo>
                    <a:pt x="2023744" y="2219325"/>
                  </a:lnTo>
                  <a:lnTo>
                    <a:pt x="2023744" y="2276475"/>
                  </a:lnTo>
                  <a:lnTo>
                    <a:pt x="2252344" y="2276475"/>
                  </a:lnTo>
                  <a:lnTo>
                    <a:pt x="2252344" y="2219325"/>
                  </a:lnTo>
                  <a:close/>
                </a:path>
                <a:path w="2357120" h="2276475">
                  <a:moveTo>
                    <a:pt x="2357119" y="1924050"/>
                  </a:moveTo>
                  <a:lnTo>
                    <a:pt x="2299969" y="1924050"/>
                  </a:lnTo>
                  <a:lnTo>
                    <a:pt x="2299969" y="2152650"/>
                  </a:lnTo>
                  <a:lnTo>
                    <a:pt x="2357119" y="2152650"/>
                  </a:lnTo>
                  <a:lnTo>
                    <a:pt x="2357119" y="1924050"/>
                  </a:lnTo>
                  <a:close/>
                </a:path>
                <a:path w="2357120" h="2276475">
                  <a:moveTo>
                    <a:pt x="2357119" y="1524000"/>
                  </a:moveTo>
                  <a:lnTo>
                    <a:pt x="2299969" y="1524000"/>
                  </a:lnTo>
                  <a:lnTo>
                    <a:pt x="2299969" y="1752600"/>
                  </a:lnTo>
                  <a:lnTo>
                    <a:pt x="2357119" y="1752600"/>
                  </a:lnTo>
                  <a:lnTo>
                    <a:pt x="2357119" y="1524000"/>
                  </a:lnTo>
                  <a:close/>
                </a:path>
                <a:path w="2357120" h="2276475">
                  <a:moveTo>
                    <a:pt x="2357119" y="1123950"/>
                  </a:moveTo>
                  <a:lnTo>
                    <a:pt x="2299969" y="1123950"/>
                  </a:lnTo>
                  <a:lnTo>
                    <a:pt x="2299969" y="1352550"/>
                  </a:lnTo>
                  <a:lnTo>
                    <a:pt x="2357119" y="1352550"/>
                  </a:lnTo>
                  <a:lnTo>
                    <a:pt x="2357119" y="1123950"/>
                  </a:lnTo>
                  <a:close/>
                </a:path>
                <a:path w="2357120" h="2276475">
                  <a:moveTo>
                    <a:pt x="2357119" y="723900"/>
                  </a:moveTo>
                  <a:lnTo>
                    <a:pt x="2299969" y="723900"/>
                  </a:lnTo>
                  <a:lnTo>
                    <a:pt x="2299969" y="952500"/>
                  </a:lnTo>
                  <a:lnTo>
                    <a:pt x="2357119" y="952500"/>
                  </a:lnTo>
                  <a:lnTo>
                    <a:pt x="2357119" y="723900"/>
                  </a:lnTo>
                  <a:close/>
                </a:path>
                <a:path w="2357120" h="2276475">
                  <a:moveTo>
                    <a:pt x="2217166" y="635381"/>
                  </a:moveTo>
                  <a:lnTo>
                    <a:pt x="1988565" y="635381"/>
                  </a:lnTo>
                  <a:lnTo>
                    <a:pt x="1988565" y="692531"/>
                  </a:lnTo>
                  <a:lnTo>
                    <a:pt x="2217166" y="692531"/>
                  </a:lnTo>
                  <a:lnTo>
                    <a:pt x="2217166" y="635381"/>
                  </a:lnTo>
                  <a:close/>
                </a:path>
                <a:path w="2357120" h="2276475">
                  <a:moveTo>
                    <a:pt x="1817115" y="635381"/>
                  </a:moveTo>
                  <a:lnTo>
                    <a:pt x="1588515" y="635381"/>
                  </a:lnTo>
                  <a:lnTo>
                    <a:pt x="1588515" y="692531"/>
                  </a:lnTo>
                  <a:lnTo>
                    <a:pt x="1817115" y="692531"/>
                  </a:lnTo>
                  <a:lnTo>
                    <a:pt x="1817115" y="635381"/>
                  </a:lnTo>
                  <a:close/>
                </a:path>
                <a:path w="2357120" h="2276475">
                  <a:moveTo>
                    <a:pt x="1417065" y="635381"/>
                  </a:moveTo>
                  <a:lnTo>
                    <a:pt x="1188465" y="635381"/>
                  </a:lnTo>
                  <a:lnTo>
                    <a:pt x="1188465" y="692531"/>
                  </a:lnTo>
                  <a:lnTo>
                    <a:pt x="1417065" y="692531"/>
                  </a:lnTo>
                  <a:lnTo>
                    <a:pt x="1417065" y="635381"/>
                  </a:lnTo>
                  <a:close/>
                </a:path>
                <a:path w="2357120" h="2276475">
                  <a:moveTo>
                    <a:pt x="1017015" y="635381"/>
                  </a:moveTo>
                  <a:lnTo>
                    <a:pt x="788415" y="635381"/>
                  </a:lnTo>
                  <a:lnTo>
                    <a:pt x="788415" y="692531"/>
                  </a:lnTo>
                  <a:lnTo>
                    <a:pt x="1017015" y="692531"/>
                  </a:lnTo>
                  <a:lnTo>
                    <a:pt x="1017015" y="635381"/>
                  </a:lnTo>
                  <a:close/>
                </a:path>
                <a:path w="2357120" h="2276475">
                  <a:moveTo>
                    <a:pt x="616965" y="635381"/>
                  </a:moveTo>
                  <a:lnTo>
                    <a:pt x="388365" y="635381"/>
                  </a:lnTo>
                  <a:lnTo>
                    <a:pt x="388365" y="692531"/>
                  </a:lnTo>
                  <a:lnTo>
                    <a:pt x="616965" y="692531"/>
                  </a:lnTo>
                  <a:lnTo>
                    <a:pt x="616965" y="635381"/>
                  </a:lnTo>
                  <a:close/>
                </a:path>
                <a:path w="2357120" h="2276475">
                  <a:moveTo>
                    <a:pt x="114300" y="566419"/>
                  </a:moveTo>
                  <a:lnTo>
                    <a:pt x="57150" y="566419"/>
                  </a:lnTo>
                  <a:lnTo>
                    <a:pt x="57150" y="663956"/>
                  </a:lnTo>
                  <a:lnTo>
                    <a:pt x="59400" y="675064"/>
                  </a:lnTo>
                  <a:lnTo>
                    <a:pt x="65532" y="684149"/>
                  </a:lnTo>
                  <a:lnTo>
                    <a:pt x="74616" y="690280"/>
                  </a:lnTo>
                  <a:lnTo>
                    <a:pt x="85725" y="692531"/>
                  </a:lnTo>
                  <a:lnTo>
                    <a:pt x="216915" y="692531"/>
                  </a:lnTo>
                  <a:lnTo>
                    <a:pt x="216915" y="663956"/>
                  </a:lnTo>
                  <a:lnTo>
                    <a:pt x="114300" y="663956"/>
                  </a:lnTo>
                  <a:lnTo>
                    <a:pt x="85725" y="635381"/>
                  </a:lnTo>
                  <a:lnTo>
                    <a:pt x="114300" y="635381"/>
                  </a:lnTo>
                  <a:lnTo>
                    <a:pt x="114300" y="566419"/>
                  </a:lnTo>
                  <a:close/>
                </a:path>
                <a:path w="2357120" h="2276475">
                  <a:moveTo>
                    <a:pt x="114300" y="635381"/>
                  </a:moveTo>
                  <a:lnTo>
                    <a:pt x="85725" y="635381"/>
                  </a:lnTo>
                  <a:lnTo>
                    <a:pt x="114300" y="663956"/>
                  </a:lnTo>
                  <a:lnTo>
                    <a:pt x="114300" y="635381"/>
                  </a:lnTo>
                  <a:close/>
                </a:path>
                <a:path w="2357120" h="2276475">
                  <a:moveTo>
                    <a:pt x="216915" y="635381"/>
                  </a:moveTo>
                  <a:lnTo>
                    <a:pt x="114300" y="635381"/>
                  </a:lnTo>
                  <a:lnTo>
                    <a:pt x="114300" y="663956"/>
                  </a:lnTo>
                  <a:lnTo>
                    <a:pt x="216915" y="663956"/>
                  </a:lnTo>
                  <a:lnTo>
                    <a:pt x="216915" y="635381"/>
                  </a:lnTo>
                  <a:close/>
                </a:path>
                <a:path w="2357120" h="2276475">
                  <a:moveTo>
                    <a:pt x="114300" y="166370"/>
                  </a:moveTo>
                  <a:lnTo>
                    <a:pt x="57150" y="166370"/>
                  </a:lnTo>
                  <a:lnTo>
                    <a:pt x="57150" y="394969"/>
                  </a:lnTo>
                  <a:lnTo>
                    <a:pt x="114300" y="394969"/>
                  </a:lnTo>
                  <a:lnTo>
                    <a:pt x="114300" y="166370"/>
                  </a:lnTo>
                  <a:close/>
                </a:path>
                <a:path w="2357120" h="2276475">
                  <a:moveTo>
                    <a:pt x="85725" y="0"/>
                  </a:moveTo>
                  <a:lnTo>
                    <a:pt x="0" y="171450"/>
                  </a:lnTo>
                  <a:lnTo>
                    <a:pt x="57150" y="171450"/>
                  </a:lnTo>
                  <a:lnTo>
                    <a:pt x="57150" y="166370"/>
                  </a:lnTo>
                  <a:lnTo>
                    <a:pt x="168910" y="166370"/>
                  </a:lnTo>
                  <a:lnTo>
                    <a:pt x="85725" y="0"/>
                  </a:lnTo>
                  <a:close/>
                </a:path>
                <a:path w="2357120" h="2276475">
                  <a:moveTo>
                    <a:pt x="168910" y="166370"/>
                  </a:moveTo>
                  <a:lnTo>
                    <a:pt x="114300" y="166370"/>
                  </a:lnTo>
                  <a:lnTo>
                    <a:pt x="114300" y="171450"/>
                  </a:lnTo>
                  <a:lnTo>
                    <a:pt x="171450" y="171450"/>
                  </a:lnTo>
                  <a:lnTo>
                    <a:pt x="168910" y="16637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5">
            <a:extLst>
              <a:ext uri="{FF2B5EF4-FFF2-40B4-BE49-F238E27FC236}">
                <a16:creationId xmlns:a16="http://schemas.microsoft.com/office/drawing/2014/main" id="{19F3717A-3836-E01E-FB2E-E28C91511049}"/>
              </a:ext>
            </a:extLst>
          </p:cNvPr>
          <p:cNvSpPr txBox="1"/>
          <p:nvPr/>
        </p:nvSpPr>
        <p:spPr>
          <a:xfrm>
            <a:off x="6972680" y="4099370"/>
            <a:ext cx="6591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X+3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9" name="object 26">
            <a:extLst>
              <a:ext uri="{FF2B5EF4-FFF2-40B4-BE49-F238E27FC236}">
                <a16:creationId xmlns:a16="http://schemas.microsoft.com/office/drawing/2014/main" id="{6817260A-A3CC-A1CE-AE49-99699C7D6630}"/>
              </a:ext>
            </a:extLst>
          </p:cNvPr>
          <p:cNvGrpSpPr/>
          <p:nvPr/>
        </p:nvGrpSpPr>
        <p:grpSpPr>
          <a:xfrm>
            <a:off x="2380488" y="1690688"/>
            <a:ext cx="1181100" cy="1896110"/>
            <a:chOff x="2417064" y="1551432"/>
            <a:chExt cx="1181100" cy="1896110"/>
          </a:xfrm>
        </p:grpSpPr>
        <p:pic>
          <p:nvPicPr>
            <p:cNvPr id="30" name="object 27">
              <a:extLst>
                <a:ext uri="{FF2B5EF4-FFF2-40B4-BE49-F238E27FC236}">
                  <a16:creationId xmlns:a16="http://schemas.microsoft.com/office/drawing/2014/main" id="{8386CE19-ACE9-DDFC-708C-984AC2FB5778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17064" y="1551432"/>
              <a:ext cx="1056132" cy="1895856"/>
            </a:xfrm>
            <a:prstGeom prst="rect">
              <a:avLst/>
            </a:prstGeom>
          </p:spPr>
        </p:pic>
        <p:pic>
          <p:nvPicPr>
            <p:cNvPr id="31" name="object 28">
              <a:extLst>
                <a:ext uri="{FF2B5EF4-FFF2-40B4-BE49-F238E27FC236}">
                  <a16:creationId xmlns:a16="http://schemas.microsoft.com/office/drawing/2014/main" id="{03ACA910-A45D-2194-5DF8-AF64A43EFE84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46020" y="1551432"/>
              <a:ext cx="1152144" cy="1780032"/>
            </a:xfrm>
            <a:prstGeom prst="rect">
              <a:avLst/>
            </a:prstGeom>
          </p:spPr>
        </p:pic>
        <p:sp>
          <p:nvSpPr>
            <p:cNvPr id="32" name="object 29">
              <a:extLst>
                <a:ext uri="{FF2B5EF4-FFF2-40B4-BE49-F238E27FC236}">
                  <a16:creationId xmlns:a16="http://schemas.microsoft.com/office/drawing/2014/main" id="{2BB8BA36-0AA3-5F4C-3881-78CBFB305F6E}"/>
                </a:ext>
              </a:extLst>
            </p:cNvPr>
            <p:cNvSpPr/>
            <p:nvPr/>
          </p:nvSpPr>
          <p:spPr>
            <a:xfrm>
              <a:off x="2488057" y="1600073"/>
              <a:ext cx="914400" cy="1753235"/>
            </a:xfrm>
            <a:custGeom>
              <a:avLst/>
              <a:gdLst/>
              <a:ahLst/>
              <a:cxnLst/>
              <a:rect l="l" t="t" r="r" b="b"/>
              <a:pathLst>
                <a:path w="914400" h="1753235">
                  <a:moveTo>
                    <a:pt x="762000" y="0"/>
                  </a:moveTo>
                  <a:lnTo>
                    <a:pt x="152400" y="0"/>
                  </a:lnTo>
                  <a:lnTo>
                    <a:pt x="104265" y="7766"/>
                  </a:lnTo>
                  <a:lnTo>
                    <a:pt x="62435" y="29394"/>
                  </a:lnTo>
                  <a:lnTo>
                    <a:pt x="29431" y="62380"/>
                  </a:lnTo>
                  <a:lnTo>
                    <a:pt x="7778" y="104217"/>
                  </a:lnTo>
                  <a:lnTo>
                    <a:pt x="0" y="152400"/>
                  </a:lnTo>
                  <a:lnTo>
                    <a:pt x="0" y="1600327"/>
                  </a:lnTo>
                  <a:lnTo>
                    <a:pt x="7778" y="1648509"/>
                  </a:lnTo>
                  <a:lnTo>
                    <a:pt x="29431" y="1690346"/>
                  </a:lnTo>
                  <a:lnTo>
                    <a:pt x="62435" y="1723332"/>
                  </a:lnTo>
                  <a:lnTo>
                    <a:pt x="104265" y="1744960"/>
                  </a:lnTo>
                  <a:lnTo>
                    <a:pt x="152400" y="1752727"/>
                  </a:lnTo>
                  <a:lnTo>
                    <a:pt x="762000" y="1752727"/>
                  </a:lnTo>
                  <a:lnTo>
                    <a:pt x="810182" y="1744960"/>
                  </a:lnTo>
                  <a:lnTo>
                    <a:pt x="852019" y="1723332"/>
                  </a:lnTo>
                  <a:lnTo>
                    <a:pt x="885005" y="1690346"/>
                  </a:lnTo>
                  <a:lnTo>
                    <a:pt x="906633" y="1648509"/>
                  </a:lnTo>
                  <a:lnTo>
                    <a:pt x="914400" y="1600327"/>
                  </a:lnTo>
                  <a:lnTo>
                    <a:pt x="914400" y="152400"/>
                  </a:lnTo>
                  <a:lnTo>
                    <a:pt x="906633" y="104217"/>
                  </a:lnTo>
                  <a:lnTo>
                    <a:pt x="885005" y="62380"/>
                  </a:lnTo>
                  <a:lnTo>
                    <a:pt x="852019" y="29394"/>
                  </a:lnTo>
                  <a:lnTo>
                    <a:pt x="810182" y="7766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0">
              <a:extLst>
                <a:ext uri="{FF2B5EF4-FFF2-40B4-BE49-F238E27FC236}">
                  <a16:creationId xmlns:a16="http://schemas.microsoft.com/office/drawing/2014/main" id="{0F81642E-7CD9-E87C-45D4-9CBACA4200A7}"/>
                </a:ext>
              </a:extLst>
            </p:cNvPr>
            <p:cNvSpPr/>
            <p:nvPr/>
          </p:nvSpPr>
          <p:spPr>
            <a:xfrm>
              <a:off x="2488057" y="1600073"/>
              <a:ext cx="914400" cy="1753235"/>
            </a:xfrm>
            <a:custGeom>
              <a:avLst/>
              <a:gdLst/>
              <a:ahLst/>
              <a:cxnLst/>
              <a:rect l="l" t="t" r="r" b="b"/>
              <a:pathLst>
                <a:path w="914400" h="1753235">
                  <a:moveTo>
                    <a:pt x="152400" y="1752727"/>
                  </a:moveTo>
                  <a:lnTo>
                    <a:pt x="104265" y="1744960"/>
                  </a:lnTo>
                  <a:lnTo>
                    <a:pt x="62435" y="1723332"/>
                  </a:lnTo>
                  <a:lnTo>
                    <a:pt x="29431" y="1690346"/>
                  </a:lnTo>
                  <a:lnTo>
                    <a:pt x="7778" y="1648509"/>
                  </a:lnTo>
                  <a:lnTo>
                    <a:pt x="0" y="1600327"/>
                  </a:lnTo>
                  <a:lnTo>
                    <a:pt x="0" y="152400"/>
                  </a:lnTo>
                  <a:lnTo>
                    <a:pt x="7778" y="104217"/>
                  </a:lnTo>
                  <a:lnTo>
                    <a:pt x="29431" y="62380"/>
                  </a:lnTo>
                  <a:lnTo>
                    <a:pt x="62435" y="29394"/>
                  </a:lnTo>
                  <a:lnTo>
                    <a:pt x="104265" y="7766"/>
                  </a:lnTo>
                  <a:lnTo>
                    <a:pt x="152400" y="0"/>
                  </a:lnTo>
                  <a:lnTo>
                    <a:pt x="762000" y="0"/>
                  </a:lnTo>
                  <a:lnTo>
                    <a:pt x="810182" y="7766"/>
                  </a:lnTo>
                  <a:lnTo>
                    <a:pt x="852019" y="29394"/>
                  </a:lnTo>
                  <a:lnTo>
                    <a:pt x="885005" y="62380"/>
                  </a:lnTo>
                  <a:lnTo>
                    <a:pt x="906633" y="104217"/>
                  </a:lnTo>
                  <a:lnTo>
                    <a:pt x="914400" y="152400"/>
                  </a:lnTo>
                  <a:lnTo>
                    <a:pt x="914400" y="1600327"/>
                  </a:lnTo>
                  <a:lnTo>
                    <a:pt x="906633" y="1648509"/>
                  </a:lnTo>
                  <a:lnTo>
                    <a:pt x="885005" y="1690346"/>
                  </a:lnTo>
                  <a:lnTo>
                    <a:pt x="852019" y="1723332"/>
                  </a:lnTo>
                  <a:lnTo>
                    <a:pt x="810182" y="1744960"/>
                  </a:lnTo>
                  <a:lnTo>
                    <a:pt x="762000" y="1752727"/>
                  </a:lnTo>
                  <a:lnTo>
                    <a:pt x="152400" y="1752727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1">
            <a:extLst>
              <a:ext uri="{FF2B5EF4-FFF2-40B4-BE49-F238E27FC236}">
                <a16:creationId xmlns:a16="http://schemas.microsoft.com/office/drawing/2014/main" id="{3DFB38CB-F2DB-5DB9-A120-A45D3E42B504}"/>
              </a:ext>
            </a:extLst>
          </p:cNvPr>
          <p:cNvSpPr txBox="1"/>
          <p:nvPr/>
        </p:nvSpPr>
        <p:spPr>
          <a:xfrm>
            <a:off x="2686431" y="2119196"/>
            <a:ext cx="533400" cy="9956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895"/>
              </a:lnSpc>
            </a:pP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4000" b="1" spc="-6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5" name="object 32">
            <a:extLst>
              <a:ext uri="{FF2B5EF4-FFF2-40B4-BE49-F238E27FC236}">
                <a16:creationId xmlns:a16="http://schemas.microsoft.com/office/drawing/2014/main" id="{4345C136-AF2E-0D6D-9F59-815CF9A318E2}"/>
              </a:ext>
            </a:extLst>
          </p:cNvPr>
          <p:cNvSpPr txBox="1"/>
          <p:nvPr/>
        </p:nvSpPr>
        <p:spPr>
          <a:xfrm>
            <a:off x="3930777" y="5233479"/>
            <a:ext cx="5664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5" dirty="0">
                <a:latin typeface="Calibri"/>
                <a:cs typeface="Calibri"/>
              </a:rPr>
              <a:t>❶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6" name="object 33">
            <a:extLst>
              <a:ext uri="{FF2B5EF4-FFF2-40B4-BE49-F238E27FC236}">
                <a16:creationId xmlns:a16="http://schemas.microsoft.com/office/drawing/2014/main" id="{B4A962D6-E06D-CC01-6DCB-DDE21B72DE9B}"/>
              </a:ext>
            </a:extLst>
          </p:cNvPr>
          <p:cNvSpPr txBox="1"/>
          <p:nvPr/>
        </p:nvSpPr>
        <p:spPr>
          <a:xfrm>
            <a:off x="8558910" y="4677220"/>
            <a:ext cx="5664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5" dirty="0">
                <a:latin typeface="Calibri"/>
                <a:cs typeface="Calibri"/>
              </a:rPr>
              <a:t>❷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7" name="object 34">
            <a:extLst>
              <a:ext uri="{FF2B5EF4-FFF2-40B4-BE49-F238E27FC236}">
                <a16:creationId xmlns:a16="http://schemas.microsoft.com/office/drawing/2014/main" id="{B2FC1395-5B37-65EE-3FA1-D1CD13C19915}"/>
              </a:ext>
            </a:extLst>
          </p:cNvPr>
          <p:cNvSpPr txBox="1"/>
          <p:nvPr/>
        </p:nvSpPr>
        <p:spPr>
          <a:xfrm>
            <a:off x="7253096" y="2137347"/>
            <a:ext cx="5664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5" dirty="0">
                <a:latin typeface="Calibri"/>
                <a:cs typeface="Calibri"/>
              </a:rPr>
              <a:t>❸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8" name="object 35">
            <a:extLst>
              <a:ext uri="{FF2B5EF4-FFF2-40B4-BE49-F238E27FC236}">
                <a16:creationId xmlns:a16="http://schemas.microsoft.com/office/drawing/2014/main" id="{E0A0470B-09DD-5D10-848A-F446E91710D1}"/>
              </a:ext>
            </a:extLst>
          </p:cNvPr>
          <p:cNvSpPr txBox="1"/>
          <p:nvPr/>
        </p:nvSpPr>
        <p:spPr>
          <a:xfrm>
            <a:off x="7265289" y="3167901"/>
            <a:ext cx="5664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5" dirty="0">
                <a:latin typeface="Calibri"/>
                <a:cs typeface="Calibri"/>
              </a:rPr>
              <a:t>❹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9" name="object 36">
            <a:extLst>
              <a:ext uri="{FF2B5EF4-FFF2-40B4-BE49-F238E27FC236}">
                <a16:creationId xmlns:a16="http://schemas.microsoft.com/office/drawing/2014/main" id="{4246DCC0-A357-9861-207D-A25FF6E0AC2A}"/>
              </a:ext>
            </a:extLst>
          </p:cNvPr>
          <p:cNvSpPr txBox="1"/>
          <p:nvPr/>
        </p:nvSpPr>
        <p:spPr>
          <a:xfrm>
            <a:off x="4123689" y="1481427"/>
            <a:ext cx="659765" cy="10744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3200" spc="5" dirty="0">
                <a:latin typeface="Calibri"/>
                <a:cs typeface="Calibri"/>
              </a:rPr>
              <a:t>❺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3200" b="1" dirty="0">
                <a:latin typeface="Calibri"/>
                <a:cs typeface="Calibri"/>
              </a:rPr>
              <a:t>X+3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0" name="object 37">
            <a:extLst>
              <a:ext uri="{FF2B5EF4-FFF2-40B4-BE49-F238E27FC236}">
                <a16:creationId xmlns:a16="http://schemas.microsoft.com/office/drawing/2014/main" id="{34220568-7B20-4DC8-948A-D9290F767DAF}"/>
              </a:ext>
            </a:extLst>
          </p:cNvPr>
          <p:cNvGrpSpPr/>
          <p:nvPr/>
        </p:nvGrpSpPr>
        <p:grpSpPr>
          <a:xfrm>
            <a:off x="5298947" y="982028"/>
            <a:ext cx="4032885" cy="2479675"/>
            <a:chOff x="5335523" y="842772"/>
            <a:chExt cx="4032885" cy="2479675"/>
          </a:xfrm>
        </p:grpSpPr>
        <p:pic>
          <p:nvPicPr>
            <p:cNvPr id="41" name="object 38">
              <a:extLst>
                <a:ext uri="{FF2B5EF4-FFF2-40B4-BE49-F238E27FC236}">
                  <a16:creationId xmlns:a16="http://schemas.microsoft.com/office/drawing/2014/main" id="{955ECC34-8045-F976-84B4-52E8CFCC988F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09943" y="2727960"/>
              <a:ext cx="2958083" cy="594360"/>
            </a:xfrm>
            <a:prstGeom prst="rect">
              <a:avLst/>
            </a:prstGeom>
          </p:spPr>
        </p:pic>
        <p:sp>
          <p:nvSpPr>
            <p:cNvPr id="42" name="object 39">
              <a:extLst>
                <a:ext uri="{FF2B5EF4-FFF2-40B4-BE49-F238E27FC236}">
                  <a16:creationId xmlns:a16="http://schemas.microsoft.com/office/drawing/2014/main" id="{D1F6C52D-36C8-9189-D494-5F4102481D46}"/>
                </a:ext>
              </a:extLst>
            </p:cNvPr>
            <p:cNvSpPr/>
            <p:nvPr/>
          </p:nvSpPr>
          <p:spPr>
            <a:xfrm>
              <a:off x="6707123" y="2876607"/>
              <a:ext cx="2618105" cy="257175"/>
            </a:xfrm>
            <a:custGeom>
              <a:avLst/>
              <a:gdLst/>
              <a:ahLst/>
              <a:cxnLst/>
              <a:rect l="l" t="t" r="r" b="b"/>
              <a:pathLst>
                <a:path w="2618104" h="257175">
                  <a:moveTo>
                    <a:pt x="224585" y="0"/>
                  </a:moveTo>
                  <a:lnTo>
                    <a:pt x="213868" y="3625"/>
                  </a:lnTo>
                  <a:lnTo>
                    <a:pt x="0" y="128339"/>
                  </a:lnTo>
                  <a:lnTo>
                    <a:pt x="213868" y="253053"/>
                  </a:lnTo>
                  <a:lnTo>
                    <a:pt x="224585" y="256732"/>
                  </a:lnTo>
                  <a:lnTo>
                    <a:pt x="235505" y="256006"/>
                  </a:lnTo>
                  <a:lnTo>
                    <a:pt x="245354" y="251231"/>
                  </a:lnTo>
                  <a:lnTo>
                    <a:pt x="252856" y="242766"/>
                  </a:lnTo>
                  <a:lnTo>
                    <a:pt x="256553" y="232046"/>
                  </a:lnTo>
                  <a:lnTo>
                    <a:pt x="255857" y="221112"/>
                  </a:lnTo>
                  <a:lnTo>
                    <a:pt x="251088" y="211226"/>
                  </a:lnTo>
                  <a:lnTo>
                    <a:pt x="242570" y="203650"/>
                  </a:lnTo>
                  <a:lnTo>
                    <a:pt x="162400" y="156914"/>
                  </a:lnTo>
                  <a:lnTo>
                    <a:pt x="56769" y="156914"/>
                  </a:lnTo>
                  <a:lnTo>
                    <a:pt x="56769" y="99764"/>
                  </a:lnTo>
                  <a:lnTo>
                    <a:pt x="162501" y="99764"/>
                  </a:lnTo>
                  <a:lnTo>
                    <a:pt x="242570" y="53028"/>
                  </a:lnTo>
                  <a:lnTo>
                    <a:pt x="251088" y="45469"/>
                  </a:lnTo>
                  <a:lnTo>
                    <a:pt x="255857" y="35613"/>
                  </a:lnTo>
                  <a:lnTo>
                    <a:pt x="256553" y="24685"/>
                  </a:lnTo>
                  <a:lnTo>
                    <a:pt x="252856" y="13912"/>
                  </a:lnTo>
                  <a:lnTo>
                    <a:pt x="245354" y="5464"/>
                  </a:lnTo>
                  <a:lnTo>
                    <a:pt x="235505" y="720"/>
                  </a:lnTo>
                  <a:lnTo>
                    <a:pt x="224585" y="0"/>
                  </a:lnTo>
                  <a:close/>
                </a:path>
                <a:path w="2618104" h="257175">
                  <a:moveTo>
                    <a:pt x="162501" y="99764"/>
                  </a:moveTo>
                  <a:lnTo>
                    <a:pt x="56769" y="99764"/>
                  </a:lnTo>
                  <a:lnTo>
                    <a:pt x="56769" y="156914"/>
                  </a:lnTo>
                  <a:lnTo>
                    <a:pt x="162400" y="156914"/>
                  </a:lnTo>
                  <a:lnTo>
                    <a:pt x="155864" y="153104"/>
                  </a:lnTo>
                  <a:lnTo>
                    <a:pt x="71120" y="153104"/>
                  </a:lnTo>
                  <a:lnTo>
                    <a:pt x="71120" y="103701"/>
                  </a:lnTo>
                  <a:lnTo>
                    <a:pt x="155757" y="103701"/>
                  </a:lnTo>
                  <a:lnTo>
                    <a:pt x="162501" y="99764"/>
                  </a:lnTo>
                  <a:close/>
                </a:path>
                <a:path w="2618104" h="257175">
                  <a:moveTo>
                    <a:pt x="2617724" y="99764"/>
                  </a:moveTo>
                  <a:lnTo>
                    <a:pt x="162501" y="99764"/>
                  </a:lnTo>
                  <a:lnTo>
                    <a:pt x="113465" y="128387"/>
                  </a:lnTo>
                  <a:lnTo>
                    <a:pt x="162400" y="156914"/>
                  </a:lnTo>
                  <a:lnTo>
                    <a:pt x="2617724" y="156914"/>
                  </a:lnTo>
                  <a:lnTo>
                    <a:pt x="2617724" y="99764"/>
                  </a:lnTo>
                  <a:close/>
                </a:path>
                <a:path w="2618104" h="257175">
                  <a:moveTo>
                    <a:pt x="71120" y="103701"/>
                  </a:moveTo>
                  <a:lnTo>
                    <a:pt x="71120" y="153104"/>
                  </a:lnTo>
                  <a:lnTo>
                    <a:pt x="113465" y="128387"/>
                  </a:lnTo>
                  <a:lnTo>
                    <a:pt x="71120" y="103701"/>
                  </a:lnTo>
                  <a:close/>
                </a:path>
                <a:path w="2618104" h="257175">
                  <a:moveTo>
                    <a:pt x="113465" y="128387"/>
                  </a:moveTo>
                  <a:lnTo>
                    <a:pt x="71120" y="153104"/>
                  </a:lnTo>
                  <a:lnTo>
                    <a:pt x="155864" y="153104"/>
                  </a:lnTo>
                  <a:lnTo>
                    <a:pt x="113465" y="128387"/>
                  </a:lnTo>
                  <a:close/>
                </a:path>
                <a:path w="2618104" h="257175">
                  <a:moveTo>
                    <a:pt x="155757" y="103701"/>
                  </a:moveTo>
                  <a:lnTo>
                    <a:pt x="71120" y="103701"/>
                  </a:lnTo>
                  <a:lnTo>
                    <a:pt x="113465" y="128387"/>
                  </a:lnTo>
                  <a:lnTo>
                    <a:pt x="155757" y="103701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0">
              <a:extLst>
                <a:ext uri="{FF2B5EF4-FFF2-40B4-BE49-F238E27FC236}">
                  <a16:creationId xmlns:a16="http://schemas.microsoft.com/office/drawing/2014/main" id="{E222DBA9-CEA7-1469-E858-B3F2FCFE3262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35523" y="842772"/>
              <a:ext cx="1921764" cy="1033272"/>
            </a:xfrm>
            <a:prstGeom prst="rect">
              <a:avLst/>
            </a:prstGeom>
          </p:spPr>
        </p:pic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3EE892D9-37A8-6F0C-F844-33D9707FB6E9}"/>
                </a:ext>
              </a:extLst>
            </p:cNvPr>
            <p:cNvSpPr/>
            <p:nvPr/>
          </p:nvSpPr>
          <p:spPr>
            <a:xfrm>
              <a:off x="5383656" y="867410"/>
              <a:ext cx="1826895" cy="938530"/>
            </a:xfrm>
            <a:custGeom>
              <a:avLst/>
              <a:gdLst/>
              <a:ahLst/>
              <a:cxnLst/>
              <a:rect l="l" t="t" r="r" b="b"/>
              <a:pathLst>
                <a:path w="1826895" h="938530">
                  <a:moveTo>
                    <a:pt x="1250568" y="0"/>
                  </a:moveTo>
                  <a:lnTo>
                    <a:pt x="969137" y="188594"/>
                  </a:lnTo>
                  <a:lnTo>
                    <a:pt x="822070" y="81914"/>
                  </a:lnTo>
                  <a:lnTo>
                    <a:pt x="723010" y="277240"/>
                  </a:lnTo>
                  <a:lnTo>
                    <a:pt x="380745" y="157479"/>
                  </a:lnTo>
                  <a:lnTo>
                    <a:pt x="454278" y="339598"/>
                  </a:lnTo>
                  <a:lnTo>
                    <a:pt x="99187" y="359282"/>
                  </a:lnTo>
                  <a:lnTo>
                    <a:pt x="332739" y="503681"/>
                  </a:lnTo>
                  <a:lnTo>
                    <a:pt x="0" y="559562"/>
                  </a:lnTo>
                  <a:lnTo>
                    <a:pt x="281558" y="667892"/>
                  </a:lnTo>
                  <a:lnTo>
                    <a:pt x="108712" y="774573"/>
                  </a:lnTo>
                  <a:lnTo>
                    <a:pt x="406272" y="792606"/>
                  </a:lnTo>
                  <a:lnTo>
                    <a:pt x="415797" y="938529"/>
                  </a:lnTo>
                  <a:lnTo>
                    <a:pt x="636523" y="787526"/>
                  </a:lnTo>
                  <a:lnTo>
                    <a:pt x="735710" y="856488"/>
                  </a:lnTo>
                  <a:lnTo>
                    <a:pt x="834770" y="754761"/>
                  </a:lnTo>
                  <a:lnTo>
                    <a:pt x="981837" y="818768"/>
                  </a:lnTo>
                  <a:lnTo>
                    <a:pt x="1029842" y="692403"/>
                  </a:lnTo>
                  <a:lnTo>
                    <a:pt x="1263395" y="754761"/>
                  </a:lnTo>
                  <a:lnTo>
                    <a:pt x="1237868" y="623569"/>
                  </a:lnTo>
                  <a:lnTo>
                    <a:pt x="1596136" y="679195"/>
                  </a:lnTo>
                  <a:lnTo>
                    <a:pt x="1385062" y="534924"/>
                  </a:lnTo>
                  <a:lnTo>
                    <a:pt x="1544827" y="490600"/>
                  </a:lnTo>
                  <a:lnTo>
                    <a:pt x="1436115" y="408559"/>
                  </a:lnTo>
                  <a:lnTo>
                    <a:pt x="1826387" y="288670"/>
                  </a:lnTo>
                  <a:lnTo>
                    <a:pt x="1385062" y="283844"/>
                  </a:lnTo>
                  <a:lnTo>
                    <a:pt x="1522602" y="137794"/>
                  </a:lnTo>
                  <a:lnTo>
                    <a:pt x="1228216" y="250951"/>
                  </a:lnTo>
                  <a:lnTo>
                    <a:pt x="1250568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2">
              <a:extLst>
                <a:ext uri="{FF2B5EF4-FFF2-40B4-BE49-F238E27FC236}">
                  <a16:creationId xmlns:a16="http://schemas.microsoft.com/office/drawing/2014/main" id="{E06517EF-99D1-6D8C-5BFE-3EA0B0A34645}"/>
                </a:ext>
              </a:extLst>
            </p:cNvPr>
            <p:cNvSpPr/>
            <p:nvPr/>
          </p:nvSpPr>
          <p:spPr>
            <a:xfrm>
              <a:off x="5383656" y="867410"/>
              <a:ext cx="1826895" cy="938530"/>
            </a:xfrm>
            <a:custGeom>
              <a:avLst/>
              <a:gdLst/>
              <a:ahLst/>
              <a:cxnLst/>
              <a:rect l="l" t="t" r="r" b="b"/>
              <a:pathLst>
                <a:path w="1826895" h="938530">
                  <a:moveTo>
                    <a:pt x="969137" y="188594"/>
                  </a:moveTo>
                  <a:lnTo>
                    <a:pt x="1250568" y="0"/>
                  </a:lnTo>
                  <a:lnTo>
                    <a:pt x="1228216" y="250951"/>
                  </a:lnTo>
                  <a:lnTo>
                    <a:pt x="1522602" y="137794"/>
                  </a:lnTo>
                  <a:lnTo>
                    <a:pt x="1385062" y="283844"/>
                  </a:lnTo>
                  <a:lnTo>
                    <a:pt x="1826387" y="288670"/>
                  </a:lnTo>
                  <a:lnTo>
                    <a:pt x="1436115" y="408559"/>
                  </a:lnTo>
                  <a:lnTo>
                    <a:pt x="1544827" y="490600"/>
                  </a:lnTo>
                  <a:lnTo>
                    <a:pt x="1385062" y="534924"/>
                  </a:lnTo>
                  <a:lnTo>
                    <a:pt x="1596136" y="679195"/>
                  </a:lnTo>
                  <a:lnTo>
                    <a:pt x="1237868" y="623569"/>
                  </a:lnTo>
                  <a:lnTo>
                    <a:pt x="1263395" y="754761"/>
                  </a:lnTo>
                  <a:lnTo>
                    <a:pt x="1029842" y="692403"/>
                  </a:lnTo>
                  <a:lnTo>
                    <a:pt x="981837" y="818768"/>
                  </a:lnTo>
                  <a:lnTo>
                    <a:pt x="834770" y="754761"/>
                  </a:lnTo>
                  <a:lnTo>
                    <a:pt x="735710" y="856488"/>
                  </a:lnTo>
                  <a:lnTo>
                    <a:pt x="636523" y="787526"/>
                  </a:lnTo>
                  <a:lnTo>
                    <a:pt x="415797" y="938529"/>
                  </a:lnTo>
                  <a:lnTo>
                    <a:pt x="406272" y="792606"/>
                  </a:lnTo>
                  <a:lnTo>
                    <a:pt x="108712" y="774573"/>
                  </a:lnTo>
                  <a:lnTo>
                    <a:pt x="281558" y="667892"/>
                  </a:lnTo>
                  <a:lnTo>
                    <a:pt x="0" y="559562"/>
                  </a:lnTo>
                  <a:lnTo>
                    <a:pt x="332739" y="503681"/>
                  </a:lnTo>
                  <a:lnTo>
                    <a:pt x="99187" y="359282"/>
                  </a:lnTo>
                  <a:lnTo>
                    <a:pt x="454278" y="339598"/>
                  </a:lnTo>
                  <a:lnTo>
                    <a:pt x="380745" y="157479"/>
                  </a:lnTo>
                  <a:lnTo>
                    <a:pt x="723010" y="277240"/>
                  </a:lnTo>
                  <a:lnTo>
                    <a:pt x="822070" y="81914"/>
                  </a:lnTo>
                  <a:lnTo>
                    <a:pt x="969137" y="18859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3">
            <a:extLst>
              <a:ext uri="{FF2B5EF4-FFF2-40B4-BE49-F238E27FC236}">
                <a16:creationId xmlns:a16="http://schemas.microsoft.com/office/drawing/2014/main" id="{0F84A048-1410-B2C8-1443-09792441062D}"/>
              </a:ext>
            </a:extLst>
          </p:cNvPr>
          <p:cNvSpPr txBox="1"/>
          <p:nvPr/>
        </p:nvSpPr>
        <p:spPr>
          <a:xfrm>
            <a:off x="5847333" y="1200036"/>
            <a:ext cx="5911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H</a:t>
            </a:r>
            <a:r>
              <a:rPr sz="3200" b="1" spc="-15" dirty="0">
                <a:latin typeface="Calibri"/>
                <a:cs typeface="Calibri"/>
              </a:rPr>
              <a:t>I</a:t>
            </a:r>
            <a:r>
              <a:rPr sz="3200" b="1" dirty="0">
                <a:latin typeface="Calibri"/>
                <a:cs typeface="Calibri"/>
              </a:rPr>
              <a:t>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7" name="object 44">
            <a:extLst>
              <a:ext uri="{FF2B5EF4-FFF2-40B4-BE49-F238E27FC236}">
                <a16:creationId xmlns:a16="http://schemas.microsoft.com/office/drawing/2014/main" id="{759BF0F5-3688-D95B-4C2A-FF6D52BF0588}"/>
              </a:ext>
            </a:extLst>
          </p:cNvPr>
          <p:cNvSpPr txBox="1"/>
          <p:nvPr/>
        </p:nvSpPr>
        <p:spPr>
          <a:xfrm>
            <a:off x="3604640" y="2747673"/>
            <a:ext cx="659765" cy="203009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algn="just">
              <a:lnSpc>
                <a:spcPct val="135300"/>
              </a:lnSpc>
              <a:spcBef>
                <a:spcPts val="300"/>
              </a:spcBef>
            </a:pPr>
            <a:r>
              <a:rPr sz="3200" b="1" dirty="0">
                <a:latin typeface="Calibri"/>
                <a:cs typeface="Calibri"/>
              </a:rPr>
              <a:t>X+2  X+1  X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7190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811E3-F3B4-4A0C-D027-CD2009C3E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Prefetch Degree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D959E-9DD2-FD41-E101-638ED0F8D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32504-C80C-8AAA-BB89-950D4A17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15</a:t>
            </a:fld>
            <a:endParaRPr lang="en-IN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47473708-AF77-6C53-111F-46DA03D05BAF}"/>
              </a:ext>
            </a:extLst>
          </p:cNvPr>
          <p:cNvGrpSpPr/>
          <p:nvPr/>
        </p:nvGrpSpPr>
        <p:grpSpPr>
          <a:xfrm>
            <a:off x="222250" y="1386256"/>
            <a:ext cx="11747500" cy="1003300"/>
            <a:chOff x="222250" y="1136650"/>
            <a:chExt cx="11747500" cy="1003300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5D24ADAD-AA08-E4E1-E237-203AB9BD4377}"/>
                </a:ext>
              </a:extLst>
            </p:cNvPr>
            <p:cNvSpPr/>
            <p:nvPr/>
          </p:nvSpPr>
          <p:spPr>
            <a:xfrm>
              <a:off x="228600" y="11430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115697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11569700" y="990600"/>
                  </a:lnTo>
                  <a:lnTo>
                    <a:pt x="11613591" y="984702"/>
                  </a:lnTo>
                  <a:lnTo>
                    <a:pt x="11653030" y="968059"/>
                  </a:lnTo>
                  <a:lnTo>
                    <a:pt x="11686444" y="942244"/>
                  </a:lnTo>
                  <a:lnTo>
                    <a:pt x="11712259" y="908830"/>
                  </a:lnTo>
                  <a:lnTo>
                    <a:pt x="11728902" y="869391"/>
                  </a:lnTo>
                  <a:lnTo>
                    <a:pt x="11734800" y="825500"/>
                  </a:lnTo>
                  <a:lnTo>
                    <a:pt x="11734800" y="165100"/>
                  </a:lnTo>
                  <a:lnTo>
                    <a:pt x="11728902" y="121208"/>
                  </a:lnTo>
                  <a:lnTo>
                    <a:pt x="11712259" y="81769"/>
                  </a:lnTo>
                  <a:lnTo>
                    <a:pt x="11686444" y="48355"/>
                  </a:lnTo>
                  <a:lnTo>
                    <a:pt x="11653030" y="22540"/>
                  </a:lnTo>
                  <a:lnTo>
                    <a:pt x="11613591" y="5897"/>
                  </a:lnTo>
                  <a:lnTo>
                    <a:pt x="115697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2593760B-DF32-CCE6-3B2B-B760C9C80BC1}"/>
                </a:ext>
              </a:extLst>
            </p:cNvPr>
            <p:cNvSpPr/>
            <p:nvPr/>
          </p:nvSpPr>
          <p:spPr>
            <a:xfrm>
              <a:off x="228600" y="11430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11569700" y="0"/>
                  </a:lnTo>
                  <a:lnTo>
                    <a:pt x="11613591" y="5897"/>
                  </a:lnTo>
                  <a:lnTo>
                    <a:pt x="11653030" y="22540"/>
                  </a:lnTo>
                  <a:lnTo>
                    <a:pt x="11686444" y="48355"/>
                  </a:lnTo>
                  <a:lnTo>
                    <a:pt x="11712259" y="81769"/>
                  </a:lnTo>
                  <a:lnTo>
                    <a:pt x="11728902" y="121208"/>
                  </a:lnTo>
                  <a:lnTo>
                    <a:pt x="11734800" y="165100"/>
                  </a:lnTo>
                  <a:lnTo>
                    <a:pt x="11734800" y="825500"/>
                  </a:lnTo>
                  <a:lnTo>
                    <a:pt x="11728902" y="869391"/>
                  </a:lnTo>
                  <a:lnTo>
                    <a:pt x="11712259" y="908830"/>
                  </a:lnTo>
                  <a:lnTo>
                    <a:pt x="11686444" y="942244"/>
                  </a:lnTo>
                  <a:lnTo>
                    <a:pt x="11653030" y="968059"/>
                  </a:lnTo>
                  <a:lnTo>
                    <a:pt x="11613591" y="984702"/>
                  </a:lnTo>
                  <a:lnTo>
                    <a:pt x="115697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6">
            <a:extLst>
              <a:ext uri="{FF2B5EF4-FFF2-40B4-BE49-F238E27FC236}">
                <a16:creationId xmlns:a16="http://schemas.microsoft.com/office/drawing/2014/main" id="{E7CB3681-851A-F274-C108-70BFBFA53179}"/>
              </a:ext>
            </a:extLst>
          </p:cNvPr>
          <p:cNvSpPr txBox="1"/>
          <p:nvPr/>
        </p:nvSpPr>
        <p:spPr>
          <a:xfrm>
            <a:off x="523443" y="1652955"/>
            <a:ext cx="105473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solidFill>
                  <a:srgbClr val="C00000"/>
                </a:solidFill>
                <a:latin typeface="Cambria"/>
                <a:cs typeface="Cambria"/>
              </a:rPr>
              <a:t>Prefetch</a:t>
            </a:r>
            <a:r>
              <a:rPr sz="2800" spc="-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Cambria"/>
                <a:cs typeface="Cambria"/>
              </a:rPr>
              <a:t>Degree:</a:t>
            </a:r>
            <a:r>
              <a:rPr sz="2800" spc="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Number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 </a:t>
            </a:r>
            <a:r>
              <a:rPr sz="2800" spc="-15" dirty="0">
                <a:latin typeface="Cambria"/>
                <a:cs typeface="Cambria"/>
              </a:rPr>
              <a:t>prefetch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requests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to</a:t>
            </a:r>
            <a:r>
              <a:rPr sz="2800" spc="-5" dirty="0">
                <a:latin typeface="Cambria"/>
                <a:cs typeface="Cambria"/>
              </a:rPr>
              <a:t> issue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at a </a:t>
            </a:r>
            <a:r>
              <a:rPr sz="2800" spc="-30" dirty="0">
                <a:latin typeface="Cambria"/>
                <a:cs typeface="Cambria"/>
              </a:rPr>
              <a:t>given</a:t>
            </a:r>
            <a:r>
              <a:rPr sz="2800" spc="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time.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7CCC5EA4-DF41-16EF-FCF6-043E506E693F}"/>
              </a:ext>
            </a:extLst>
          </p:cNvPr>
          <p:cNvSpPr/>
          <p:nvPr/>
        </p:nvSpPr>
        <p:spPr>
          <a:xfrm>
            <a:off x="2024379" y="2842145"/>
            <a:ext cx="1224280" cy="556260"/>
          </a:xfrm>
          <a:custGeom>
            <a:avLst/>
            <a:gdLst/>
            <a:ahLst/>
            <a:cxnLst/>
            <a:rect l="l" t="t" r="r" b="b"/>
            <a:pathLst>
              <a:path w="1224280" h="556260">
                <a:moveTo>
                  <a:pt x="0" y="556171"/>
                </a:moveTo>
                <a:lnTo>
                  <a:pt x="1224140" y="556171"/>
                </a:lnTo>
                <a:lnTo>
                  <a:pt x="1224140" y="0"/>
                </a:lnTo>
                <a:lnTo>
                  <a:pt x="0" y="0"/>
                </a:lnTo>
                <a:lnTo>
                  <a:pt x="0" y="556171"/>
                </a:lnTo>
                <a:close/>
              </a:path>
            </a:pathLst>
          </a:custGeom>
          <a:ln w="50800">
            <a:solidFill>
              <a:srgbClr val="62242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B1F9C8E0-DA92-B275-CD35-844955E711A9}"/>
              </a:ext>
            </a:extLst>
          </p:cNvPr>
          <p:cNvSpPr txBox="1"/>
          <p:nvPr/>
        </p:nvSpPr>
        <p:spPr>
          <a:xfrm>
            <a:off x="2500122" y="2871901"/>
            <a:ext cx="354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libri"/>
                <a:cs typeface="Calibri"/>
              </a:rPr>
              <a:t>L2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75BC2F48-FEBA-E01B-1006-CFE854E040A8}"/>
              </a:ext>
            </a:extLst>
          </p:cNvPr>
          <p:cNvSpPr/>
          <p:nvPr/>
        </p:nvSpPr>
        <p:spPr>
          <a:xfrm>
            <a:off x="1592325" y="4273601"/>
            <a:ext cx="2075180" cy="498475"/>
          </a:xfrm>
          <a:custGeom>
            <a:avLst/>
            <a:gdLst/>
            <a:ahLst/>
            <a:cxnLst/>
            <a:rect l="l" t="t" r="r" b="b"/>
            <a:pathLst>
              <a:path w="2075179" h="498475">
                <a:moveTo>
                  <a:pt x="0" y="498474"/>
                </a:moveTo>
                <a:lnTo>
                  <a:pt x="2074926" y="498474"/>
                </a:lnTo>
                <a:lnTo>
                  <a:pt x="2074926" y="0"/>
                </a:lnTo>
                <a:lnTo>
                  <a:pt x="0" y="0"/>
                </a:lnTo>
                <a:lnTo>
                  <a:pt x="0" y="498474"/>
                </a:lnTo>
                <a:close/>
              </a:path>
            </a:pathLst>
          </a:custGeom>
          <a:ln w="50800">
            <a:solidFill>
              <a:srgbClr val="62242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041538E6-8343-D9ED-6B9A-C5BB33CDB93E}"/>
              </a:ext>
            </a:extLst>
          </p:cNvPr>
          <p:cNvSpPr txBox="1"/>
          <p:nvPr/>
        </p:nvSpPr>
        <p:spPr>
          <a:xfrm>
            <a:off x="1923414" y="4274871"/>
            <a:ext cx="14128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L3/D</a:t>
            </a:r>
            <a:r>
              <a:rPr sz="280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AM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C862FC59-3212-2360-C485-2CFD8B7788F2}"/>
              </a:ext>
            </a:extLst>
          </p:cNvPr>
          <p:cNvSpPr/>
          <p:nvPr/>
        </p:nvSpPr>
        <p:spPr>
          <a:xfrm>
            <a:off x="2564257" y="3398189"/>
            <a:ext cx="137795" cy="875665"/>
          </a:xfrm>
          <a:custGeom>
            <a:avLst/>
            <a:gdLst/>
            <a:ahLst/>
            <a:cxnLst/>
            <a:rect l="l" t="t" r="r" b="b"/>
            <a:pathLst>
              <a:path w="137794" h="875664">
                <a:moveTo>
                  <a:pt x="16129" y="744727"/>
                </a:moveTo>
                <a:lnTo>
                  <a:pt x="9270" y="748538"/>
                </a:lnTo>
                <a:lnTo>
                  <a:pt x="2412" y="752474"/>
                </a:lnTo>
                <a:lnTo>
                  <a:pt x="0" y="761238"/>
                </a:lnTo>
                <a:lnTo>
                  <a:pt x="65531" y="875410"/>
                </a:lnTo>
                <a:lnTo>
                  <a:pt x="82253" y="847216"/>
                </a:lnTo>
                <a:lnTo>
                  <a:pt x="80010" y="847216"/>
                </a:lnTo>
                <a:lnTo>
                  <a:pt x="51435" y="846963"/>
                </a:lnTo>
                <a:lnTo>
                  <a:pt x="51836" y="794195"/>
                </a:lnTo>
                <a:lnTo>
                  <a:pt x="24765" y="747013"/>
                </a:lnTo>
                <a:lnTo>
                  <a:pt x="16129" y="744727"/>
                </a:lnTo>
                <a:close/>
              </a:path>
              <a:path w="137794" h="875664">
                <a:moveTo>
                  <a:pt x="51836" y="794195"/>
                </a:moveTo>
                <a:lnTo>
                  <a:pt x="51435" y="846963"/>
                </a:lnTo>
                <a:lnTo>
                  <a:pt x="80010" y="847216"/>
                </a:lnTo>
                <a:lnTo>
                  <a:pt x="80065" y="839977"/>
                </a:lnTo>
                <a:lnTo>
                  <a:pt x="53467" y="839851"/>
                </a:lnTo>
                <a:lnTo>
                  <a:pt x="65944" y="818784"/>
                </a:lnTo>
                <a:lnTo>
                  <a:pt x="51836" y="794195"/>
                </a:lnTo>
                <a:close/>
              </a:path>
              <a:path w="137794" h="875664">
                <a:moveTo>
                  <a:pt x="116840" y="745489"/>
                </a:moveTo>
                <a:lnTo>
                  <a:pt x="108076" y="747648"/>
                </a:lnTo>
                <a:lnTo>
                  <a:pt x="80411" y="794358"/>
                </a:lnTo>
                <a:lnTo>
                  <a:pt x="80010" y="847216"/>
                </a:lnTo>
                <a:lnTo>
                  <a:pt x="82253" y="847216"/>
                </a:lnTo>
                <a:lnTo>
                  <a:pt x="128650" y="768984"/>
                </a:lnTo>
                <a:lnTo>
                  <a:pt x="132715" y="762253"/>
                </a:lnTo>
                <a:lnTo>
                  <a:pt x="130429" y="753490"/>
                </a:lnTo>
                <a:lnTo>
                  <a:pt x="123698" y="749426"/>
                </a:lnTo>
                <a:lnTo>
                  <a:pt x="116840" y="745489"/>
                </a:lnTo>
                <a:close/>
              </a:path>
              <a:path w="137794" h="875664">
                <a:moveTo>
                  <a:pt x="65944" y="818784"/>
                </a:moveTo>
                <a:lnTo>
                  <a:pt x="53467" y="839851"/>
                </a:lnTo>
                <a:lnTo>
                  <a:pt x="78105" y="839977"/>
                </a:lnTo>
                <a:lnTo>
                  <a:pt x="65944" y="818784"/>
                </a:lnTo>
                <a:close/>
              </a:path>
              <a:path w="137794" h="875664">
                <a:moveTo>
                  <a:pt x="80411" y="794358"/>
                </a:moveTo>
                <a:lnTo>
                  <a:pt x="65944" y="818784"/>
                </a:lnTo>
                <a:lnTo>
                  <a:pt x="78105" y="839977"/>
                </a:lnTo>
                <a:lnTo>
                  <a:pt x="80065" y="839977"/>
                </a:lnTo>
                <a:lnTo>
                  <a:pt x="80411" y="794358"/>
                </a:lnTo>
                <a:close/>
              </a:path>
              <a:path w="137794" h="875664">
                <a:moveTo>
                  <a:pt x="71693" y="56752"/>
                </a:moveTo>
                <a:lnTo>
                  <a:pt x="57257" y="81066"/>
                </a:lnTo>
                <a:lnTo>
                  <a:pt x="52034" y="768095"/>
                </a:lnTo>
                <a:lnTo>
                  <a:pt x="51929" y="794358"/>
                </a:lnTo>
                <a:lnTo>
                  <a:pt x="65944" y="818784"/>
                </a:lnTo>
                <a:lnTo>
                  <a:pt x="80411" y="794358"/>
                </a:lnTo>
                <a:lnTo>
                  <a:pt x="85831" y="81450"/>
                </a:lnTo>
                <a:lnTo>
                  <a:pt x="71693" y="56752"/>
                </a:lnTo>
                <a:close/>
              </a:path>
              <a:path w="137794" h="875664">
                <a:moveTo>
                  <a:pt x="88372" y="28320"/>
                </a:moveTo>
                <a:lnTo>
                  <a:pt x="57657" y="28320"/>
                </a:lnTo>
                <a:lnTo>
                  <a:pt x="86232" y="28575"/>
                </a:lnTo>
                <a:lnTo>
                  <a:pt x="85831" y="81450"/>
                </a:lnTo>
                <a:lnTo>
                  <a:pt x="112775" y="128524"/>
                </a:lnTo>
                <a:lnTo>
                  <a:pt x="121538" y="130810"/>
                </a:lnTo>
                <a:lnTo>
                  <a:pt x="135255" y="122936"/>
                </a:lnTo>
                <a:lnTo>
                  <a:pt x="137541" y="114300"/>
                </a:lnTo>
                <a:lnTo>
                  <a:pt x="133731" y="107441"/>
                </a:lnTo>
                <a:lnTo>
                  <a:pt x="88372" y="28320"/>
                </a:lnTo>
                <a:close/>
              </a:path>
              <a:path w="137794" h="875664">
                <a:moveTo>
                  <a:pt x="72136" y="0"/>
                </a:moveTo>
                <a:lnTo>
                  <a:pt x="4953" y="113283"/>
                </a:lnTo>
                <a:lnTo>
                  <a:pt x="7238" y="122046"/>
                </a:lnTo>
                <a:lnTo>
                  <a:pt x="20828" y="130048"/>
                </a:lnTo>
                <a:lnTo>
                  <a:pt x="29591" y="127888"/>
                </a:lnTo>
                <a:lnTo>
                  <a:pt x="33528" y="121030"/>
                </a:lnTo>
                <a:lnTo>
                  <a:pt x="57257" y="81066"/>
                </a:lnTo>
                <a:lnTo>
                  <a:pt x="57657" y="28320"/>
                </a:lnTo>
                <a:lnTo>
                  <a:pt x="88372" y="28320"/>
                </a:lnTo>
                <a:lnTo>
                  <a:pt x="72136" y="0"/>
                </a:lnTo>
                <a:close/>
              </a:path>
              <a:path w="137794" h="875664">
                <a:moveTo>
                  <a:pt x="86179" y="35560"/>
                </a:moveTo>
                <a:lnTo>
                  <a:pt x="59562" y="35560"/>
                </a:lnTo>
                <a:lnTo>
                  <a:pt x="84200" y="35687"/>
                </a:lnTo>
                <a:lnTo>
                  <a:pt x="71693" y="56752"/>
                </a:lnTo>
                <a:lnTo>
                  <a:pt x="85831" y="81450"/>
                </a:lnTo>
                <a:lnTo>
                  <a:pt x="86179" y="35560"/>
                </a:lnTo>
                <a:close/>
              </a:path>
              <a:path w="137794" h="875664">
                <a:moveTo>
                  <a:pt x="57657" y="28320"/>
                </a:moveTo>
                <a:lnTo>
                  <a:pt x="57257" y="81066"/>
                </a:lnTo>
                <a:lnTo>
                  <a:pt x="71693" y="56752"/>
                </a:lnTo>
                <a:lnTo>
                  <a:pt x="59562" y="35560"/>
                </a:lnTo>
                <a:lnTo>
                  <a:pt x="86179" y="35560"/>
                </a:lnTo>
                <a:lnTo>
                  <a:pt x="86232" y="28575"/>
                </a:lnTo>
                <a:lnTo>
                  <a:pt x="57657" y="28320"/>
                </a:lnTo>
                <a:close/>
              </a:path>
              <a:path w="137794" h="875664">
                <a:moveTo>
                  <a:pt x="59562" y="35560"/>
                </a:moveTo>
                <a:lnTo>
                  <a:pt x="71693" y="56752"/>
                </a:lnTo>
                <a:lnTo>
                  <a:pt x="84200" y="35687"/>
                </a:lnTo>
                <a:lnTo>
                  <a:pt x="59562" y="3556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7CE9B0BC-14EE-3F7C-1477-EA17999E9515}"/>
              </a:ext>
            </a:extLst>
          </p:cNvPr>
          <p:cNvSpPr txBox="1"/>
          <p:nvPr/>
        </p:nvSpPr>
        <p:spPr>
          <a:xfrm>
            <a:off x="6550914" y="3728783"/>
            <a:ext cx="1882139" cy="395605"/>
          </a:xfrm>
          <a:prstGeom prst="rect">
            <a:avLst/>
          </a:prstGeom>
          <a:ln w="50800">
            <a:solidFill>
              <a:srgbClr val="62242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135">
              <a:lnSpc>
                <a:spcPts val="3060"/>
              </a:lnSpc>
            </a:pPr>
            <a:r>
              <a:rPr sz="2800" spc="-25" dirty="0">
                <a:latin typeface="Calibri"/>
                <a:cs typeface="Calibri"/>
              </a:rPr>
              <a:t>Prefetcher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6" name="object 13">
            <a:extLst>
              <a:ext uri="{FF2B5EF4-FFF2-40B4-BE49-F238E27FC236}">
                <a16:creationId xmlns:a16="http://schemas.microsoft.com/office/drawing/2014/main" id="{7C575A6A-8A0B-3883-B50E-4A473E9363BB}"/>
              </a:ext>
            </a:extLst>
          </p:cNvPr>
          <p:cNvGrpSpPr/>
          <p:nvPr/>
        </p:nvGrpSpPr>
        <p:grpSpPr>
          <a:xfrm>
            <a:off x="2581020" y="2604058"/>
            <a:ext cx="4136390" cy="2538095"/>
            <a:chOff x="2581020" y="2354452"/>
            <a:chExt cx="4136390" cy="2538095"/>
          </a:xfrm>
        </p:grpSpPr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F742D508-4D64-9B18-B948-25B689B3D627}"/>
                </a:ext>
              </a:extLst>
            </p:cNvPr>
            <p:cNvSpPr/>
            <p:nvPr/>
          </p:nvSpPr>
          <p:spPr>
            <a:xfrm>
              <a:off x="2581020" y="2354452"/>
              <a:ext cx="3970020" cy="2538095"/>
            </a:xfrm>
            <a:custGeom>
              <a:avLst/>
              <a:gdLst/>
              <a:ahLst/>
              <a:cxnLst/>
              <a:rect l="l" t="t" r="r" b="b"/>
              <a:pathLst>
                <a:path w="3970020" h="2538095">
                  <a:moveTo>
                    <a:pt x="3969893" y="2518537"/>
                  </a:moveTo>
                  <a:lnTo>
                    <a:pt x="3912743" y="2518537"/>
                  </a:lnTo>
                  <a:lnTo>
                    <a:pt x="3912743" y="2537587"/>
                  </a:lnTo>
                  <a:lnTo>
                    <a:pt x="3969893" y="2537587"/>
                  </a:lnTo>
                  <a:lnTo>
                    <a:pt x="3969893" y="2518537"/>
                  </a:lnTo>
                  <a:close/>
                </a:path>
                <a:path w="3970020" h="2538095">
                  <a:moveTo>
                    <a:pt x="3893693" y="2518537"/>
                  </a:moveTo>
                  <a:lnTo>
                    <a:pt x="3836543" y="2518537"/>
                  </a:lnTo>
                  <a:lnTo>
                    <a:pt x="3836543" y="2537587"/>
                  </a:lnTo>
                  <a:lnTo>
                    <a:pt x="3893693" y="2537587"/>
                  </a:lnTo>
                  <a:lnTo>
                    <a:pt x="3893693" y="2518537"/>
                  </a:lnTo>
                  <a:close/>
                </a:path>
                <a:path w="3970020" h="2538095">
                  <a:moveTo>
                    <a:pt x="3817493" y="2518537"/>
                  </a:moveTo>
                  <a:lnTo>
                    <a:pt x="3760343" y="2518537"/>
                  </a:lnTo>
                  <a:lnTo>
                    <a:pt x="3760343" y="2537587"/>
                  </a:lnTo>
                  <a:lnTo>
                    <a:pt x="3817493" y="2537587"/>
                  </a:lnTo>
                  <a:lnTo>
                    <a:pt x="3817493" y="2518537"/>
                  </a:lnTo>
                  <a:close/>
                </a:path>
                <a:path w="3970020" h="2538095">
                  <a:moveTo>
                    <a:pt x="3741293" y="2518537"/>
                  </a:moveTo>
                  <a:lnTo>
                    <a:pt x="3684143" y="2518537"/>
                  </a:lnTo>
                  <a:lnTo>
                    <a:pt x="3684143" y="2537587"/>
                  </a:lnTo>
                  <a:lnTo>
                    <a:pt x="3741293" y="2537587"/>
                  </a:lnTo>
                  <a:lnTo>
                    <a:pt x="3741293" y="2518537"/>
                  </a:lnTo>
                  <a:close/>
                </a:path>
                <a:path w="3970020" h="2538095">
                  <a:moveTo>
                    <a:pt x="3665093" y="2518537"/>
                  </a:moveTo>
                  <a:lnTo>
                    <a:pt x="3607943" y="2518537"/>
                  </a:lnTo>
                  <a:lnTo>
                    <a:pt x="3607943" y="2537587"/>
                  </a:lnTo>
                  <a:lnTo>
                    <a:pt x="3665093" y="2537587"/>
                  </a:lnTo>
                  <a:lnTo>
                    <a:pt x="3665093" y="2518537"/>
                  </a:lnTo>
                  <a:close/>
                </a:path>
                <a:path w="3970020" h="2538095">
                  <a:moveTo>
                    <a:pt x="3588893" y="2518537"/>
                  </a:moveTo>
                  <a:lnTo>
                    <a:pt x="3531743" y="2518537"/>
                  </a:lnTo>
                  <a:lnTo>
                    <a:pt x="3531743" y="2537587"/>
                  </a:lnTo>
                  <a:lnTo>
                    <a:pt x="3588893" y="2537587"/>
                  </a:lnTo>
                  <a:lnTo>
                    <a:pt x="3588893" y="2518537"/>
                  </a:lnTo>
                  <a:close/>
                </a:path>
                <a:path w="3970020" h="2538095">
                  <a:moveTo>
                    <a:pt x="3512693" y="2518537"/>
                  </a:moveTo>
                  <a:lnTo>
                    <a:pt x="3455543" y="2518537"/>
                  </a:lnTo>
                  <a:lnTo>
                    <a:pt x="3455543" y="2537587"/>
                  </a:lnTo>
                  <a:lnTo>
                    <a:pt x="3512693" y="2537587"/>
                  </a:lnTo>
                  <a:lnTo>
                    <a:pt x="3512693" y="2518537"/>
                  </a:lnTo>
                  <a:close/>
                </a:path>
                <a:path w="3970020" h="2538095">
                  <a:moveTo>
                    <a:pt x="3436493" y="2518537"/>
                  </a:moveTo>
                  <a:lnTo>
                    <a:pt x="3379343" y="2518537"/>
                  </a:lnTo>
                  <a:lnTo>
                    <a:pt x="3379343" y="2537587"/>
                  </a:lnTo>
                  <a:lnTo>
                    <a:pt x="3436493" y="2537587"/>
                  </a:lnTo>
                  <a:lnTo>
                    <a:pt x="3436493" y="2518537"/>
                  </a:lnTo>
                  <a:close/>
                </a:path>
                <a:path w="3970020" h="2538095">
                  <a:moveTo>
                    <a:pt x="3360293" y="2518537"/>
                  </a:moveTo>
                  <a:lnTo>
                    <a:pt x="3303143" y="2518537"/>
                  </a:lnTo>
                  <a:lnTo>
                    <a:pt x="3303143" y="2537587"/>
                  </a:lnTo>
                  <a:lnTo>
                    <a:pt x="3360293" y="2537587"/>
                  </a:lnTo>
                  <a:lnTo>
                    <a:pt x="3360293" y="2518537"/>
                  </a:lnTo>
                  <a:close/>
                </a:path>
                <a:path w="3970020" h="2538095">
                  <a:moveTo>
                    <a:pt x="3284093" y="2518537"/>
                  </a:moveTo>
                  <a:lnTo>
                    <a:pt x="3226943" y="2518537"/>
                  </a:lnTo>
                  <a:lnTo>
                    <a:pt x="3226943" y="2537587"/>
                  </a:lnTo>
                  <a:lnTo>
                    <a:pt x="3284093" y="2537587"/>
                  </a:lnTo>
                  <a:lnTo>
                    <a:pt x="3284093" y="2518537"/>
                  </a:lnTo>
                  <a:close/>
                </a:path>
                <a:path w="3970020" h="2538095">
                  <a:moveTo>
                    <a:pt x="3207893" y="2518537"/>
                  </a:moveTo>
                  <a:lnTo>
                    <a:pt x="3150743" y="2518537"/>
                  </a:lnTo>
                  <a:lnTo>
                    <a:pt x="3150743" y="2537587"/>
                  </a:lnTo>
                  <a:lnTo>
                    <a:pt x="3207893" y="2537587"/>
                  </a:lnTo>
                  <a:lnTo>
                    <a:pt x="3207893" y="2518537"/>
                  </a:lnTo>
                  <a:close/>
                </a:path>
                <a:path w="3970020" h="2538095">
                  <a:moveTo>
                    <a:pt x="3131693" y="2518537"/>
                  </a:moveTo>
                  <a:lnTo>
                    <a:pt x="3074543" y="2518537"/>
                  </a:lnTo>
                  <a:lnTo>
                    <a:pt x="3074543" y="2537587"/>
                  </a:lnTo>
                  <a:lnTo>
                    <a:pt x="3131693" y="2537587"/>
                  </a:lnTo>
                  <a:lnTo>
                    <a:pt x="3131693" y="2518537"/>
                  </a:lnTo>
                  <a:close/>
                </a:path>
                <a:path w="3970020" h="2538095">
                  <a:moveTo>
                    <a:pt x="3055493" y="2518537"/>
                  </a:moveTo>
                  <a:lnTo>
                    <a:pt x="2998343" y="2518537"/>
                  </a:lnTo>
                  <a:lnTo>
                    <a:pt x="2998343" y="2537587"/>
                  </a:lnTo>
                  <a:lnTo>
                    <a:pt x="3055493" y="2537587"/>
                  </a:lnTo>
                  <a:lnTo>
                    <a:pt x="3055493" y="2518537"/>
                  </a:lnTo>
                  <a:close/>
                </a:path>
                <a:path w="3970020" h="2538095">
                  <a:moveTo>
                    <a:pt x="2979293" y="2518537"/>
                  </a:moveTo>
                  <a:lnTo>
                    <a:pt x="2922143" y="2518537"/>
                  </a:lnTo>
                  <a:lnTo>
                    <a:pt x="2922143" y="2537587"/>
                  </a:lnTo>
                  <a:lnTo>
                    <a:pt x="2979293" y="2537587"/>
                  </a:lnTo>
                  <a:lnTo>
                    <a:pt x="2979293" y="2518537"/>
                  </a:lnTo>
                  <a:close/>
                </a:path>
                <a:path w="3970020" h="2538095">
                  <a:moveTo>
                    <a:pt x="2903093" y="2518537"/>
                  </a:moveTo>
                  <a:lnTo>
                    <a:pt x="2845943" y="2518537"/>
                  </a:lnTo>
                  <a:lnTo>
                    <a:pt x="2845943" y="2537587"/>
                  </a:lnTo>
                  <a:lnTo>
                    <a:pt x="2903093" y="2537587"/>
                  </a:lnTo>
                  <a:lnTo>
                    <a:pt x="2903093" y="2518537"/>
                  </a:lnTo>
                  <a:close/>
                </a:path>
                <a:path w="3970020" h="2538095">
                  <a:moveTo>
                    <a:pt x="2826893" y="2518537"/>
                  </a:moveTo>
                  <a:lnTo>
                    <a:pt x="2769743" y="2518537"/>
                  </a:lnTo>
                  <a:lnTo>
                    <a:pt x="2769743" y="2537587"/>
                  </a:lnTo>
                  <a:lnTo>
                    <a:pt x="2826893" y="2537587"/>
                  </a:lnTo>
                  <a:lnTo>
                    <a:pt x="2826893" y="2518537"/>
                  </a:lnTo>
                  <a:close/>
                </a:path>
                <a:path w="3970020" h="2538095">
                  <a:moveTo>
                    <a:pt x="2750693" y="2518537"/>
                  </a:moveTo>
                  <a:lnTo>
                    <a:pt x="2693543" y="2518537"/>
                  </a:lnTo>
                  <a:lnTo>
                    <a:pt x="2693543" y="2537587"/>
                  </a:lnTo>
                  <a:lnTo>
                    <a:pt x="2750693" y="2537587"/>
                  </a:lnTo>
                  <a:lnTo>
                    <a:pt x="2750693" y="2518537"/>
                  </a:lnTo>
                  <a:close/>
                </a:path>
                <a:path w="3970020" h="2538095">
                  <a:moveTo>
                    <a:pt x="2674493" y="2518537"/>
                  </a:moveTo>
                  <a:lnTo>
                    <a:pt x="2617343" y="2518537"/>
                  </a:lnTo>
                  <a:lnTo>
                    <a:pt x="2617343" y="2537587"/>
                  </a:lnTo>
                  <a:lnTo>
                    <a:pt x="2674493" y="2537587"/>
                  </a:lnTo>
                  <a:lnTo>
                    <a:pt x="2674493" y="2518537"/>
                  </a:lnTo>
                  <a:close/>
                </a:path>
                <a:path w="3970020" h="2538095">
                  <a:moveTo>
                    <a:pt x="2598293" y="2518537"/>
                  </a:moveTo>
                  <a:lnTo>
                    <a:pt x="2541143" y="2518537"/>
                  </a:lnTo>
                  <a:lnTo>
                    <a:pt x="2541143" y="2537587"/>
                  </a:lnTo>
                  <a:lnTo>
                    <a:pt x="2598293" y="2537587"/>
                  </a:lnTo>
                  <a:lnTo>
                    <a:pt x="2598293" y="2518537"/>
                  </a:lnTo>
                  <a:close/>
                </a:path>
                <a:path w="3970020" h="2538095">
                  <a:moveTo>
                    <a:pt x="2522093" y="2518537"/>
                  </a:moveTo>
                  <a:lnTo>
                    <a:pt x="2464943" y="2518537"/>
                  </a:lnTo>
                  <a:lnTo>
                    <a:pt x="2464943" y="2537587"/>
                  </a:lnTo>
                  <a:lnTo>
                    <a:pt x="2522093" y="2537587"/>
                  </a:lnTo>
                  <a:lnTo>
                    <a:pt x="2522093" y="2518537"/>
                  </a:lnTo>
                  <a:close/>
                </a:path>
                <a:path w="3970020" h="2538095">
                  <a:moveTo>
                    <a:pt x="2445893" y="2518537"/>
                  </a:moveTo>
                  <a:lnTo>
                    <a:pt x="2388743" y="2518537"/>
                  </a:lnTo>
                  <a:lnTo>
                    <a:pt x="2388743" y="2537587"/>
                  </a:lnTo>
                  <a:lnTo>
                    <a:pt x="2445893" y="2537587"/>
                  </a:lnTo>
                  <a:lnTo>
                    <a:pt x="2445893" y="2518537"/>
                  </a:lnTo>
                  <a:close/>
                </a:path>
                <a:path w="3970020" h="2538095">
                  <a:moveTo>
                    <a:pt x="2322195" y="2521966"/>
                  </a:moveTo>
                  <a:lnTo>
                    <a:pt x="2309241" y="2521966"/>
                  </a:lnTo>
                  <a:lnTo>
                    <a:pt x="2309241" y="2533269"/>
                  </a:lnTo>
                  <a:lnTo>
                    <a:pt x="2313432" y="2537587"/>
                  </a:lnTo>
                  <a:lnTo>
                    <a:pt x="2369693" y="2537587"/>
                  </a:lnTo>
                  <a:lnTo>
                    <a:pt x="2369693" y="2528062"/>
                  </a:lnTo>
                  <a:lnTo>
                    <a:pt x="2328291" y="2528062"/>
                  </a:lnTo>
                  <a:lnTo>
                    <a:pt x="2322195" y="2521966"/>
                  </a:lnTo>
                  <a:close/>
                </a:path>
                <a:path w="3970020" h="2538095">
                  <a:moveTo>
                    <a:pt x="2369693" y="2518537"/>
                  </a:moveTo>
                  <a:lnTo>
                    <a:pt x="2318766" y="2518537"/>
                  </a:lnTo>
                  <a:lnTo>
                    <a:pt x="2328291" y="2528062"/>
                  </a:lnTo>
                  <a:lnTo>
                    <a:pt x="2328291" y="2521966"/>
                  </a:lnTo>
                  <a:lnTo>
                    <a:pt x="2369693" y="2521966"/>
                  </a:lnTo>
                  <a:lnTo>
                    <a:pt x="2369693" y="2518537"/>
                  </a:lnTo>
                  <a:close/>
                </a:path>
                <a:path w="3970020" h="2538095">
                  <a:moveTo>
                    <a:pt x="2369693" y="2521966"/>
                  </a:moveTo>
                  <a:lnTo>
                    <a:pt x="2328291" y="2521966"/>
                  </a:lnTo>
                  <a:lnTo>
                    <a:pt x="2328291" y="2528062"/>
                  </a:lnTo>
                  <a:lnTo>
                    <a:pt x="2369693" y="2528062"/>
                  </a:lnTo>
                  <a:lnTo>
                    <a:pt x="2369693" y="2521966"/>
                  </a:lnTo>
                  <a:close/>
                </a:path>
                <a:path w="3970020" h="2538095">
                  <a:moveTo>
                    <a:pt x="2328291" y="2445766"/>
                  </a:moveTo>
                  <a:lnTo>
                    <a:pt x="2309241" y="2445766"/>
                  </a:lnTo>
                  <a:lnTo>
                    <a:pt x="2309241" y="2502916"/>
                  </a:lnTo>
                  <a:lnTo>
                    <a:pt x="2328291" y="2502916"/>
                  </a:lnTo>
                  <a:lnTo>
                    <a:pt x="2328291" y="2445766"/>
                  </a:lnTo>
                  <a:close/>
                </a:path>
                <a:path w="3970020" h="2538095">
                  <a:moveTo>
                    <a:pt x="2328291" y="2369566"/>
                  </a:moveTo>
                  <a:lnTo>
                    <a:pt x="2309241" y="2369566"/>
                  </a:lnTo>
                  <a:lnTo>
                    <a:pt x="2309241" y="2426716"/>
                  </a:lnTo>
                  <a:lnTo>
                    <a:pt x="2328291" y="2426716"/>
                  </a:lnTo>
                  <a:lnTo>
                    <a:pt x="2328291" y="2369566"/>
                  </a:lnTo>
                  <a:close/>
                </a:path>
                <a:path w="3970020" h="2538095">
                  <a:moveTo>
                    <a:pt x="2328291" y="2293366"/>
                  </a:moveTo>
                  <a:lnTo>
                    <a:pt x="2309241" y="2293366"/>
                  </a:lnTo>
                  <a:lnTo>
                    <a:pt x="2309241" y="2350516"/>
                  </a:lnTo>
                  <a:lnTo>
                    <a:pt x="2328291" y="2350516"/>
                  </a:lnTo>
                  <a:lnTo>
                    <a:pt x="2328291" y="2293366"/>
                  </a:lnTo>
                  <a:close/>
                </a:path>
                <a:path w="3970020" h="2538095">
                  <a:moveTo>
                    <a:pt x="2328291" y="2217166"/>
                  </a:moveTo>
                  <a:lnTo>
                    <a:pt x="2309241" y="2217166"/>
                  </a:lnTo>
                  <a:lnTo>
                    <a:pt x="2309241" y="2274316"/>
                  </a:lnTo>
                  <a:lnTo>
                    <a:pt x="2328291" y="2274316"/>
                  </a:lnTo>
                  <a:lnTo>
                    <a:pt x="2328291" y="2217166"/>
                  </a:lnTo>
                  <a:close/>
                </a:path>
                <a:path w="3970020" h="2538095">
                  <a:moveTo>
                    <a:pt x="2328291" y="2140966"/>
                  </a:moveTo>
                  <a:lnTo>
                    <a:pt x="2309241" y="2140966"/>
                  </a:lnTo>
                  <a:lnTo>
                    <a:pt x="2309241" y="2198116"/>
                  </a:lnTo>
                  <a:lnTo>
                    <a:pt x="2328291" y="2198116"/>
                  </a:lnTo>
                  <a:lnTo>
                    <a:pt x="2328291" y="2140966"/>
                  </a:lnTo>
                  <a:close/>
                </a:path>
                <a:path w="3970020" h="2538095">
                  <a:moveTo>
                    <a:pt x="2328291" y="2064766"/>
                  </a:moveTo>
                  <a:lnTo>
                    <a:pt x="2309241" y="2064766"/>
                  </a:lnTo>
                  <a:lnTo>
                    <a:pt x="2309241" y="2121916"/>
                  </a:lnTo>
                  <a:lnTo>
                    <a:pt x="2328291" y="2121916"/>
                  </a:lnTo>
                  <a:lnTo>
                    <a:pt x="2328291" y="2064766"/>
                  </a:lnTo>
                  <a:close/>
                </a:path>
                <a:path w="3970020" h="2538095">
                  <a:moveTo>
                    <a:pt x="2328291" y="1988566"/>
                  </a:moveTo>
                  <a:lnTo>
                    <a:pt x="2309241" y="1988566"/>
                  </a:lnTo>
                  <a:lnTo>
                    <a:pt x="2309241" y="2045716"/>
                  </a:lnTo>
                  <a:lnTo>
                    <a:pt x="2328291" y="2045716"/>
                  </a:lnTo>
                  <a:lnTo>
                    <a:pt x="2328291" y="1988566"/>
                  </a:lnTo>
                  <a:close/>
                </a:path>
                <a:path w="3970020" h="2538095">
                  <a:moveTo>
                    <a:pt x="2328291" y="1912366"/>
                  </a:moveTo>
                  <a:lnTo>
                    <a:pt x="2309241" y="1912366"/>
                  </a:lnTo>
                  <a:lnTo>
                    <a:pt x="2309241" y="1969516"/>
                  </a:lnTo>
                  <a:lnTo>
                    <a:pt x="2328291" y="1969516"/>
                  </a:lnTo>
                  <a:lnTo>
                    <a:pt x="2328291" y="1912366"/>
                  </a:lnTo>
                  <a:close/>
                </a:path>
                <a:path w="3970020" h="2538095">
                  <a:moveTo>
                    <a:pt x="2328291" y="1836166"/>
                  </a:moveTo>
                  <a:lnTo>
                    <a:pt x="2309241" y="1836166"/>
                  </a:lnTo>
                  <a:lnTo>
                    <a:pt x="2309241" y="1893316"/>
                  </a:lnTo>
                  <a:lnTo>
                    <a:pt x="2328291" y="1893316"/>
                  </a:lnTo>
                  <a:lnTo>
                    <a:pt x="2328291" y="1836166"/>
                  </a:lnTo>
                  <a:close/>
                </a:path>
                <a:path w="3970020" h="2538095">
                  <a:moveTo>
                    <a:pt x="2328291" y="1759966"/>
                  </a:moveTo>
                  <a:lnTo>
                    <a:pt x="2309241" y="1759966"/>
                  </a:lnTo>
                  <a:lnTo>
                    <a:pt x="2309241" y="1817116"/>
                  </a:lnTo>
                  <a:lnTo>
                    <a:pt x="2328291" y="1817116"/>
                  </a:lnTo>
                  <a:lnTo>
                    <a:pt x="2328291" y="1759966"/>
                  </a:lnTo>
                  <a:close/>
                </a:path>
                <a:path w="3970020" h="2538095">
                  <a:moveTo>
                    <a:pt x="2328291" y="1683766"/>
                  </a:moveTo>
                  <a:lnTo>
                    <a:pt x="2309241" y="1683766"/>
                  </a:lnTo>
                  <a:lnTo>
                    <a:pt x="2309241" y="1740916"/>
                  </a:lnTo>
                  <a:lnTo>
                    <a:pt x="2328291" y="1740916"/>
                  </a:lnTo>
                  <a:lnTo>
                    <a:pt x="2328291" y="1683766"/>
                  </a:lnTo>
                  <a:close/>
                </a:path>
                <a:path w="3970020" h="2538095">
                  <a:moveTo>
                    <a:pt x="2328291" y="1607566"/>
                  </a:moveTo>
                  <a:lnTo>
                    <a:pt x="2309241" y="1607566"/>
                  </a:lnTo>
                  <a:lnTo>
                    <a:pt x="2309241" y="1664716"/>
                  </a:lnTo>
                  <a:lnTo>
                    <a:pt x="2328291" y="1664716"/>
                  </a:lnTo>
                  <a:lnTo>
                    <a:pt x="2328291" y="1607566"/>
                  </a:lnTo>
                  <a:close/>
                </a:path>
                <a:path w="3970020" h="2538095">
                  <a:moveTo>
                    <a:pt x="2328291" y="1531366"/>
                  </a:moveTo>
                  <a:lnTo>
                    <a:pt x="2309241" y="1531366"/>
                  </a:lnTo>
                  <a:lnTo>
                    <a:pt x="2309241" y="1588516"/>
                  </a:lnTo>
                  <a:lnTo>
                    <a:pt x="2328291" y="1588516"/>
                  </a:lnTo>
                  <a:lnTo>
                    <a:pt x="2328291" y="1531366"/>
                  </a:lnTo>
                  <a:close/>
                </a:path>
                <a:path w="3970020" h="2538095">
                  <a:moveTo>
                    <a:pt x="2328291" y="1455166"/>
                  </a:moveTo>
                  <a:lnTo>
                    <a:pt x="2309241" y="1455166"/>
                  </a:lnTo>
                  <a:lnTo>
                    <a:pt x="2309241" y="1512316"/>
                  </a:lnTo>
                  <a:lnTo>
                    <a:pt x="2328291" y="1512316"/>
                  </a:lnTo>
                  <a:lnTo>
                    <a:pt x="2328291" y="1455166"/>
                  </a:lnTo>
                  <a:close/>
                </a:path>
                <a:path w="3970020" h="2538095">
                  <a:moveTo>
                    <a:pt x="2328291" y="1378966"/>
                  </a:moveTo>
                  <a:lnTo>
                    <a:pt x="2309241" y="1378966"/>
                  </a:lnTo>
                  <a:lnTo>
                    <a:pt x="2309241" y="1436116"/>
                  </a:lnTo>
                  <a:lnTo>
                    <a:pt x="2328291" y="1436116"/>
                  </a:lnTo>
                  <a:lnTo>
                    <a:pt x="2328291" y="1378966"/>
                  </a:lnTo>
                  <a:close/>
                </a:path>
                <a:path w="3970020" h="2538095">
                  <a:moveTo>
                    <a:pt x="2328291" y="1302766"/>
                  </a:moveTo>
                  <a:lnTo>
                    <a:pt x="2309241" y="1302766"/>
                  </a:lnTo>
                  <a:lnTo>
                    <a:pt x="2309241" y="1359916"/>
                  </a:lnTo>
                  <a:lnTo>
                    <a:pt x="2328291" y="1359916"/>
                  </a:lnTo>
                  <a:lnTo>
                    <a:pt x="2328291" y="1302766"/>
                  </a:lnTo>
                  <a:close/>
                </a:path>
                <a:path w="3970020" h="2538095">
                  <a:moveTo>
                    <a:pt x="2328291" y="1226566"/>
                  </a:moveTo>
                  <a:lnTo>
                    <a:pt x="2309241" y="1226566"/>
                  </a:lnTo>
                  <a:lnTo>
                    <a:pt x="2309241" y="1283716"/>
                  </a:lnTo>
                  <a:lnTo>
                    <a:pt x="2328291" y="1283716"/>
                  </a:lnTo>
                  <a:lnTo>
                    <a:pt x="2328291" y="1226566"/>
                  </a:lnTo>
                  <a:close/>
                </a:path>
                <a:path w="3970020" h="2538095">
                  <a:moveTo>
                    <a:pt x="2328291" y="1150366"/>
                  </a:moveTo>
                  <a:lnTo>
                    <a:pt x="2309241" y="1150366"/>
                  </a:lnTo>
                  <a:lnTo>
                    <a:pt x="2309241" y="1207516"/>
                  </a:lnTo>
                  <a:lnTo>
                    <a:pt x="2328291" y="1207516"/>
                  </a:lnTo>
                  <a:lnTo>
                    <a:pt x="2328291" y="1150366"/>
                  </a:lnTo>
                  <a:close/>
                </a:path>
                <a:path w="3970020" h="2538095">
                  <a:moveTo>
                    <a:pt x="2328291" y="1074166"/>
                  </a:moveTo>
                  <a:lnTo>
                    <a:pt x="2309241" y="1074166"/>
                  </a:lnTo>
                  <a:lnTo>
                    <a:pt x="2309241" y="1131316"/>
                  </a:lnTo>
                  <a:lnTo>
                    <a:pt x="2328291" y="1131316"/>
                  </a:lnTo>
                  <a:lnTo>
                    <a:pt x="2328291" y="1074166"/>
                  </a:lnTo>
                  <a:close/>
                </a:path>
                <a:path w="3970020" h="2538095">
                  <a:moveTo>
                    <a:pt x="2328291" y="997966"/>
                  </a:moveTo>
                  <a:lnTo>
                    <a:pt x="2309241" y="997966"/>
                  </a:lnTo>
                  <a:lnTo>
                    <a:pt x="2309241" y="1055116"/>
                  </a:lnTo>
                  <a:lnTo>
                    <a:pt x="2328291" y="1055116"/>
                  </a:lnTo>
                  <a:lnTo>
                    <a:pt x="2328291" y="997966"/>
                  </a:lnTo>
                  <a:close/>
                </a:path>
                <a:path w="3970020" h="2538095">
                  <a:moveTo>
                    <a:pt x="2328291" y="921766"/>
                  </a:moveTo>
                  <a:lnTo>
                    <a:pt x="2309241" y="921766"/>
                  </a:lnTo>
                  <a:lnTo>
                    <a:pt x="2309241" y="978916"/>
                  </a:lnTo>
                  <a:lnTo>
                    <a:pt x="2328291" y="978916"/>
                  </a:lnTo>
                  <a:lnTo>
                    <a:pt x="2328291" y="921766"/>
                  </a:lnTo>
                  <a:close/>
                </a:path>
                <a:path w="3970020" h="2538095">
                  <a:moveTo>
                    <a:pt x="2328291" y="845566"/>
                  </a:moveTo>
                  <a:lnTo>
                    <a:pt x="2309241" y="845566"/>
                  </a:lnTo>
                  <a:lnTo>
                    <a:pt x="2309241" y="902716"/>
                  </a:lnTo>
                  <a:lnTo>
                    <a:pt x="2328291" y="902716"/>
                  </a:lnTo>
                  <a:lnTo>
                    <a:pt x="2328291" y="845566"/>
                  </a:lnTo>
                  <a:close/>
                </a:path>
                <a:path w="3970020" h="2538095">
                  <a:moveTo>
                    <a:pt x="2328291" y="769366"/>
                  </a:moveTo>
                  <a:lnTo>
                    <a:pt x="2309241" y="769366"/>
                  </a:lnTo>
                  <a:lnTo>
                    <a:pt x="2309241" y="826516"/>
                  </a:lnTo>
                  <a:lnTo>
                    <a:pt x="2328291" y="826516"/>
                  </a:lnTo>
                  <a:lnTo>
                    <a:pt x="2328291" y="769366"/>
                  </a:lnTo>
                  <a:close/>
                </a:path>
                <a:path w="3970020" h="2538095">
                  <a:moveTo>
                    <a:pt x="2328291" y="693166"/>
                  </a:moveTo>
                  <a:lnTo>
                    <a:pt x="2309241" y="693166"/>
                  </a:lnTo>
                  <a:lnTo>
                    <a:pt x="2309241" y="750316"/>
                  </a:lnTo>
                  <a:lnTo>
                    <a:pt x="2328291" y="750316"/>
                  </a:lnTo>
                  <a:lnTo>
                    <a:pt x="2328291" y="693166"/>
                  </a:lnTo>
                  <a:close/>
                </a:path>
                <a:path w="3970020" h="2538095">
                  <a:moveTo>
                    <a:pt x="2328291" y="616966"/>
                  </a:moveTo>
                  <a:lnTo>
                    <a:pt x="2309241" y="616966"/>
                  </a:lnTo>
                  <a:lnTo>
                    <a:pt x="2309241" y="674116"/>
                  </a:lnTo>
                  <a:lnTo>
                    <a:pt x="2328291" y="674116"/>
                  </a:lnTo>
                  <a:lnTo>
                    <a:pt x="2328291" y="616966"/>
                  </a:lnTo>
                  <a:close/>
                </a:path>
                <a:path w="3970020" h="2538095">
                  <a:moveTo>
                    <a:pt x="2328291" y="540766"/>
                  </a:moveTo>
                  <a:lnTo>
                    <a:pt x="2309241" y="540766"/>
                  </a:lnTo>
                  <a:lnTo>
                    <a:pt x="2309241" y="597916"/>
                  </a:lnTo>
                  <a:lnTo>
                    <a:pt x="2328291" y="597916"/>
                  </a:lnTo>
                  <a:lnTo>
                    <a:pt x="2328291" y="540766"/>
                  </a:lnTo>
                  <a:close/>
                </a:path>
                <a:path w="3970020" h="2538095">
                  <a:moveTo>
                    <a:pt x="2328291" y="464566"/>
                  </a:moveTo>
                  <a:lnTo>
                    <a:pt x="2309241" y="464566"/>
                  </a:lnTo>
                  <a:lnTo>
                    <a:pt x="2309241" y="521716"/>
                  </a:lnTo>
                  <a:lnTo>
                    <a:pt x="2328291" y="521716"/>
                  </a:lnTo>
                  <a:lnTo>
                    <a:pt x="2328291" y="464566"/>
                  </a:lnTo>
                  <a:close/>
                </a:path>
                <a:path w="3970020" h="2538095">
                  <a:moveTo>
                    <a:pt x="2328291" y="388366"/>
                  </a:moveTo>
                  <a:lnTo>
                    <a:pt x="2309241" y="388366"/>
                  </a:lnTo>
                  <a:lnTo>
                    <a:pt x="2309241" y="445516"/>
                  </a:lnTo>
                  <a:lnTo>
                    <a:pt x="2328291" y="445516"/>
                  </a:lnTo>
                  <a:lnTo>
                    <a:pt x="2328291" y="388366"/>
                  </a:lnTo>
                  <a:close/>
                </a:path>
                <a:path w="3970020" h="2538095">
                  <a:moveTo>
                    <a:pt x="2328291" y="312166"/>
                  </a:moveTo>
                  <a:lnTo>
                    <a:pt x="2309241" y="312166"/>
                  </a:lnTo>
                  <a:lnTo>
                    <a:pt x="2309241" y="369316"/>
                  </a:lnTo>
                  <a:lnTo>
                    <a:pt x="2328291" y="369316"/>
                  </a:lnTo>
                  <a:lnTo>
                    <a:pt x="2328291" y="312166"/>
                  </a:lnTo>
                  <a:close/>
                </a:path>
                <a:path w="3970020" h="2538095">
                  <a:moveTo>
                    <a:pt x="2328291" y="235966"/>
                  </a:moveTo>
                  <a:lnTo>
                    <a:pt x="2309241" y="235966"/>
                  </a:lnTo>
                  <a:lnTo>
                    <a:pt x="2309241" y="293116"/>
                  </a:lnTo>
                  <a:lnTo>
                    <a:pt x="2328291" y="293116"/>
                  </a:lnTo>
                  <a:lnTo>
                    <a:pt x="2328291" y="235966"/>
                  </a:lnTo>
                  <a:close/>
                </a:path>
                <a:path w="3970020" h="2538095">
                  <a:moveTo>
                    <a:pt x="2328291" y="159766"/>
                  </a:moveTo>
                  <a:lnTo>
                    <a:pt x="2309241" y="159766"/>
                  </a:lnTo>
                  <a:lnTo>
                    <a:pt x="2309241" y="216916"/>
                  </a:lnTo>
                  <a:lnTo>
                    <a:pt x="2328291" y="216916"/>
                  </a:lnTo>
                  <a:lnTo>
                    <a:pt x="2328291" y="159766"/>
                  </a:lnTo>
                  <a:close/>
                </a:path>
                <a:path w="3970020" h="2538095">
                  <a:moveTo>
                    <a:pt x="2328291" y="83566"/>
                  </a:moveTo>
                  <a:lnTo>
                    <a:pt x="2309241" y="83566"/>
                  </a:lnTo>
                  <a:lnTo>
                    <a:pt x="2309241" y="140716"/>
                  </a:lnTo>
                  <a:lnTo>
                    <a:pt x="2328291" y="140716"/>
                  </a:lnTo>
                  <a:lnTo>
                    <a:pt x="2328291" y="83566"/>
                  </a:lnTo>
                  <a:close/>
                </a:path>
                <a:path w="3970020" h="2538095">
                  <a:moveTo>
                    <a:pt x="2309241" y="9525"/>
                  </a:moveTo>
                  <a:lnTo>
                    <a:pt x="2309241" y="64516"/>
                  </a:lnTo>
                  <a:lnTo>
                    <a:pt x="2328291" y="64516"/>
                  </a:lnTo>
                  <a:lnTo>
                    <a:pt x="2328291" y="19050"/>
                  </a:lnTo>
                  <a:lnTo>
                    <a:pt x="2316607" y="19050"/>
                  </a:lnTo>
                  <a:lnTo>
                    <a:pt x="2316607" y="16890"/>
                  </a:lnTo>
                  <a:lnTo>
                    <a:pt x="2309241" y="9525"/>
                  </a:lnTo>
                  <a:close/>
                </a:path>
                <a:path w="3970020" h="2538095">
                  <a:moveTo>
                    <a:pt x="2316607" y="16890"/>
                  </a:moveTo>
                  <a:lnTo>
                    <a:pt x="2316607" y="19050"/>
                  </a:lnTo>
                  <a:lnTo>
                    <a:pt x="2318766" y="19050"/>
                  </a:lnTo>
                  <a:lnTo>
                    <a:pt x="2316607" y="16890"/>
                  </a:lnTo>
                  <a:close/>
                </a:path>
                <a:path w="3970020" h="2538095">
                  <a:moveTo>
                    <a:pt x="2323973" y="0"/>
                  </a:moveTo>
                  <a:lnTo>
                    <a:pt x="2316607" y="0"/>
                  </a:lnTo>
                  <a:lnTo>
                    <a:pt x="2316607" y="16890"/>
                  </a:lnTo>
                  <a:lnTo>
                    <a:pt x="2318766" y="19050"/>
                  </a:lnTo>
                  <a:lnTo>
                    <a:pt x="2328291" y="19050"/>
                  </a:lnTo>
                  <a:lnTo>
                    <a:pt x="2328291" y="4191"/>
                  </a:lnTo>
                  <a:lnTo>
                    <a:pt x="2323973" y="0"/>
                  </a:lnTo>
                  <a:close/>
                </a:path>
                <a:path w="3970020" h="2538095">
                  <a:moveTo>
                    <a:pt x="2297557" y="0"/>
                  </a:moveTo>
                  <a:lnTo>
                    <a:pt x="2240407" y="0"/>
                  </a:lnTo>
                  <a:lnTo>
                    <a:pt x="2240407" y="19050"/>
                  </a:lnTo>
                  <a:lnTo>
                    <a:pt x="2297557" y="19050"/>
                  </a:lnTo>
                  <a:lnTo>
                    <a:pt x="2297557" y="0"/>
                  </a:lnTo>
                  <a:close/>
                </a:path>
                <a:path w="3970020" h="2538095">
                  <a:moveTo>
                    <a:pt x="2221357" y="0"/>
                  </a:moveTo>
                  <a:lnTo>
                    <a:pt x="2164207" y="0"/>
                  </a:lnTo>
                  <a:lnTo>
                    <a:pt x="2164207" y="19050"/>
                  </a:lnTo>
                  <a:lnTo>
                    <a:pt x="2221357" y="19050"/>
                  </a:lnTo>
                  <a:lnTo>
                    <a:pt x="2221357" y="0"/>
                  </a:lnTo>
                  <a:close/>
                </a:path>
                <a:path w="3970020" h="2538095">
                  <a:moveTo>
                    <a:pt x="2145157" y="0"/>
                  </a:moveTo>
                  <a:lnTo>
                    <a:pt x="2088007" y="0"/>
                  </a:lnTo>
                  <a:lnTo>
                    <a:pt x="2088007" y="19050"/>
                  </a:lnTo>
                  <a:lnTo>
                    <a:pt x="2145157" y="19050"/>
                  </a:lnTo>
                  <a:lnTo>
                    <a:pt x="2145157" y="0"/>
                  </a:lnTo>
                  <a:close/>
                </a:path>
                <a:path w="3970020" h="2538095">
                  <a:moveTo>
                    <a:pt x="2068957" y="0"/>
                  </a:moveTo>
                  <a:lnTo>
                    <a:pt x="2011807" y="0"/>
                  </a:lnTo>
                  <a:lnTo>
                    <a:pt x="2011807" y="19050"/>
                  </a:lnTo>
                  <a:lnTo>
                    <a:pt x="2068957" y="19050"/>
                  </a:lnTo>
                  <a:lnTo>
                    <a:pt x="2068957" y="0"/>
                  </a:lnTo>
                  <a:close/>
                </a:path>
                <a:path w="3970020" h="2538095">
                  <a:moveTo>
                    <a:pt x="1992757" y="0"/>
                  </a:moveTo>
                  <a:lnTo>
                    <a:pt x="1935607" y="0"/>
                  </a:lnTo>
                  <a:lnTo>
                    <a:pt x="1935607" y="19050"/>
                  </a:lnTo>
                  <a:lnTo>
                    <a:pt x="1992757" y="19050"/>
                  </a:lnTo>
                  <a:lnTo>
                    <a:pt x="1992757" y="0"/>
                  </a:lnTo>
                  <a:close/>
                </a:path>
                <a:path w="3970020" h="2538095">
                  <a:moveTo>
                    <a:pt x="1916557" y="0"/>
                  </a:moveTo>
                  <a:lnTo>
                    <a:pt x="1859407" y="0"/>
                  </a:lnTo>
                  <a:lnTo>
                    <a:pt x="1859407" y="19050"/>
                  </a:lnTo>
                  <a:lnTo>
                    <a:pt x="1916557" y="19050"/>
                  </a:lnTo>
                  <a:lnTo>
                    <a:pt x="1916557" y="0"/>
                  </a:lnTo>
                  <a:close/>
                </a:path>
                <a:path w="3970020" h="2538095">
                  <a:moveTo>
                    <a:pt x="1840357" y="0"/>
                  </a:moveTo>
                  <a:lnTo>
                    <a:pt x="1783207" y="0"/>
                  </a:lnTo>
                  <a:lnTo>
                    <a:pt x="1783207" y="19050"/>
                  </a:lnTo>
                  <a:lnTo>
                    <a:pt x="1840357" y="19050"/>
                  </a:lnTo>
                  <a:lnTo>
                    <a:pt x="1840357" y="0"/>
                  </a:lnTo>
                  <a:close/>
                </a:path>
                <a:path w="3970020" h="2538095">
                  <a:moveTo>
                    <a:pt x="1764157" y="0"/>
                  </a:moveTo>
                  <a:lnTo>
                    <a:pt x="1707007" y="0"/>
                  </a:lnTo>
                  <a:lnTo>
                    <a:pt x="1707007" y="19050"/>
                  </a:lnTo>
                  <a:lnTo>
                    <a:pt x="1764157" y="19050"/>
                  </a:lnTo>
                  <a:lnTo>
                    <a:pt x="1764157" y="0"/>
                  </a:lnTo>
                  <a:close/>
                </a:path>
                <a:path w="3970020" h="2538095">
                  <a:moveTo>
                    <a:pt x="1687957" y="0"/>
                  </a:moveTo>
                  <a:lnTo>
                    <a:pt x="1630807" y="0"/>
                  </a:lnTo>
                  <a:lnTo>
                    <a:pt x="1630807" y="19050"/>
                  </a:lnTo>
                  <a:lnTo>
                    <a:pt x="1687957" y="19050"/>
                  </a:lnTo>
                  <a:lnTo>
                    <a:pt x="1687957" y="0"/>
                  </a:lnTo>
                  <a:close/>
                </a:path>
                <a:path w="3970020" h="2538095">
                  <a:moveTo>
                    <a:pt x="1611757" y="0"/>
                  </a:moveTo>
                  <a:lnTo>
                    <a:pt x="1554607" y="0"/>
                  </a:lnTo>
                  <a:lnTo>
                    <a:pt x="1554607" y="19050"/>
                  </a:lnTo>
                  <a:lnTo>
                    <a:pt x="1611757" y="19050"/>
                  </a:lnTo>
                  <a:lnTo>
                    <a:pt x="1611757" y="0"/>
                  </a:lnTo>
                  <a:close/>
                </a:path>
                <a:path w="3970020" h="2538095">
                  <a:moveTo>
                    <a:pt x="1535557" y="0"/>
                  </a:moveTo>
                  <a:lnTo>
                    <a:pt x="1478407" y="0"/>
                  </a:lnTo>
                  <a:lnTo>
                    <a:pt x="1478407" y="19050"/>
                  </a:lnTo>
                  <a:lnTo>
                    <a:pt x="1535557" y="19050"/>
                  </a:lnTo>
                  <a:lnTo>
                    <a:pt x="1535557" y="0"/>
                  </a:lnTo>
                  <a:close/>
                </a:path>
                <a:path w="3970020" h="2538095">
                  <a:moveTo>
                    <a:pt x="1459357" y="0"/>
                  </a:moveTo>
                  <a:lnTo>
                    <a:pt x="1402207" y="0"/>
                  </a:lnTo>
                  <a:lnTo>
                    <a:pt x="1402207" y="19050"/>
                  </a:lnTo>
                  <a:lnTo>
                    <a:pt x="1459357" y="19050"/>
                  </a:lnTo>
                  <a:lnTo>
                    <a:pt x="1459357" y="0"/>
                  </a:lnTo>
                  <a:close/>
                </a:path>
                <a:path w="3970020" h="2538095">
                  <a:moveTo>
                    <a:pt x="1383157" y="0"/>
                  </a:moveTo>
                  <a:lnTo>
                    <a:pt x="1326007" y="0"/>
                  </a:lnTo>
                  <a:lnTo>
                    <a:pt x="1326007" y="19050"/>
                  </a:lnTo>
                  <a:lnTo>
                    <a:pt x="1383157" y="19050"/>
                  </a:lnTo>
                  <a:lnTo>
                    <a:pt x="1383157" y="0"/>
                  </a:lnTo>
                  <a:close/>
                </a:path>
                <a:path w="3970020" h="2538095">
                  <a:moveTo>
                    <a:pt x="1306957" y="0"/>
                  </a:moveTo>
                  <a:lnTo>
                    <a:pt x="1249807" y="0"/>
                  </a:lnTo>
                  <a:lnTo>
                    <a:pt x="1249807" y="19050"/>
                  </a:lnTo>
                  <a:lnTo>
                    <a:pt x="1306957" y="19050"/>
                  </a:lnTo>
                  <a:lnTo>
                    <a:pt x="1306957" y="0"/>
                  </a:lnTo>
                  <a:close/>
                </a:path>
                <a:path w="3970020" h="2538095">
                  <a:moveTo>
                    <a:pt x="1230757" y="0"/>
                  </a:moveTo>
                  <a:lnTo>
                    <a:pt x="1173607" y="0"/>
                  </a:lnTo>
                  <a:lnTo>
                    <a:pt x="1173607" y="19050"/>
                  </a:lnTo>
                  <a:lnTo>
                    <a:pt x="1230757" y="19050"/>
                  </a:lnTo>
                  <a:lnTo>
                    <a:pt x="1230757" y="0"/>
                  </a:lnTo>
                  <a:close/>
                </a:path>
                <a:path w="3970020" h="2538095">
                  <a:moveTo>
                    <a:pt x="1154557" y="0"/>
                  </a:moveTo>
                  <a:lnTo>
                    <a:pt x="1097407" y="0"/>
                  </a:lnTo>
                  <a:lnTo>
                    <a:pt x="1097407" y="19050"/>
                  </a:lnTo>
                  <a:lnTo>
                    <a:pt x="1154557" y="19050"/>
                  </a:lnTo>
                  <a:lnTo>
                    <a:pt x="1154557" y="0"/>
                  </a:lnTo>
                  <a:close/>
                </a:path>
                <a:path w="3970020" h="2538095">
                  <a:moveTo>
                    <a:pt x="1078357" y="0"/>
                  </a:moveTo>
                  <a:lnTo>
                    <a:pt x="1021207" y="0"/>
                  </a:lnTo>
                  <a:lnTo>
                    <a:pt x="1021207" y="19050"/>
                  </a:lnTo>
                  <a:lnTo>
                    <a:pt x="1078357" y="19050"/>
                  </a:lnTo>
                  <a:lnTo>
                    <a:pt x="1078357" y="0"/>
                  </a:lnTo>
                  <a:close/>
                </a:path>
                <a:path w="3970020" h="2538095">
                  <a:moveTo>
                    <a:pt x="1002157" y="0"/>
                  </a:moveTo>
                  <a:lnTo>
                    <a:pt x="945007" y="0"/>
                  </a:lnTo>
                  <a:lnTo>
                    <a:pt x="945007" y="19050"/>
                  </a:lnTo>
                  <a:lnTo>
                    <a:pt x="1002157" y="19050"/>
                  </a:lnTo>
                  <a:lnTo>
                    <a:pt x="1002157" y="0"/>
                  </a:lnTo>
                  <a:close/>
                </a:path>
                <a:path w="3970020" h="2538095">
                  <a:moveTo>
                    <a:pt x="925957" y="0"/>
                  </a:moveTo>
                  <a:lnTo>
                    <a:pt x="868807" y="0"/>
                  </a:lnTo>
                  <a:lnTo>
                    <a:pt x="868807" y="19050"/>
                  </a:lnTo>
                  <a:lnTo>
                    <a:pt x="925957" y="19050"/>
                  </a:lnTo>
                  <a:lnTo>
                    <a:pt x="925957" y="0"/>
                  </a:lnTo>
                  <a:close/>
                </a:path>
                <a:path w="3970020" h="2538095">
                  <a:moveTo>
                    <a:pt x="849757" y="0"/>
                  </a:moveTo>
                  <a:lnTo>
                    <a:pt x="792607" y="0"/>
                  </a:lnTo>
                  <a:lnTo>
                    <a:pt x="792607" y="19050"/>
                  </a:lnTo>
                  <a:lnTo>
                    <a:pt x="849757" y="19050"/>
                  </a:lnTo>
                  <a:lnTo>
                    <a:pt x="849757" y="0"/>
                  </a:lnTo>
                  <a:close/>
                </a:path>
                <a:path w="3970020" h="2538095">
                  <a:moveTo>
                    <a:pt x="773557" y="0"/>
                  </a:moveTo>
                  <a:lnTo>
                    <a:pt x="716407" y="0"/>
                  </a:lnTo>
                  <a:lnTo>
                    <a:pt x="716407" y="19050"/>
                  </a:lnTo>
                  <a:lnTo>
                    <a:pt x="773557" y="19050"/>
                  </a:lnTo>
                  <a:lnTo>
                    <a:pt x="773557" y="0"/>
                  </a:lnTo>
                  <a:close/>
                </a:path>
                <a:path w="3970020" h="2538095">
                  <a:moveTo>
                    <a:pt x="697357" y="0"/>
                  </a:moveTo>
                  <a:lnTo>
                    <a:pt x="640207" y="0"/>
                  </a:lnTo>
                  <a:lnTo>
                    <a:pt x="640207" y="19050"/>
                  </a:lnTo>
                  <a:lnTo>
                    <a:pt x="697357" y="19050"/>
                  </a:lnTo>
                  <a:lnTo>
                    <a:pt x="697357" y="0"/>
                  </a:lnTo>
                  <a:close/>
                </a:path>
                <a:path w="3970020" h="2538095">
                  <a:moveTo>
                    <a:pt x="621157" y="0"/>
                  </a:moveTo>
                  <a:lnTo>
                    <a:pt x="564007" y="0"/>
                  </a:lnTo>
                  <a:lnTo>
                    <a:pt x="564007" y="19050"/>
                  </a:lnTo>
                  <a:lnTo>
                    <a:pt x="621157" y="19050"/>
                  </a:lnTo>
                  <a:lnTo>
                    <a:pt x="621157" y="0"/>
                  </a:lnTo>
                  <a:close/>
                </a:path>
                <a:path w="3970020" h="2538095">
                  <a:moveTo>
                    <a:pt x="544957" y="0"/>
                  </a:moveTo>
                  <a:lnTo>
                    <a:pt x="487806" y="0"/>
                  </a:lnTo>
                  <a:lnTo>
                    <a:pt x="487806" y="19050"/>
                  </a:lnTo>
                  <a:lnTo>
                    <a:pt x="544957" y="19050"/>
                  </a:lnTo>
                  <a:lnTo>
                    <a:pt x="544957" y="0"/>
                  </a:lnTo>
                  <a:close/>
                </a:path>
                <a:path w="3970020" h="2538095">
                  <a:moveTo>
                    <a:pt x="468756" y="0"/>
                  </a:moveTo>
                  <a:lnTo>
                    <a:pt x="411606" y="0"/>
                  </a:lnTo>
                  <a:lnTo>
                    <a:pt x="411606" y="19050"/>
                  </a:lnTo>
                  <a:lnTo>
                    <a:pt x="468756" y="19050"/>
                  </a:lnTo>
                  <a:lnTo>
                    <a:pt x="468756" y="0"/>
                  </a:lnTo>
                  <a:close/>
                </a:path>
                <a:path w="3970020" h="2538095">
                  <a:moveTo>
                    <a:pt x="392556" y="0"/>
                  </a:moveTo>
                  <a:lnTo>
                    <a:pt x="335406" y="0"/>
                  </a:lnTo>
                  <a:lnTo>
                    <a:pt x="335406" y="19050"/>
                  </a:lnTo>
                  <a:lnTo>
                    <a:pt x="392556" y="19050"/>
                  </a:lnTo>
                  <a:lnTo>
                    <a:pt x="392556" y="0"/>
                  </a:lnTo>
                  <a:close/>
                </a:path>
                <a:path w="3970020" h="2538095">
                  <a:moveTo>
                    <a:pt x="316356" y="0"/>
                  </a:moveTo>
                  <a:lnTo>
                    <a:pt x="259206" y="0"/>
                  </a:lnTo>
                  <a:lnTo>
                    <a:pt x="259206" y="19050"/>
                  </a:lnTo>
                  <a:lnTo>
                    <a:pt x="316356" y="19050"/>
                  </a:lnTo>
                  <a:lnTo>
                    <a:pt x="316356" y="0"/>
                  </a:lnTo>
                  <a:close/>
                </a:path>
                <a:path w="3970020" h="2538095">
                  <a:moveTo>
                    <a:pt x="240156" y="0"/>
                  </a:moveTo>
                  <a:lnTo>
                    <a:pt x="183006" y="0"/>
                  </a:lnTo>
                  <a:lnTo>
                    <a:pt x="183006" y="19050"/>
                  </a:lnTo>
                  <a:lnTo>
                    <a:pt x="240156" y="19050"/>
                  </a:lnTo>
                  <a:lnTo>
                    <a:pt x="240156" y="0"/>
                  </a:lnTo>
                  <a:close/>
                </a:path>
                <a:path w="3970020" h="2538095">
                  <a:moveTo>
                    <a:pt x="163956" y="0"/>
                  </a:moveTo>
                  <a:lnTo>
                    <a:pt x="106806" y="0"/>
                  </a:lnTo>
                  <a:lnTo>
                    <a:pt x="106806" y="19050"/>
                  </a:lnTo>
                  <a:lnTo>
                    <a:pt x="163956" y="19050"/>
                  </a:lnTo>
                  <a:lnTo>
                    <a:pt x="163956" y="0"/>
                  </a:lnTo>
                  <a:close/>
                </a:path>
                <a:path w="3970020" h="2538095">
                  <a:moveTo>
                    <a:pt x="87756" y="0"/>
                  </a:moveTo>
                  <a:lnTo>
                    <a:pt x="50165" y="0"/>
                  </a:lnTo>
                  <a:lnTo>
                    <a:pt x="45847" y="4191"/>
                  </a:lnTo>
                  <a:lnTo>
                    <a:pt x="45847" y="34289"/>
                  </a:lnTo>
                  <a:lnTo>
                    <a:pt x="64897" y="34289"/>
                  </a:lnTo>
                  <a:lnTo>
                    <a:pt x="64897" y="19050"/>
                  </a:lnTo>
                  <a:lnTo>
                    <a:pt x="55372" y="19050"/>
                  </a:lnTo>
                  <a:lnTo>
                    <a:pt x="64897" y="9525"/>
                  </a:lnTo>
                  <a:lnTo>
                    <a:pt x="87756" y="9525"/>
                  </a:lnTo>
                  <a:lnTo>
                    <a:pt x="87756" y="0"/>
                  </a:lnTo>
                  <a:close/>
                </a:path>
                <a:path w="3970020" h="2538095">
                  <a:moveTo>
                    <a:pt x="64897" y="9525"/>
                  </a:moveTo>
                  <a:lnTo>
                    <a:pt x="55372" y="19050"/>
                  </a:lnTo>
                  <a:lnTo>
                    <a:pt x="64897" y="19050"/>
                  </a:lnTo>
                  <a:lnTo>
                    <a:pt x="64897" y="9525"/>
                  </a:lnTo>
                  <a:close/>
                </a:path>
                <a:path w="3970020" h="2538095">
                  <a:moveTo>
                    <a:pt x="87756" y="9525"/>
                  </a:moveTo>
                  <a:lnTo>
                    <a:pt x="64897" y="9525"/>
                  </a:lnTo>
                  <a:lnTo>
                    <a:pt x="64897" y="19050"/>
                  </a:lnTo>
                  <a:lnTo>
                    <a:pt x="87756" y="19050"/>
                  </a:lnTo>
                  <a:lnTo>
                    <a:pt x="87756" y="9525"/>
                  </a:lnTo>
                  <a:close/>
                </a:path>
                <a:path w="3970020" h="2538095">
                  <a:moveTo>
                    <a:pt x="64897" y="53339"/>
                  </a:moveTo>
                  <a:lnTo>
                    <a:pt x="45847" y="53339"/>
                  </a:lnTo>
                  <a:lnTo>
                    <a:pt x="45847" y="110489"/>
                  </a:lnTo>
                  <a:lnTo>
                    <a:pt x="64897" y="110489"/>
                  </a:lnTo>
                  <a:lnTo>
                    <a:pt x="64897" y="53339"/>
                  </a:lnTo>
                  <a:close/>
                </a:path>
                <a:path w="3970020" h="2538095">
                  <a:moveTo>
                    <a:pt x="10668" y="132207"/>
                  </a:moveTo>
                  <a:lnTo>
                    <a:pt x="6096" y="134747"/>
                  </a:lnTo>
                  <a:lnTo>
                    <a:pt x="1651" y="137413"/>
                  </a:lnTo>
                  <a:lnTo>
                    <a:pt x="0" y="143256"/>
                  </a:lnTo>
                  <a:lnTo>
                    <a:pt x="55372" y="238125"/>
                  </a:lnTo>
                  <a:lnTo>
                    <a:pt x="66417" y="219201"/>
                  </a:lnTo>
                  <a:lnTo>
                    <a:pt x="45847" y="219201"/>
                  </a:lnTo>
                  <a:lnTo>
                    <a:pt x="45847" y="205739"/>
                  </a:lnTo>
                  <a:lnTo>
                    <a:pt x="52154" y="205739"/>
                  </a:lnTo>
                  <a:lnTo>
                    <a:pt x="55372" y="200224"/>
                  </a:lnTo>
                  <a:lnTo>
                    <a:pt x="47476" y="186689"/>
                  </a:lnTo>
                  <a:lnTo>
                    <a:pt x="45847" y="186689"/>
                  </a:lnTo>
                  <a:lnTo>
                    <a:pt x="45847" y="183895"/>
                  </a:lnTo>
                  <a:lnTo>
                    <a:pt x="19177" y="138175"/>
                  </a:lnTo>
                  <a:lnTo>
                    <a:pt x="16510" y="133731"/>
                  </a:lnTo>
                  <a:lnTo>
                    <a:pt x="10668" y="132207"/>
                  </a:lnTo>
                  <a:close/>
                </a:path>
                <a:path w="3970020" h="2538095">
                  <a:moveTo>
                    <a:pt x="52154" y="205739"/>
                  </a:moveTo>
                  <a:lnTo>
                    <a:pt x="45847" y="205739"/>
                  </a:lnTo>
                  <a:lnTo>
                    <a:pt x="45847" y="219201"/>
                  </a:lnTo>
                  <a:lnTo>
                    <a:pt x="64897" y="219201"/>
                  </a:lnTo>
                  <a:lnTo>
                    <a:pt x="64897" y="214375"/>
                  </a:lnTo>
                  <a:lnTo>
                    <a:pt x="47117" y="214375"/>
                  </a:lnTo>
                  <a:lnTo>
                    <a:pt x="52154" y="205739"/>
                  </a:lnTo>
                  <a:close/>
                </a:path>
                <a:path w="3970020" h="2538095">
                  <a:moveTo>
                    <a:pt x="74274" y="205739"/>
                  </a:moveTo>
                  <a:lnTo>
                    <a:pt x="64897" y="205739"/>
                  </a:lnTo>
                  <a:lnTo>
                    <a:pt x="64897" y="219201"/>
                  </a:lnTo>
                  <a:lnTo>
                    <a:pt x="66417" y="219201"/>
                  </a:lnTo>
                  <a:lnTo>
                    <a:pt x="74274" y="205739"/>
                  </a:lnTo>
                  <a:close/>
                </a:path>
                <a:path w="3970020" h="2538095">
                  <a:moveTo>
                    <a:pt x="55372" y="200224"/>
                  </a:moveTo>
                  <a:lnTo>
                    <a:pt x="47117" y="214375"/>
                  </a:lnTo>
                  <a:lnTo>
                    <a:pt x="63627" y="214375"/>
                  </a:lnTo>
                  <a:lnTo>
                    <a:pt x="55372" y="200224"/>
                  </a:lnTo>
                  <a:close/>
                </a:path>
                <a:path w="3970020" h="2538095">
                  <a:moveTo>
                    <a:pt x="64897" y="183895"/>
                  </a:moveTo>
                  <a:lnTo>
                    <a:pt x="55372" y="200224"/>
                  </a:lnTo>
                  <a:lnTo>
                    <a:pt x="63627" y="214375"/>
                  </a:lnTo>
                  <a:lnTo>
                    <a:pt x="64897" y="214375"/>
                  </a:lnTo>
                  <a:lnTo>
                    <a:pt x="64897" y="205739"/>
                  </a:lnTo>
                  <a:lnTo>
                    <a:pt x="74274" y="205739"/>
                  </a:lnTo>
                  <a:lnTo>
                    <a:pt x="85393" y="186689"/>
                  </a:lnTo>
                  <a:lnTo>
                    <a:pt x="64897" y="186689"/>
                  </a:lnTo>
                  <a:lnTo>
                    <a:pt x="64897" y="183895"/>
                  </a:lnTo>
                  <a:close/>
                </a:path>
                <a:path w="3970020" h="2538095">
                  <a:moveTo>
                    <a:pt x="45847" y="183895"/>
                  </a:moveTo>
                  <a:lnTo>
                    <a:pt x="45847" y="186689"/>
                  </a:lnTo>
                  <a:lnTo>
                    <a:pt x="47476" y="186689"/>
                  </a:lnTo>
                  <a:lnTo>
                    <a:pt x="45847" y="183895"/>
                  </a:lnTo>
                  <a:close/>
                </a:path>
                <a:path w="3970020" h="2538095">
                  <a:moveTo>
                    <a:pt x="64897" y="129539"/>
                  </a:moveTo>
                  <a:lnTo>
                    <a:pt x="45847" y="129539"/>
                  </a:lnTo>
                  <a:lnTo>
                    <a:pt x="45847" y="183895"/>
                  </a:lnTo>
                  <a:lnTo>
                    <a:pt x="47476" y="186689"/>
                  </a:lnTo>
                  <a:lnTo>
                    <a:pt x="63267" y="186689"/>
                  </a:lnTo>
                  <a:lnTo>
                    <a:pt x="64897" y="183895"/>
                  </a:lnTo>
                  <a:lnTo>
                    <a:pt x="64897" y="129539"/>
                  </a:lnTo>
                  <a:close/>
                </a:path>
                <a:path w="3970020" h="2538095">
                  <a:moveTo>
                    <a:pt x="100076" y="132207"/>
                  </a:moveTo>
                  <a:lnTo>
                    <a:pt x="94234" y="133731"/>
                  </a:lnTo>
                  <a:lnTo>
                    <a:pt x="91567" y="138175"/>
                  </a:lnTo>
                  <a:lnTo>
                    <a:pt x="64897" y="183895"/>
                  </a:lnTo>
                  <a:lnTo>
                    <a:pt x="64897" y="186689"/>
                  </a:lnTo>
                  <a:lnTo>
                    <a:pt x="85393" y="186689"/>
                  </a:lnTo>
                  <a:lnTo>
                    <a:pt x="110743" y="143256"/>
                  </a:lnTo>
                  <a:lnTo>
                    <a:pt x="109220" y="137413"/>
                  </a:lnTo>
                  <a:lnTo>
                    <a:pt x="104648" y="134747"/>
                  </a:lnTo>
                  <a:lnTo>
                    <a:pt x="100076" y="132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5">
              <a:extLst>
                <a:ext uri="{FF2B5EF4-FFF2-40B4-BE49-F238E27FC236}">
                  <a16:creationId xmlns:a16="http://schemas.microsoft.com/office/drawing/2014/main" id="{E61BE132-9E2B-0CBD-3335-C5AE9C834BD0}"/>
                </a:ext>
              </a:extLst>
            </p:cNvPr>
            <p:cNvSpPr/>
            <p:nvPr/>
          </p:nvSpPr>
          <p:spPr>
            <a:xfrm>
              <a:off x="4982844" y="2362199"/>
              <a:ext cx="1734820" cy="533400"/>
            </a:xfrm>
            <a:custGeom>
              <a:avLst/>
              <a:gdLst/>
              <a:ahLst/>
              <a:cxnLst/>
              <a:rect l="l" t="t" r="r" b="b"/>
              <a:pathLst>
                <a:path w="1734820" h="533400">
                  <a:moveTo>
                    <a:pt x="1734312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734312" y="533400"/>
                  </a:lnTo>
                  <a:lnTo>
                    <a:pt x="17343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6">
            <a:extLst>
              <a:ext uri="{FF2B5EF4-FFF2-40B4-BE49-F238E27FC236}">
                <a16:creationId xmlns:a16="http://schemas.microsoft.com/office/drawing/2014/main" id="{8E4A09CD-6D23-D852-AA00-74DCAE69A909}"/>
              </a:ext>
            </a:extLst>
          </p:cNvPr>
          <p:cNvSpPr txBox="1"/>
          <p:nvPr/>
        </p:nvSpPr>
        <p:spPr>
          <a:xfrm>
            <a:off x="6766941" y="2794304"/>
            <a:ext cx="762000" cy="609600"/>
          </a:xfrm>
          <a:prstGeom prst="rect">
            <a:avLst/>
          </a:prstGeom>
          <a:solidFill>
            <a:srgbClr val="EDEBE0"/>
          </a:solidFill>
          <a:ln w="25400">
            <a:solidFill>
              <a:srgbClr val="00000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05"/>
              </a:spcBef>
            </a:pPr>
            <a:r>
              <a:rPr sz="2400" i="1" dirty="0">
                <a:latin typeface="Calibri"/>
                <a:cs typeface="Calibri"/>
              </a:rPr>
              <a:t>X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17">
            <a:extLst>
              <a:ext uri="{FF2B5EF4-FFF2-40B4-BE49-F238E27FC236}">
                <a16:creationId xmlns:a16="http://schemas.microsoft.com/office/drawing/2014/main" id="{68C5794C-DE70-6013-DB71-8C0747E00959}"/>
              </a:ext>
            </a:extLst>
          </p:cNvPr>
          <p:cNvSpPr txBox="1"/>
          <p:nvPr/>
        </p:nvSpPr>
        <p:spPr>
          <a:xfrm>
            <a:off x="5226811" y="2447975"/>
            <a:ext cx="1247140" cy="706120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41605" marR="5080" indent="-129539">
              <a:lnSpc>
                <a:spcPct val="59600"/>
              </a:lnSpc>
              <a:spcBef>
                <a:spcPts val="1450"/>
              </a:spcBef>
            </a:pP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Demand 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Access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18">
            <a:extLst>
              <a:ext uri="{FF2B5EF4-FFF2-40B4-BE49-F238E27FC236}">
                <a16:creationId xmlns:a16="http://schemas.microsoft.com/office/drawing/2014/main" id="{D842937F-2F1F-4CE9-B276-EDB0258F78BC}"/>
              </a:ext>
            </a:extLst>
          </p:cNvPr>
          <p:cNvSpPr/>
          <p:nvPr/>
        </p:nvSpPr>
        <p:spPr>
          <a:xfrm>
            <a:off x="7081519" y="3398316"/>
            <a:ext cx="111125" cy="314960"/>
          </a:xfrm>
          <a:custGeom>
            <a:avLst/>
            <a:gdLst/>
            <a:ahLst/>
            <a:cxnLst/>
            <a:rect l="l" t="t" r="r" b="b"/>
            <a:pathLst>
              <a:path w="111125" h="314960">
                <a:moveTo>
                  <a:pt x="10668" y="209041"/>
                </a:moveTo>
                <a:lnTo>
                  <a:pt x="6096" y="211709"/>
                </a:lnTo>
                <a:lnTo>
                  <a:pt x="1650" y="214249"/>
                </a:lnTo>
                <a:lnTo>
                  <a:pt x="0" y="220090"/>
                </a:lnTo>
                <a:lnTo>
                  <a:pt x="55372" y="314960"/>
                </a:lnTo>
                <a:lnTo>
                  <a:pt x="66417" y="296037"/>
                </a:lnTo>
                <a:lnTo>
                  <a:pt x="45847" y="296037"/>
                </a:lnTo>
                <a:lnTo>
                  <a:pt x="45847" y="260858"/>
                </a:lnTo>
                <a:lnTo>
                  <a:pt x="16509" y="210565"/>
                </a:lnTo>
                <a:lnTo>
                  <a:pt x="10668" y="209041"/>
                </a:lnTo>
                <a:close/>
              </a:path>
              <a:path w="111125" h="314960">
                <a:moveTo>
                  <a:pt x="45847" y="260858"/>
                </a:moveTo>
                <a:lnTo>
                  <a:pt x="45847" y="296037"/>
                </a:lnTo>
                <a:lnTo>
                  <a:pt x="64897" y="296037"/>
                </a:lnTo>
                <a:lnTo>
                  <a:pt x="64897" y="291338"/>
                </a:lnTo>
                <a:lnTo>
                  <a:pt x="47116" y="291338"/>
                </a:lnTo>
                <a:lnTo>
                  <a:pt x="55372" y="277186"/>
                </a:lnTo>
                <a:lnTo>
                  <a:pt x="45847" y="260858"/>
                </a:lnTo>
                <a:close/>
              </a:path>
              <a:path w="111125" h="314960">
                <a:moveTo>
                  <a:pt x="100075" y="209041"/>
                </a:moveTo>
                <a:lnTo>
                  <a:pt x="94233" y="210565"/>
                </a:lnTo>
                <a:lnTo>
                  <a:pt x="64897" y="260858"/>
                </a:lnTo>
                <a:lnTo>
                  <a:pt x="64897" y="296037"/>
                </a:lnTo>
                <a:lnTo>
                  <a:pt x="66417" y="296037"/>
                </a:lnTo>
                <a:lnTo>
                  <a:pt x="110744" y="220090"/>
                </a:lnTo>
                <a:lnTo>
                  <a:pt x="109220" y="214249"/>
                </a:lnTo>
                <a:lnTo>
                  <a:pt x="104648" y="211709"/>
                </a:lnTo>
                <a:lnTo>
                  <a:pt x="100075" y="209041"/>
                </a:lnTo>
                <a:close/>
              </a:path>
              <a:path w="111125" h="314960">
                <a:moveTo>
                  <a:pt x="55371" y="277186"/>
                </a:moveTo>
                <a:lnTo>
                  <a:pt x="47116" y="291338"/>
                </a:lnTo>
                <a:lnTo>
                  <a:pt x="63626" y="291338"/>
                </a:lnTo>
                <a:lnTo>
                  <a:pt x="55371" y="277186"/>
                </a:lnTo>
                <a:close/>
              </a:path>
              <a:path w="111125" h="314960">
                <a:moveTo>
                  <a:pt x="64897" y="260858"/>
                </a:moveTo>
                <a:lnTo>
                  <a:pt x="55371" y="277186"/>
                </a:lnTo>
                <a:lnTo>
                  <a:pt x="63626" y="291338"/>
                </a:lnTo>
                <a:lnTo>
                  <a:pt x="64897" y="291338"/>
                </a:lnTo>
                <a:lnTo>
                  <a:pt x="64897" y="260858"/>
                </a:lnTo>
                <a:close/>
              </a:path>
              <a:path w="111125" h="314960">
                <a:moveTo>
                  <a:pt x="64897" y="0"/>
                </a:moveTo>
                <a:lnTo>
                  <a:pt x="45847" y="0"/>
                </a:lnTo>
                <a:lnTo>
                  <a:pt x="45847" y="260858"/>
                </a:lnTo>
                <a:lnTo>
                  <a:pt x="55371" y="277186"/>
                </a:lnTo>
                <a:lnTo>
                  <a:pt x="64896" y="260858"/>
                </a:lnTo>
                <a:lnTo>
                  <a:pt x="6489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19">
            <a:extLst>
              <a:ext uri="{FF2B5EF4-FFF2-40B4-BE49-F238E27FC236}">
                <a16:creationId xmlns:a16="http://schemas.microsoft.com/office/drawing/2014/main" id="{4F9EE222-B5DF-CE89-AB77-A82A6F631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74408"/>
              </p:ext>
            </p:extLst>
          </p:nvPr>
        </p:nvGraphicFramePr>
        <p:xfrm>
          <a:off x="6764146" y="4293794"/>
          <a:ext cx="3023870" cy="18337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400" i="1" spc="-5" dirty="0">
                          <a:latin typeface="Calibri"/>
                          <a:cs typeface="Calibri"/>
                        </a:rPr>
                        <a:t>X+1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DEBE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2400" i="1" spc="-5" dirty="0">
                          <a:latin typeface="Calibri"/>
                          <a:cs typeface="Calibri"/>
                        </a:rPr>
                        <a:t>X+1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DEB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2400" i="1" spc="-5" dirty="0">
                          <a:latin typeface="Calibri"/>
                          <a:cs typeface="Calibri"/>
                        </a:rPr>
                        <a:t>X+2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DEBE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50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2400" i="1" spc="-5" dirty="0">
                          <a:latin typeface="Calibri"/>
                          <a:cs typeface="Calibri"/>
                        </a:rPr>
                        <a:t>X+1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85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DEBE0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2400" i="1" spc="-5" dirty="0">
                          <a:latin typeface="Calibri"/>
                          <a:cs typeface="Calibri"/>
                        </a:rPr>
                        <a:t>X+2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85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DEBE0"/>
                    </a:solidFill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2400" i="1" spc="-5" dirty="0">
                          <a:latin typeface="Calibri"/>
                          <a:cs typeface="Calibri"/>
                        </a:rPr>
                        <a:t>X+3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85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DEBE0"/>
                    </a:solidFill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2400" i="1" spc="-5" dirty="0">
                          <a:latin typeface="Calibri"/>
                          <a:cs typeface="Calibri"/>
                        </a:rPr>
                        <a:t>X+4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85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D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object 20">
            <a:extLst>
              <a:ext uri="{FF2B5EF4-FFF2-40B4-BE49-F238E27FC236}">
                <a16:creationId xmlns:a16="http://schemas.microsoft.com/office/drawing/2014/main" id="{B6A85350-ED07-0480-381D-5F299AE7C411}"/>
              </a:ext>
            </a:extLst>
          </p:cNvPr>
          <p:cNvSpPr/>
          <p:nvPr/>
        </p:nvSpPr>
        <p:spPr>
          <a:xfrm>
            <a:off x="3248532" y="3064941"/>
            <a:ext cx="3469004" cy="111125"/>
          </a:xfrm>
          <a:custGeom>
            <a:avLst/>
            <a:gdLst/>
            <a:ahLst/>
            <a:cxnLst/>
            <a:rect l="l" t="t" r="r" b="b"/>
            <a:pathLst>
              <a:path w="3469004" h="111125">
                <a:moveTo>
                  <a:pt x="3430959" y="55308"/>
                </a:moveTo>
                <a:lnTo>
                  <a:pt x="3368802" y="91566"/>
                </a:lnTo>
                <a:lnTo>
                  <a:pt x="3364230" y="94106"/>
                </a:lnTo>
                <a:lnTo>
                  <a:pt x="3362706" y="99949"/>
                </a:lnTo>
                <a:lnTo>
                  <a:pt x="3368040" y="109092"/>
                </a:lnTo>
                <a:lnTo>
                  <a:pt x="3373882" y="110616"/>
                </a:lnTo>
                <a:lnTo>
                  <a:pt x="3452432" y="64769"/>
                </a:lnTo>
                <a:lnTo>
                  <a:pt x="3449828" y="64769"/>
                </a:lnTo>
                <a:lnTo>
                  <a:pt x="3449828" y="63500"/>
                </a:lnTo>
                <a:lnTo>
                  <a:pt x="3445002" y="63500"/>
                </a:lnTo>
                <a:lnTo>
                  <a:pt x="3430959" y="55308"/>
                </a:lnTo>
                <a:close/>
              </a:path>
              <a:path w="3469004" h="111125">
                <a:moveTo>
                  <a:pt x="1728978" y="45719"/>
                </a:moveTo>
                <a:lnTo>
                  <a:pt x="0" y="45719"/>
                </a:lnTo>
                <a:lnTo>
                  <a:pt x="0" y="64769"/>
                </a:lnTo>
                <a:lnTo>
                  <a:pt x="1734312" y="64769"/>
                </a:lnTo>
                <a:lnTo>
                  <a:pt x="1743837" y="55244"/>
                </a:lnTo>
                <a:lnTo>
                  <a:pt x="1724787" y="55244"/>
                </a:lnTo>
                <a:lnTo>
                  <a:pt x="1724787" y="50037"/>
                </a:lnTo>
                <a:lnTo>
                  <a:pt x="1728978" y="45719"/>
                </a:lnTo>
                <a:close/>
              </a:path>
              <a:path w="3469004" h="111125">
                <a:moveTo>
                  <a:pt x="1743837" y="55244"/>
                </a:moveTo>
                <a:lnTo>
                  <a:pt x="1734312" y="64769"/>
                </a:lnTo>
                <a:lnTo>
                  <a:pt x="1739519" y="64769"/>
                </a:lnTo>
                <a:lnTo>
                  <a:pt x="1743837" y="60578"/>
                </a:lnTo>
                <a:lnTo>
                  <a:pt x="1743837" y="55244"/>
                </a:lnTo>
                <a:close/>
              </a:path>
              <a:path w="3469004" h="111125">
                <a:moveTo>
                  <a:pt x="3414522" y="45719"/>
                </a:moveTo>
                <a:lnTo>
                  <a:pt x="1734312" y="45719"/>
                </a:lnTo>
                <a:lnTo>
                  <a:pt x="1724787" y="55244"/>
                </a:lnTo>
                <a:lnTo>
                  <a:pt x="1743837" y="55244"/>
                </a:lnTo>
                <a:lnTo>
                  <a:pt x="1743837" y="60578"/>
                </a:lnTo>
                <a:lnTo>
                  <a:pt x="1739519" y="64769"/>
                </a:lnTo>
                <a:lnTo>
                  <a:pt x="3414739" y="64769"/>
                </a:lnTo>
                <a:lnTo>
                  <a:pt x="3430959" y="55308"/>
                </a:lnTo>
                <a:lnTo>
                  <a:pt x="3414522" y="45719"/>
                </a:lnTo>
                <a:close/>
              </a:path>
              <a:path w="3469004" h="111125">
                <a:moveTo>
                  <a:pt x="3452394" y="45719"/>
                </a:moveTo>
                <a:lnTo>
                  <a:pt x="3449828" y="45719"/>
                </a:lnTo>
                <a:lnTo>
                  <a:pt x="3449828" y="64769"/>
                </a:lnTo>
                <a:lnTo>
                  <a:pt x="3452432" y="64769"/>
                </a:lnTo>
                <a:lnTo>
                  <a:pt x="3468751" y="55244"/>
                </a:lnTo>
                <a:lnTo>
                  <a:pt x="3452394" y="45719"/>
                </a:lnTo>
                <a:close/>
              </a:path>
              <a:path w="3469004" h="111125">
                <a:moveTo>
                  <a:pt x="3445002" y="47116"/>
                </a:moveTo>
                <a:lnTo>
                  <a:pt x="3430959" y="55308"/>
                </a:lnTo>
                <a:lnTo>
                  <a:pt x="3445002" y="63500"/>
                </a:lnTo>
                <a:lnTo>
                  <a:pt x="3445002" y="47116"/>
                </a:lnTo>
                <a:close/>
              </a:path>
              <a:path w="3469004" h="111125">
                <a:moveTo>
                  <a:pt x="3449828" y="47116"/>
                </a:moveTo>
                <a:lnTo>
                  <a:pt x="3445002" y="47116"/>
                </a:lnTo>
                <a:lnTo>
                  <a:pt x="3445002" y="63500"/>
                </a:lnTo>
                <a:lnTo>
                  <a:pt x="3449828" y="63500"/>
                </a:lnTo>
                <a:lnTo>
                  <a:pt x="3449828" y="47116"/>
                </a:lnTo>
                <a:close/>
              </a:path>
              <a:path w="3469004" h="111125">
                <a:moveTo>
                  <a:pt x="3373882" y="0"/>
                </a:moveTo>
                <a:lnTo>
                  <a:pt x="3368040" y="1524"/>
                </a:lnTo>
                <a:lnTo>
                  <a:pt x="3365373" y="6096"/>
                </a:lnTo>
                <a:lnTo>
                  <a:pt x="3362706" y="10540"/>
                </a:lnTo>
                <a:lnTo>
                  <a:pt x="3364230" y="16383"/>
                </a:lnTo>
                <a:lnTo>
                  <a:pt x="3430959" y="55308"/>
                </a:lnTo>
                <a:lnTo>
                  <a:pt x="3445002" y="47116"/>
                </a:lnTo>
                <a:lnTo>
                  <a:pt x="3449828" y="47116"/>
                </a:lnTo>
                <a:lnTo>
                  <a:pt x="3449828" y="45719"/>
                </a:lnTo>
                <a:lnTo>
                  <a:pt x="3452394" y="45719"/>
                </a:lnTo>
                <a:lnTo>
                  <a:pt x="3373882" y="0"/>
                </a:lnTo>
                <a:close/>
              </a:path>
              <a:path w="3469004" h="111125">
                <a:moveTo>
                  <a:pt x="1734312" y="45719"/>
                </a:moveTo>
                <a:lnTo>
                  <a:pt x="1728978" y="45719"/>
                </a:lnTo>
                <a:lnTo>
                  <a:pt x="1724787" y="50037"/>
                </a:lnTo>
                <a:lnTo>
                  <a:pt x="1724787" y="55244"/>
                </a:lnTo>
                <a:lnTo>
                  <a:pt x="1734312" y="45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1">
            <a:extLst>
              <a:ext uri="{FF2B5EF4-FFF2-40B4-BE49-F238E27FC236}">
                <a16:creationId xmlns:a16="http://schemas.microsoft.com/office/drawing/2014/main" id="{FE4D8B57-50C3-ECB6-F3AB-5BFD7A9CC024}"/>
              </a:ext>
            </a:extLst>
          </p:cNvPr>
          <p:cNvSpPr/>
          <p:nvPr/>
        </p:nvSpPr>
        <p:spPr>
          <a:xfrm>
            <a:off x="7081519" y="4097071"/>
            <a:ext cx="111125" cy="314960"/>
          </a:xfrm>
          <a:custGeom>
            <a:avLst/>
            <a:gdLst/>
            <a:ahLst/>
            <a:cxnLst/>
            <a:rect l="l" t="t" r="r" b="b"/>
            <a:pathLst>
              <a:path w="111125" h="314960">
                <a:moveTo>
                  <a:pt x="10668" y="209042"/>
                </a:moveTo>
                <a:lnTo>
                  <a:pt x="6096" y="211709"/>
                </a:lnTo>
                <a:lnTo>
                  <a:pt x="1650" y="214249"/>
                </a:lnTo>
                <a:lnTo>
                  <a:pt x="0" y="220091"/>
                </a:lnTo>
                <a:lnTo>
                  <a:pt x="55372" y="314960"/>
                </a:lnTo>
                <a:lnTo>
                  <a:pt x="66417" y="296037"/>
                </a:lnTo>
                <a:lnTo>
                  <a:pt x="45847" y="296037"/>
                </a:lnTo>
                <a:lnTo>
                  <a:pt x="45847" y="260858"/>
                </a:lnTo>
                <a:lnTo>
                  <a:pt x="16509" y="210566"/>
                </a:lnTo>
                <a:lnTo>
                  <a:pt x="10668" y="209042"/>
                </a:lnTo>
                <a:close/>
              </a:path>
              <a:path w="111125" h="314960">
                <a:moveTo>
                  <a:pt x="45847" y="260858"/>
                </a:moveTo>
                <a:lnTo>
                  <a:pt x="45847" y="296037"/>
                </a:lnTo>
                <a:lnTo>
                  <a:pt x="64897" y="296037"/>
                </a:lnTo>
                <a:lnTo>
                  <a:pt x="64897" y="291338"/>
                </a:lnTo>
                <a:lnTo>
                  <a:pt x="47116" y="291338"/>
                </a:lnTo>
                <a:lnTo>
                  <a:pt x="55371" y="277186"/>
                </a:lnTo>
                <a:lnTo>
                  <a:pt x="45847" y="260858"/>
                </a:lnTo>
                <a:close/>
              </a:path>
              <a:path w="111125" h="314960">
                <a:moveTo>
                  <a:pt x="100075" y="209042"/>
                </a:moveTo>
                <a:lnTo>
                  <a:pt x="94233" y="210566"/>
                </a:lnTo>
                <a:lnTo>
                  <a:pt x="64897" y="260858"/>
                </a:lnTo>
                <a:lnTo>
                  <a:pt x="64897" y="296037"/>
                </a:lnTo>
                <a:lnTo>
                  <a:pt x="66417" y="296037"/>
                </a:lnTo>
                <a:lnTo>
                  <a:pt x="110744" y="220091"/>
                </a:lnTo>
                <a:lnTo>
                  <a:pt x="109220" y="214249"/>
                </a:lnTo>
                <a:lnTo>
                  <a:pt x="104648" y="211709"/>
                </a:lnTo>
                <a:lnTo>
                  <a:pt x="100075" y="209042"/>
                </a:lnTo>
                <a:close/>
              </a:path>
              <a:path w="111125" h="314960">
                <a:moveTo>
                  <a:pt x="55372" y="277186"/>
                </a:moveTo>
                <a:lnTo>
                  <a:pt x="47116" y="291338"/>
                </a:lnTo>
                <a:lnTo>
                  <a:pt x="63626" y="291338"/>
                </a:lnTo>
                <a:lnTo>
                  <a:pt x="55372" y="277186"/>
                </a:lnTo>
                <a:close/>
              </a:path>
              <a:path w="111125" h="314960">
                <a:moveTo>
                  <a:pt x="64897" y="260858"/>
                </a:moveTo>
                <a:lnTo>
                  <a:pt x="55372" y="277186"/>
                </a:lnTo>
                <a:lnTo>
                  <a:pt x="63626" y="291338"/>
                </a:lnTo>
                <a:lnTo>
                  <a:pt x="64897" y="291338"/>
                </a:lnTo>
                <a:lnTo>
                  <a:pt x="64897" y="260858"/>
                </a:lnTo>
                <a:close/>
              </a:path>
              <a:path w="111125" h="314960">
                <a:moveTo>
                  <a:pt x="64897" y="0"/>
                </a:moveTo>
                <a:lnTo>
                  <a:pt x="45847" y="0"/>
                </a:lnTo>
                <a:lnTo>
                  <a:pt x="45847" y="260858"/>
                </a:lnTo>
                <a:lnTo>
                  <a:pt x="55372" y="277186"/>
                </a:lnTo>
                <a:lnTo>
                  <a:pt x="64896" y="260858"/>
                </a:lnTo>
                <a:lnTo>
                  <a:pt x="6489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2">
            <a:extLst>
              <a:ext uri="{FF2B5EF4-FFF2-40B4-BE49-F238E27FC236}">
                <a16:creationId xmlns:a16="http://schemas.microsoft.com/office/drawing/2014/main" id="{A039BB79-7134-5F49-4352-ED761B4F5ABA}"/>
              </a:ext>
            </a:extLst>
          </p:cNvPr>
          <p:cNvSpPr/>
          <p:nvPr/>
        </p:nvSpPr>
        <p:spPr>
          <a:xfrm>
            <a:off x="6550914" y="4209415"/>
            <a:ext cx="3394710" cy="2146935"/>
          </a:xfrm>
          <a:custGeom>
            <a:avLst/>
            <a:gdLst/>
            <a:ahLst/>
            <a:cxnLst/>
            <a:rect l="l" t="t" r="r" b="b"/>
            <a:pathLst>
              <a:path w="3394709" h="2146935">
                <a:moveTo>
                  <a:pt x="0" y="2146808"/>
                </a:moveTo>
                <a:lnTo>
                  <a:pt x="3394202" y="2146808"/>
                </a:lnTo>
                <a:lnTo>
                  <a:pt x="3394202" y="0"/>
                </a:lnTo>
                <a:lnTo>
                  <a:pt x="0" y="0"/>
                </a:lnTo>
                <a:lnTo>
                  <a:pt x="0" y="2146808"/>
                </a:lnTo>
                <a:close/>
              </a:path>
            </a:pathLst>
          </a:custGeom>
          <a:ln w="25400">
            <a:solidFill>
              <a:srgbClr val="385D8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0988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13C4B-F649-A076-94F1-9F7F6F49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Prefetch Distance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10323-E611-721A-D1D7-F0E264542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52FE2-D5F2-70FE-7D83-525268CB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16</a:t>
            </a:fld>
            <a:endParaRPr lang="en-IN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A7619A86-250B-9054-9409-078E6C540116}"/>
              </a:ext>
            </a:extLst>
          </p:cNvPr>
          <p:cNvGrpSpPr/>
          <p:nvPr/>
        </p:nvGrpSpPr>
        <p:grpSpPr>
          <a:xfrm>
            <a:off x="222250" y="1372489"/>
            <a:ext cx="11747500" cy="1003300"/>
            <a:chOff x="222250" y="1136650"/>
            <a:chExt cx="11747500" cy="1003300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4F464C01-FB99-44C4-6F13-A32E10F17DB4}"/>
                </a:ext>
              </a:extLst>
            </p:cNvPr>
            <p:cNvSpPr/>
            <p:nvPr/>
          </p:nvSpPr>
          <p:spPr>
            <a:xfrm>
              <a:off x="228600" y="11430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115697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11569700" y="990600"/>
                  </a:lnTo>
                  <a:lnTo>
                    <a:pt x="11613591" y="984702"/>
                  </a:lnTo>
                  <a:lnTo>
                    <a:pt x="11653030" y="968059"/>
                  </a:lnTo>
                  <a:lnTo>
                    <a:pt x="11686444" y="942244"/>
                  </a:lnTo>
                  <a:lnTo>
                    <a:pt x="11712259" y="908830"/>
                  </a:lnTo>
                  <a:lnTo>
                    <a:pt x="11728902" y="869391"/>
                  </a:lnTo>
                  <a:lnTo>
                    <a:pt x="11734800" y="825500"/>
                  </a:lnTo>
                  <a:lnTo>
                    <a:pt x="11734800" y="165100"/>
                  </a:lnTo>
                  <a:lnTo>
                    <a:pt x="11728902" y="121208"/>
                  </a:lnTo>
                  <a:lnTo>
                    <a:pt x="11712259" y="81769"/>
                  </a:lnTo>
                  <a:lnTo>
                    <a:pt x="11686444" y="48355"/>
                  </a:lnTo>
                  <a:lnTo>
                    <a:pt x="11653030" y="22540"/>
                  </a:lnTo>
                  <a:lnTo>
                    <a:pt x="11613591" y="5897"/>
                  </a:lnTo>
                  <a:lnTo>
                    <a:pt x="115697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298197A4-1C23-672F-EF7B-E87FD4705349}"/>
                </a:ext>
              </a:extLst>
            </p:cNvPr>
            <p:cNvSpPr/>
            <p:nvPr/>
          </p:nvSpPr>
          <p:spPr>
            <a:xfrm>
              <a:off x="228600" y="11430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11569700" y="0"/>
                  </a:lnTo>
                  <a:lnTo>
                    <a:pt x="11613591" y="5897"/>
                  </a:lnTo>
                  <a:lnTo>
                    <a:pt x="11653030" y="22540"/>
                  </a:lnTo>
                  <a:lnTo>
                    <a:pt x="11686444" y="48355"/>
                  </a:lnTo>
                  <a:lnTo>
                    <a:pt x="11712259" y="81769"/>
                  </a:lnTo>
                  <a:lnTo>
                    <a:pt x="11728902" y="121208"/>
                  </a:lnTo>
                  <a:lnTo>
                    <a:pt x="11734800" y="165100"/>
                  </a:lnTo>
                  <a:lnTo>
                    <a:pt x="11734800" y="825500"/>
                  </a:lnTo>
                  <a:lnTo>
                    <a:pt x="11728902" y="869391"/>
                  </a:lnTo>
                  <a:lnTo>
                    <a:pt x="11712259" y="908830"/>
                  </a:lnTo>
                  <a:lnTo>
                    <a:pt x="11686444" y="942244"/>
                  </a:lnTo>
                  <a:lnTo>
                    <a:pt x="11653030" y="968059"/>
                  </a:lnTo>
                  <a:lnTo>
                    <a:pt x="11613591" y="984702"/>
                  </a:lnTo>
                  <a:lnTo>
                    <a:pt x="115697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6">
            <a:extLst>
              <a:ext uri="{FF2B5EF4-FFF2-40B4-BE49-F238E27FC236}">
                <a16:creationId xmlns:a16="http://schemas.microsoft.com/office/drawing/2014/main" id="{ECD7A66B-2ECC-46F1-B12D-D54A7860A9F5}"/>
              </a:ext>
            </a:extLst>
          </p:cNvPr>
          <p:cNvSpPr txBox="1"/>
          <p:nvPr/>
        </p:nvSpPr>
        <p:spPr>
          <a:xfrm>
            <a:off x="523443" y="1425829"/>
            <a:ext cx="1061212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solidFill>
                  <a:srgbClr val="C00000"/>
                </a:solidFill>
                <a:latin typeface="Cambria"/>
                <a:cs typeface="Cambria"/>
              </a:rPr>
              <a:t>Prefetch</a:t>
            </a:r>
            <a:r>
              <a:rPr sz="2800" spc="-5" dirty="0">
                <a:solidFill>
                  <a:srgbClr val="C00000"/>
                </a:solidFill>
                <a:latin typeface="Cambria"/>
                <a:cs typeface="Cambria"/>
              </a:rPr>
              <a:t> Distance: </a:t>
            </a:r>
            <a:r>
              <a:rPr sz="2800" spc="-10" dirty="0">
                <a:latin typeface="Cambria"/>
                <a:cs typeface="Cambria"/>
              </a:rPr>
              <a:t>How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far</a:t>
            </a:r>
            <a:r>
              <a:rPr sz="2800" spc="-5" dirty="0">
                <a:latin typeface="Cambria"/>
                <a:cs typeface="Cambria"/>
              </a:rPr>
              <a:t> ahead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 demand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access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stream </a:t>
            </a:r>
            <a:r>
              <a:rPr sz="2800" spc="-20" dirty="0">
                <a:latin typeface="Cambria"/>
                <a:cs typeface="Cambria"/>
              </a:rPr>
              <a:t>are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the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prefetch</a:t>
            </a:r>
            <a:r>
              <a:rPr sz="2800" spc="-10" dirty="0">
                <a:latin typeface="Cambria"/>
                <a:cs typeface="Cambria"/>
              </a:rPr>
              <a:t> requests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issued?</a:t>
            </a:r>
            <a:endParaRPr sz="2800">
              <a:latin typeface="Cambria"/>
              <a:cs typeface="Cambria"/>
            </a:endParaRPr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9A7879C5-C4BF-478E-98CF-85B7FC1B3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005138"/>
              </p:ext>
            </p:extLst>
          </p:nvPr>
        </p:nvGraphicFramePr>
        <p:xfrm>
          <a:off x="1816100" y="3834637"/>
          <a:ext cx="6705599" cy="838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2400" i="1" dirty="0">
                          <a:latin typeface="Cambria"/>
                          <a:cs typeface="Cambria"/>
                        </a:rPr>
                        <a:t>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22479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2400" i="1" dirty="0">
                          <a:latin typeface="Cambria"/>
                          <a:cs typeface="Cambria"/>
                        </a:rPr>
                        <a:t>Y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22479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497DBA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97DBA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8">
            <a:extLst>
              <a:ext uri="{FF2B5EF4-FFF2-40B4-BE49-F238E27FC236}">
                <a16:creationId xmlns:a16="http://schemas.microsoft.com/office/drawing/2014/main" id="{3E022412-95DB-297D-6477-A83F6F232B11}"/>
              </a:ext>
            </a:extLst>
          </p:cNvPr>
          <p:cNvSpPr txBox="1"/>
          <p:nvPr/>
        </p:nvSpPr>
        <p:spPr>
          <a:xfrm>
            <a:off x="3571747" y="2628595"/>
            <a:ext cx="1051560" cy="646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40"/>
              </a:lnSpc>
              <a:spcBef>
                <a:spcPts val="100"/>
              </a:spcBef>
            </a:pP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dem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400" i="1" spc="-5" dirty="0">
                <a:solidFill>
                  <a:srgbClr val="FF0000"/>
                </a:solidFill>
                <a:latin typeface="Cambria"/>
                <a:cs typeface="Cambria"/>
              </a:rPr>
              <a:t>nd</a:t>
            </a:r>
            <a:endParaRPr sz="2400">
              <a:latin typeface="Cambria"/>
              <a:cs typeface="Cambria"/>
            </a:endParaRPr>
          </a:p>
          <a:p>
            <a:pPr marL="131445">
              <a:lnSpc>
                <a:spcPts val="2440"/>
              </a:lnSpc>
            </a:pPr>
            <a:r>
              <a:rPr sz="2400" i="1" spc="-15" dirty="0">
                <a:solidFill>
                  <a:srgbClr val="FF0000"/>
                </a:solidFill>
                <a:latin typeface="Cambria"/>
                <a:cs typeface="Cambria"/>
              </a:rPr>
              <a:t>access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C815070B-8E8D-15E3-23CF-30763BF74597}"/>
              </a:ext>
            </a:extLst>
          </p:cNvPr>
          <p:cNvSpPr/>
          <p:nvPr/>
        </p:nvSpPr>
        <p:spPr>
          <a:xfrm>
            <a:off x="3868187" y="3390011"/>
            <a:ext cx="171450" cy="457834"/>
          </a:xfrm>
          <a:custGeom>
            <a:avLst/>
            <a:gdLst/>
            <a:ahLst/>
            <a:cxnLst/>
            <a:rect l="l" t="t" r="r" b="b"/>
            <a:pathLst>
              <a:path w="171450" h="457835">
                <a:moveTo>
                  <a:pt x="16569" y="286152"/>
                </a:moveTo>
                <a:lnTo>
                  <a:pt x="9376" y="288543"/>
                </a:lnTo>
                <a:lnTo>
                  <a:pt x="3694" y="293594"/>
                </a:lnTo>
                <a:lnTo>
                  <a:pt x="502" y="300180"/>
                </a:lnTo>
                <a:lnTo>
                  <a:pt x="0" y="307457"/>
                </a:lnTo>
                <a:lnTo>
                  <a:pt x="2391" y="314578"/>
                </a:lnTo>
                <a:lnTo>
                  <a:pt x="85068" y="457453"/>
                </a:lnTo>
                <a:lnTo>
                  <a:pt x="107336" y="419607"/>
                </a:lnTo>
                <a:lnTo>
                  <a:pt x="66145" y="419480"/>
                </a:lnTo>
                <a:lnTo>
                  <a:pt x="66400" y="349078"/>
                </a:lnTo>
                <a:lnTo>
                  <a:pt x="35411" y="295528"/>
                </a:lnTo>
                <a:lnTo>
                  <a:pt x="30432" y="289847"/>
                </a:lnTo>
                <a:lnTo>
                  <a:pt x="23870" y="286654"/>
                </a:lnTo>
                <a:lnTo>
                  <a:pt x="16569" y="286152"/>
                </a:lnTo>
                <a:close/>
              </a:path>
              <a:path w="171450" h="457835">
                <a:moveTo>
                  <a:pt x="66400" y="349078"/>
                </a:moveTo>
                <a:lnTo>
                  <a:pt x="66145" y="419480"/>
                </a:lnTo>
                <a:lnTo>
                  <a:pt x="104245" y="419607"/>
                </a:lnTo>
                <a:lnTo>
                  <a:pt x="104279" y="410082"/>
                </a:lnTo>
                <a:lnTo>
                  <a:pt x="68812" y="409955"/>
                </a:lnTo>
                <a:lnTo>
                  <a:pt x="85352" y="381825"/>
                </a:lnTo>
                <a:lnTo>
                  <a:pt x="66400" y="349078"/>
                </a:lnTo>
                <a:close/>
              </a:path>
              <a:path w="171450" h="457835">
                <a:moveTo>
                  <a:pt x="154781" y="286587"/>
                </a:moveTo>
                <a:lnTo>
                  <a:pt x="104500" y="349258"/>
                </a:lnTo>
                <a:lnTo>
                  <a:pt x="104245" y="419607"/>
                </a:lnTo>
                <a:lnTo>
                  <a:pt x="107336" y="419607"/>
                </a:lnTo>
                <a:lnTo>
                  <a:pt x="168761" y="315213"/>
                </a:lnTo>
                <a:lnTo>
                  <a:pt x="171225" y="308018"/>
                </a:lnTo>
                <a:lnTo>
                  <a:pt x="170761" y="300704"/>
                </a:lnTo>
                <a:lnTo>
                  <a:pt x="167582" y="294104"/>
                </a:lnTo>
                <a:lnTo>
                  <a:pt x="161903" y="289051"/>
                </a:lnTo>
                <a:lnTo>
                  <a:pt x="154781" y="286587"/>
                </a:lnTo>
                <a:close/>
              </a:path>
              <a:path w="171450" h="457835">
                <a:moveTo>
                  <a:pt x="85352" y="381825"/>
                </a:moveTo>
                <a:lnTo>
                  <a:pt x="68812" y="409955"/>
                </a:lnTo>
                <a:lnTo>
                  <a:pt x="101705" y="410082"/>
                </a:lnTo>
                <a:lnTo>
                  <a:pt x="85352" y="381825"/>
                </a:lnTo>
                <a:close/>
              </a:path>
              <a:path w="171450" h="457835">
                <a:moveTo>
                  <a:pt x="104500" y="349258"/>
                </a:moveTo>
                <a:lnTo>
                  <a:pt x="85352" y="381825"/>
                </a:lnTo>
                <a:lnTo>
                  <a:pt x="101705" y="410082"/>
                </a:lnTo>
                <a:lnTo>
                  <a:pt x="104279" y="410082"/>
                </a:lnTo>
                <a:lnTo>
                  <a:pt x="104500" y="349258"/>
                </a:lnTo>
                <a:close/>
              </a:path>
              <a:path w="171450" h="457835">
                <a:moveTo>
                  <a:pt x="67669" y="0"/>
                </a:moveTo>
                <a:lnTo>
                  <a:pt x="66629" y="286152"/>
                </a:lnTo>
                <a:lnTo>
                  <a:pt x="66505" y="349258"/>
                </a:lnTo>
                <a:lnTo>
                  <a:pt x="85352" y="381825"/>
                </a:lnTo>
                <a:lnTo>
                  <a:pt x="104500" y="349258"/>
                </a:lnTo>
                <a:lnTo>
                  <a:pt x="105769" y="126"/>
                </a:lnTo>
                <a:lnTo>
                  <a:pt x="676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0">
            <a:extLst>
              <a:ext uri="{FF2B5EF4-FFF2-40B4-BE49-F238E27FC236}">
                <a16:creationId xmlns:a16="http://schemas.microsoft.com/office/drawing/2014/main" id="{9FDE59BB-412F-012E-114A-F251E1571F1D}"/>
              </a:ext>
            </a:extLst>
          </p:cNvPr>
          <p:cNvGrpSpPr/>
          <p:nvPr/>
        </p:nvGrpSpPr>
        <p:grpSpPr>
          <a:xfrm>
            <a:off x="3747134" y="4818887"/>
            <a:ext cx="2444115" cy="552450"/>
            <a:chOff x="3747134" y="4583048"/>
            <a:chExt cx="2444115" cy="552450"/>
          </a:xfrm>
        </p:grpSpPr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03CA4ABE-61CE-6144-D313-0691359AE01E}"/>
                </a:ext>
              </a:extLst>
            </p:cNvPr>
            <p:cNvSpPr/>
            <p:nvPr/>
          </p:nvSpPr>
          <p:spPr>
            <a:xfrm>
              <a:off x="3809999" y="4602098"/>
              <a:ext cx="2362200" cy="228600"/>
            </a:xfrm>
            <a:custGeom>
              <a:avLst/>
              <a:gdLst/>
              <a:ahLst/>
              <a:cxnLst/>
              <a:rect l="l" t="t" r="r" b="b"/>
              <a:pathLst>
                <a:path w="2362200" h="228600">
                  <a:moveTo>
                    <a:pt x="2362200" y="0"/>
                  </a:moveTo>
                  <a:lnTo>
                    <a:pt x="2360705" y="44487"/>
                  </a:lnTo>
                  <a:lnTo>
                    <a:pt x="2356627" y="80819"/>
                  </a:lnTo>
                  <a:lnTo>
                    <a:pt x="2350573" y="105316"/>
                  </a:lnTo>
                  <a:lnTo>
                    <a:pt x="2343150" y="114300"/>
                  </a:lnTo>
                  <a:lnTo>
                    <a:pt x="1200150" y="114300"/>
                  </a:lnTo>
                  <a:lnTo>
                    <a:pt x="1192726" y="123283"/>
                  </a:lnTo>
                  <a:lnTo>
                    <a:pt x="1186672" y="147780"/>
                  </a:lnTo>
                  <a:lnTo>
                    <a:pt x="1182594" y="184112"/>
                  </a:lnTo>
                  <a:lnTo>
                    <a:pt x="1181100" y="228600"/>
                  </a:lnTo>
                  <a:lnTo>
                    <a:pt x="1179605" y="184112"/>
                  </a:lnTo>
                  <a:lnTo>
                    <a:pt x="1175527" y="147780"/>
                  </a:lnTo>
                  <a:lnTo>
                    <a:pt x="1169473" y="123283"/>
                  </a:lnTo>
                  <a:lnTo>
                    <a:pt x="1162050" y="114300"/>
                  </a:lnTo>
                  <a:lnTo>
                    <a:pt x="19050" y="114300"/>
                  </a:lnTo>
                  <a:lnTo>
                    <a:pt x="11626" y="105316"/>
                  </a:lnTo>
                  <a:lnTo>
                    <a:pt x="5572" y="80819"/>
                  </a:lnTo>
                  <a:lnTo>
                    <a:pt x="1494" y="44487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5689237F-2B74-F916-AEE6-1EFBE27C238A}"/>
                </a:ext>
              </a:extLst>
            </p:cNvPr>
            <p:cNvSpPr/>
            <p:nvPr/>
          </p:nvSpPr>
          <p:spPr>
            <a:xfrm>
              <a:off x="3747134" y="4830698"/>
              <a:ext cx="2438400" cy="304800"/>
            </a:xfrm>
            <a:custGeom>
              <a:avLst/>
              <a:gdLst/>
              <a:ahLst/>
              <a:cxnLst/>
              <a:rect l="l" t="t" r="r" b="b"/>
              <a:pathLst>
                <a:path w="2438400" h="304800">
                  <a:moveTo>
                    <a:pt x="2438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438400" y="30480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3">
            <a:extLst>
              <a:ext uri="{FF2B5EF4-FFF2-40B4-BE49-F238E27FC236}">
                <a16:creationId xmlns:a16="http://schemas.microsoft.com/office/drawing/2014/main" id="{31E548AD-6FE5-4075-3D39-320CC6EF1823}"/>
              </a:ext>
            </a:extLst>
          </p:cNvPr>
          <p:cNvSpPr txBox="1"/>
          <p:nvPr/>
        </p:nvSpPr>
        <p:spPr>
          <a:xfrm>
            <a:off x="3854322" y="5017008"/>
            <a:ext cx="2225675" cy="138811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6355" marR="5080" indent="-34290">
              <a:lnSpc>
                <a:spcPts val="2740"/>
              </a:lnSpc>
              <a:spcBef>
                <a:spcPts val="305"/>
              </a:spcBef>
            </a:pPr>
            <a:r>
              <a:rPr sz="2400" i="1" spc="-5" dirty="0">
                <a:solidFill>
                  <a:srgbClr val="FF0000"/>
                </a:solidFill>
                <a:latin typeface="Cambria"/>
                <a:cs typeface="Cambria"/>
              </a:rPr>
              <a:t>P</a:t>
            </a:r>
            <a:r>
              <a:rPr sz="2400" i="1" spc="-30" dirty="0">
                <a:solidFill>
                  <a:srgbClr val="FF0000"/>
                </a:solidFill>
                <a:latin typeface="Cambria"/>
                <a:cs typeface="Cambria"/>
              </a:rPr>
              <a:t>r</a:t>
            </a:r>
            <a:r>
              <a:rPr sz="2400" i="1" spc="-5" dirty="0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r>
              <a:rPr sz="2400" i="1" spc="-25" dirty="0">
                <a:solidFill>
                  <a:srgbClr val="FF0000"/>
                </a:solidFill>
                <a:latin typeface="Cambria"/>
                <a:cs typeface="Cambria"/>
              </a:rPr>
              <a:t>f</a:t>
            </a:r>
            <a:r>
              <a:rPr sz="2400" i="1" spc="-5" dirty="0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r>
              <a:rPr sz="2400" i="1" spc="-20" dirty="0">
                <a:solidFill>
                  <a:srgbClr val="FF0000"/>
                </a:solidFill>
                <a:latin typeface="Cambria"/>
                <a:cs typeface="Cambria"/>
              </a:rPr>
              <a:t>tc</a:t>
            </a:r>
            <a:r>
              <a:rPr sz="2400" i="1" spc="-5" dirty="0">
                <a:solidFill>
                  <a:srgbClr val="FF0000"/>
                </a:solidFill>
                <a:latin typeface="Cambria"/>
                <a:cs typeface="Cambria"/>
              </a:rPr>
              <a:t>h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-dis</a:t>
            </a:r>
            <a:r>
              <a:rPr sz="2400" i="1" spc="-20" dirty="0">
                <a:solidFill>
                  <a:srgbClr val="FF0000"/>
                </a:solidFill>
                <a:latin typeface="Cambria"/>
                <a:cs typeface="Cambria"/>
              </a:rPr>
              <a:t>t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an</a:t>
            </a:r>
            <a:r>
              <a:rPr sz="2400" i="1" spc="-25" dirty="0">
                <a:solidFill>
                  <a:srgbClr val="FF0000"/>
                </a:solidFill>
                <a:latin typeface="Cambria"/>
                <a:cs typeface="Cambria"/>
              </a:rPr>
              <a:t>c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e  </a:t>
            </a:r>
            <a:r>
              <a:rPr sz="2400" i="1" dirty="0">
                <a:latin typeface="Cambria"/>
                <a:cs typeface="Cambria"/>
              </a:rPr>
              <a:t>Y</a:t>
            </a:r>
            <a:r>
              <a:rPr sz="2400" i="1" spc="-14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=</a:t>
            </a:r>
            <a:r>
              <a:rPr sz="2400" i="1" spc="-1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X +</a:t>
            </a:r>
            <a:r>
              <a:rPr sz="2400" i="1" spc="-1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4</a:t>
            </a:r>
            <a:endParaRPr sz="2400">
              <a:latin typeface="Cambria"/>
              <a:cs typeface="Cambria"/>
            </a:endParaRPr>
          </a:p>
          <a:p>
            <a:pPr marL="28575" marR="963930" indent="17780">
              <a:lnSpc>
                <a:spcPts val="2500"/>
              </a:lnSpc>
              <a:spcBef>
                <a:spcPts val="60"/>
              </a:spcBef>
            </a:pPr>
            <a:r>
              <a:rPr sz="2400" i="1" dirty="0">
                <a:latin typeface="Cambria"/>
                <a:cs typeface="Cambria"/>
              </a:rPr>
              <a:t>Y</a:t>
            </a:r>
            <a:r>
              <a:rPr sz="2400" i="1" spc="-14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=</a:t>
            </a:r>
            <a:r>
              <a:rPr sz="2400" i="1" spc="-1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X</a:t>
            </a:r>
            <a:r>
              <a:rPr sz="2400" i="1" spc="-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+</a:t>
            </a:r>
            <a:r>
              <a:rPr sz="2400" i="1" spc="-1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8  Y</a:t>
            </a:r>
            <a:r>
              <a:rPr sz="2400" i="1" spc="-14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=</a:t>
            </a:r>
            <a:r>
              <a:rPr sz="2400" i="1" spc="-1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X</a:t>
            </a:r>
            <a:r>
              <a:rPr sz="2400" i="1" spc="-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+</a:t>
            </a:r>
            <a:r>
              <a:rPr sz="2400" i="1" spc="-10" dirty="0">
                <a:latin typeface="Cambria"/>
                <a:cs typeface="Cambria"/>
              </a:rPr>
              <a:t> </a:t>
            </a:r>
            <a:r>
              <a:rPr sz="2400" i="1" spc="-5" dirty="0">
                <a:latin typeface="Cambria"/>
                <a:cs typeface="Cambria"/>
              </a:rPr>
              <a:t>16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913569BF-96AA-4475-FEBE-677489BBC656}"/>
              </a:ext>
            </a:extLst>
          </p:cNvPr>
          <p:cNvSpPr/>
          <p:nvPr/>
        </p:nvSpPr>
        <p:spPr>
          <a:xfrm>
            <a:off x="6315983" y="3313937"/>
            <a:ext cx="171450" cy="537845"/>
          </a:xfrm>
          <a:custGeom>
            <a:avLst/>
            <a:gdLst/>
            <a:ahLst/>
            <a:cxnLst/>
            <a:rect l="l" t="t" r="r" b="b"/>
            <a:pathLst>
              <a:path w="171450" h="537845">
                <a:moveTo>
                  <a:pt x="16444" y="366668"/>
                </a:moveTo>
                <a:lnTo>
                  <a:pt x="9251" y="369062"/>
                </a:lnTo>
                <a:lnTo>
                  <a:pt x="3643" y="374114"/>
                </a:lnTo>
                <a:lnTo>
                  <a:pt x="488" y="380714"/>
                </a:lnTo>
                <a:lnTo>
                  <a:pt x="0" y="388028"/>
                </a:lnTo>
                <a:lnTo>
                  <a:pt x="2393" y="395224"/>
                </a:lnTo>
                <a:lnTo>
                  <a:pt x="85578" y="537718"/>
                </a:lnTo>
                <a:lnTo>
                  <a:pt x="107638" y="499872"/>
                </a:lnTo>
                <a:lnTo>
                  <a:pt x="66528" y="499872"/>
                </a:lnTo>
                <a:lnTo>
                  <a:pt x="66401" y="429260"/>
                </a:lnTo>
                <a:lnTo>
                  <a:pt x="35286" y="375920"/>
                </a:lnTo>
                <a:lnTo>
                  <a:pt x="30307" y="370312"/>
                </a:lnTo>
                <a:lnTo>
                  <a:pt x="23745" y="367156"/>
                </a:lnTo>
                <a:lnTo>
                  <a:pt x="16444" y="366668"/>
                </a:lnTo>
                <a:close/>
              </a:path>
              <a:path w="171450" h="537845">
                <a:moveTo>
                  <a:pt x="66528" y="429477"/>
                </a:moveTo>
                <a:lnTo>
                  <a:pt x="66528" y="499872"/>
                </a:lnTo>
                <a:lnTo>
                  <a:pt x="104628" y="499872"/>
                </a:lnTo>
                <a:lnTo>
                  <a:pt x="104628" y="490220"/>
                </a:lnTo>
                <a:lnTo>
                  <a:pt x="69068" y="490220"/>
                </a:lnTo>
                <a:lnTo>
                  <a:pt x="85514" y="462025"/>
                </a:lnTo>
                <a:lnTo>
                  <a:pt x="66528" y="429477"/>
                </a:lnTo>
                <a:close/>
              </a:path>
              <a:path w="171450" h="537845">
                <a:moveTo>
                  <a:pt x="154656" y="366668"/>
                </a:moveTo>
                <a:lnTo>
                  <a:pt x="147379" y="367156"/>
                </a:lnTo>
                <a:lnTo>
                  <a:pt x="140793" y="370312"/>
                </a:lnTo>
                <a:lnTo>
                  <a:pt x="135743" y="375920"/>
                </a:lnTo>
                <a:lnTo>
                  <a:pt x="104628" y="429260"/>
                </a:lnTo>
                <a:lnTo>
                  <a:pt x="104628" y="499872"/>
                </a:lnTo>
                <a:lnTo>
                  <a:pt x="107638" y="499872"/>
                </a:lnTo>
                <a:lnTo>
                  <a:pt x="168636" y="395224"/>
                </a:lnTo>
                <a:lnTo>
                  <a:pt x="171100" y="388028"/>
                </a:lnTo>
                <a:lnTo>
                  <a:pt x="170636" y="380714"/>
                </a:lnTo>
                <a:lnTo>
                  <a:pt x="167457" y="374114"/>
                </a:lnTo>
                <a:lnTo>
                  <a:pt x="161778" y="369062"/>
                </a:lnTo>
                <a:lnTo>
                  <a:pt x="154656" y="366668"/>
                </a:lnTo>
                <a:close/>
              </a:path>
              <a:path w="171450" h="537845">
                <a:moveTo>
                  <a:pt x="85514" y="462025"/>
                </a:moveTo>
                <a:lnTo>
                  <a:pt x="69068" y="490220"/>
                </a:lnTo>
                <a:lnTo>
                  <a:pt x="101961" y="490220"/>
                </a:lnTo>
                <a:lnTo>
                  <a:pt x="85514" y="462025"/>
                </a:lnTo>
                <a:close/>
              </a:path>
              <a:path w="171450" h="537845">
                <a:moveTo>
                  <a:pt x="104628" y="429260"/>
                </a:moveTo>
                <a:lnTo>
                  <a:pt x="85514" y="462025"/>
                </a:lnTo>
                <a:lnTo>
                  <a:pt x="101961" y="490220"/>
                </a:lnTo>
                <a:lnTo>
                  <a:pt x="104628" y="490220"/>
                </a:lnTo>
                <a:lnTo>
                  <a:pt x="104628" y="429260"/>
                </a:lnTo>
                <a:close/>
              </a:path>
              <a:path w="171450" h="537845">
                <a:moveTo>
                  <a:pt x="104628" y="0"/>
                </a:moveTo>
                <a:lnTo>
                  <a:pt x="66528" y="0"/>
                </a:lnTo>
                <a:lnTo>
                  <a:pt x="66528" y="429477"/>
                </a:lnTo>
                <a:lnTo>
                  <a:pt x="85514" y="462025"/>
                </a:lnTo>
                <a:lnTo>
                  <a:pt x="104501" y="429477"/>
                </a:lnTo>
                <a:lnTo>
                  <a:pt x="10462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307A672D-93CF-E018-883E-10E2229969CC}"/>
              </a:ext>
            </a:extLst>
          </p:cNvPr>
          <p:cNvSpPr txBox="1"/>
          <p:nvPr/>
        </p:nvSpPr>
        <p:spPr>
          <a:xfrm>
            <a:off x="5868670" y="2725496"/>
            <a:ext cx="10655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p</a:t>
            </a:r>
            <a:r>
              <a:rPr sz="2400" i="1" spc="-40" dirty="0">
                <a:solidFill>
                  <a:srgbClr val="FF0000"/>
                </a:solidFill>
                <a:latin typeface="Cambria"/>
                <a:cs typeface="Cambria"/>
              </a:rPr>
              <a:t>r</a:t>
            </a:r>
            <a:r>
              <a:rPr sz="2400" i="1" spc="-5" dirty="0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r>
              <a:rPr sz="2400" i="1" spc="-25" dirty="0">
                <a:solidFill>
                  <a:srgbClr val="FF0000"/>
                </a:solidFill>
                <a:latin typeface="Cambria"/>
                <a:cs typeface="Cambria"/>
              </a:rPr>
              <a:t>f</a:t>
            </a:r>
            <a:r>
              <a:rPr sz="2400" i="1" spc="-5" dirty="0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r>
              <a:rPr sz="2400" i="1" spc="-20" dirty="0">
                <a:solidFill>
                  <a:srgbClr val="FF0000"/>
                </a:solidFill>
                <a:latin typeface="Cambria"/>
                <a:cs typeface="Cambria"/>
              </a:rPr>
              <a:t>tc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h</a:t>
            </a:r>
            <a:endParaRPr sz="24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086326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700C7-038D-A050-D527-F29422D4B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Simplest one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0E3C7-33D2-1FF2-0483-BA2F455C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3508F-1C94-0419-973C-F92919131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17</a:t>
            </a:fld>
            <a:endParaRPr lang="en-IN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56B68DED-90DE-2896-9DCB-A270E923B21E}"/>
              </a:ext>
            </a:extLst>
          </p:cNvPr>
          <p:cNvGrpSpPr/>
          <p:nvPr/>
        </p:nvGrpSpPr>
        <p:grpSpPr>
          <a:xfrm>
            <a:off x="222250" y="1843786"/>
            <a:ext cx="11747500" cy="1003300"/>
            <a:chOff x="222250" y="1136650"/>
            <a:chExt cx="11747500" cy="1003300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05BEA51C-B50A-8176-0AA1-0B8352892F97}"/>
                </a:ext>
              </a:extLst>
            </p:cNvPr>
            <p:cNvSpPr/>
            <p:nvPr/>
          </p:nvSpPr>
          <p:spPr>
            <a:xfrm>
              <a:off x="228600" y="11430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115697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11569700" y="990600"/>
                  </a:lnTo>
                  <a:lnTo>
                    <a:pt x="11613591" y="984702"/>
                  </a:lnTo>
                  <a:lnTo>
                    <a:pt x="11653030" y="968059"/>
                  </a:lnTo>
                  <a:lnTo>
                    <a:pt x="11686444" y="942244"/>
                  </a:lnTo>
                  <a:lnTo>
                    <a:pt x="11712259" y="908830"/>
                  </a:lnTo>
                  <a:lnTo>
                    <a:pt x="11728902" y="869391"/>
                  </a:lnTo>
                  <a:lnTo>
                    <a:pt x="11734800" y="825500"/>
                  </a:lnTo>
                  <a:lnTo>
                    <a:pt x="11734800" y="165100"/>
                  </a:lnTo>
                  <a:lnTo>
                    <a:pt x="11728902" y="121208"/>
                  </a:lnTo>
                  <a:lnTo>
                    <a:pt x="11712259" y="81769"/>
                  </a:lnTo>
                  <a:lnTo>
                    <a:pt x="11686444" y="48355"/>
                  </a:lnTo>
                  <a:lnTo>
                    <a:pt x="11653030" y="22540"/>
                  </a:lnTo>
                  <a:lnTo>
                    <a:pt x="11613591" y="5897"/>
                  </a:lnTo>
                  <a:lnTo>
                    <a:pt x="115697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4698E359-F659-4F87-D776-9EF5B7AB1B03}"/>
                </a:ext>
              </a:extLst>
            </p:cNvPr>
            <p:cNvSpPr/>
            <p:nvPr/>
          </p:nvSpPr>
          <p:spPr>
            <a:xfrm>
              <a:off x="228600" y="11430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11569700" y="0"/>
                  </a:lnTo>
                  <a:lnTo>
                    <a:pt x="11613591" y="5897"/>
                  </a:lnTo>
                  <a:lnTo>
                    <a:pt x="11653030" y="22540"/>
                  </a:lnTo>
                  <a:lnTo>
                    <a:pt x="11686444" y="48355"/>
                  </a:lnTo>
                  <a:lnTo>
                    <a:pt x="11712259" y="81769"/>
                  </a:lnTo>
                  <a:lnTo>
                    <a:pt x="11728902" y="121208"/>
                  </a:lnTo>
                  <a:lnTo>
                    <a:pt x="11734800" y="165100"/>
                  </a:lnTo>
                  <a:lnTo>
                    <a:pt x="11734800" y="825500"/>
                  </a:lnTo>
                  <a:lnTo>
                    <a:pt x="11728902" y="869391"/>
                  </a:lnTo>
                  <a:lnTo>
                    <a:pt x="11712259" y="908830"/>
                  </a:lnTo>
                  <a:lnTo>
                    <a:pt x="11686444" y="942244"/>
                  </a:lnTo>
                  <a:lnTo>
                    <a:pt x="11653030" y="968059"/>
                  </a:lnTo>
                  <a:lnTo>
                    <a:pt x="11613591" y="984702"/>
                  </a:lnTo>
                  <a:lnTo>
                    <a:pt x="115697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6">
            <a:extLst>
              <a:ext uri="{FF2B5EF4-FFF2-40B4-BE49-F238E27FC236}">
                <a16:creationId xmlns:a16="http://schemas.microsoft.com/office/drawing/2014/main" id="{C198294E-C62B-73A8-7A82-FF552C296EEB}"/>
              </a:ext>
            </a:extLst>
          </p:cNvPr>
          <p:cNvGrpSpPr/>
          <p:nvPr/>
        </p:nvGrpSpPr>
        <p:grpSpPr>
          <a:xfrm>
            <a:off x="222250" y="3291586"/>
            <a:ext cx="11747500" cy="1003300"/>
            <a:chOff x="222250" y="2584450"/>
            <a:chExt cx="11747500" cy="1003300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F43DF96F-5E1B-547E-0BA0-E100F76F9AC7}"/>
                </a:ext>
              </a:extLst>
            </p:cNvPr>
            <p:cNvSpPr/>
            <p:nvPr/>
          </p:nvSpPr>
          <p:spPr>
            <a:xfrm>
              <a:off x="228600" y="25908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115697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11569700" y="990600"/>
                  </a:lnTo>
                  <a:lnTo>
                    <a:pt x="11613591" y="984702"/>
                  </a:lnTo>
                  <a:lnTo>
                    <a:pt x="11653030" y="968059"/>
                  </a:lnTo>
                  <a:lnTo>
                    <a:pt x="11686444" y="942244"/>
                  </a:lnTo>
                  <a:lnTo>
                    <a:pt x="11712259" y="908830"/>
                  </a:lnTo>
                  <a:lnTo>
                    <a:pt x="11728902" y="869391"/>
                  </a:lnTo>
                  <a:lnTo>
                    <a:pt x="11734800" y="825500"/>
                  </a:lnTo>
                  <a:lnTo>
                    <a:pt x="11734800" y="165100"/>
                  </a:lnTo>
                  <a:lnTo>
                    <a:pt x="11728902" y="121208"/>
                  </a:lnTo>
                  <a:lnTo>
                    <a:pt x="11712259" y="81769"/>
                  </a:lnTo>
                  <a:lnTo>
                    <a:pt x="11686444" y="48355"/>
                  </a:lnTo>
                  <a:lnTo>
                    <a:pt x="11653030" y="22540"/>
                  </a:lnTo>
                  <a:lnTo>
                    <a:pt x="11613591" y="5897"/>
                  </a:lnTo>
                  <a:lnTo>
                    <a:pt x="115697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A4C99CF8-A442-B7E0-45AF-13C4FB3DC510}"/>
                </a:ext>
              </a:extLst>
            </p:cNvPr>
            <p:cNvSpPr/>
            <p:nvPr/>
          </p:nvSpPr>
          <p:spPr>
            <a:xfrm>
              <a:off x="228600" y="25908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11569700" y="0"/>
                  </a:lnTo>
                  <a:lnTo>
                    <a:pt x="11613591" y="5897"/>
                  </a:lnTo>
                  <a:lnTo>
                    <a:pt x="11653030" y="22540"/>
                  </a:lnTo>
                  <a:lnTo>
                    <a:pt x="11686444" y="48355"/>
                  </a:lnTo>
                  <a:lnTo>
                    <a:pt x="11712259" y="81769"/>
                  </a:lnTo>
                  <a:lnTo>
                    <a:pt x="11728902" y="121208"/>
                  </a:lnTo>
                  <a:lnTo>
                    <a:pt x="11734800" y="165100"/>
                  </a:lnTo>
                  <a:lnTo>
                    <a:pt x="11734800" y="825500"/>
                  </a:lnTo>
                  <a:lnTo>
                    <a:pt x="11728902" y="869391"/>
                  </a:lnTo>
                  <a:lnTo>
                    <a:pt x="11712259" y="908830"/>
                  </a:lnTo>
                  <a:lnTo>
                    <a:pt x="11686444" y="942244"/>
                  </a:lnTo>
                  <a:lnTo>
                    <a:pt x="11653030" y="968059"/>
                  </a:lnTo>
                  <a:lnTo>
                    <a:pt x="11613591" y="984702"/>
                  </a:lnTo>
                  <a:lnTo>
                    <a:pt x="115697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9">
            <a:extLst>
              <a:ext uri="{FF2B5EF4-FFF2-40B4-BE49-F238E27FC236}">
                <a16:creationId xmlns:a16="http://schemas.microsoft.com/office/drawing/2014/main" id="{981E2C20-C876-4FD2-3FFD-0EF06BACC46F}"/>
              </a:ext>
            </a:extLst>
          </p:cNvPr>
          <p:cNvGrpSpPr/>
          <p:nvPr/>
        </p:nvGrpSpPr>
        <p:grpSpPr>
          <a:xfrm>
            <a:off x="222250" y="4586986"/>
            <a:ext cx="11747500" cy="1003300"/>
            <a:chOff x="222250" y="3879850"/>
            <a:chExt cx="11747500" cy="10033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DD5D74E3-A1B2-7C5D-747B-134D5B6041B3}"/>
                </a:ext>
              </a:extLst>
            </p:cNvPr>
            <p:cNvSpPr/>
            <p:nvPr/>
          </p:nvSpPr>
          <p:spPr>
            <a:xfrm>
              <a:off x="228600" y="38862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115697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11569700" y="990600"/>
                  </a:lnTo>
                  <a:lnTo>
                    <a:pt x="11613591" y="984702"/>
                  </a:lnTo>
                  <a:lnTo>
                    <a:pt x="11653030" y="968059"/>
                  </a:lnTo>
                  <a:lnTo>
                    <a:pt x="11686444" y="942244"/>
                  </a:lnTo>
                  <a:lnTo>
                    <a:pt x="11712259" y="908830"/>
                  </a:lnTo>
                  <a:lnTo>
                    <a:pt x="11728902" y="869391"/>
                  </a:lnTo>
                  <a:lnTo>
                    <a:pt x="11734800" y="825500"/>
                  </a:lnTo>
                  <a:lnTo>
                    <a:pt x="11734800" y="165100"/>
                  </a:lnTo>
                  <a:lnTo>
                    <a:pt x="11728902" y="121208"/>
                  </a:lnTo>
                  <a:lnTo>
                    <a:pt x="11712259" y="81769"/>
                  </a:lnTo>
                  <a:lnTo>
                    <a:pt x="11686444" y="48355"/>
                  </a:lnTo>
                  <a:lnTo>
                    <a:pt x="11653030" y="22540"/>
                  </a:lnTo>
                  <a:lnTo>
                    <a:pt x="11613591" y="5897"/>
                  </a:lnTo>
                  <a:lnTo>
                    <a:pt x="115697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087D1458-EAEA-942A-62A0-774CE7DC75B2}"/>
                </a:ext>
              </a:extLst>
            </p:cNvPr>
            <p:cNvSpPr/>
            <p:nvPr/>
          </p:nvSpPr>
          <p:spPr>
            <a:xfrm>
              <a:off x="228600" y="38862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11569700" y="0"/>
                  </a:lnTo>
                  <a:lnTo>
                    <a:pt x="11613591" y="5897"/>
                  </a:lnTo>
                  <a:lnTo>
                    <a:pt x="11653030" y="22540"/>
                  </a:lnTo>
                  <a:lnTo>
                    <a:pt x="11686444" y="48355"/>
                  </a:lnTo>
                  <a:lnTo>
                    <a:pt x="11712259" y="81769"/>
                  </a:lnTo>
                  <a:lnTo>
                    <a:pt x="11728902" y="121208"/>
                  </a:lnTo>
                  <a:lnTo>
                    <a:pt x="11734800" y="165100"/>
                  </a:lnTo>
                  <a:lnTo>
                    <a:pt x="11734800" y="825500"/>
                  </a:lnTo>
                  <a:lnTo>
                    <a:pt x="11728902" y="869391"/>
                  </a:lnTo>
                  <a:lnTo>
                    <a:pt x="11712259" y="908830"/>
                  </a:lnTo>
                  <a:lnTo>
                    <a:pt x="11686444" y="942244"/>
                  </a:lnTo>
                  <a:lnTo>
                    <a:pt x="11653030" y="968059"/>
                  </a:lnTo>
                  <a:lnTo>
                    <a:pt x="11613591" y="984702"/>
                  </a:lnTo>
                  <a:lnTo>
                    <a:pt x="115697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2">
            <a:extLst>
              <a:ext uri="{FF2B5EF4-FFF2-40B4-BE49-F238E27FC236}">
                <a16:creationId xmlns:a16="http://schemas.microsoft.com/office/drawing/2014/main" id="{40CFE5BC-7C3D-43A4-86F5-90D9F80277DB}"/>
              </a:ext>
            </a:extLst>
          </p:cNvPr>
          <p:cNvSpPr txBox="1"/>
          <p:nvPr/>
        </p:nvSpPr>
        <p:spPr>
          <a:xfrm>
            <a:off x="523443" y="2110485"/>
            <a:ext cx="10544175" cy="3409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1380" algn="l"/>
              </a:tabLst>
            </a:pPr>
            <a:r>
              <a:rPr sz="2800" spc="-15" dirty="0">
                <a:solidFill>
                  <a:srgbClr val="C00000"/>
                </a:solidFill>
                <a:latin typeface="Cambria"/>
                <a:cs typeface="Cambria"/>
              </a:rPr>
              <a:t>Next</a:t>
            </a:r>
            <a:r>
              <a:rPr sz="2800" spc="-5" dirty="0">
                <a:solidFill>
                  <a:srgbClr val="C00000"/>
                </a:solidFill>
                <a:latin typeface="Cambria"/>
                <a:cs typeface="Cambria"/>
              </a:rPr>
              <a:t> Line: </a:t>
            </a:r>
            <a:r>
              <a:rPr sz="2800" spc="-10" dirty="0">
                <a:latin typeface="Cambria"/>
                <a:cs typeface="Cambria"/>
              </a:rPr>
              <a:t>Miss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to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cache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block	X ,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prefetch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X+1.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Degree=1,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Distance=1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spc="-45" dirty="0">
                <a:latin typeface="Cambria"/>
                <a:cs typeface="Cambria"/>
              </a:rPr>
              <a:t>Works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well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for</a:t>
            </a:r>
            <a:r>
              <a:rPr sz="2800" spc="-5" dirty="0">
                <a:latin typeface="Cambria"/>
                <a:cs typeface="Cambria"/>
              </a:rPr>
              <a:t> L1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Icache and</a:t>
            </a:r>
            <a:r>
              <a:rPr sz="2800" spc="-10" dirty="0">
                <a:latin typeface="Cambria"/>
                <a:cs typeface="Cambria"/>
              </a:rPr>
              <a:t> L1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Dcache.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4400">
              <a:latin typeface="Cambria"/>
              <a:cs typeface="Cambria"/>
            </a:endParaRPr>
          </a:p>
          <a:p>
            <a:pPr marL="90170" marR="1061085" indent="-78105">
              <a:lnSpc>
                <a:spcPct val="100000"/>
              </a:lnSpc>
              <a:tabLst>
                <a:tab pos="5011420" algn="l"/>
              </a:tabLst>
            </a:pPr>
            <a:r>
              <a:rPr sz="2800" spc="-15" dirty="0">
                <a:solidFill>
                  <a:srgbClr val="C00000"/>
                </a:solidFill>
                <a:latin typeface="Cambria"/>
                <a:cs typeface="Cambria"/>
              </a:rPr>
              <a:t>Next</a:t>
            </a:r>
            <a:r>
              <a:rPr sz="2800" spc="-5" dirty="0">
                <a:solidFill>
                  <a:srgbClr val="C00000"/>
                </a:solidFill>
                <a:latin typeface="Cambria"/>
                <a:cs typeface="Cambria"/>
              </a:rPr>
              <a:t> N</a:t>
            </a:r>
            <a:r>
              <a:rPr sz="28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Cambria"/>
                <a:cs typeface="Cambria"/>
              </a:rPr>
              <a:t>Line:</a:t>
            </a:r>
            <a:r>
              <a:rPr sz="28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Miss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to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cache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block	X , </a:t>
            </a:r>
            <a:r>
              <a:rPr sz="2800" spc="-15" dirty="0">
                <a:latin typeface="Cambria"/>
                <a:cs typeface="Cambria"/>
              </a:rPr>
              <a:t>prefetch </a:t>
            </a:r>
            <a:r>
              <a:rPr sz="2800" spc="-10" dirty="0">
                <a:latin typeface="Cambria"/>
                <a:cs typeface="Cambria"/>
              </a:rPr>
              <a:t>X+1, X+2, </a:t>
            </a:r>
            <a:r>
              <a:rPr sz="2800" spc="-5" dirty="0">
                <a:latin typeface="Cambria"/>
                <a:cs typeface="Cambria"/>
              </a:rPr>
              <a:t>….. </a:t>
            </a:r>
            <a:r>
              <a:rPr sz="2800" spc="-15" dirty="0">
                <a:latin typeface="Cambria"/>
                <a:cs typeface="Cambria"/>
              </a:rPr>
              <a:t>X+N,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Degree=N,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Distance=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min.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1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and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max. </a:t>
            </a:r>
            <a:r>
              <a:rPr sz="2800" spc="-5" dirty="0">
                <a:latin typeface="Cambria"/>
                <a:cs typeface="Cambria"/>
              </a:rPr>
              <a:t>N</a:t>
            </a:r>
            <a:endParaRPr sz="2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366195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48806-150E-85AE-F384-7A257F782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you on August 23</a:t>
            </a:r>
            <a:r>
              <a:rPr lang="en-US" baseline="30000" dirty="0"/>
              <a:t>rd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0A749-0070-CEA5-BCE4-49AEAF035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070B56-CF6E-EC93-881A-5FF9E84A0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3614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46811</TotalTime>
  <Words>796</Words>
  <Application>Microsoft Office PowerPoint</Application>
  <PresentationFormat>Widescreen</PresentationFormat>
  <Paragraphs>202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Cambria</vt:lpstr>
      <vt:lpstr>Symbol</vt:lpstr>
      <vt:lpstr>Times New Roman</vt:lpstr>
      <vt:lpstr>Office Theme</vt:lpstr>
      <vt:lpstr>CS683: Advanced Computer Architecture-2024</vt:lpstr>
      <vt:lpstr>Phones (smart/non-smart) on silence plz, Thanks </vt:lpstr>
      <vt:lpstr>Reducing Miss rate (MPKI)</vt:lpstr>
      <vt:lpstr>Cache Content Management</vt:lpstr>
      <vt:lpstr>Common Cache Access Patterns</vt:lpstr>
      <vt:lpstr>LRU limitations</vt:lpstr>
      <vt:lpstr>BTW, LRU is not implemented @commercial machines</vt:lpstr>
      <vt:lpstr>Bimodal Policy [ISCA ‘07]</vt:lpstr>
      <vt:lpstr>Dynamic Insertion Policy (DIP): Celebrated technique in the community</vt:lpstr>
      <vt:lpstr>RRIP [ISCA ‘10]</vt:lpstr>
      <vt:lpstr>2-bit state machine</vt:lpstr>
      <vt:lpstr>Reducing Miss rate, Nah, Miss Latency</vt:lpstr>
      <vt:lpstr>Hardware Prefetching</vt:lpstr>
      <vt:lpstr>An example</vt:lpstr>
      <vt:lpstr>Prefetch Degree</vt:lpstr>
      <vt:lpstr>Prefetch Distance</vt:lpstr>
      <vt:lpstr>The Simplest one</vt:lpstr>
      <vt:lpstr>See you on August 23rd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936</cp:revision>
  <dcterms:created xsi:type="dcterms:W3CDTF">2021-05-31T06:57:48Z</dcterms:created>
  <dcterms:modified xsi:type="dcterms:W3CDTF">2024-08-20T10:13:14Z</dcterms:modified>
</cp:coreProperties>
</file>